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E8772E"/>
            </a:solidFill>
          </c:spPr>
          <c:cat>
            <c:strRef>
              <c:f>Sheet1!$A$2:$A$4</c:f>
              <c:strCache>
                <c:ptCount val="3"/>
                <c:pt idx="0">
                  <c:v>Databases</c:v>
                </c:pt>
                <c:pt idx="1">
                  <c:v>Object store (OBS)</c:v>
                </c:pt>
                <c:pt idx="2">
                  <c:v>File shares (NAS)</c:v>
                </c:pt>
              </c:strCache>
            </c:strRef>
          </c:cat>
          <c:val>
            <c:numRef>
              <c:f>Sheet1!$B$2:$B$4</c:f>
              <c:numCache>
                <c:formatCode>General</c:formatCode>
                <c:ptCount val="3"/>
                <c:pt idx="0">
                  <c:v>0.34</c:v>
                </c:pt>
                <c:pt idx="1">
                  <c:v>130.32</c:v>
                </c:pt>
                <c:pt idx="2">
                  <c:v>43.65</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E8772E"/>
            </a:solidFill>
          </c:spPr>
          <c:cat>
            <c:strRef>
              <c:f>Sheet1!$A$2:$A$9</c:f>
              <c:strCache>
                <c:ptCount val="8"/>
                <c:pt idx="0">
                  <c:v>2024offairrecs</c:v>
                </c:pt>
                <c:pt idx="1">
                  <c:v>music-bucket-rms (cold)</c:v>
                </c:pt>
                <c:pt idx="2">
                  <c:v>na7p43do (cold)</c:v>
                </c:pt>
                <c:pt idx="3">
                  <c:v>na7p43js (cold)</c:v>
                </c:pt>
                <c:pt idx="4">
                  <c:v>na7p434j (cold)</c:v>
                </c:pt>
                <c:pt idx="5">
                  <c:v>na7p41hj (cold)</c:v>
                </c:pt>
                <c:pt idx="6">
                  <c:v>na7p42xe (cold)</c:v>
                </c:pt>
                <c:pt idx="7">
                  <c:v>na7p42xw (cold)</c:v>
                </c:pt>
              </c:strCache>
            </c:strRef>
          </c:cat>
          <c:val>
            <c:numRef>
              <c:f>Sheet1!$B$2:$B$9</c:f>
              <c:numCache>
                <c:formatCode>General</c:formatCode>
                <c:ptCount val="8"/>
                <c:pt idx="0">
                  <c:v>86.3</c:v>
                </c:pt>
                <c:pt idx="1">
                  <c:v>4.93</c:v>
                </c:pt>
                <c:pt idx="2">
                  <c:v>4.1</c:v>
                </c:pt>
                <c:pt idx="3">
                  <c:v>3.57</c:v>
                </c:pt>
                <c:pt idx="4">
                  <c:v>3.5</c:v>
                </c:pt>
                <c:pt idx="5">
                  <c:v>3.48</c:v>
                </c:pt>
                <c:pt idx="6">
                  <c:v>3.44</c:v>
                </c:pt>
                <c:pt idx="7">
                  <c:v>3.4</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E8772E"/>
            </a:solidFill>
          </c:spPr>
          <c:cat>
            <c:strRef>
              <c:f>Sheet1!$A$2:$A$8</c:f>
              <c:strCache>
                <c:ptCount val="7"/>
                <c:pt idx="0">
                  <c:v>Move buckets not written for over a year</c:v>
                </c:pt>
                <c:pt idx="1">
                  <c:v>Reconcile duplicate objects across OBS b</c:v>
                </c:pt>
                <c:pt idx="2">
                  <c:v>Move tables not written for over a year </c:v>
                </c:pt>
                <c:pt idx="3">
                  <c:v>Remove redundant (prefix-covered) indexe</c:v>
                </c:pt>
                <c:pt idx="4">
                  <c:v>De-duplicate exact repeated rows inside </c:v>
                </c:pt>
                <c:pt idx="5">
                  <c:v>Consolidate duplicate and staging copies</c:v>
                </c:pt>
                <c:pt idx="6">
                  <c:v>Drop or archive empty tables</c:v>
                </c:pt>
              </c:strCache>
            </c:strRef>
          </c:cat>
          <c:val>
            <c:numRef>
              <c:f>Sheet1!$B$2:$B$8</c:f>
              <c:numCache>
                <c:formatCode>General</c:formatCode>
                <c:ptCount val="7"/>
                <c:pt idx="0">
                  <c:v>42891.0</c:v>
                </c:pt>
                <c:pt idx="1">
                  <c:v>7839.5</c:v>
                </c:pt>
                <c:pt idx="2">
                  <c:v>54.1</c:v>
                </c:pt>
                <c:pt idx="3">
                  <c:v>14.0</c:v>
                </c:pt>
                <c:pt idx="4">
                  <c:v>1.2</c:v>
                </c:pt>
                <c:pt idx="5">
                  <c:v>0.1</c:v>
                </c:pt>
                <c:pt idx="6">
                  <c:v>0.0</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E8772E"/>
            </a:solidFill>
          </c:spPr>
          <c:cat>
            <c:strRef>
              <c:f>Sheet1!$A$2:$A$6</c:f>
              <c:strCache>
                <c:ptCount val="5"/>
                <c:pt idx="0">
                  <c:v>Exact duplicates</c:v>
                </c:pt>
                <c:pt idx="1">
                  <c:v>Degraded</c:v>
                </c:pt>
                <c:pt idx="2">
                  <c:v>Empty required fields</c:v>
                </c:pt>
                <c:pt idx="3">
                  <c:v>PII markers (sampled)</c:v>
                </c:pt>
                <c:pt idx="4">
                  <c:v>Stale bytes</c:v>
                </c:pt>
              </c:strCache>
            </c:strRef>
          </c:cat>
          <c:val>
            <c:numRef>
              <c:f>Sheet1!$B$2:$B$6</c:f>
              <c:numCache>
                <c:formatCode>General</c:formatCode>
                <c:ptCount val="5"/>
                <c:pt idx="0">
                  <c:v>0.015</c:v>
                </c:pt>
                <c:pt idx="1">
                  <c:v>0.23</c:v>
                </c:pt>
                <c:pt idx="2">
                  <c:v>0.817</c:v>
                </c:pt>
                <c:pt idx="3">
                  <c:v>0.718</c:v>
                </c:pt>
                <c:pt idx="4">
                  <c:v>0.154</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E8772E"/>
            </a:solidFill>
          </c:spPr>
          <c:cat>
            <c:strRef>
              <c:f>Sheet1!$A$2:$A$9</c:f>
              <c:strCache>
                <c:ptCount val="8"/>
                <c:pt idx="0">
                  <c:v>viusasa_staging (D)</c:v>
                </c:pt>
                <c:pt idx="1">
                  <c:v>razuna (D)</c:v>
                </c:pt>
                <c:pt idx="2">
                  <c:v>db_visitors (D)</c:v>
                </c:pt>
                <c:pt idx="3">
                  <c:v>kra_reports (D)</c:v>
                </c:pt>
                <c:pt idx="4">
                  <c:v>viupay_agent_staging (A)</c:v>
                </c:pt>
                <c:pt idx="5">
                  <c:v>news_vault (C)</c:v>
                </c:pt>
                <c:pt idx="6">
                  <c:v>local (D)</c:v>
                </c:pt>
                <c:pt idx="7">
                  <c:v>viutickets (B)</c:v>
                </c:pt>
              </c:strCache>
            </c:strRef>
          </c:cat>
          <c:val>
            <c:numRef>
              <c:f>Sheet1!$B$2:$B$9</c:f>
              <c:numCache>
                <c:formatCode>General</c:formatCode>
                <c:ptCount val="8"/>
                <c:pt idx="0">
                  <c:v>338.5</c:v>
                </c:pt>
                <c:pt idx="1">
                  <c:v>4.5</c:v>
                </c:pt>
                <c:pt idx="2">
                  <c:v>2.7</c:v>
                </c:pt>
                <c:pt idx="3">
                  <c:v>1.5</c:v>
                </c:pt>
                <c:pt idx="4">
                  <c:v>1.2</c:v>
                </c:pt>
                <c:pt idx="5">
                  <c:v>0.9</c:v>
                </c:pt>
                <c:pt idx="6">
                  <c:v>0.5</c:v>
                </c:pt>
                <c:pt idx="7">
                  <c:v>0.4</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E8772E"/>
            </a:solidFill>
          </c:spPr>
          <c:cat>
            <c:strRef>
              <c:f>Sheet1!$A$2:$A$9</c:f>
              <c:strCache>
                <c:ptCount val="8"/>
                <c:pt idx="0">
                  <c:v>Ekegusii (Kisii)</c:v>
                </c:pt>
                <c:pt idx="1">
                  <c:v>Kalenjin</c:v>
                </c:pt>
                <c:pt idx="2">
                  <c:v>Kiswahili</c:v>
                </c:pt>
                <c:pt idx="3">
                  <c:v>Kikamba (Kamba)</c:v>
                </c:pt>
                <c:pt idx="4">
                  <c:v>Gikuyu (Kikuyu)</c:v>
                </c:pt>
                <c:pt idx="5">
                  <c:v>Dholuo (Luo)</c:v>
                </c:pt>
                <c:pt idx="6">
                  <c:v>Wanga (Luhya)</c:v>
                </c:pt>
                <c:pt idx="7">
                  <c:v>Bukusu (Luhya)</c:v>
                </c:pt>
              </c:strCache>
            </c:strRef>
          </c:cat>
          <c:val>
            <c:numRef>
              <c:f>Sheet1!$B$2:$B$9</c:f>
              <c:numCache>
                <c:formatCode>General</c:formatCode>
                <c:ptCount val="8"/>
                <c:pt idx="0">
                  <c:v>76.7</c:v>
                </c:pt>
                <c:pt idx="1">
                  <c:v>73.2</c:v>
                </c:pt>
                <c:pt idx="2">
                  <c:v>78.5</c:v>
                </c:pt>
                <c:pt idx="3">
                  <c:v>67.8</c:v>
                </c:pt>
                <c:pt idx="4">
                  <c:v>65.9</c:v>
                </c:pt>
                <c:pt idx="5">
                  <c:v>51.7</c:v>
                </c:pt>
                <c:pt idx="6">
                  <c:v>6.8</c:v>
                </c:pt>
                <c:pt idx="7">
                  <c:v>0.7</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E8772E"/>
            </a:solidFill>
          </c:spPr>
          <c:cat>
            <c:strRef>
              <c:f>Sheet1!$A$2:$A$9</c:f>
              <c:strCache>
                <c:ptCount val="8"/>
                <c:pt idx="0">
                  <c:v>Ekegusii (Kisii)</c:v>
                </c:pt>
                <c:pt idx="1">
                  <c:v>Kalenjin</c:v>
                </c:pt>
                <c:pt idx="2">
                  <c:v>Kiswahili</c:v>
                </c:pt>
                <c:pt idx="3">
                  <c:v>Kikamba (Kamba)</c:v>
                </c:pt>
                <c:pt idx="4">
                  <c:v>Gikuyu (Kikuyu)</c:v>
                </c:pt>
                <c:pt idx="5">
                  <c:v>Dholuo (Luo)</c:v>
                </c:pt>
                <c:pt idx="6">
                  <c:v>Wanga (Luhya)</c:v>
                </c:pt>
                <c:pt idx="7">
                  <c:v>Bukusu (Luhya)</c:v>
                </c:pt>
              </c:strCache>
            </c:strRef>
          </c:cat>
          <c:val>
            <c:numRef>
              <c:f>Sheet1!$B$2:$B$9</c:f>
              <c:numCache>
                <c:formatCode>General</c:formatCode>
                <c:ptCount val="8"/>
                <c:pt idx="0">
                  <c:v>0.8609</c:v>
                </c:pt>
                <c:pt idx="1">
                  <c:v>0.8991</c:v>
                </c:pt>
                <c:pt idx="2">
                  <c:v>0.7869</c:v>
                </c:pt>
                <c:pt idx="3">
                  <c:v>0.7092</c:v>
                </c:pt>
                <c:pt idx="4">
                  <c:v>0.7981</c:v>
                </c:pt>
                <c:pt idx="5">
                  <c:v>0.8949</c:v>
                </c:pt>
                <c:pt idx="6">
                  <c:v>0.8867</c:v>
                </c:pt>
                <c:pt idx="7">
                  <c:v>0</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Scripts</c:v>
                </c:pt>
              </c:strCache>
            </c:strRef>
          </c:tx>
          <c:spPr>
            <a:solidFill>
              <a:srgbClr val="E8772E"/>
            </a:solidFill>
          </c:spPr>
          <c:cat>
            <c:strRef>
              <c:f>Sheet1!$A$2:$A$14</c:f>
              <c:strCache>
                <c:ptCount val="13"/>
                <c:pt idx="0">
                  <c:v>Muuga FM · Meru</c:v>
                </c:pt>
                <c:pt idx="1">
                  <c:v>Radio Citizen · Kiswahili</c:v>
                </c:pt>
                <c:pt idx="2">
                  <c:v>Chamgei · Kalenjin</c:v>
                </c:pt>
                <c:pt idx="3">
                  <c:v>Mulembe FM · Luhya</c:v>
                </c:pt>
                <c:pt idx="4">
                  <c:v>Wimwaro FM · Embu</c:v>
                </c:pt>
                <c:pt idx="5">
                  <c:v>Hot 96 · English</c:v>
                </c:pt>
                <c:pt idx="6">
                  <c:v>Egesa · Kisii</c:v>
                </c:pt>
                <c:pt idx="7">
                  <c:v>Musyi FM · Akamba</c:v>
                </c:pt>
                <c:pt idx="8">
                  <c:v>Sulwe FM · Bukusu</c:v>
                </c:pt>
                <c:pt idx="9">
                  <c:v>Bahari FM · Kiswahili</c:v>
                </c:pt>
                <c:pt idx="10">
                  <c:v>Inooro FM · Kikuyu</c:v>
                </c:pt>
                <c:pt idx="11">
                  <c:v>Vuuka · Maragoli</c:v>
                </c:pt>
                <c:pt idx="12">
                  <c:v>Ramogi FM · Luo</c:v>
                </c:pt>
              </c:strCache>
            </c:strRef>
          </c:cat>
          <c:val>
            <c:numRef>
              <c:f>Sheet1!$B$2:$B$14</c:f>
              <c:numCache>
                <c:formatCode>General</c:formatCode>
                <c:ptCount val="13"/>
                <c:pt idx="0">
                  <c:v>27467</c:v>
                </c:pt>
                <c:pt idx="1">
                  <c:v>27240</c:v>
                </c:pt>
                <c:pt idx="2">
                  <c:v>26787</c:v>
                </c:pt>
                <c:pt idx="3">
                  <c:v>22191</c:v>
                </c:pt>
                <c:pt idx="4">
                  <c:v>19664</c:v>
                </c:pt>
                <c:pt idx="5">
                  <c:v>18136</c:v>
                </c:pt>
                <c:pt idx="6">
                  <c:v>17606</c:v>
                </c:pt>
                <c:pt idx="7">
                  <c:v>17581</c:v>
                </c:pt>
                <c:pt idx="8">
                  <c:v>16749</c:v>
                </c:pt>
                <c:pt idx="9">
                  <c:v>16177</c:v>
                </c:pt>
                <c:pt idx="10">
                  <c:v>15376</c:v>
                </c:pt>
                <c:pt idx="11">
                  <c:v>15336</c:v>
                </c:pt>
                <c:pt idx="12">
                  <c:v>8013</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E8772E"/>
            </a:solidFill>
          </c:spPr>
          <c:cat>
            <c:strRef>
              <c:f>Sheet1!$A$2:$A$14</c:f>
              <c:strCache>
                <c:ptCount val="13"/>
                <c:pt idx="0">
                  <c:v>Muuga FM</c:v>
                </c:pt>
                <c:pt idx="1">
                  <c:v>Radio Citizen</c:v>
                </c:pt>
                <c:pt idx="2">
                  <c:v>Chamgei</c:v>
                </c:pt>
                <c:pt idx="3">
                  <c:v>Mulembe FM</c:v>
                </c:pt>
                <c:pt idx="4">
                  <c:v>Wimwaro FM</c:v>
                </c:pt>
                <c:pt idx="5">
                  <c:v>Hot 96</c:v>
                </c:pt>
                <c:pt idx="6">
                  <c:v>Egesa</c:v>
                </c:pt>
                <c:pt idx="7">
                  <c:v>Musyi FM</c:v>
                </c:pt>
                <c:pt idx="8">
                  <c:v>Sulwe FM</c:v>
                </c:pt>
                <c:pt idx="9">
                  <c:v>Bahari FM</c:v>
                </c:pt>
                <c:pt idx="10">
                  <c:v>Inooro FM</c:v>
                </c:pt>
                <c:pt idx="11">
                  <c:v>Vuuka</c:v>
                </c:pt>
                <c:pt idx="12">
                  <c:v>Ramogi FM</c:v>
                </c:pt>
              </c:strCache>
            </c:strRef>
          </c:cat>
          <c:val>
            <c:numRef>
              <c:f>Sheet1!$B$2:$B$14</c:f>
              <c:numCache>
                <c:formatCode>General</c:formatCode>
                <c:ptCount val="13"/>
                <c:pt idx="0">
                  <c:v>17.98</c:v>
                </c:pt>
                <c:pt idx="1">
                  <c:v>18.18</c:v>
                </c:pt>
                <c:pt idx="2">
                  <c:v>18.75</c:v>
                </c:pt>
                <c:pt idx="3">
                  <c:v>15.0</c:v>
                </c:pt>
                <c:pt idx="4">
                  <c:v>15.76</c:v>
                </c:pt>
                <c:pt idx="5">
                  <c:v>15.08</c:v>
                </c:pt>
                <c:pt idx="6">
                  <c:v>11.3</c:v>
                </c:pt>
                <c:pt idx="7">
                  <c:v>17.69</c:v>
                </c:pt>
                <c:pt idx="8">
                  <c:v>11.95</c:v>
                </c:pt>
                <c:pt idx="9">
                  <c:v>16.8</c:v>
                </c:pt>
                <c:pt idx="10">
                  <c:v>15.03</c:v>
                </c:pt>
                <c:pt idx="11">
                  <c:v>14.51</c:v>
                </c:pt>
                <c:pt idx="12">
                  <c:v>6.98</c:v>
                </c:pt>
              </c:numCache>
            </c:numRef>
          </c:val>
        </c:ser>
        <c:dLbls>
          <c:numFmt formatCode="#,##0.0" sourceLinked="0"/>
          <c:txPr>
            <a:bodyPr/>
            <a:lstStyle/>
            <a:p>
              <a:pPr>
                <a:defRPr sz="1100">
                  <a:solidFill>
                    <a:srgbClr val="14324A"/>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3DCE4"/>
            </a:solidFill>
          </a:ln>
        </c:spPr>
        <c:crossAx val="-2113994440"/>
        <c:crosses val="autoZero"/>
        <c:auto val="1"/>
        <c:lblAlgn val="ctr"/>
        <c:lblOffset val="100"/>
        <c:noMultiLvlLbl val="0"/>
      </c:catAx>
      <c:valAx>
        <c:axId val="-2113994440"/>
        <c:scaling/>
        <c:delete val="0"/>
        <c:axPos val="l"/>
        <c:majorGridlines>
          <c:spPr>
            <a:ln>
              <a:solidFill>
                <a:srgbClr val="D3DCE4"/>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0879A"/>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674620"/>
            <a:ext cx="7274052" cy="1508760"/>
          </a:xfrm>
          <a:prstGeom prst="rect">
            <a:avLst/>
          </a:prstGeom>
          <a:noFill/>
        </p:spPr>
        <p:txBody>
          <a:bodyPr wrap="square" lIns="0" rIns="0" tIns="0" bIns="0" anchor="b">
            <a:spAutoFit/>
          </a:bodyPr>
          <a:lstStyle/>
          <a:p>
            <a:pPr algn="l"/>
            <a:r>
              <a:rPr sz="4000" b="0" i="0">
                <a:solidFill>
                  <a:srgbClr val="14324A"/>
                </a:solidFill>
                <a:latin typeface="Cambria"/>
              </a:rPr>
              <a:t>Estate-wide intelligence: cut, fix and prepare first</a:t>
            </a:r>
          </a:p>
        </p:txBody>
      </p:sp>
      <p:sp>
        <p:nvSpPr>
          <p:cNvPr id="3" name="TextBox 2"/>
          <p:cNvSpPr txBox="1"/>
          <p:nvPr/>
        </p:nvSpPr>
        <p:spPr>
          <a:xfrm>
            <a:off x="594360" y="4183380"/>
            <a:ext cx="7274052" cy="754380"/>
          </a:xfrm>
          <a:prstGeom prst="rect">
            <a:avLst/>
          </a:prstGeom>
          <a:noFill/>
        </p:spPr>
        <p:txBody>
          <a:bodyPr wrap="square" lIns="0" rIns="0" tIns="0" bIns="0" anchor="t">
            <a:spAutoFit/>
          </a:bodyPr>
          <a:lstStyle/>
          <a:p>
            <a:pPr algn="l"/>
            <a:r>
              <a:rPr sz="1800" b="0" i="0">
                <a:solidFill>
                  <a:srgbClr val="70879A"/>
                </a:solidFill>
                <a:latin typeface="Calibri"/>
              </a:rPr>
              <a:t>Databases, object store, file shares and language holdings, for one owner decision</a:t>
            </a:r>
          </a:p>
        </p:txBody>
      </p:sp>
      <p:sp>
        <p:nvSpPr>
          <p:cNvPr id="4" name="TextBox 3"/>
          <p:cNvSpPr txBox="1"/>
          <p:nvPr/>
        </p:nvSpPr>
        <p:spPr>
          <a:xfrm>
            <a:off x="594360" y="5314492"/>
            <a:ext cx="5409590" cy="376732"/>
          </a:xfrm>
          <a:prstGeom prst="rect">
            <a:avLst/>
          </a:prstGeom>
          <a:noFill/>
        </p:spPr>
        <p:txBody>
          <a:bodyPr wrap="square" lIns="0" rIns="0" tIns="0" bIns="0" anchor="t">
            <a:spAutoFit/>
          </a:bodyPr>
          <a:lstStyle/>
          <a:p>
            <a:pPr algn="l"/>
            <a:r>
              <a:rPr sz="1000" b="0" i="0">
                <a:solidFill>
                  <a:srgbClr val="70879A"/>
                </a:solidFill>
                <a:latin typeface="Calibri"/>
              </a:rPr>
              <a:t>RMS  ·  Tenant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EXECUTIVE SUMMARY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Most of the priced saving sits in cold object storage, not in the databases</a:t>
            </a:r>
          </a:p>
        </p:txBody>
      </p:sp>
      <p:sp>
        <p:nvSpPr>
          <p:cNvPr id="4" name="TextBox 3"/>
          <p:cNvSpPr txBox="1"/>
          <p:nvPr/>
        </p:nvSpPr>
        <p:spPr>
          <a:xfrm>
            <a:off x="594360" y="1920240"/>
            <a:ext cx="1463040" cy="805815"/>
          </a:xfrm>
          <a:prstGeom prst="rect">
            <a:avLst/>
          </a:prstGeom>
          <a:noFill/>
        </p:spPr>
        <p:txBody>
          <a:bodyPr wrap="square" lIns="0" rIns="0" tIns="0" bIns="0" anchor="t">
            <a:spAutoFit/>
          </a:bodyPr>
          <a:lstStyle/>
          <a:p>
            <a:pPr algn="l"/>
            <a:r>
              <a:rPr sz="1100" b="1" i="0">
                <a:solidFill>
                  <a:srgbClr val="70879A"/>
                </a:solidFill>
                <a:latin typeface="Calibri"/>
              </a:rPr>
              <a:t>SITUATION</a:t>
            </a:r>
          </a:p>
        </p:txBody>
      </p:sp>
      <p:sp>
        <p:nvSpPr>
          <p:cNvPr id="5" name="TextBox 4"/>
          <p:cNvSpPr txBox="1"/>
          <p:nvPr/>
        </p:nvSpPr>
        <p:spPr>
          <a:xfrm>
            <a:off x="2240280" y="1920240"/>
            <a:ext cx="9357055" cy="805815"/>
          </a:xfrm>
          <a:prstGeom prst="rect">
            <a:avLst/>
          </a:prstGeom>
          <a:noFill/>
        </p:spPr>
        <p:txBody>
          <a:bodyPr wrap="square" lIns="0" rIns="0" tIns="0" bIns="0" anchor="t">
            <a:spAutoFit/>
          </a:bodyPr>
          <a:lstStyle/>
          <a:p>
            <a:pPr algn="l"/>
            <a:r>
              <a:rPr sz="1400" b="0" i="0">
                <a:solidFill>
                  <a:srgbClr val="14324A"/>
                </a:solidFill>
                <a:latin typeface="Calibri"/>
              </a:rPr>
              <a:t>The estate holds 174.3 TiB: 130.3 TiB in the object store, 43.6 TiB in file shares and 351.3 GiB in 20 databases and 1006 tables. The owner has declared every right to use the data established, so the questions are cost, condition and preparation.</a:t>
            </a:r>
          </a:p>
        </p:txBody>
      </p:sp>
      <p:cxnSp>
        <p:nvCxnSpPr>
          <p:cNvPr id="6" name="Connector 5"/>
          <p:cNvCxnSpPr/>
          <p:nvPr/>
        </p:nvCxnSpPr>
        <p:spPr>
          <a:xfrm>
            <a:off x="594360" y="2790063"/>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1463040" cy="805815"/>
          </a:xfrm>
          <a:prstGeom prst="rect">
            <a:avLst/>
          </a:prstGeom>
          <a:noFill/>
        </p:spPr>
        <p:txBody>
          <a:bodyPr wrap="square" lIns="0" rIns="0" tIns="0" bIns="0" anchor="t">
            <a:spAutoFit/>
          </a:bodyPr>
          <a:lstStyle/>
          <a:p>
            <a:pPr algn="l"/>
            <a:r>
              <a:rPr sz="1100" b="1" i="0">
                <a:solidFill>
                  <a:srgbClr val="70879A"/>
                </a:solidFill>
                <a:latin typeface="Calibri"/>
              </a:rPr>
              <a:t>COMPLICATION</a:t>
            </a:r>
          </a:p>
        </p:txBody>
      </p:sp>
      <p:sp>
        <p:nvSpPr>
          <p:cNvPr id="8" name="TextBox 7"/>
          <p:cNvSpPr txBox="1"/>
          <p:nvPr/>
        </p:nvSpPr>
        <p:spPr>
          <a:xfrm>
            <a:off x="2240280" y="2863215"/>
            <a:ext cx="9357055" cy="805815"/>
          </a:xfrm>
          <a:prstGeom prst="rect">
            <a:avLst/>
          </a:prstGeom>
          <a:noFill/>
        </p:spPr>
        <p:txBody>
          <a:bodyPr wrap="square" lIns="0" rIns="0" tIns="0" bIns="0" anchor="t">
            <a:spAutoFit/>
          </a:bodyPr>
          <a:lstStyle/>
          <a:p>
            <a:pPr algn="l"/>
            <a:r>
              <a:rPr sz="1400" b="0" i="0">
                <a:solidFill>
                  <a:srgbClr val="14324A"/>
                </a:solidFill>
                <a:latin typeface="Calibri"/>
              </a:rPr>
              <a:t>Priced strategies bound the monthly saving at 1,174.4 USD at list prices, but most of it rests on cold-looking object buckets whose read use was not measured. 40 of 106 buckets could not be read, and database ratios rest on 638 measured tables out of 1006.</a:t>
            </a:r>
          </a:p>
        </p:txBody>
      </p:sp>
      <p:cxnSp>
        <p:nvCxnSpPr>
          <p:cNvPr id="9" name="Connector 8"/>
          <p:cNvCxnSpPr/>
          <p:nvPr/>
        </p:nvCxnSpPr>
        <p:spPr>
          <a:xfrm>
            <a:off x="594360" y="37330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1463040" cy="805815"/>
          </a:xfrm>
          <a:prstGeom prst="rect">
            <a:avLst/>
          </a:prstGeom>
          <a:noFill/>
        </p:spPr>
        <p:txBody>
          <a:bodyPr wrap="square" lIns="0" rIns="0" tIns="0" bIns="0" anchor="t">
            <a:spAutoFit/>
          </a:bodyPr>
          <a:lstStyle/>
          <a:p>
            <a:pPr algn="l"/>
            <a:r>
              <a:rPr sz="1100" b="1" i="0">
                <a:solidFill>
                  <a:srgbClr val="70879A"/>
                </a:solidFill>
                <a:latin typeface="Calibri"/>
              </a:rPr>
              <a:t>QUESTION</a:t>
            </a:r>
          </a:p>
        </p:txBody>
      </p:sp>
      <p:sp>
        <p:nvSpPr>
          <p:cNvPr id="11" name="TextBox 10"/>
          <p:cNvSpPr txBox="1"/>
          <p:nvPr/>
        </p:nvSpPr>
        <p:spPr>
          <a:xfrm>
            <a:off x="2240280" y="3806189"/>
            <a:ext cx="9357055" cy="805815"/>
          </a:xfrm>
          <a:prstGeom prst="rect">
            <a:avLst/>
          </a:prstGeom>
          <a:noFill/>
        </p:spPr>
        <p:txBody>
          <a:bodyPr wrap="square" lIns="0" rIns="0" tIns="0" bIns="0" anchor="t">
            <a:spAutoFit/>
          </a:bodyPr>
          <a:lstStyle/>
          <a:p>
            <a:pPr algn="l"/>
            <a:r>
              <a:rPr sz="1400" b="0" i="0">
                <a:solidFill>
                  <a:srgbClr val="14324A"/>
                </a:solidFill>
                <a:latin typeface="Calibri"/>
              </a:rPr>
              <a:t>What should the owner do first to reduce carrying cost and stand up the first data products?</a:t>
            </a:r>
          </a:p>
        </p:txBody>
      </p:sp>
      <p:cxnSp>
        <p:nvCxnSpPr>
          <p:cNvPr id="12" name="Connector 11"/>
          <p:cNvCxnSpPr/>
          <p:nvPr/>
        </p:nvCxnSpPr>
        <p:spPr>
          <a:xfrm>
            <a:off x="594360" y="4676013"/>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1463040" cy="805815"/>
          </a:xfrm>
          <a:prstGeom prst="rect">
            <a:avLst/>
          </a:prstGeom>
          <a:noFill/>
        </p:spPr>
        <p:txBody>
          <a:bodyPr wrap="square" lIns="0" rIns="0" tIns="0" bIns="0" anchor="t">
            <a:spAutoFit/>
          </a:bodyPr>
          <a:lstStyle/>
          <a:p>
            <a:pPr algn="l"/>
            <a:r>
              <a:rPr sz="1100" b="1" i="0">
                <a:solidFill>
                  <a:srgbClr val="E8772E"/>
                </a:solidFill>
                <a:latin typeface="Calibri"/>
              </a:rPr>
              <a:t>ANSWER</a:t>
            </a:r>
          </a:p>
        </p:txBody>
      </p:sp>
      <p:sp>
        <p:nvSpPr>
          <p:cNvPr id="14" name="TextBox 13"/>
          <p:cNvSpPr txBox="1"/>
          <p:nvPr/>
        </p:nvSpPr>
        <p:spPr>
          <a:xfrm>
            <a:off x="2240280" y="4749165"/>
            <a:ext cx="9357055" cy="805815"/>
          </a:xfrm>
          <a:prstGeom prst="rect">
            <a:avLst/>
          </a:prstGeom>
          <a:noFill/>
        </p:spPr>
        <p:txBody>
          <a:bodyPr wrap="square" lIns="0" rIns="0" tIns="0" bIns="0" anchor="t">
            <a:spAutoFit/>
          </a:bodyPr>
          <a:lstStyle/>
          <a:p>
            <a:pPr algn="l"/>
            <a:r>
              <a:rPr sz="1400" b="0" i="0">
                <a:solidFill>
                  <a:srgbClr val="14324A"/>
                </a:solidFill>
                <a:latin typeface="Calibri"/>
              </a:rPr>
              <a:t>Verify and tier the cold buckets first, with an upper bound of 986.5 USD a month. Hash the duplicate candidates before removing anything. Reconcile the unreadable buckets. Then prepare reference data and the content catalogue, using de-identification or aggregation as a preparation step.</a:t>
            </a:r>
          </a:p>
        </p:txBody>
      </p:sp>
      <p:sp>
        <p:nvSpPr>
          <p:cNvPr id="15" name="TextBox 1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6" name="TextBox 1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7" name="TextBox 1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E8772E"/>
                </a:solidFill>
                <a:latin typeface="Calibri"/>
              </a:rPr>
              <a:t>Reclaimable</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4324A"/>
                </a:solidFill>
                <a:latin typeface="Calibri"/>
              </a:rPr>
              <a:t>Space that could be removed or stored more cheaply once the check named beside it has been done. It is not space already freed, and it is not a guaranteed saving — the monthly figures are upper bounds at list prices.</a:t>
            </a:r>
          </a:p>
        </p:txBody>
      </p:sp>
      <p:cxnSp>
        <p:nvCxnSpPr>
          <p:cNvPr id="6" name="Connector 5"/>
          <p:cNvCxnSpPr/>
          <p:nvPr/>
        </p:nvCxnSpPr>
        <p:spPr>
          <a:xfrm>
            <a:off x="594360" y="247573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E8772E"/>
                </a:solidFill>
                <a:latin typeface="Calibri"/>
              </a:rPr>
              <a:t>Cold (not written for over a year)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4324A"/>
                </a:solidFill>
                <a:latin typeface="Calibri"/>
              </a:rPr>
              <a:t>Nothing new has been written to that bucket or table for more than a year, judged by the newest write date we could see. It says nothing about whether anyone still reads it — that was not measured.</a:t>
            </a:r>
          </a:p>
        </p:txBody>
      </p:sp>
      <p:cxnSp>
        <p:nvCxnSpPr>
          <p:cNvPr id="9" name="Connector 8"/>
          <p:cNvCxnSpPr/>
          <p:nvPr/>
        </p:nvCxnSpPr>
        <p:spPr>
          <a:xfrm>
            <a:off x="594360" y="31043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E8772E"/>
                </a:solidFill>
                <a:latin typeface="Calibri"/>
              </a:rPr>
              <a:t>Duplicate candidate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4324A"/>
                </a:solidFill>
                <a:latin typeface="Calibri"/>
              </a:rPr>
              <a:t>Two objects whose size and storage fingerprint (ETag) match inside the same store. For large uploads that fingerprint is not a content hash, so a candidate must be confirmed by hashing before any copy is removed.</a:t>
            </a:r>
          </a:p>
        </p:txBody>
      </p:sp>
      <p:cxnSp>
        <p:nvCxnSpPr>
          <p:cNvPr id="12" name="Connector 11"/>
          <p:cNvCxnSpPr/>
          <p:nvPr/>
        </p:nvCxnSpPr>
        <p:spPr>
          <a:xfrm>
            <a:off x="594360" y="37330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E8772E"/>
                </a:solidFill>
                <a:latin typeface="Calibri"/>
              </a:rPr>
              <a:t>Exact duplicate rows</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4324A"/>
                </a:solidFill>
                <a:latin typeface="Calibri"/>
              </a:rPr>
              <a:t>Database rows that are identical in every measured column. 'Normalised' duplicates also match after trimming spaces and case.</a:t>
            </a:r>
          </a:p>
        </p:txBody>
      </p:sp>
      <p:cxnSp>
        <p:nvCxnSpPr>
          <p:cNvPr id="15" name="Connector 14"/>
          <p:cNvCxnSpPr/>
          <p:nvPr/>
        </p:nvCxnSpPr>
        <p:spPr>
          <a:xfrm>
            <a:off x="594360" y="43616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E8772E"/>
                </a:solidFill>
                <a:latin typeface="Calibri"/>
              </a:rPr>
              <a:t>Degraded row</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4324A"/>
                </a:solidFill>
                <a:latin typeface="Calibri"/>
              </a:rPr>
              <a:t>A row whose worst column shows damage: text cut short, a placeholder such as 'N/A' or 'test', an invalid format, stray whitespace or garbled characters.</a:t>
            </a:r>
          </a:p>
        </p:txBody>
      </p:sp>
      <p:cxnSp>
        <p:nvCxnSpPr>
          <p:cNvPr id="18" name="Connector 17"/>
          <p:cNvCxnSpPr/>
          <p:nvPr/>
        </p:nvCxnSpPr>
        <p:spPr>
          <a:xfrm>
            <a:off x="594360" y="499033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E8772E"/>
                </a:solidFill>
                <a:latin typeface="Calibri"/>
              </a:rPr>
              <a:t>Empty required-looking fields</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4324A"/>
                </a:solidFill>
                <a:latin typeface="Calibri"/>
              </a:rPr>
              <a:t>Blank values in columns whose name or pattern suggests they should always be filled (for example an identifier or a date). The database may not formally require them; the census flags them so an owner can decide.</a:t>
            </a:r>
          </a:p>
        </p:txBody>
      </p:sp>
      <p:cxnSp>
        <p:nvCxnSpPr>
          <p:cNvPr id="21" name="Connector 20"/>
          <p:cNvCxnSpPr/>
          <p:nvPr/>
        </p:nvCxnSpPr>
        <p:spPr>
          <a:xfrm>
            <a:off x="594360" y="56189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E8772E"/>
                </a:solidFill>
                <a:latin typeface="Calibri"/>
              </a:rPr>
              <a:t>Dead column</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4324A"/>
                </a:solidFill>
                <a:latin typeface="Calibri"/>
              </a:rPr>
              <a:t>A column that is empty on practically every row: schema carried without data.</a:t>
            </a:r>
          </a:p>
        </p:txBody>
      </p:sp>
      <p:cxnSp>
        <p:nvCxnSpPr>
          <p:cNvPr id="6" name="Connector 5"/>
          <p:cNvCxnSpPr/>
          <p:nvPr/>
        </p:nvCxnSpPr>
        <p:spPr>
          <a:xfrm>
            <a:off x="594360" y="247573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E8772E"/>
                </a:solidFill>
                <a:latin typeface="Calibri"/>
              </a:rPr>
              <a:t>Personal-data marker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4324A"/>
                </a:solidFill>
                <a:latin typeface="Calibri"/>
              </a:rPr>
              <a:t>A sampled value that looks like an email, phone number, national ID or similar. It is a condition of the data, not a judgement about rights — the owner has declared all rights established.</a:t>
            </a:r>
          </a:p>
        </p:txBody>
      </p:sp>
      <p:cxnSp>
        <p:nvCxnSpPr>
          <p:cNvPr id="9" name="Connector 8"/>
          <p:cNvCxnSpPr/>
          <p:nvPr/>
        </p:nvCxnSpPr>
        <p:spPr>
          <a:xfrm>
            <a:off x="594360" y="31043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E8772E"/>
                </a:solidFill>
                <a:latin typeface="Calibri"/>
              </a:rPr>
              <a:t>Archive-class storage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4324A"/>
                </a:solidFill>
                <a:latin typeface="Calibri"/>
              </a:rPr>
              <a:t>A cheaper storage tier for data that is kept but rarely opened. Retrieval is slower and carries its own fee, which is why the saving is stated as an upper bound.</a:t>
            </a:r>
          </a:p>
        </p:txBody>
      </p:sp>
      <p:cxnSp>
        <p:nvCxnSpPr>
          <p:cNvPr id="12" name="Connector 11"/>
          <p:cNvCxnSpPr/>
          <p:nvPr/>
        </p:nvCxnSpPr>
        <p:spPr>
          <a:xfrm>
            <a:off x="594360" y="37330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E8772E"/>
                </a:solidFill>
                <a:latin typeface="Calibri"/>
              </a:rPr>
              <a:t>Proposed destination</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4324A"/>
                </a:solidFill>
                <a:latin typeface="Calibri"/>
              </a:rPr>
              <a:t>Where this pack suggests data should live or how it should be tiered. Every destination here is a proposal for the executive to approve; this pack moved and deleted nothing.</a:t>
            </a:r>
          </a:p>
        </p:txBody>
      </p:sp>
      <p:cxnSp>
        <p:nvCxnSpPr>
          <p:cNvPr id="15" name="Connector 14"/>
          <p:cNvCxnSpPr/>
          <p:nvPr/>
        </p:nvCxnSpPr>
        <p:spPr>
          <a:xfrm>
            <a:off x="594360" y="43616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E8772E"/>
                </a:solidFill>
                <a:latin typeface="Calibri"/>
              </a:rPr>
              <a:t>Speech hours (estimate)</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4324A"/>
                </a:solidFill>
                <a:latin typeface="Calibri"/>
              </a:rPr>
              <a:t>Recorded hours multiplied by the share of two-second windows the admitted music detector did not call music. Silence is set aside first.</a:t>
            </a:r>
          </a:p>
        </p:txBody>
      </p:sp>
      <p:cxnSp>
        <p:nvCxnSpPr>
          <p:cNvPr id="18" name="Connector 17"/>
          <p:cNvCxnSpPr/>
          <p:nvPr/>
        </p:nvCxnSpPr>
        <p:spPr>
          <a:xfrm>
            <a:off x="594360" y="499033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E8772E"/>
                </a:solidFill>
                <a:latin typeface="Calibri"/>
              </a:rPr>
              <a:t>Agrees with folder</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4324A"/>
                </a:solidFill>
                <a:latin typeface="Calibri"/>
              </a:rPr>
              <a:t>The share of labelled windows (or transcript passages) where the model's language label matched the folder the recording was filed under. It is a model reading, not a human verification.</a:t>
            </a:r>
          </a:p>
        </p:txBody>
      </p:sp>
      <p:cxnSp>
        <p:nvCxnSpPr>
          <p:cNvPr id="21" name="Connector 20"/>
          <p:cNvCxnSpPr/>
          <p:nvPr/>
        </p:nvCxnSpPr>
        <p:spPr>
          <a:xfrm>
            <a:off x="594360" y="56189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What the terms in this pack mean</a:t>
            </a:r>
          </a:p>
        </p:txBody>
      </p:sp>
      <p:sp>
        <p:nvSpPr>
          <p:cNvPr id="4" name="TextBox 3"/>
          <p:cNvSpPr txBox="1"/>
          <p:nvPr/>
        </p:nvSpPr>
        <p:spPr>
          <a:xfrm>
            <a:off x="594360" y="1975104"/>
            <a:ext cx="2377440" cy="1097280"/>
          </a:xfrm>
          <a:prstGeom prst="rect">
            <a:avLst/>
          </a:prstGeom>
          <a:noFill/>
        </p:spPr>
        <p:txBody>
          <a:bodyPr wrap="square" lIns="0" rIns="0" tIns="0" bIns="0" anchor="t">
            <a:spAutoFit/>
          </a:bodyPr>
          <a:lstStyle/>
          <a:p>
            <a:pPr algn="l"/>
            <a:r>
              <a:rPr sz="1400" b="1" i="0">
                <a:solidFill>
                  <a:srgbClr val="E8772E"/>
                </a:solidFill>
                <a:latin typeface="Calibri"/>
              </a:rPr>
              <a:t>Declined to label</a:t>
            </a:r>
          </a:p>
        </p:txBody>
      </p:sp>
      <p:sp>
        <p:nvSpPr>
          <p:cNvPr id="5" name="TextBox 4"/>
          <p:cNvSpPr txBox="1"/>
          <p:nvPr/>
        </p:nvSpPr>
        <p:spPr>
          <a:xfrm>
            <a:off x="3154680" y="1975104"/>
            <a:ext cx="8442655" cy="1097280"/>
          </a:xfrm>
          <a:prstGeom prst="rect">
            <a:avLst/>
          </a:prstGeom>
          <a:noFill/>
        </p:spPr>
        <p:txBody>
          <a:bodyPr wrap="square" lIns="0" rIns="0" tIns="0" bIns="0" anchor="t">
            <a:spAutoFit/>
          </a:bodyPr>
          <a:lstStyle/>
          <a:p>
            <a:pPr algn="l"/>
            <a:r>
              <a:rPr sz="1300" b="0" i="0">
                <a:solidFill>
                  <a:srgbClr val="14324A"/>
                </a:solidFill>
                <a:latin typeface="Calibri"/>
              </a:rPr>
              <a:t>Windows where the language model's confidence fell below its threshold, so it gave no language rather than guess.</a:t>
            </a:r>
          </a:p>
        </p:txBody>
      </p:sp>
      <p:cxnSp>
        <p:nvCxnSpPr>
          <p:cNvPr id="6" name="Connector 5"/>
          <p:cNvCxnSpPr/>
          <p:nvPr/>
        </p:nvCxnSpPr>
        <p:spPr>
          <a:xfrm>
            <a:off x="594360" y="303580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3163824"/>
            <a:ext cx="2377440" cy="1097280"/>
          </a:xfrm>
          <a:prstGeom prst="rect">
            <a:avLst/>
          </a:prstGeom>
          <a:noFill/>
        </p:spPr>
        <p:txBody>
          <a:bodyPr wrap="square" lIns="0" rIns="0" tIns="0" bIns="0" anchor="t">
            <a:spAutoFit/>
          </a:bodyPr>
          <a:lstStyle/>
          <a:p>
            <a:pPr algn="l"/>
            <a:r>
              <a:rPr sz="1400" b="1" i="0">
                <a:solidFill>
                  <a:srgbClr val="E8772E"/>
                </a:solidFill>
                <a:latin typeface="Calibri"/>
              </a:rPr>
              <a:t>Scripted day / bulletin hour</a:t>
            </a:r>
          </a:p>
        </p:txBody>
      </p:sp>
      <p:sp>
        <p:nvSpPr>
          <p:cNvPr id="8" name="TextBox 7"/>
          <p:cNvSpPr txBox="1"/>
          <p:nvPr/>
        </p:nvSpPr>
        <p:spPr>
          <a:xfrm>
            <a:off x="3154680" y="3163824"/>
            <a:ext cx="8442655" cy="1097280"/>
          </a:xfrm>
          <a:prstGeom prst="rect">
            <a:avLst/>
          </a:prstGeom>
          <a:noFill/>
        </p:spPr>
        <p:txBody>
          <a:bodyPr wrap="square" lIns="0" rIns="0" tIns="0" bIns="0" anchor="t">
            <a:spAutoFit/>
          </a:bodyPr>
          <a:lstStyle/>
          <a:p>
            <a:pPr algn="l"/>
            <a:r>
              <a:rPr sz="1300" b="0" i="0">
                <a:solidFill>
                  <a:srgbClr val="14324A"/>
                </a:solidFill>
                <a:latin typeface="Calibri"/>
              </a:rPr>
              <a:t>A calendar date on which a station has at least one news script in the archive, and the distinct hour slots scripted that day. The archive does not carry a script for every hour of every day; the tables show exactly which days and hours it does.</a:t>
            </a:r>
          </a:p>
        </p:txBody>
      </p:sp>
      <p:cxnSp>
        <p:nvCxnSpPr>
          <p:cNvPr id="9" name="Connector 8"/>
          <p:cNvCxnSpPr/>
          <p:nvPr/>
        </p:nvCxnSpPr>
        <p:spPr>
          <a:xfrm>
            <a:off x="594360" y="422452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4352544"/>
            <a:ext cx="2377440" cy="1097280"/>
          </a:xfrm>
          <a:prstGeom prst="rect">
            <a:avLst/>
          </a:prstGeom>
          <a:noFill/>
        </p:spPr>
        <p:txBody>
          <a:bodyPr wrap="square" lIns="0" rIns="0" tIns="0" bIns="0" anchor="t">
            <a:spAutoFit/>
          </a:bodyPr>
          <a:lstStyle/>
          <a:p>
            <a:pPr algn="l"/>
            <a:r>
              <a:rPr sz="1400" b="1" i="0">
                <a:solidFill>
                  <a:srgbClr val="E8772E"/>
                </a:solidFill>
                <a:latin typeface="Calibri"/>
              </a:rPr>
              <a:t>Receipt</a:t>
            </a:r>
          </a:p>
        </p:txBody>
      </p:sp>
      <p:sp>
        <p:nvSpPr>
          <p:cNvPr id="11" name="TextBox 10"/>
          <p:cNvSpPr txBox="1"/>
          <p:nvPr/>
        </p:nvSpPr>
        <p:spPr>
          <a:xfrm>
            <a:off x="3154680" y="4352544"/>
            <a:ext cx="8442655" cy="1097280"/>
          </a:xfrm>
          <a:prstGeom prst="rect">
            <a:avLst/>
          </a:prstGeom>
          <a:noFill/>
        </p:spPr>
        <p:txBody>
          <a:bodyPr wrap="square" lIns="0" rIns="0" tIns="0" bIns="0" anchor="t">
            <a:spAutoFit/>
          </a:bodyPr>
          <a:lstStyle/>
          <a:p>
            <a:pPr algn="l"/>
            <a:r>
              <a:rPr sz="1300" b="0" i="0">
                <a:solidFill>
                  <a:srgbClr val="14324A"/>
                </a:solidFill>
                <a:latin typeface="Calibri"/>
              </a:rPr>
              <a:t>The retained Akki record (census run, GPU job or database reading) that every figure in this pack is traced to. The appendix lists them; the workbook carries the row-level evidence.</a:t>
            </a:r>
          </a:p>
        </p:txBody>
      </p:sp>
      <p:cxnSp>
        <p:nvCxnSpPr>
          <p:cNvPr id="12" name="Connector 11"/>
          <p:cNvCxnSpPr/>
          <p:nvPr/>
        </p:nvCxnSpPr>
        <p:spPr>
          <a:xfrm>
            <a:off x="594360" y="541324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Where the bytes sit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ESTATE BY STORE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The object store and file shares hold almost all of the estate; databases are marginal</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Cost attention belongs to storage scale; the databases, at 0.3 TiB, matter for reuse value rather than for bytes.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OBJECT-STORE CONCENTRATION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One bucket holds 66.2% of the object store, and several of the next largest are cold</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Review the largest buckets first, but size alone does not show waste; the table of buckets under review gives each one's last write.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R04: OBS bucket enumeration census run cr-f1415e395361 (22,975,591 objects, 130.3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WHOLE-ESTATE HOLDINGS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The estate holds 174.3 TiB, nearly all of it in object storage and file shares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object store holds 130.3 TiB, 74.8% of the estate, in 106 buckets and 23.0m objects.</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File shares hold 43.6 TiB, 25.0% of the estate, in 16 shares and 1.5m files.</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Databases hold 351.3 GiB, 0.2% of the estate, in 20 databases. Store totals are rounded, not an exact reconciliation.</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40 buckets were unreadable, so the object-store figure covers readable buckets only.</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02</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What is under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EXACT SOURCES UNDER REVIEW</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Cold buckets, duplicate candidates and unreadable buckets define the review list</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41.9 TiB of the object store has not been written for over a year, across 43 buckets. No-write age is not read demand.</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7.7 TiB, 5.0% of objects, are duplicate candidates, not yet confirmed by content hash.</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40 of 106 buckets returned errors when listed and need reconciling with the provider.</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Database strategy bytes are strategy totals, not table sizes. File-share duplication is unmeasured.</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3017520"/>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301752">
                <a:tc>
                  <a:txBody>
                    <a:bodyPr wrap="square"/>
                    <a:lstStyle/>
                    <a:p>
                      <a:pPr algn="l"/>
                      <a:r>
                        <a:rPr sz="1100" b="1">
                          <a:solidFill>
                            <a:srgbClr val="14324A"/>
                          </a:solidFill>
                          <a:latin typeface="Calibri"/>
                        </a:rPr>
                        <a:t>Bucket</a:t>
                      </a:r>
                    </a:p>
                  </a:txBody>
                  <a:tcPr marL="54864" marR="54864" marT="27432" marB="27432">
                    <a:solidFill>
                      <a:srgbClr val="E8EEF3"/>
                    </a:solidFill>
                  </a:tcPr>
                </a:tc>
                <a:tc>
                  <a:txBody>
                    <a:bodyPr wrap="square"/>
                    <a:lstStyle/>
                    <a:p>
                      <a:pPr algn="l"/>
                      <a:r>
                        <a:rPr sz="1100" b="1">
                          <a:solidFill>
                            <a:srgbClr val="14324A"/>
                          </a:solidFill>
                          <a:latin typeface="Calibri"/>
                        </a:rPr>
                        <a:t>Held (TiB)</a:t>
                      </a:r>
                    </a:p>
                  </a:txBody>
                  <a:tcPr marL="54864" marR="54864" marT="27432" marB="27432">
                    <a:solidFill>
                      <a:srgbClr val="E8EEF3"/>
                    </a:solidFill>
                  </a:tcPr>
                </a:tc>
                <a:tc>
                  <a:txBody>
                    <a:bodyPr wrap="square"/>
                    <a:lstStyle/>
                    <a:p>
                      <a:pPr algn="l"/>
                      <a:r>
                        <a:rPr sz="1100" b="1">
                          <a:solidFill>
                            <a:srgbClr val="14324A"/>
                          </a:solidFill>
                          <a:latin typeface="Calibri"/>
                        </a:rPr>
                        <a:t>Last write</a:t>
                      </a:r>
                    </a:p>
                  </a:txBody>
                  <a:tcPr marL="54864" marR="54864" marT="27432" marB="27432">
                    <a:solidFill>
                      <a:srgbClr val="E8EEF3"/>
                    </a:solidFill>
                  </a:tcPr>
                </a:tc>
                <a:tc>
                  <a:txBody>
                    <a:bodyPr wrap="square"/>
                    <a:lstStyle/>
                    <a:p>
                      <a:pPr algn="l"/>
                      <a:r>
                        <a:rPr sz="1100" b="1">
                          <a:solidFill>
                            <a:srgbClr val="14324A"/>
                          </a:solidFill>
                          <a:latin typeface="Calibri"/>
                        </a:rPr>
                        <a:t>Idle days</a:t>
                      </a:r>
                    </a:p>
                  </a:txBody>
                  <a:tcPr marL="54864" marR="54864" marT="27432" marB="27432">
                    <a:solidFill>
                      <a:srgbClr val="E8EEF3"/>
                    </a:solidFill>
                  </a:tcPr>
                </a:tc>
                <a:tc>
                  <a:txBody>
                    <a:bodyPr wrap="square"/>
                    <a:lstStyle/>
                    <a:p>
                      <a:pPr algn="l"/>
                      <a:r>
                        <a:rPr sz="1100" b="1">
                          <a:solidFill>
                            <a:srgbClr val="14324A"/>
                          </a:solidFill>
                          <a:latin typeface="Calibri"/>
                        </a:rPr>
                        <a:t>Duplicate candidates</a:t>
                      </a:r>
                    </a:p>
                  </a:txBody>
                  <a:tcPr marL="54864" marR="54864" marT="27432" marB="27432">
                    <a:solidFill>
                      <a:srgbClr val="E8EEF3"/>
                    </a:solidFill>
                  </a:tcPr>
                </a:tc>
                <a:tc>
                  <a:txBody>
                    <a:bodyPr wrap="square"/>
                    <a:lstStyle/>
                    <a:p>
                      <a:pPr algn="l"/>
                      <a:r>
                        <a:rPr sz="1100" b="1">
                          <a:solidFill>
                            <a:srgbClr val="14324A"/>
                          </a:solidFill>
                          <a:latin typeface="Calibri"/>
                        </a:rPr>
                        <a:t>Classification</a:t>
                      </a:r>
                    </a:p>
                  </a:txBody>
                  <a:tcPr marL="54864" marR="54864" marT="27432" marB="27432">
                    <a:solidFill>
                      <a:srgbClr val="E8EEF3"/>
                    </a:solidFill>
                  </a:tcPr>
                </a:tc>
                <a:tc>
                  <a:txBody>
                    <a:bodyPr wrap="square"/>
                    <a:lstStyle/>
                    <a:p>
                      <a:pPr algn="l"/>
                      <a:r>
                        <a:rPr sz="1100" b="1">
                          <a:solidFill>
                            <a:srgbClr val="14324A"/>
                          </a:solidFill>
                          <a:latin typeface="Calibri"/>
                        </a:rPr>
                        <a:t>Proposed action</a:t>
                      </a:r>
                    </a:p>
                  </a:txBody>
                  <a:tcPr marL="54864" marR="54864" marT="27432" marB="27432">
                    <a:solidFill>
                      <a:srgbClr val="E8EEF3"/>
                    </a:solidFill>
                  </a:tcPr>
                </a:tc>
              </a:tr>
              <a:tr h="301752">
                <a:tc>
                  <a:txBody>
                    <a:bodyPr wrap="square"/>
                    <a:lstStyle/>
                    <a:p>
                      <a:pPr algn="l"/>
                      <a:r>
                        <a:rPr sz="1100" b="0">
                          <a:solidFill>
                            <a:srgbClr val="14324A"/>
                          </a:solidFill>
                          <a:latin typeface="Calibri"/>
                        </a:rPr>
                        <a:t>2024offairrecs</a:t>
                      </a:r>
                    </a:p>
                  </a:txBody>
                  <a:tcPr marL="54864" marR="54864" marT="27432" marB="27432">
                    <a:solidFill>
                      <a:srgbClr val="FFFFFF"/>
                    </a:solidFill>
                  </a:tcPr>
                </a:tc>
                <a:tc>
                  <a:txBody>
                    <a:bodyPr wrap="square"/>
                    <a:lstStyle/>
                    <a:p>
                      <a:pPr algn="r"/>
                      <a:r>
                        <a:rPr sz="1100" b="0">
                          <a:solidFill>
                            <a:srgbClr val="14324A"/>
                          </a:solidFill>
                          <a:latin typeface="Courier New"/>
                        </a:rPr>
                        <a:t>86.3</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16,589</a:t>
                      </a:r>
                    </a:p>
                  </a:txBody>
                  <a:tcPr marL="54864" marR="54864" marT="27432" marB="27432">
                    <a:solidFill>
                      <a:srgbClr val="FFFFFF"/>
                    </a:solidFill>
                  </a:tcPr>
                </a:tc>
                <a:tc>
                  <a:txBody>
                    <a:bodyPr wrap="square"/>
                    <a:lstStyle/>
                    <a:p>
                      <a:pPr algn="r"/>
                      <a:r>
                        <a:rPr sz="1100" b="0">
                          <a:solidFill>
                            <a:srgbClr val="14324A"/>
                          </a:solidFill>
                          <a:latin typeface="Courier New"/>
                        </a:rPr>
                        <a:t>active — keep hot; heavy duplicate candidates</a:t>
                      </a:r>
                    </a:p>
                  </a:txBody>
                  <a:tcPr marL="54864" marR="54864" marT="27432" marB="27432">
                    <a:solidFill>
                      <a:srgbClr val="FFFFFF"/>
                    </a:solidFill>
                  </a:tcPr>
                </a:tc>
                <a:tc>
                  <a:txBody>
                    <a:bodyPr wrap="square"/>
                    <a:lstStyle/>
                    <a:p>
                      <a:pPr algn="r"/>
                      <a:r>
                        <a:rPr sz="1100" b="0">
                          <a:solidFill>
                            <a:srgbClr val="14324A"/>
                          </a:solidFill>
                          <a:latin typeface="Courier New"/>
                        </a:rPr>
                        <a:t>hash-confirm duplicate candidates, keep one copy</a:t>
                      </a:r>
                    </a:p>
                  </a:txBody>
                  <a:tcPr marL="54864" marR="54864" marT="27432" marB="27432">
                    <a:solidFill>
                      <a:srgbClr val="FFFFFF"/>
                    </a:solidFill>
                  </a:tcPr>
                </a:tc>
              </a:tr>
              <a:tr h="301752">
                <a:tc>
                  <a:txBody>
                    <a:bodyPr wrap="square"/>
                    <a:lstStyle/>
                    <a:p>
                      <a:pPr algn="l"/>
                      <a:r>
                        <a:rPr sz="1100" b="0">
                          <a:solidFill>
                            <a:srgbClr val="14324A"/>
                          </a:solidFill>
                          <a:latin typeface="Calibri"/>
                        </a:rPr>
                        <a:t>music-bucket-rms</a:t>
                      </a:r>
                    </a:p>
                  </a:txBody>
                  <a:tcPr marL="54864" marR="54864" marT="27432" marB="27432">
                    <a:solidFill>
                      <a:srgbClr val="FFFFFF"/>
                    </a:solidFill>
                  </a:tcPr>
                </a:tc>
                <a:tc>
                  <a:txBody>
                    <a:bodyPr wrap="square"/>
                    <a:lstStyle/>
                    <a:p>
                      <a:pPr algn="r"/>
                      <a:r>
                        <a:rPr sz="1100" b="0">
                          <a:solidFill>
                            <a:srgbClr val="14324A"/>
                          </a:solidFill>
                          <a:latin typeface="Courier New"/>
                        </a:rPr>
                        <a:t>4.93</a:t>
                      </a:r>
                    </a:p>
                  </a:txBody>
                  <a:tcPr marL="54864" marR="54864" marT="27432" marB="27432">
                    <a:solidFill>
                      <a:srgbClr val="FFFFFF"/>
                    </a:solidFill>
                  </a:tcPr>
                </a:tc>
                <a:tc>
                  <a:txBody>
                    <a:bodyPr wrap="square"/>
                    <a:lstStyle/>
                    <a:p>
                      <a:pPr algn="r"/>
                      <a:r>
                        <a:rPr sz="1100" b="0">
                          <a:solidFill>
                            <a:srgbClr val="14324A"/>
                          </a:solidFill>
                          <a:latin typeface="Courier New"/>
                        </a:rPr>
                        <a:t>2024-03-26</a:t>
                      </a:r>
                    </a:p>
                  </a:txBody>
                  <a:tcPr marL="54864" marR="54864" marT="27432" marB="27432">
                    <a:solidFill>
                      <a:srgbClr val="FFFFFF"/>
                    </a:solidFill>
                  </a:tcPr>
                </a:tc>
                <a:tc>
                  <a:txBody>
                    <a:bodyPr wrap="square"/>
                    <a:lstStyle/>
                    <a:p>
                      <a:pPr algn="r"/>
                      <a:r>
                        <a:rPr sz="1100" b="0">
                          <a:solidFill>
                            <a:srgbClr val="14324A"/>
                          </a:solidFill>
                          <a:latin typeface="Courier New"/>
                        </a:rPr>
                        <a:t>916</a:t>
                      </a:r>
                    </a:p>
                  </a:txBody>
                  <a:tcPr marL="54864" marR="54864" marT="27432" marB="27432">
                    <a:solidFill>
                      <a:srgbClr val="FFFFFF"/>
                    </a:solidFill>
                  </a:tcPr>
                </a:tc>
                <a:tc>
                  <a:txBody>
                    <a:bodyPr wrap="square"/>
                    <a:lstStyle/>
                    <a:p>
                      <a:pPr algn="r"/>
                      <a:r>
                        <a:rPr sz="1100" b="0">
                          <a:solidFill>
                            <a:srgbClr val="14324A"/>
                          </a:solidFill>
                          <a:latin typeface="Courier New"/>
                        </a:rPr>
                        <a:t>14,696</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na7p43do</a:t>
                      </a:r>
                    </a:p>
                  </a:txBody>
                  <a:tcPr marL="54864" marR="54864" marT="27432" marB="27432">
                    <a:solidFill>
                      <a:srgbClr val="FFFFFF"/>
                    </a:solidFill>
                  </a:tcPr>
                </a:tc>
                <a:tc>
                  <a:txBody>
                    <a:bodyPr wrap="square"/>
                    <a:lstStyle/>
                    <a:p>
                      <a:pPr algn="r"/>
                      <a:r>
                        <a:rPr sz="1100" b="0">
                          <a:solidFill>
                            <a:srgbClr val="14324A"/>
                          </a:solidFill>
                          <a:latin typeface="Courier New"/>
                        </a:rPr>
                        <a:t>4.1</a:t>
                      </a:r>
                    </a:p>
                  </a:txBody>
                  <a:tcPr marL="54864" marR="54864" marT="27432" marB="27432">
                    <a:solidFill>
                      <a:srgbClr val="FFFFFF"/>
                    </a:solidFill>
                  </a:tcPr>
                </a:tc>
                <a:tc>
                  <a:txBody>
                    <a:bodyPr wrap="square"/>
                    <a:lstStyle/>
                    <a:p>
                      <a:pPr algn="r"/>
                      <a:r>
                        <a:rPr sz="1100" b="0">
                          <a:solidFill>
                            <a:srgbClr val="14324A"/>
                          </a:solidFill>
                          <a:latin typeface="Courier New"/>
                        </a:rPr>
                        <a:t>2024-04-04</a:t>
                      </a:r>
                    </a:p>
                  </a:txBody>
                  <a:tcPr marL="54864" marR="54864" marT="27432" marB="27432">
                    <a:solidFill>
                      <a:srgbClr val="FFFFFF"/>
                    </a:solidFill>
                  </a:tcPr>
                </a:tc>
                <a:tc>
                  <a:txBody>
                    <a:bodyPr wrap="square"/>
                    <a:lstStyle/>
                    <a:p>
                      <a:pPr algn="r"/>
                      <a:r>
                        <a:rPr sz="1100" b="0">
                          <a:solidFill>
                            <a:srgbClr val="14324A"/>
                          </a:solidFill>
                          <a:latin typeface="Courier New"/>
                        </a:rPr>
                        <a:t>908</a:t>
                      </a:r>
                    </a:p>
                  </a:txBody>
                  <a:tcPr marL="54864" marR="54864" marT="27432" marB="27432">
                    <a:solidFill>
                      <a:srgbClr val="FFFFFF"/>
                    </a:solidFill>
                  </a:tcPr>
                </a:tc>
                <a:tc>
                  <a:txBody>
                    <a:bodyPr wrap="square"/>
                    <a:lstStyle/>
                    <a:p>
                      <a:pPr algn="r"/>
                      <a:r>
                        <a:rPr sz="1100" b="0">
                          <a:solidFill>
                            <a:srgbClr val="14324A"/>
                          </a:solidFill>
                          <a:latin typeface="Courier New"/>
                        </a:rPr>
                        <a:t>197,528</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na7p43js</a:t>
                      </a:r>
                    </a:p>
                  </a:txBody>
                  <a:tcPr marL="54864" marR="54864" marT="27432" marB="27432">
                    <a:solidFill>
                      <a:srgbClr val="FFFFFF"/>
                    </a:solidFill>
                  </a:tcPr>
                </a:tc>
                <a:tc>
                  <a:txBody>
                    <a:bodyPr wrap="square"/>
                    <a:lstStyle/>
                    <a:p>
                      <a:pPr algn="r"/>
                      <a:r>
                        <a:rPr sz="1100" b="0">
                          <a:solidFill>
                            <a:srgbClr val="14324A"/>
                          </a:solidFill>
                          <a:latin typeface="Courier New"/>
                        </a:rPr>
                        <a:t>3.57</a:t>
                      </a:r>
                    </a:p>
                  </a:txBody>
                  <a:tcPr marL="54864" marR="54864" marT="27432" marB="27432">
                    <a:solidFill>
                      <a:srgbClr val="FFFFFF"/>
                    </a:solidFill>
                  </a:tcPr>
                </a:tc>
                <a:tc>
                  <a:txBody>
                    <a:bodyPr wrap="square"/>
                    <a:lstStyle/>
                    <a:p>
                      <a:pPr algn="r"/>
                      <a:r>
                        <a:rPr sz="1100" b="0">
                          <a:solidFill>
                            <a:srgbClr val="14324A"/>
                          </a:solidFill>
                          <a:latin typeface="Courier New"/>
                        </a:rPr>
                        <a:t>2024-04-02</a:t>
                      </a:r>
                    </a:p>
                  </a:txBody>
                  <a:tcPr marL="54864" marR="54864" marT="27432" marB="27432">
                    <a:solidFill>
                      <a:srgbClr val="FFFFFF"/>
                    </a:solidFill>
                  </a:tcPr>
                </a:tc>
                <a:tc>
                  <a:txBody>
                    <a:bodyPr wrap="square"/>
                    <a:lstStyle/>
                    <a:p>
                      <a:pPr algn="r"/>
                      <a:r>
                        <a:rPr sz="1100" b="0">
                          <a:solidFill>
                            <a:srgbClr val="14324A"/>
                          </a:solidFill>
                          <a:latin typeface="Courier New"/>
                        </a:rPr>
                        <a:t>909</a:t>
                      </a:r>
                    </a:p>
                  </a:txBody>
                  <a:tcPr marL="54864" marR="54864" marT="27432" marB="27432">
                    <a:solidFill>
                      <a:srgbClr val="FFFFFF"/>
                    </a:solidFill>
                  </a:tcPr>
                </a:tc>
                <a:tc>
                  <a:txBody>
                    <a:bodyPr wrap="square"/>
                    <a:lstStyle/>
                    <a:p>
                      <a:pPr algn="r"/>
                      <a:r>
                        <a:rPr sz="1100" b="0">
                          <a:solidFill>
                            <a:srgbClr val="14324A"/>
                          </a:solidFill>
                          <a:latin typeface="Courier New"/>
                        </a:rPr>
                        <a:t>27,187</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na7p434j</a:t>
                      </a:r>
                    </a:p>
                  </a:txBody>
                  <a:tcPr marL="54864" marR="54864" marT="27432" marB="27432">
                    <a:solidFill>
                      <a:srgbClr val="FFFFFF"/>
                    </a:solidFill>
                  </a:tcPr>
                </a:tc>
                <a:tc>
                  <a:txBody>
                    <a:bodyPr wrap="square"/>
                    <a:lstStyle/>
                    <a:p>
                      <a:pPr algn="r"/>
                      <a:r>
                        <a:rPr sz="1100" b="0">
                          <a:solidFill>
                            <a:srgbClr val="14324A"/>
                          </a:solidFill>
                          <a:latin typeface="Courier New"/>
                        </a:rPr>
                        <a:t>3.5</a:t>
                      </a:r>
                    </a:p>
                  </a:txBody>
                  <a:tcPr marL="54864" marR="54864" marT="27432" marB="27432">
                    <a:solidFill>
                      <a:srgbClr val="FFFFFF"/>
                    </a:solidFill>
                  </a:tcPr>
                </a:tc>
                <a:tc>
                  <a:txBody>
                    <a:bodyPr wrap="square"/>
                    <a:lstStyle/>
                    <a:p>
                      <a:pPr algn="r"/>
                      <a:r>
                        <a:rPr sz="1100" b="0">
                          <a:solidFill>
                            <a:srgbClr val="14324A"/>
                          </a:solidFill>
                          <a:latin typeface="Courier New"/>
                        </a:rPr>
                        <a:t>2024-04-04</a:t>
                      </a:r>
                    </a:p>
                  </a:txBody>
                  <a:tcPr marL="54864" marR="54864" marT="27432" marB="27432">
                    <a:solidFill>
                      <a:srgbClr val="FFFFFF"/>
                    </a:solidFill>
                  </a:tcPr>
                </a:tc>
                <a:tc>
                  <a:txBody>
                    <a:bodyPr wrap="square"/>
                    <a:lstStyle/>
                    <a:p>
                      <a:pPr algn="r"/>
                      <a:r>
                        <a:rPr sz="1100" b="0">
                          <a:solidFill>
                            <a:srgbClr val="14324A"/>
                          </a:solidFill>
                          <a:latin typeface="Courier New"/>
                        </a:rPr>
                        <a:t>908</a:t>
                      </a:r>
                    </a:p>
                  </a:txBody>
                  <a:tcPr marL="54864" marR="54864" marT="27432" marB="27432">
                    <a:solidFill>
                      <a:srgbClr val="FFFFFF"/>
                    </a:solidFill>
                  </a:tcPr>
                </a:tc>
                <a:tc>
                  <a:txBody>
                    <a:bodyPr wrap="square"/>
                    <a:lstStyle/>
                    <a:p>
                      <a:pPr algn="r"/>
                      <a:r>
                        <a:rPr sz="1100" b="0">
                          <a:solidFill>
                            <a:srgbClr val="14324A"/>
                          </a:solidFill>
                          <a:latin typeface="Courier New"/>
                        </a:rPr>
                        <a:t>2,890</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na7p41hj</a:t>
                      </a:r>
                    </a:p>
                  </a:txBody>
                  <a:tcPr marL="54864" marR="54864" marT="27432" marB="27432">
                    <a:solidFill>
                      <a:srgbClr val="FFFFFF"/>
                    </a:solidFill>
                  </a:tcPr>
                </a:tc>
                <a:tc>
                  <a:txBody>
                    <a:bodyPr wrap="square"/>
                    <a:lstStyle/>
                    <a:p>
                      <a:pPr algn="r"/>
                      <a:r>
                        <a:rPr sz="1100" b="0">
                          <a:solidFill>
                            <a:srgbClr val="14324A"/>
                          </a:solidFill>
                          <a:latin typeface="Courier New"/>
                        </a:rPr>
                        <a:t>3.48</a:t>
                      </a:r>
                    </a:p>
                  </a:txBody>
                  <a:tcPr marL="54864" marR="54864" marT="27432" marB="27432">
                    <a:solidFill>
                      <a:srgbClr val="FFFFFF"/>
                    </a:solidFill>
                  </a:tcPr>
                </a:tc>
                <a:tc>
                  <a:txBody>
                    <a:bodyPr wrap="square"/>
                    <a:lstStyle/>
                    <a:p>
                      <a:pPr algn="r"/>
                      <a:r>
                        <a:rPr sz="1100" b="0">
                          <a:solidFill>
                            <a:srgbClr val="14324A"/>
                          </a:solidFill>
                          <a:latin typeface="Courier New"/>
                        </a:rPr>
                        <a:t>2024-03-27</a:t>
                      </a:r>
                    </a:p>
                  </a:txBody>
                  <a:tcPr marL="54864" marR="54864" marT="27432" marB="27432">
                    <a:solidFill>
                      <a:srgbClr val="FFFFFF"/>
                    </a:solidFill>
                  </a:tcPr>
                </a:tc>
                <a:tc>
                  <a:txBody>
                    <a:bodyPr wrap="square"/>
                    <a:lstStyle/>
                    <a:p>
                      <a:pPr algn="r"/>
                      <a:r>
                        <a:rPr sz="1100" b="0">
                          <a:solidFill>
                            <a:srgbClr val="14324A"/>
                          </a:solidFill>
                          <a:latin typeface="Courier New"/>
                        </a:rPr>
                        <a:t>915</a:t>
                      </a:r>
                    </a:p>
                  </a:txBody>
                  <a:tcPr marL="54864" marR="54864" marT="27432" marB="27432">
                    <a:solidFill>
                      <a:srgbClr val="FFFFFF"/>
                    </a:solidFill>
                  </a:tcPr>
                </a:tc>
                <a:tc>
                  <a:txBody>
                    <a:bodyPr wrap="square"/>
                    <a:lstStyle/>
                    <a:p>
                      <a:pPr algn="r"/>
                      <a:r>
                        <a:rPr sz="1100" b="0">
                          <a:solidFill>
                            <a:srgbClr val="14324A"/>
                          </a:solidFill>
                          <a:latin typeface="Courier New"/>
                        </a:rPr>
                        <a:t>1,852</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na7p42xe</a:t>
                      </a:r>
                    </a:p>
                  </a:txBody>
                  <a:tcPr marL="54864" marR="54864" marT="27432" marB="27432">
                    <a:solidFill>
                      <a:srgbClr val="FFFFFF"/>
                    </a:solidFill>
                  </a:tcPr>
                </a:tc>
                <a:tc>
                  <a:txBody>
                    <a:bodyPr wrap="square"/>
                    <a:lstStyle/>
                    <a:p>
                      <a:pPr algn="r"/>
                      <a:r>
                        <a:rPr sz="1100" b="0">
                          <a:solidFill>
                            <a:srgbClr val="14324A"/>
                          </a:solidFill>
                          <a:latin typeface="Courier New"/>
                        </a:rPr>
                        <a:t>3.44</a:t>
                      </a:r>
                    </a:p>
                  </a:txBody>
                  <a:tcPr marL="54864" marR="54864" marT="27432" marB="27432">
                    <a:solidFill>
                      <a:srgbClr val="FFFFFF"/>
                    </a:solidFill>
                  </a:tcPr>
                </a:tc>
                <a:tc>
                  <a:txBody>
                    <a:bodyPr wrap="square"/>
                    <a:lstStyle/>
                    <a:p>
                      <a:pPr algn="r"/>
                      <a:r>
                        <a:rPr sz="1100" b="0">
                          <a:solidFill>
                            <a:srgbClr val="14324A"/>
                          </a:solidFill>
                          <a:latin typeface="Courier New"/>
                        </a:rPr>
                        <a:t>2024-04-04</a:t>
                      </a:r>
                    </a:p>
                  </a:txBody>
                  <a:tcPr marL="54864" marR="54864" marT="27432" marB="27432">
                    <a:solidFill>
                      <a:srgbClr val="FFFFFF"/>
                    </a:solidFill>
                  </a:tcPr>
                </a:tc>
                <a:tc>
                  <a:txBody>
                    <a:bodyPr wrap="square"/>
                    <a:lstStyle/>
                    <a:p>
                      <a:pPr algn="r"/>
                      <a:r>
                        <a:rPr sz="1100" b="0">
                          <a:solidFill>
                            <a:srgbClr val="14324A"/>
                          </a:solidFill>
                          <a:latin typeface="Courier New"/>
                        </a:rPr>
                        <a:t>907</a:t>
                      </a:r>
                    </a:p>
                  </a:txBody>
                  <a:tcPr marL="54864" marR="54864" marT="27432" marB="27432">
                    <a:solidFill>
                      <a:srgbClr val="FFFFFF"/>
                    </a:solidFill>
                  </a:tcPr>
                </a:tc>
                <a:tc>
                  <a:txBody>
                    <a:bodyPr wrap="square"/>
                    <a:lstStyle/>
                    <a:p>
                      <a:pPr algn="r"/>
                      <a:r>
                        <a:rPr sz="1100" b="0">
                          <a:solidFill>
                            <a:srgbClr val="14324A"/>
                          </a:solidFill>
                          <a:latin typeface="Courier New"/>
                        </a:rPr>
                        <a:t>1,120</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na7p42xw</a:t>
                      </a:r>
                    </a:p>
                  </a:txBody>
                  <a:tcPr marL="54864" marR="54864" marT="27432" marB="27432">
                    <a:solidFill>
                      <a:srgbClr val="FFFFFF"/>
                    </a:solidFill>
                  </a:tcPr>
                </a:tc>
                <a:tc>
                  <a:txBody>
                    <a:bodyPr wrap="square"/>
                    <a:lstStyle/>
                    <a:p>
                      <a:pPr algn="r"/>
                      <a:r>
                        <a:rPr sz="1100" b="0">
                          <a:solidFill>
                            <a:srgbClr val="14324A"/>
                          </a:solidFill>
                          <a:latin typeface="Courier New"/>
                        </a:rPr>
                        <a:t>3.4</a:t>
                      </a:r>
                    </a:p>
                  </a:txBody>
                  <a:tcPr marL="54864" marR="54864" marT="27432" marB="27432">
                    <a:solidFill>
                      <a:srgbClr val="FFFFFF"/>
                    </a:solidFill>
                  </a:tcPr>
                </a:tc>
                <a:tc>
                  <a:txBody>
                    <a:bodyPr wrap="square"/>
                    <a:lstStyle/>
                    <a:p>
                      <a:pPr algn="r"/>
                      <a:r>
                        <a:rPr sz="1100" b="0">
                          <a:solidFill>
                            <a:srgbClr val="14324A"/>
                          </a:solidFill>
                          <a:latin typeface="Courier New"/>
                        </a:rPr>
                        <a:t>2024-03-31</a:t>
                      </a:r>
                    </a:p>
                  </a:txBody>
                  <a:tcPr marL="54864" marR="54864" marT="27432" marB="27432">
                    <a:solidFill>
                      <a:srgbClr val="FFFFFF"/>
                    </a:solidFill>
                  </a:tcPr>
                </a:tc>
                <a:tc>
                  <a:txBody>
                    <a:bodyPr wrap="square"/>
                    <a:lstStyle/>
                    <a:p>
                      <a:pPr algn="r"/>
                      <a:r>
                        <a:rPr sz="1100" b="0">
                          <a:solidFill>
                            <a:srgbClr val="14324A"/>
                          </a:solidFill>
                          <a:latin typeface="Courier New"/>
                        </a:rPr>
                        <a:t>911</a:t>
                      </a:r>
                    </a:p>
                  </a:txBody>
                  <a:tcPr marL="54864" marR="54864" marT="27432" marB="27432">
                    <a:solidFill>
                      <a:srgbClr val="FFFFFF"/>
                    </a:solidFill>
                  </a:tcPr>
                </a:tc>
                <a:tc>
                  <a:txBody>
                    <a:bodyPr wrap="square"/>
                    <a:lstStyle/>
                    <a:p>
                      <a:pPr algn="r"/>
                      <a:r>
                        <a:rPr sz="1100" b="0">
                          <a:solidFill>
                            <a:srgbClr val="14324A"/>
                          </a:solidFill>
                          <a:latin typeface="Courier New"/>
                        </a:rPr>
                        <a:t>2,391</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r h="301752">
                <a:tc>
                  <a:txBody>
                    <a:bodyPr wrap="square"/>
                    <a:lstStyle/>
                    <a:p>
                      <a:pPr algn="l"/>
                      <a:r>
                        <a:rPr sz="1100" b="0">
                          <a:solidFill>
                            <a:srgbClr val="14324A"/>
                          </a:solidFill>
                          <a:latin typeface="Calibri"/>
                        </a:rPr>
                        <a:t>na7p42yg</a:t>
                      </a:r>
                    </a:p>
                  </a:txBody>
                  <a:tcPr marL="54864" marR="54864" marT="27432" marB="27432">
                    <a:solidFill>
                      <a:srgbClr val="FFFFFF"/>
                    </a:solidFill>
                  </a:tcPr>
                </a:tc>
                <a:tc>
                  <a:txBody>
                    <a:bodyPr wrap="square"/>
                    <a:lstStyle/>
                    <a:p>
                      <a:pPr algn="r"/>
                      <a:r>
                        <a:rPr sz="1100" b="0">
                          <a:solidFill>
                            <a:srgbClr val="14324A"/>
                          </a:solidFill>
                          <a:latin typeface="Courier New"/>
                        </a:rPr>
                        <a:t>3.28</a:t>
                      </a:r>
                    </a:p>
                  </a:txBody>
                  <a:tcPr marL="54864" marR="54864" marT="27432" marB="27432">
                    <a:solidFill>
                      <a:srgbClr val="FFFFFF"/>
                    </a:solidFill>
                  </a:tcPr>
                </a:tc>
                <a:tc>
                  <a:txBody>
                    <a:bodyPr wrap="square"/>
                    <a:lstStyle/>
                    <a:p>
                      <a:pPr algn="r"/>
                      <a:r>
                        <a:rPr sz="1100" b="0">
                          <a:solidFill>
                            <a:srgbClr val="14324A"/>
                          </a:solidFill>
                          <a:latin typeface="Courier New"/>
                        </a:rPr>
                        <a:t>2024-03-31</a:t>
                      </a:r>
                    </a:p>
                  </a:txBody>
                  <a:tcPr marL="54864" marR="54864" marT="27432" marB="27432">
                    <a:solidFill>
                      <a:srgbClr val="FFFFFF"/>
                    </a:solidFill>
                  </a:tcPr>
                </a:tc>
                <a:tc>
                  <a:txBody>
                    <a:bodyPr wrap="square"/>
                    <a:lstStyle/>
                    <a:p>
                      <a:pPr algn="r"/>
                      <a:r>
                        <a:rPr sz="1100" b="0">
                          <a:solidFill>
                            <a:srgbClr val="14324A"/>
                          </a:solidFill>
                          <a:latin typeface="Courier New"/>
                        </a:rPr>
                        <a:t>912</a:t>
                      </a:r>
                    </a:p>
                  </a:txBody>
                  <a:tcPr marL="54864" marR="54864" marT="27432" marB="27432">
                    <a:solidFill>
                      <a:srgbClr val="FFFFFF"/>
                    </a:solidFill>
                  </a:tcPr>
                </a:tc>
                <a:tc>
                  <a:txBody>
                    <a:bodyPr wrap="square"/>
                    <a:lstStyle/>
                    <a:p>
                      <a:pPr algn="r"/>
                      <a:r>
                        <a:rPr sz="1100" b="0">
                          <a:solidFill>
                            <a:srgbClr val="14324A"/>
                          </a:solidFill>
                          <a:latin typeface="Courier New"/>
                        </a:rPr>
                        <a:t>4,197</a:t>
                      </a:r>
                    </a:p>
                  </a:txBody>
                  <a:tcPr marL="54864" marR="54864" marT="27432" marB="27432">
                    <a:solidFill>
                      <a:srgbClr val="FFFFFF"/>
                    </a:solidFill>
                  </a:tcPr>
                </a:tc>
                <a:tc>
                  <a:txBody>
                    <a:bodyPr wrap="square"/>
                    <a:lstStyle/>
                    <a:p>
                      <a:pPr algn="r"/>
                      <a:r>
                        <a:rPr sz="11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4324A"/>
                          </a:solidFill>
                          <a:latin typeface="Courier New"/>
                        </a:rPr>
                        <a:t>lifecycle rule Standard → Archive after read-log check</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R04: OBS bucket enumeration census run cr-f1415e395361 (22,975,591 objects, 130.3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1" cy="1536192"/>
        </p:xfrm>
        <a:graphic>
          <a:graphicData uri="http://schemas.openxmlformats.org/drawingml/2006/table">
            <a:tbl>
              <a:tblPr firstRow="1" bandRow="1">
                <a:tableStyleId>{5C22544A-7EE6-4342-B048-85BDC9FD1C3A}</a:tableStyleId>
              </a:tblPr>
              <a:tblGrid>
                <a:gridCol w="962760"/>
                <a:gridCol w="962760"/>
                <a:gridCol w="962760"/>
                <a:gridCol w="962760"/>
                <a:gridCol w="1375371"/>
                <a:gridCol w="2888280"/>
                <a:gridCol w="2888280"/>
              </a:tblGrid>
              <a:tr h="384048">
                <a:tc>
                  <a:txBody>
                    <a:bodyPr wrap="square"/>
                    <a:lstStyle/>
                    <a:p>
                      <a:pPr algn="l"/>
                      <a:r>
                        <a:rPr sz="1200" b="1">
                          <a:solidFill>
                            <a:srgbClr val="14324A"/>
                          </a:solidFill>
                          <a:latin typeface="Calibri"/>
                        </a:rPr>
                        <a:t>Bucket</a:t>
                      </a:r>
                    </a:p>
                  </a:txBody>
                  <a:tcPr marL="54864" marR="54864" marT="27432" marB="27432">
                    <a:solidFill>
                      <a:srgbClr val="E8EEF3"/>
                    </a:solidFill>
                  </a:tcPr>
                </a:tc>
                <a:tc>
                  <a:txBody>
                    <a:bodyPr wrap="square"/>
                    <a:lstStyle/>
                    <a:p>
                      <a:pPr algn="l"/>
                      <a:r>
                        <a:rPr sz="1200" b="1">
                          <a:solidFill>
                            <a:srgbClr val="14324A"/>
                          </a:solidFill>
                          <a:latin typeface="Calibri"/>
                        </a:rPr>
                        <a:t>Held (TiB)</a:t>
                      </a:r>
                    </a:p>
                  </a:txBody>
                  <a:tcPr marL="54864" marR="54864" marT="27432" marB="27432">
                    <a:solidFill>
                      <a:srgbClr val="E8EEF3"/>
                    </a:solidFill>
                  </a:tcPr>
                </a:tc>
                <a:tc>
                  <a:txBody>
                    <a:bodyPr wrap="square"/>
                    <a:lstStyle/>
                    <a:p>
                      <a:pPr algn="l"/>
                      <a:r>
                        <a:rPr sz="1200" b="1">
                          <a:solidFill>
                            <a:srgbClr val="14324A"/>
                          </a:solidFill>
                          <a:latin typeface="Calibri"/>
                        </a:rPr>
                        <a:t>Last write</a:t>
                      </a:r>
                    </a:p>
                  </a:txBody>
                  <a:tcPr marL="54864" marR="54864" marT="27432" marB="27432">
                    <a:solidFill>
                      <a:srgbClr val="E8EEF3"/>
                    </a:solidFill>
                  </a:tcPr>
                </a:tc>
                <a:tc>
                  <a:txBody>
                    <a:bodyPr wrap="square"/>
                    <a:lstStyle/>
                    <a:p>
                      <a:pPr algn="l"/>
                      <a:r>
                        <a:rPr sz="1200" b="1">
                          <a:solidFill>
                            <a:srgbClr val="14324A"/>
                          </a:solidFill>
                          <a:latin typeface="Calibri"/>
                        </a:rPr>
                        <a:t>Idle days</a:t>
                      </a:r>
                    </a:p>
                  </a:txBody>
                  <a:tcPr marL="54864" marR="54864" marT="27432" marB="27432">
                    <a:solidFill>
                      <a:srgbClr val="E8EEF3"/>
                    </a:solidFill>
                  </a:tcPr>
                </a:tc>
                <a:tc>
                  <a:txBody>
                    <a:bodyPr wrap="square"/>
                    <a:lstStyle/>
                    <a:p>
                      <a:pPr algn="l"/>
                      <a:r>
                        <a:rPr sz="1200" b="1">
                          <a:solidFill>
                            <a:srgbClr val="14324A"/>
                          </a:solidFill>
                          <a:latin typeface="Calibri"/>
                        </a:rPr>
                        <a:t>Duplicate candidates</a:t>
                      </a:r>
                    </a:p>
                  </a:txBody>
                  <a:tcPr marL="54864" marR="54864" marT="27432" marB="27432">
                    <a:solidFill>
                      <a:srgbClr val="E8EEF3"/>
                    </a:solidFill>
                  </a:tcPr>
                </a:tc>
                <a:tc>
                  <a:txBody>
                    <a:bodyPr wrap="square"/>
                    <a:lstStyle/>
                    <a:p>
                      <a:pPr algn="l"/>
                      <a:r>
                        <a:rPr sz="1200" b="1">
                          <a:solidFill>
                            <a:srgbClr val="14324A"/>
                          </a:solidFill>
                          <a:latin typeface="Calibri"/>
                        </a:rPr>
                        <a:t>Classification</a:t>
                      </a:r>
                    </a:p>
                  </a:txBody>
                  <a:tcPr marL="54864" marR="54864" marT="27432" marB="27432">
                    <a:solidFill>
                      <a:srgbClr val="E8EEF3"/>
                    </a:solidFill>
                  </a:tcPr>
                </a:tc>
                <a:tc>
                  <a:txBody>
                    <a:bodyPr wrap="square"/>
                    <a:lstStyle/>
                    <a:p>
                      <a:pPr algn="l"/>
                      <a:r>
                        <a:rPr sz="1200" b="1">
                          <a:solidFill>
                            <a:srgbClr val="14324A"/>
                          </a:solidFill>
                          <a:latin typeface="Calibri"/>
                        </a:rPr>
                        <a:t>Proposed action</a:t>
                      </a:r>
                    </a:p>
                  </a:txBody>
                  <a:tcPr marL="54864" marR="54864" marT="27432" marB="27432">
                    <a:solidFill>
                      <a:srgbClr val="E8EEF3"/>
                    </a:solidFill>
                  </a:tcPr>
                </a:tc>
              </a:tr>
              <a:tr h="384048">
                <a:tc>
                  <a:txBody>
                    <a:bodyPr wrap="square"/>
                    <a:lstStyle/>
                    <a:p>
                      <a:pPr algn="l"/>
                      <a:r>
                        <a:rPr sz="1200" b="0">
                          <a:solidFill>
                            <a:srgbClr val="14324A"/>
                          </a:solidFill>
                          <a:latin typeface="Calibri"/>
                        </a:rPr>
                        <a:t>na7p43d3</a:t>
                      </a:r>
                    </a:p>
                  </a:txBody>
                  <a:tcPr marL="54864" marR="54864" marT="27432" marB="27432">
                    <a:solidFill>
                      <a:srgbClr val="FFFFFF"/>
                    </a:solidFill>
                  </a:tcPr>
                </a:tc>
                <a:tc>
                  <a:txBody>
                    <a:bodyPr wrap="square"/>
                    <a:lstStyle/>
                    <a:p>
                      <a:pPr algn="r"/>
                      <a:r>
                        <a:rPr sz="1200" b="0">
                          <a:solidFill>
                            <a:srgbClr val="14324A"/>
                          </a:solidFill>
                          <a:latin typeface="Courier New"/>
                        </a:rPr>
                        <a:t>2.9</a:t>
                      </a:r>
                    </a:p>
                  </a:txBody>
                  <a:tcPr marL="54864" marR="54864" marT="27432" marB="27432">
                    <a:solidFill>
                      <a:srgbClr val="FFFFFF"/>
                    </a:solidFill>
                  </a:tcPr>
                </a:tc>
                <a:tc>
                  <a:txBody>
                    <a:bodyPr wrap="square"/>
                    <a:lstStyle/>
                    <a:p>
                      <a:pPr algn="r"/>
                      <a:r>
                        <a:rPr sz="1200" b="0">
                          <a:solidFill>
                            <a:srgbClr val="14324A"/>
                          </a:solidFill>
                          <a:latin typeface="Courier New"/>
                        </a:rPr>
                        <a:t>2024-03-30</a:t>
                      </a:r>
                    </a:p>
                  </a:txBody>
                  <a:tcPr marL="54864" marR="54864" marT="27432" marB="27432">
                    <a:solidFill>
                      <a:srgbClr val="FFFFFF"/>
                    </a:solidFill>
                  </a:tcPr>
                </a:tc>
                <a:tc>
                  <a:txBody>
                    <a:bodyPr wrap="square"/>
                    <a:lstStyle/>
                    <a:p>
                      <a:pPr algn="r"/>
                      <a:r>
                        <a:rPr sz="1200" b="0">
                          <a:solidFill>
                            <a:srgbClr val="14324A"/>
                          </a:solidFill>
                          <a:latin typeface="Courier New"/>
                        </a:rPr>
                        <a:t>912</a:t>
                      </a:r>
                    </a:p>
                  </a:txBody>
                  <a:tcPr marL="54864" marR="54864" marT="27432" marB="27432">
                    <a:solidFill>
                      <a:srgbClr val="FFFFFF"/>
                    </a:solidFill>
                  </a:tcPr>
                </a:tc>
                <a:tc>
                  <a:txBody>
                    <a:bodyPr wrap="square"/>
                    <a:lstStyle/>
                    <a:p>
                      <a:pPr algn="r"/>
                      <a:r>
                        <a:rPr sz="1200" b="0">
                          <a:solidFill>
                            <a:srgbClr val="14324A"/>
                          </a:solidFill>
                          <a:latin typeface="Courier New"/>
                        </a:rPr>
                        <a:t>1,395</a:t>
                      </a:r>
                    </a:p>
                  </a:txBody>
                  <a:tcPr marL="54864" marR="54864" marT="27432" marB="27432">
                    <a:solidFill>
                      <a:srgbClr val="FFFFFF"/>
                    </a:solidFill>
                  </a:tcPr>
                </a:tc>
                <a:tc>
                  <a:txBody>
                    <a:bodyPr wrap="square"/>
                    <a:lstStyle/>
                    <a:p>
                      <a:pPr algn="r"/>
                      <a:r>
                        <a:rPr sz="12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4324A"/>
                          </a:solidFill>
                          <a:latin typeface="Courier New"/>
                        </a:rPr>
                        <a:t>lifecycle rule Standard → Archive after read-log check</a:t>
                      </a:r>
                    </a:p>
                  </a:txBody>
                  <a:tcPr marL="54864" marR="54864" marT="27432" marB="27432">
                    <a:solidFill>
                      <a:srgbClr val="FFFFFF"/>
                    </a:solidFill>
                  </a:tcPr>
                </a:tc>
              </a:tr>
              <a:tr h="384048">
                <a:tc>
                  <a:txBody>
                    <a:bodyPr wrap="square"/>
                    <a:lstStyle/>
                    <a:p>
                      <a:pPr algn="l"/>
                      <a:r>
                        <a:rPr sz="1200" b="0">
                          <a:solidFill>
                            <a:srgbClr val="14324A"/>
                          </a:solidFill>
                          <a:latin typeface="Calibri"/>
                        </a:rPr>
                        <a:t>na7p4oco</a:t>
                      </a:r>
                    </a:p>
                  </a:txBody>
                  <a:tcPr marL="54864" marR="54864" marT="27432" marB="27432">
                    <a:solidFill>
                      <a:srgbClr val="FFFFFF"/>
                    </a:solidFill>
                  </a:tcPr>
                </a:tc>
                <a:tc>
                  <a:txBody>
                    <a:bodyPr wrap="square"/>
                    <a:lstStyle/>
                    <a:p>
                      <a:pPr algn="r"/>
                      <a:r>
                        <a:rPr sz="1200" b="0">
                          <a:solidFill>
                            <a:srgbClr val="14324A"/>
                          </a:solidFill>
                          <a:latin typeface="Courier New"/>
                        </a:rPr>
                        <a:t>2.86</a:t>
                      </a:r>
                    </a:p>
                  </a:txBody>
                  <a:tcPr marL="54864" marR="54864" marT="27432" marB="27432">
                    <a:solidFill>
                      <a:srgbClr val="FFFFFF"/>
                    </a:solidFill>
                  </a:tcPr>
                </a:tc>
                <a:tc>
                  <a:txBody>
                    <a:bodyPr wrap="square"/>
                    <a:lstStyle/>
                    <a:p>
                      <a:pPr algn="r"/>
                      <a:r>
                        <a:rPr sz="1200" b="0">
                          <a:solidFill>
                            <a:srgbClr val="14324A"/>
                          </a:solidFill>
                          <a:latin typeface="Courier New"/>
                        </a:rPr>
                        <a:t>2024-04-03</a:t>
                      </a:r>
                    </a:p>
                  </a:txBody>
                  <a:tcPr marL="54864" marR="54864" marT="27432" marB="27432">
                    <a:solidFill>
                      <a:srgbClr val="FFFFFF"/>
                    </a:solidFill>
                  </a:tcPr>
                </a:tc>
                <a:tc>
                  <a:txBody>
                    <a:bodyPr wrap="square"/>
                    <a:lstStyle/>
                    <a:p>
                      <a:pPr algn="r"/>
                      <a:r>
                        <a:rPr sz="1200" b="0">
                          <a:solidFill>
                            <a:srgbClr val="14324A"/>
                          </a:solidFill>
                          <a:latin typeface="Courier New"/>
                        </a:rPr>
                        <a:t>908</a:t>
                      </a:r>
                    </a:p>
                  </a:txBody>
                  <a:tcPr marL="54864" marR="54864" marT="27432" marB="27432">
                    <a:solidFill>
                      <a:srgbClr val="FFFFFF"/>
                    </a:solidFill>
                  </a:tcPr>
                </a:tc>
                <a:tc>
                  <a:txBody>
                    <a:bodyPr wrap="square"/>
                    <a:lstStyle/>
                    <a:p>
                      <a:pPr algn="r"/>
                      <a:r>
                        <a:rPr sz="1200" b="0">
                          <a:solidFill>
                            <a:srgbClr val="14324A"/>
                          </a:solidFill>
                          <a:latin typeface="Courier New"/>
                        </a:rPr>
                        <a:t>166,328</a:t>
                      </a:r>
                    </a:p>
                  </a:txBody>
                  <a:tcPr marL="54864" marR="54864" marT="27432" marB="27432">
                    <a:solidFill>
                      <a:srgbClr val="FFFFFF"/>
                    </a:solidFill>
                  </a:tcPr>
                </a:tc>
                <a:tc>
                  <a:txBody>
                    <a:bodyPr wrap="square"/>
                    <a:lstStyle/>
                    <a:p>
                      <a:pPr algn="r"/>
                      <a:r>
                        <a:rPr sz="1200" b="0">
                          <a:solidFill>
                            <a:srgbClr val="14324A"/>
                          </a:solidFill>
                          <a:latin typeface="Courier New"/>
                        </a:rPr>
                        <a:t>cold — archive candidate; heavy duplicate candidates</a:t>
                      </a:r>
                    </a:p>
                  </a:txBody>
                  <a:tcPr marL="54864" marR="54864" marT="27432" marB="27432">
                    <a:solidFill>
                      <a:srgbClr val="FFFFFF"/>
                    </a:solidFill>
                  </a:tcPr>
                </a:tc>
                <a:tc>
                  <a:txBody>
                    <a:bodyPr wrap="square"/>
                    <a:lstStyle/>
                    <a:p>
                      <a:pPr algn="r"/>
                      <a:r>
                        <a:rPr sz="1200" b="0">
                          <a:solidFill>
                            <a:srgbClr val="14324A"/>
                          </a:solidFill>
                          <a:latin typeface="Courier New"/>
                        </a:rPr>
                        <a:t>lifecycle rule Standard → Archive after read-log check</a:t>
                      </a:r>
                    </a:p>
                  </a:txBody>
                  <a:tcPr marL="54864" marR="54864" marT="27432" marB="27432">
                    <a:solidFill>
                      <a:srgbClr val="FFFFFF"/>
                    </a:solidFill>
                  </a:tcPr>
                </a:tc>
              </a:tr>
              <a:tr h="384048">
                <a:tc>
                  <a:txBody>
                    <a:bodyPr wrap="square"/>
                    <a:lstStyle/>
                    <a:p>
                      <a:pPr algn="l"/>
                      <a:r>
                        <a:rPr sz="1200" b="0">
                          <a:solidFill>
                            <a:srgbClr val="14324A"/>
                          </a:solidFill>
                          <a:latin typeface="Calibri"/>
                        </a:rPr>
                        <a:t>rmsbroadcast</a:t>
                      </a:r>
                    </a:p>
                  </a:txBody>
                  <a:tcPr marL="54864" marR="54864" marT="27432" marB="27432">
                    <a:solidFill>
                      <a:srgbClr val="FFFFFF"/>
                    </a:solidFill>
                  </a:tcPr>
                </a:tc>
                <a:tc>
                  <a:txBody>
                    <a:bodyPr wrap="square"/>
                    <a:lstStyle/>
                    <a:p>
                      <a:pPr algn="r"/>
                      <a:r>
                        <a:rPr sz="1200" b="0">
                          <a:solidFill>
                            <a:srgbClr val="14324A"/>
                          </a:solidFill>
                          <a:latin typeface="Courier New"/>
                        </a:rPr>
                        <a:t>1.49</a:t>
                      </a:r>
                    </a:p>
                  </a:txBody>
                  <a:tcPr marL="54864" marR="54864" marT="27432" marB="27432">
                    <a:solidFill>
                      <a:srgbClr val="FFFFFF"/>
                    </a:solidFill>
                  </a:tcPr>
                </a:tc>
                <a:tc>
                  <a:txBody>
                    <a:bodyPr wrap="square"/>
                    <a:lstStyle/>
                    <a:p>
                      <a:pPr algn="r"/>
                      <a:r>
                        <a:rPr sz="1200" b="0">
                          <a:solidFill>
                            <a:srgbClr val="14324A"/>
                          </a:solidFill>
                          <a:latin typeface="Courier New"/>
                        </a:rPr>
                        <a:t>2024-03-24</a:t>
                      </a:r>
                    </a:p>
                  </a:txBody>
                  <a:tcPr marL="54864" marR="54864" marT="27432" marB="27432">
                    <a:solidFill>
                      <a:srgbClr val="FFFFFF"/>
                    </a:solidFill>
                  </a:tcPr>
                </a:tc>
                <a:tc>
                  <a:txBody>
                    <a:bodyPr wrap="square"/>
                    <a:lstStyle/>
                    <a:p>
                      <a:pPr algn="r"/>
                      <a:r>
                        <a:rPr sz="1200" b="0">
                          <a:solidFill>
                            <a:srgbClr val="14324A"/>
                          </a:solidFill>
                          <a:latin typeface="Courier New"/>
                        </a:rPr>
                        <a:t>918</a:t>
                      </a:r>
                    </a:p>
                  </a:txBody>
                  <a:tcPr marL="54864" marR="54864" marT="27432" marB="27432">
                    <a:solidFill>
                      <a:srgbClr val="FFFFFF"/>
                    </a:solidFill>
                  </a:tcPr>
                </a:tc>
                <a:tc>
                  <a:txBody>
                    <a:bodyPr wrap="square"/>
                    <a:lstStyle/>
                    <a:p>
                      <a:pPr algn="r"/>
                      <a:r>
                        <a:rPr sz="1200" b="0">
                          <a:solidFill>
                            <a:srgbClr val="14324A"/>
                          </a:solidFill>
                          <a:latin typeface="Courier New"/>
                        </a:rPr>
                        <a:t>5,060</a:t>
                      </a:r>
                    </a:p>
                  </a:txBody>
                  <a:tcPr marL="54864" marR="54864" marT="27432" marB="27432">
                    <a:solidFill>
                      <a:srgbClr val="FFFFFF"/>
                    </a:solidFill>
                  </a:tcPr>
                </a:tc>
                <a:tc>
                  <a:txBody>
                    <a:bodyPr wrap="square"/>
                    <a:lstStyle/>
                    <a:p>
                      <a:pPr algn="r"/>
                      <a:r>
                        <a:rPr sz="1200" b="0">
                          <a:solidFill>
                            <a:srgbClr val="14324A"/>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4324A"/>
                          </a:solidFill>
                          <a:latin typeface="Courier New"/>
                        </a:rPr>
                        <a:t>lifecycle rule Standard → Archive after read-log check</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R04: OBS bucket enumeration census run cr-f1415e395361 (22,975,591 objects, 130.3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3" cy="3017520"/>
        </p:xfrm>
        <a:graphic>
          <a:graphicData uri="http://schemas.openxmlformats.org/drawingml/2006/table">
            <a:tbl>
              <a:tblPr firstRow="1" bandRow="1">
                <a:tableStyleId>{5C22544A-7EE6-4342-B048-85BDC9FD1C3A}</a:tableStyleId>
              </a:tblPr>
              <a:tblGrid>
                <a:gridCol w="3300892"/>
                <a:gridCol w="2357780"/>
                <a:gridCol w="2043409"/>
                <a:gridCol w="3300892"/>
              </a:tblGrid>
              <a:tr h="301752">
                <a:tc>
                  <a:txBody>
                    <a:bodyPr wrap="square"/>
                    <a:lstStyle/>
                    <a:p>
                      <a:pPr algn="l"/>
                      <a:r>
                        <a:rPr sz="1200" b="1">
                          <a:solidFill>
                            <a:srgbClr val="14324A"/>
                          </a:solidFill>
                          <a:latin typeface="Calibri"/>
                        </a:rPr>
                        <a:t>Table (database.table)</a:t>
                      </a:r>
                    </a:p>
                  </a:txBody>
                  <a:tcPr marL="54864" marR="54864" marT="27432" marB="27432">
                    <a:solidFill>
                      <a:srgbClr val="E8EEF3"/>
                    </a:solidFill>
                  </a:tcPr>
                </a:tc>
                <a:tc>
                  <a:txBody>
                    <a:bodyPr wrap="square"/>
                    <a:lstStyle/>
                    <a:p>
                      <a:pPr algn="l"/>
                      <a:r>
                        <a:rPr sz="1200" b="1">
                          <a:solidFill>
                            <a:srgbClr val="14324A"/>
                          </a:solidFill>
                          <a:latin typeface="Calibri"/>
                        </a:rPr>
                        <a:t>Finding</a:t>
                      </a:r>
                    </a:p>
                  </a:txBody>
                  <a:tcPr marL="54864" marR="54864" marT="27432" marB="27432">
                    <a:solidFill>
                      <a:srgbClr val="E8EEF3"/>
                    </a:solidFill>
                  </a:tcPr>
                </a:tc>
                <a:tc>
                  <a:txBody>
                    <a:bodyPr wrap="square"/>
                    <a:lstStyle/>
                    <a:p>
                      <a:pPr algn="l"/>
                      <a:r>
                        <a:rPr sz="1200" b="1">
                          <a:solidFill>
                            <a:srgbClr val="14324A"/>
                          </a:solidFill>
                          <a:latin typeface="Calibri"/>
                        </a:rPr>
                        <a:t>Measured detail</a:t>
                      </a:r>
                    </a:p>
                  </a:txBody>
                  <a:tcPr marL="54864" marR="54864" marT="27432" marB="27432">
                    <a:solidFill>
                      <a:srgbClr val="E8EEF3"/>
                    </a:solidFill>
                  </a:tcPr>
                </a:tc>
                <a:tc>
                  <a:txBody>
                    <a:bodyPr wrap="square"/>
                    <a:lstStyle/>
                    <a:p>
                      <a:pPr algn="l"/>
                      <a:r>
                        <a:rPr sz="1200" b="1">
                          <a:solidFill>
                            <a:srgbClr val="14324A"/>
                          </a:solidFill>
                          <a:latin typeface="Calibri"/>
                        </a:rPr>
                        <a:t>Proposed action</a:t>
                      </a:r>
                    </a:p>
                  </a:txBody>
                  <a:tcPr marL="54864" marR="54864" marT="27432" marB="27432">
                    <a:solidFill>
                      <a:srgbClr val="E8EEF3"/>
                    </a:solidFill>
                  </a:tcPr>
                </a:tc>
              </a:tr>
              <a:tr h="301752">
                <a:tc>
                  <a:txBody>
                    <a:bodyPr wrap="square"/>
                    <a:lstStyle/>
                    <a:p>
                      <a:pPr algn="l"/>
                      <a:r>
                        <a:rPr sz="1200" b="0">
                          <a:solidFill>
                            <a:srgbClr val="14324A"/>
                          </a:solidFill>
                          <a:latin typeface="Calibri"/>
                        </a:rPr>
                        <a:t>viusasa_staging.audits</a:t>
                      </a:r>
                    </a:p>
                  </a:txBody>
                  <a:tcPr marL="54864" marR="54864" marT="27432" marB="27432">
                    <a:solidFill>
                      <a:srgbClr val="FFFFFF"/>
                    </a:solidFill>
                  </a:tcPr>
                </a:tc>
                <a:tc>
                  <a:txBody>
                    <a:bodyPr wrap="square"/>
                    <a:lstStyle/>
                    <a:p>
                      <a:pPr algn="l"/>
                      <a:r>
                        <a:rPr sz="1200" b="0">
                          <a:solidFill>
                            <a:srgbClr val="14324A"/>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4324A"/>
                          </a:solidFill>
                          <a:latin typeface="Calibri"/>
                        </a:rPr>
                        <a:t>666 days · 18.6 GiB</a:t>
                      </a:r>
                    </a:p>
                  </a:txBody>
                  <a:tcPr marL="54864" marR="54864" marT="27432" marB="27432">
                    <a:solidFill>
                      <a:srgbClr val="FFFFFF"/>
                    </a:solidFill>
                  </a:tcPr>
                </a:tc>
                <a:tc>
                  <a:txBody>
                    <a:bodyPr wrap="square"/>
                    <a:lstStyle/>
                    <a:p>
                      <a:pPr algn="l"/>
                      <a:r>
                        <a:rPr sz="1200" b="0">
                          <a:solidFill>
                            <a:srgbClr val="14324A"/>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viusasa_staging.master_payments</a:t>
                      </a:r>
                    </a:p>
                  </a:txBody>
                  <a:tcPr marL="54864" marR="54864" marT="27432" marB="27432">
                    <a:solidFill>
                      <a:srgbClr val="FFFFFF"/>
                    </a:solidFill>
                  </a:tcPr>
                </a:tc>
                <a:tc>
                  <a:txBody>
                    <a:bodyPr wrap="square"/>
                    <a:lstStyle/>
                    <a:p>
                      <a:pPr algn="l"/>
                      <a:r>
                        <a:rPr sz="1200" b="0">
                          <a:solidFill>
                            <a:srgbClr val="14324A"/>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4324A"/>
                          </a:solidFill>
                          <a:latin typeface="Calibri"/>
                        </a:rPr>
                        <a:t>438 days · 4.2 GiB</a:t>
                      </a:r>
                    </a:p>
                  </a:txBody>
                  <a:tcPr marL="54864" marR="54864" marT="27432" marB="27432">
                    <a:solidFill>
                      <a:srgbClr val="FFFFFF"/>
                    </a:solidFill>
                  </a:tcPr>
                </a:tc>
                <a:tc>
                  <a:txBody>
                    <a:bodyPr wrap="square"/>
                    <a:lstStyle/>
                    <a:p>
                      <a:pPr algn="l"/>
                      <a:r>
                        <a:rPr sz="1200" b="0">
                          <a:solidFill>
                            <a:srgbClr val="14324A"/>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4324A"/>
                          </a:solidFill>
                          <a:latin typeface="Calibri"/>
                        </a:rPr>
                        <a:t>razuna.raz1_videos</a:t>
                      </a:r>
                    </a:p>
                  </a:txBody>
                  <a:tcPr marL="54864" marR="54864" marT="27432" marB="27432">
                    <a:solidFill>
                      <a:srgbClr val="FFFFFF"/>
                    </a:solidFill>
                  </a:tcPr>
                </a:tc>
                <a:tc>
                  <a:txBody>
                    <a:bodyPr wrap="square"/>
                    <a:lstStyle/>
                    <a:p>
                      <a:pPr algn="l"/>
                      <a:r>
                        <a:rPr sz="1200" b="0">
                          <a:solidFill>
                            <a:srgbClr val="14324A"/>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4324A"/>
                          </a:solidFill>
                          <a:latin typeface="Calibri"/>
                        </a:rPr>
                        <a:t>1341 days · 3.0 GiB</a:t>
                      </a:r>
                    </a:p>
                  </a:txBody>
                  <a:tcPr marL="54864" marR="54864" marT="27432" marB="27432">
                    <a:solidFill>
                      <a:srgbClr val="FFFFFF"/>
                    </a:solidFill>
                  </a:tcPr>
                </a:tc>
                <a:tc>
                  <a:txBody>
                    <a:bodyPr wrap="square"/>
                    <a:lstStyle/>
                    <a:p>
                      <a:pPr algn="l"/>
                      <a:r>
                        <a:rPr sz="1200" b="0">
                          <a:solidFill>
                            <a:srgbClr val="14324A"/>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viusasa_staging.payment_requests</a:t>
                      </a:r>
                    </a:p>
                  </a:txBody>
                  <a:tcPr marL="54864" marR="54864" marT="27432" marB="27432">
                    <a:solidFill>
                      <a:srgbClr val="FFFFFF"/>
                    </a:solidFill>
                  </a:tcPr>
                </a:tc>
                <a:tc>
                  <a:txBody>
                    <a:bodyPr wrap="square"/>
                    <a:lstStyle/>
                    <a:p>
                      <a:pPr algn="l"/>
                      <a:r>
                        <a:rPr sz="1200" b="0">
                          <a:solidFill>
                            <a:srgbClr val="14324A"/>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4324A"/>
                          </a:solidFill>
                          <a:latin typeface="Calibri"/>
                        </a:rPr>
                        <a:t>664 days · 2.8 GiB</a:t>
                      </a:r>
                    </a:p>
                  </a:txBody>
                  <a:tcPr marL="54864" marR="54864" marT="27432" marB="27432">
                    <a:solidFill>
                      <a:srgbClr val="FFFFFF"/>
                    </a:solidFill>
                  </a:tcPr>
                </a:tc>
                <a:tc>
                  <a:txBody>
                    <a:bodyPr wrap="square"/>
                    <a:lstStyle/>
                    <a:p>
                      <a:pPr algn="l"/>
                      <a:r>
                        <a:rPr sz="1200" b="0">
                          <a:solidFill>
                            <a:srgbClr val="14324A"/>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viusasa_staging.sms</a:t>
                      </a:r>
                    </a:p>
                  </a:txBody>
                  <a:tcPr marL="54864" marR="54864" marT="27432" marB="27432">
                    <a:solidFill>
                      <a:srgbClr val="FFFFFF"/>
                    </a:solidFill>
                  </a:tcPr>
                </a:tc>
                <a:tc>
                  <a:txBody>
                    <a:bodyPr wrap="square"/>
                    <a:lstStyle/>
                    <a:p>
                      <a:pPr algn="l"/>
                      <a:r>
                        <a:rPr sz="1200" b="0">
                          <a:solidFill>
                            <a:srgbClr val="14324A"/>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4324A"/>
                          </a:solidFill>
                          <a:latin typeface="Calibri"/>
                        </a:rPr>
                        <a:t>583 days · 2.7 GiB</a:t>
                      </a:r>
                    </a:p>
                  </a:txBody>
                  <a:tcPr marL="54864" marR="54864" marT="27432" marB="27432">
                    <a:solidFill>
                      <a:srgbClr val="FFFFFF"/>
                    </a:solidFill>
                  </a:tcPr>
                </a:tc>
                <a:tc>
                  <a:txBody>
                    <a:bodyPr wrap="square"/>
                    <a:lstStyle/>
                    <a:p>
                      <a:pPr algn="l"/>
                      <a:r>
                        <a:rPr sz="1200" b="0">
                          <a:solidFill>
                            <a:srgbClr val="14324A"/>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viusasa_staging.mpesa_stk_requests</a:t>
                      </a:r>
                    </a:p>
                  </a:txBody>
                  <a:tcPr marL="54864" marR="54864" marT="27432" marB="27432">
                    <a:solidFill>
                      <a:srgbClr val="FFFFFF"/>
                    </a:solidFill>
                  </a:tcPr>
                </a:tc>
                <a:tc>
                  <a:txBody>
                    <a:bodyPr wrap="square"/>
                    <a:lstStyle/>
                    <a:p>
                      <a:pPr algn="l"/>
                      <a:r>
                        <a:rPr sz="1200" b="0">
                          <a:solidFill>
                            <a:srgbClr val="14324A"/>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4324A"/>
                          </a:solidFill>
                          <a:latin typeface="Calibri"/>
                        </a:rPr>
                        <a:t>724 days · 1.4 GiB</a:t>
                      </a:r>
                    </a:p>
                  </a:txBody>
                  <a:tcPr marL="54864" marR="54864" marT="27432" marB="27432">
                    <a:solidFill>
                      <a:srgbClr val="FFFFFF"/>
                    </a:solidFill>
                  </a:tcPr>
                </a:tc>
                <a:tc>
                  <a:txBody>
                    <a:bodyPr wrap="square"/>
                    <a:lstStyle/>
                    <a:p>
                      <a:pPr algn="l"/>
                      <a:r>
                        <a:rPr sz="1200" b="0">
                          <a:solidFill>
                            <a:srgbClr val="14324A"/>
                          </a:solidFill>
                          <a:latin typeface="Calibri"/>
                        </a:rPr>
                        <a:t>export to compressed object storage with a schema stub (proposed); restore on demand</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viusasa_staging.search_lookups</a:t>
                      </a:r>
                    </a:p>
                  </a:txBody>
                  <a:tcPr marL="54864" marR="54864" marT="27432" marB="27432">
                    <a:solidFill>
                      <a:srgbClr val="FFFFFF"/>
                    </a:solidFill>
                  </a:tcPr>
                </a:tc>
                <a:tc>
                  <a:txBody>
                    <a:bodyPr wrap="square"/>
                    <a:lstStyle/>
                    <a:p>
                      <a:pPr algn="l"/>
                      <a:r>
                        <a:rPr sz="1200" b="0">
                          <a:solidFill>
                            <a:srgbClr val="14324A"/>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4324A"/>
                          </a:solidFill>
                          <a:latin typeface="Calibri"/>
                        </a:rPr>
                        <a:t>5.9% repeated · 8.7 GiB</a:t>
                      </a:r>
                    </a:p>
                  </a:txBody>
                  <a:tcPr marL="54864" marR="54864" marT="27432" marB="27432">
                    <a:solidFill>
                      <a:srgbClr val="FFFFFF"/>
                    </a:solidFill>
                  </a:tcPr>
                </a:tc>
                <a:tc>
                  <a:txBody>
                    <a:bodyPr wrap="square"/>
                    <a:lstStyle/>
                    <a:p>
                      <a:pPr algn="l"/>
                      <a:r>
                        <a:rPr sz="1200" b="0">
                          <a:solidFill>
                            <a:srgbClr val="14324A"/>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viusasa_staging.playback_qualified_streams</a:t>
                      </a:r>
                    </a:p>
                  </a:txBody>
                  <a:tcPr marL="54864" marR="54864" marT="27432" marB="27432">
                    <a:solidFill>
                      <a:srgbClr val="FFFFFF"/>
                    </a:solidFill>
                  </a:tcPr>
                </a:tc>
                <a:tc>
                  <a:txBody>
                    <a:bodyPr wrap="square"/>
                    <a:lstStyle/>
                    <a:p>
                      <a:pPr algn="l"/>
                      <a:r>
                        <a:rPr sz="1200" b="0">
                          <a:solidFill>
                            <a:srgbClr val="14324A"/>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4324A"/>
                          </a:solidFill>
                          <a:latin typeface="Calibri"/>
                        </a:rPr>
                        <a:t>5.1% repeated · 4.6 GiB</a:t>
                      </a:r>
                    </a:p>
                  </a:txBody>
                  <a:tcPr marL="54864" marR="54864" marT="27432" marB="27432">
                    <a:solidFill>
                      <a:srgbClr val="FFFFFF"/>
                    </a:solidFill>
                  </a:tcPr>
                </a:tc>
                <a:tc>
                  <a:txBody>
                    <a:bodyPr wrap="square"/>
                    <a:lstStyle/>
                    <a:p>
                      <a:pPr algn="l"/>
                      <a:r>
                        <a:rPr sz="1200" b="0">
                          <a:solidFill>
                            <a:srgbClr val="14324A"/>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viusasa_staging.episode_views</a:t>
                      </a:r>
                    </a:p>
                  </a:txBody>
                  <a:tcPr marL="54864" marR="54864" marT="27432" marB="27432">
                    <a:solidFill>
                      <a:srgbClr val="FFFFFF"/>
                    </a:solidFill>
                  </a:tcPr>
                </a:tc>
                <a:tc>
                  <a:txBody>
                    <a:bodyPr wrap="square"/>
                    <a:lstStyle/>
                    <a:p>
                      <a:pPr algn="l"/>
                      <a:r>
                        <a:rPr sz="1200" b="0">
                          <a:solidFill>
                            <a:srgbClr val="14324A"/>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4324A"/>
                          </a:solidFill>
                          <a:latin typeface="Calibri"/>
                        </a:rPr>
                        <a:t>22.0% repeated · 764.0 MiB</a:t>
                      </a:r>
                    </a:p>
                  </a:txBody>
                  <a:tcPr marL="54864" marR="54864" marT="27432" marB="27432">
                    <a:solidFill>
                      <a:srgbClr val="FFFFFF"/>
                    </a:solidFill>
                  </a:tcPr>
                </a:tc>
                <a:tc>
                  <a:txBody>
                    <a:bodyPr wrap="square"/>
                    <a:lstStyle/>
                    <a:p>
                      <a:pPr algn="l"/>
                      <a:r>
                        <a:rPr sz="1200" b="0">
                          <a:solidFill>
                            <a:srgbClr val="14324A"/>
                          </a:solidFill>
                          <a:latin typeface="Calibri"/>
                        </a:rPr>
                        <a:t>de-duplicate in place after a keyed comparison; keep the newest row</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3040295"/>
                <a:gridCol w="3040295"/>
                <a:gridCol w="1882087"/>
                <a:gridCol w="3040295"/>
              </a:tblGrid>
              <a:tr h="301752">
                <a:tc>
                  <a:txBody>
                    <a:bodyPr wrap="square"/>
                    <a:lstStyle/>
                    <a:p>
                      <a:pPr algn="l"/>
                      <a:r>
                        <a:rPr sz="1200" b="1">
                          <a:solidFill>
                            <a:srgbClr val="14324A"/>
                          </a:solidFill>
                          <a:latin typeface="Calibri"/>
                        </a:rPr>
                        <a:t>Table (database.table)</a:t>
                      </a:r>
                    </a:p>
                  </a:txBody>
                  <a:tcPr marL="54864" marR="54864" marT="27432" marB="27432">
                    <a:solidFill>
                      <a:srgbClr val="E8EEF3"/>
                    </a:solidFill>
                  </a:tcPr>
                </a:tc>
                <a:tc>
                  <a:txBody>
                    <a:bodyPr wrap="square"/>
                    <a:lstStyle/>
                    <a:p>
                      <a:pPr algn="l"/>
                      <a:r>
                        <a:rPr sz="1200" b="1">
                          <a:solidFill>
                            <a:srgbClr val="14324A"/>
                          </a:solidFill>
                          <a:latin typeface="Calibri"/>
                        </a:rPr>
                        <a:t>Finding</a:t>
                      </a:r>
                    </a:p>
                  </a:txBody>
                  <a:tcPr marL="54864" marR="54864" marT="27432" marB="27432">
                    <a:solidFill>
                      <a:srgbClr val="E8EEF3"/>
                    </a:solidFill>
                  </a:tcPr>
                </a:tc>
                <a:tc>
                  <a:txBody>
                    <a:bodyPr wrap="square"/>
                    <a:lstStyle/>
                    <a:p>
                      <a:pPr algn="l"/>
                      <a:r>
                        <a:rPr sz="1200" b="1">
                          <a:solidFill>
                            <a:srgbClr val="14324A"/>
                          </a:solidFill>
                          <a:latin typeface="Calibri"/>
                        </a:rPr>
                        <a:t>Measured detail</a:t>
                      </a:r>
                    </a:p>
                  </a:txBody>
                  <a:tcPr marL="54864" marR="54864" marT="27432" marB="27432">
                    <a:solidFill>
                      <a:srgbClr val="E8EEF3"/>
                    </a:solidFill>
                  </a:tcPr>
                </a:tc>
                <a:tc>
                  <a:txBody>
                    <a:bodyPr wrap="square"/>
                    <a:lstStyle/>
                    <a:p>
                      <a:pPr algn="l"/>
                      <a:r>
                        <a:rPr sz="1200" b="1">
                          <a:solidFill>
                            <a:srgbClr val="14324A"/>
                          </a:solidFill>
                          <a:latin typeface="Calibri"/>
                        </a:rPr>
                        <a:t>Proposed action</a:t>
                      </a:r>
                    </a:p>
                  </a:txBody>
                  <a:tcPr marL="54864" marR="54864" marT="27432" marB="27432">
                    <a:solidFill>
                      <a:srgbClr val="E8EEF3"/>
                    </a:solidFill>
                  </a:tcPr>
                </a:tc>
              </a:tr>
              <a:tr h="301752">
                <a:tc>
                  <a:txBody>
                    <a:bodyPr wrap="square"/>
                    <a:lstStyle/>
                    <a:p>
                      <a:pPr algn="l"/>
                      <a:r>
                        <a:rPr sz="1200" b="0">
                          <a:solidFill>
                            <a:srgbClr val="14324A"/>
                          </a:solidFill>
                          <a:latin typeface="Calibri"/>
                        </a:rPr>
                        <a:t>kra_reports.external_credit_notes</a:t>
                      </a:r>
                    </a:p>
                  </a:txBody>
                  <a:tcPr marL="54864" marR="54864" marT="27432" marB="27432">
                    <a:solidFill>
                      <a:srgbClr val="FFFFFF"/>
                    </a:solidFill>
                  </a:tcPr>
                </a:tc>
                <a:tc>
                  <a:txBody>
                    <a:bodyPr wrap="square"/>
                    <a:lstStyle/>
                    <a:p>
                      <a:pPr algn="l"/>
                      <a:r>
                        <a:rPr sz="1200" b="0">
                          <a:solidFill>
                            <a:srgbClr val="14324A"/>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4324A"/>
                          </a:solidFill>
                          <a:latin typeface="Calibri"/>
                        </a:rPr>
                        <a:t>25.0% repeated · 277.8 MiB</a:t>
                      </a:r>
                    </a:p>
                  </a:txBody>
                  <a:tcPr marL="54864" marR="54864" marT="27432" marB="27432">
                    <a:solidFill>
                      <a:srgbClr val="FFFFFF"/>
                    </a:solidFill>
                  </a:tcPr>
                </a:tc>
                <a:tc>
                  <a:txBody>
                    <a:bodyPr wrap="square"/>
                    <a:lstStyle/>
                    <a:p>
                      <a:pPr algn="l"/>
                      <a:r>
                        <a:rPr sz="1200" b="0">
                          <a:solidFill>
                            <a:srgbClr val="14324A"/>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viusasa_staging.new_episode_views</a:t>
                      </a:r>
                    </a:p>
                  </a:txBody>
                  <a:tcPr marL="54864" marR="54864" marT="27432" marB="27432">
                    <a:solidFill>
                      <a:srgbClr val="FFFFFF"/>
                    </a:solidFill>
                  </a:tcPr>
                </a:tc>
                <a:tc>
                  <a:txBody>
                    <a:bodyPr wrap="square"/>
                    <a:lstStyle/>
                    <a:p>
                      <a:pPr algn="l"/>
                      <a:r>
                        <a:rPr sz="1200" b="0">
                          <a:solidFill>
                            <a:srgbClr val="14324A"/>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4324A"/>
                          </a:solidFill>
                          <a:latin typeface="Calibri"/>
                        </a:rPr>
                        <a:t>66.1% repeated · 98.7 MiB</a:t>
                      </a:r>
                    </a:p>
                  </a:txBody>
                  <a:tcPr marL="54864" marR="54864" marT="27432" marB="27432">
                    <a:solidFill>
                      <a:srgbClr val="FFFFFF"/>
                    </a:solidFill>
                  </a:tcPr>
                </a:tc>
                <a:tc>
                  <a:txBody>
                    <a:bodyPr wrap="square"/>
                    <a:lstStyle/>
                    <a:p>
                      <a:pPr algn="l"/>
                      <a:r>
                        <a:rPr sz="1200" b="0">
                          <a:solidFill>
                            <a:srgbClr val="14324A"/>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4324A"/>
                          </a:solidFill>
                          <a:latin typeface="Calibri"/>
                        </a:rPr>
                        <a:t>viusasa_staging.ussd_hits</a:t>
                      </a:r>
                    </a:p>
                  </a:txBody>
                  <a:tcPr marL="54864" marR="54864" marT="27432" marB="27432">
                    <a:solidFill>
                      <a:srgbClr val="FFFFFF"/>
                    </a:solidFill>
                  </a:tcPr>
                </a:tc>
                <a:tc>
                  <a:txBody>
                    <a:bodyPr wrap="square"/>
                    <a:lstStyle/>
                    <a:p>
                      <a:pPr algn="l"/>
                      <a:r>
                        <a:rPr sz="1200" b="0">
                          <a:solidFill>
                            <a:srgbClr val="14324A"/>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4324A"/>
                          </a:solidFill>
                          <a:latin typeface="Calibri"/>
                        </a:rPr>
                        <a:t>8.5% repeated · 573.0 MiB</a:t>
                      </a:r>
                    </a:p>
                  </a:txBody>
                  <a:tcPr marL="54864" marR="54864" marT="27432" marB="27432">
                    <a:solidFill>
                      <a:srgbClr val="FFFFFF"/>
                    </a:solidFill>
                  </a:tcPr>
                </a:tc>
                <a:tc>
                  <a:txBody>
                    <a:bodyPr wrap="square"/>
                    <a:lstStyle/>
                    <a:p>
                      <a:pPr algn="l"/>
                      <a:r>
                        <a:rPr sz="1200" b="0">
                          <a:solidFill>
                            <a:srgbClr val="14324A"/>
                          </a:solidFill>
                          <a:latin typeface="Calibri"/>
                        </a:rPr>
                        <a:t>de-duplicate in place after a keyed comparison; keep the newest row</a:t>
                      </a:r>
                    </a:p>
                  </a:txBody>
                  <a:tcPr marL="54864" marR="54864" marT="27432" marB="27432">
                    <a:solidFill>
                      <a:srgbClr val="FFFFFF"/>
                    </a:solidFill>
                  </a:tcPr>
                </a:tc>
              </a:tr>
              <a:tr h="301752">
                <a:tc>
                  <a:txBody>
                    <a:bodyPr wrap="square"/>
                    <a:lstStyle/>
                    <a:p>
                      <a:pPr algn="l"/>
                      <a:r>
                        <a:rPr sz="1200" b="0">
                          <a:solidFill>
                            <a:srgbClr val="14324A"/>
                          </a:solidFill>
                          <a:latin typeface="Calibri"/>
                        </a:rPr>
                        <a:t>iebc_forms/viupay.failed_jobs ↔ viupay/viupay.failed_jobs</a:t>
                      </a:r>
                    </a:p>
                  </a:txBody>
                  <a:tcPr marL="54864" marR="54864" marT="27432" marB="27432">
                    <a:solidFill>
                      <a:srgbClr val="FFFFFF"/>
                    </a:solidFill>
                  </a:tcPr>
                </a:tc>
                <a:tc>
                  <a:txBody>
                    <a:bodyPr wrap="square"/>
                    <a:lstStyle/>
                    <a:p>
                      <a:pPr algn="l"/>
                      <a:r>
                        <a:rPr sz="1200" b="0">
                          <a:solidFill>
                            <a:srgbClr val="14324A"/>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4324A"/>
                          </a:solidFill>
                          <a:latin typeface="Calibri"/>
                        </a:rPr>
                        <a:t>overlap 78.0% · 31.6 MiB</a:t>
                      </a:r>
                    </a:p>
                  </a:txBody>
                  <a:tcPr marL="54864" marR="54864" marT="27432" marB="27432">
                    <a:solidFill>
                      <a:srgbClr val="FFFFFF"/>
                    </a:solidFill>
                  </a:tcPr>
                </a:tc>
                <a:tc>
                  <a:txBody>
                    <a:bodyPr wrap="square"/>
                    <a:lstStyle/>
                    <a:p>
                      <a:pPr algn="l"/>
                      <a:r>
                        <a:rPr sz="1200" b="0">
                          <a:solidFill>
                            <a:srgbClr val="14324A"/>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4324A"/>
                          </a:solidFill>
                          <a:latin typeface="Calibri"/>
                        </a:rPr>
                        <a:t>iebc_forms/viutickets.movies ↔ viupay/viutickets.movies</a:t>
                      </a:r>
                    </a:p>
                  </a:txBody>
                  <a:tcPr marL="54864" marR="54864" marT="27432" marB="27432">
                    <a:solidFill>
                      <a:srgbClr val="FFFFFF"/>
                    </a:solidFill>
                  </a:tcPr>
                </a:tc>
                <a:tc>
                  <a:txBody>
                    <a:bodyPr wrap="square"/>
                    <a:lstStyle/>
                    <a:p>
                      <a:pPr algn="l"/>
                      <a:r>
                        <a:rPr sz="1200" b="0">
                          <a:solidFill>
                            <a:srgbClr val="14324A"/>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4324A"/>
                          </a:solidFill>
                          <a:latin typeface="Calibri"/>
                        </a:rPr>
                        <a:t>overlap 84.0% · 6.5 MiB</a:t>
                      </a:r>
                    </a:p>
                  </a:txBody>
                  <a:tcPr marL="54864" marR="54864" marT="27432" marB="27432">
                    <a:solidFill>
                      <a:srgbClr val="FFFFFF"/>
                    </a:solidFill>
                  </a:tcPr>
                </a:tc>
                <a:tc>
                  <a:txBody>
                    <a:bodyPr wrap="square"/>
                    <a:lstStyle/>
                    <a:p>
                      <a:pPr algn="l"/>
                      <a:r>
                        <a:rPr sz="1200" b="0">
                          <a:solidFill>
                            <a:srgbClr val="14324A"/>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4324A"/>
                          </a:solidFill>
                          <a:latin typeface="Calibri"/>
                        </a:rPr>
                        <a:t>iebc_forms/viutickets.ussd_hits ↔ viupay/viutickets.ussd_hits</a:t>
                      </a:r>
                    </a:p>
                  </a:txBody>
                  <a:tcPr marL="54864" marR="54864" marT="27432" marB="27432">
                    <a:solidFill>
                      <a:srgbClr val="FFFFFF"/>
                    </a:solidFill>
                  </a:tcPr>
                </a:tc>
                <a:tc>
                  <a:txBody>
                    <a:bodyPr wrap="square"/>
                    <a:lstStyle/>
                    <a:p>
                      <a:pPr algn="l"/>
                      <a:r>
                        <a:rPr sz="1200" b="0">
                          <a:solidFill>
                            <a:srgbClr val="14324A"/>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4324A"/>
                          </a:solidFill>
                          <a:latin typeface="Calibri"/>
                        </a:rPr>
                        <a:t>overlap 100.0% · 6.5 MiB</a:t>
                      </a:r>
                    </a:p>
                  </a:txBody>
                  <a:tcPr marL="54864" marR="54864" marT="27432" marB="27432">
                    <a:solidFill>
                      <a:srgbClr val="FFFFFF"/>
                    </a:solidFill>
                  </a:tcPr>
                </a:tc>
                <a:tc>
                  <a:txBody>
                    <a:bodyPr wrap="square"/>
                    <a:lstStyle/>
                    <a:p>
                      <a:pPr algn="l"/>
                      <a:r>
                        <a:rPr sz="1200" b="0">
                          <a:solidFill>
                            <a:srgbClr val="14324A"/>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4324A"/>
                          </a:solidFill>
                          <a:latin typeface="Calibri"/>
                        </a:rPr>
                        <a:t>iebc_forms/viutickets.payment_processings ↔ viupay/viutickets.payment_processings</a:t>
                      </a:r>
                    </a:p>
                  </a:txBody>
                  <a:tcPr marL="54864" marR="54864" marT="27432" marB="27432">
                    <a:solidFill>
                      <a:srgbClr val="FFFFFF"/>
                    </a:solidFill>
                  </a:tcPr>
                </a:tc>
                <a:tc>
                  <a:txBody>
                    <a:bodyPr wrap="square"/>
                    <a:lstStyle/>
                    <a:p>
                      <a:pPr algn="l"/>
                      <a:r>
                        <a:rPr sz="1200" b="0">
                          <a:solidFill>
                            <a:srgbClr val="14324A"/>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4324A"/>
                          </a:solidFill>
                          <a:latin typeface="Calibri"/>
                        </a:rPr>
                        <a:t>overlap 65.0% · 4.5 MiB</a:t>
                      </a:r>
                    </a:p>
                  </a:txBody>
                  <a:tcPr marL="54864" marR="54864" marT="27432" marB="27432">
                    <a:solidFill>
                      <a:srgbClr val="FFFFFF"/>
                    </a:solidFill>
                  </a:tcPr>
                </a:tc>
                <a:tc>
                  <a:txBody>
                    <a:bodyPr wrap="square"/>
                    <a:lstStyle/>
                    <a:p>
                      <a:pPr algn="l"/>
                      <a:r>
                        <a:rPr sz="1200" b="0">
                          <a:solidFill>
                            <a:srgbClr val="14324A"/>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4324A"/>
                          </a:solidFill>
                          <a:latin typeface="Calibri"/>
                        </a:rPr>
                        <a:t>iebc_forms/viupay.payment_requests ↔ viupay/viupay.payment_requests</a:t>
                      </a:r>
                    </a:p>
                  </a:txBody>
                  <a:tcPr marL="54864" marR="54864" marT="27432" marB="27432">
                    <a:solidFill>
                      <a:srgbClr val="FFFFFF"/>
                    </a:solidFill>
                  </a:tcPr>
                </a:tc>
                <a:tc>
                  <a:txBody>
                    <a:bodyPr wrap="square"/>
                    <a:lstStyle/>
                    <a:p>
                      <a:pPr algn="l"/>
                      <a:r>
                        <a:rPr sz="1200" b="0">
                          <a:solidFill>
                            <a:srgbClr val="14324A"/>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4324A"/>
                          </a:solidFill>
                          <a:latin typeface="Calibri"/>
                        </a:rPr>
                        <a:t>overlap 50.0% · 3.5 MiB</a:t>
                      </a:r>
                    </a:p>
                  </a:txBody>
                  <a:tcPr marL="54864" marR="54864" marT="27432" marB="27432">
                    <a:solidFill>
                      <a:srgbClr val="FFFFFF"/>
                    </a:solidFill>
                  </a:tcPr>
                </a:tc>
                <a:tc>
                  <a:txBody>
                    <a:bodyPr wrap="square"/>
                    <a:lstStyle/>
                    <a:p>
                      <a:pPr algn="l"/>
                      <a:r>
                        <a:rPr sz="1200" b="0">
                          <a:solidFill>
                            <a:srgbClr val="14324A"/>
                          </a:solidFill>
                          <a:latin typeface="Calibri"/>
                        </a:rPr>
                        <a:t>name one authoritative copy; retire or redirect the other</a:t>
                      </a:r>
                    </a:p>
                  </a:txBody>
                  <a:tcPr marL="54864" marR="54864" marT="27432" marB="27432">
                    <a:solidFill>
                      <a:srgbClr val="FFFFFF"/>
                    </a:solidFill>
                  </a:tcPr>
                </a:tc>
              </a:tr>
              <a:tr h="301752">
                <a:tc>
                  <a:txBody>
                    <a:bodyPr wrap="square"/>
                    <a:lstStyle/>
                    <a:p>
                      <a:pPr algn="l"/>
                      <a:r>
                        <a:rPr sz="1200" b="0">
                          <a:solidFill>
                            <a:srgbClr val="14324A"/>
                          </a:solidFill>
                          <a:latin typeface="Calibri"/>
                        </a:rPr>
                        <a:t>iebc_forms/viutickets.movie_shows ↔ viupay/viutickets.movie_shows</a:t>
                      </a:r>
                    </a:p>
                  </a:txBody>
                  <a:tcPr marL="54864" marR="54864" marT="27432" marB="27432">
                    <a:solidFill>
                      <a:srgbClr val="FFFFFF"/>
                    </a:solidFill>
                  </a:tcPr>
                </a:tc>
                <a:tc>
                  <a:txBody>
                    <a:bodyPr wrap="square"/>
                    <a:lstStyle/>
                    <a:p>
                      <a:pPr algn="l"/>
                      <a:r>
                        <a:rPr sz="1200" b="0">
                          <a:solidFill>
                            <a:srgbClr val="14324A"/>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4324A"/>
                          </a:solidFill>
                          <a:latin typeface="Calibri"/>
                        </a:rPr>
                        <a:t>overlap 80.0% · 3.5 MiB</a:t>
                      </a:r>
                    </a:p>
                  </a:txBody>
                  <a:tcPr marL="54864" marR="54864" marT="27432" marB="27432">
                    <a:solidFill>
                      <a:srgbClr val="FFFFFF"/>
                    </a:solidFill>
                  </a:tcPr>
                </a:tc>
                <a:tc>
                  <a:txBody>
                    <a:bodyPr wrap="square"/>
                    <a:lstStyle/>
                    <a:p>
                      <a:pPr algn="l"/>
                      <a:r>
                        <a:rPr sz="1200" b="0">
                          <a:solidFill>
                            <a:srgbClr val="14324A"/>
                          </a:solidFill>
                          <a:latin typeface="Calibri"/>
                        </a:rPr>
                        <a:t>name one authoritative copy; retire or redirect the other</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108213"/>
                <a:gridCol w="1108213"/>
                <a:gridCol w="1108213"/>
                <a:gridCol w="1108213"/>
                <a:gridCol w="1108213"/>
                <a:gridCol w="2137268"/>
                <a:gridCol w="3324639"/>
              </a:tblGrid>
              <a:tr h="301752">
                <a:tc>
                  <a:txBody>
                    <a:bodyPr wrap="square"/>
                    <a:lstStyle/>
                    <a:p>
                      <a:pPr algn="l"/>
                      <a:r>
                        <a:rPr sz="1100" b="1">
                          <a:solidFill>
                            <a:srgbClr val="14324A"/>
                          </a:solidFill>
                          <a:latin typeface="Calibri"/>
                        </a:rPr>
                        <a:t>Share</a:t>
                      </a:r>
                    </a:p>
                  </a:txBody>
                  <a:tcPr marL="54864" marR="54864" marT="27432" marB="27432">
                    <a:solidFill>
                      <a:srgbClr val="E8EEF3"/>
                    </a:solidFill>
                  </a:tcPr>
                </a:tc>
                <a:tc>
                  <a:txBody>
                    <a:bodyPr wrap="square"/>
                    <a:lstStyle/>
                    <a:p>
                      <a:pPr algn="l"/>
                      <a:r>
                        <a:rPr sz="1100" b="1">
                          <a:solidFill>
                            <a:srgbClr val="14324A"/>
                          </a:solidFill>
                          <a:latin typeface="Calibri"/>
                        </a:rPr>
                        <a:t>Enumeration</a:t>
                      </a:r>
                    </a:p>
                  </a:txBody>
                  <a:tcPr marL="54864" marR="54864" marT="27432" marB="27432">
                    <a:solidFill>
                      <a:srgbClr val="E8EEF3"/>
                    </a:solidFill>
                  </a:tcPr>
                </a:tc>
                <a:tc>
                  <a:txBody>
                    <a:bodyPr wrap="square"/>
                    <a:lstStyle/>
                    <a:p>
                      <a:pPr algn="l"/>
                      <a:r>
                        <a:rPr sz="1100" b="1">
                          <a:solidFill>
                            <a:srgbClr val="14324A"/>
                          </a:solidFill>
                          <a:latin typeface="Calibri"/>
                        </a:rPr>
                        <a:t>Held (TiB)</a:t>
                      </a:r>
                    </a:p>
                  </a:txBody>
                  <a:tcPr marL="54864" marR="54864" marT="27432" marB="27432">
                    <a:solidFill>
                      <a:srgbClr val="E8EEF3"/>
                    </a:solidFill>
                  </a:tcPr>
                </a:tc>
                <a:tc>
                  <a:txBody>
                    <a:bodyPr wrap="square"/>
                    <a:lstStyle/>
                    <a:p>
                      <a:pPr algn="l"/>
                      <a:r>
                        <a:rPr sz="1100" b="1">
                          <a:solidFill>
                            <a:srgbClr val="14324A"/>
                          </a:solidFill>
                          <a:latin typeface="Calibri"/>
                        </a:rPr>
                        <a:t>Files</a:t>
                      </a:r>
                    </a:p>
                  </a:txBody>
                  <a:tcPr marL="54864" marR="54864" marT="27432" marB="27432">
                    <a:solidFill>
                      <a:srgbClr val="E8EEF3"/>
                    </a:solidFill>
                  </a:tcPr>
                </a:tc>
                <a:tc>
                  <a:txBody>
                    <a:bodyPr wrap="square"/>
                    <a:lstStyle/>
                    <a:p>
                      <a:pPr algn="l"/>
                      <a:r>
                        <a:rPr sz="1100" b="1">
                          <a:solidFill>
                            <a:srgbClr val="14324A"/>
                          </a:solidFill>
                          <a:latin typeface="Calibri"/>
                        </a:rPr>
                        <a:t>Last write</a:t>
                      </a:r>
                    </a:p>
                  </a:txBody>
                  <a:tcPr marL="54864" marR="54864" marT="27432" marB="27432">
                    <a:solidFill>
                      <a:srgbClr val="E8EEF3"/>
                    </a:solidFill>
                  </a:tcPr>
                </a:tc>
                <a:tc>
                  <a:txBody>
                    <a:bodyPr wrap="square"/>
                    <a:lstStyle/>
                    <a:p>
                      <a:pPr algn="l"/>
                      <a:r>
                        <a:rPr sz="1100" b="1">
                          <a:solidFill>
                            <a:srgbClr val="14324A"/>
                          </a:solidFill>
                          <a:latin typeface="Calibri"/>
                        </a:rPr>
                        <a:t>Main formats</a:t>
                      </a:r>
                    </a:p>
                  </a:txBody>
                  <a:tcPr marL="54864" marR="54864" marT="27432" marB="27432">
                    <a:solidFill>
                      <a:srgbClr val="E8EEF3"/>
                    </a:solidFill>
                  </a:tcPr>
                </a:tc>
                <a:tc>
                  <a:txBody>
                    <a:bodyPr wrap="square"/>
                    <a:lstStyle/>
                    <a:p>
                      <a:pPr algn="l"/>
                      <a:r>
                        <a:rPr sz="1100" b="1">
                          <a:solidFill>
                            <a:srgbClr val="14324A"/>
                          </a:solidFill>
                          <a:latin typeface="Calibri"/>
                        </a:rPr>
                        <a:t>Proposed action</a:t>
                      </a:r>
                    </a:p>
                  </a:txBody>
                  <a:tcPr marL="54864" marR="54864" marT="27432" marB="27432">
                    <a:solidFill>
                      <a:srgbClr val="E8EEF3"/>
                    </a:solidFill>
                  </a:tcPr>
                </a:tc>
              </a:tr>
              <a:tr h="301752">
                <a:tc>
                  <a:txBody>
                    <a:bodyPr wrap="square"/>
                    <a:lstStyle/>
                    <a:p>
                      <a:pPr algn="l"/>
                      <a:r>
                        <a:rPr sz="1100" b="0">
                          <a:solidFill>
                            <a:srgbClr val="14324A"/>
                          </a:solidFill>
                          <a:latin typeface="Calibri"/>
                        </a:rPr>
                        <a:t>channel01</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6.87</a:t>
                      </a:r>
                    </a:p>
                  </a:txBody>
                  <a:tcPr marL="54864" marR="54864" marT="27432" marB="27432">
                    <a:solidFill>
                      <a:srgbClr val="FFFFFF"/>
                    </a:solidFill>
                  </a:tcPr>
                </a:tc>
                <a:tc>
                  <a:txBody>
                    <a:bodyPr wrap="square"/>
                    <a:lstStyle/>
                    <a:p>
                      <a:pPr algn="r"/>
                      <a:r>
                        <a:rPr sz="1100" b="0">
                          <a:solidFill>
                            <a:srgbClr val="14324A"/>
                          </a:solidFill>
                          <a:latin typeface="Courier New"/>
                        </a:rPr>
                        <a:t>95,122</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95,108, .rmd 6, .mpt 3</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channel02</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6.87</a:t>
                      </a:r>
                    </a:p>
                  </a:txBody>
                  <a:tcPr marL="54864" marR="54864" marT="27432" marB="27432">
                    <a:solidFill>
                      <a:srgbClr val="FFFFFF"/>
                    </a:solidFill>
                  </a:tcPr>
                </a:tc>
                <a:tc>
                  <a:txBody>
                    <a:bodyPr wrap="square"/>
                    <a:lstStyle/>
                    <a:p>
                      <a:pPr algn="r"/>
                      <a:r>
                        <a:rPr sz="1100" b="0">
                          <a:solidFill>
                            <a:srgbClr val="14324A"/>
                          </a:solidFill>
                          <a:latin typeface="Courier New"/>
                        </a:rPr>
                        <a:t>95,134</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95,129, .db 1, .jpg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channel16</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6.81</a:t>
                      </a:r>
                    </a:p>
                  </a:txBody>
                  <a:tcPr marL="54864" marR="54864" marT="27432" marB="27432">
                    <a:solidFill>
                      <a:srgbClr val="FFFFFF"/>
                    </a:solidFill>
                  </a:tcPr>
                </a:tc>
                <a:tc>
                  <a:txBody>
                    <a:bodyPr wrap="square"/>
                    <a:lstStyle/>
                    <a:p>
                      <a:pPr algn="r"/>
                      <a:r>
                        <a:rPr sz="1100" b="0">
                          <a:solidFill>
                            <a:srgbClr val="14324A"/>
                          </a:solidFill>
                          <a:latin typeface="Courier New"/>
                        </a:rPr>
                        <a:t>94,597</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94,592, .db 1, .jpg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Channel15</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1.91</a:t>
                      </a:r>
                    </a:p>
                  </a:txBody>
                  <a:tcPr marL="54864" marR="54864" marT="27432" marB="27432">
                    <a:solidFill>
                      <a:srgbClr val="FFFFFF"/>
                    </a:solidFill>
                  </a:tcPr>
                </a:tc>
                <a:tc>
                  <a:txBody>
                    <a:bodyPr wrap="square"/>
                    <a:lstStyle/>
                    <a:p>
                      <a:pPr algn="r"/>
                      <a:r>
                        <a:rPr sz="1100" b="0">
                          <a:solidFill>
                            <a:srgbClr val="14324A"/>
                          </a:solidFill>
                          <a:latin typeface="Courier New"/>
                        </a:rPr>
                        <a:t>95,635</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95,627, .rmd 3, .db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Channel14</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1.91</a:t>
                      </a:r>
                    </a:p>
                  </a:txBody>
                  <a:tcPr marL="54864" marR="54864" marT="27432" marB="27432">
                    <a:solidFill>
                      <a:srgbClr val="FFFFFF"/>
                    </a:solidFill>
                  </a:tcPr>
                </a:tc>
                <a:tc>
                  <a:txBody>
                    <a:bodyPr wrap="square"/>
                    <a:lstStyle/>
                    <a:p>
                      <a:pPr algn="r"/>
                      <a:r>
                        <a:rPr sz="1100" b="0">
                          <a:solidFill>
                            <a:srgbClr val="14324A"/>
                          </a:solidFill>
                          <a:latin typeface="Courier New"/>
                        </a:rPr>
                        <a:t>95,615</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95,609, .rmd 2, .db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Channel11</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1.91</a:t>
                      </a:r>
                    </a:p>
                  </a:txBody>
                  <a:tcPr marL="54864" marR="54864" marT="27432" marB="27432">
                    <a:solidFill>
                      <a:srgbClr val="FFFFFF"/>
                    </a:solidFill>
                  </a:tcPr>
                </a:tc>
                <a:tc>
                  <a:txBody>
                    <a:bodyPr wrap="square"/>
                    <a:lstStyle/>
                    <a:p>
                      <a:pPr algn="r"/>
                      <a:r>
                        <a:rPr sz="1100" b="0">
                          <a:solidFill>
                            <a:srgbClr val="14324A"/>
                          </a:solidFill>
                          <a:latin typeface="Courier New"/>
                        </a:rPr>
                        <a:t>95,602</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95,592, .rmd 6, .db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Channel12</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1.91</a:t>
                      </a:r>
                    </a:p>
                  </a:txBody>
                  <a:tcPr marL="54864" marR="54864" marT="27432" marB="27432">
                    <a:solidFill>
                      <a:srgbClr val="FFFFFF"/>
                    </a:solidFill>
                  </a:tcPr>
                </a:tc>
                <a:tc>
                  <a:txBody>
                    <a:bodyPr wrap="square"/>
                    <a:lstStyle/>
                    <a:p>
                      <a:pPr algn="r"/>
                      <a:r>
                        <a:rPr sz="1100" b="0">
                          <a:solidFill>
                            <a:srgbClr val="14324A"/>
                          </a:solidFill>
                          <a:latin typeface="Courier New"/>
                        </a:rPr>
                        <a:t>95,600</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95,590, .rmd 6, .db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channel07</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1.91</a:t>
                      </a:r>
                    </a:p>
                  </a:txBody>
                  <a:tcPr marL="54864" marR="54864" marT="27432" marB="27432">
                    <a:solidFill>
                      <a:srgbClr val="FFFFFF"/>
                    </a:solidFill>
                  </a:tcPr>
                </a:tc>
                <a:tc>
                  <a:txBody>
                    <a:bodyPr wrap="square"/>
                    <a:lstStyle/>
                    <a:p>
                      <a:pPr algn="r"/>
                      <a:r>
                        <a:rPr sz="1100" b="0">
                          <a:solidFill>
                            <a:srgbClr val="14324A"/>
                          </a:solidFill>
                          <a:latin typeface="Courier New"/>
                        </a:rPr>
                        <a:t>95,550</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95,546, .db 1, .jpg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r h="301752">
                <a:tc>
                  <a:txBody>
                    <a:bodyPr wrap="square"/>
                    <a:lstStyle/>
                    <a:p>
                      <a:pPr algn="l"/>
                      <a:r>
                        <a:rPr sz="1100" b="0">
                          <a:solidFill>
                            <a:srgbClr val="14324A"/>
                          </a:solidFill>
                          <a:latin typeface="Calibri"/>
                        </a:rPr>
                        <a:t>channel06</a:t>
                      </a:r>
                    </a:p>
                  </a:txBody>
                  <a:tcPr marL="54864" marR="54864" marT="27432" marB="27432">
                    <a:solidFill>
                      <a:srgbClr val="FFFFFF"/>
                    </a:solidFill>
                  </a:tcPr>
                </a:tc>
                <a:tc>
                  <a:txBody>
                    <a:bodyPr wrap="square"/>
                    <a:lstStyle/>
                    <a:p>
                      <a:pPr algn="l"/>
                      <a:r>
                        <a:rPr sz="1100" b="0">
                          <a:solidFill>
                            <a:srgbClr val="14324A"/>
                          </a:solidFill>
                          <a:latin typeface="Calibri"/>
                        </a:rPr>
                        <a:t>complete</a:t>
                      </a:r>
                    </a:p>
                  </a:txBody>
                  <a:tcPr marL="54864" marR="54864" marT="27432" marB="27432">
                    <a:solidFill>
                      <a:srgbClr val="FFFFFF"/>
                    </a:solidFill>
                  </a:tcPr>
                </a:tc>
                <a:tc>
                  <a:txBody>
                    <a:bodyPr wrap="square"/>
                    <a:lstStyle/>
                    <a:p>
                      <a:pPr algn="r"/>
                      <a:r>
                        <a:rPr sz="1100" b="0">
                          <a:solidFill>
                            <a:srgbClr val="14324A"/>
                          </a:solidFill>
                          <a:latin typeface="Courier New"/>
                        </a:rPr>
                        <a:t>1.91</a:t>
                      </a:r>
                    </a:p>
                  </a:txBody>
                  <a:tcPr marL="54864" marR="54864" marT="27432" marB="27432">
                    <a:solidFill>
                      <a:srgbClr val="FFFFFF"/>
                    </a:solidFill>
                  </a:tcPr>
                </a:tc>
                <a:tc>
                  <a:txBody>
                    <a:bodyPr wrap="square"/>
                    <a:lstStyle/>
                    <a:p>
                      <a:pPr algn="r"/>
                      <a:r>
                        <a:rPr sz="1100" b="0">
                          <a:solidFill>
                            <a:srgbClr val="14324A"/>
                          </a:solidFill>
                          <a:latin typeface="Courier New"/>
                        </a:rPr>
                        <a:t>95,548</a:t>
                      </a:r>
                    </a:p>
                  </a:txBody>
                  <a:tcPr marL="54864" marR="54864" marT="27432" marB="27432">
                    <a:solidFill>
                      <a:srgbClr val="FFFFFF"/>
                    </a:solidFill>
                  </a:tcPr>
                </a:tc>
                <a:tc>
                  <a:txBody>
                    <a:bodyPr wrap="square"/>
                    <a:lstStyle/>
                    <a:p>
                      <a:pPr algn="r"/>
                      <a:r>
                        <a:rPr sz="1100" b="0">
                          <a:solidFill>
                            <a:srgbClr val="14324A"/>
                          </a:solidFill>
                          <a:latin typeface="Courier New"/>
                        </a:rPr>
                        <a:t>2026-09-29</a:t>
                      </a:r>
                    </a:p>
                  </a:txBody>
                  <a:tcPr marL="54864" marR="54864" marT="27432" marB="27432">
                    <a:solidFill>
                      <a:srgbClr val="FFFFFF"/>
                    </a:solidFill>
                  </a:tcPr>
                </a:tc>
                <a:tc>
                  <a:txBody>
                    <a:bodyPr wrap="square"/>
                    <a:lstStyle/>
                    <a:p>
                      <a:pPr algn="r"/>
                      <a:r>
                        <a:rPr sz="1100" b="0">
                          <a:solidFill>
                            <a:srgbClr val="14324A"/>
                          </a:solidFill>
                          <a:latin typeface="Courier New"/>
                        </a:rPr>
                        <a:t>.mp4 95,544, .db 1, .jpg 1</a:t>
                      </a:r>
                    </a:p>
                  </a:txBody>
                  <a:tcPr marL="54864" marR="54864" marT="27432" marB="27432">
                    <a:solidFill>
                      <a:srgbClr val="FFFFFF"/>
                    </a:solidFill>
                  </a:tcPr>
                </a:tc>
                <a:tc>
                  <a:txBody>
                    <a:bodyPr wrap="square"/>
                    <a:lstStyle/>
                    <a:p>
                      <a:pPr algn="r"/>
                      <a:r>
                        <a:rPr sz="1100" b="0">
                          <a:solidFill>
                            <a:srgbClr val="14324A"/>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R05: NAS share enumeration census run cr-cf4eef79995b (1,456,787 files, 43.6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0" cy="1536192"/>
        </p:xfrm>
        <a:graphic>
          <a:graphicData uri="http://schemas.openxmlformats.org/drawingml/2006/table">
            <a:tbl>
              <a:tblPr firstRow="1" bandRow="1">
                <a:tableStyleId>{5C22544A-7EE6-4342-B048-85BDC9FD1C3A}</a:tableStyleId>
              </a:tblPr>
              <a:tblGrid>
                <a:gridCol w="1116243"/>
                <a:gridCol w="1116243"/>
                <a:gridCol w="1116243"/>
                <a:gridCol w="1116243"/>
                <a:gridCol w="1116243"/>
                <a:gridCol w="2073024"/>
                <a:gridCol w="3348731"/>
              </a:tblGrid>
              <a:tr h="384048">
                <a:tc>
                  <a:txBody>
                    <a:bodyPr wrap="square"/>
                    <a:lstStyle/>
                    <a:p>
                      <a:pPr algn="l"/>
                      <a:r>
                        <a:rPr sz="1200" b="1">
                          <a:solidFill>
                            <a:srgbClr val="14324A"/>
                          </a:solidFill>
                          <a:latin typeface="Calibri"/>
                        </a:rPr>
                        <a:t>Share</a:t>
                      </a:r>
                    </a:p>
                  </a:txBody>
                  <a:tcPr marL="54864" marR="54864" marT="27432" marB="27432">
                    <a:solidFill>
                      <a:srgbClr val="E8EEF3"/>
                    </a:solidFill>
                  </a:tcPr>
                </a:tc>
                <a:tc>
                  <a:txBody>
                    <a:bodyPr wrap="square"/>
                    <a:lstStyle/>
                    <a:p>
                      <a:pPr algn="l"/>
                      <a:r>
                        <a:rPr sz="1200" b="1">
                          <a:solidFill>
                            <a:srgbClr val="14324A"/>
                          </a:solidFill>
                          <a:latin typeface="Calibri"/>
                        </a:rPr>
                        <a:t>Enumeration</a:t>
                      </a:r>
                    </a:p>
                  </a:txBody>
                  <a:tcPr marL="54864" marR="54864" marT="27432" marB="27432">
                    <a:solidFill>
                      <a:srgbClr val="E8EEF3"/>
                    </a:solidFill>
                  </a:tcPr>
                </a:tc>
                <a:tc>
                  <a:txBody>
                    <a:bodyPr wrap="square"/>
                    <a:lstStyle/>
                    <a:p>
                      <a:pPr algn="l"/>
                      <a:r>
                        <a:rPr sz="1200" b="1">
                          <a:solidFill>
                            <a:srgbClr val="14324A"/>
                          </a:solidFill>
                          <a:latin typeface="Calibri"/>
                        </a:rPr>
                        <a:t>Held (TiB)</a:t>
                      </a:r>
                    </a:p>
                  </a:txBody>
                  <a:tcPr marL="54864" marR="54864" marT="27432" marB="27432">
                    <a:solidFill>
                      <a:srgbClr val="E8EEF3"/>
                    </a:solidFill>
                  </a:tcPr>
                </a:tc>
                <a:tc>
                  <a:txBody>
                    <a:bodyPr wrap="square"/>
                    <a:lstStyle/>
                    <a:p>
                      <a:pPr algn="l"/>
                      <a:r>
                        <a:rPr sz="1200" b="1">
                          <a:solidFill>
                            <a:srgbClr val="14324A"/>
                          </a:solidFill>
                          <a:latin typeface="Calibri"/>
                        </a:rPr>
                        <a:t>Files</a:t>
                      </a:r>
                    </a:p>
                  </a:txBody>
                  <a:tcPr marL="54864" marR="54864" marT="27432" marB="27432">
                    <a:solidFill>
                      <a:srgbClr val="E8EEF3"/>
                    </a:solidFill>
                  </a:tcPr>
                </a:tc>
                <a:tc>
                  <a:txBody>
                    <a:bodyPr wrap="square"/>
                    <a:lstStyle/>
                    <a:p>
                      <a:pPr algn="l"/>
                      <a:r>
                        <a:rPr sz="1200" b="1">
                          <a:solidFill>
                            <a:srgbClr val="14324A"/>
                          </a:solidFill>
                          <a:latin typeface="Calibri"/>
                        </a:rPr>
                        <a:t>Last write</a:t>
                      </a:r>
                    </a:p>
                  </a:txBody>
                  <a:tcPr marL="54864" marR="54864" marT="27432" marB="27432">
                    <a:solidFill>
                      <a:srgbClr val="E8EEF3"/>
                    </a:solidFill>
                  </a:tcPr>
                </a:tc>
                <a:tc>
                  <a:txBody>
                    <a:bodyPr wrap="square"/>
                    <a:lstStyle/>
                    <a:p>
                      <a:pPr algn="l"/>
                      <a:r>
                        <a:rPr sz="1200" b="1">
                          <a:solidFill>
                            <a:srgbClr val="14324A"/>
                          </a:solidFill>
                          <a:latin typeface="Calibri"/>
                        </a:rPr>
                        <a:t>Main formats</a:t>
                      </a:r>
                    </a:p>
                  </a:txBody>
                  <a:tcPr marL="54864" marR="54864" marT="27432" marB="27432">
                    <a:solidFill>
                      <a:srgbClr val="E8EEF3"/>
                    </a:solidFill>
                  </a:tcPr>
                </a:tc>
                <a:tc>
                  <a:txBody>
                    <a:bodyPr wrap="square"/>
                    <a:lstStyle/>
                    <a:p>
                      <a:pPr algn="l"/>
                      <a:r>
                        <a:rPr sz="1200" b="1">
                          <a:solidFill>
                            <a:srgbClr val="14324A"/>
                          </a:solidFill>
                          <a:latin typeface="Calibri"/>
                        </a:rPr>
                        <a:t>Proposed action</a:t>
                      </a:r>
                    </a:p>
                  </a:txBody>
                  <a:tcPr marL="54864" marR="54864" marT="27432" marB="27432">
                    <a:solidFill>
                      <a:srgbClr val="E8EEF3"/>
                    </a:solidFill>
                  </a:tcPr>
                </a:tc>
              </a:tr>
              <a:tr h="384048">
                <a:tc>
                  <a:txBody>
                    <a:bodyPr wrap="square"/>
                    <a:lstStyle/>
                    <a:p>
                      <a:pPr algn="l"/>
                      <a:r>
                        <a:rPr sz="1200" b="0">
                          <a:solidFill>
                            <a:srgbClr val="14324A"/>
                          </a:solidFill>
                          <a:latin typeface="Calibri"/>
                        </a:rPr>
                        <a:t>channel05</a:t>
                      </a:r>
                    </a:p>
                  </a:txBody>
                  <a:tcPr marL="54864" marR="54864" marT="27432" marB="27432">
                    <a:solidFill>
                      <a:srgbClr val="FFFFFF"/>
                    </a:solidFill>
                  </a:tcPr>
                </a:tc>
                <a:tc>
                  <a:txBody>
                    <a:bodyPr wrap="square"/>
                    <a:lstStyle/>
                    <a:p>
                      <a:pPr algn="l"/>
                      <a:r>
                        <a:rPr sz="1200" b="0">
                          <a:solidFill>
                            <a:srgbClr val="14324A"/>
                          </a:solidFill>
                          <a:latin typeface="Calibri"/>
                        </a:rPr>
                        <a:t>complete</a:t>
                      </a:r>
                    </a:p>
                  </a:txBody>
                  <a:tcPr marL="54864" marR="54864" marT="27432" marB="27432">
                    <a:solidFill>
                      <a:srgbClr val="FFFFFF"/>
                    </a:solidFill>
                  </a:tcPr>
                </a:tc>
                <a:tc>
                  <a:txBody>
                    <a:bodyPr wrap="square"/>
                    <a:lstStyle/>
                    <a:p>
                      <a:pPr algn="r"/>
                      <a:r>
                        <a:rPr sz="1200" b="0">
                          <a:solidFill>
                            <a:srgbClr val="14324A"/>
                          </a:solidFill>
                          <a:latin typeface="Courier New"/>
                        </a:rPr>
                        <a:t>1.9</a:t>
                      </a:r>
                    </a:p>
                  </a:txBody>
                  <a:tcPr marL="54864" marR="54864" marT="27432" marB="27432">
                    <a:solidFill>
                      <a:srgbClr val="FFFFFF"/>
                    </a:solidFill>
                  </a:tcPr>
                </a:tc>
                <a:tc>
                  <a:txBody>
                    <a:bodyPr wrap="square"/>
                    <a:lstStyle/>
                    <a:p>
                      <a:pPr algn="r"/>
                      <a:r>
                        <a:rPr sz="1200" b="0">
                          <a:solidFill>
                            <a:srgbClr val="14324A"/>
                          </a:solidFill>
                          <a:latin typeface="Courier New"/>
                        </a:rPr>
                        <a:t>95,494</a:t>
                      </a:r>
                    </a:p>
                  </a:txBody>
                  <a:tcPr marL="54864" marR="54864" marT="27432" marB="27432">
                    <a:solidFill>
                      <a:srgbClr val="FFFFFF"/>
                    </a:solidFill>
                  </a:tcPr>
                </a:tc>
                <a:tc>
                  <a:txBody>
                    <a:bodyPr wrap="square"/>
                    <a:lstStyle/>
                    <a:p>
                      <a:pPr algn="r"/>
                      <a:r>
                        <a:rPr sz="1200" b="0">
                          <a:solidFill>
                            <a:srgbClr val="14324A"/>
                          </a:solidFill>
                          <a:latin typeface="Courier New"/>
                        </a:rPr>
                        <a:t>2026-09-29</a:t>
                      </a:r>
                    </a:p>
                  </a:txBody>
                  <a:tcPr marL="54864" marR="54864" marT="27432" marB="27432">
                    <a:solidFill>
                      <a:srgbClr val="FFFFFF"/>
                    </a:solidFill>
                  </a:tcPr>
                </a:tc>
                <a:tc>
                  <a:txBody>
                    <a:bodyPr wrap="square"/>
                    <a:lstStyle/>
                    <a:p>
                      <a:pPr algn="r"/>
                      <a:r>
                        <a:rPr sz="1200" b="0">
                          <a:solidFill>
                            <a:srgbClr val="14324A"/>
                          </a:solidFill>
                          <a:latin typeface="Courier New"/>
                        </a:rPr>
                        <a:t>.mp4 95,490, .db 1, .jpg 1</a:t>
                      </a:r>
                    </a:p>
                  </a:txBody>
                  <a:tcPr marL="54864" marR="54864" marT="27432" marB="27432">
                    <a:solidFill>
                      <a:srgbClr val="FFFFFF"/>
                    </a:solidFill>
                  </a:tcPr>
                </a:tc>
                <a:tc>
                  <a:txBody>
                    <a:bodyPr wrap="square"/>
                    <a:lstStyle/>
                    <a:p>
                      <a:pPr algn="r"/>
                      <a:r>
                        <a:rPr sz="1200" b="0">
                          <a:solidFill>
                            <a:srgbClr val="14324A"/>
                          </a:solidFill>
                          <a:latin typeface="Courier New"/>
                        </a:rPr>
                        <a:t>fingerprint pass to measure duplication; then tier by channel</a:t>
                      </a:r>
                    </a:p>
                  </a:txBody>
                  <a:tcPr marL="54864" marR="54864" marT="27432" marB="27432">
                    <a:solidFill>
                      <a:srgbClr val="FFFFFF"/>
                    </a:solidFill>
                  </a:tcPr>
                </a:tc>
              </a:tr>
              <a:tr h="384048">
                <a:tc>
                  <a:txBody>
                    <a:bodyPr wrap="square"/>
                    <a:lstStyle/>
                    <a:p>
                      <a:pPr algn="l"/>
                      <a:r>
                        <a:rPr sz="1200" b="0">
                          <a:solidFill>
                            <a:srgbClr val="14324A"/>
                          </a:solidFill>
                          <a:latin typeface="Calibri"/>
                        </a:rPr>
                        <a:t>channel04</a:t>
                      </a:r>
                    </a:p>
                  </a:txBody>
                  <a:tcPr marL="54864" marR="54864" marT="27432" marB="27432">
                    <a:solidFill>
                      <a:srgbClr val="FFFFFF"/>
                    </a:solidFill>
                  </a:tcPr>
                </a:tc>
                <a:tc>
                  <a:txBody>
                    <a:bodyPr wrap="square"/>
                    <a:lstStyle/>
                    <a:p>
                      <a:pPr algn="l"/>
                      <a:r>
                        <a:rPr sz="1200" b="0">
                          <a:solidFill>
                            <a:srgbClr val="14324A"/>
                          </a:solidFill>
                          <a:latin typeface="Calibri"/>
                        </a:rPr>
                        <a:t>complete</a:t>
                      </a:r>
                    </a:p>
                  </a:txBody>
                  <a:tcPr marL="54864" marR="54864" marT="27432" marB="27432">
                    <a:solidFill>
                      <a:srgbClr val="FFFFFF"/>
                    </a:solidFill>
                  </a:tcPr>
                </a:tc>
                <a:tc>
                  <a:txBody>
                    <a:bodyPr wrap="square"/>
                    <a:lstStyle/>
                    <a:p>
                      <a:pPr algn="r"/>
                      <a:r>
                        <a:rPr sz="1200" b="0">
                          <a:solidFill>
                            <a:srgbClr val="14324A"/>
                          </a:solidFill>
                          <a:latin typeface="Courier New"/>
                        </a:rPr>
                        <a:t>1.9</a:t>
                      </a:r>
                    </a:p>
                  </a:txBody>
                  <a:tcPr marL="54864" marR="54864" marT="27432" marB="27432">
                    <a:solidFill>
                      <a:srgbClr val="FFFFFF"/>
                    </a:solidFill>
                  </a:tcPr>
                </a:tc>
                <a:tc>
                  <a:txBody>
                    <a:bodyPr wrap="square"/>
                    <a:lstStyle/>
                    <a:p>
                      <a:pPr algn="r"/>
                      <a:r>
                        <a:rPr sz="1200" b="0">
                          <a:solidFill>
                            <a:srgbClr val="14324A"/>
                          </a:solidFill>
                          <a:latin typeface="Courier New"/>
                        </a:rPr>
                        <a:t>95,475</a:t>
                      </a:r>
                    </a:p>
                  </a:txBody>
                  <a:tcPr marL="54864" marR="54864" marT="27432" marB="27432">
                    <a:solidFill>
                      <a:srgbClr val="FFFFFF"/>
                    </a:solidFill>
                  </a:tcPr>
                </a:tc>
                <a:tc>
                  <a:txBody>
                    <a:bodyPr wrap="square"/>
                    <a:lstStyle/>
                    <a:p>
                      <a:pPr algn="r"/>
                      <a:r>
                        <a:rPr sz="1200" b="0">
                          <a:solidFill>
                            <a:srgbClr val="14324A"/>
                          </a:solidFill>
                          <a:latin typeface="Courier New"/>
                        </a:rPr>
                        <a:t>2026-09-29</a:t>
                      </a:r>
                    </a:p>
                  </a:txBody>
                  <a:tcPr marL="54864" marR="54864" marT="27432" marB="27432">
                    <a:solidFill>
                      <a:srgbClr val="FFFFFF"/>
                    </a:solidFill>
                  </a:tcPr>
                </a:tc>
                <a:tc>
                  <a:txBody>
                    <a:bodyPr wrap="square"/>
                    <a:lstStyle/>
                    <a:p>
                      <a:pPr algn="r"/>
                      <a:r>
                        <a:rPr sz="1200" b="0">
                          <a:solidFill>
                            <a:srgbClr val="14324A"/>
                          </a:solidFill>
                          <a:latin typeface="Courier New"/>
                        </a:rPr>
                        <a:t>.mp4 95,470, .db 1, .jpg 1</a:t>
                      </a:r>
                    </a:p>
                  </a:txBody>
                  <a:tcPr marL="54864" marR="54864" marT="27432" marB="27432">
                    <a:solidFill>
                      <a:srgbClr val="FFFFFF"/>
                    </a:solidFill>
                  </a:tcPr>
                </a:tc>
                <a:tc>
                  <a:txBody>
                    <a:bodyPr wrap="square"/>
                    <a:lstStyle/>
                    <a:p>
                      <a:pPr algn="r"/>
                      <a:r>
                        <a:rPr sz="1200" b="0">
                          <a:solidFill>
                            <a:srgbClr val="14324A"/>
                          </a:solidFill>
                          <a:latin typeface="Courier New"/>
                        </a:rPr>
                        <a:t>fingerprint pass to measure duplication; then tier by channel</a:t>
                      </a:r>
                    </a:p>
                  </a:txBody>
                  <a:tcPr marL="54864" marR="54864" marT="27432" marB="27432">
                    <a:solidFill>
                      <a:srgbClr val="FFFFFF"/>
                    </a:solidFill>
                  </a:tcPr>
                </a:tc>
              </a:tr>
              <a:tr h="384048">
                <a:tc>
                  <a:txBody>
                    <a:bodyPr wrap="square"/>
                    <a:lstStyle/>
                    <a:p>
                      <a:pPr algn="l"/>
                      <a:r>
                        <a:rPr sz="1200" b="0">
                          <a:solidFill>
                            <a:srgbClr val="14324A"/>
                          </a:solidFill>
                          <a:latin typeface="Calibri"/>
                        </a:rPr>
                        <a:t>channel03</a:t>
                      </a:r>
                    </a:p>
                  </a:txBody>
                  <a:tcPr marL="54864" marR="54864" marT="27432" marB="27432">
                    <a:solidFill>
                      <a:srgbClr val="FFFFFF"/>
                    </a:solidFill>
                  </a:tcPr>
                </a:tc>
                <a:tc>
                  <a:txBody>
                    <a:bodyPr wrap="square"/>
                    <a:lstStyle/>
                    <a:p>
                      <a:pPr algn="l"/>
                      <a:r>
                        <a:rPr sz="1200" b="0">
                          <a:solidFill>
                            <a:srgbClr val="14324A"/>
                          </a:solidFill>
                          <a:latin typeface="Calibri"/>
                        </a:rPr>
                        <a:t>complete</a:t>
                      </a:r>
                    </a:p>
                  </a:txBody>
                  <a:tcPr marL="54864" marR="54864" marT="27432" marB="27432">
                    <a:solidFill>
                      <a:srgbClr val="FFFFFF"/>
                    </a:solidFill>
                  </a:tcPr>
                </a:tc>
                <a:tc>
                  <a:txBody>
                    <a:bodyPr wrap="square"/>
                    <a:lstStyle/>
                    <a:p>
                      <a:pPr algn="r"/>
                      <a:r>
                        <a:rPr sz="1200" b="0">
                          <a:solidFill>
                            <a:srgbClr val="14324A"/>
                          </a:solidFill>
                          <a:latin typeface="Courier New"/>
                        </a:rPr>
                        <a:t>1.9</a:t>
                      </a:r>
                    </a:p>
                  </a:txBody>
                  <a:tcPr marL="54864" marR="54864" marT="27432" marB="27432">
                    <a:solidFill>
                      <a:srgbClr val="FFFFFF"/>
                    </a:solidFill>
                  </a:tcPr>
                </a:tc>
                <a:tc>
                  <a:txBody>
                    <a:bodyPr wrap="square"/>
                    <a:lstStyle/>
                    <a:p>
                      <a:pPr algn="r"/>
                      <a:r>
                        <a:rPr sz="1200" b="0">
                          <a:solidFill>
                            <a:srgbClr val="14324A"/>
                          </a:solidFill>
                          <a:latin typeface="Courier New"/>
                        </a:rPr>
                        <a:t>95,419</a:t>
                      </a:r>
                    </a:p>
                  </a:txBody>
                  <a:tcPr marL="54864" marR="54864" marT="27432" marB="27432">
                    <a:solidFill>
                      <a:srgbClr val="FFFFFF"/>
                    </a:solidFill>
                  </a:tcPr>
                </a:tc>
                <a:tc>
                  <a:txBody>
                    <a:bodyPr wrap="square"/>
                    <a:lstStyle/>
                    <a:p>
                      <a:pPr algn="r"/>
                      <a:r>
                        <a:rPr sz="1200" b="0">
                          <a:solidFill>
                            <a:srgbClr val="14324A"/>
                          </a:solidFill>
                          <a:latin typeface="Courier New"/>
                        </a:rPr>
                        <a:t>2026-09-29</a:t>
                      </a:r>
                    </a:p>
                  </a:txBody>
                  <a:tcPr marL="54864" marR="54864" marT="27432" marB="27432">
                    <a:solidFill>
                      <a:srgbClr val="FFFFFF"/>
                    </a:solidFill>
                  </a:tcPr>
                </a:tc>
                <a:tc>
                  <a:txBody>
                    <a:bodyPr wrap="square"/>
                    <a:lstStyle/>
                    <a:p>
                      <a:pPr algn="r"/>
                      <a:r>
                        <a:rPr sz="1200" b="0">
                          <a:solidFill>
                            <a:srgbClr val="14324A"/>
                          </a:solidFill>
                          <a:latin typeface="Courier New"/>
                        </a:rPr>
                        <a:t>.mp4 95,415, .db 1, .jpg 1</a:t>
                      </a:r>
                    </a:p>
                  </a:txBody>
                  <a:tcPr marL="54864" marR="54864" marT="27432" marB="27432">
                    <a:solidFill>
                      <a:srgbClr val="FFFFFF"/>
                    </a:solidFill>
                  </a:tcPr>
                </a:tc>
                <a:tc>
                  <a:txBody>
                    <a:bodyPr wrap="square"/>
                    <a:lstStyle/>
                    <a:p>
                      <a:pPr algn="r"/>
                      <a:r>
                        <a:rPr sz="1200" b="0">
                          <a:solidFill>
                            <a:srgbClr val="14324A"/>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R05: NAS share enumeration census run cr-cf4eef79995b (1,456,787 files, 43.6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3" cy="3017520"/>
        </p:xfrm>
        <a:graphic>
          <a:graphicData uri="http://schemas.openxmlformats.org/drawingml/2006/table">
            <a:tbl>
              <a:tblPr firstRow="1" bandRow="1">
                <a:tableStyleId>{5C22544A-7EE6-4342-B048-85BDC9FD1C3A}</a:tableStyleId>
              </a:tblPr>
              <a:tblGrid>
                <a:gridCol w="2895519"/>
                <a:gridCol w="2026863"/>
                <a:gridCol w="6080591"/>
              </a:tblGrid>
              <a:tr h="301752">
                <a:tc>
                  <a:txBody>
                    <a:bodyPr wrap="square"/>
                    <a:lstStyle/>
                    <a:p>
                      <a:pPr algn="l"/>
                      <a:r>
                        <a:rPr sz="1200" b="1">
                          <a:solidFill>
                            <a:srgbClr val="14324A"/>
                          </a:solidFill>
                          <a:latin typeface="Calibri"/>
                        </a:rPr>
                        <a:t>Bucket</a:t>
                      </a:r>
                    </a:p>
                  </a:txBody>
                  <a:tcPr marL="54864" marR="54864" marT="27432" marB="27432">
                    <a:solidFill>
                      <a:srgbClr val="E8EEF3"/>
                    </a:solidFill>
                  </a:tcPr>
                </a:tc>
                <a:tc>
                  <a:txBody>
                    <a:bodyPr wrap="square"/>
                    <a:lstStyle/>
                    <a:p>
                      <a:pPr algn="l"/>
                      <a:r>
                        <a:rPr sz="1200" b="1">
                          <a:solidFill>
                            <a:srgbClr val="14324A"/>
                          </a:solidFill>
                          <a:latin typeface="Calibri"/>
                        </a:rPr>
                        <a:t>Error returned</a:t>
                      </a:r>
                    </a:p>
                  </a:txBody>
                  <a:tcPr marL="54864" marR="54864" marT="27432" marB="27432">
                    <a:solidFill>
                      <a:srgbClr val="E8EEF3"/>
                    </a:solidFill>
                  </a:tcPr>
                </a:tc>
                <a:tc>
                  <a:txBody>
                    <a:bodyPr wrap="square"/>
                    <a:lstStyle/>
                    <a:p>
                      <a:pPr algn="l"/>
                      <a:r>
                        <a:rPr sz="1200" b="1">
                          <a:solidFill>
                            <a:srgbClr val="14324A"/>
                          </a:solidFill>
                          <a:latin typeface="Calibri"/>
                        </a:rPr>
                        <a:t>Proposed action</a:t>
                      </a:r>
                    </a:p>
                  </a:txBody>
                  <a:tcPr marL="54864" marR="54864" marT="27432" marB="27432">
                    <a:solidFill>
                      <a:srgbClr val="E8EEF3"/>
                    </a:solidFill>
                  </a:tcPr>
                </a:tc>
              </a:tr>
              <a:tr h="301752">
                <a:tc>
                  <a:txBody>
                    <a:bodyPr wrap="square"/>
                    <a:lstStyle/>
                    <a:p>
                      <a:pPr algn="l"/>
                      <a:r>
                        <a:rPr sz="1200" b="0">
                          <a:solidFill>
                            <a:srgbClr val="14324A"/>
                          </a:solidFill>
                          <a:latin typeface="Calibri"/>
                        </a:rPr>
                        <a:t>apr252017</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citizen-vod</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elections</a:t>
                      </a:r>
                    </a:p>
                  </a:txBody>
                  <a:tcPr marL="54864" marR="54864" marT="27432" marB="27432">
                    <a:solidFill>
                      <a:srgbClr val="FFFFFF"/>
                    </a:solidFill>
                  </a:tcPr>
                </a:tc>
                <a:tc>
                  <a:txBody>
                    <a:bodyPr wrap="square"/>
                    <a:lstStyle/>
                    <a:p>
                      <a:pPr algn="l"/>
                      <a:r>
                        <a:rPr sz="1200" b="0">
                          <a:solidFill>
                            <a:srgbClr val="14324A"/>
                          </a:solidFill>
                          <a:latin typeface="Calibri"/>
                        </a:rPr>
                        <a:t>ClientError</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feb272017</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instore-radio-items</a:t>
                      </a:r>
                    </a:p>
                  </a:txBody>
                  <a:tcPr marL="54864" marR="54864" marT="27432" marB="27432">
                    <a:solidFill>
                      <a:srgbClr val="FFFFFF"/>
                    </a:solidFill>
                  </a:tcPr>
                </a:tc>
                <a:tc>
                  <a:txBody>
                    <a:bodyPr wrap="square"/>
                    <a:lstStyle/>
                    <a:p>
                      <a:pPr algn="l"/>
                      <a:r>
                        <a:rPr sz="1200" b="0">
                          <a:solidFill>
                            <a:srgbClr val="14324A"/>
                          </a:solidFill>
                          <a:latin typeface="Calibri"/>
                        </a:rPr>
                        <a:t>ClientError</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iso-rms-storage</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librarydirectupload2</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na7p4100</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na7p410c</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R04: OBS bucket enumeration census run cr-f1415e395361 (22,975,591 objects, 130.3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5" cy="3017520"/>
        </p:xfrm>
        <a:graphic>
          <a:graphicData uri="http://schemas.openxmlformats.org/drawingml/2006/table">
            <a:tbl>
              <a:tblPr firstRow="1" bandRow="1">
                <a:tableStyleId>{5C22544A-7EE6-4342-B048-85BDC9FD1C3A}</a:tableStyleId>
              </a:tblPr>
              <a:tblGrid>
                <a:gridCol w="2200595"/>
                <a:gridCol w="2200595"/>
                <a:gridCol w="6601785"/>
              </a:tblGrid>
              <a:tr h="301752">
                <a:tc>
                  <a:txBody>
                    <a:bodyPr wrap="square"/>
                    <a:lstStyle/>
                    <a:p>
                      <a:pPr algn="l"/>
                      <a:r>
                        <a:rPr sz="1200" b="1">
                          <a:solidFill>
                            <a:srgbClr val="14324A"/>
                          </a:solidFill>
                          <a:latin typeface="Calibri"/>
                        </a:rPr>
                        <a:t>Bucket</a:t>
                      </a:r>
                    </a:p>
                  </a:txBody>
                  <a:tcPr marL="54864" marR="54864" marT="27432" marB="27432">
                    <a:solidFill>
                      <a:srgbClr val="E8EEF3"/>
                    </a:solidFill>
                  </a:tcPr>
                </a:tc>
                <a:tc>
                  <a:txBody>
                    <a:bodyPr wrap="square"/>
                    <a:lstStyle/>
                    <a:p>
                      <a:pPr algn="l"/>
                      <a:r>
                        <a:rPr sz="1200" b="1">
                          <a:solidFill>
                            <a:srgbClr val="14324A"/>
                          </a:solidFill>
                          <a:latin typeface="Calibri"/>
                        </a:rPr>
                        <a:t>Error returned</a:t>
                      </a:r>
                    </a:p>
                  </a:txBody>
                  <a:tcPr marL="54864" marR="54864" marT="27432" marB="27432">
                    <a:solidFill>
                      <a:srgbClr val="E8EEF3"/>
                    </a:solidFill>
                  </a:tcPr>
                </a:tc>
                <a:tc>
                  <a:txBody>
                    <a:bodyPr wrap="square"/>
                    <a:lstStyle/>
                    <a:p>
                      <a:pPr algn="l"/>
                      <a:r>
                        <a:rPr sz="1200" b="1">
                          <a:solidFill>
                            <a:srgbClr val="14324A"/>
                          </a:solidFill>
                          <a:latin typeface="Calibri"/>
                        </a:rPr>
                        <a:t>Proposed action</a:t>
                      </a:r>
                    </a:p>
                  </a:txBody>
                  <a:tcPr marL="54864" marR="54864" marT="27432" marB="27432">
                    <a:solidFill>
                      <a:srgbClr val="E8EEF3"/>
                    </a:solidFill>
                  </a:tcPr>
                </a:tc>
              </a:tr>
              <a:tr h="301752">
                <a:tc>
                  <a:txBody>
                    <a:bodyPr wrap="square"/>
                    <a:lstStyle/>
                    <a:p>
                      <a:pPr algn="l"/>
                      <a:r>
                        <a:rPr sz="1200" b="0">
                          <a:solidFill>
                            <a:srgbClr val="14324A"/>
                          </a:solidFill>
                          <a:latin typeface="Calibri"/>
                        </a:rPr>
                        <a:t>na7p419y</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na7p41ab</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na7p41f4</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na7p41j6</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na7p41jk</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na7p42ry</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na7p42s5</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na7p42s7</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r h="301752">
                <a:tc>
                  <a:txBody>
                    <a:bodyPr wrap="square"/>
                    <a:lstStyle/>
                    <a:p>
                      <a:pPr algn="l"/>
                      <a:r>
                        <a:rPr sz="1200" b="0">
                          <a:solidFill>
                            <a:srgbClr val="14324A"/>
                          </a:solidFill>
                          <a:latin typeface="Calibri"/>
                        </a:rPr>
                        <a:t>na7p42tq</a:t>
                      </a:r>
                    </a:p>
                  </a:txBody>
                  <a:tcPr marL="54864" marR="54864" marT="27432" marB="27432">
                    <a:solidFill>
                      <a:srgbClr val="FFFFFF"/>
                    </a:solidFill>
                  </a:tcPr>
                </a:tc>
                <a:tc>
                  <a:txBody>
                    <a:bodyPr wrap="square"/>
                    <a:lstStyle/>
                    <a:p>
                      <a:pPr algn="l"/>
                      <a:r>
                        <a:rPr sz="1200" b="0">
                          <a:solidFill>
                            <a:srgbClr val="14324A"/>
                          </a:solidFill>
                          <a:latin typeface="Calibri"/>
                        </a:rPr>
                        <a:t>NoSuchBucket</a:t>
                      </a:r>
                    </a:p>
                  </a:txBody>
                  <a:tcPr marL="54864" marR="54864" marT="27432" marB="27432">
                    <a:solidFill>
                      <a:srgbClr val="FFFFFF"/>
                    </a:solidFill>
                  </a:tcPr>
                </a:tc>
                <a:tc>
                  <a:txBody>
                    <a:bodyPr wrap="square"/>
                    <a:lstStyle/>
                    <a:p>
                      <a:pPr algn="l"/>
                      <a:r>
                        <a:rPr sz="1200" b="0">
                          <a:solidFill>
                            <a:srgbClr val="14324A"/>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R04: OBS bucket enumeration census run cr-f1415e395361 (22,975,591 objects, 130.3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03</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Where cost can fall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RECLAIMABLE BYTES BY STRATEGY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Two object-store moves address nearly all reclaimable bytes; database moves are marginal</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The three largest strategies address 100.0% of the 50,799.8 GiB that all strategies reach, and archive-class tiering is a cheaper tier, not deletion.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THREE PRICED MOVES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The three priced moves differ sharply in size and in the check each needs</a:t>
            </a:r>
          </a:p>
        </p:txBody>
      </p:sp>
      <p:graphicFrame>
        <p:nvGraphicFramePr>
          <p:cNvPr id="4" name="Table 3"/>
          <p:cNvGraphicFramePr>
            <a:graphicFrameLocks noGrp="1"/>
          </p:cNvGraphicFramePr>
          <p:nvPr/>
        </p:nvGraphicFramePr>
        <p:xfrm>
          <a:off x="594360" y="1920240"/>
          <a:ext cx="11002975" cy="1371600"/>
        </p:xfrm>
        <a:graphic>
          <a:graphicData uri="http://schemas.openxmlformats.org/drawingml/2006/table">
            <a:tbl>
              <a:tblPr firstRow="1" bandRow="1">
                <a:tableStyleId>{5C22544A-7EE6-4342-B048-85BDC9FD1C3A}</a:tableStyleId>
              </a:tblPr>
              <a:tblGrid>
                <a:gridCol w="3080833"/>
                <a:gridCol w="2640714"/>
                <a:gridCol w="2640714"/>
                <a:gridCol w="2640714"/>
              </a:tblGrid>
              <a:tr h="457200">
                <a:tc>
                  <a:txBody>
                    <a:bodyPr wrap="square"/>
                    <a:lstStyle/>
                    <a:p>
                      <a:pPr algn="l"/>
                      <a:r>
                        <a:rPr sz="1300" b="0">
                          <a:solidFill>
                            <a:srgbClr val="14324A"/>
                          </a:solidFill>
                          <a:latin typeface="Calibri"/>
                        </a:rPr>
                        <a:t/>
                      </a:r>
                    </a:p>
                  </a:txBody>
                  <a:tcPr marL="73152" marR="73152">
                    <a:solidFill>
                      <a:srgbClr val="E8EEF3"/>
                    </a:solidFill>
                  </a:tcPr>
                </a:tc>
                <a:tc>
                  <a:txBody>
                    <a:bodyPr wrap="square"/>
                    <a:lstStyle/>
                    <a:p>
                      <a:pPr algn="l"/>
                      <a:r>
                        <a:rPr sz="1300" b="1">
                          <a:solidFill>
                            <a:srgbClr val="14324A"/>
                          </a:solidFill>
                          <a:latin typeface="Calibri"/>
                        </a:rPr>
                        <a:t>Move buckets not written for over a year to archive-class st</a:t>
                      </a:r>
                    </a:p>
                  </a:txBody>
                  <a:tcPr marL="73152" marR="73152">
                    <a:solidFill>
                      <a:srgbClr val="E8EEF3"/>
                    </a:solidFill>
                  </a:tcPr>
                </a:tc>
                <a:tc>
                  <a:txBody>
                    <a:bodyPr wrap="square"/>
                    <a:lstStyle/>
                    <a:p>
                      <a:pPr algn="l"/>
                      <a:r>
                        <a:rPr sz="1300" b="1">
                          <a:solidFill>
                            <a:srgbClr val="14324A"/>
                          </a:solidFill>
                          <a:latin typeface="Calibri"/>
                        </a:rPr>
                        <a:t>Reconcile duplicate objects across OBS buckets</a:t>
                      </a:r>
                    </a:p>
                  </a:txBody>
                  <a:tcPr marL="73152" marR="73152">
                    <a:solidFill>
                      <a:srgbClr val="E8EEF3"/>
                    </a:solidFill>
                  </a:tcPr>
                </a:tc>
                <a:tc>
                  <a:txBody>
                    <a:bodyPr wrap="square"/>
                    <a:lstStyle/>
                    <a:p>
                      <a:pPr algn="l"/>
                      <a:r>
                        <a:rPr sz="1300" b="1">
                          <a:solidFill>
                            <a:srgbClr val="14324A"/>
                          </a:solidFill>
                          <a:latin typeface="Calibri"/>
                        </a:rPr>
                        <a:t>Move tables not written for over a year to cold storage</a:t>
                      </a:r>
                    </a:p>
                  </a:txBody>
                  <a:tcPr marL="73152" marR="73152">
                    <a:solidFill>
                      <a:srgbClr val="E8EEF3"/>
                    </a:solidFill>
                  </a:tcPr>
                </a:tc>
              </a:tr>
              <a:tr h="457200">
                <a:tc>
                  <a:txBody>
                    <a:bodyPr wrap="square"/>
                    <a:lstStyle/>
                    <a:p>
                      <a:pPr algn="l"/>
                      <a:r>
                        <a:rPr sz="1300" b="0">
                          <a:solidFill>
                            <a:srgbClr val="70879A"/>
                          </a:solidFill>
                          <a:latin typeface="Calibri"/>
                        </a:rPr>
                        <a:t>Reclaimable gib</a:t>
                      </a:r>
                    </a:p>
                  </a:txBody>
                  <a:tcPr marL="73152" marR="73152">
                    <a:solidFill>
                      <a:srgbClr val="FFFFFF"/>
                    </a:solidFill>
                  </a:tcPr>
                </a:tc>
                <a:tc>
                  <a:txBody>
                    <a:bodyPr wrap="square"/>
                    <a:lstStyle/>
                    <a:p>
                      <a:pPr algn="r"/>
                      <a:r>
                        <a:rPr sz="1300" b="0">
                          <a:solidFill>
                            <a:srgbClr val="14324A"/>
                          </a:solidFill>
                          <a:latin typeface="Courier New"/>
                        </a:rPr>
                        <a:t>42,891.0</a:t>
                      </a:r>
                    </a:p>
                  </a:txBody>
                  <a:tcPr marL="73152" marR="73152">
                    <a:solidFill>
                      <a:srgbClr val="FFFFFF"/>
                    </a:solidFill>
                  </a:tcPr>
                </a:tc>
                <a:tc>
                  <a:txBody>
                    <a:bodyPr wrap="square"/>
                    <a:lstStyle/>
                    <a:p>
                      <a:pPr algn="r"/>
                      <a:r>
                        <a:rPr sz="1300" b="0">
                          <a:solidFill>
                            <a:srgbClr val="14324A"/>
                          </a:solidFill>
                          <a:latin typeface="Courier New"/>
                        </a:rPr>
                        <a:t>7,839.5</a:t>
                      </a:r>
                    </a:p>
                  </a:txBody>
                  <a:tcPr marL="73152" marR="73152">
                    <a:solidFill>
                      <a:srgbClr val="FFFFFF"/>
                    </a:solidFill>
                  </a:tcPr>
                </a:tc>
                <a:tc>
                  <a:txBody>
                    <a:bodyPr wrap="square"/>
                    <a:lstStyle/>
                    <a:p>
                      <a:pPr algn="r"/>
                      <a:r>
                        <a:rPr sz="1300" b="0">
                          <a:solidFill>
                            <a:srgbClr val="14324A"/>
                          </a:solidFill>
                          <a:latin typeface="Courier New"/>
                        </a:rPr>
                        <a:t>54.1</a:t>
                      </a:r>
                    </a:p>
                  </a:txBody>
                  <a:tcPr marL="73152" marR="73152">
                    <a:solidFill>
                      <a:srgbClr val="FFFFFF"/>
                    </a:solidFill>
                  </a:tcPr>
                </a:tc>
              </a:tr>
              <a:tr h="457200">
                <a:tc>
                  <a:txBody>
                    <a:bodyPr wrap="square"/>
                    <a:lstStyle/>
                    <a:p>
                      <a:pPr algn="l"/>
                      <a:r>
                        <a:rPr sz="1300" b="0">
                          <a:solidFill>
                            <a:srgbClr val="70879A"/>
                          </a:solidFill>
                          <a:latin typeface="Calibri"/>
                        </a:rPr>
                        <a:t>Monthly saving usd</a:t>
                      </a:r>
                    </a:p>
                  </a:txBody>
                  <a:tcPr marL="73152" marR="73152">
                    <a:solidFill>
                      <a:srgbClr val="FFFFFF"/>
                    </a:solidFill>
                  </a:tcPr>
                </a:tc>
                <a:tc>
                  <a:txBody>
                    <a:bodyPr wrap="square"/>
                    <a:lstStyle/>
                    <a:p>
                      <a:pPr algn="r"/>
                      <a:r>
                        <a:rPr sz="1300" b="0">
                          <a:solidFill>
                            <a:srgbClr val="14324A"/>
                          </a:solidFill>
                          <a:latin typeface="Courier New"/>
                        </a:rPr>
                        <a:t>986.5</a:t>
                      </a:r>
                    </a:p>
                  </a:txBody>
                  <a:tcPr marL="73152" marR="73152">
                    <a:solidFill>
                      <a:srgbClr val="FFFFFF"/>
                    </a:solidFill>
                  </a:tcPr>
                </a:tc>
                <a:tc>
                  <a:txBody>
                    <a:bodyPr wrap="square"/>
                    <a:lstStyle/>
                    <a:p>
                      <a:pPr algn="r"/>
                      <a:r>
                        <a:rPr sz="1300" b="0">
                          <a:solidFill>
                            <a:srgbClr val="14324A"/>
                          </a:solidFill>
                          <a:latin typeface="Courier New"/>
                        </a:rPr>
                        <a:t>180.3</a:t>
                      </a:r>
                    </a:p>
                  </a:txBody>
                  <a:tcPr marL="73152" marR="73152">
                    <a:solidFill>
                      <a:srgbClr val="FFFFFF"/>
                    </a:solidFill>
                  </a:tcPr>
                </a:tc>
                <a:tc>
                  <a:txBody>
                    <a:bodyPr wrap="square"/>
                    <a:lstStyle/>
                    <a:p>
                      <a:pPr algn="r"/>
                      <a:r>
                        <a:rPr sz="1300" b="0">
                          <a:solidFill>
                            <a:srgbClr val="14324A"/>
                          </a:solidFill>
                          <a:latin typeface="Courier New"/>
                        </a:rPr>
                        <a:t>5.9</a:t>
                      </a:r>
                    </a:p>
                  </a:txBody>
                  <a:tcPr marL="73152" marR="7315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Monthly upper bounds at list prices are 986.5, 180.3 and 5.9 USD; each needs its own verification before action.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04</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Condition of the database rows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ROW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Empty fields and damage, not duplication, are the main condition problems in the rows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Completeness is the main repair task: 81.7% of rows carry empty required-looking fields against 1.5% exact duplicates; the bases differ, so the shares must not be added.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DATABASE CONCENTRATION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A few large databases hold nearly all database bytes, so cleanup should start there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The largest databases hold 99.7% of the 351.3 GiB; treat this as a map for effort, not proof that one database causes every condition finding.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ROW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Rows need completeness repair and de-identification or aggregation before products use them</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Exact duplicates are an estimated 1.5% of rows; degraded rows are an estimated 23.0%.</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81.7% of rows carry empty required-looking fields. These are heuristic flags, so decide per product which matter.</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71.8% of 1.0m sampled rows carry personal-data markers: a de-identification or aggregation task, not a rights question.</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15.4% of bytes are unwritten for over a year; dead columns are 13.0% of measured columns.</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05</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Language audio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SPEECH BY LANGUAGE FOLDER</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An estimated 421.4 speech hours sit in 8 language folders once music is removed</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Six larger folders carry most of the speech; the two smallest folders hold too little to support a pilot on their own.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LANGUAGE AGREEMENT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Folder-language agreement varies by folder, so language checks must precede any packaging</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Overall 82.3% of judged windows agree with the folder; the model declined to label 10.7%. These are model readings, not human verification.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AUDIO IN THE STAGED CORPUS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The estate holds 529.5 recorded audio hours, of which an estimated 421.4 are speech</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staged audio is 529.5 hours in 3958 files; an estimated 421.4 hours are speech and 108.2 hours music.</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Music is the majority in 539 files; filter these before any speech product.</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82.3% of judged windows agree with the folder language, but folders differ; check language before packaging.</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Noise and intelligibility were not scored; take a human listening sample first.</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Audio held by language folder — what both GPUs read</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778258"/>
                <a:gridCol w="1555976"/>
                <a:gridCol w="1555976"/>
                <a:gridCol w="2111682"/>
                <a:gridCol w="2000540"/>
                <a:gridCol w="2000540"/>
              </a:tblGrid>
              <a:tr h="335280">
                <a:tc>
                  <a:txBody>
                    <a:bodyPr wrap="square"/>
                    <a:lstStyle/>
                    <a:p>
                      <a:pPr algn="l"/>
                      <a:r>
                        <a:rPr sz="1100" b="1">
                          <a:solidFill>
                            <a:srgbClr val="14324A"/>
                          </a:solidFill>
                          <a:latin typeface="Calibri"/>
                        </a:rPr>
                        <a:t>Language</a:t>
                      </a:r>
                    </a:p>
                  </a:txBody>
                  <a:tcPr marL="54864" marR="54864" marT="27432" marB="27432">
                    <a:solidFill>
                      <a:srgbClr val="E8EEF3"/>
                    </a:solidFill>
                  </a:tcPr>
                </a:tc>
                <a:tc>
                  <a:txBody>
                    <a:bodyPr wrap="square"/>
                    <a:lstStyle/>
                    <a:p>
                      <a:pPr algn="l"/>
                      <a:r>
                        <a:rPr sz="1100" b="1">
                          <a:solidFill>
                            <a:srgbClr val="14324A"/>
                          </a:solidFill>
                          <a:latin typeface="Calibri"/>
                        </a:rPr>
                        <a:t>Files</a:t>
                      </a:r>
                    </a:p>
                  </a:txBody>
                  <a:tcPr marL="54864" marR="54864" marT="27432" marB="27432">
                    <a:solidFill>
                      <a:srgbClr val="E8EEF3"/>
                    </a:solidFill>
                  </a:tcPr>
                </a:tc>
                <a:tc>
                  <a:txBody>
                    <a:bodyPr wrap="square"/>
                    <a:lstStyle/>
                    <a:p>
                      <a:pPr algn="l"/>
                      <a:r>
                        <a:rPr sz="1100" b="1">
                          <a:solidFill>
                            <a:srgbClr val="14324A"/>
                          </a:solidFill>
                          <a:latin typeface="Calibri"/>
                        </a:rPr>
                        <a:t>Hours recorded</a:t>
                      </a:r>
                    </a:p>
                  </a:txBody>
                  <a:tcPr marL="54864" marR="54864" marT="27432" marB="27432">
                    <a:solidFill>
                      <a:srgbClr val="E8EEF3"/>
                    </a:solidFill>
                  </a:tcPr>
                </a:tc>
                <a:tc>
                  <a:txBody>
                    <a:bodyPr wrap="square"/>
                    <a:lstStyle/>
                    <a:p>
                      <a:pPr algn="l"/>
                      <a:r>
                        <a:rPr sz="1100" b="1">
                          <a:solidFill>
                            <a:srgbClr val="14324A"/>
                          </a:solidFill>
                          <a:latin typeface="Calibri"/>
                        </a:rPr>
                        <a:t>Speech hours (est.)</a:t>
                      </a:r>
                    </a:p>
                  </a:txBody>
                  <a:tcPr marL="54864" marR="54864" marT="27432" marB="27432">
                    <a:solidFill>
                      <a:srgbClr val="E8EEF3"/>
                    </a:solidFill>
                  </a:tcPr>
                </a:tc>
                <a:tc>
                  <a:txBody>
                    <a:bodyPr wrap="square"/>
                    <a:lstStyle/>
                    <a:p>
                      <a:pPr algn="l"/>
                      <a:r>
                        <a:rPr sz="1100" b="1">
                          <a:solidFill>
                            <a:srgbClr val="14324A"/>
                          </a:solidFill>
                          <a:latin typeface="Calibri"/>
                        </a:rPr>
                        <a:t>Music hours (est.)</a:t>
                      </a:r>
                    </a:p>
                  </a:txBody>
                  <a:tcPr marL="54864" marR="54864" marT="27432" marB="27432">
                    <a:solidFill>
                      <a:srgbClr val="E8EEF3"/>
                    </a:solidFill>
                  </a:tcPr>
                </a:tc>
                <a:tc>
                  <a:txBody>
                    <a:bodyPr wrap="square"/>
                    <a:lstStyle/>
                    <a:p>
                      <a:pPr algn="l"/>
                      <a:r>
                        <a:rPr sz="1100" b="1">
                          <a:solidFill>
                            <a:srgbClr val="14324A"/>
                          </a:solidFill>
                          <a:latin typeface="Calibri"/>
                        </a:rPr>
                        <a:t>Agrees with folder</a:t>
                      </a:r>
                    </a:p>
                  </a:txBody>
                  <a:tcPr marL="54864" marR="54864" marT="27432" marB="27432">
                    <a:solidFill>
                      <a:srgbClr val="E8EEF3"/>
                    </a:solidFill>
                  </a:tcPr>
                </a:tc>
              </a:tr>
              <a:tr h="335280">
                <a:tc>
                  <a:txBody>
                    <a:bodyPr wrap="square"/>
                    <a:lstStyle/>
                    <a:p>
                      <a:pPr algn="l"/>
                      <a:r>
                        <a:rPr sz="1100" b="0">
                          <a:solidFill>
                            <a:srgbClr val="14324A"/>
                          </a:solidFill>
                          <a:latin typeface="Calibri"/>
                        </a:rPr>
                        <a:t>Ekegusii (Kisii)</a:t>
                      </a:r>
                    </a:p>
                  </a:txBody>
                  <a:tcPr marL="54864" marR="54864" marT="27432" marB="27432">
                    <a:solidFill>
                      <a:srgbClr val="FFFFFF"/>
                    </a:solidFill>
                  </a:tcPr>
                </a:tc>
                <a:tc>
                  <a:txBody>
                    <a:bodyPr wrap="square"/>
                    <a:lstStyle/>
                    <a:p>
                      <a:pPr algn="l"/>
                      <a:r>
                        <a:rPr sz="1100" b="0">
                          <a:solidFill>
                            <a:srgbClr val="14324A"/>
                          </a:solidFill>
                          <a:latin typeface="Calibri"/>
                        </a:rPr>
                        <a:t>732</a:t>
                      </a:r>
                    </a:p>
                  </a:txBody>
                  <a:tcPr marL="54864" marR="54864" marT="27432" marB="27432">
                    <a:solidFill>
                      <a:srgbClr val="FFFFFF"/>
                    </a:solidFill>
                  </a:tcPr>
                </a:tc>
                <a:tc>
                  <a:txBody>
                    <a:bodyPr wrap="square"/>
                    <a:lstStyle/>
                    <a:p>
                      <a:pPr algn="r"/>
                      <a:r>
                        <a:rPr sz="1100" b="0">
                          <a:solidFill>
                            <a:srgbClr val="14324A"/>
                          </a:solidFill>
                          <a:latin typeface="Courier New"/>
                        </a:rPr>
                        <a:t>92.2</a:t>
                      </a:r>
                    </a:p>
                  </a:txBody>
                  <a:tcPr marL="54864" marR="54864" marT="27432" marB="27432">
                    <a:solidFill>
                      <a:srgbClr val="FFFFFF"/>
                    </a:solidFill>
                  </a:tcPr>
                </a:tc>
                <a:tc>
                  <a:txBody>
                    <a:bodyPr wrap="square"/>
                    <a:lstStyle/>
                    <a:p>
                      <a:pPr algn="r"/>
                      <a:r>
                        <a:rPr sz="1100" b="0">
                          <a:solidFill>
                            <a:srgbClr val="14324A"/>
                          </a:solidFill>
                          <a:latin typeface="Courier New"/>
                        </a:rPr>
                        <a:t>76.7</a:t>
                      </a:r>
                    </a:p>
                  </a:txBody>
                  <a:tcPr marL="54864" marR="54864" marT="27432" marB="27432">
                    <a:solidFill>
                      <a:srgbClr val="FFFFFF"/>
                    </a:solidFill>
                  </a:tcPr>
                </a:tc>
                <a:tc>
                  <a:txBody>
                    <a:bodyPr wrap="square"/>
                    <a:lstStyle/>
                    <a:p>
                      <a:pPr algn="r"/>
                      <a:r>
                        <a:rPr sz="1100" b="0">
                          <a:solidFill>
                            <a:srgbClr val="14324A"/>
                          </a:solidFill>
                          <a:latin typeface="Courier New"/>
                        </a:rPr>
                        <a:t>15.6</a:t>
                      </a:r>
                    </a:p>
                  </a:txBody>
                  <a:tcPr marL="54864" marR="54864" marT="27432" marB="27432">
                    <a:solidFill>
                      <a:srgbClr val="FFFFFF"/>
                    </a:solidFill>
                  </a:tcPr>
                </a:tc>
                <a:tc>
                  <a:txBody>
                    <a:bodyPr wrap="square"/>
                    <a:lstStyle/>
                    <a:p>
                      <a:pPr algn="r"/>
                      <a:r>
                        <a:rPr sz="1100" b="0">
                          <a:solidFill>
                            <a:srgbClr val="14324A"/>
                          </a:solidFill>
                          <a:latin typeface="Courier New"/>
                        </a:rPr>
                        <a:t>86.1%</a:t>
                      </a:r>
                    </a:p>
                  </a:txBody>
                  <a:tcPr marL="54864" marR="54864" marT="27432" marB="27432">
                    <a:solidFill>
                      <a:srgbClr val="FFFFFF"/>
                    </a:solidFill>
                  </a:tcPr>
                </a:tc>
              </a:tr>
              <a:tr h="335280">
                <a:tc>
                  <a:txBody>
                    <a:bodyPr wrap="square"/>
                    <a:lstStyle/>
                    <a:p>
                      <a:pPr algn="l"/>
                      <a:r>
                        <a:rPr sz="1100" b="0">
                          <a:solidFill>
                            <a:srgbClr val="14324A"/>
                          </a:solidFill>
                          <a:latin typeface="Calibri"/>
                        </a:rPr>
                        <a:t>Kalenjin</a:t>
                      </a:r>
                    </a:p>
                  </a:txBody>
                  <a:tcPr marL="54864" marR="54864" marT="27432" marB="27432">
                    <a:solidFill>
                      <a:srgbClr val="FFFFFF"/>
                    </a:solidFill>
                  </a:tcPr>
                </a:tc>
                <a:tc>
                  <a:txBody>
                    <a:bodyPr wrap="square"/>
                    <a:lstStyle/>
                    <a:p>
                      <a:pPr algn="l"/>
                      <a:r>
                        <a:rPr sz="1100" b="0">
                          <a:solidFill>
                            <a:srgbClr val="14324A"/>
                          </a:solidFill>
                          <a:latin typeface="Calibri"/>
                        </a:rPr>
                        <a:t>295</a:t>
                      </a:r>
                    </a:p>
                  </a:txBody>
                  <a:tcPr marL="54864" marR="54864" marT="27432" marB="27432">
                    <a:solidFill>
                      <a:srgbClr val="FFFFFF"/>
                    </a:solidFill>
                  </a:tcPr>
                </a:tc>
                <a:tc>
                  <a:txBody>
                    <a:bodyPr wrap="square"/>
                    <a:lstStyle/>
                    <a:p>
                      <a:pPr algn="r"/>
                      <a:r>
                        <a:rPr sz="1100" b="0">
                          <a:solidFill>
                            <a:srgbClr val="14324A"/>
                          </a:solidFill>
                          <a:latin typeface="Courier New"/>
                        </a:rPr>
                        <a:t>89.8</a:t>
                      </a:r>
                    </a:p>
                  </a:txBody>
                  <a:tcPr marL="54864" marR="54864" marT="27432" marB="27432">
                    <a:solidFill>
                      <a:srgbClr val="FFFFFF"/>
                    </a:solidFill>
                  </a:tcPr>
                </a:tc>
                <a:tc>
                  <a:txBody>
                    <a:bodyPr wrap="square"/>
                    <a:lstStyle/>
                    <a:p>
                      <a:pPr algn="r"/>
                      <a:r>
                        <a:rPr sz="1100" b="0">
                          <a:solidFill>
                            <a:srgbClr val="14324A"/>
                          </a:solidFill>
                          <a:latin typeface="Courier New"/>
                        </a:rPr>
                        <a:t>73.2</a:t>
                      </a:r>
                    </a:p>
                  </a:txBody>
                  <a:tcPr marL="54864" marR="54864" marT="27432" marB="27432">
                    <a:solidFill>
                      <a:srgbClr val="FFFFFF"/>
                    </a:solidFill>
                  </a:tcPr>
                </a:tc>
                <a:tc>
                  <a:txBody>
                    <a:bodyPr wrap="square"/>
                    <a:lstStyle/>
                    <a:p>
                      <a:pPr algn="r"/>
                      <a:r>
                        <a:rPr sz="1100" b="0">
                          <a:solidFill>
                            <a:srgbClr val="14324A"/>
                          </a:solidFill>
                          <a:latin typeface="Courier New"/>
                        </a:rPr>
                        <a:t>16.6</a:t>
                      </a:r>
                    </a:p>
                  </a:txBody>
                  <a:tcPr marL="54864" marR="54864" marT="27432" marB="27432">
                    <a:solidFill>
                      <a:srgbClr val="FFFFFF"/>
                    </a:solidFill>
                  </a:tcPr>
                </a:tc>
                <a:tc>
                  <a:txBody>
                    <a:bodyPr wrap="square"/>
                    <a:lstStyle/>
                    <a:p>
                      <a:pPr algn="r"/>
                      <a:r>
                        <a:rPr sz="1100" b="0">
                          <a:solidFill>
                            <a:srgbClr val="14324A"/>
                          </a:solidFill>
                          <a:latin typeface="Courier New"/>
                        </a:rPr>
                        <a:t>89.9%</a:t>
                      </a:r>
                    </a:p>
                  </a:txBody>
                  <a:tcPr marL="54864" marR="54864" marT="27432" marB="27432">
                    <a:solidFill>
                      <a:srgbClr val="FFFFFF"/>
                    </a:solidFill>
                  </a:tcPr>
                </a:tc>
              </a:tr>
              <a:tr h="335280">
                <a:tc>
                  <a:txBody>
                    <a:bodyPr wrap="square"/>
                    <a:lstStyle/>
                    <a:p>
                      <a:pPr algn="l"/>
                      <a:r>
                        <a:rPr sz="1100" b="0">
                          <a:solidFill>
                            <a:srgbClr val="14324A"/>
                          </a:solidFill>
                          <a:latin typeface="Calibri"/>
                        </a:rPr>
                        <a:t>Kiswahili</a:t>
                      </a:r>
                    </a:p>
                  </a:txBody>
                  <a:tcPr marL="54864" marR="54864" marT="27432" marB="27432">
                    <a:solidFill>
                      <a:srgbClr val="FFFFFF"/>
                    </a:solidFill>
                  </a:tcPr>
                </a:tc>
                <a:tc>
                  <a:txBody>
                    <a:bodyPr wrap="square"/>
                    <a:lstStyle/>
                    <a:p>
                      <a:pPr algn="l"/>
                      <a:r>
                        <a:rPr sz="1100" b="0">
                          <a:solidFill>
                            <a:srgbClr val="14324A"/>
                          </a:solidFill>
                          <a:latin typeface="Calibri"/>
                        </a:rPr>
                        <a:t>549</a:t>
                      </a:r>
                    </a:p>
                  </a:txBody>
                  <a:tcPr marL="54864" marR="54864" marT="27432" marB="27432">
                    <a:solidFill>
                      <a:srgbClr val="FFFFFF"/>
                    </a:solidFill>
                  </a:tcPr>
                </a:tc>
                <a:tc>
                  <a:txBody>
                    <a:bodyPr wrap="square"/>
                    <a:lstStyle/>
                    <a:p>
                      <a:pPr algn="r"/>
                      <a:r>
                        <a:rPr sz="1100" b="0">
                          <a:solidFill>
                            <a:srgbClr val="14324A"/>
                          </a:solidFill>
                          <a:latin typeface="Courier New"/>
                        </a:rPr>
                        <a:t>87.7</a:t>
                      </a:r>
                    </a:p>
                  </a:txBody>
                  <a:tcPr marL="54864" marR="54864" marT="27432" marB="27432">
                    <a:solidFill>
                      <a:srgbClr val="FFFFFF"/>
                    </a:solidFill>
                  </a:tcPr>
                </a:tc>
                <a:tc>
                  <a:txBody>
                    <a:bodyPr wrap="square"/>
                    <a:lstStyle/>
                    <a:p>
                      <a:pPr algn="r"/>
                      <a:r>
                        <a:rPr sz="1100" b="0">
                          <a:solidFill>
                            <a:srgbClr val="14324A"/>
                          </a:solidFill>
                          <a:latin typeface="Courier New"/>
                        </a:rPr>
                        <a:t>78.5</a:t>
                      </a:r>
                    </a:p>
                  </a:txBody>
                  <a:tcPr marL="54864" marR="54864" marT="27432" marB="27432">
                    <a:solidFill>
                      <a:srgbClr val="FFFFFF"/>
                    </a:solidFill>
                  </a:tcPr>
                </a:tc>
                <a:tc>
                  <a:txBody>
                    <a:bodyPr wrap="square"/>
                    <a:lstStyle/>
                    <a:p>
                      <a:pPr algn="r"/>
                      <a:r>
                        <a:rPr sz="1100" b="0">
                          <a:solidFill>
                            <a:srgbClr val="14324A"/>
                          </a:solidFill>
                          <a:latin typeface="Courier New"/>
                        </a:rPr>
                        <a:t>9.2</a:t>
                      </a:r>
                    </a:p>
                  </a:txBody>
                  <a:tcPr marL="54864" marR="54864" marT="27432" marB="27432">
                    <a:solidFill>
                      <a:srgbClr val="FFFFFF"/>
                    </a:solidFill>
                  </a:tcPr>
                </a:tc>
                <a:tc>
                  <a:txBody>
                    <a:bodyPr wrap="square"/>
                    <a:lstStyle/>
                    <a:p>
                      <a:pPr algn="r"/>
                      <a:r>
                        <a:rPr sz="1100" b="0">
                          <a:solidFill>
                            <a:srgbClr val="14324A"/>
                          </a:solidFill>
                          <a:latin typeface="Courier New"/>
                        </a:rPr>
                        <a:t>78.7%</a:t>
                      </a:r>
                    </a:p>
                  </a:txBody>
                  <a:tcPr marL="54864" marR="54864" marT="27432" marB="27432">
                    <a:solidFill>
                      <a:srgbClr val="FFFFFF"/>
                    </a:solidFill>
                  </a:tcPr>
                </a:tc>
              </a:tr>
              <a:tr h="335280">
                <a:tc>
                  <a:txBody>
                    <a:bodyPr wrap="square"/>
                    <a:lstStyle/>
                    <a:p>
                      <a:pPr algn="l"/>
                      <a:r>
                        <a:rPr sz="1100" b="0">
                          <a:solidFill>
                            <a:srgbClr val="14324A"/>
                          </a:solidFill>
                          <a:latin typeface="Calibri"/>
                        </a:rPr>
                        <a:t>Kikamba (Kamba)</a:t>
                      </a:r>
                    </a:p>
                  </a:txBody>
                  <a:tcPr marL="54864" marR="54864" marT="27432" marB="27432">
                    <a:solidFill>
                      <a:srgbClr val="FFFFFF"/>
                    </a:solidFill>
                  </a:tcPr>
                </a:tc>
                <a:tc>
                  <a:txBody>
                    <a:bodyPr wrap="square"/>
                    <a:lstStyle/>
                    <a:p>
                      <a:pPr algn="l"/>
                      <a:r>
                        <a:rPr sz="1100" b="0">
                          <a:solidFill>
                            <a:srgbClr val="14324A"/>
                          </a:solidFill>
                          <a:latin typeface="Calibri"/>
                        </a:rPr>
                        <a:t>1166</a:t>
                      </a:r>
                    </a:p>
                  </a:txBody>
                  <a:tcPr marL="54864" marR="54864" marT="27432" marB="27432">
                    <a:solidFill>
                      <a:srgbClr val="FFFFFF"/>
                    </a:solidFill>
                  </a:tcPr>
                </a:tc>
                <a:tc>
                  <a:txBody>
                    <a:bodyPr wrap="square"/>
                    <a:lstStyle/>
                    <a:p>
                      <a:pPr algn="r"/>
                      <a:r>
                        <a:rPr sz="1100" b="0">
                          <a:solidFill>
                            <a:srgbClr val="14324A"/>
                          </a:solidFill>
                          <a:latin typeface="Courier New"/>
                        </a:rPr>
                        <a:t>85.4</a:t>
                      </a:r>
                    </a:p>
                  </a:txBody>
                  <a:tcPr marL="54864" marR="54864" marT="27432" marB="27432">
                    <a:solidFill>
                      <a:srgbClr val="FFFFFF"/>
                    </a:solidFill>
                  </a:tcPr>
                </a:tc>
                <a:tc>
                  <a:txBody>
                    <a:bodyPr wrap="square"/>
                    <a:lstStyle/>
                    <a:p>
                      <a:pPr algn="r"/>
                      <a:r>
                        <a:rPr sz="1100" b="0">
                          <a:solidFill>
                            <a:srgbClr val="14324A"/>
                          </a:solidFill>
                          <a:latin typeface="Courier New"/>
                        </a:rPr>
                        <a:t>67.8</a:t>
                      </a:r>
                    </a:p>
                  </a:txBody>
                  <a:tcPr marL="54864" marR="54864" marT="27432" marB="27432">
                    <a:solidFill>
                      <a:srgbClr val="FFFFFF"/>
                    </a:solidFill>
                  </a:tcPr>
                </a:tc>
                <a:tc>
                  <a:txBody>
                    <a:bodyPr wrap="square"/>
                    <a:lstStyle/>
                    <a:p>
                      <a:pPr algn="r"/>
                      <a:r>
                        <a:rPr sz="1100" b="0">
                          <a:solidFill>
                            <a:srgbClr val="14324A"/>
                          </a:solidFill>
                          <a:latin typeface="Courier New"/>
                        </a:rPr>
                        <a:t>17.6</a:t>
                      </a:r>
                    </a:p>
                  </a:txBody>
                  <a:tcPr marL="54864" marR="54864" marT="27432" marB="27432">
                    <a:solidFill>
                      <a:srgbClr val="FFFFFF"/>
                    </a:solidFill>
                  </a:tcPr>
                </a:tc>
                <a:tc>
                  <a:txBody>
                    <a:bodyPr wrap="square"/>
                    <a:lstStyle/>
                    <a:p>
                      <a:pPr algn="r"/>
                      <a:r>
                        <a:rPr sz="1100" b="0">
                          <a:solidFill>
                            <a:srgbClr val="14324A"/>
                          </a:solidFill>
                          <a:latin typeface="Courier New"/>
                        </a:rPr>
                        <a:t>70.9%</a:t>
                      </a:r>
                    </a:p>
                  </a:txBody>
                  <a:tcPr marL="54864" marR="54864" marT="27432" marB="27432">
                    <a:solidFill>
                      <a:srgbClr val="FFFFFF"/>
                    </a:solidFill>
                  </a:tcPr>
                </a:tc>
              </a:tr>
              <a:tr h="335280">
                <a:tc>
                  <a:txBody>
                    <a:bodyPr wrap="square"/>
                    <a:lstStyle/>
                    <a:p>
                      <a:pPr algn="l"/>
                      <a:r>
                        <a:rPr sz="1100" b="0">
                          <a:solidFill>
                            <a:srgbClr val="14324A"/>
                          </a:solidFill>
                          <a:latin typeface="Calibri"/>
                        </a:rPr>
                        <a:t>Gikuyu (Kikuyu)</a:t>
                      </a:r>
                    </a:p>
                  </a:txBody>
                  <a:tcPr marL="54864" marR="54864" marT="27432" marB="27432">
                    <a:solidFill>
                      <a:srgbClr val="FFFFFF"/>
                    </a:solidFill>
                  </a:tcPr>
                </a:tc>
                <a:tc>
                  <a:txBody>
                    <a:bodyPr wrap="square"/>
                    <a:lstStyle/>
                    <a:p>
                      <a:pPr algn="l"/>
                      <a:r>
                        <a:rPr sz="1100" b="0">
                          <a:solidFill>
                            <a:srgbClr val="14324A"/>
                          </a:solidFill>
                          <a:latin typeface="Calibri"/>
                        </a:rPr>
                        <a:t>584</a:t>
                      </a:r>
                    </a:p>
                  </a:txBody>
                  <a:tcPr marL="54864" marR="54864" marT="27432" marB="27432">
                    <a:solidFill>
                      <a:srgbClr val="FFFFFF"/>
                    </a:solidFill>
                  </a:tcPr>
                </a:tc>
                <a:tc>
                  <a:txBody>
                    <a:bodyPr wrap="square"/>
                    <a:lstStyle/>
                    <a:p>
                      <a:pPr algn="r"/>
                      <a:r>
                        <a:rPr sz="1100" b="0">
                          <a:solidFill>
                            <a:srgbClr val="14324A"/>
                          </a:solidFill>
                          <a:latin typeface="Courier New"/>
                        </a:rPr>
                        <a:t>82.1</a:t>
                      </a:r>
                    </a:p>
                  </a:txBody>
                  <a:tcPr marL="54864" marR="54864" marT="27432" marB="27432">
                    <a:solidFill>
                      <a:srgbClr val="FFFFFF"/>
                    </a:solidFill>
                  </a:tcPr>
                </a:tc>
                <a:tc>
                  <a:txBody>
                    <a:bodyPr wrap="square"/>
                    <a:lstStyle/>
                    <a:p>
                      <a:pPr algn="r"/>
                      <a:r>
                        <a:rPr sz="1100" b="0">
                          <a:solidFill>
                            <a:srgbClr val="14324A"/>
                          </a:solidFill>
                          <a:latin typeface="Courier New"/>
                        </a:rPr>
                        <a:t>65.9</a:t>
                      </a:r>
                    </a:p>
                  </a:txBody>
                  <a:tcPr marL="54864" marR="54864" marT="27432" marB="27432">
                    <a:solidFill>
                      <a:srgbClr val="FFFFFF"/>
                    </a:solidFill>
                  </a:tcPr>
                </a:tc>
                <a:tc>
                  <a:txBody>
                    <a:bodyPr wrap="square"/>
                    <a:lstStyle/>
                    <a:p>
                      <a:pPr algn="r"/>
                      <a:r>
                        <a:rPr sz="1100" b="0">
                          <a:solidFill>
                            <a:srgbClr val="14324A"/>
                          </a:solidFill>
                          <a:latin typeface="Courier New"/>
                        </a:rPr>
                        <a:t>16.2</a:t>
                      </a:r>
                    </a:p>
                  </a:txBody>
                  <a:tcPr marL="54864" marR="54864" marT="27432" marB="27432">
                    <a:solidFill>
                      <a:srgbClr val="FFFFFF"/>
                    </a:solidFill>
                  </a:tcPr>
                </a:tc>
                <a:tc>
                  <a:txBody>
                    <a:bodyPr wrap="square"/>
                    <a:lstStyle/>
                    <a:p>
                      <a:pPr algn="r"/>
                      <a:r>
                        <a:rPr sz="1100" b="0">
                          <a:solidFill>
                            <a:srgbClr val="14324A"/>
                          </a:solidFill>
                          <a:latin typeface="Courier New"/>
                        </a:rPr>
                        <a:t>79.8%</a:t>
                      </a:r>
                    </a:p>
                  </a:txBody>
                  <a:tcPr marL="54864" marR="54864" marT="27432" marB="27432">
                    <a:solidFill>
                      <a:srgbClr val="FFFFFF"/>
                    </a:solidFill>
                  </a:tcPr>
                </a:tc>
              </a:tr>
              <a:tr h="335280">
                <a:tc>
                  <a:txBody>
                    <a:bodyPr wrap="square"/>
                    <a:lstStyle/>
                    <a:p>
                      <a:pPr algn="l"/>
                      <a:r>
                        <a:rPr sz="1100" b="0">
                          <a:solidFill>
                            <a:srgbClr val="14324A"/>
                          </a:solidFill>
                          <a:latin typeface="Calibri"/>
                        </a:rPr>
                        <a:t>Dholuo (Luo)</a:t>
                      </a:r>
                    </a:p>
                  </a:txBody>
                  <a:tcPr marL="54864" marR="54864" marT="27432" marB="27432">
                    <a:solidFill>
                      <a:srgbClr val="FFFFFF"/>
                    </a:solidFill>
                  </a:tcPr>
                </a:tc>
                <a:tc>
                  <a:txBody>
                    <a:bodyPr wrap="square"/>
                    <a:lstStyle/>
                    <a:p>
                      <a:pPr algn="l"/>
                      <a:r>
                        <a:rPr sz="1100" b="0">
                          <a:solidFill>
                            <a:srgbClr val="14324A"/>
                          </a:solidFill>
                          <a:latin typeface="Calibri"/>
                        </a:rPr>
                        <a:t>558</a:t>
                      </a:r>
                    </a:p>
                  </a:txBody>
                  <a:tcPr marL="54864" marR="54864" marT="27432" marB="27432">
                    <a:solidFill>
                      <a:srgbClr val="FFFFFF"/>
                    </a:solidFill>
                  </a:tcPr>
                </a:tc>
                <a:tc>
                  <a:txBody>
                    <a:bodyPr wrap="square"/>
                    <a:lstStyle/>
                    <a:p>
                      <a:pPr algn="r"/>
                      <a:r>
                        <a:rPr sz="1100" b="0">
                          <a:solidFill>
                            <a:srgbClr val="14324A"/>
                          </a:solidFill>
                          <a:latin typeface="Courier New"/>
                        </a:rPr>
                        <a:t>82.1</a:t>
                      </a:r>
                    </a:p>
                  </a:txBody>
                  <a:tcPr marL="54864" marR="54864" marT="27432" marB="27432">
                    <a:solidFill>
                      <a:srgbClr val="FFFFFF"/>
                    </a:solidFill>
                  </a:tcPr>
                </a:tc>
                <a:tc>
                  <a:txBody>
                    <a:bodyPr wrap="square"/>
                    <a:lstStyle/>
                    <a:p>
                      <a:pPr algn="r"/>
                      <a:r>
                        <a:rPr sz="1100" b="0">
                          <a:solidFill>
                            <a:srgbClr val="14324A"/>
                          </a:solidFill>
                          <a:latin typeface="Courier New"/>
                        </a:rPr>
                        <a:t>51.7</a:t>
                      </a:r>
                    </a:p>
                  </a:txBody>
                  <a:tcPr marL="54864" marR="54864" marT="27432" marB="27432">
                    <a:solidFill>
                      <a:srgbClr val="FFFFFF"/>
                    </a:solidFill>
                  </a:tcPr>
                </a:tc>
                <a:tc>
                  <a:txBody>
                    <a:bodyPr wrap="square"/>
                    <a:lstStyle/>
                    <a:p>
                      <a:pPr algn="r"/>
                      <a:r>
                        <a:rPr sz="1100" b="0">
                          <a:solidFill>
                            <a:srgbClr val="14324A"/>
                          </a:solidFill>
                          <a:latin typeface="Courier New"/>
                        </a:rPr>
                        <a:t>30.4</a:t>
                      </a:r>
                    </a:p>
                  </a:txBody>
                  <a:tcPr marL="54864" marR="54864" marT="27432" marB="27432">
                    <a:solidFill>
                      <a:srgbClr val="FFFFFF"/>
                    </a:solidFill>
                  </a:tcPr>
                </a:tc>
                <a:tc>
                  <a:txBody>
                    <a:bodyPr wrap="square"/>
                    <a:lstStyle/>
                    <a:p>
                      <a:pPr algn="r"/>
                      <a:r>
                        <a:rPr sz="1100" b="0">
                          <a:solidFill>
                            <a:srgbClr val="14324A"/>
                          </a:solidFill>
                          <a:latin typeface="Courier New"/>
                        </a:rPr>
                        <a:t>89.5%</a:t>
                      </a:r>
                    </a:p>
                  </a:txBody>
                  <a:tcPr marL="54864" marR="54864" marT="27432" marB="27432">
                    <a:solidFill>
                      <a:srgbClr val="FFFFFF"/>
                    </a:solidFill>
                  </a:tcPr>
                </a:tc>
              </a:tr>
              <a:tr h="335280">
                <a:tc>
                  <a:txBody>
                    <a:bodyPr wrap="square"/>
                    <a:lstStyle/>
                    <a:p>
                      <a:pPr algn="l"/>
                      <a:r>
                        <a:rPr sz="1100" b="0">
                          <a:solidFill>
                            <a:srgbClr val="14324A"/>
                          </a:solidFill>
                          <a:latin typeface="Calibri"/>
                        </a:rPr>
                        <a:t>Wanga (Luhya)</a:t>
                      </a:r>
                    </a:p>
                  </a:txBody>
                  <a:tcPr marL="54864" marR="54864" marT="27432" marB="27432">
                    <a:solidFill>
                      <a:srgbClr val="FFFFFF"/>
                    </a:solidFill>
                  </a:tcPr>
                </a:tc>
                <a:tc>
                  <a:txBody>
                    <a:bodyPr wrap="square"/>
                    <a:lstStyle/>
                    <a:p>
                      <a:pPr algn="l"/>
                      <a:r>
                        <a:rPr sz="1100" b="0">
                          <a:solidFill>
                            <a:srgbClr val="14324A"/>
                          </a:solidFill>
                          <a:latin typeface="Calibri"/>
                        </a:rPr>
                        <a:t>60</a:t>
                      </a:r>
                    </a:p>
                  </a:txBody>
                  <a:tcPr marL="54864" marR="54864" marT="27432" marB="27432">
                    <a:solidFill>
                      <a:srgbClr val="FFFFFF"/>
                    </a:solidFill>
                  </a:tcPr>
                </a:tc>
                <a:tc>
                  <a:txBody>
                    <a:bodyPr wrap="square"/>
                    <a:lstStyle/>
                    <a:p>
                      <a:pPr algn="r"/>
                      <a:r>
                        <a:rPr sz="1100" b="0">
                          <a:solidFill>
                            <a:srgbClr val="14324A"/>
                          </a:solidFill>
                          <a:latin typeface="Courier New"/>
                        </a:rPr>
                        <a:t>9.2</a:t>
                      </a:r>
                    </a:p>
                  </a:txBody>
                  <a:tcPr marL="54864" marR="54864" marT="27432" marB="27432">
                    <a:solidFill>
                      <a:srgbClr val="FFFFFF"/>
                    </a:solidFill>
                  </a:tcPr>
                </a:tc>
                <a:tc>
                  <a:txBody>
                    <a:bodyPr wrap="square"/>
                    <a:lstStyle/>
                    <a:p>
                      <a:pPr algn="r"/>
                      <a:r>
                        <a:rPr sz="1100" b="0">
                          <a:solidFill>
                            <a:srgbClr val="14324A"/>
                          </a:solidFill>
                          <a:latin typeface="Courier New"/>
                        </a:rPr>
                        <a:t>6.8</a:t>
                      </a:r>
                    </a:p>
                  </a:txBody>
                  <a:tcPr marL="54864" marR="54864" marT="27432" marB="27432">
                    <a:solidFill>
                      <a:srgbClr val="FFFFFF"/>
                    </a:solidFill>
                  </a:tcPr>
                </a:tc>
                <a:tc>
                  <a:txBody>
                    <a:bodyPr wrap="square"/>
                    <a:lstStyle/>
                    <a:p>
                      <a:pPr algn="r"/>
                      <a:r>
                        <a:rPr sz="1100" b="0">
                          <a:solidFill>
                            <a:srgbClr val="14324A"/>
                          </a:solidFill>
                          <a:latin typeface="Courier New"/>
                        </a:rPr>
                        <a:t>2.3</a:t>
                      </a:r>
                    </a:p>
                  </a:txBody>
                  <a:tcPr marL="54864" marR="54864" marT="27432" marB="27432">
                    <a:solidFill>
                      <a:srgbClr val="FFFFFF"/>
                    </a:solidFill>
                  </a:tcPr>
                </a:tc>
                <a:tc>
                  <a:txBody>
                    <a:bodyPr wrap="square"/>
                    <a:lstStyle/>
                    <a:p>
                      <a:pPr algn="r"/>
                      <a:r>
                        <a:rPr sz="1100" b="0">
                          <a:solidFill>
                            <a:srgbClr val="14324A"/>
                          </a:solidFill>
                          <a:latin typeface="Courier New"/>
                        </a:rPr>
                        <a:t>88.7%</a:t>
                      </a:r>
                    </a:p>
                  </a:txBody>
                  <a:tcPr marL="54864" marR="54864" marT="27432" marB="27432">
                    <a:solidFill>
                      <a:srgbClr val="FFFFFF"/>
                    </a:solidFill>
                  </a:tcPr>
                </a:tc>
              </a:tr>
              <a:tr h="335280">
                <a:tc>
                  <a:txBody>
                    <a:bodyPr wrap="square"/>
                    <a:lstStyle/>
                    <a:p>
                      <a:pPr algn="l"/>
                      <a:r>
                        <a:rPr sz="1100" b="0">
                          <a:solidFill>
                            <a:srgbClr val="14324A"/>
                          </a:solidFill>
                          <a:latin typeface="Calibri"/>
                        </a:rPr>
                        <a:t>Bukusu (Luhya)</a:t>
                      </a:r>
                    </a:p>
                  </a:txBody>
                  <a:tcPr marL="54864" marR="54864" marT="27432" marB="27432">
                    <a:solidFill>
                      <a:srgbClr val="FFFFFF"/>
                    </a:solidFill>
                  </a:tcPr>
                </a:tc>
                <a:tc>
                  <a:txBody>
                    <a:bodyPr wrap="square"/>
                    <a:lstStyle/>
                    <a:p>
                      <a:pPr algn="l"/>
                      <a:r>
                        <a:rPr sz="1100" b="0">
                          <a:solidFill>
                            <a:srgbClr val="14324A"/>
                          </a:solidFill>
                          <a:latin typeface="Calibri"/>
                        </a:rPr>
                        <a:t>14</a:t>
                      </a:r>
                    </a:p>
                  </a:txBody>
                  <a:tcPr marL="54864" marR="54864" marT="27432" marB="27432">
                    <a:solidFill>
                      <a:srgbClr val="FFFFFF"/>
                    </a:solidFill>
                  </a:tcPr>
                </a:tc>
                <a:tc>
                  <a:txBody>
                    <a:bodyPr wrap="square"/>
                    <a:lstStyle/>
                    <a:p>
                      <a:pPr algn="r"/>
                      <a:r>
                        <a:rPr sz="1100" b="0">
                          <a:solidFill>
                            <a:srgbClr val="14324A"/>
                          </a:solidFill>
                          <a:latin typeface="Courier New"/>
                        </a:rPr>
                        <a:t>1.1</a:t>
                      </a:r>
                    </a:p>
                  </a:txBody>
                  <a:tcPr marL="54864" marR="54864" marT="27432" marB="27432">
                    <a:solidFill>
                      <a:srgbClr val="FFFFFF"/>
                    </a:solidFill>
                  </a:tcPr>
                </a:tc>
                <a:tc>
                  <a:txBody>
                    <a:bodyPr wrap="square"/>
                    <a:lstStyle/>
                    <a:p>
                      <a:pPr algn="r"/>
                      <a:r>
                        <a:rPr sz="1100" b="0">
                          <a:solidFill>
                            <a:srgbClr val="14324A"/>
                          </a:solidFill>
                          <a:latin typeface="Courier New"/>
                        </a:rPr>
                        <a:t>0.7</a:t>
                      </a:r>
                    </a:p>
                  </a:txBody>
                  <a:tcPr marL="54864" marR="54864" marT="27432" marB="27432">
                    <a:solidFill>
                      <a:srgbClr val="FFFFFF"/>
                    </a:solidFill>
                  </a:tcPr>
                </a:tc>
                <a:tc>
                  <a:txBody>
                    <a:bodyPr wrap="square"/>
                    <a:lstStyle/>
                    <a:p>
                      <a:pPr algn="r"/>
                      <a:r>
                        <a:rPr sz="1100" b="0">
                          <a:solidFill>
                            <a:srgbClr val="14324A"/>
                          </a:solidFill>
                          <a:latin typeface="Courier New"/>
                        </a:rPr>
                        <a:t>0.3</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Hours are recorded duration; speech and music hours split those hours by the music detector; agreement is the share of labelled windows whose language matched the folder name.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Audio quality signals by language folder</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467063"/>
                <a:gridCol w="1283680"/>
                <a:gridCol w="1375371"/>
                <a:gridCol w="1833829"/>
                <a:gridCol w="1833829"/>
                <a:gridCol w="1833829"/>
                <a:gridCol w="1375371"/>
              </a:tblGrid>
              <a:tr h="335280">
                <a:tc>
                  <a:txBody>
                    <a:bodyPr wrap="square"/>
                    <a:lstStyle/>
                    <a:p>
                      <a:pPr algn="l"/>
                      <a:r>
                        <a:rPr sz="1100" b="1">
                          <a:solidFill>
                            <a:srgbClr val="14324A"/>
                          </a:solidFill>
                          <a:latin typeface="Calibri"/>
                        </a:rPr>
                        <a:t>Language</a:t>
                      </a:r>
                    </a:p>
                  </a:txBody>
                  <a:tcPr marL="54864" marR="54864" marT="27432" marB="27432">
                    <a:solidFill>
                      <a:srgbClr val="E8EEF3"/>
                    </a:solidFill>
                  </a:tcPr>
                </a:tc>
                <a:tc>
                  <a:txBody>
                    <a:bodyPr wrap="square"/>
                    <a:lstStyle/>
                    <a:p>
                      <a:pPr algn="l"/>
                      <a:r>
                        <a:rPr sz="1100" b="1">
                          <a:solidFill>
                            <a:srgbClr val="14324A"/>
                          </a:solidFill>
                          <a:latin typeface="Calibri"/>
                        </a:rPr>
                        <a:t>Files</a:t>
                      </a:r>
                    </a:p>
                  </a:txBody>
                  <a:tcPr marL="54864" marR="54864" marT="27432" marB="27432">
                    <a:solidFill>
                      <a:srgbClr val="E8EEF3"/>
                    </a:solidFill>
                  </a:tcPr>
                </a:tc>
                <a:tc>
                  <a:txBody>
                    <a:bodyPr wrap="square"/>
                    <a:lstStyle/>
                    <a:p>
                      <a:pPr algn="l"/>
                      <a:r>
                        <a:rPr sz="1100" b="1">
                          <a:solidFill>
                            <a:srgbClr val="14324A"/>
                          </a:solidFill>
                          <a:latin typeface="Calibri"/>
                        </a:rPr>
                        <a:t>Decode failures</a:t>
                      </a:r>
                    </a:p>
                  </a:txBody>
                  <a:tcPr marL="54864" marR="54864" marT="27432" marB="27432">
                    <a:solidFill>
                      <a:srgbClr val="E8EEF3"/>
                    </a:solidFill>
                  </a:tcPr>
                </a:tc>
                <a:tc>
                  <a:txBody>
                    <a:bodyPr wrap="square"/>
                    <a:lstStyle/>
                    <a:p>
                      <a:pPr algn="l"/>
                      <a:r>
                        <a:rPr sz="1100" b="1">
                          <a:solidFill>
                            <a:srgbClr val="14324A"/>
                          </a:solidFill>
                          <a:latin typeface="Calibri"/>
                        </a:rPr>
                        <a:t>Music-majority files</a:t>
                      </a:r>
                    </a:p>
                  </a:txBody>
                  <a:tcPr marL="54864" marR="54864" marT="27432" marB="27432">
                    <a:solidFill>
                      <a:srgbClr val="E8EEF3"/>
                    </a:solidFill>
                  </a:tcPr>
                </a:tc>
                <a:tc>
                  <a:txBody>
                    <a:bodyPr wrap="square"/>
                    <a:lstStyle/>
                    <a:p>
                      <a:pPr algn="l"/>
                      <a:r>
                        <a:rPr sz="1100" b="1">
                          <a:solidFill>
                            <a:srgbClr val="14324A"/>
                          </a:solidFill>
                          <a:latin typeface="Calibri"/>
                        </a:rPr>
                        <a:t>Mixed-language files</a:t>
                      </a:r>
                    </a:p>
                  </a:txBody>
                  <a:tcPr marL="54864" marR="54864" marT="27432" marB="27432">
                    <a:solidFill>
                      <a:srgbClr val="E8EEF3"/>
                    </a:solidFill>
                  </a:tcPr>
                </a:tc>
                <a:tc>
                  <a:txBody>
                    <a:bodyPr wrap="square"/>
                    <a:lstStyle/>
                    <a:p>
                      <a:pPr algn="l"/>
                      <a:r>
                        <a:rPr sz="1100" b="1">
                          <a:solidFill>
                            <a:srgbClr val="14324A"/>
                          </a:solidFill>
                          <a:latin typeface="Calibri"/>
                        </a:rPr>
                        <a:t>Low-confidence files</a:t>
                      </a:r>
                    </a:p>
                  </a:txBody>
                  <a:tcPr marL="54864" marR="54864" marT="27432" marB="27432">
                    <a:solidFill>
                      <a:srgbClr val="E8EEF3"/>
                    </a:solidFill>
                  </a:tcPr>
                </a:tc>
                <a:tc>
                  <a:txBody>
                    <a:bodyPr wrap="square"/>
                    <a:lstStyle/>
                    <a:p>
                      <a:pPr algn="l"/>
                      <a:r>
                        <a:rPr sz="1100" b="1">
                          <a:solidFill>
                            <a:srgbClr val="14324A"/>
                          </a:solidFill>
                          <a:latin typeface="Calibri"/>
                        </a:rPr>
                        <a:t>Mean confidence</a:t>
                      </a:r>
                    </a:p>
                  </a:txBody>
                  <a:tcPr marL="54864" marR="54864" marT="27432" marB="27432">
                    <a:solidFill>
                      <a:srgbClr val="E8EEF3"/>
                    </a:solidFill>
                  </a:tcPr>
                </a:tc>
              </a:tr>
              <a:tr h="335280">
                <a:tc>
                  <a:txBody>
                    <a:bodyPr wrap="square"/>
                    <a:lstStyle/>
                    <a:p>
                      <a:pPr algn="l"/>
                      <a:r>
                        <a:rPr sz="1100" b="0">
                          <a:solidFill>
                            <a:srgbClr val="14324A"/>
                          </a:solidFill>
                          <a:latin typeface="Calibri"/>
                        </a:rPr>
                        <a:t>Ekegusii (Kisii)</a:t>
                      </a:r>
                    </a:p>
                  </a:txBody>
                  <a:tcPr marL="54864" marR="54864" marT="27432" marB="27432">
                    <a:solidFill>
                      <a:srgbClr val="FFFFFF"/>
                    </a:solidFill>
                  </a:tcPr>
                </a:tc>
                <a:tc>
                  <a:txBody>
                    <a:bodyPr wrap="square"/>
                    <a:lstStyle/>
                    <a:p>
                      <a:pPr algn="r"/>
                      <a:r>
                        <a:rPr sz="1100" b="0">
                          <a:solidFill>
                            <a:srgbClr val="14324A"/>
                          </a:solidFill>
                          <a:latin typeface="Courier New"/>
                        </a:rPr>
                        <a:t>732</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46</a:t>
                      </a:r>
                    </a:p>
                  </a:txBody>
                  <a:tcPr marL="54864" marR="54864" marT="27432" marB="27432">
                    <a:solidFill>
                      <a:srgbClr val="FFFFFF"/>
                    </a:solidFill>
                  </a:tcPr>
                </a:tc>
                <a:tc>
                  <a:txBody>
                    <a:bodyPr wrap="square"/>
                    <a:lstStyle/>
                    <a:p>
                      <a:pPr algn="r"/>
                      <a:r>
                        <a:rPr sz="1100" b="0">
                          <a:solidFill>
                            <a:srgbClr val="14324A"/>
                          </a:solidFill>
                          <a:latin typeface="Courier New"/>
                        </a:rPr>
                        <a:t>29</a:t>
                      </a:r>
                    </a:p>
                  </a:txBody>
                  <a:tcPr marL="54864" marR="54864" marT="27432" marB="27432">
                    <a:solidFill>
                      <a:srgbClr val="FFFFFF"/>
                    </a:solidFill>
                  </a:tcPr>
                </a:tc>
                <a:tc>
                  <a:txBody>
                    <a:bodyPr wrap="square"/>
                    <a:lstStyle/>
                    <a:p>
                      <a:pPr algn="r"/>
                      <a:r>
                        <a:rPr sz="1100" b="0">
                          <a:solidFill>
                            <a:srgbClr val="14324A"/>
                          </a:solidFill>
                          <a:latin typeface="Courier New"/>
                        </a:rPr>
                        <a:t>1</a:t>
                      </a:r>
                    </a:p>
                  </a:txBody>
                  <a:tcPr marL="54864" marR="54864" marT="27432" marB="27432">
                    <a:solidFill>
                      <a:srgbClr val="FFFFFF"/>
                    </a:solidFill>
                  </a:tcPr>
                </a:tc>
                <a:tc>
                  <a:txBody>
                    <a:bodyPr wrap="square"/>
                    <a:lstStyle/>
                    <a:p>
                      <a:pPr algn="r"/>
                      <a:r>
                        <a:rPr sz="1100" b="0">
                          <a:solidFill>
                            <a:srgbClr val="14324A"/>
                          </a:solidFill>
                          <a:latin typeface="Courier New"/>
                        </a:rPr>
                        <a:t>0.905</a:t>
                      </a:r>
                    </a:p>
                  </a:txBody>
                  <a:tcPr marL="54864" marR="54864" marT="27432" marB="27432">
                    <a:solidFill>
                      <a:srgbClr val="FFFFFF"/>
                    </a:solidFill>
                  </a:tcPr>
                </a:tc>
              </a:tr>
              <a:tr h="335280">
                <a:tc>
                  <a:txBody>
                    <a:bodyPr wrap="square"/>
                    <a:lstStyle/>
                    <a:p>
                      <a:pPr algn="l"/>
                      <a:r>
                        <a:rPr sz="1100" b="0">
                          <a:solidFill>
                            <a:srgbClr val="14324A"/>
                          </a:solidFill>
                          <a:latin typeface="Calibri"/>
                        </a:rPr>
                        <a:t>Kalenjin</a:t>
                      </a:r>
                    </a:p>
                  </a:txBody>
                  <a:tcPr marL="54864" marR="54864" marT="27432" marB="27432">
                    <a:solidFill>
                      <a:srgbClr val="FFFFFF"/>
                    </a:solidFill>
                  </a:tcPr>
                </a:tc>
                <a:tc>
                  <a:txBody>
                    <a:bodyPr wrap="square"/>
                    <a:lstStyle/>
                    <a:p>
                      <a:pPr algn="r"/>
                      <a:r>
                        <a:rPr sz="1100" b="0">
                          <a:solidFill>
                            <a:srgbClr val="14324A"/>
                          </a:solidFill>
                          <a:latin typeface="Courier New"/>
                        </a:rPr>
                        <a:t>295</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18</a:t>
                      </a:r>
                    </a:p>
                  </a:txBody>
                  <a:tcPr marL="54864" marR="54864" marT="27432" marB="27432">
                    <a:solidFill>
                      <a:srgbClr val="FFFFFF"/>
                    </a:solidFill>
                  </a:tcPr>
                </a:tc>
                <a:tc>
                  <a:txBody>
                    <a:bodyPr wrap="square"/>
                    <a:lstStyle/>
                    <a:p>
                      <a:pPr algn="r"/>
                      <a:r>
                        <a:rPr sz="1100" b="0">
                          <a:solidFill>
                            <a:srgbClr val="14324A"/>
                          </a:solidFill>
                          <a:latin typeface="Courier New"/>
                        </a:rPr>
                        <a:t>5</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0.912</a:t>
                      </a:r>
                    </a:p>
                  </a:txBody>
                  <a:tcPr marL="54864" marR="54864" marT="27432" marB="27432">
                    <a:solidFill>
                      <a:srgbClr val="FFFFFF"/>
                    </a:solidFill>
                  </a:tcPr>
                </a:tc>
              </a:tr>
              <a:tr h="335280">
                <a:tc>
                  <a:txBody>
                    <a:bodyPr wrap="square"/>
                    <a:lstStyle/>
                    <a:p>
                      <a:pPr algn="l"/>
                      <a:r>
                        <a:rPr sz="1100" b="0">
                          <a:solidFill>
                            <a:srgbClr val="14324A"/>
                          </a:solidFill>
                          <a:latin typeface="Calibri"/>
                        </a:rPr>
                        <a:t>Kiswahili</a:t>
                      </a:r>
                    </a:p>
                  </a:txBody>
                  <a:tcPr marL="54864" marR="54864" marT="27432" marB="27432">
                    <a:solidFill>
                      <a:srgbClr val="FFFFFF"/>
                    </a:solidFill>
                  </a:tcPr>
                </a:tc>
                <a:tc>
                  <a:txBody>
                    <a:bodyPr wrap="square"/>
                    <a:lstStyle/>
                    <a:p>
                      <a:pPr algn="r"/>
                      <a:r>
                        <a:rPr sz="1100" b="0">
                          <a:solidFill>
                            <a:srgbClr val="14324A"/>
                          </a:solidFill>
                          <a:latin typeface="Courier New"/>
                        </a:rPr>
                        <a:t>549</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26</a:t>
                      </a:r>
                    </a:p>
                  </a:txBody>
                  <a:tcPr marL="54864" marR="54864" marT="27432" marB="27432">
                    <a:solidFill>
                      <a:srgbClr val="FFFFFF"/>
                    </a:solidFill>
                  </a:tcPr>
                </a:tc>
                <a:tc>
                  <a:txBody>
                    <a:bodyPr wrap="square"/>
                    <a:lstStyle/>
                    <a:p>
                      <a:pPr algn="r"/>
                      <a:r>
                        <a:rPr sz="1100" b="0">
                          <a:solidFill>
                            <a:srgbClr val="14324A"/>
                          </a:solidFill>
                          <a:latin typeface="Courier New"/>
                        </a:rPr>
                        <a:t>44</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0.875</a:t>
                      </a:r>
                    </a:p>
                  </a:txBody>
                  <a:tcPr marL="54864" marR="54864" marT="27432" marB="27432">
                    <a:solidFill>
                      <a:srgbClr val="FFFFFF"/>
                    </a:solidFill>
                  </a:tcPr>
                </a:tc>
              </a:tr>
              <a:tr h="335280">
                <a:tc>
                  <a:txBody>
                    <a:bodyPr wrap="square"/>
                    <a:lstStyle/>
                    <a:p>
                      <a:pPr algn="l"/>
                      <a:r>
                        <a:rPr sz="1100" b="0">
                          <a:solidFill>
                            <a:srgbClr val="14324A"/>
                          </a:solidFill>
                          <a:latin typeface="Calibri"/>
                        </a:rPr>
                        <a:t>Kikamba (Kamba)</a:t>
                      </a:r>
                    </a:p>
                  </a:txBody>
                  <a:tcPr marL="54864" marR="54864" marT="27432" marB="27432">
                    <a:solidFill>
                      <a:srgbClr val="FFFFFF"/>
                    </a:solidFill>
                  </a:tcPr>
                </a:tc>
                <a:tc>
                  <a:txBody>
                    <a:bodyPr wrap="square"/>
                    <a:lstStyle/>
                    <a:p>
                      <a:pPr algn="r"/>
                      <a:r>
                        <a:rPr sz="1100" b="0">
                          <a:solidFill>
                            <a:srgbClr val="14324A"/>
                          </a:solidFill>
                          <a:latin typeface="Courier New"/>
                        </a:rPr>
                        <a:t>1166</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192</a:t>
                      </a:r>
                    </a:p>
                  </a:txBody>
                  <a:tcPr marL="54864" marR="54864" marT="27432" marB="27432">
                    <a:solidFill>
                      <a:srgbClr val="FFFFFF"/>
                    </a:solidFill>
                  </a:tcPr>
                </a:tc>
                <a:tc>
                  <a:txBody>
                    <a:bodyPr wrap="square"/>
                    <a:lstStyle/>
                    <a:p>
                      <a:pPr algn="r"/>
                      <a:r>
                        <a:rPr sz="1100" b="0">
                          <a:solidFill>
                            <a:srgbClr val="14324A"/>
                          </a:solidFill>
                          <a:latin typeface="Courier New"/>
                        </a:rPr>
                        <a:t>232</a:t>
                      </a:r>
                    </a:p>
                  </a:txBody>
                  <a:tcPr marL="54864" marR="54864" marT="27432" marB="27432">
                    <a:solidFill>
                      <a:srgbClr val="FFFFFF"/>
                    </a:solidFill>
                  </a:tcPr>
                </a:tc>
                <a:tc>
                  <a:txBody>
                    <a:bodyPr wrap="square"/>
                    <a:lstStyle/>
                    <a:p>
                      <a:pPr algn="r"/>
                      <a:r>
                        <a:rPr sz="1100" b="0">
                          <a:solidFill>
                            <a:srgbClr val="14324A"/>
                          </a:solidFill>
                          <a:latin typeface="Courier New"/>
                        </a:rPr>
                        <a:t>12</a:t>
                      </a:r>
                    </a:p>
                  </a:txBody>
                  <a:tcPr marL="54864" marR="54864" marT="27432" marB="27432">
                    <a:solidFill>
                      <a:srgbClr val="FFFFFF"/>
                    </a:solidFill>
                  </a:tcPr>
                </a:tc>
                <a:tc>
                  <a:txBody>
                    <a:bodyPr wrap="square"/>
                    <a:lstStyle/>
                    <a:p>
                      <a:pPr algn="r"/>
                      <a:r>
                        <a:rPr sz="1100" b="0">
                          <a:solidFill>
                            <a:srgbClr val="14324A"/>
                          </a:solidFill>
                          <a:latin typeface="Courier New"/>
                        </a:rPr>
                        <a:t>0.870</a:t>
                      </a:r>
                    </a:p>
                  </a:txBody>
                  <a:tcPr marL="54864" marR="54864" marT="27432" marB="27432">
                    <a:solidFill>
                      <a:srgbClr val="FFFFFF"/>
                    </a:solidFill>
                  </a:tcPr>
                </a:tc>
              </a:tr>
              <a:tr h="335280">
                <a:tc>
                  <a:txBody>
                    <a:bodyPr wrap="square"/>
                    <a:lstStyle/>
                    <a:p>
                      <a:pPr algn="l"/>
                      <a:r>
                        <a:rPr sz="1100" b="0">
                          <a:solidFill>
                            <a:srgbClr val="14324A"/>
                          </a:solidFill>
                          <a:latin typeface="Calibri"/>
                        </a:rPr>
                        <a:t>Gikuyu (Kikuyu)</a:t>
                      </a:r>
                    </a:p>
                  </a:txBody>
                  <a:tcPr marL="54864" marR="54864" marT="27432" marB="27432">
                    <a:solidFill>
                      <a:srgbClr val="FFFFFF"/>
                    </a:solidFill>
                  </a:tcPr>
                </a:tc>
                <a:tc>
                  <a:txBody>
                    <a:bodyPr wrap="square"/>
                    <a:lstStyle/>
                    <a:p>
                      <a:pPr algn="r"/>
                      <a:r>
                        <a:rPr sz="1100" b="0">
                          <a:solidFill>
                            <a:srgbClr val="14324A"/>
                          </a:solidFill>
                          <a:latin typeface="Courier New"/>
                        </a:rPr>
                        <a:t>584</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71</a:t>
                      </a:r>
                    </a:p>
                  </a:txBody>
                  <a:tcPr marL="54864" marR="54864" marT="27432" marB="27432">
                    <a:solidFill>
                      <a:srgbClr val="FFFFFF"/>
                    </a:solidFill>
                  </a:tcPr>
                </a:tc>
                <a:tc>
                  <a:txBody>
                    <a:bodyPr wrap="square"/>
                    <a:lstStyle/>
                    <a:p>
                      <a:pPr algn="r"/>
                      <a:r>
                        <a:rPr sz="1100" b="0">
                          <a:solidFill>
                            <a:srgbClr val="14324A"/>
                          </a:solidFill>
                          <a:latin typeface="Courier New"/>
                        </a:rPr>
                        <a:t>89</a:t>
                      </a:r>
                    </a:p>
                  </a:txBody>
                  <a:tcPr marL="54864" marR="54864" marT="27432" marB="27432">
                    <a:solidFill>
                      <a:srgbClr val="FFFFFF"/>
                    </a:solidFill>
                  </a:tcPr>
                </a:tc>
                <a:tc>
                  <a:txBody>
                    <a:bodyPr wrap="square"/>
                    <a:lstStyle/>
                    <a:p>
                      <a:pPr algn="r"/>
                      <a:r>
                        <a:rPr sz="1100" b="0">
                          <a:solidFill>
                            <a:srgbClr val="14324A"/>
                          </a:solidFill>
                          <a:latin typeface="Courier New"/>
                        </a:rPr>
                        <a:t>32</a:t>
                      </a:r>
                    </a:p>
                  </a:txBody>
                  <a:tcPr marL="54864" marR="54864" marT="27432" marB="27432">
                    <a:solidFill>
                      <a:srgbClr val="FFFFFF"/>
                    </a:solidFill>
                  </a:tcPr>
                </a:tc>
                <a:tc>
                  <a:txBody>
                    <a:bodyPr wrap="square"/>
                    <a:lstStyle/>
                    <a:p>
                      <a:pPr algn="r"/>
                      <a:r>
                        <a:rPr sz="1100" b="0">
                          <a:solidFill>
                            <a:srgbClr val="14324A"/>
                          </a:solidFill>
                          <a:latin typeface="Courier New"/>
                        </a:rPr>
                        <a:t>0.817</a:t>
                      </a:r>
                    </a:p>
                  </a:txBody>
                  <a:tcPr marL="54864" marR="54864" marT="27432" marB="27432">
                    <a:solidFill>
                      <a:srgbClr val="FFFFFF"/>
                    </a:solidFill>
                  </a:tcPr>
                </a:tc>
              </a:tr>
              <a:tr h="335280">
                <a:tc>
                  <a:txBody>
                    <a:bodyPr wrap="square"/>
                    <a:lstStyle/>
                    <a:p>
                      <a:pPr algn="l"/>
                      <a:r>
                        <a:rPr sz="1100" b="0">
                          <a:solidFill>
                            <a:srgbClr val="14324A"/>
                          </a:solidFill>
                          <a:latin typeface="Calibri"/>
                        </a:rPr>
                        <a:t>Dholuo (Luo)</a:t>
                      </a:r>
                    </a:p>
                  </a:txBody>
                  <a:tcPr marL="54864" marR="54864" marT="27432" marB="27432">
                    <a:solidFill>
                      <a:srgbClr val="FFFFFF"/>
                    </a:solidFill>
                  </a:tcPr>
                </a:tc>
                <a:tc>
                  <a:txBody>
                    <a:bodyPr wrap="square"/>
                    <a:lstStyle/>
                    <a:p>
                      <a:pPr algn="r"/>
                      <a:r>
                        <a:rPr sz="1100" b="0">
                          <a:solidFill>
                            <a:srgbClr val="14324A"/>
                          </a:solidFill>
                          <a:latin typeface="Courier New"/>
                        </a:rPr>
                        <a:t>558</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169</a:t>
                      </a:r>
                    </a:p>
                  </a:txBody>
                  <a:tcPr marL="54864" marR="54864" marT="27432" marB="27432">
                    <a:solidFill>
                      <a:srgbClr val="FFFFFF"/>
                    </a:solidFill>
                  </a:tcPr>
                </a:tc>
                <a:tc>
                  <a:txBody>
                    <a:bodyPr wrap="square"/>
                    <a:lstStyle/>
                    <a:p>
                      <a:pPr algn="r"/>
                      <a:r>
                        <a:rPr sz="1100" b="0">
                          <a:solidFill>
                            <a:srgbClr val="14324A"/>
                          </a:solidFill>
                          <a:latin typeface="Courier New"/>
                        </a:rPr>
                        <a:t>27</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0.939</a:t>
                      </a:r>
                    </a:p>
                  </a:txBody>
                  <a:tcPr marL="54864" marR="54864" marT="27432" marB="27432">
                    <a:solidFill>
                      <a:srgbClr val="FFFFFF"/>
                    </a:solidFill>
                  </a:tcPr>
                </a:tc>
              </a:tr>
              <a:tr h="335280">
                <a:tc>
                  <a:txBody>
                    <a:bodyPr wrap="square"/>
                    <a:lstStyle/>
                    <a:p>
                      <a:pPr algn="l"/>
                      <a:r>
                        <a:rPr sz="1100" b="0">
                          <a:solidFill>
                            <a:srgbClr val="14324A"/>
                          </a:solidFill>
                          <a:latin typeface="Calibri"/>
                        </a:rPr>
                        <a:t>Wanga (Luhya)</a:t>
                      </a:r>
                    </a:p>
                  </a:txBody>
                  <a:tcPr marL="54864" marR="54864" marT="27432" marB="27432">
                    <a:solidFill>
                      <a:srgbClr val="FFFFFF"/>
                    </a:solidFill>
                  </a:tcPr>
                </a:tc>
                <a:tc>
                  <a:txBody>
                    <a:bodyPr wrap="square"/>
                    <a:lstStyle/>
                    <a:p>
                      <a:pPr algn="r"/>
                      <a:r>
                        <a:rPr sz="1100" b="0">
                          <a:solidFill>
                            <a:srgbClr val="14324A"/>
                          </a:solidFill>
                          <a:latin typeface="Courier New"/>
                        </a:rPr>
                        <a:t>60</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13</a:t>
                      </a:r>
                    </a:p>
                  </a:txBody>
                  <a:tcPr marL="54864" marR="54864" marT="27432" marB="27432">
                    <a:solidFill>
                      <a:srgbClr val="FFFFFF"/>
                    </a:solidFill>
                  </a:tcPr>
                </a:tc>
                <a:tc>
                  <a:txBody>
                    <a:bodyPr wrap="square"/>
                    <a:lstStyle/>
                    <a:p>
                      <a:pPr algn="r"/>
                      <a:r>
                        <a:rPr sz="1100" b="0">
                          <a:solidFill>
                            <a:srgbClr val="14324A"/>
                          </a:solidFill>
                          <a:latin typeface="Courier New"/>
                        </a:rPr>
                        <a:t>3</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0.922</a:t>
                      </a:r>
                    </a:p>
                  </a:txBody>
                  <a:tcPr marL="54864" marR="54864" marT="27432" marB="27432">
                    <a:solidFill>
                      <a:srgbClr val="FFFFFF"/>
                    </a:solidFill>
                  </a:tcPr>
                </a:tc>
              </a:tr>
              <a:tr h="335280">
                <a:tc>
                  <a:txBody>
                    <a:bodyPr wrap="square"/>
                    <a:lstStyle/>
                    <a:p>
                      <a:pPr algn="l"/>
                      <a:r>
                        <a:rPr sz="1100" b="0">
                          <a:solidFill>
                            <a:srgbClr val="14324A"/>
                          </a:solidFill>
                          <a:latin typeface="Calibri"/>
                        </a:rPr>
                        <a:t>Bukusu (Luhya)</a:t>
                      </a:r>
                    </a:p>
                  </a:txBody>
                  <a:tcPr marL="54864" marR="54864" marT="27432" marB="27432">
                    <a:solidFill>
                      <a:srgbClr val="FFFFFF"/>
                    </a:solidFill>
                  </a:tcPr>
                </a:tc>
                <a:tc>
                  <a:txBody>
                    <a:bodyPr wrap="square"/>
                    <a:lstStyle/>
                    <a:p>
                      <a:pPr algn="r"/>
                      <a:r>
                        <a:rPr sz="1100" b="0">
                          <a:solidFill>
                            <a:srgbClr val="14324A"/>
                          </a:solidFill>
                          <a:latin typeface="Courier New"/>
                        </a:rPr>
                        <a:t>14</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4</a:t>
                      </a:r>
                    </a:p>
                  </a:txBody>
                  <a:tcPr marL="54864" marR="54864" marT="27432" marB="27432">
                    <a:solidFill>
                      <a:srgbClr val="FFFFFF"/>
                    </a:solidFill>
                  </a:tcPr>
                </a:tc>
                <a:tc>
                  <a:txBody>
                    <a:bodyPr wrap="square"/>
                    <a:lstStyle/>
                    <a:p>
                      <a:pPr algn="r"/>
                      <a:r>
                        <a:rPr sz="1100" b="0">
                          <a:solidFill>
                            <a:srgbClr val="14324A"/>
                          </a:solidFill>
                          <a:latin typeface="Courier New"/>
                        </a:rPr>
                        <a:t>11</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0.866</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Decode failures, digital silence, music-dominated files, mixed-language files (no language reaches sixty percent of labelled windows) and low-confidence files are the quality signals the reading can measure; noise and intelligibility were not scored.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06</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Written text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NEWS SCRIPTS BY STATION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News script holdings are uneven across stations, so coverage differs by language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Holdings total 248841 scripts from 13 stations; the language shown is the station's broadcast language, not a reading of each script.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BULLETIN-HOUR COVERAGE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Even on scripted days, no station averages a full day of bulletin hours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E8772E"/>
                </a:solidFill>
                <a:latin typeface="Calibri"/>
              </a:rPr>
              <a:t>Scripts exist on only 226 dates across 1432 days (15.8%), so coverage cannot be assumed continuous; the day-level tables show exactly which hours exist.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THREE SEPARATE TEXT INVENTORIES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News scripts, transcripts and the workbench are separate inventories, never added together</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News scripts: 248841 live scripts from 13 stations, on 226 dates across 1432 days (15.8%).</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38.0% of script rows are revisions; 159100 distinct texts remain (63.9%). Deduplicate before use.</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text model read 2245 transcripts; 99.4% of passages match the folder language; 1694 were not reached.</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workbench registers 83014 recordings and 12,290.6 hours, and may overlap the staged corpus.</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2" cy="3017520"/>
        </p:xfrm>
        <a:graphic>
          <a:graphicData uri="http://schemas.openxmlformats.org/drawingml/2006/table">
            <a:tbl>
              <a:tblPr firstRow="1" bandRow="1">
                <a:tableStyleId>{5C22544A-7EE6-4342-B048-85BDC9FD1C3A}</a:tableStyleId>
              </a:tblPr>
              <a:tblGrid>
                <a:gridCol w="1194121"/>
                <a:gridCol w="1535298"/>
                <a:gridCol w="1194121"/>
                <a:gridCol w="1194121"/>
                <a:gridCol w="2047065"/>
                <a:gridCol w="2644125"/>
                <a:gridCol w="1194121"/>
              </a:tblGrid>
              <a:tr h="301752">
                <a:tc>
                  <a:txBody>
                    <a:bodyPr wrap="square"/>
                    <a:lstStyle/>
                    <a:p>
                      <a:pPr algn="l"/>
                      <a:r>
                        <a:rPr sz="1100" b="1">
                          <a:solidFill>
                            <a:srgbClr val="14324A"/>
                          </a:solidFill>
                          <a:latin typeface="Calibri"/>
                        </a:rPr>
                        <a:t>Station</a:t>
                      </a:r>
                    </a:p>
                  </a:txBody>
                  <a:tcPr marL="54864" marR="54864" marT="27432" marB="27432">
                    <a:solidFill>
                      <a:srgbClr val="E8EEF3"/>
                    </a:solidFill>
                  </a:tcPr>
                </a:tc>
                <a:tc>
                  <a:txBody>
                    <a:bodyPr wrap="square"/>
                    <a:lstStyle/>
                    <a:p>
                      <a:pPr algn="l"/>
                      <a:r>
                        <a:rPr sz="1100" b="1">
                          <a:solidFill>
                            <a:srgbClr val="14324A"/>
                          </a:solidFill>
                          <a:latin typeface="Calibri"/>
                        </a:rPr>
                        <a:t>Broadcast language</a:t>
                      </a:r>
                    </a:p>
                  </a:txBody>
                  <a:tcPr marL="54864" marR="54864" marT="27432" marB="27432">
                    <a:solidFill>
                      <a:srgbClr val="E8EEF3"/>
                    </a:solidFill>
                  </a:tcPr>
                </a:tc>
                <a:tc>
                  <a:txBody>
                    <a:bodyPr wrap="square"/>
                    <a:lstStyle/>
                    <a:p>
                      <a:pPr algn="l"/>
                      <a:r>
                        <a:rPr sz="1100" b="1">
                          <a:solidFill>
                            <a:srgbClr val="14324A"/>
                          </a:solidFill>
                          <a:latin typeface="Calibri"/>
                        </a:rPr>
                        <a:t>Live scripts</a:t>
                      </a:r>
                    </a:p>
                  </a:txBody>
                  <a:tcPr marL="54864" marR="54864" marT="27432" marB="27432">
                    <a:solidFill>
                      <a:srgbClr val="E8EEF3"/>
                    </a:solidFill>
                  </a:tcPr>
                </a:tc>
                <a:tc>
                  <a:txBody>
                    <a:bodyPr wrap="square"/>
                    <a:lstStyle/>
                    <a:p>
                      <a:pPr algn="l"/>
                      <a:r>
                        <a:rPr sz="1100" b="1">
                          <a:solidFill>
                            <a:srgbClr val="14324A"/>
                          </a:solidFill>
                          <a:latin typeface="Calibri"/>
                        </a:rPr>
                        <a:t>Scripted days</a:t>
                      </a:r>
                    </a:p>
                  </a:txBody>
                  <a:tcPr marL="54864" marR="54864" marT="27432" marB="27432">
                    <a:solidFill>
                      <a:srgbClr val="E8EEF3"/>
                    </a:solidFill>
                  </a:tcPr>
                </a:tc>
                <a:tc>
                  <a:txBody>
                    <a:bodyPr wrap="square"/>
                    <a:lstStyle/>
                    <a:p>
                      <a:pPr algn="l"/>
                      <a:r>
                        <a:rPr sz="1100" b="1">
                          <a:solidFill>
                            <a:srgbClr val="14324A"/>
                          </a:solidFill>
                          <a:latin typeface="Calibri"/>
                        </a:rPr>
                        <a:t>Scripts per scripted day</a:t>
                      </a:r>
                    </a:p>
                  </a:txBody>
                  <a:tcPr marL="54864" marR="54864" marT="27432" marB="27432">
                    <a:solidFill>
                      <a:srgbClr val="E8EEF3"/>
                    </a:solidFill>
                  </a:tcPr>
                </a:tc>
                <a:tc>
                  <a:txBody>
                    <a:bodyPr wrap="square"/>
                    <a:lstStyle/>
                    <a:p>
                      <a:pPr algn="l"/>
                      <a:r>
                        <a:rPr sz="1100" b="1">
                          <a:solidFill>
                            <a:srgbClr val="14324A"/>
                          </a:solidFill>
                          <a:latin typeface="Calibri"/>
                        </a:rPr>
                        <a:t>Bulletin hours per scripted day</a:t>
                      </a:r>
                    </a:p>
                  </a:txBody>
                  <a:tcPr marL="54864" marR="54864" marT="27432" marB="27432">
                    <a:solidFill>
                      <a:srgbClr val="E8EEF3"/>
                    </a:solidFill>
                  </a:tcPr>
                </a:tc>
                <a:tc>
                  <a:txBody>
                    <a:bodyPr wrap="square"/>
                    <a:lstStyle/>
                    <a:p>
                      <a:pPr algn="l"/>
                      <a:r>
                        <a:rPr sz="1100" b="1">
                          <a:solidFill>
                            <a:srgbClr val="14324A"/>
                          </a:solidFill>
                          <a:latin typeface="Calibri"/>
                        </a:rPr>
                        <a:t>Characters</a:t>
                      </a:r>
                    </a:p>
                  </a:txBody>
                  <a:tcPr marL="54864" marR="54864" marT="27432" marB="27432">
                    <a:solidFill>
                      <a:srgbClr val="E8EEF3"/>
                    </a:solidFill>
                  </a:tcPr>
                </a:tc>
              </a:tr>
              <a:tr h="301752">
                <a:tc>
                  <a:txBody>
                    <a:bodyPr wrap="square"/>
                    <a:lstStyle/>
                    <a:p>
                      <a:pPr algn="l"/>
                      <a:r>
                        <a:rPr sz="1100" b="0">
                          <a:solidFill>
                            <a:srgbClr val="14324A"/>
                          </a:solidFill>
                          <a:latin typeface="Calibri"/>
                        </a:rPr>
                        <a:t>Muuga FM</a:t>
                      </a:r>
                    </a:p>
                  </a:txBody>
                  <a:tcPr marL="54864" marR="54864" marT="27432" marB="27432">
                    <a:solidFill>
                      <a:srgbClr val="FFFFFF"/>
                    </a:solidFill>
                  </a:tcPr>
                </a:tc>
                <a:tc>
                  <a:txBody>
                    <a:bodyPr wrap="square"/>
                    <a:lstStyle/>
                    <a:p>
                      <a:pPr algn="l"/>
                      <a:r>
                        <a:rPr sz="1100" b="0">
                          <a:solidFill>
                            <a:srgbClr val="14324A"/>
                          </a:solidFill>
                          <a:latin typeface="Calibri"/>
                        </a:rPr>
                        <a:t>Meru</a:t>
                      </a:r>
                    </a:p>
                  </a:txBody>
                  <a:tcPr marL="54864" marR="54864" marT="27432" marB="27432">
                    <a:solidFill>
                      <a:srgbClr val="FFFFFF"/>
                    </a:solidFill>
                  </a:tcPr>
                </a:tc>
                <a:tc>
                  <a:txBody>
                    <a:bodyPr wrap="square"/>
                    <a:lstStyle/>
                    <a:p>
                      <a:pPr algn="r"/>
                      <a:r>
                        <a:rPr sz="1100" b="0">
                          <a:solidFill>
                            <a:srgbClr val="14324A"/>
                          </a:solidFill>
                          <a:latin typeface="Courier New"/>
                        </a:rPr>
                        <a:t>27467</a:t>
                      </a:r>
                    </a:p>
                  </a:txBody>
                  <a:tcPr marL="54864" marR="54864" marT="27432" marB="27432">
                    <a:solidFill>
                      <a:srgbClr val="FFFFFF"/>
                    </a:solidFill>
                  </a:tcPr>
                </a:tc>
                <a:tc>
                  <a:txBody>
                    <a:bodyPr wrap="square"/>
                    <a:lstStyle/>
                    <a:p>
                      <a:pPr algn="r"/>
                      <a:r>
                        <a:rPr sz="1100" b="0">
                          <a:solidFill>
                            <a:srgbClr val="14324A"/>
                          </a:solidFill>
                          <a:latin typeface="Courier New"/>
                        </a:rPr>
                        <a:t>221</a:t>
                      </a:r>
                    </a:p>
                  </a:txBody>
                  <a:tcPr marL="54864" marR="54864" marT="27432" marB="27432">
                    <a:solidFill>
                      <a:srgbClr val="FFFFFF"/>
                    </a:solidFill>
                  </a:tcPr>
                </a:tc>
                <a:tc>
                  <a:txBody>
                    <a:bodyPr wrap="square"/>
                    <a:lstStyle/>
                    <a:p>
                      <a:pPr algn="r"/>
                      <a:r>
                        <a:rPr sz="1100" b="0">
                          <a:solidFill>
                            <a:srgbClr val="14324A"/>
                          </a:solidFill>
                          <a:latin typeface="Courier New"/>
                        </a:rPr>
                        <a:t>127.53</a:t>
                      </a:r>
                    </a:p>
                  </a:txBody>
                  <a:tcPr marL="54864" marR="54864" marT="27432" marB="27432">
                    <a:solidFill>
                      <a:srgbClr val="FFFFFF"/>
                    </a:solidFill>
                  </a:tcPr>
                </a:tc>
                <a:tc>
                  <a:txBody>
                    <a:bodyPr wrap="square"/>
                    <a:lstStyle/>
                    <a:p>
                      <a:pPr algn="r"/>
                      <a:r>
                        <a:rPr sz="1100" b="0">
                          <a:solidFill>
                            <a:srgbClr val="14324A"/>
                          </a:solidFill>
                          <a:latin typeface="Courier New"/>
                        </a:rPr>
                        <a:t>17.98</a:t>
                      </a:r>
                    </a:p>
                  </a:txBody>
                  <a:tcPr marL="54864" marR="54864" marT="27432" marB="27432">
                    <a:solidFill>
                      <a:srgbClr val="FFFFFF"/>
                    </a:solidFill>
                  </a:tcPr>
                </a:tc>
                <a:tc>
                  <a:txBody>
                    <a:bodyPr wrap="square"/>
                    <a:lstStyle/>
                    <a:p>
                      <a:pPr algn="r"/>
                      <a:r>
                        <a:rPr sz="1100" b="0">
                          <a:solidFill>
                            <a:srgbClr val="14324A"/>
                          </a:solidFill>
                          <a:latin typeface="Courier New"/>
                        </a:rPr>
                        <a:t>14128382</a:t>
                      </a:r>
                    </a:p>
                  </a:txBody>
                  <a:tcPr marL="54864" marR="54864" marT="27432" marB="27432">
                    <a:solidFill>
                      <a:srgbClr val="FFFFFF"/>
                    </a:solidFill>
                  </a:tcPr>
                </a:tc>
              </a:tr>
              <a:tr h="301752">
                <a:tc>
                  <a:txBody>
                    <a:bodyPr wrap="square"/>
                    <a:lstStyle/>
                    <a:p>
                      <a:pPr algn="l"/>
                      <a:r>
                        <a:rPr sz="1100" b="0">
                          <a:solidFill>
                            <a:srgbClr val="14324A"/>
                          </a:solidFill>
                          <a:latin typeface="Calibri"/>
                        </a:rPr>
                        <a:t>Radio Citizen</a:t>
                      </a:r>
                    </a:p>
                  </a:txBody>
                  <a:tcPr marL="54864" marR="54864" marT="27432" marB="27432">
                    <a:solidFill>
                      <a:srgbClr val="FFFFFF"/>
                    </a:solidFill>
                  </a:tcPr>
                </a:tc>
                <a:tc>
                  <a:txBody>
                    <a:bodyPr wrap="square"/>
                    <a:lstStyle/>
                    <a:p>
                      <a:pPr algn="l"/>
                      <a:r>
                        <a:rPr sz="1100" b="0">
                          <a:solidFill>
                            <a:srgbClr val="14324A"/>
                          </a:solidFill>
                          <a:latin typeface="Calibri"/>
                        </a:rPr>
                        <a:t>Kiswahili</a:t>
                      </a:r>
                    </a:p>
                  </a:txBody>
                  <a:tcPr marL="54864" marR="54864" marT="27432" marB="27432">
                    <a:solidFill>
                      <a:srgbClr val="FFFFFF"/>
                    </a:solidFill>
                  </a:tcPr>
                </a:tc>
                <a:tc>
                  <a:txBody>
                    <a:bodyPr wrap="square"/>
                    <a:lstStyle/>
                    <a:p>
                      <a:pPr algn="r"/>
                      <a:r>
                        <a:rPr sz="1100" b="0">
                          <a:solidFill>
                            <a:srgbClr val="14324A"/>
                          </a:solidFill>
                          <a:latin typeface="Courier New"/>
                        </a:rPr>
                        <a:t>27240</a:t>
                      </a:r>
                    </a:p>
                  </a:txBody>
                  <a:tcPr marL="54864" marR="54864" marT="27432" marB="27432">
                    <a:solidFill>
                      <a:srgbClr val="FFFFFF"/>
                    </a:solidFill>
                  </a:tcPr>
                </a:tc>
                <a:tc>
                  <a:txBody>
                    <a:bodyPr wrap="square"/>
                    <a:lstStyle/>
                    <a:p>
                      <a:pPr algn="r"/>
                      <a:r>
                        <a:rPr sz="1100" b="0">
                          <a:solidFill>
                            <a:srgbClr val="14324A"/>
                          </a:solidFill>
                          <a:latin typeface="Courier New"/>
                        </a:rPr>
                        <a:t>219</a:t>
                      </a:r>
                    </a:p>
                  </a:txBody>
                  <a:tcPr marL="54864" marR="54864" marT="27432" marB="27432">
                    <a:solidFill>
                      <a:srgbClr val="FFFFFF"/>
                    </a:solidFill>
                  </a:tcPr>
                </a:tc>
                <a:tc>
                  <a:txBody>
                    <a:bodyPr wrap="square"/>
                    <a:lstStyle/>
                    <a:p>
                      <a:pPr algn="r"/>
                      <a:r>
                        <a:rPr sz="1100" b="0">
                          <a:solidFill>
                            <a:srgbClr val="14324A"/>
                          </a:solidFill>
                          <a:latin typeface="Courier New"/>
                        </a:rPr>
                        <a:t>126.98</a:t>
                      </a:r>
                    </a:p>
                  </a:txBody>
                  <a:tcPr marL="54864" marR="54864" marT="27432" marB="27432">
                    <a:solidFill>
                      <a:srgbClr val="FFFFFF"/>
                    </a:solidFill>
                  </a:tcPr>
                </a:tc>
                <a:tc>
                  <a:txBody>
                    <a:bodyPr wrap="square"/>
                    <a:lstStyle/>
                    <a:p>
                      <a:pPr algn="r"/>
                      <a:r>
                        <a:rPr sz="1100" b="0">
                          <a:solidFill>
                            <a:srgbClr val="14324A"/>
                          </a:solidFill>
                          <a:latin typeface="Courier New"/>
                        </a:rPr>
                        <a:t>18.18</a:t>
                      </a:r>
                    </a:p>
                  </a:txBody>
                  <a:tcPr marL="54864" marR="54864" marT="27432" marB="27432">
                    <a:solidFill>
                      <a:srgbClr val="FFFFFF"/>
                    </a:solidFill>
                  </a:tcPr>
                </a:tc>
                <a:tc>
                  <a:txBody>
                    <a:bodyPr wrap="square"/>
                    <a:lstStyle/>
                    <a:p>
                      <a:pPr algn="r"/>
                      <a:r>
                        <a:rPr sz="1100" b="0">
                          <a:solidFill>
                            <a:srgbClr val="14324A"/>
                          </a:solidFill>
                          <a:latin typeface="Courier New"/>
                        </a:rPr>
                        <a:t>22231911</a:t>
                      </a:r>
                    </a:p>
                  </a:txBody>
                  <a:tcPr marL="54864" marR="54864" marT="27432" marB="27432">
                    <a:solidFill>
                      <a:srgbClr val="FFFFFF"/>
                    </a:solidFill>
                  </a:tcPr>
                </a:tc>
              </a:tr>
              <a:tr h="301752">
                <a:tc>
                  <a:txBody>
                    <a:bodyPr wrap="square"/>
                    <a:lstStyle/>
                    <a:p>
                      <a:pPr algn="l"/>
                      <a:r>
                        <a:rPr sz="1100" b="0">
                          <a:solidFill>
                            <a:srgbClr val="14324A"/>
                          </a:solidFill>
                          <a:latin typeface="Calibri"/>
                        </a:rPr>
                        <a:t>Chamgei</a:t>
                      </a:r>
                    </a:p>
                  </a:txBody>
                  <a:tcPr marL="54864" marR="54864" marT="27432" marB="27432">
                    <a:solidFill>
                      <a:srgbClr val="FFFFFF"/>
                    </a:solidFill>
                  </a:tcPr>
                </a:tc>
                <a:tc>
                  <a:txBody>
                    <a:bodyPr wrap="square"/>
                    <a:lstStyle/>
                    <a:p>
                      <a:pPr algn="l"/>
                      <a:r>
                        <a:rPr sz="1100" b="0">
                          <a:solidFill>
                            <a:srgbClr val="14324A"/>
                          </a:solidFill>
                          <a:latin typeface="Calibri"/>
                        </a:rPr>
                        <a:t>Kalenjin</a:t>
                      </a:r>
                    </a:p>
                  </a:txBody>
                  <a:tcPr marL="54864" marR="54864" marT="27432" marB="27432">
                    <a:solidFill>
                      <a:srgbClr val="FFFFFF"/>
                    </a:solidFill>
                  </a:tcPr>
                </a:tc>
                <a:tc>
                  <a:txBody>
                    <a:bodyPr wrap="square"/>
                    <a:lstStyle/>
                    <a:p>
                      <a:pPr algn="r"/>
                      <a:r>
                        <a:rPr sz="1100" b="0">
                          <a:solidFill>
                            <a:srgbClr val="14324A"/>
                          </a:solidFill>
                          <a:latin typeface="Courier New"/>
                        </a:rPr>
                        <a:t>26787</a:t>
                      </a:r>
                    </a:p>
                  </a:txBody>
                  <a:tcPr marL="54864" marR="54864" marT="27432" marB="27432">
                    <a:solidFill>
                      <a:srgbClr val="FFFFFF"/>
                    </a:solidFill>
                  </a:tcPr>
                </a:tc>
                <a:tc>
                  <a:txBody>
                    <a:bodyPr wrap="square"/>
                    <a:lstStyle/>
                    <a:p>
                      <a:pPr algn="r"/>
                      <a:r>
                        <a:rPr sz="1100" b="0">
                          <a:solidFill>
                            <a:srgbClr val="14324A"/>
                          </a:solidFill>
                          <a:latin typeface="Courier New"/>
                        </a:rPr>
                        <a:t>224</a:t>
                      </a:r>
                    </a:p>
                  </a:txBody>
                  <a:tcPr marL="54864" marR="54864" marT="27432" marB="27432">
                    <a:solidFill>
                      <a:srgbClr val="FFFFFF"/>
                    </a:solidFill>
                  </a:tcPr>
                </a:tc>
                <a:tc>
                  <a:txBody>
                    <a:bodyPr wrap="square"/>
                    <a:lstStyle/>
                    <a:p>
                      <a:pPr algn="r"/>
                      <a:r>
                        <a:rPr sz="1100" b="0">
                          <a:solidFill>
                            <a:srgbClr val="14324A"/>
                          </a:solidFill>
                          <a:latin typeface="Courier New"/>
                        </a:rPr>
                        <a:t>130.68</a:t>
                      </a:r>
                    </a:p>
                  </a:txBody>
                  <a:tcPr marL="54864" marR="54864" marT="27432" marB="27432">
                    <a:solidFill>
                      <a:srgbClr val="FFFFFF"/>
                    </a:solidFill>
                  </a:tcPr>
                </a:tc>
                <a:tc>
                  <a:txBody>
                    <a:bodyPr wrap="square"/>
                    <a:lstStyle/>
                    <a:p>
                      <a:pPr algn="r"/>
                      <a:r>
                        <a:rPr sz="1100" b="0">
                          <a:solidFill>
                            <a:srgbClr val="14324A"/>
                          </a:solidFill>
                          <a:latin typeface="Courier New"/>
                        </a:rPr>
                        <a:t>18.75</a:t>
                      </a:r>
                    </a:p>
                  </a:txBody>
                  <a:tcPr marL="54864" marR="54864" marT="27432" marB="27432">
                    <a:solidFill>
                      <a:srgbClr val="FFFFFF"/>
                    </a:solidFill>
                  </a:tcPr>
                </a:tc>
                <a:tc>
                  <a:txBody>
                    <a:bodyPr wrap="square"/>
                    <a:lstStyle/>
                    <a:p>
                      <a:pPr algn="r"/>
                      <a:r>
                        <a:rPr sz="1100" b="0">
                          <a:solidFill>
                            <a:srgbClr val="14324A"/>
                          </a:solidFill>
                          <a:latin typeface="Courier New"/>
                        </a:rPr>
                        <a:t>20538503</a:t>
                      </a:r>
                    </a:p>
                  </a:txBody>
                  <a:tcPr marL="54864" marR="54864" marT="27432" marB="27432">
                    <a:solidFill>
                      <a:srgbClr val="FFFFFF"/>
                    </a:solidFill>
                  </a:tcPr>
                </a:tc>
              </a:tr>
              <a:tr h="301752">
                <a:tc>
                  <a:txBody>
                    <a:bodyPr wrap="square"/>
                    <a:lstStyle/>
                    <a:p>
                      <a:pPr algn="l"/>
                      <a:r>
                        <a:rPr sz="1100" b="0">
                          <a:solidFill>
                            <a:srgbClr val="14324A"/>
                          </a:solidFill>
                          <a:latin typeface="Calibri"/>
                        </a:rPr>
                        <a:t>Mulembe FM</a:t>
                      </a:r>
                    </a:p>
                  </a:txBody>
                  <a:tcPr marL="54864" marR="54864" marT="27432" marB="27432">
                    <a:solidFill>
                      <a:srgbClr val="FFFFFF"/>
                    </a:solidFill>
                  </a:tcPr>
                </a:tc>
                <a:tc>
                  <a:txBody>
                    <a:bodyPr wrap="square"/>
                    <a:lstStyle/>
                    <a:p>
                      <a:pPr algn="l"/>
                      <a:r>
                        <a:rPr sz="1100" b="0">
                          <a:solidFill>
                            <a:srgbClr val="14324A"/>
                          </a:solidFill>
                          <a:latin typeface="Calibri"/>
                        </a:rPr>
                        <a:t>Luhya</a:t>
                      </a:r>
                    </a:p>
                  </a:txBody>
                  <a:tcPr marL="54864" marR="54864" marT="27432" marB="27432">
                    <a:solidFill>
                      <a:srgbClr val="FFFFFF"/>
                    </a:solidFill>
                  </a:tcPr>
                </a:tc>
                <a:tc>
                  <a:txBody>
                    <a:bodyPr wrap="square"/>
                    <a:lstStyle/>
                    <a:p>
                      <a:pPr algn="r"/>
                      <a:r>
                        <a:rPr sz="1100" b="0">
                          <a:solidFill>
                            <a:srgbClr val="14324A"/>
                          </a:solidFill>
                          <a:latin typeface="Courier New"/>
                        </a:rPr>
                        <a:t>22191</a:t>
                      </a:r>
                    </a:p>
                  </a:txBody>
                  <a:tcPr marL="54864" marR="54864" marT="27432" marB="27432">
                    <a:solidFill>
                      <a:srgbClr val="FFFFFF"/>
                    </a:solidFill>
                  </a:tcPr>
                </a:tc>
                <a:tc>
                  <a:txBody>
                    <a:bodyPr wrap="square"/>
                    <a:lstStyle/>
                    <a:p>
                      <a:pPr algn="r"/>
                      <a:r>
                        <a:rPr sz="1100" b="0">
                          <a:solidFill>
                            <a:srgbClr val="14324A"/>
                          </a:solidFill>
                          <a:latin typeface="Courier New"/>
                        </a:rPr>
                        <a:t>225</a:t>
                      </a:r>
                    </a:p>
                  </a:txBody>
                  <a:tcPr marL="54864" marR="54864" marT="27432" marB="27432">
                    <a:solidFill>
                      <a:srgbClr val="FFFFFF"/>
                    </a:solidFill>
                  </a:tcPr>
                </a:tc>
                <a:tc>
                  <a:txBody>
                    <a:bodyPr wrap="square"/>
                    <a:lstStyle/>
                    <a:p>
                      <a:pPr algn="r"/>
                      <a:r>
                        <a:rPr sz="1100" b="0">
                          <a:solidFill>
                            <a:srgbClr val="14324A"/>
                          </a:solidFill>
                          <a:latin typeface="Courier New"/>
                        </a:rPr>
                        <a:t>102.58</a:t>
                      </a:r>
                    </a:p>
                  </a:txBody>
                  <a:tcPr marL="54864" marR="54864" marT="27432" marB="27432">
                    <a:solidFill>
                      <a:srgbClr val="FFFFFF"/>
                    </a:solidFill>
                  </a:tcPr>
                </a:tc>
                <a:tc>
                  <a:txBody>
                    <a:bodyPr wrap="square"/>
                    <a:lstStyle/>
                    <a:p>
                      <a:pPr algn="r"/>
                      <a:r>
                        <a:rPr sz="1100" b="0">
                          <a:solidFill>
                            <a:srgbClr val="14324A"/>
                          </a:solidFill>
                          <a:latin typeface="Courier New"/>
                        </a:rPr>
                        <a:t>15.0</a:t>
                      </a:r>
                    </a:p>
                  </a:txBody>
                  <a:tcPr marL="54864" marR="54864" marT="27432" marB="27432">
                    <a:solidFill>
                      <a:srgbClr val="FFFFFF"/>
                    </a:solidFill>
                  </a:tcPr>
                </a:tc>
                <a:tc>
                  <a:txBody>
                    <a:bodyPr wrap="square"/>
                    <a:lstStyle/>
                    <a:p>
                      <a:pPr algn="r"/>
                      <a:r>
                        <a:rPr sz="1100" b="0">
                          <a:solidFill>
                            <a:srgbClr val="14324A"/>
                          </a:solidFill>
                          <a:latin typeface="Courier New"/>
                        </a:rPr>
                        <a:t>15496412</a:t>
                      </a:r>
                    </a:p>
                  </a:txBody>
                  <a:tcPr marL="54864" marR="54864" marT="27432" marB="27432">
                    <a:solidFill>
                      <a:srgbClr val="FFFFFF"/>
                    </a:solidFill>
                  </a:tcPr>
                </a:tc>
              </a:tr>
              <a:tr h="301752">
                <a:tc>
                  <a:txBody>
                    <a:bodyPr wrap="square"/>
                    <a:lstStyle/>
                    <a:p>
                      <a:pPr algn="l"/>
                      <a:r>
                        <a:rPr sz="1100" b="0">
                          <a:solidFill>
                            <a:srgbClr val="14324A"/>
                          </a:solidFill>
                          <a:latin typeface="Calibri"/>
                        </a:rPr>
                        <a:t>Wimwaro FM</a:t>
                      </a:r>
                    </a:p>
                  </a:txBody>
                  <a:tcPr marL="54864" marR="54864" marT="27432" marB="27432">
                    <a:solidFill>
                      <a:srgbClr val="FFFFFF"/>
                    </a:solidFill>
                  </a:tcPr>
                </a:tc>
                <a:tc>
                  <a:txBody>
                    <a:bodyPr wrap="square"/>
                    <a:lstStyle/>
                    <a:p>
                      <a:pPr algn="l"/>
                      <a:r>
                        <a:rPr sz="1100" b="0">
                          <a:solidFill>
                            <a:srgbClr val="14324A"/>
                          </a:solidFill>
                          <a:latin typeface="Calibri"/>
                        </a:rPr>
                        <a:t>Embu</a:t>
                      </a:r>
                    </a:p>
                  </a:txBody>
                  <a:tcPr marL="54864" marR="54864" marT="27432" marB="27432">
                    <a:solidFill>
                      <a:srgbClr val="FFFFFF"/>
                    </a:solidFill>
                  </a:tcPr>
                </a:tc>
                <a:tc>
                  <a:txBody>
                    <a:bodyPr wrap="square"/>
                    <a:lstStyle/>
                    <a:p>
                      <a:pPr algn="r"/>
                      <a:r>
                        <a:rPr sz="1100" b="0">
                          <a:solidFill>
                            <a:srgbClr val="14324A"/>
                          </a:solidFill>
                          <a:latin typeface="Courier New"/>
                        </a:rPr>
                        <a:t>19664</a:t>
                      </a:r>
                    </a:p>
                  </a:txBody>
                  <a:tcPr marL="54864" marR="54864" marT="27432" marB="27432">
                    <a:solidFill>
                      <a:srgbClr val="FFFFFF"/>
                    </a:solidFill>
                  </a:tcPr>
                </a:tc>
                <a:tc>
                  <a:txBody>
                    <a:bodyPr wrap="square"/>
                    <a:lstStyle/>
                    <a:p>
                      <a:pPr algn="r"/>
                      <a:r>
                        <a:rPr sz="1100" b="0">
                          <a:solidFill>
                            <a:srgbClr val="14324A"/>
                          </a:solidFill>
                          <a:latin typeface="Courier New"/>
                        </a:rPr>
                        <a:t>223</a:t>
                      </a:r>
                    </a:p>
                  </a:txBody>
                  <a:tcPr marL="54864" marR="54864" marT="27432" marB="27432">
                    <a:solidFill>
                      <a:srgbClr val="FFFFFF"/>
                    </a:solidFill>
                  </a:tcPr>
                </a:tc>
                <a:tc>
                  <a:txBody>
                    <a:bodyPr wrap="square"/>
                    <a:lstStyle/>
                    <a:p>
                      <a:pPr algn="r"/>
                      <a:r>
                        <a:rPr sz="1100" b="0">
                          <a:solidFill>
                            <a:srgbClr val="14324A"/>
                          </a:solidFill>
                          <a:latin typeface="Courier New"/>
                        </a:rPr>
                        <a:t>90.1</a:t>
                      </a:r>
                    </a:p>
                  </a:txBody>
                  <a:tcPr marL="54864" marR="54864" marT="27432" marB="27432">
                    <a:solidFill>
                      <a:srgbClr val="FFFFFF"/>
                    </a:solidFill>
                  </a:tcPr>
                </a:tc>
                <a:tc>
                  <a:txBody>
                    <a:bodyPr wrap="square"/>
                    <a:lstStyle/>
                    <a:p>
                      <a:pPr algn="r"/>
                      <a:r>
                        <a:rPr sz="1100" b="0">
                          <a:solidFill>
                            <a:srgbClr val="14324A"/>
                          </a:solidFill>
                          <a:latin typeface="Courier New"/>
                        </a:rPr>
                        <a:t>15.76</a:t>
                      </a:r>
                    </a:p>
                  </a:txBody>
                  <a:tcPr marL="54864" marR="54864" marT="27432" marB="27432">
                    <a:solidFill>
                      <a:srgbClr val="FFFFFF"/>
                    </a:solidFill>
                  </a:tcPr>
                </a:tc>
                <a:tc>
                  <a:txBody>
                    <a:bodyPr wrap="square"/>
                    <a:lstStyle/>
                    <a:p>
                      <a:pPr algn="r"/>
                      <a:r>
                        <a:rPr sz="1100" b="0">
                          <a:solidFill>
                            <a:srgbClr val="14324A"/>
                          </a:solidFill>
                          <a:latin typeface="Courier New"/>
                        </a:rPr>
                        <a:t>12408784</a:t>
                      </a:r>
                    </a:p>
                  </a:txBody>
                  <a:tcPr marL="54864" marR="54864" marT="27432" marB="27432">
                    <a:solidFill>
                      <a:srgbClr val="FFFFFF"/>
                    </a:solidFill>
                  </a:tcPr>
                </a:tc>
              </a:tr>
              <a:tr h="301752">
                <a:tc>
                  <a:txBody>
                    <a:bodyPr wrap="square"/>
                    <a:lstStyle/>
                    <a:p>
                      <a:pPr algn="l"/>
                      <a:r>
                        <a:rPr sz="1100" b="0">
                          <a:solidFill>
                            <a:srgbClr val="14324A"/>
                          </a:solidFill>
                          <a:latin typeface="Calibri"/>
                        </a:rPr>
                        <a:t>Hot 96</a:t>
                      </a:r>
                    </a:p>
                  </a:txBody>
                  <a:tcPr marL="54864" marR="54864" marT="27432" marB="27432">
                    <a:solidFill>
                      <a:srgbClr val="FFFFFF"/>
                    </a:solidFill>
                  </a:tcPr>
                </a:tc>
                <a:tc>
                  <a:txBody>
                    <a:bodyPr wrap="square"/>
                    <a:lstStyle/>
                    <a:p>
                      <a:pPr algn="l"/>
                      <a:r>
                        <a:rPr sz="1100" b="0">
                          <a:solidFill>
                            <a:srgbClr val="14324A"/>
                          </a:solidFill>
                          <a:latin typeface="Calibri"/>
                        </a:rPr>
                        <a:t>English</a:t>
                      </a:r>
                    </a:p>
                  </a:txBody>
                  <a:tcPr marL="54864" marR="54864" marT="27432" marB="27432">
                    <a:solidFill>
                      <a:srgbClr val="FFFFFF"/>
                    </a:solidFill>
                  </a:tcPr>
                </a:tc>
                <a:tc>
                  <a:txBody>
                    <a:bodyPr wrap="square"/>
                    <a:lstStyle/>
                    <a:p>
                      <a:pPr algn="r"/>
                      <a:r>
                        <a:rPr sz="1100" b="0">
                          <a:solidFill>
                            <a:srgbClr val="14324A"/>
                          </a:solidFill>
                          <a:latin typeface="Courier New"/>
                        </a:rPr>
                        <a:t>18136</a:t>
                      </a:r>
                    </a:p>
                  </a:txBody>
                  <a:tcPr marL="54864" marR="54864" marT="27432" marB="27432">
                    <a:solidFill>
                      <a:srgbClr val="FFFFFF"/>
                    </a:solidFill>
                  </a:tcPr>
                </a:tc>
                <a:tc>
                  <a:txBody>
                    <a:bodyPr wrap="square"/>
                    <a:lstStyle/>
                    <a:p>
                      <a:pPr algn="r"/>
                      <a:r>
                        <a:rPr sz="1100" b="0">
                          <a:solidFill>
                            <a:srgbClr val="14324A"/>
                          </a:solidFill>
                          <a:latin typeface="Courier New"/>
                        </a:rPr>
                        <a:t>225</a:t>
                      </a:r>
                    </a:p>
                  </a:txBody>
                  <a:tcPr marL="54864" marR="54864" marT="27432" marB="27432">
                    <a:solidFill>
                      <a:srgbClr val="FFFFFF"/>
                    </a:solidFill>
                  </a:tcPr>
                </a:tc>
                <a:tc>
                  <a:txBody>
                    <a:bodyPr wrap="square"/>
                    <a:lstStyle/>
                    <a:p>
                      <a:pPr algn="r"/>
                      <a:r>
                        <a:rPr sz="1100" b="0">
                          <a:solidFill>
                            <a:srgbClr val="14324A"/>
                          </a:solidFill>
                          <a:latin typeface="Courier New"/>
                        </a:rPr>
                        <a:t>83.18</a:t>
                      </a:r>
                    </a:p>
                  </a:txBody>
                  <a:tcPr marL="54864" marR="54864" marT="27432" marB="27432">
                    <a:solidFill>
                      <a:srgbClr val="FFFFFF"/>
                    </a:solidFill>
                  </a:tcPr>
                </a:tc>
                <a:tc>
                  <a:txBody>
                    <a:bodyPr wrap="square"/>
                    <a:lstStyle/>
                    <a:p>
                      <a:pPr algn="r"/>
                      <a:r>
                        <a:rPr sz="1100" b="0">
                          <a:solidFill>
                            <a:srgbClr val="14324A"/>
                          </a:solidFill>
                          <a:latin typeface="Courier New"/>
                        </a:rPr>
                        <a:t>15.08</a:t>
                      </a:r>
                    </a:p>
                  </a:txBody>
                  <a:tcPr marL="54864" marR="54864" marT="27432" marB="27432">
                    <a:solidFill>
                      <a:srgbClr val="FFFFFF"/>
                    </a:solidFill>
                  </a:tcPr>
                </a:tc>
                <a:tc>
                  <a:txBody>
                    <a:bodyPr wrap="square"/>
                    <a:lstStyle/>
                    <a:p>
                      <a:pPr algn="r"/>
                      <a:r>
                        <a:rPr sz="1100" b="0">
                          <a:solidFill>
                            <a:srgbClr val="14324A"/>
                          </a:solidFill>
                          <a:latin typeface="Courier New"/>
                        </a:rPr>
                        <a:t>12470183</a:t>
                      </a:r>
                    </a:p>
                  </a:txBody>
                  <a:tcPr marL="54864" marR="54864" marT="27432" marB="27432">
                    <a:solidFill>
                      <a:srgbClr val="FFFFFF"/>
                    </a:solidFill>
                  </a:tcPr>
                </a:tc>
              </a:tr>
              <a:tr h="301752">
                <a:tc>
                  <a:txBody>
                    <a:bodyPr wrap="square"/>
                    <a:lstStyle/>
                    <a:p>
                      <a:pPr algn="l"/>
                      <a:r>
                        <a:rPr sz="1100" b="0">
                          <a:solidFill>
                            <a:srgbClr val="14324A"/>
                          </a:solidFill>
                          <a:latin typeface="Calibri"/>
                        </a:rPr>
                        <a:t>Egesa</a:t>
                      </a:r>
                    </a:p>
                  </a:txBody>
                  <a:tcPr marL="54864" marR="54864" marT="27432" marB="27432">
                    <a:solidFill>
                      <a:srgbClr val="FFFFFF"/>
                    </a:solidFill>
                  </a:tcPr>
                </a:tc>
                <a:tc>
                  <a:txBody>
                    <a:bodyPr wrap="square"/>
                    <a:lstStyle/>
                    <a:p>
                      <a:pPr algn="l"/>
                      <a:r>
                        <a:rPr sz="1100" b="0">
                          <a:solidFill>
                            <a:srgbClr val="14324A"/>
                          </a:solidFill>
                          <a:latin typeface="Calibri"/>
                        </a:rPr>
                        <a:t>Kisii</a:t>
                      </a:r>
                    </a:p>
                  </a:txBody>
                  <a:tcPr marL="54864" marR="54864" marT="27432" marB="27432">
                    <a:solidFill>
                      <a:srgbClr val="FFFFFF"/>
                    </a:solidFill>
                  </a:tcPr>
                </a:tc>
                <a:tc>
                  <a:txBody>
                    <a:bodyPr wrap="square"/>
                    <a:lstStyle/>
                    <a:p>
                      <a:pPr algn="r"/>
                      <a:r>
                        <a:rPr sz="1100" b="0">
                          <a:solidFill>
                            <a:srgbClr val="14324A"/>
                          </a:solidFill>
                          <a:latin typeface="Courier New"/>
                        </a:rPr>
                        <a:t>17606</a:t>
                      </a:r>
                    </a:p>
                  </a:txBody>
                  <a:tcPr marL="54864" marR="54864" marT="27432" marB="27432">
                    <a:solidFill>
                      <a:srgbClr val="FFFFFF"/>
                    </a:solidFill>
                  </a:tcPr>
                </a:tc>
                <a:tc>
                  <a:txBody>
                    <a:bodyPr wrap="square"/>
                    <a:lstStyle/>
                    <a:p>
                      <a:pPr algn="r"/>
                      <a:r>
                        <a:rPr sz="1100" b="0">
                          <a:solidFill>
                            <a:srgbClr val="14324A"/>
                          </a:solidFill>
                          <a:latin typeface="Courier New"/>
                        </a:rPr>
                        <a:t>219</a:t>
                      </a:r>
                    </a:p>
                  </a:txBody>
                  <a:tcPr marL="54864" marR="54864" marT="27432" marB="27432">
                    <a:solidFill>
                      <a:srgbClr val="FFFFFF"/>
                    </a:solidFill>
                  </a:tcPr>
                </a:tc>
                <a:tc>
                  <a:txBody>
                    <a:bodyPr wrap="square"/>
                    <a:lstStyle/>
                    <a:p>
                      <a:pPr algn="r"/>
                      <a:r>
                        <a:rPr sz="1100" b="0">
                          <a:solidFill>
                            <a:srgbClr val="14324A"/>
                          </a:solidFill>
                          <a:latin typeface="Courier New"/>
                        </a:rPr>
                        <a:t>84.36</a:t>
                      </a:r>
                    </a:p>
                  </a:txBody>
                  <a:tcPr marL="54864" marR="54864" marT="27432" marB="27432">
                    <a:solidFill>
                      <a:srgbClr val="FFFFFF"/>
                    </a:solidFill>
                  </a:tcPr>
                </a:tc>
                <a:tc>
                  <a:txBody>
                    <a:bodyPr wrap="square"/>
                    <a:lstStyle/>
                    <a:p>
                      <a:pPr algn="r"/>
                      <a:r>
                        <a:rPr sz="1100" b="0">
                          <a:solidFill>
                            <a:srgbClr val="14324A"/>
                          </a:solidFill>
                          <a:latin typeface="Courier New"/>
                        </a:rPr>
                        <a:t>11.3</a:t>
                      </a:r>
                    </a:p>
                  </a:txBody>
                  <a:tcPr marL="54864" marR="54864" marT="27432" marB="27432">
                    <a:solidFill>
                      <a:srgbClr val="FFFFFF"/>
                    </a:solidFill>
                  </a:tcPr>
                </a:tc>
                <a:tc>
                  <a:txBody>
                    <a:bodyPr wrap="square"/>
                    <a:lstStyle/>
                    <a:p>
                      <a:pPr algn="r"/>
                      <a:r>
                        <a:rPr sz="1100" b="0">
                          <a:solidFill>
                            <a:srgbClr val="14324A"/>
                          </a:solidFill>
                          <a:latin typeface="Courier New"/>
                        </a:rPr>
                        <a:t>14458656</a:t>
                      </a:r>
                    </a:p>
                  </a:txBody>
                  <a:tcPr marL="54864" marR="54864" marT="27432" marB="27432">
                    <a:solidFill>
                      <a:srgbClr val="FFFFFF"/>
                    </a:solidFill>
                  </a:tcPr>
                </a:tc>
              </a:tr>
              <a:tr h="301752">
                <a:tc>
                  <a:txBody>
                    <a:bodyPr wrap="square"/>
                    <a:lstStyle/>
                    <a:p>
                      <a:pPr algn="l"/>
                      <a:r>
                        <a:rPr sz="1100" b="0">
                          <a:solidFill>
                            <a:srgbClr val="14324A"/>
                          </a:solidFill>
                          <a:latin typeface="Calibri"/>
                        </a:rPr>
                        <a:t>Musyi FM</a:t>
                      </a:r>
                    </a:p>
                  </a:txBody>
                  <a:tcPr marL="54864" marR="54864" marT="27432" marB="27432">
                    <a:solidFill>
                      <a:srgbClr val="FFFFFF"/>
                    </a:solidFill>
                  </a:tcPr>
                </a:tc>
                <a:tc>
                  <a:txBody>
                    <a:bodyPr wrap="square"/>
                    <a:lstStyle/>
                    <a:p>
                      <a:pPr algn="l"/>
                      <a:r>
                        <a:rPr sz="1100" b="0">
                          <a:solidFill>
                            <a:srgbClr val="14324A"/>
                          </a:solidFill>
                          <a:latin typeface="Calibri"/>
                        </a:rPr>
                        <a:t>Akamba</a:t>
                      </a:r>
                    </a:p>
                  </a:txBody>
                  <a:tcPr marL="54864" marR="54864" marT="27432" marB="27432">
                    <a:solidFill>
                      <a:srgbClr val="FFFFFF"/>
                    </a:solidFill>
                  </a:tcPr>
                </a:tc>
                <a:tc>
                  <a:txBody>
                    <a:bodyPr wrap="square"/>
                    <a:lstStyle/>
                    <a:p>
                      <a:pPr algn="r"/>
                      <a:r>
                        <a:rPr sz="1100" b="0">
                          <a:solidFill>
                            <a:srgbClr val="14324A"/>
                          </a:solidFill>
                          <a:latin typeface="Courier New"/>
                        </a:rPr>
                        <a:t>17581</a:t>
                      </a:r>
                    </a:p>
                  </a:txBody>
                  <a:tcPr marL="54864" marR="54864" marT="27432" marB="27432">
                    <a:solidFill>
                      <a:srgbClr val="FFFFFF"/>
                    </a:solidFill>
                  </a:tcPr>
                </a:tc>
                <a:tc>
                  <a:txBody>
                    <a:bodyPr wrap="square"/>
                    <a:lstStyle/>
                    <a:p>
                      <a:pPr algn="r"/>
                      <a:r>
                        <a:rPr sz="1100" b="0">
                          <a:solidFill>
                            <a:srgbClr val="14324A"/>
                          </a:solidFill>
                          <a:latin typeface="Courier New"/>
                        </a:rPr>
                        <a:t>199</a:t>
                      </a:r>
                    </a:p>
                  </a:txBody>
                  <a:tcPr marL="54864" marR="54864" marT="27432" marB="27432">
                    <a:solidFill>
                      <a:srgbClr val="FFFFFF"/>
                    </a:solidFill>
                  </a:tcPr>
                </a:tc>
                <a:tc>
                  <a:txBody>
                    <a:bodyPr wrap="square"/>
                    <a:lstStyle/>
                    <a:p>
                      <a:pPr algn="r"/>
                      <a:r>
                        <a:rPr sz="1100" b="0">
                          <a:solidFill>
                            <a:srgbClr val="14324A"/>
                          </a:solidFill>
                          <a:latin typeface="Courier New"/>
                        </a:rPr>
                        <a:t>91.48</a:t>
                      </a:r>
                    </a:p>
                  </a:txBody>
                  <a:tcPr marL="54864" marR="54864" marT="27432" marB="27432">
                    <a:solidFill>
                      <a:srgbClr val="FFFFFF"/>
                    </a:solidFill>
                  </a:tcPr>
                </a:tc>
                <a:tc>
                  <a:txBody>
                    <a:bodyPr wrap="square"/>
                    <a:lstStyle/>
                    <a:p>
                      <a:pPr algn="r"/>
                      <a:r>
                        <a:rPr sz="1100" b="0">
                          <a:solidFill>
                            <a:srgbClr val="14324A"/>
                          </a:solidFill>
                          <a:latin typeface="Courier New"/>
                        </a:rPr>
                        <a:t>17.69</a:t>
                      </a:r>
                    </a:p>
                  </a:txBody>
                  <a:tcPr marL="54864" marR="54864" marT="27432" marB="27432">
                    <a:solidFill>
                      <a:srgbClr val="FFFFFF"/>
                    </a:solidFill>
                  </a:tcPr>
                </a:tc>
                <a:tc>
                  <a:txBody>
                    <a:bodyPr wrap="square"/>
                    <a:lstStyle/>
                    <a:p>
                      <a:pPr algn="r"/>
                      <a:r>
                        <a:rPr sz="1100" b="0">
                          <a:solidFill>
                            <a:srgbClr val="14324A"/>
                          </a:solidFill>
                          <a:latin typeface="Courier New"/>
                        </a:rPr>
                        <a:t>16521768</a:t>
                      </a:r>
                    </a:p>
                  </a:txBody>
                  <a:tcPr marL="54864" marR="54864" marT="27432" marB="27432">
                    <a:solidFill>
                      <a:srgbClr val="FFFFFF"/>
                    </a:solidFill>
                  </a:tcPr>
                </a:tc>
              </a:tr>
              <a:tr h="301752">
                <a:tc>
                  <a:txBody>
                    <a:bodyPr wrap="square"/>
                    <a:lstStyle/>
                    <a:p>
                      <a:pPr algn="l"/>
                      <a:r>
                        <a:rPr sz="1100" b="0">
                          <a:solidFill>
                            <a:srgbClr val="14324A"/>
                          </a:solidFill>
                          <a:latin typeface="Calibri"/>
                        </a:rPr>
                        <a:t>Sulwe FM</a:t>
                      </a:r>
                    </a:p>
                  </a:txBody>
                  <a:tcPr marL="54864" marR="54864" marT="27432" marB="27432">
                    <a:solidFill>
                      <a:srgbClr val="FFFFFF"/>
                    </a:solidFill>
                  </a:tcPr>
                </a:tc>
                <a:tc>
                  <a:txBody>
                    <a:bodyPr wrap="square"/>
                    <a:lstStyle/>
                    <a:p>
                      <a:pPr algn="l"/>
                      <a:r>
                        <a:rPr sz="1100" b="0">
                          <a:solidFill>
                            <a:srgbClr val="14324A"/>
                          </a:solidFill>
                          <a:latin typeface="Calibri"/>
                        </a:rPr>
                        <a:t>Bukusu</a:t>
                      </a:r>
                    </a:p>
                  </a:txBody>
                  <a:tcPr marL="54864" marR="54864" marT="27432" marB="27432">
                    <a:solidFill>
                      <a:srgbClr val="FFFFFF"/>
                    </a:solidFill>
                  </a:tcPr>
                </a:tc>
                <a:tc>
                  <a:txBody>
                    <a:bodyPr wrap="square"/>
                    <a:lstStyle/>
                    <a:p>
                      <a:pPr algn="r"/>
                      <a:r>
                        <a:rPr sz="1100" b="0">
                          <a:solidFill>
                            <a:srgbClr val="14324A"/>
                          </a:solidFill>
                          <a:latin typeface="Courier New"/>
                        </a:rPr>
                        <a:t>16749</a:t>
                      </a:r>
                    </a:p>
                  </a:txBody>
                  <a:tcPr marL="54864" marR="54864" marT="27432" marB="27432">
                    <a:solidFill>
                      <a:srgbClr val="FFFFFF"/>
                    </a:solidFill>
                  </a:tcPr>
                </a:tc>
                <a:tc>
                  <a:txBody>
                    <a:bodyPr wrap="square"/>
                    <a:lstStyle/>
                    <a:p>
                      <a:pPr algn="r"/>
                      <a:r>
                        <a:rPr sz="1100" b="0">
                          <a:solidFill>
                            <a:srgbClr val="14324A"/>
                          </a:solidFill>
                          <a:latin typeface="Courier New"/>
                        </a:rPr>
                        <a:t>225</a:t>
                      </a:r>
                    </a:p>
                  </a:txBody>
                  <a:tcPr marL="54864" marR="54864" marT="27432" marB="27432">
                    <a:solidFill>
                      <a:srgbClr val="FFFFFF"/>
                    </a:solidFill>
                  </a:tcPr>
                </a:tc>
                <a:tc>
                  <a:txBody>
                    <a:bodyPr wrap="square"/>
                    <a:lstStyle/>
                    <a:p>
                      <a:pPr algn="r"/>
                      <a:r>
                        <a:rPr sz="1100" b="0">
                          <a:solidFill>
                            <a:srgbClr val="14324A"/>
                          </a:solidFill>
                          <a:latin typeface="Courier New"/>
                        </a:rPr>
                        <a:t>76.6</a:t>
                      </a:r>
                    </a:p>
                  </a:txBody>
                  <a:tcPr marL="54864" marR="54864" marT="27432" marB="27432">
                    <a:solidFill>
                      <a:srgbClr val="FFFFFF"/>
                    </a:solidFill>
                  </a:tcPr>
                </a:tc>
                <a:tc>
                  <a:txBody>
                    <a:bodyPr wrap="square"/>
                    <a:lstStyle/>
                    <a:p>
                      <a:pPr algn="r"/>
                      <a:r>
                        <a:rPr sz="1100" b="0">
                          <a:solidFill>
                            <a:srgbClr val="14324A"/>
                          </a:solidFill>
                          <a:latin typeface="Courier New"/>
                        </a:rPr>
                        <a:t>11.95</a:t>
                      </a:r>
                    </a:p>
                  </a:txBody>
                  <a:tcPr marL="54864" marR="54864" marT="27432" marB="27432">
                    <a:solidFill>
                      <a:srgbClr val="FFFFFF"/>
                    </a:solidFill>
                  </a:tcPr>
                </a:tc>
                <a:tc>
                  <a:txBody>
                    <a:bodyPr wrap="square"/>
                    <a:lstStyle/>
                    <a:p>
                      <a:pPr algn="r"/>
                      <a:r>
                        <a:rPr sz="1100" b="0">
                          <a:solidFill>
                            <a:srgbClr val="14324A"/>
                          </a:solidFill>
                          <a:latin typeface="Courier New"/>
                        </a:rPr>
                        <a:t>14484808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1" cy="2304288"/>
        </p:xfrm>
        <a:graphic>
          <a:graphicData uri="http://schemas.openxmlformats.org/drawingml/2006/table">
            <a:tbl>
              <a:tblPr firstRow="1" bandRow="1">
                <a:tableStyleId>{5C22544A-7EE6-4342-B048-85BDC9FD1C3A}</a:tableStyleId>
              </a:tblPr>
              <a:tblGrid>
                <a:gridCol w="1269574"/>
                <a:gridCol w="1523488"/>
                <a:gridCol w="1184935"/>
                <a:gridCol w="1184935"/>
                <a:gridCol w="2031318"/>
                <a:gridCol w="2623786"/>
                <a:gridCol w="1184935"/>
              </a:tblGrid>
              <a:tr h="384048">
                <a:tc>
                  <a:txBody>
                    <a:bodyPr wrap="square"/>
                    <a:lstStyle/>
                    <a:p>
                      <a:pPr algn="l"/>
                      <a:r>
                        <a:rPr sz="1200" b="1">
                          <a:solidFill>
                            <a:srgbClr val="14324A"/>
                          </a:solidFill>
                          <a:latin typeface="Calibri"/>
                        </a:rPr>
                        <a:t>Station</a:t>
                      </a:r>
                    </a:p>
                  </a:txBody>
                  <a:tcPr marL="54864" marR="54864" marT="27432" marB="27432">
                    <a:solidFill>
                      <a:srgbClr val="E8EEF3"/>
                    </a:solidFill>
                  </a:tcPr>
                </a:tc>
                <a:tc>
                  <a:txBody>
                    <a:bodyPr wrap="square"/>
                    <a:lstStyle/>
                    <a:p>
                      <a:pPr algn="l"/>
                      <a:r>
                        <a:rPr sz="1200" b="1">
                          <a:solidFill>
                            <a:srgbClr val="14324A"/>
                          </a:solidFill>
                          <a:latin typeface="Calibri"/>
                        </a:rPr>
                        <a:t>Broadcast language</a:t>
                      </a:r>
                    </a:p>
                  </a:txBody>
                  <a:tcPr marL="54864" marR="54864" marT="27432" marB="27432">
                    <a:solidFill>
                      <a:srgbClr val="E8EEF3"/>
                    </a:solidFill>
                  </a:tcPr>
                </a:tc>
                <a:tc>
                  <a:txBody>
                    <a:bodyPr wrap="square"/>
                    <a:lstStyle/>
                    <a:p>
                      <a:pPr algn="l"/>
                      <a:r>
                        <a:rPr sz="1200" b="1">
                          <a:solidFill>
                            <a:srgbClr val="14324A"/>
                          </a:solidFill>
                          <a:latin typeface="Calibri"/>
                        </a:rPr>
                        <a:t>Live scripts</a:t>
                      </a:r>
                    </a:p>
                  </a:txBody>
                  <a:tcPr marL="54864" marR="54864" marT="27432" marB="27432">
                    <a:solidFill>
                      <a:srgbClr val="E8EEF3"/>
                    </a:solidFill>
                  </a:tcPr>
                </a:tc>
                <a:tc>
                  <a:txBody>
                    <a:bodyPr wrap="square"/>
                    <a:lstStyle/>
                    <a:p>
                      <a:pPr algn="l"/>
                      <a:r>
                        <a:rPr sz="1200" b="1">
                          <a:solidFill>
                            <a:srgbClr val="14324A"/>
                          </a:solidFill>
                          <a:latin typeface="Calibri"/>
                        </a:rPr>
                        <a:t>Scripted days</a:t>
                      </a:r>
                    </a:p>
                  </a:txBody>
                  <a:tcPr marL="54864" marR="54864" marT="27432" marB="27432">
                    <a:solidFill>
                      <a:srgbClr val="E8EEF3"/>
                    </a:solidFill>
                  </a:tcPr>
                </a:tc>
                <a:tc>
                  <a:txBody>
                    <a:bodyPr wrap="square"/>
                    <a:lstStyle/>
                    <a:p>
                      <a:pPr algn="l"/>
                      <a:r>
                        <a:rPr sz="1200" b="1">
                          <a:solidFill>
                            <a:srgbClr val="14324A"/>
                          </a:solidFill>
                          <a:latin typeface="Calibri"/>
                        </a:rPr>
                        <a:t>Scripts per scripted day</a:t>
                      </a:r>
                    </a:p>
                  </a:txBody>
                  <a:tcPr marL="54864" marR="54864" marT="27432" marB="27432">
                    <a:solidFill>
                      <a:srgbClr val="E8EEF3"/>
                    </a:solidFill>
                  </a:tcPr>
                </a:tc>
                <a:tc>
                  <a:txBody>
                    <a:bodyPr wrap="square"/>
                    <a:lstStyle/>
                    <a:p>
                      <a:pPr algn="l"/>
                      <a:r>
                        <a:rPr sz="1200" b="1">
                          <a:solidFill>
                            <a:srgbClr val="14324A"/>
                          </a:solidFill>
                          <a:latin typeface="Calibri"/>
                        </a:rPr>
                        <a:t>Bulletin hours per scripted day</a:t>
                      </a:r>
                    </a:p>
                  </a:txBody>
                  <a:tcPr marL="54864" marR="54864" marT="27432" marB="27432">
                    <a:solidFill>
                      <a:srgbClr val="E8EEF3"/>
                    </a:solidFill>
                  </a:tcPr>
                </a:tc>
                <a:tc>
                  <a:txBody>
                    <a:bodyPr wrap="square"/>
                    <a:lstStyle/>
                    <a:p>
                      <a:pPr algn="l"/>
                      <a:r>
                        <a:rPr sz="1200" b="1">
                          <a:solidFill>
                            <a:srgbClr val="14324A"/>
                          </a:solidFill>
                          <a:latin typeface="Calibri"/>
                        </a:rPr>
                        <a:t>Characters</a:t>
                      </a:r>
                    </a:p>
                  </a:txBody>
                  <a:tcPr marL="54864" marR="54864" marT="27432" marB="27432">
                    <a:solidFill>
                      <a:srgbClr val="E8EEF3"/>
                    </a:solidFill>
                  </a:tcPr>
                </a:tc>
              </a:tr>
              <a:tr h="384048">
                <a:tc>
                  <a:txBody>
                    <a:bodyPr wrap="square"/>
                    <a:lstStyle/>
                    <a:p>
                      <a:pPr algn="l"/>
                      <a:r>
                        <a:rPr sz="1200" b="0">
                          <a:solidFill>
                            <a:srgbClr val="14324A"/>
                          </a:solidFill>
                          <a:latin typeface="Calibri"/>
                        </a:rPr>
                        <a:t>Bahari FM</a:t>
                      </a:r>
                    </a:p>
                  </a:txBody>
                  <a:tcPr marL="54864" marR="54864" marT="27432" marB="27432">
                    <a:solidFill>
                      <a:srgbClr val="FFFFFF"/>
                    </a:solidFill>
                  </a:tcPr>
                </a:tc>
                <a:tc>
                  <a:txBody>
                    <a:bodyPr wrap="square"/>
                    <a:lstStyle/>
                    <a:p>
                      <a:pPr algn="l"/>
                      <a:r>
                        <a:rPr sz="1200" b="0">
                          <a:solidFill>
                            <a:srgbClr val="14324A"/>
                          </a:solidFill>
                          <a:latin typeface="Calibri"/>
                        </a:rPr>
                        <a:t>Kiswahili</a:t>
                      </a:r>
                    </a:p>
                  </a:txBody>
                  <a:tcPr marL="54864" marR="54864" marT="27432" marB="27432">
                    <a:solidFill>
                      <a:srgbClr val="FFFFFF"/>
                    </a:solidFill>
                  </a:tcPr>
                </a:tc>
                <a:tc>
                  <a:txBody>
                    <a:bodyPr wrap="square"/>
                    <a:lstStyle/>
                    <a:p>
                      <a:pPr algn="r"/>
                      <a:r>
                        <a:rPr sz="1200" b="0">
                          <a:solidFill>
                            <a:srgbClr val="14324A"/>
                          </a:solidFill>
                          <a:latin typeface="Courier New"/>
                        </a:rPr>
                        <a:t>16177</a:t>
                      </a:r>
                    </a:p>
                  </a:txBody>
                  <a:tcPr marL="54864" marR="54864" marT="27432" marB="27432">
                    <a:solidFill>
                      <a:srgbClr val="FFFFFF"/>
                    </a:solidFill>
                  </a:tcPr>
                </a:tc>
                <a:tc>
                  <a:txBody>
                    <a:bodyPr wrap="square"/>
                    <a:lstStyle/>
                    <a:p>
                      <a:pPr algn="r"/>
                      <a:r>
                        <a:rPr sz="1200" b="0">
                          <a:solidFill>
                            <a:srgbClr val="14324A"/>
                          </a:solidFill>
                          <a:latin typeface="Courier New"/>
                        </a:rPr>
                        <a:t>222</a:t>
                      </a:r>
                    </a:p>
                  </a:txBody>
                  <a:tcPr marL="54864" marR="54864" marT="27432" marB="27432">
                    <a:solidFill>
                      <a:srgbClr val="FFFFFF"/>
                    </a:solidFill>
                  </a:tcPr>
                </a:tc>
                <a:tc>
                  <a:txBody>
                    <a:bodyPr wrap="square"/>
                    <a:lstStyle/>
                    <a:p>
                      <a:pPr algn="r"/>
                      <a:r>
                        <a:rPr sz="1200" b="0">
                          <a:solidFill>
                            <a:srgbClr val="14324A"/>
                          </a:solidFill>
                          <a:latin typeface="Courier New"/>
                        </a:rPr>
                        <a:t>77.55</a:t>
                      </a:r>
                    </a:p>
                  </a:txBody>
                  <a:tcPr marL="54864" marR="54864" marT="27432" marB="27432">
                    <a:solidFill>
                      <a:srgbClr val="FFFFFF"/>
                    </a:solidFill>
                  </a:tcPr>
                </a:tc>
                <a:tc>
                  <a:txBody>
                    <a:bodyPr wrap="square"/>
                    <a:lstStyle/>
                    <a:p>
                      <a:pPr algn="r"/>
                      <a:r>
                        <a:rPr sz="1200" b="0">
                          <a:solidFill>
                            <a:srgbClr val="14324A"/>
                          </a:solidFill>
                          <a:latin typeface="Courier New"/>
                        </a:rPr>
                        <a:t>16.8</a:t>
                      </a:r>
                    </a:p>
                  </a:txBody>
                  <a:tcPr marL="54864" marR="54864" marT="27432" marB="27432">
                    <a:solidFill>
                      <a:srgbClr val="FFFFFF"/>
                    </a:solidFill>
                  </a:tcPr>
                </a:tc>
                <a:tc>
                  <a:txBody>
                    <a:bodyPr wrap="square"/>
                    <a:lstStyle/>
                    <a:p>
                      <a:pPr algn="r"/>
                      <a:r>
                        <a:rPr sz="1200" b="0">
                          <a:solidFill>
                            <a:srgbClr val="14324A"/>
                          </a:solidFill>
                          <a:latin typeface="Courier New"/>
                        </a:rPr>
                        <a:t>12789664</a:t>
                      </a:r>
                    </a:p>
                  </a:txBody>
                  <a:tcPr marL="54864" marR="54864" marT="27432" marB="27432">
                    <a:solidFill>
                      <a:srgbClr val="FFFFFF"/>
                    </a:solidFill>
                  </a:tcPr>
                </a:tc>
              </a:tr>
              <a:tr h="384048">
                <a:tc>
                  <a:txBody>
                    <a:bodyPr wrap="square"/>
                    <a:lstStyle/>
                    <a:p>
                      <a:pPr algn="l"/>
                      <a:r>
                        <a:rPr sz="1200" b="0">
                          <a:solidFill>
                            <a:srgbClr val="14324A"/>
                          </a:solidFill>
                          <a:latin typeface="Calibri"/>
                        </a:rPr>
                        <a:t>Inooro FM</a:t>
                      </a:r>
                    </a:p>
                  </a:txBody>
                  <a:tcPr marL="54864" marR="54864" marT="27432" marB="27432">
                    <a:solidFill>
                      <a:srgbClr val="FFFFFF"/>
                    </a:solidFill>
                  </a:tcPr>
                </a:tc>
                <a:tc>
                  <a:txBody>
                    <a:bodyPr wrap="square"/>
                    <a:lstStyle/>
                    <a:p>
                      <a:pPr algn="l"/>
                      <a:r>
                        <a:rPr sz="1200" b="0">
                          <a:solidFill>
                            <a:srgbClr val="14324A"/>
                          </a:solidFill>
                          <a:latin typeface="Calibri"/>
                        </a:rPr>
                        <a:t>Kikuyu</a:t>
                      </a:r>
                    </a:p>
                  </a:txBody>
                  <a:tcPr marL="54864" marR="54864" marT="27432" marB="27432">
                    <a:solidFill>
                      <a:srgbClr val="FFFFFF"/>
                    </a:solidFill>
                  </a:tcPr>
                </a:tc>
                <a:tc>
                  <a:txBody>
                    <a:bodyPr wrap="square"/>
                    <a:lstStyle/>
                    <a:p>
                      <a:pPr algn="r"/>
                      <a:r>
                        <a:rPr sz="1200" b="0">
                          <a:solidFill>
                            <a:srgbClr val="14324A"/>
                          </a:solidFill>
                          <a:latin typeface="Courier New"/>
                        </a:rPr>
                        <a:t>15376</a:t>
                      </a:r>
                    </a:p>
                  </a:txBody>
                  <a:tcPr marL="54864" marR="54864" marT="27432" marB="27432">
                    <a:solidFill>
                      <a:srgbClr val="FFFFFF"/>
                    </a:solidFill>
                  </a:tcPr>
                </a:tc>
                <a:tc>
                  <a:txBody>
                    <a:bodyPr wrap="square"/>
                    <a:lstStyle/>
                    <a:p>
                      <a:pPr algn="r"/>
                      <a:r>
                        <a:rPr sz="1200" b="0">
                          <a:solidFill>
                            <a:srgbClr val="14324A"/>
                          </a:solidFill>
                          <a:latin typeface="Courier New"/>
                        </a:rPr>
                        <a:t>209</a:t>
                      </a:r>
                    </a:p>
                  </a:txBody>
                  <a:tcPr marL="54864" marR="54864" marT="27432" marB="27432">
                    <a:solidFill>
                      <a:srgbClr val="FFFFFF"/>
                    </a:solidFill>
                  </a:tcPr>
                </a:tc>
                <a:tc>
                  <a:txBody>
                    <a:bodyPr wrap="square"/>
                    <a:lstStyle/>
                    <a:p>
                      <a:pPr algn="r"/>
                      <a:r>
                        <a:rPr sz="1200" b="0">
                          <a:solidFill>
                            <a:srgbClr val="14324A"/>
                          </a:solidFill>
                          <a:latin typeface="Courier New"/>
                        </a:rPr>
                        <a:t>75.0</a:t>
                      </a:r>
                    </a:p>
                  </a:txBody>
                  <a:tcPr marL="54864" marR="54864" marT="27432" marB="27432">
                    <a:solidFill>
                      <a:srgbClr val="FFFFFF"/>
                    </a:solidFill>
                  </a:tcPr>
                </a:tc>
                <a:tc>
                  <a:txBody>
                    <a:bodyPr wrap="square"/>
                    <a:lstStyle/>
                    <a:p>
                      <a:pPr algn="r"/>
                      <a:r>
                        <a:rPr sz="1200" b="0">
                          <a:solidFill>
                            <a:srgbClr val="14324A"/>
                          </a:solidFill>
                          <a:latin typeface="Courier New"/>
                        </a:rPr>
                        <a:t>15.03</a:t>
                      </a:r>
                    </a:p>
                  </a:txBody>
                  <a:tcPr marL="54864" marR="54864" marT="27432" marB="27432">
                    <a:solidFill>
                      <a:srgbClr val="FFFFFF"/>
                    </a:solidFill>
                  </a:tcPr>
                </a:tc>
                <a:tc>
                  <a:txBody>
                    <a:bodyPr wrap="square"/>
                    <a:lstStyle/>
                    <a:p>
                      <a:pPr algn="r"/>
                      <a:r>
                        <a:rPr sz="1200" b="0">
                          <a:solidFill>
                            <a:srgbClr val="14324A"/>
                          </a:solidFill>
                          <a:latin typeface="Courier New"/>
                        </a:rPr>
                        <a:t>11946715</a:t>
                      </a:r>
                    </a:p>
                  </a:txBody>
                  <a:tcPr marL="54864" marR="54864" marT="27432" marB="27432">
                    <a:solidFill>
                      <a:srgbClr val="FFFFFF"/>
                    </a:solidFill>
                  </a:tcPr>
                </a:tc>
              </a:tr>
              <a:tr h="384048">
                <a:tc>
                  <a:txBody>
                    <a:bodyPr wrap="square"/>
                    <a:lstStyle/>
                    <a:p>
                      <a:pPr algn="l"/>
                      <a:r>
                        <a:rPr sz="1200" b="0">
                          <a:solidFill>
                            <a:srgbClr val="14324A"/>
                          </a:solidFill>
                          <a:latin typeface="Calibri"/>
                        </a:rPr>
                        <a:t>Vuuka</a:t>
                      </a:r>
                    </a:p>
                  </a:txBody>
                  <a:tcPr marL="54864" marR="54864" marT="27432" marB="27432">
                    <a:solidFill>
                      <a:srgbClr val="FFFFFF"/>
                    </a:solidFill>
                  </a:tcPr>
                </a:tc>
                <a:tc>
                  <a:txBody>
                    <a:bodyPr wrap="square"/>
                    <a:lstStyle/>
                    <a:p>
                      <a:pPr algn="l"/>
                      <a:r>
                        <a:rPr sz="1200" b="0">
                          <a:solidFill>
                            <a:srgbClr val="14324A"/>
                          </a:solidFill>
                          <a:latin typeface="Calibri"/>
                        </a:rPr>
                        <a:t>Maragoli</a:t>
                      </a:r>
                    </a:p>
                  </a:txBody>
                  <a:tcPr marL="54864" marR="54864" marT="27432" marB="27432">
                    <a:solidFill>
                      <a:srgbClr val="FFFFFF"/>
                    </a:solidFill>
                  </a:tcPr>
                </a:tc>
                <a:tc>
                  <a:txBody>
                    <a:bodyPr wrap="square"/>
                    <a:lstStyle/>
                    <a:p>
                      <a:pPr algn="r"/>
                      <a:r>
                        <a:rPr sz="1200" b="0">
                          <a:solidFill>
                            <a:srgbClr val="14324A"/>
                          </a:solidFill>
                          <a:latin typeface="Courier New"/>
                        </a:rPr>
                        <a:t>15336</a:t>
                      </a:r>
                    </a:p>
                  </a:txBody>
                  <a:tcPr marL="54864" marR="54864" marT="27432" marB="27432">
                    <a:solidFill>
                      <a:srgbClr val="FFFFFF"/>
                    </a:solidFill>
                  </a:tcPr>
                </a:tc>
                <a:tc>
                  <a:txBody>
                    <a:bodyPr wrap="square"/>
                    <a:lstStyle/>
                    <a:p>
                      <a:pPr algn="r"/>
                      <a:r>
                        <a:rPr sz="1200" b="0">
                          <a:solidFill>
                            <a:srgbClr val="14324A"/>
                          </a:solidFill>
                          <a:latin typeface="Courier New"/>
                        </a:rPr>
                        <a:t>222</a:t>
                      </a:r>
                    </a:p>
                  </a:txBody>
                  <a:tcPr marL="54864" marR="54864" marT="27432" marB="27432">
                    <a:solidFill>
                      <a:srgbClr val="FFFFFF"/>
                    </a:solidFill>
                  </a:tcPr>
                </a:tc>
                <a:tc>
                  <a:txBody>
                    <a:bodyPr wrap="square"/>
                    <a:lstStyle/>
                    <a:p>
                      <a:pPr algn="r"/>
                      <a:r>
                        <a:rPr sz="1200" b="0">
                          <a:solidFill>
                            <a:srgbClr val="14324A"/>
                          </a:solidFill>
                          <a:latin typeface="Courier New"/>
                        </a:rPr>
                        <a:t>70.78</a:t>
                      </a:r>
                    </a:p>
                  </a:txBody>
                  <a:tcPr marL="54864" marR="54864" marT="27432" marB="27432">
                    <a:solidFill>
                      <a:srgbClr val="FFFFFF"/>
                    </a:solidFill>
                  </a:tcPr>
                </a:tc>
                <a:tc>
                  <a:txBody>
                    <a:bodyPr wrap="square"/>
                    <a:lstStyle/>
                    <a:p>
                      <a:pPr algn="r"/>
                      <a:r>
                        <a:rPr sz="1200" b="0">
                          <a:solidFill>
                            <a:srgbClr val="14324A"/>
                          </a:solidFill>
                          <a:latin typeface="Courier New"/>
                        </a:rPr>
                        <a:t>14.51</a:t>
                      </a:r>
                    </a:p>
                  </a:txBody>
                  <a:tcPr marL="54864" marR="54864" marT="27432" marB="27432">
                    <a:solidFill>
                      <a:srgbClr val="FFFFFF"/>
                    </a:solidFill>
                  </a:tcPr>
                </a:tc>
                <a:tc>
                  <a:txBody>
                    <a:bodyPr wrap="square"/>
                    <a:lstStyle/>
                    <a:p>
                      <a:pPr algn="r"/>
                      <a:r>
                        <a:rPr sz="1200" b="0">
                          <a:solidFill>
                            <a:srgbClr val="14324A"/>
                          </a:solidFill>
                          <a:latin typeface="Courier New"/>
                        </a:rPr>
                        <a:t>12773790</a:t>
                      </a:r>
                    </a:p>
                  </a:txBody>
                  <a:tcPr marL="54864" marR="54864" marT="27432" marB="27432">
                    <a:solidFill>
                      <a:srgbClr val="FFFFFF"/>
                    </a:solidFill>
                  </a:tcPr>
                </a:tc>
              </a:tr>
              <a:tr h="384048">
                <a:tc>
                  <a:txBody>
                    <a:bodyPr wrap="square"/>
                    <a:lstStyle/>
                    <a:p>
                      <a:pPr algn="l"/>
                      <a:r>
                        <a:rPr sz="1200" b="0">
                          <a:solidFill>
                            <a:srgbClr val="14324A"/>
                          </a:solidFill>
                          <a:latin typeface="Calibri"/>
                        </a:rPr>
                        <a:t>Ramogi FM</a:t>
                      </a:r>
                    </a:p>
                  </a:txBody>
                  <a:tcPr marL="54864" marR="54864" marT="27432" marB="27432">
                    <a:solidFill>
                      <a:srgbClr val="FFFFFF"/>
                    </a:solidFill>
                  </a:tcPr>
                </a:tc>
                <a:tc>
                  <a:txBody>
                    <a:bodyPr wrap="square"/>
                    <a:lstStyle/>
                    <a:p>
                      <a:pPr algn="l"/>
                      <a:r>
                        <a:rPr sz="1200" b="0">
                          <a:solidFill>
                            <a:srgbClr val="14324A"/>
                          </a:solidFill>
                          <a:latin typeface="Calibri"/>
                        </a:rPr>
                        <a:t>Luo</a:t>
                      </a:r>
                    </a:p>
                  </a:txBody>
                  <a:tcPr marL="54864" marR="54864" marT="27432" marB="27432">
                    <a:solidFill>
                      <a:srgbClr val="FFFFFF"/>
                    </a:solidFill>
                  </a:tcPr>
                </a:tc>
                <a:tc>
                  <a:txBody>
                    <a:bodyPr wrap="square"/>
                    <a:lstStyle/>
                    <a:p>
                      <a:pPr algn="r"/>
                      <a:r>
                        <a:rPr sz="1200" b="0">
                          <a:solidFill>
                            <a:srgbClr val="14324A"/>
                          </a:solidFill>
                          <a:latin typeface="Courier New"/>
                        </a:rPr>
                        <a:t>8013</a:t>
                      </a:r>
                    </a:p>
                  </a:txBody>
                  <a:tcPr marL="54864" marR="54864" marT="27432" marB="27432">
                    <a:solidFill>
                      <a:srgbClr val="FFFFFF"/>
                    </a:solidFill>
                  </a:tcPr>
                </a:tc>
                <a:tc>
                  <a:txBody>
                    <a:bodyPr wrap="square"/>
                    <a:lstStyle/>
                    <a:p>
                      <a:pPr algn="r"/>
                      <a:r>
                        <a:rPr sz="1200" b="0">
                          <a:solidFill>
                            <a:srgbClr val="14324A"/>
                          </a:solidFill>
                          <a:latin typeface="Courier New"/>
                        </a:rPr>
                        <a:t>222</a:t>
                      </a:r>
                    </a:p>
                  </a:txBody>
                  <a:tcPr marL="54864" marR="54864" marT="27432" marB="27432">
                    <a:solidFill>
                      <a:srgbClr val="FFFFFF"/>
                    </a:solidFill>
                  </a:tcPr>
                </a:tc>
                <a:tc>
                  <a:txBody>
                    <a:bodyPr wrap="square"/>
                    <a:lstStyle/>
                    <a:p>
                      <a:pPr algn="r"/>
                      <a:r>
                        <a:rPr sz="1200" b="0">
                          <a:solidFill>
                            <a:srgbClr val="14324A"/>
                          </a:solidFill>
                          <a:latin typeface="Courier New"/>
                        </a:rPr>
                        <a:t>39.8</a:t>
                      </a:r>
                    </a:p>
                  </a:txBody>
                  <a:tcPr marL="54864" marR="54864" marT="27432" marB="27432">
                    <a:solidFill>
                      <a:srgbClr val="FFFFFF"/>
                    </a:solidFill>
                  </a:tcPr>
                </a:tc>
                <a:tc>
                  <a:txBody>
                    <a:bodyPr wrap="square"/>
                    <a:lstStyle/>
                    <a:p>
                      <a:pPr algn="r"/>
                      <a:r>
                        <a:rPr sz="1200" b="0">
                          <a:solidFill>
                            <a:srgbClr val="14324A"/>
                          </a:solidFill>
                          <a:latin typeface="Courier New"/>
                        </a:rPr>
                        <a:t>6.98</a:t>
                      </a:r>
                    </a:p>
                  </a:txBody>
                  <a:tcPr marL="54864" marR="54864" marT="27432" marB="27432">
                    <a:solidFill>
                      <a:srgbClr val="FFFFFF"/>
                    </a:solidFill>
                  </a:tcPr>
                </a:tc>
                <a:tc>
                  <a:txBody>
                    <a:bodyPr wrap="square"/>
                    <a:lstStyle/>
                    <a:p>
                      <a:pPr algn="r"/>
                      <a:r>
                        <a:rPr sz="1200" b="0">
                          <a:solidFill>
                            <a:srgbClr val="14324A"/>
                          </a:solidFill>
                          <a:latin typeface="Courier New"/>
                        </a:rPr>
                        <a:t>8574493</a:t>
                      </a:r>
                    </a:p>
                  </a:txBody>
                  <a:tcPr marL="54864" marR="54864" marT="27432" marB="27432">
                    <a:solidFill>
                      <a:srgbClr val="FFFFFF"/>
                    </a:solidFill>
                  </a:tcPr>
                </a:tc>
              </a:tr>
              <a:tr h="384048">
                <a:tc>
                  <a:txBody>
                    <a:bodyPr wrap="square"/>
                    <a:lstStyle/>
                    <a:p>
                      <a:pPr algn="l"/>
                      <a:r>
                        <a:rPr sz="1200" b="0">
                          <a:solidFill>
                            <a:srgbClr val="14324A"/>
                          </a:solidFill>
                          <a:latin typeface="Calibri"/>
                        </a:rPr>
                        <a:t>unassigned hour</a:t>
                      </a:r>
                    </a:p>
                  </a:txBody>
                  <a:tcPr marL="54864" marR="54864" marT="27432" marB="27432">
                    <a:solidFill>
                      <a:srgbClr val="FFFFFF"/>
                    </a:solidFill>
                  </a:tcPr>
                </a:tc>
                <a:tc>
                  <a:txBody>
                    <a:bodyPr wrap="square"/>
                    <a:lstStyle/>
                    <a:p>
                      <a:pPr algn="l"/>
                      <a:r>
                        <a:rPr sz="1200" b="0">
                          <a:solidFill>
                            <a:srgbClr val="14324A"/>
                          </a:solidFill>
                          <a:latin typeface="Calibri"/>
                        </a:rPr>
                        <a:t>—</a:t>
                      </a:r>
                    </a:p>
                  </a:txBody>
                  <a:tcPr marL="54864" marR="54864" marT="27432" marB="27432">
                    <a:solidFill>
                      <a:srgbClr val="FFFFFF"/>
                    </a:solidFill>
                  </a:tcPr>
                </a:tc>
                <a:tc>
                  <a:txBody>
                    <a:bodyPr wrap="square"/>
                    <a:lstStyle/>
                    <a:p>
                      <a:pPr algn="r"/>
                      <a:r>
                        <a:rPr sz="1200" b="0">
                          <a:solidFill>
                            <a:srgbClr val="14324A"/>
                          </a:solidFill>
                          <a:latin typeface="Courier New"/>
                        </a:rPr>
                        <a:t>518</a:t>
                      </a:r>
                    </a:p>
                  </a:txBody>
                  <a:tcPr marL="54864" marR="54864" marT="27432" marB="27432">
                    <a:solidFill>
                      <a:srgbClr val="FFFFFF"/>
                    </a:solidFill>
                  </a:tcPr>
                </a:tc>
                <a:tc>
                  <a:txBody>
                    <a:bodyPr wrap="square"/>
                    <a:lstStyle/>
                    <a:p>
                      <a:pPr algn="r"/>
                      <a:r>
                        <a:rPr sz="1200" b="0">
                          <a:solidFill>
                            <a:srgbClr val="14324A"/>
                          </a:solidFill>
                          <a:latin typeface="Courier New"/>
                        </a:rPr>
                        <a:t>31</a:t>
                      </a:r>
                    </a:p>
                  </a:txBody>
                  <a:tcPr marL="54864" marR="54864" marT="27432" marB="27432">
                    <a:solidFill>
                      <a:srgbClr val="FFFFFF"/>
                    </a:solidFill>
                  </a:tcPr>
                </a:tc>
                <a:tc>
                  <a:txBody>
                    <a:bodyPr wrap="square"/>
                    <a:lstStyle/>
                    <a:p>
                      <a:pPr algn="r"/>
                      <a:r>
                        <a:rPr sz="1200" b="0">
                          <a:solidFill>
                            <a:srgbClr val="14324A"/>
                          </a:solidFill>
                          <a:latin typeface="Courier New"/>
                        </a:rPr>
                        <a:t>17.55</a:t>
                      </a:r>
                    </a:p>
                  </a:txBody>
                  <a:tcPr marL="54864" marR="54864" marT="27432" marB="27432">
                    <a:solidFill>
                      <a:srgbClr val="FFFFFF"/>
                    </a:solidFill>
                  </a:tcPr>
                </a:tc>
                <a:tc>
                  <a:txBody>
                    <a:bodyPr wrap="square"/>
                    <a:lstStyle/>
                    <a:p>
                      <a:pPr algn="r"/>
                      <a:r>
                        <a:rPr sz="1200" b="0">
                          <a:solidFill>
                            <a:srgbClr val="14324A"/>
                          </a:solidFill>
                          <a:latin typeface="Courier New"/>
                        </a:rPr>
                        <a:t>3.65</a:t>
                      </a:r>
                    </a:p>
                  </a:txBody>
                  <a:tcPr marL="54864" marR="54864" marT="27432" marB="27432">
                    <a:solidFill>
                      <a:srgbClr val="FFFFFF"/>
                    </a:solidFill>
                  </a:tcPr>
                </a:tc>
                <a:tc>
                  <a:txBody>
                    <a:bodyPr wrap="square"/>
                    <a:lstStyle/>
                    <a:p>
                      <a:pPr algn="r"/>
                      <a:r>
                        <a:rPr sz="1200" b="0">
                          <a:solidFill>
                            <a:srgbClr val="14324A"/>
                          </a:solidFill>
                          <a:latin typeface="Courier New"/>
                        </a:rPr>
                        <a:t>481289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Transcripts by language folder — read by the served text language model</a:t>
            </a:r>
          </a:p>
        </p:txBody>
      </p:sp>
      <p:graphicFrame>
        <p:nvGraphicFramePr>
          <p:cNvPr id="4" name="Table 3"/>
          <p:cNvGraphicFramePr>
            <a:graphicFrameLocks noGrp="1"/>
          </p:cNvGraphicFramePr>
          <p:nvPr/>
        </p:nvGraphicFramePr>
        <p:xfrm>
          <a:off x="594360" y="1920240"/>
          <a:ext cx="11002971" cy="3017520"/>
        </p:xfrm>
        <a:graphic>
          <a:graphicData uri="http://schemas.openxmlformats.org/drawingml/2006/table">
            <a:tbl>
              <a:tblPr firstRow="1" bandRow="1">
                <a:tableStyleId>{5C22544A-7EE6-4342-B048-85BDC9FD1C3A}</a:tableStyleId>
              </a:tblPr>
              <a:tblGrid>
                <a:gridCol w="1645304"/>
                <a:gridCol w="1645304"/>
                <a:gridCol w="1439641"/>
                <a:gridCol w="1439641"/>
                <a:gridCol w="1850967"/>
                <a:gridCol w="2982114"/>
              </a:tblGrid>
              <a:tr h="377190">
                <a:tc>
                  <a:txBody>
                    <a:bodyPr wrap="square"/>
                    <a:lstStyle/>
                    <a:p>
                      <a:pPr algn="l"/>
                      <a:r>
                        <a:rPr sz="1100" b="1">
                          <a:solidFill>
                            <a:srgbClr val="14324A"/>
                          </a:solidFill>
                          <a:latin typeface="Calibri"/>
                        </a:rPr>
                        <a:t>Language</a:t>
                      </a:r>
                    </a:p>
                  </a:txBody>
                  <a:tcPr marL="54864" marR="54864" marT="27432" marB="27432">
                    <a:solidFill>
                      <a:srgbClr val="E8EEF3"/>
                    </a:solidFill>
                  </a:tcPr>
                </a:tc>
                <a:tc>
                  <a:txBody>
                    <a:bodyPr wrap="square"/>
                    <a:lstStyle/>
                    <a:p>
                      <a:pPr algn="l"/>
                      <a:r>
                        <a:rPr sz="1100" b="1">
                          <a:solidFill>
                            <a:srgbClr val="14324A"/>
                          </a:solidFill>
                          <a:latin typeface="Calibri"/>
                        </a:rPr>
                        <a:t>Transcripts read</a:t>
                      </a:r>
                    </a:p>
                  </a:txBody>
                  <a:tcPr marL="54864" marR="54864" marT="27432" marB="27432">
                    <a:solidFill>
                      <a:srgbClr val="E8EEF3"/>
                    </a:solidFill>
                  </a:tcPr>
                </a:tc>
                <a:tc>
                  <a:txBody>
                    <a:bodyPr wrap="square"/>
                    <a:lstStyle/>
                    <a:p>
                      <a:pPr algn="l"/>
                      <a:r>
                        <a:rPr sz="1100" b="1">
                          <a:solidFill>
                            <a:srgbClr val="14324A"/>
                          </a:solidFill>
                          <a:latin typeface="Calibri"/>
                        </a:rPr>
                        <a:t>Characters</a:t>
                      </a:r>
                    </a:p>
                  </a:txBody>
                  <a:tcPr marL="54864" marR="54864" marT="27432" marB="27432">
                    <a:solidFill>
                      <a:srgbClr val="E8EEF3"/>
                    </a:solidFill>
                  </a:tcPr>
                </a:tc>
                <a:tc>
                  <a:txBody>
                    <a:bodyPr wrap="square"/>
                    <a:lstStyle/>
                    <a:p>
                      <a:pPr algn="l"/>
                      <a:r>
                        <a:rPr sz="1100" b="1">
                          <a:solidFill>
                            <a:srgbClr val="14324A"/>
                          </a:solidFill>
                          <a:latin typeface="Calibri"/>
                        </a:rPr>
                        <a:t>Words</a:t>
                      </a:r>
                    </a:p>
                  </a:txBody>
                  <a:tcPr marL="54864" marR="54864" marT="27432" marB="27432">
                    <a:solidFill>
                      <a:srgbClr val="E8EEF3"/>
                    </a:solidFill>
                  </a:tcPr>
                </a:tc>
                <a:tc>
                  <a:txBody>
                    <a:bodyPr wrap="square"/>
                    <a:lstStyle/>
                    <a:p>
                      <a:pPr algn="l"/>
                      <a:r>
                        <a:rPr sz="1100" b="1">
                          <a:solidFill>
                            <a:srgbClr val="14324A"/>
                          </a:solidFill>
                          <a:latin typeface="Calibri"/>
                        </a:rPr>
                        <a:t>Agrees with folder</a:t>
                      </a:r>
                    </a:p>
                  </a:txBody>
                  <a:tcPr marL="54864" marR="54864" marT="27432" marB="27432">
                    <a:solidFill>
                      <a:srgbClr val="E8EEF3"/>
                    </a:solidFill>
                  </a:tcPr>
                </a:tc>
                <a:tc>
                  <a:txBody>
                    <a:bodyPr wrap="square"/>
                    <a:lstStyle/>
                    <a:p>
                      <a:pPr algn="l"/>
                      <a:r>
                        <a:rPr sz="1100" b="1">
                          <a:solidFill>
                            <a:srgbClr val="14324A"/>
                          </a:solidFill>
                          <a:latin typeface="Calibri"/>
                        </a:rPr>
                        <a:t>Files whose top label matches</a:t>
                      </a:r>
                    </a:p>
                  </a:txBody>
                  <a:tcPr marL="54864" marR="54864" marT="27432" marB="27432">
                    <a:solidFill>
                      <a:srgbClr val="E8EEF3"/>
                    </a:solidFill>
                  </a:tcPr>
                </a:tc>
              </a:tr>
              <a:tr h="377190">
                <a:tc>
                  <a:txBody>
                    <a:bodyPr wrap="square"/>
                    <a:lstStyle/>
                    <a:p>
                      <a:pPr algn="l"/>
                      <a:r>
                        <a:rPr sz="1100" b="0">
                          <a:solidFill>
                            <a:srgbClr val="14324A"/>
                          </a:solidFill>
                          <a:latin typeface="Calibri"/>
                        </a:rPr>
                        <a:t>Ekegusii (Kisii)</a:t>
                      </a:r>
                    </a:p>
                  </a:txBody>
                  <a:tcPr marL="54864" marR="54864" marT="27432" marB="27432">
                    <a:solidFill>
                      <a:srgbClr val="FFFFFF"/>
                    </a:solidFill>
                  </a:tcPr>
                </a:tc>
                <a:tc>
                  <a:txBody>
                    <a:bodyPr wrap="square"/>
                    <a:lstStyle/>
                    <a:p>
                      <a:pPr algn="r"/>
                      <a:r>
                        <a:rPr sz="1100" b="0">
                          <a:solidFill>
                            <a:srgbClr val="14324A"/>
                          </a:solidFill>
                          <a:latin typeface="Courier New"/>
                        </a:rPr>
                        <a:t>698</a:t>
                      </a:r>
                    </a:p>
                  </a:txBody>
                  <a:tcPr marL="54864" marR="54864" marT="27432" marB="27432">
                    <a:solidFill>
                      <a:srgbClr val="FFFFFF"/>
                    </a:solidFill>
                  </a:tcPr>
                </a:tc>
                <a:tc>
                  <a:txBody>
                    <a:bodyPr wrap="square"/>
                    <a:lstStyle/>
                    <a:p>
                      <a:pPr algn="r"/>
                      <a:r>
                        <a:rPr sz="1100" b="0">
                          <a:solidFill>
                            <a:srgbClr val="14324A"/>
                          </a:solidFill>
                          <a:latin typeface="Courier New"/>
                        </a:rPr>
                        <a:t>4474462</a:t>
                      </a:r>
                    </a:p>
                  </a:txBody>
                  <a:tcPr marL="54864" marR="54864" marT="27432" marB="27432">
                    <a:solidFill>
                      <a:srgbClr val="FFFFFF"/>
                    </a:solidFill>
                  </a:tcPr>
                </a:tc>
                <a:tc>
                  <a:txBody>
                    <a:bodyPr wrap="square"/>
                    <a:lstStyle/>
                    <a:p>
                      <a:pPr algn="r"/>
                      <a:r>
                        <a:rPr sz="1100" b="0">
                          <a:solidFill>
                            <a:srgbClr val="14324A"/>
                          </a:solidFill>
                          <a:latin typeface="Courier New"/>
                        </a:rPr>
                        <a:t>638478</a:t>
                      </a:r>
                    </a:p>
                  </a:txBody>
                  <a:tcPr marL="54864" marR="54864" marT="27432" marB="27432">
                    <a:solidFill>
                      <a:srgbClr val="FFFFFF"/>
                    </a:solidFill>
                  </a:tcPr>
                </a:tc>
                <a:tc>
                  <a:txBody>
                    <a:bodyPr wrap="square"/>
                    <a:lstStyle/>
                    <a:p>
                      <a:pPr algn="r"/>
                      <a:r>
                        <a:rPr sz="1100" b="0">
                          <a:solidFill>
                            <a:srgbClr val="14324A"/>
                          </a:solidFill>
                          <a:latin typeface="Courier New"/>
                        </a:rPr>
                        <a:t>99.6%</a:t>
                      </a:r>
                    </a:p>
                  </a:txBody>
                  <a:tcPr marL="54864" marR="54864" marT="27432" marB="27432">
                    <a:solidFill>
                      <a:srgbClr val="FFFFFF"/>
                    </a:solidFill>
                  </a:tcPr>
                </a:tc>
                <a:tc>
                  <a:txBody>
                    <a:bodyPr wrap="square"/>
                    <a:lstStyle/>
                    <a:p>
                      <a:pPr algn="r"/>
                      <a:r>
                        <a:rPr sz="1100" b="0">
                          <a:solidFill>
                            <a:srgbClr val="14324A"/>
                          </a:solidFill>
                          <a:latin typeface="Courier New"/>
                        </a:rPr>
                        <a:t>697</a:t>
                      </a:r>
                    </a:p>
                  </a:txBody>
                  <a:tcPr marL="54864" marR="54864" marT="27432" marB="27432">
                    <a:solidFill>
                      <a:srgbClr val="FFFFFF"/>
                    </a:solidFill>
                  </a:tcPr>
                </a:tc>
              </a:tr>
              <a:tr h="377190">
                <a:tc>
                  <a:txBody>
                    <a:bodyPr wrap="square"/>
                    <a:lstStyle/>
                    <a:p>
                      <a:pPr algn="l"/>
                      <a:r>
                        <a:rPr sz="1100" b="0">
                          <a:solidFill>
                            <a:srgbClr val="14324A"/>
                          </a:solidFill>
                          <a:latin typeface="Calibri"/>
                        </a:rPr>
                        <a:t>Gikuyu (Kikuyu)</a:t>
                      </a:r>
                    </a:p>
                  </a:txBody>
                  <a:tcPr marL="54864" marR="54864" marT="27432" marB="27432">
                    <a:solidFill>
                      <a:srgbClr val="FFFFFF"/>
                    </a:solidFill>
                  </a:tcPr>
                </a:tc>
                <a:tc>
                  <a:txBody>
                    <a:bodyPr wrap="square"/>
                    <a:lstStyle/>
                    <a:p>
                      <a:pPr algn="r"/>
                      <a:r>
                        <a:rPr sz="1100" b="0">
                          <a:solidFill>
                            <a:srgbClr val="14324A"/>
                          </a:solidFill>
                          <a:latin typeface="Courier New"/>
                        </a:rPr>
                        <a:t>298</a:t>
                      </a:r>
                    </a:p>
                  </a:txBody>
                  <a:tcPr marL="54864" marR="54864" marT="27432" marB="27432">
                    <a:solidFill>
                      <a:srgbClr val="FFFFFF"/>
                    </a:solidFill>
                  </a:tcPr>
                </a:tc>
                <a:tc>
                  <a:txBody>
                    <a:bodyPr wrap="square"/>
                    <a:lstStyle/>
                    <a:p>
                      <a:pPr algn="r"/>
                      <a:r>
                        <a:rPr sz="1100" b="0">
                          <a:solidFill>
                            <a:srgbClr val="14324A"/>
                          </a:solidFill>
                          <a:latin typeface="Courier New"/>
                        </a:rPr>
                        <a:t>1767236</a:t>
                      </a:r>
                    </a:p>
                  </a:txBody>
                  <a:tcPr marL="54864" marR="54864" marT="27432" marB="27432">
                    <a:solidFill>
                      <a:srgbClr val="FFFFFF"/>
                    </a:solidFill>
                  </a:tcPr>
                </a:tc>
                <a:tc>
                  <a:txBody>
                    <a:bodyPr wrap="square"/>
                    <a:lstStyle/>
                    <a:p>
                      <a:pPr algn="r"/>
                      <a:r>
                        <a:rPr sz="1100" b="0">
                          <a:solidFill>
                            <a:srgbClr val="14324A"/>
                          </a:solidFill>
                          <a:latin typeface="Courier New"/>
                        </a:rPr>
                        <a:t>272741</a:t>
                      </a:r>
                    </a:p>
                  </a:txBody>
                  <a:tcPr marL="54864" marR="54864" marT="27432" marB="27432">
                    <a:solidFill>
                      <a:srgbClr val="FFFFFF"/>
                    </a:solidFill>
                  </a:tcPr>
                </a:tc>
                <a:tc>
                  <a:txBody>
                    <a:bodyPr wrap="square"/>
                    <a:lstStyle/>
                    <a:p>
                      <a:pPr algn="r"/>
                      <a:r>
                        <a:rPr sz="1100" b="0">
                          <a:solidFill>
                            <a:srgbClr val="14324A"/>
                          </a:solidFill>
                          <a:latin typeface="Courier New"/>
                        </a:rPr>
                        <a:t>99.3%</a:t>
                      </a:r>
                    </a:p>
                  </a:txBody>
                  <a:tcPr marL="54864" marR="54864" marT="27432" marB="27432">
                    <a:solidFill>
                      <a:srgbClr val="FFFFFF"/>
                    </a:solidFill>
                  </a:tcPr>
                </a:tc>
                <a:tc>
                  <a:txBody>
                    <a:bodyPr wrap="square"/>
                    <a:lstStyle/>
                    <a:p>
                      <a:pPr algn="r"/>
                      <a:r>
                        <a:rPr sz="1100" b="0">
                          <a:solidFill>
                            <a:srgbClr val="14324A"/>
                          </a:solidFill>
                          <a:latin typeface="Courier New"/>
                        </a:rPr>
                        <a:t>296</a:t>
                      </a:r>
                    </a:p>
                  </a:txBody>
                  <a:tcPr marL="54864" marR="54864" marT="27432" marB="27432">
                    <a:solidFill>
                      <a:srgbClr val="FFFFFF"/>
                    </a:solidFill>
                  </a:tcPr>
                </a:tc>
              </a:tr>
              <a:tr h="377190">
                <a:tc>
                  <a:txBody>
                    <a:bodyPr wrap="square"/>
                    <a:lstStyle/>
                    <a:p>
                      <a:pPr algn="l"/>
                      <a:r>
                        <a:rPr sz="1100" b="0">
                          <a:solidFill>
                            <a:srgbClr val="14324A"/>
                          </a:solidFill>
                          <a:latin typeface="Calibri"/>
                        </a:rPr>
                        <a:t>Dholuo (Luo)</a:t>
                      </a:r>
                    </a:p>
                  </a:txBody>
                  <a:tcPr marL="54864" marR="54864" marT="27432" marB="27432">
                    <a:solidFill>
                      <a:srgbClr val="FFFFFF"/>
                    </a:solidFill>
                  </a:tcPr>
                </a:tc>
                <a:tc>
                  <a:txBody>
                    <a:bodyPr wrap="square"/>
                    <a:lstStyle/>
                    <a:p>
                      <a:pPr algn="r"/>
                      <a:r>
                        <a:rPr sz="1100" b="0">
                          <a:solidFill>
                            <a:srgbClr val="14324A"/>
                          </a:solidFill>
                          <a:latin typeface="Courier New"/>
                        </a:rPr>
                        <a:t>298</a:t>
                      </a:r>
                    </a:p>
                  </a:txBody>
                  <a:tcPr marL="54864" marR="54864" marT="27432" marB="27432">
                    <a:solidFill>
                      <a:srgbClr val="FFFFFF"/>
                    </a:solidFill>
                  </a:tcPr>
                </a:tc>
                <a:tc>
                  <a:txBody>
                    <a:bodyPr wrap="square"/>
                    <a:lstStyle/>
                    <a:p>
                      <a:pPr algn="r"/>
                      <a:r>
                        <a:rPr sz="1100" b="0">
                          <a:solidFill>
                            <a:srgbClr val="14324A"/>
                          </a:solidFill>
                          <a:latin typeface="Courier New"/>
                        </a:rPr>
                        <a:t>2347383</a:t>
                      </a:r>
                    </a:p>
                  </a:txBody>
                  <a:tcPr marL="54864" marR="54864" marT="27432" marB="27432">
                    <a:solidFill>
                      <a:srgbClr val="FFFFFF"/>
                    </a:solidFill>
                  </a:tcPr>
                </a:tc>
                <a:tc>
                  <a:txBody>
                    <a:bodyPr wrap="square"/>
                    <a:lstStyle/>
                    <a:p>
                      <a:pPr algn="r"/>
                      <a:r>
                        <a:rPr sz="1100" b="0">
                          <a:solidFill>
                            <a:srgbClr val="14324A"/>
                          </a:solidFill>
                          <a:latin typeface="Courier New"/>
                        </a:rPr>
                        <a:t>417575</a:t>
                      </a:r>
                    </a:p>
                  </a:txBody>
                  <a:tcPr marL="54864" marR="54864" marT="27432" marB="27432">
                    <a:solidFill>
                      <a:srgbClr val="FFFFFF"/>
                    </a:solidFill>
                  </a:tcPr>
                </a:tc>
                <a:tc>
                  <a:txBody>
                    <a:bodyPr wrap="square"/>
                    <a:lstStyle/>
                    <a:p>
                      <a:pPr algn="r"/>
                      <a:r>
                        <a:rPr sz="1100" b="0">
                          <a:solidFill>
                            <a:srgbClr val="14324A"/>
                          </a:solidFill>
                          <a:latin typeface="Courier New"/>
                        </a:rPr>
                        <a:t>99.9%</a:t>
                      </a:r>
                    </a:p>
                  </a:txBody>
                  <a:tcPr marL="54864" marR="54864" marT="27432" marB="27432">
                    <a:solidFill>
                      <a:srgbClr val="FFFFFF"/>
                    </a:solidFill>
                  </a:tcPr>
                </a:tc>
                <a:tc>
                  <a:txBody>
                    <a:bodyPr wrap="square"/>
                    <a:lstStyle/>
                    <a:p>
                      <a:pPr algn="r"/>
                      <a:r>
                        <a:rPr sz="1100" b="0">
                          <a:solidFill>
                            <a:srgbClr val="14324A"/>
                          </a:solidFill>
                          <a:latin typeface="Courier New"/>
                        </a:rPr>
                        <a:t>298</a:t>
                      </a:r>
                    </a:p>
                  </a:txBody>
                  <a:tcPr marL="54864" marR="54864" marT="27432" marB="27432">
                    <a:solidFill>
                      <a:srgbClr val="FFFFFF"/>
                    </a:solidFill>
                  </a:tcPr>
                </a:tc>
              </a:tr>
              <a:tr h="377190">
                <a:tc>
                  <a:txBody>
                    <a:bodyPr wrap="square"/>
                    <a:lstStyle/>
                    <a:p>
                      <a:pPr algn="l"/>
                      <a:r>
                        <a:rPr sz="1100" b="0">
                          <a:solidFill>
                            <a:srgbClr val="14324A"/>
                          </a:solidFill>
                          <a:latin typeface="Calibri"/>
                        </a:rPr>
                        <a:t>Kiswahili</a:t>
                      </a:r>
                    </a:p>
                  </a:txBody>
                  <a:tcPr marL="54864" marR="54864" marT="27432" marB="27432">
                    <a:solidFill>
                      <a:srgbClr val="FFFFFF"/>
                    </a:solidFill>
                  </a:tcPr>
                </a:tc>
                <a:tc>
                  <a:txBody>
                    <a:bodyPr wrap="square"/>
                    <a:lstStyle/>
                    <a:p>
                      <a:pPr algn="r"/>
                      <a:r>
                        <a:rPr sz="1100" b="0">
                          <a:solidFill>
                            <a:srgbClr val="14324A"/>
                          </a:solidFill>
                          <a:latin typeface="Courier New"/>
                        </a:rPr>
                        <a:t>298</a:t>
                      </a:r>
                    </a:p>
                  </a:txBody>
                  <a:tcPr marL="54864" marR="54864" marT="27432" marB="27432">
                    <a:solidFill>
                      <a:srgbClr val="FFFFFF"/>
                    </a:solidFill>
                  </a:tcPr>
                </a:tc>
                <a:tc>
                  <a:txBody>
                    <a:bodyPr wrap="square"/>
                    <a:lstStyle/>
                    <a:p>
                      <a:pPr algn="r"/>
                      <a:r>
                        <a:rPr sz="1100" b="0">
                          <a:solidFill>
                            <a:srgbClr val="14324A"/>
                          </a:solidFill>
                          <a:latin typeface="Courier New"/>
                        </a:rPr>
                        <a:t>2599230</a:t>
                      </a:r>
                    </a:p>
                  </a:txBody>
                  <a:tcPr marL="54864" marR="54864" marT="27432" marB="27432">
                    <a:solidFill>
                      <a:srgbClr val="FFFFFF"/>
                    </a:solidFill>
                  </a:tcPr>
                </a:tc>
                <a:tc>
                  <a:txBody>
                    <a:bodyPr wrap="square"/>
                    <a:lstStyle/>
                    <a:p>
                      <a:pPr algn="r"/>
                      <a:r>
                        <a:rPr sz="1100" b="0">
                          <a:solidFill>
                            <a:srgbClr val="14324A"/>
                          </a:solidFill>
                          <a:latin typeface="Courier New"/>
                        </a:rPr>
                        <a:t>411682</a:t>
                      </a:r>
                    </a:p>
                  </a:txBody>
                  <a:tcPr marL="54864" marR="54864" marT="27432" marB="27432">
                    <a:solidFill>
                      <a:srgbClr val="FFFFFF"/>
                    </a:solidFill>
                  </a:tcPr>
                </a:tc>
                <a:tc>
                  <a:txBody>
                    <a:bodyPr wrap="square"/>
                    <a:lstStyle/>
                    <a:p>
                      <a:pPr algn="r"/>
                      <a:r>
                        <a:rPr sz="1100" b="0">
                          <a:solidFill>
                            <a:srgbClr val="14324A"/>
                          </a:solidFill>
                          <a:latin typeface="Courier New"/>
                        </a:rPr>
                        <a:t>99.6%</a:t>
                      </a:r>
                    </a:p>
                  </a:txBody>
                  <a:tcPr marL="54864" marR="54864" marT="27432" marB="27432">
                    <a:solidFill>
                      <a:srgbClr val="FFFFFF"/>
                    </a:solidFill>
                  </a:tcPr>
                </a:tc>
                <a:tc>
                  <a:txBody>
                    <a:bodyPr wrap="square"/>
                    <a:lstStyle/>
                    <a:p>
                      <a:pPr algn="r"/>
                      <a:r>
                        <a:rPr sz="1100" b="0">
                          <a:solidFill>
                            <a:srgbClr val="14324A"/>
                          </a:solidFill>
                          <a:latin typeface="Courier New"/>
                        </a:rPr>
                        <a:t>298</a:t>
                      </a:r>
                    </a:p>
                  </a:txBody>
                  <a:tcPr marL="54864" marR="54864" marT="27432" marB="27432">
                    <a:solidFill>
                      <a:srgbClr val="FFFFFF"/>
                    </a:solidFill>
                  </a:tcPr>
                </a:tc>
              </a:tr>
              <a:tr h="377190">
                <a:tc>
                  <a:txBody>
                    <a:bodyPr wrap="square"/>
                    <a:lstStyle/>
                    <a:p>
                      <a:pPr algn="l"/>
                      <a:r>
                        <a:rPr sz="1100" b="0">
                          <a:solidFill>
                            <a:srgbClr val="14324A"/>
                          </a:solidFill>
                          <a:latin typeface="Calibri"/>
                        </a:rPr>
                        <a:t>Kikamba (Kamba)</a:t>
                      </a:r>
                    </a:p>
                  </a:txBody>
                  <a:tcPr marL="54864" marR="54864" marT="27432" marB="27432">
                    <a:solidFill>
                      <a:srgbClr val="FFFFFF"/>
                    </a:solidFill>
                  </a:tcPr>
                </a:tc>
                <a:tc>
                  <a:txBody>
                    <a:bodyPr wrap="square"/>
                    <a:lstStyle/>
                    <a:p>
                      <a:pPr algn="r"/>
                      <a:r>
                        <a:rPr sz="1100" b="0">
                          <a:solidFill>
                            <a:srgbClr val="14324A"/>
                          </a:solidFill>
                          <a:latin typeface="Courier New"/>
                        </a:rPr>
                        <a:t>298</a:t>
                      </a:r>
                    </a:p>
                  </a:txBody>
                  <a:tcPr marL="54864" marR="54864" marT="27432" marB="27432">
                    <a:solidFill>
                      <a:srgbClr val="FFFFFF"/>
                    </a:solidFill>
                  </a:tcPr>
                </a:tc>
                <a:tc>
                  <a:txBody>
                    <a:bodyPr wrap="square"/>
                    <a:lstStyle/>
                    <a:p>
                      <a:pPr algn="r"/>
                      <a:r>
                        <a:rPr sz="1100" b="0">
                          <a:solidFill>
                            <a:srgbClr val="14324A"/>
                          </a:solidFill>
                          <a:latin typeface="Courier New"/>
                        </a:rPr>
                        <a:t>1058430</a:t>
                      </a:r>
                    </a:p>
                  </a:txBody>
                  <a:tcPr marL="54864" marR="54864" marT="27432" marB="27432">
                    <a:solidFill>
                      <a:srgbClr val="FFFFFF"/>
                    </a:solidFill>
                  </a:tcPr>
                </a:tc>
                <a:tc>
                  <a:txBody>
                    <a:bodyPr wrap="square"/>
                    <a:lstStyle/>
                    <a:p>
                      <a:pPr algn="r"/>
                      <a:r>
                        <a:rPr sz="1100" b="0">
                          <a:solidFill>
                            <a:srgbClr val="14324A"/>
                          </a:solidFill>
                          <a:latin typeface="Courier New"/>
                        </a:rPr>
                        <a:t>173388</a:t>
                      </a:r>
                    </a:p>
                  </a:txBody>
                  <a:tcPr marL="54864" marR="54864" marT="27432" marB="27432">
                    <a:solidFill>
                      <a:srgbClr val="FFFFFF"/>
                    </a:solidFill>
                  </a:tcPr>
                </a:tc>
                <a:tc>
                  <a:txBody>
                    <a:bodyPr wrap="square"/>
                    <a:lstStyle/>
                    <a:p>
                      <a:pPr algn="r"/>
                      <a:r>
                        <a:rPr sz="1100" b="0">
                          <a:solidFill>
                            <a:srgbClr val="14324A"/>
                          </a:solidFill>
                          <a:latin typeface="Courier New"/>
                        </a:rPr>
                        <a:t>99.7%</a:t>
                      </a:r>
                    </a:p>
                  </a:txBody>
                  <a:tcPr marL="54864" marR="54864" marT="27432" marB="27432">
                    <a:solidFill>
                      <a:srgbClr val="FFFFFF"/>
                    </a:solidFill>
                  </a:tcPr>
                </a:tc>
                <a:tc>
                  <a:txBody>
                    <a:bodyPr wrap="square"/>
                    <a:lstStyle/>
                    <a:p>
                      <a:pPr algn="r"/>
                      <a:r>
                        <a:rPr sz="1100" b="0">
                          <a:solidFill>
                            <a:srgbClr val="14324A"/>
                          </a:solidFill>
                          <a:latin typeface="Courier New"/>
                        </a:rPr>
                        <a:t>298</a:t>
                      </a:r>
                    </a:p>
                  </a:txBody>
                  <a:tcPr marL="54864" marR="54864" marT="27432" marB="27432">
                    <a:solidFill>
                      <a:srgbClr val="FFFFFF"/>
                    </a:solidFill>
                  </a:tcPr>
                </a:tc>
              </a:tr>
              <a:tr h="377190">
                <a:tc>
                  <a:txBody>
                    <a:bodyPr wrap="square"/>
                    <a:lstStyle/>
                    <a:p>
                      <a:pPr algn="l"/>
                      <a:r>
                        <a:rPr sz="1100" b="0">
                          <a:solidFill>
                            <a:srgbClr val="14324A"/>
                          </a:solidFill>
                          <a:latin typeface="Calibri"/>
                        </a:rPr>
                        <a:t>Kalenjin</a:t>
                      </a:r>
                    </a:p>
                  </a:txBody>
                  <a:tcPr marL="54864" marR="54864" marT="27432" marB="27432">
                    <a:solidFill>
                      <a:srgbClr val="FFFFFF"/>
                    </a:solidFill>
                  </a:tcPr>
                </a:tc>
                <a:tc>
                  <a:txBody>
                    <a:bodyPr wrap="square"/>
                    <a:lstStyle/>
                    <a:p>
                      <a:pPr algn="r"/>
                      <a:r>
                        <a:rPr sz="1100" b="0">
                          <a:solidFill>
                            <a:srgbClr val="14324A"/>
                          </a:solidFill>
                          <a:latin typeface="Courier New"/>
                        </a:rPr>
                        <a:t>295</a:t>
                      </a:r>
                    </a:p>
                  </a:txBody>
                  <a:tcPr marL="54864" marR="54864" marT="27432" marB="27432">
                    <a:solidFill>
                      <a:srgbClr val="FFFFFF"/>
                    </a:solidFill>
                  </a:tcPr>
                </a:tc>
                <a:tc>
                  <a:txBody>
                    <a:bodyPr wrap="square"/>
                    <a:lstStyle/>
                    <a:p>
                      <a:pPr algn="r"/>
                      <a:r>
                        <a:rPr sz="1100" b="0">
                          <a:solidFill>
                            <a:srgbClr val="14324A"/>
                          </a:solidFill>
                          <a:latin typeface="Courier New"/>
                        </a:rPr>
                        <a:t>4674494</a:t>
                      </a:r>
                    </a:p>
                  </a:txBody>
                  <a:tcPr marL="54864" marR="54864" marT="27432" marB="27432">
                    <a:solidFill>
                      <a:srgbClr val="FFFFFF"/>
                    </a:solidFill>
                  </a:tcPr>
                </a:tc>
                <a:tc>
                  <a:txBody>
                    <a:bodyPr wrap="square"/>
                    <a:lstStyle/>
                    <a:p>
                      <a:pPr algn="r"/>
                      <a:r>
                        <a:rPr sz="1100" b="0">
                          <a:solidFill>
                            <a:srgbClr val="14324A"/>
                          </a:solidFill>
                          <a:latin typeface="Courier New"/>
                        </a:rPr>
                        <a:t>747249</a:t>
                      </a:r>
                    </a:p>
                  </a:txBody>
                  <a:tcPr marL="54864" marR="54864" marT="27432" marB="27432">
                    <a:solidFill>
                      <a:srgbClr val="FFFFFF"/>
                    </a:solidFill>
                  </a:tcPr>
                </a:tc>
                <a:tc>
                  <a:txBody>
                    <a:bodyPr wrap="square"/>
                    <a:lstStyle/>
                    <a:p>
                      <a:pPr algn="r"/>
                      <a:r>
                        <a:rPr sz="1100" b="0">
                          <a:solidFill>
                            <a:srgbClr val="14324A"/>
                          </a:solidFill>
                          <a:latin typeface="Courier New"/>
                        </a:rPr>
                        <a:t>99.0%</a:t>
                      </a:r>
                    </a:p>
                  </a:txBody>
                  <a:tcPr marL="54864" marR="54864" marT="27432" marB="27432">
                    <a:solidFill>
                      <a:srgbClr val="FFFFFF"/>
                    </a:solidFill>
                  </a:tcPr>
                </a:tc>
                <a:tc>
                  <a:txBody>
                    <a:bodyPr wrap="square"/>
                    <a:lstStyle/>
                    <a:p>
                      <a:pPr algn="r"/>
                      <a:r>
                        <a:rPr sz="1100" b="0">
                          <a:solidFill>
                            <a:srgbClr val="14324A"/>
                          </a:solidFill>
                          <a:latin typeface="Courier New"/>
                        </a:rPr>
                        <a:t>290</a:t>
                      </a:r>
                    </a:p>
                  </a:txBody>
                  <a:tcPr marL="54864" marR="54864" marT="27432" marB="27432">
                    <a:solidFill>
                      <a:srgbClr val="FFFFFF"/>
                    </a:solidFill>
                  </a:tcPr>
                </a:tc>
              </a:tr>
              <a:tr h="377190">
                <a:tc>
                  <a:txBody>
                    <a:bodyPr wrap="square"/>
                    <a:lstStyle/>
                    <a:p>
                      <a:pPr algn="l"/>
                      <a:r>
                        <a:rPr sz="1100" b="0">
                          <a:solidFill>
                            <a:srgbClr val="14324A"/>
                          </a:solidFill>
                          <a:latin typeface="Calibri"/>
                        </a:rPr>
                        <a:t>Wanga (Luhya)</a:t>
                      </a:r>
                    </a:p>
                  </a:txBody>
                  <a:tcPr marL="54864" marR="54864" marT="27432" marB="27432">
                    <a:solidFill>
                      <a:srgbClr val="FFFFFF"/>
                    </a:solidFill>
                  </a:tcPr>
                </a:tc>
                <a:tc>
                  <a:txBody>
                    <a:bodyPr wrap="square"/>
                    <a:lstStyle/>
                    <a:p>
                      <a:pPr algn="r"/>
                      <a:r>
                        <a:rPr sz="1100" b="0">
                          <a:solidFill>
                            <a:srgbClr val="14324A"/>
                          </a:solidFill>
                          <a:latin typeface="Courier New"/>
                        </a:rPr>
                        <a:t>60</a:t>
                      </a:r>
                    </a:p>
                  </a:txBody>
                  <a:tcPr marL="54864" marR="54864" marT="27432" marB="27432">
                    <a:solidFill>
                      <a:srgbClr val="FFFFFF"/>
                    </a:solidFill>
                  </a:tcPr>
                </a:tc>
                <a:tc>
                  <a:txBody>
                    <a:bodyPr wrap="square"/>
                    <a:lstStyle/>
                    <a:p>
                      <a:pPr algn="r"/>
                      <a:r>
                        <a:rPr sz="1100" b="0">
                          <a:solidFill>
                            <a:srgbClr val="14324A"/>
                          </a:solidFill>
                          <a:latin typeface="Courier New"/>
                        </a:rPr>
                        <a:t>491139</a:t>
                      </a:r>
                    </a:p>
                  </a:txBody>
                  <a:tcPr marL="54864" marR="54864" marT="27432" marB="27432">
                    <a:solidFill>
                      <a:srgbClr val="FFFFFF"/>
                    </a:solidFill>
                  </a:tcPr>
                </a:tc>
                <a:tc>
                  <a:txBody>
                    <a:bodyPr wrap="square"/>
                    <a:lstStyle/>
                    <a:p>
                      <a:pPr algn="r"/>
                      <a:r>
                        <a:rPr sz="1100" b="0">
                          <a:solidFill>
                            <a:srgbClr val="14324A"/>
                          </a:solidFill>
                          <a:latin typeface="Courier New"/>
                        </a:rPr>
                        <a:t>73194</a:t>
                      </a:r>
                    </a:p>
                  </a:txBody>
                  <a:tcPr marL="54864" marR="54864" marT="27432" marB="27432">
                    <a:solidFill>
                      <a:srgbClr val="FFFFFF"/>
                    </a:solidFill>
                  </a:tcPr>
                </a:tc>
                <a:tc>
                  <a:txBody>
                    <a:bodyPr wrap="square"/>
                    <a:lstStyle/>
                    <a:p>
                      <a:pPr algn="r"/>
                      <a:r>
                        <a:rPr sz="1100" b="0">
                          <a:solidFill>
                            <a:srgbClr val="14324A"/>
                          </a:solidFill>
                          <a:latin typeface="Courier New"/>
                        </a:rPr>
                        <a:t>98.3%</a:t>
                      </a:r>
                    </a:p>
                  </a:txBody>
                  <a:tcPr marL="54864" marR="54864" marT="27432" marB="27432">
                    <a:solidFill>
                      <a:srgbClr val="FFFFFF"/>
                    </a:solidFill>
                  </a:tcPr>
                </a:tc>
                <a:tc>
                  <a:txBody>
                    <a:bodyPr wrap="square"/>
                    <a:lstStyle/>
                    <a:p>
                      <a:pPr algn="r"/>
                      <a:r>
                        <a:rPr sz="1100" b="0">
                          <a:solidFill>
                            <a:srgbClr val="14324A"/>
                          </a:solidFill>
                          <a:latin typeface="Courier New"/>
                        </a:rPr>
                        <a:t>59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Passages of up to fifteen hundred characters were labelled by the admitted text model; agreement is the share of passages whose label matched the folder language.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R07: Served text language model m9j-74af7cef0a85 readings of the staged transcripts: jobs m9j-2d43ed6cf567, m9j-8cf6702f8718 (2,245 transcripts read, 3939 present)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3017520"/>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01752">
                <a:tc>
                  <a:txBody>
                    <a:bodyPr wrap="square"/>
                    <a:lstStyle/>
                    <a:p>
                      <a:pPr algn="l"/>
                      <a:r>
                        <a:rPr sz="1100" b="1">
                          <a:solidFill>
                            <a:srgbClr val="14324A"/>
                          </a:solidFill>
                          <a:latin typeface="Calibri"/>
                        </a:rPr>
                        <a:t>Language</a:t>
                      </a:r>
                    </a:p>
                  </a:txBody>
                  <a:tcPr marL="54864" marR="54864" marT="27432" marB="27432">
                    <a:solidFill>
                      <a:srgbClr val="E8EEF3"/>
                    </a:solidFill>
                  </a:tcPr>
                </a:tc>
                <a:tc>
                  <a:txBody>
                    <a:bodyPr wrap="square"/>
                    <a:lstStyle/>
                    <a:p>
                      <a:pPr algn="l"/>
                      <a:r>
                        <a:rPr sz="1100" b="1">
                          <a:solidFill>
                            <a:srgbClr val="14324A"/>
                          </a:solidFill>
                          <a:latin typeface="Calibri"/>
                        </a:rPr>
                        <a:t>Station</a:t>
                      </a:r>
                    </a:p>
                  </a:txBody>
                  <a:tcPr marL="54864" marR="54864" marT="27432" marB="27432">
                    <a:solidFill>
                      <a:srgbClr val="E8EEF3"/>
                    </a:solidFill>
                  </a:tcPr>
                </a:tc>
                <a:tc>
                  <a:txBody>
                    <a:bodyPr wrap="square"/>
                    <a:lstStyle/>
                    <a:p>
                      <a:pPr algn="l"/>
                      <a:r>
                        <a:rPr sz="1100" b="1">
                          <a:solidFill>
                            <a:srgbClr val="14324A"/>
                          </a:solidFill>
                          <a:latin typeface="Calibri"/>
                        </a:rPr>
                        <a:t>Recordings</a:t>
                      </a:r>
                    </a:p>
                  </a:txBody>
                  <a:tcPr marL="54864" marR="54864" marT="27432" marB="27432">
                    <a:solidFill>
                      <a:srgbClr val="E8EEF3"/>
                    </a:solidFill>
                  </a:tcPr>
                </a:tc>
                <a:tc>
                  <a:txBody>
                    <a:bodyPr wrap="square"/>
                    <a:lstStyle/>
                    <a:p>
                      <a:pPr algn="l"/>
                      <a:r>
                        <a:rPr sz="1100" b="1">
                          <a:solidFill>
                            <a:srgbClr val="14324A"/>
                          </a:solidFill>
                          <a:latin typeface="Calibri"/>
                        </a:rPr>
                        <a:t>Audio hours</a:t>
                      </a:r>
                    </a:p>
                  </a:txBody>
                  <a:tcPr marL="54864" marR="54864" marT="27432" marB="27432">
                    <a:solidFill>
                      <a:srgbClr val="E8EEF3"/>
                    </a:solidFill>
                  </a:tcPr>
                </a:tc>
                <a:tc>
                  <a:txBody>
                    <a:bodyPr wrap="square"/>
                    <a:lstStyle/>
                    <a:p>
                      <a:pPr algn="l"/>
                      <a:r>
                        <a:rPr sz="1100" b="1">
                          <a:solidFill>
                            <a:srgbClr val="14324A"/>
                          </a:solidFill>
                          <a:latin typeface="Calibri"/>
                        </a:rPr>
                        <a:t>Transcript segments</a:t>
                      </a:r>
                    </a:p>
                  </a:txBody>
                  <a:tcPr marL="54864" marR="54864" marT="27432" marB="27432">
                    <a:solidFill>
                      <a:srgbClr val="E8EEF3"/>
                    </a:solidFill>
                  </a:tcPr>
                </a:tc>
                <a:tc>
                  <a:txBody>
                    <a:bodyPr wrap="square"/>
                    <a:lstStyle/>
                    <a:p>
                      <a:pPr algn="l"/>
                      <a:r>
                        <a:rPr sz="1100" b="1">
                          <a:solidFill>
                            <a:srgbClr val="14324A"/>
                          </a:solidFill>
                          <a:latin typeface="Calibri"/>
                        </a:rPr>
                        <a:t>Transcribed hours</a:t>
                      </a:r>
                    </a:p>
                  </a:txBody>
                  <a:tcPr marL="54864" marR="54864" marT="27432" marB="27432">
                    <a:solidFill>
                      <a:srgbClr val="E8EEF3"/>
                    </a:solidFill>
                  </a:tcPr>
                </a:tc>
              </a:tr>
              <a:tr h="301752">
                <a:tc>
                  <a:txBody>
                    <a:bodyPr wrap="square"/>
                    <a:lstStyle/>
                    <a:p>
                      <a:pPr algn="l"/>
                      <a:r>
                        <a:rPr sz="1100" b="0">
                          <a:solidFill>
                            <a:srgbClr val="14324A"/>
                          </a:solidFill>
                          <a:latin typeface="Calibri"/>
                        </a:rPr>
                        <a:t>kiswahili</a:t>
                      </a:r>
                    </a:p>
                  </a:txBody>
                  <a:tcPr marL="54864" marR="54864" marT="27432" marB="27432">
                    <a:solidFill>
                      <a:srgbClr val="FFFFFF"/>
                    </a:solidFill>
                  </a:tcPr>
                </a:tc>
                <a:tc>
                  <a:txBody>
                    <a:bodyPr wrap="square"/>
                    <a:lstStyle/>
                    <a:p>
                      <a:pPr algn="l"/>
                      <a:r>
                        <a:rPr sz="1100" b="0">
                          <a:solidFill>
                            <a:srgbClr val="14324A"/>
                          </a:solidFill>
                          <a:latin typeface="Calibri"/>
                        </a:rPr>
                        <a:t>Radio citizen</a:t>
                      </a:r>
                    </a:p>
                  </a:txBody>
                  <a:tcPr marL="54864" marR="54864" marT="27432" marB="27432">
                    <a:solidFill>
                      <a:srgbClr val="FFFFFF"/>
                    </a:solidFill>
                  </a:tcPr>
                </a:tc>
                <a:tc>
                  <a:txBody>
                    <a:bodyPr wrap="square"/>
                    <a:lstStyle/>
                    <a:p>
                      <a:pPr algn="r"/>
                      <a:r>
                        <a:rPr sz="1100" b="0">
                          <a:solidFill>
                            <a:srgbClr val="14324A"/>
                          </a:solidFill>
                          <a:latin typeface="Courier New"/>
                        </a:rPr>
                        <a:t>4006</a:t>
                      </a:r>
                    </a:p>
                  </a:txBody>
                  <a:tcPr marL="54864" marR="54864" marT="27432" marB="27432">
                    <a:solidFill>
                      <a:srgbClr val="FFFFFF"/>
                    </a:solidFill>
                  </a:tcPr>
                </a:tc>
                <a:tc>
                  <a:txBody>
                    <a:bodyPr wrap="square"/>
                    <a:lstStyle/>
                    <a:p>
                      <a:pPr algn="r"/>
                      <a:r>
                        <a:rPr sz="1100" b="0">
                          <a:solidFill>
                            <a:srgbClr val="14324A"/>
                          </a:solidFill>
                          <a:latin typeface="Courier New"/>
                        </a:rPr>
                        <a:t>836.2</a:t>
                      </a:r>
                    </a:p>
                  </a:txBody>
                  <a:tcPr marL="54864" marR="54864" marT="27432" marB="27432">
                    <a:solidFill>
                      <a:srgbClr val="FFFFFF"/>
                    </a:solidFill>
                  </a:tcPr>
                </a:tc>
                <a:tc>
                  <a:txBody>
                    <a:bodyPr wrap="square"/>
                    <a:lstStyle/>
                    <a:p>
                      <a:pPr algn="r"/>
                      <a:r>
                        <a:rPr sz="1100" b="0">
                          <a:solidFill>
                            <a:srgbClr val="14324A"/>
                          </a:solidFill>
                          <a:latin typeface="Courier New"/>
                        </a:rPr>
                        <a:t>54516</a:t>
                      </a:r>
                    </a:p>
                  </a:txBody>
                  <a:tcPr marL="54864" marR="54864" marT="27432" marB="27432">
                    <a:solidFill>
                      <a:srgbClr val="FFFFFF"/>
                    </a:solidFill>
                  </a:tcPr>
                </a:tc>
                <a:tc>
                  <a:txBody>
                    <a:bodyPr wrap="square"/>
                    <a:lstStyle/>
                    <a:p>
                      <a:pPr algn="r"/>
                      <a:r>
                        <a:rPr sz="1100" b="0">
                          <a:solidFill>
                            <a:srgbClr val="14324A"/>
                          </a:solidFill>
                          <a:latin typeface="Courier New"/>
                        </a:rPr>
                        <a:t>101.0</a:t>
                      </a:r>
                    </a:p>
                  </a:txBody>
                  <a:tcPr marL="54864" marR="54864" marT="27432" marB="27432">
                    <a:solidFill>
                      <a:srgbClr val="FFFFFF"/>
                    </a:solidFill>
                  </a:tcPr>
                </a:tc>
              </a:tr>
              <a:tr h="301752">
                <a:tc>
                  <a:txBody>
                    <a:bodyPr wrap="square"/>
                    <a:lstStyle/>
                    <a:p>
                      <a:pPr algn="l"/>
                      <a:r>
                        <a:rPr sz="1100" b="0">
                          <a:solidFill>
                            <a:srgbClr val="14324A"/>
                          </a:solidFill>
                          <a:latin typeface="Calibri"/>
                        </a:rPr>
                        <a:t>Bukusu</a:t>
                      </a:r>
                    </a:p>
                  </a:txBody>
                  <a:tcPr marL="54864" marR="54864" marT="27432" marB="27432">
                    <a:solidFill>
                      <a:srgbClr val="FFFFFF"/>
                    </a:solidFill>
                  </a:tcPr>
                </a:tc>
                <a:tc>
                  <a:txBody>
                    <a:bodyPr wrap="square"/>
                    <a:lstStyle/>
                    <a:p>
                      <a:pPr algn="l"/>
                      <a:r>
                        <a:rPr sz="1100" b="0">
                          <a:solidFill>
                            <a:srgbClr val="14324A"/>
                          </a:solidFill>
                          <a:latin typeface="Calibri"/>
                        </a:rPr>
                        <a:t>sulwe</a:t>
                      </a:r>
                    </a:p>
                  </a:txBody>
                  <a:tcPr marL="54864" marR="54864" marT="27432" marB="27432">
                    <a:solidFill>
                      <a:srgbClr val="FFFFFF"/>
                    </a:solidFill>
                  </a:tcPr>
                </a:tc>
                <a:tc>
                  <a:txBody>
                    <a:bodyPr wrap="square"/>
                    <a:lstStyle/>
                    <a:p>
                      <a:pPr algn="r"/>
                      <a:r>
                        <a:rPr sz="1100" b="0">
                          <a:solidFill>
                            <a:srgbClr val="14324A"/>
                          </a:solidFill>
                          <a:latin typeface="Courier New"/>
                        </a:rPr>
                        <a:t>8223</a:t>
                      </a:r>
                    </a:p>
                  </a:txBody>
                  <a:tcPr marL="54864" marR="54864" marT="27432" marB="27432">
                    <a:solidFill>
                      <a:srgbClr val="FFFFFF"/>
                    </a:solidFill>
                  </a:tcPr>
                </a:tc>
                <a:tc>
                  <a:txBody>
                    <a:bodyPr wrap="square"/>
                    <a:lstStyle/>
                    <a:p>
                      <a:pPr algn="r"/>
                      <a:r>
                        <a:rPr sz="1100" b="0">
                          <a:solidFill>
                            <a:srgbClr val="14324A"/>
                          </a:solidFill>
                          <a:latin typeface="Courier New"/>
                        </a:rPr>
                        <a:t>806.4</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r h="301752">
                <a:tc>
                  <a:txBody>
                    <a:bodyPr wrap="square"/>
                    <a:lstStyle/>
                    <a:p>
                      <a:pPr algn="l"/>
                      <a:r>
                        <a:rPr sz="1100" b="0">
                          <a:solidFill>
                            <a:srgbClr val="14324A"/>
                          </a:solidFill>
                          <a:latin typeface="Calibri"/>
                        </a:rPr>
                        <a:t>Kikuyu</a:t>
                      </a:r>
                    </a:p>
                  </a:txBody>
                  <a:tcPr marL="54864" marR="54864" marT="27432" marB="27432">
                    <a:solidFill>
                      <a:srgbClr val="FFFFFF"/>
                    </a:solidFill>
                  </a:tcPr>
                </a:tc>
                <a:tc>
                  <a:txBody>
                    <a:bodyPr wrap="square"/>
                    <a:lstStyle/>
                    <a:p>
                      <a:pPr algn="l"/>
                      <a:r>
                        <a:rPr sz="1100" b="0">
                          <a:solidFill>
                            <a:srgbClr val="14324A"/>
                          </a:solidFill>
                          <a:latin typeface="Calibri"/>
                        </a:rPr>
                        <a:t>Inooro</a:t>
                      </a:r>
                    </a:p>
                  </a:txBody>
                  <a:tcPr marL="54864" marR="54864" marT="27432" marB="27432">
                    <a:solidFill>
                      <a:srgbClr val="FFFFFF"/>
                    </a:solidFill>
                  </a:tcPr>
                </a:tc>
                <a:tc>
                  <a:txBody>
                    <a:bodyPr wrap="square"/>
                    <a:lstStyle/>
                    <a:p>
                      <a:pPr algn="r"/>
                      <a:r>
                        <a:rPr sz="1100" b="0">
                          <a:solidFill>
                            <a:srgbClr val="14324A"/>
                          </a:solidFill>
                          <a:latin typeface="Courier New"/>
                        </a:rPr>
                        <a:t>3640</a:t>
                      </a:r>
                    </a:p>
                  </a:txBody>
                  <a:tcPr marL="54864" marR="54864" marT="27432" marB="27432">
                    <a:solidFill>
                      <a:srgbClr val="FFFFFF"/>
                    </a:solidFill>
                  </a:tcPr>
                </a:tc>
                <a:tc>
                  <a:txBody>
                    <a:bodyPr wrap="square"/>
                    <a:lstStyle/>
                    <a:p>
                      <a:pPr algn="r"/>
                      <a:r>
                        <a:rPr sz="1100" b="0">
                          <a:solidFill>
                            <a:srgbClr val="14324A"/>
                          </a:solidFill>
                          <a:latin typeface="Courier New"/>
                        </a:rPr>
                        <a:t>670.9</a:t>
                      </a:r>
                    </a:p>
                  </a:txBody>
                  <a:tcPr marL="54864" marR="54864" marT="27432" marB="27432">
                    <a:solidFill>
                      <a:srgbClr val="FFFFFF"/>
                    </a:solidFill>
                  </a:tcPr>
                </a:tc>
                <a:tc>
                  <a:txBody>
                    <a:bodyPr wrap="square"/>
                    <a:lstStyle/>
                    <a:p>
                      <a:pPr algn="r"/>
                      <a:r>
                        <a:rPr sz="1100" b="0">
                          <a:solidFill>
                            <a:srgbClr val="14324A"/>
                          </a:solidFill>
                          <a:latin typeface="Courier New"/>
                        </a:rPr>
                        <a:t>11034</a:t>
                      </a:r>
                    </a:p>
                  </a:txBody>
                  <a:tcPr marL="54864" marR="54864" marT="27432" marB="27432">
                    <a:solidFill>
                      <a:srgbClr val="FFFFFF"/>
                    </a:solidFill>
                  </a:tcPr>
                </a:tc>
                <a:tc>
                  <a:txBody>
                    <a:bodyPr wrap="square"/>
                    <a:lstStyle/>
                    <a:p>
                      <a:pPr algn="r"/>
                      <a:r>
                        <a:rPr sz="1100" b="0">
                          <a:solidFill>
                            <a:srgbClr val="14324A"/>
                          </a:solidFill>
                          <a:latin typeface="Courier New"/>
                        </a:rPr>
                        <a:t>20.3</a:t>
                      </a:r>
                    </a:p>
                  </a:txBody>
                  <a:tcPr marL="54864" marR="54864" marT="27432" marB="27432">
                    <a:solidFill>
                      <a:srgbClr val="FFFFFF"/>
                    </a:solidFill>
                  </a:tcPr>
                </a:tc>
              </a:tr>
              <a:tr h="301752">
                <a:tc>
                  <a:txBody>
                    <a:bodyPr wrap="square"/>
                    <a:lstStyle/>
                    <a:p>
                      <a:pPr algn="l"/>
                      <a:r>
                        <a:rPr sz="1100" b="0">
                          <a:solidFill>
                            <a:srgbClr val="14324A"/>
                          </a:solidFill>
                          <a:latin typeface="Calibri"/>
                        </a:rPr>
                        <a:t>Maragoli</a:t>
                      </a:r>
                    </a:p>
                  </a:txBody>
                  <a:tcPr marL="54864" marR="54864" marT="27432" marB="27432">
                    <a:solidFill>
                      <a:srgbClr val="FFFFFF"/>
                    </a:solidFill>
                  </a:tcPr>
                </a:tc>
                <a:tc>
                  <a:txBody>
                    <a:bodyPr wrap="square"/>
                    <a:lstStyle/>
                    <a:p>
                      <a:pPr algn="l"/>
                      <a:r>
                        <a:rPr sz="1100" b="0">
                          <a:solidFill>
                            <a:srgbClr val="14324A"/>
                          </a:solidFill>
                          <a:latin typeface="Calibri"/>
                        </a:rPr>
                        <a:t>Vuuka</a:t>
                      </a:r>
                    </a:p>
                  </a:txBody>
                  <a:tcPr marL="54864" marR="54864" marT="27432" marB="27432">
                    <a:solidFill>
                      <a:srgbClr val="FFFFFF"/>
                    </a:solidFill>
                  </a:tcPr>
                </a:tc>
                <a:tc>
                  <a:txBody>
                    <a:bodyPr wrap="square"/>
                    <a:lstStyle/>
                    <a:p>
                      <a:pPr algn="r"/>
                      <a:r>
                        <a:rPr sz="1100" b="0">
                          <a:solidFill>
                            <a:srgbClr val="14324A"/>
                          </a:solidFill>
                          <a:latin typeface="Courier New"/>
                        </a:rPr>
                        <a:t>5503</a:t>
                      </a:r>
                    </a:p>
                  </a:txBody>
                  <a:tcPr marL="54864" marR="54864" marT="27432" marB="27432">
                    <a:solidFill>
                      <a:srgbClr val="FFFFFF"/>
                    </a:solidFill>
                  </a:tcPr>
                </a:tc>
                <a:tc>
                  <a:txBody>
                    <a:bodyPr wrap="square"/>
                    <a:lstStyle/>
                    <a:p>
                      <a:pPr algn="r"/>
                      <a:r>
                        <a:rPr sz="1100" b="0">
                          <a:solidFill>
                            <a:srgbClr val="14324A"/>
                          </a:solidFill>
                          <a:latin typeface="Courier New"/>
                        </a:rPr>
                        <a:t>559.7</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r h="301752">
                <a:tc>
                  <a:txBody>
                    <a:bodyPr wrap="square"/>
                    <a:lstStyle/>
                    <a:p>
                      <a:pPr algn="l"/>
                      <a:r>
                        <a:rPr sz="1100" b="0">
                          <a:solidFill>
                            <a:srgbClr val="14324A"/>
                          </a:solidFill>
                          <a:latin typeface="Calibri"/>
                        </a:rPr>
                        <a:t>Embu</a:t>
                      </a:r>
                    </a:p>
                  </a:txBody>
                  <a:tcPr marL="54864" marR="54864" marT="27432" marB="27432">
                    <a:solidFill>
                      <a:srgbClr val="FFFFFF"/>
                    </a:solidFill>
                  </a:tcPr>
                </a:tc>
                <a:tc>
                  <a:txBody>
                    <a:bodyPr wrap="square"/>
                    <a:lstStyle/>
                    <a:p>
                      <a:pPr algn="l"/>
                      <a:r>
                        <a:rPr sz="1100" b="0">
                          <a:solidFill>
                            <a:srgbClr val="14324A"/>
                          </a:solidFill>
                          <a:latin typeface="Calibri"/>
                        </a:rPr>
                        <a:t>wimwaro</a:t>
                      </a:r>
                    </a:p>
                  </a:txBody>
                  <a:tcPr marL="54864" marR="54864" marT="27432" marB="27432">
                    <a:solidFill>
                      <a:srgbClr val="FFFFFF"/>
                    </a:solidFill>
                  </a:tcPr>
                </a:tc>
                <a:tc>
                  <a:txBody>
                    <a:bodyPr wrap="square"/>
                    <a:lstStyle/>
                    <a:p>
                      <a:pPr algn="r"/>
                      <a:r>
                        <a:rPr sz="1100" b="0">
                          <a:solidFill>
                            <a:srgbClr val="14324A"/>
                          </a:solidFill>
                          <a:latin typeface="Courier New"/>
                        </a:rPr>
                        <a:t>2000</a:t>
                      </a:r>
                    </a:p>
                  </a:txBody>
                  <a:tcPr marL="54864" marR="54864" marT="27432" marB="27432">
                    <a:solidFill>
                      <a:srgbClr val="FFFFFF"/>
                    </a:solidFill>
                  </a:tcPr>
                </a:tc>
                <a:tc>
                  <a:txBody>
                    <a:bodyPr wrap="square"/>
                    <a:lstStyle/>
                    <a:p>
                      <a:pPr algn="r"/>
                      <a:r>
                        <a:rPr sz="1100" b="0">
                          <a:solidFill>
                            <a:srgbClr val="14324A"/>
                          </a:solidFill>
                          <a:latin typeface="Courier New"/>
                        </a:rPr>
                        <a:t>504.3</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r h="301752">
                <a:tc>
                  <a:txBody>
                    <a:bodyPr wrap="square"/>
                    <a:lstStyle/>
                    <a:p>
                      <a:pPr algn="l"/>
                      <a:r>
                        <a:rPr sz="1100" b="0">
                          <a:solidFill>
                            <a:srgbClr val="14324A"/>
                          </a:solidFill>
                          <a:latin typeface="Calibri"/>
                        </a:rPr>
                        <a:t>Kalenjin</a:t>
                      </a:r>
                    </a:p>
                  </a:txBody>
                  <a:tcPr marL="54864" marR="54864" marT="27432" marB="27432">
                    <a:solidFill>
                      <a:srgbClr val="FFFFFF"/>
                    </a:solidFill>
                  </a:tcPr>
                </a:tc>
                <a:tc>
                  <a:txBody>
                    <a:bodyPr wrap="square"/>
                    <a:lstStyle/>
                    <a:p>
                      <a:pPr algn="l"/>
                      <a:r>
                        <a:rPr sz="1100" b="0">
                          <a:solidFill>
                            <a:srgbClr val="14324A"/>
                          </a:solidFill>
                          <a:latin typeface="Calibri"/>
                        </a:rPr>
                        <a:t>Chamgei</a:t>
                      </a:r>
                    </a:p>
                  </a:txBody>
                  <a:tcPr marL="54864" marR="54864" marT="27432" marB="27432">
                    <a:solidFill>
                      <a:srgbClr val="FFFFFF"/>
                    </a:solidFill>
                  </a:tcPr>
                </a:tc>
                <a:tc>
                  <a:txBody>
                    <a:bodyPr wrap="square"/>
                    <a:lstStyle/>
                    <a:p>
                      <a:pPr algn="r"/>
                      <a:r>
                        <a:rPr sz="1100" b="0">
                          <a:solidFill>
                            <a:srgbClr val="14324A"/>
                          </a:solidFill>
                          <a:latin typeface="Courier New"/>
                        </a:rPr>
                        <a:t>1280</a:t>
                      </a:r>
                    </a:p>
                  </a:txBody>
                  <a:tcPr marL="54864" marR="54864" marT="27432" marB="27432">
                    <a:solidFill>
                      <a:srgbClr val="FFFFFF"/>
                    </a:solidFill>
                  </a:tcPr>
                </a:tc>
                <a:tc>
                  <a:txBody>
                    <a:bodyPr wrap="square"/>
                    <a:lstStyle/>
                    <a:p>
                      <a:pPr algn="r"/>
                      <a:r>
                        <a:rPr sz="1100" b="0">
                          <a:solidFill>
                            <a:srgbClr val="14324A"/>
                          </a:solidFill>
                          <a:latin typeface="Courier New"/>
                        </a:rPr>
                        <a:t>500.6</a:t>
                      </a:r>
                    </a:p>
                  </a:txBody>
                  <a:tcPr marL="54864" marR="54864" marT="27432" marB="27432">
                    <a:solidFill>
                      <a:srgbClr val="FFFFFF"/>
                    </a:solidFill>
                  </a:tcPr>
                </a:tc>
                <a:tc>
                  <a:txBody>
                    <a:bodyPr wrap="square"/>
                    <a:lstStyle/>
                    <a:p>
                      <a:pPr algn="r"/>
                      <a:r>
                        <a:rPr sz="1100" b="0">
                          <a:solidFill>
                            <a:srgbClr val="14324A"/>
                          </a:solidFill>
                          <a:latin typeface="Courier New"/>
                        </a:rPr>
                        <a:t>59507</a:t>
                      </a:r>
                    </a:p>
                  </a:txBody>
                  <a:tcPr marL="54864" marR="54864" marT="27432" marB="27432">
                    <a:solidFill>
                      <a:srgbClr val="FFFFFF"/>
                    </a:solidFill>
                  </a:tcPr>
                </a:tc>
                <a:tc>
                  <a:txBody>
                    <a:bodyPr wrap="square"/>
                    <a:lstStyle/>
                    <a:p>
                      <a:pPr algn="r"/>
                      <a:r>
                        <a:rPr sz="1100" b="0">
                          <a:solidFill>
                            <a:srgbClr val="14324A"/>
                          </a:solidFill>
                          <a:latin typeface="Courier New"/>
                        </a:rPr>
                        <a:t>129.1</a:t>
                      </a:r>
                    </a:p>
                  </a:txBody>
                  <a:tcPr marL="54864" marR="54864" marT="27432" marB="27432">
                    <a:solidFill>
                      <a:srgbClr val="FFFFFF"/>
                    </a:solidFill>
                  </a:tcPr>
                </a:tc>
              </a:tr>
              <a:tr h="301752">
                <a:tc>
                  <a:txBody>
                    <a:bodyPr wrap="square"/>
                    <a:lstStyle/>
                    <a:p>
                      <a:pPr algn="l"/>
                      <a:r>
                        <a:rPr sz="1100" b="0">
                          <a:solidFill>
                            <a:srgbClr val="14324A"/>
                          </a:solidFill>
                          <a:latin typeface="Calibri"/>
                        </a:rPr>
                        <a:t>Luo</a:t>
                      </a:r>
                    </a:p>
                  </a:txBody>
                  <a:tcPr marL="54864" marR="54864" marT="27432" marB="27432">
                    <a:solidFill>
                      <a:srgbClr val="FFFFFF"/>
                    </a:solidFill>
                  </a:tcPr>
                </a:tc>
                <a:tc>
                  <a:txBody>
                    <a:bodyPr wrap="square"/>
                    <a:lstStyle/>
                    <a:p>
                      <a:pPr algn="l"/>
                      <a:r>
                        <a:rPr sz="1100" b="0">
                          <a:solidFill>
                            <a:srgbClr val="14324A"/>
                          </a:solidFill>
                          <a:latin typeface="Calibri"/>
                        </a:rPr>
                        <a:t>Ramogi</a:t>
                      </a:r>
                    </a:p>
                  </a:txBody>
                  <a:tcPr marL="54864" marR="54864" marT="27432" marB="27432">
                    <a:solidFill>
                      <a:srgbClr val="FFFFFF"/>
                    </a:solidFill>
                  </a:tcPr>
                </a:tc>
                <a:tc>
                  <a:txBody>
                    <a:bodyPr wrap="square"/>
                    <a:lstStyle/>
                    <a:p>
                      <a:pPr algn="r"/>
                      <a:r>
                        <a:rPr sz="1100" b="0">
                          <a:solidFill>
                            <a:srgbClr val="14324A"/>
                          </a:solidFill>
                          <a:latin typeface="Courier New"/>
                        </a:rPr>
                        <a:t>3693</a:t>
                      </a:r>
                    </a:p>
                  </a:txBody>
                  <a:tcPr marL="54864" marR="54864" marT="27432" marB="27432">
                    <a:solidFill>
                      <a:srgbClr val="FFFFFF"/>
                    </a:solidFill>
                  </a:tcPr>
                </a:tc>
                <a:tc>
                  <a:txBody>
                    <a:bodyPr wrap="square"/>
                    <a:lstStyle/>
                    <a:p>
                      <a:pPr algn="r"/>
                      <a:r>
                        <a:rPr sz="1100" b="0">
                          <a:solidFill>
                            <a:srgbClr val="14324A"/>
                          </a:solidFill>
                          <a:latin typeface="Courier New"/>
                        </a:rPr>
                        <a:t>492.5</a:t>
                      </a:r>
                    </a:p>
                  </a:txBody>
                  <a:tcPr marL="54864" marR="54864" marT="27432" marB="27432">
                    <a:solidFill>
                      <a:srgbClr val="FFFFFF"/>
                    </a:solidFill>
                  </a:tcPr>
                </a:tc>
                <a:tc>
                  <a:txBody>
                    <a:bodyPr wrap="square"/>
                    <a:lstStyle/>
                    <a:p>
                      <a:pPr algn="r"/>
                      <a:r>
                        <a:rPr sz="1100" b="0">
                          <a:solidFill>
                            <a:srgbClr val="14324A"/>
                          </a:solidFill>
                          <a:latin typeface="Courier New"/>
                        </a:rPr>
                        <a:t>44184</a:t>
                      </a:r>
                    </a:p>
                  </a:txBody>
                  <a:tcPr marL="54864" marR="54864" marT="27432" marB="27432">
                    <a:solidFill>
                      <a:srgbClr val="FFFFFF"/>
                    </a:solidFill>
                  </a:tcPr>
                </a:tc>
                <a:tc>
                  <a:txBody>
                    <a:bodyPr wrap="square"/>
                    <a:lstStyle/>
                    <a:p>
                      <a:pPr algn="r"/>
                      <a:r>
                        <a:rPr sz="1100" b="0">
                          <a:solidFill>
                            <a:srgbClr val="14324A"/>
                          </a:solidFill>
                          <a:latin typeface="Courier New"/>
                        </a:rPr>
                        <a:t>711.1</a:t>
                      </a:r>
                    </a:p>
                  </a:txBody>
                  <a:tcPr marL="54864" marR="54864" marT="27432" marB="27432">
                    <a:solidFill>
                      <a:srgbClr val="FFFFFF"/>
                    </a:solidFill>
                  </a:tcPr>
                </a:tc>
              </a:tr>
              <a:tr h="301752">
                <a:tc>
                  <a:txBody>
                    <a:bodyPr wrap="square"/>
                    <a:lstStyle/>
                    <a:p>
                      <a:pPr algn="l"/>
                      <a:r>
                        <a:rPr sz="1100" b="0">
                          <a:solidFill>
                            <a:srgbClr val="14324A"/>
                          </a:solidFill>
                          <a:latin typeface="Calibri"/>
                        </a:rPr>
                        <a:t>Kisii</a:t>
                      </a:r>
                    </a:p>
                  </a:txBody>
                  <a:tcPr marL="54864" marR="54864" marT="27432" marB="27432">
                    <a:solidFill>
                      <a:srgbClr val="FFFFFF"/>
                    </a:solidFill>
                  </a:tcPr>
                </a:tc>
                <a:tc>
                  <a:txBody>
                    <a:bodyPr wrap="square"/>
                    <a:lstStyle/>
                    <a:p>
                      <a:pPr algn="l"/>
                      <a:r>
                        <a:rPr sz="1100" b="0">
                          <a:solidFill>
                            <a:srgbClr val="14324A"/>
                          </a:solidFill>
                          <a:latin typeface="Calibri"/>
                        </a:rPr>
                        <a:t>Egesa</a:t>
                      </a:r>
                    </a:p>
                  </a:txBody>
                  <a:tcPr marL="54864" marR="54864" marT="27432" marB="27432">
                    <a:solidFill>
                      <a:srgbClr val="FFFFFF"/>
                    </a:solidFill>
                  </a:tcPr>
                </a:tc>
                <a:tc>
                  <a:txBody>
                    <a:bodyPr wrap="square"/>
                    <a:lstStyle/>
                    <a:p>
                      <a:pPr algn="r"/>
                      <a:r>
                        <a:rPr sz="1100" b="0">
                          <a:solidFill>
                            <a:srgbClr val="14324A"/>
                          </a:solidFill>
                          <a:latin typeface="Courier New"/>
                        </a:rPr>
                        <a:t>2503</a:t>
                      </a:r>
                    </a:p>
                  </a:txBody>
                  <a:tcPr marL="54864" marR="54864" marT="27432" marB="27432">
                    <a:solidFill>
                      <a:srgbClr val="FFFFFF"/>
                    </a:solidFill>
                  </a:tcPr>
                </a:tc>
                <a:tc>
                  <a:txBody>
                    <a:bodyPr wrap="square"/>
                    <a:lstStyle/>
                    <a:p>
                      <a:pPr algn="r"/>
                      <a:r>
                        <a:rPr sz="1100" b="0">
                          <a:solidFill>
                            <a:srgbClr val="14324A"/>
                          </a:solidFill>
                          <a:latin typeface="Courier New"/>
                        </a:rPr>
                        <a:t>491.0</a:t>
                      </a:r>
                    </a:p>
                  </a:txBody>
                  <a:tcPr marL="54864" marR="54864" marT="27432" marB="27432">
                    <a:solidFill>
                      <a:srgbClr val="FFFFFF"/>
                    </a:solidFill>
                  </a:tcPr>
                </a:tc>
                <a:tc>
                  <a:txBody>
                    <a:bodyPr wrap="square"/>
                    <a:lstStyle/>
                    <a:p>
                      <a:pPr algn="r"/>
                      <a:r>
                        <a:rPr sz="1100" b="0">
                          <a:solidFill>
                            <a:srgbClr val="14324A"/>
                          </a:solidFill>
                          <a:latin typeface="Courier New"/>
                        </a:rPr>
                        <a:t>44470</a:t>
                      </a:r>
                    </a:p>
                  </a:txBody>
                  <a:tcPr marL="54864" marR="54864" marT="27432" marB="27432">
                    <a:solidFill>
                      <a:srgbClr val="FFFFFF"/>
                    </a:solidFill>
                  </a:tcPr>
                </a:tc>
                <a:tc>
                  <a:txBody>
                    <a:bodyPr wrap="square"/>
                    <a:lstStyle/>
                    <a:p>
                      <a:pPr algn="r"/>
                      <a:r>
                        <a:rPr sz="1100" b="0">
                          <a:solidFill>
                            <a:srgbClr val="14324A"/>
                          </a:solidFill>
                          <a:latin typeface="Courier New"/>
                        </a:rPr>
                        <a:t>75.1</a:t>
                      </a:r>
                    </a:p>
                  </a:txBody>
                  <a:tcPr marL="54864" marR="54864" marT="27432" marB="27432">
                    <a:solidFill>
                      <a:srgbClr val="FFFFFF"/>
                    </a:solidFill>
                  </a:tcPr>
                </a:tc>
              </a:tr>
              <a:tr h="301752">
                <a:tc>
                  <a:txBody>
                    <a:bodyPr wrap="square"/>
                    <a:lstStyle/>
                    <a:p>
                      <a:pPr algn="l"/>
                      <a:r>
                        <a:rPr sz="1100" b="0">
                          <a:solidFill>
                            <a:srgbClr val="14324A"/>
                          </a:solidFill>
                          <a:latin typeface="Calibri"/>
                        </a:rPr>
                        <a:t>luhya</a:t>
                      </a:r>
                    </a:p>
                  </a:txBody>
                  <a:tcPr marL="54864" marR="54864" marT="27432" marB="27432">
                    <a:solidFill>
                      <a:srgbClr val="FFFFFF"/>
                    </a:solidFill>
                  </a:tcPr>
                </a:tc>
                <a:tc>
                  <a:txBody>
                    <a:bodyPr wrap="square"/>
                    <a:lstStyle/>
                    <a:p>
                      <a:pPr algn="l"/>
                      <a:r>
                        <a:rPr sz="1100" b="0">
                          <a:solidFill>
                            <a:srgbClr val="14324A"/>
                          </a:solidFill>
                          <a:latin typeface="Calibri"/>
                        </a:rPr>
                        <a:t>mulembe</a:t>
                      </a:r>
                    </a:p>
                  </a:txBody>
                  <a:tcPr marL="54864" marR="54864" marT="27432" marB="27432">
                    <a:solidFill>
                      <a:srgbClr val="FFFFFF"/>
                    </a:solidFill>
                  </a:tcPr>
                </a:tc>
                <a:tc>
                  <a:txBody>
                    <a:bodyPr wrap="square"/>
                    <a:lstStyle/>
                    <a:p>
                      <a:pPr algn="r"/>
                      <a:r>
                        <a:rPr sz="1100" b="0">
                          <a:solidFill>
                            <a:srgbClr val="14324A"/>
                          </a:solidFill>
                          <a:latin typeface="Courier New"/>
                        </a:rPr>
                        <a:t>2253</a:t>
                      </a:r>
                    </a:p>
                  </a:txBody>
                  <a:tcPr marL="54864" marR="54864" marT="27432" marB="27432">
                    <a:solidFill>
                      <a:srgbClr val="FFFFFF"/>
                    </a:solidFill>
                  </a:tcPr>
                </a:tc>
                <a:tc>
                  <a:txBody>
                    <a:bodyPr wrap="square"/>
                    <a:lstStyle/>
                    <a:p>
                      <a:pPr algn="r"/>
                      <a:r>
                        <a:rPr sz="1100" b="0">
                          <a:solidFill>
                            <a:srgbClr val="14324A"/>
                          </a:solidFill>
                          <a:latin typeface="Courier New"/>
                        </a:rPr>
                        <a:t>420.1</a:t>
                      </a:r>
                    </a:p>
                  </a:txBody>
                  <a:tcPr marL="54864" marR="54864" marT="27432" marB="27432">
                    <a:solidFill>
                      <a:srgbClr val="FFFFFF"/>
                    </a:solidFill>
                  </a:tcPr>
                </a:tc>
                <a:tc>
                  <a:txBody>
                    <a:bodyPr wrap="square"/>
                    <a:lstStyle/>
                    <a:p>
                      <a:pPr algn="r"/>
                      <a:r>
                        <a:rPr sz="1100" b="0">
                          <a:solidFill>
                            <a:srgbClr val="14324A"/>
                          </a:solidFill>
                          <a:latin typeface="Courier New"/>
                        </a:rPr>
                        <a:t>53287</a:t>
                      </a:r>
                    </a:p>
                  </a:txBody>
                  <a:tcPr marL="54864" marR="54864" marT="27432" marB="27432">
                    <a:solidFill>
                      <a:srgbClr val="FFFFFF"/>
                    </a:solidFill>
                  </a:tcPr>
                </a:tc>
                <a:tc>
                  <a:txBody>
                    <a:bodyPr wrap="square"/>
                    <a:lstStyle/>
                    <a:p>
                      <a:pPr algn="r"/>
                      <a:r>
                        <a:rPr sz="1100" b="0">
                          <a:solidFill>
                            <a:srgbClr val="14324A"/>
                          </a:solidFill>
                          <a:latin typeface="Courier New"/>
                        </a:rPr>
                        <a:t>7.4</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The workbench registers recordings per language with their length and whether a transcript was produced; transcript hours are the summed segment spans.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3017520"/>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01752">
                <a:tc>
                  <a:txBody>
                    <a:bodyPr wrap="square"/>
                    <a:lstStyle/>
                    <a:p>
                      <a:pPr algn="l"/>
                      <a:r>
                        <a:rPr sz="1100" b="1">
                          <a:solidFill>
                            <a:srgbClr val="14324A"/>
                          </a:solidFill>
                          <a:latin typeface="Calibri"/>
                        </a:rPr>
                        <a:t>Language</a:t>
                      </a:r>
                    </a:p>
                  </a:txBody>
                  <a:tcPr marL="54864" marR="54864" marT="27432" marB="27432">
                    <a:solidFill>
                      <a:srgbClr val="E8EEF3"/>
                    </a:solidFill>
                  </a:tcPr>
                </a:tc>
                <a:tc>
                  <a:txBody>
                    <a:bodyPr wrap="square"/>
                    <a:lstStyle/>
                    <a:p>
                      <a:pPr algn="l"/>
                      <a:r>
                        <a:rPr sz="1100" b="1">
                          <a:solidFill>
                            <a:srgbClr val="14324A"/>
                          </a:solidFill>
                          <a:latin typeface="Calibri"/>
                        </a:rPr>
                        <a:t>Station</a:t>
                      </a:r>
                    </a:p>
                  </a:txBody>
                  <a:tcPr marL="54864" marR="54864" marT="27432" marB="27432">
                    <a:solidFill>
                      <a:srgbClr val="E8EEF3"/>
                    </a:solidFill>
                  </a:tcPr>
                </a:tc>
                <a:tc>
                  <a:txBody>
                    <a:bodyPr wrap="square"/>
                    <a:lstStyle/>
                    <a:p>
                      <a:pPr algn="l"/>
                      <a:r>
                        <a:rPr sz="1100" b="1">
                          <a:solidFill>
                            <a:srgbClr val="14324A"/>
                          </a:solidFill>
                          <a:latin typeface="Calibri"/>
                        </a:rPr>
                        <a:t>Recordings</a:t>
                      </a:r>
                    </a:p>
                  </a:txBody>
                  <a:tcPr marL="54864" marR="54864" marT="27432" marB="27432">
                    <a:solidFill>
                      <a:srgbClr val="E8EEF3"/>
                    </a:solidFill>
                  </a:tcPr>
                </a:tc>
                <a:tc>
                  <a:txBody>
                    <a:bodyPr wrap="square"/>
                    <a:lstStyle/>
                    <a:p>
                      <a:pPr algn="l"/>
                      <a:r>
                        <a:rPr sz="1100" b="1">
                          <a:solidFill>
                            <a:srgbClr val="14324A"/>
                          </a:solidFill>
                          <a:latin typeface="Calibri"/>
                        </a:rPr>
                        <a:t>Audio hours</a:t>
                      </a:r>
                    </a:p>
                  </a:txBody>
                  <a:tcPr marL="54864" marR="54864" marT="27432" marB="27432">
                    <a:solidFill>
                      <a:srgbClr val="E8EEF3"/>
                    </a:solidFill>
                  </a:tcPr>
                </a:tc>
                <a:tc>
                  <a:txBody>
                    <a:bodyPr wrap="square"/>
                    <a:lstStyle/>
                    <a:p>
                      <a:pPr algn="l"/>
                      <a:r>
                        <a:rPr sz="1100" b="1">
                          <a:solidFill>
                            <a:srgbClr val="14324A"/>
                          </a:solidFill>
                          <a:latin typeface="Calibri"/>
                        </a:rPr>
                        <a:t>Transcript segments</a:t>
                      </a:r>
                    </a:p>
                  </a:txBody>
                  <a:tcPr marL="54864" marR="54864" marT="27432" marB="27432">
                    <a:solidFill>
                      <a:srgbClr val="E8EEF3"/>
                    </a:solidFill>
                  </a:tcPr>
                </a:tc>
                <a:tc>
                  <a:txBody>
                    <a:bodyPr wrap="square"/>
                    <a:lstStyle/>
                    <a:p>
                      <a:pPr algn="l"/>
                      <a:r>
                        <a:rPr sz="1100" b="1">
                          <a:solidFill>
                            <a:srgbClr val="14324A"/>
                          </a:solidFill>
                          <a:latin typeface="Calibri"/>
                        </a:rPr>
                        <a:t>Transcribed hours</a:t>
                      </a:r>
                    </a:p>
                  </a:txBody>
                  <a:tcPr marL="54864" marR="54864" marT="27432" marB="27432">
                    <a:solidFill>
                      <a:srgbClr val="E8EEF3"/>
                    </a:solidFill>
                  </a:tcPr>
                </a:tc>
              </a:tr>
              <a:tr h="301752">
                <a:tc>
                  <a:txBody>
                    <a:bodyPr wrap="square"/>
                    <a:lstStyle/>
                    <a:p>
                      <a:pPr algn="l"/>
                      <a:r>
                        <a:rPr sz="1100" b="0">
                          <a:solidFill>
                            <a:srgbClr val="14324A"/>
                          </a:solidFill>
                          <a:latin typeface="Calibri"/>
                        </a:rPr>
                        <a:t>Kikuyu</a:t>
                      </a:r>
                    </a:p>
                  </a:txBody>
                  <a:tcPr marL="54864" marR="54864" marT="27432" marB="27432">
                    <a:solidFill>
                      <a:srgbClr val="FFFFFF"/>
                    </a:solidFill>
                  </a:tcPr>
                </a:tc>
                <a:tc>
                  <a:txBody>
                    <a:bodyPr wrap="square"/>
                    <a:lstStyle/>
                    <a:p>
                      <a:pPr algn="l"/>
                      <a:r>
                        <a:rPr sz="1100" b="0">
                          <a:solidFill>
                            <a:srgbClr val="14324A"/>
                          </a:solidFill>
                          <a:latin typeface="Calibri"/>
                        </a:rPr>
                        <a:t>inooro</a:t>
                      </a:r>
                    </a:p>
                  </a:txBody>
                  <a:tcPr marL="54864" marR="54864" marT="27432" marB="27432">
                    <a:solidFill>
                      <a:srgbClr val="FFFFFF"/>
                    </a:solidFill>
                  </a:tcPr>
                </a:tc>
                <a:tc>
                  <a:txBody>
                    <a:bodyPr wrap="square"/>
                    <a:lstStyle/>
                    <a:p>
                      <a:pPr algn="r"/>
                      <a:r>
                        <a:rPr sz="1100" b="0">
                          <a:solidFill>
                            <a:srgbClr val="14324A"/>
                          </a:solidFill>
                          <a:latin typeface="Courier New"/>
                        </a:rPr>
                        <a:t>853</a:t>
                      </a:r>
                    </a:p>
                  </a:txBody>
                  <a:tcPr marL="54864" marR="54864" marT="27432" marB="27432">
                    <a:solidFill>
                      <a:srgbClr val="FFFFFF"/>
                    </a:solidFill>
                  </a:tcPr>
                </a:tc>
                <a:tc>
                  <a:txBody>
                    <a:bodyPr wrap="square"/>
                    <a:lstStyle/>
                    <a:p>
                      <a:pPr algn="r"/>
                      <a:r>
                        <a:rPr sz="1100" b="0">
                          <a:solidFill>
                            <a:srgbClr val="14324A"/>
                          </a:solidFill>
                          <a:latin typeface="Courier New"/>
                        </a:rPr>
                        <a:t>401.7</a:t>
                      </a:r>
                    </a:p>
                  </a:txBody>
                  <a:tcPr marL="54864" marR="54864" marT="27432" marB="27432">
                    <a:solidFill>
                      <a:srgbClr val="FFFFFF"/>
                    </a:solidFill>
                  </a:tcPr>
                </a:tc>
                <a:tc>
                  <a:txBody>
                    <a:bodyPr wrap="square"/>
                    <a:lstStyle/>
                    <a:p>
                      <a:pPr algn="r"/>
                      <a:r>
                        <a:rPr sz="1100" b="0">
                          <a:solidFill>
                            <a:srgbClr val="14324A"/>
                          </a:solidFill>
                          <a:latin typeface="Courier New"/>
                        </a:rPr>
                        <a:t>2456</a:t>
                      </a:r>
                    </a:p>
                  </a:txBody>
                  <a:tcPr marL="54864" marR="54864" marT="27432" marB="27432">
                    <a:solidFill>
                      <a:srgbClr val="FFFFFF"/>
                    </a:solidFill>
                  </a:tcPr>
                </a:tc>
                <a:tc>
                  <a:txBody>
                    <a:bodyPr wrap="square"/>
                    <a:lstStyle/>
                    <a:p>
                      <a:pPr algn="r"/>
                      <a:r>
                        <a:rPr sz="1100" b="0">
                          <a:solidFill>
                            <a:srgbClr val="14324A"/>
                          </a:solidFill>
                          <a:latin typeface="Courier New"/>
                        </a:rPr>
                        <a:t>9.1</a:t>
                      </a:r>
                    </a:p>
                  </a:txBody>
                  <a:tcPr marL="54864" marR="54864" marT="27432" marB="27432">
                    <a:solidFill>
                      <a:srgbClr val="FFFFFF"/>
                    </a:solidFill>
                  </a:tcPr>
                </a:tc>
              </a:tr>
              <a:tr h="301752">
                <a:tc>
                  <a:txBody>
                    <a:bodyPr wrap="square"/>
                    <a:lstStyle/>
                    <a:p>
                      <a:pPr algn="l"/>
                      <a:r>
                        <a:rPr sz="1100" b="0">
                          <a:solidFill>
                            <a:srgbClr val="14324A"/>
                          </a:solidFill>
                          <a:latin typeface="Calibri"/>
                        </a:rPr>
                        <a:t>Meru</a:t>
                      </a:r>
                    </a:p>
                  </a:txBody>
                  <a:tcPr marL="54864" marR="54864" marT="27432" marB="27432">
                    <a:solidFill>
                      <a:srgbClr val="FFFFFF"/>
                    </a:solidFill>
                  </a:tcPr>
                </a:tc>
                <a:tc>
                  <a:txBody>
                    <a:bodyPr wrap="square"/>
                    <a:lstStyle/>
                    <a:p>
                      <a:pPr algn="l"/>
                      <a:r>
                        <a:rPr sz="1100" b="0">
                          <a:solidFill>
                            <a:srgbClr val="14324A"/>
                          </a:solidFill>
                          <a:latin typeface="Calibri"/>
                        </a:rPr>
                        <a:t>muuga</a:t>
                      </a:r>
                    </a:p>
                  </a:txBody>
                  <a:tcPr marL="54864" marR="54864" marT="27432" marB="27432">
                    <a:solidFill>
                      <a:srgbClr val="FFFFFF"/>
                    </a:solidFill>
                  </a:tcPr>
                </a:tc>
                <a:tc>
                  <a:txBody>
                    <a:bodyPr wrap="square"/>
                    <a:lstStyle/>
                    <a:p>
                      <a:pPr algn="r"/>
                      <a:r>
                        <a:rPr sz="1100" b="0">
                          <a:solidFill>
                            <a:srgbClr val="14324A"/>
                          </a:solidFill>
                          <a:latin typeface="Courier New"/>
                        </a:rPr>
                        <a:t>3215</a:t>
                      </a:r>
                    </a:p>
                  </a:txBody>
                  <a:tcPr marL="54864" marR="54864" marT="27432" marB="27432">
                    <a:solidFill>
                      <a:srgbClr val="FFFFFF"/>
                    </a:solidFill>
                  </a:tcPr>
                </a:tc>
                <a:tc>
                  <a:txBody>
                    <a:bodyPr wrap="square"/>
                    <a:lstStyle/>
                    <a:p>
                      <a:pPr algn="r"/>
                      <a:r>
                        <a:rPr sz="1100" b="0">
                          <a:solidFill>
                            <a:srgbClr val="14324A"/>
                          </a:solidFill>
                          <a:latin typeface="Courier New"/>
                        </a:rPr>
                        <a:t>384.2</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r h="301752">
                <a:tc>
                  <a:txBody>
                    <a:bodyPr wrap="square"/>
                    <a:lstStyle/>
                    <a:p>
                      <a:pPr algn="l"/>
                      <a:r>
                        <a:rPr sz="1100" b="0">
                          <a:solidFill>
                            <a:srgbClr val="14324A"/>
                          </a:solidFill>
                          <a:latin typeface="Calibri"/>
                        </a:rPr>
                        <a:t>Akamba</a:t>
                      </a:r>
                    </a:p>
                  </a:txBody>
                  <a:tcPr marL="54864" marR="54864" marT="27432" marB="27432">
                    <a:solidFill>
                      <a:srgbClr val="FFFFFF"/>
                    </a:solidFill>
                  </a:tcPr>
                </a:tc>
                <a:tc>
                  <a:txBody>
                    <a:bodyPr wrap="square"/>
                    <a:lstStyle/>
                    <a:p>
                      <a:pPr algn="l"/>
                      <a:r>
                        <a:rPr sz="1100" b="0">
                          <a:solidFill>
                            <a:srgbClr val="14324A"/>
                          </a:solidFill>
                          <a:latin typeface="Calibri"/>
                        </a:rPr>
                        <a:t>musyi</a:t>
                      </a:r>
                    </a:p>
                  </a:txBody>
                  <a:tcPr marL="54864" marR="54864" marT="27432" marB="27432">
                    <a:solidFill>
                      <a:srgbClr val="FFFFFF"/>
                    </a:solidFill>
                  </a:tcPr>
                </a:tc>
                <a:tc>
                  <a:txBody>
                    <a:bodyPr wrap="square"/>
                    <a:lstStyle/>
                    <a:p>
                      <a:pPr algn="r"/>
                      <a:r>
                        <a:rPr sz="1100" b="0">
                          <a:solidFill>
                            <a:srgbClr val="14324A"/>
                          </a:solidFill>
                          <a:latin typeface="Courier New"/>
                        </a:rPr>
                        <a:t>3257</a:t>
                      </a:r>
                    </a:p>
                  </a:txBody>
                  <a:tcPr marL="54864" marR="54864" marT="27432" marB="27432">
                    <a:solidFill>
                      <a:srgbClr val="FFFFFF"/>
                    </a:solidFill>
                  </a:tcPr>
                </a:tc>
                <a:tc>
                  <a:txBody>
                    <a:bodyPr wrap="square"/>
                    <a:lstStyle/>
                    <a:p>
                      <a:pPr algn="r"/>
                      <a:r>
                        <a:rPr sz="1100" b="0">
                          <a:solidFill>
                            <a:srgbClr val="14324A"/>
                          </a:solidFill>
                          <a:latin typeface="Courier New"/>
                        </a:rPr>
                        <a:t>376.9</a:t>
                      </a:r>
                    </a:p>
                  </a:txBody>
                  <a:tcPr marL="54864" marR="54864" marT="27432" marB="27432">
                    <a:solidFill>
                      <a:srgbClr val="FFFFFF"/>
                    </a:solidFill>
                  </a:tcPr>
                </a:tc>
                <a:tc>
                  <a:txBody>
                    <a:bodyPr wrap="square"/>
                    <a:lstStyle/>
                    <a:p>
                      <a:pPr algn="r"/>
                      <a:r>
                        <a:rPr sz="1100" b="0">
                          <a:solidFill>
                            <a:srgbClr val="14324A"/>
                          </a:solidFill>
                          <a:latin typeface="Courier New"/>
                        </a:rPr>
                        <a:t>7815</a:t>
                      </a:r>
                    </a:p>
                  </a:txBody>
                  <a:tcPr marL="54864" marR="54864" marT="27432" marB="27432">
                    <a:solidFill>
                      <a:srgbClr val="FFFFFF"/>
                    </a:solidFill>
                  </a:tcPr>
                </a:tc>
                <a:tc>
                  <a:txBody>
                    <a:bodyPr wrap="square"/>
                    <a:lstStyle/>
                    <a:p>
                      <a:pPr algn="r"/>
                      <a:r>
                        <a:rPr sz="1100" b="0">
                          <a:solidFill>
                            <a:srgbClr val="14324A"/>
                          </a:solidFill>
                          <a:latin typeface="Courier New"/>
                        </a:rPr>
                        <a:t>-26.1</a:t>
                      </a:r>
                    </a:p>
                  </a:txBody>
                  <a:tcPr marL="54864" marR="54864" marT="27432" marB="27432">
                    <a:solidFill>
                      <a:srgbClr val="FFFFFF"/>
                    </a:solidFill>
                  </a:tcPr>
                </a:tc>
              </a:tr>
              <a:tr h="301752">
                <a:tc>
                  <a:txBody>
                    <a:bodyPr wrap="square"/>
                    <a:lstStyle/>
                    <a:p>
                      <a:pPr algn="l"/>
                      <a:r>
                        <a:rPr sz="1100" b="0">
                          <a:solidFill>
                            <a:srgbClr val="14324A"/>
                          </a:solidFill>
                          <a:latin typeface="Calibri"/>
                        </a:rPr>
                        <a:t>Luhya</a:t>
                      </a:r>
                    </a:p>
                  </a:txBody>
                  <a:tcPr marL="54864" marR="54864" marT="27432" marB="27432">
                    <a:solidFill>
                      <a:srgbClr val="FFFFFF"/>
                    </a:solidFill>
                  </a:tcPr>
                </a:tc>
                <a:tc>
                  <a:txBody>
                    <a:bodyPr wrap="square"/>
                    <a:lstStyle/>
                    <a:p>
                      <a:pPr algn="l"/>
                      <a:r>
                        <a:rPr sz="1100" b="0">
                          <a:solidFill>
                            <a:srgbClr val="14324A"/>
                          </a:solidFill>
                          <a:latin typeface="Calibri"/>
                        </a:rPr>
                        <a:t>mulembe</a:t>
                      </a:r>
                    </a:p>
                  </a:txBody>
                  <a:tcPr marL="54864" marR="54864" marT="27432" marB="27432">
                    <a:solidFill>
                      <a:srgbClr val="FFFFFF"/>
                    </a:solidFill>
                  </a:tcPr>
                </a:tc>
                <a:tc>
                  <a:txBody>
                    <a:bodyPr wrap="square"/>
                    <a:lstStyle/>
                    <a:p>
                      <a:pPr algn="r"/>
                      <a:r>
                        <a:rPr sz="1100" b="0">
                          <a:solidFill>
                            <a:srgbClr val="14324A"/>
                          </a:solidFill>
                          <a:latin typeface="Courier New"/>
                        </a:rPr>
                        <a:t>3344</a:t>
                      </a:r>
                    </a:p>
                  </a:txBody>
                  <a:tcPr marL="54864" marR="54864" marT="27432" marB="27432">
                    <a:solidFill>
                      <a:srgbClr val="FFFFFF"/>
                    </a:solidFill>
                  </a:tcPr>
                </a:tc>
                <a:tc>
                  <a:txBody>
                    <a:bodyPr wrap="square"/>
                    <a:lstStyle/>
                    <a:p>
                      <a:pPr algn="r"/>
                      <a:r>
                        <a:rPr sz="1100" b="0">
                          <a:solidFill>
                            <a:srgbClr val="14324A"/>
                          </a:solidFill>
                          <a:latin typeface="Courier New"/>
                        </a:rPr>
                        <a:t>371.8</a:t>
                      </a:r>
                    </a:p>
                  </a:txBody>
                  <a:tcPr marL="54864" marR="54864" marT="27432" marB="27432">
                    <a:solidFill>
                      <a:srgbClr val="FFFFFF"/>
                    </a:solidFill>
                  </a:tcPr>
                </a:tc>
                <a:tc>
                  <a:txBody>
                    <a:bodyPr wrap="square"/>
                    <a:lstStyle/>
                    <a:p>
                      <a:pPr algn="r"/>
                      <a:r>
                        <a:rPr sz="1100" b="0">
                          <a:solidFill>
                            <a:srgbClr val="14324A"/>
                          </a:solidFill>
                          <a:latin typeface="Courier New"/>
                        </a:rPr>
                        <a:t>13849</a:t>
                      </a:r>
                    </a:p>
                  </a:txBody>
                  <a:tcPr marL="54864" marR="54864" marT="27432" marB="27432">
                    <a:solidFill>
                      <a:srgbClr val="FFFFFF"/>
                    </a:solidFill>
                  </a:tcPr>
                </a:tc>
                <a:tc>
                  <a:txBody>
                    <a:bodyPr wrap="square"/>
                    <a:lstStyle/>
                    <a:p>
                      <a:pPr algn="r"/>
                      <a:r>
                        <a:rPr sz="1100" b="0">
                          <a:solidFill>
                            <a:srgbClr val="14324A"/>
                          </a:solidFill>
                          <a:latin typeface="Courier New"/>
                        </a:rPr>
                        <a:t>21.5</a:t>
                      </a:r>
                    </a:p>
                  </a:txBody>
                  <a:tcPr marL="54864" marR="54864" marT="27432" marB="27432">
                    <a:solidFill>
                      <a:srgbClr val="FFFFFF"/>
                    </a:solidFill>
                  </a:tcPr>
                </a:tc>
              </a:tr>
              <a:tr h="301752">
                <a:tc>
                  <a:txBody>
                    <a:bodyPr wrap="square"/>
                    <a:lstStyle/>
                    <a:p>
                      <a:pPr algn="l"/>
                      <a:r>
                        <a:rPr sz="1100" b="0">
                          <a:solidFill>
                            <a:srgbClr val="14324A"/>
                          </a:solidFill>
                          <a:latin typeface="Calibri"/>
                        </a:rPr>
                        <a:t>Luo</a:t>
                      </a:r>
                    </a:p>
                  </a:txBody>
                  <a:tcPr marL="54864" marR="54864" marT="27432" marB="27432">
                    <a:solidFill>
                      <a:srgbClr val="FFFFFF"/>
                    </a:solidFill>
                  </a:tcPr>
                </a:tc>
                <a:tc>
                  <a:txBody>
                    <a:bodyPr wrap="square"/>
                    <a:lstStyle/>
                    <a:p>
                      <a:pPr algn="l"/>
                      <a:r>
                        <a:rPr sz="1100" b="0">
                          <a:solidFill>
                            <a:srgbClr val="14324A"/>
                          </a:solidFill>
                          <a:latin typeface="Calibri"/>
                        </a:rPr>
                        <a:t>Ramogi</a:t>
                      </a:r>
                    </a:p>
                  </a:txBody>
                  <a:tcPr marL="54864" marR="54864" marT="27432" marB="27432">
                    <a:solidFill>
                      <a:srgbClr val="FFFFFF"/>
                    </a:solidFill>
                  </a:tcPr>
                </a:tc>
                <a:tc>
                  <a:txBody>
                    <a:bodyPr wrap="square"/>
                    <a:lstStyle/>
                    <a:p>
                      <a:pPr algn="r"/>
                      <a:r>
                        <a:rPr sz="1100" b="0">
                          <a:solidFill>
                            <a:srgbClr val="14324A"/>
                          </a:solidFill>
                          <a:latin typeface="Courier New"/>
                        </a:rPr>
                        <a:t>3228</a:t>
                      </a:r>
                    </a:p>
                  </a:txBody>
                  <a:tcPr marL="54864" marR="54864" marT="27432" marB="27432">
                    <a:solidFill>
                      <a:srgbClr val="FFFFFF"/>
                    </a:solidFill>
                  </a:tcPr>
                </a:tc>
                <a:tc>
                  <a:txBody>
                    <a:bodyPr wrap="square"/>
                    <a:lstStyle/>
                    <a:p>
                      <a:pPr algn="r"/>
                      <a:r>
                        <a:rPr sz="1100" b="0">
                          <a:solidFill>
                            <a:srgbClr val="14324A"/>
                          </a:solidFill>
                          <a:latin typeface="Courier New"/>
                        </a:rPr>
                        <a:t>359.9</a:t>
                      </a:r>
                    </a:p>
                  </a:txBody>
                  <a:tcPr marL="54864" marR="54864" marT="27432" marB="27432">
                    <a:solidFill>
                      <a:srgbClr val="FFFFFF"/>
                    </a:solidFill>
                  </a:tcPr>
                </a:tc>
                <a:tc>
                  <a:txBody>
                    <a:bodyPr wrap="square"/>
                    <a:lstStyle/>
                    <a:p>
                      <a:pPr algn="r"/>
                      <a:r>
                        <a:rPr sz="1100" b="0">
                          <a:solidFill>
                            <a:srgbClr val="14324A"/>
                          </a:solidFill>
                          <a:latin typeface="Courier New"/>
                        </a:rPr>
                        <a:t>22805</a:t>
                      </a:r>
                    </a:p>
                  </a:txBody>
                  <a:tcPr marL="54864" marR="54864" marT="27432" marB="27432">
                    <a:solidFill>
                      <a:srgbClr val="FFFFFF"/>
                    </a:solidFill>
                  </a:tcPr>
                </a:tc>
                <a:tc>
                  <a:txBody>
                    <a:bodyPr wrap="square"/>
                    <a:lstStyle/>
                    <a:p>
                      <a:pPr algn="r"/>
                      <a:r>
                        <a:rPr sz="1100" b="0">
                          <a:solidFill>
                            <a:srgbClr val="14324A"/>
                          </a:solidFill>
                          <a:latin typeface="Courier New"/>
                        </a:rPr>
                        <a:t>320.6</a:t>
                      </a:r>
                    </a:p>
                  </a:txBody>
                  <a:tcPr marL="54864" marR="54864" marT="27432" marB="27432">
                    <a:solidFill>
                      <a:srgbClr val="FFFFFF"/>
                    </a:solidFill>
                  </a:tcPr>
                </a:tc>
              </a:tr>
              <a:tr h="301752">
                <a:tc>
                  <a:txBody>
                    <a:bodyPr wrap="square"/>
                    <a:lstStyle/>
                    <a:p>
                      <a:pPr algn="l"/>
                      <a:r>
                        <a:rPr sz="1100" b="0">
                          <a:solidFill>
                            <a:srgbClr val="14324A"/>
                          </a:solidFill>
                          <a:latin typeface="Calibri"/>
                        </a:rPr>
                        <a:t>Maragoli</a:t>
                      </a:r>
                    </a:p>
                  </a:txBody>
                  <a:tcPr marL="54864" marR="54864" marT="27432" marB="27432">
                    <a:solidFill>
                      <a:srgbClr val="FFFFFF"/>
                    </a:solidFill>
                  </a:tcPr>
                </a:tc>
                <a:tc>
                  <a:txBody>
                    <a:bodyPr wrap="square"/>
                    <a:lstStyle/>
                    <a:p>
                      <a:pPr algn="l"/>
                      <a:r>
                        <a:rPr sz="1100" b="0">
                          <a:solidFill>
                            <a:srgbClr val="14324A"/>
                          </a:solidFill>
                          <a:latin typeface="Calibri"/>
                        </a:rPr>
                        <a:t>Vuuka</a:t>
                      </a:r>
                    </a:p>
                  </a:txBody>
                  <a:tcPr marL="54864" marR="54864" marT="27432" marB="27432">
                    <a:solidFill>
                      <a:srgbClr val="FFFFFF"/>
                    </a:solidFill>
                  </a:tcPr>
                </a:tc>
                <a:tc>
                  <a:txBody>
                    <a:bodyPr wrap="square"/>
                    <a:lstStyle/>
                    <a:p>
                      <a:pPr algn="r"/>
                      <a:r>
                        <a:rPr sz="1100" b="0">
                          <a:solidFill>
                            <a:srgbClr val="14324A"/>
                          </a:solidFill>
                          <a:latin typeface="Courier New"/>
                        </a:rPr>
                        <a:t>3017</a:t>
                      </a:r>
                    </a:p>
                  </a:txBody>
                  <a:tcPr marL="54864" marR="54864" marT="27432" marB="27432">
                    <a:solidFill>
                      <a:srgbClr val="FFFFFF"/>
                    </a:solidFill>
                  </a:tcPr>
                </a:tc>
                <a:tc>
                  <a:txBody>
                    <a:bodyPr wrap="square"/>
                    <a:lstStyle/>
                    <a:p>
                      <a:pPr algn="r"/>
                      <a:r>
                        <a:rPr sz="1100" b="0">
                          <a:solidFill>
                            <a:srgbClr val="14324A"/>
                          </a:solidFill>
                          <a:latin typeface="Courier New"/>
                        </a:rPr>
                        <a:t>311.6</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r h="301752">
                <a:tc>
                  <a:txBody>
                    <a:bodyPr wrap="square"/>
                    <a:lstStyle/>
                    <a:p>
                      <a:pPr algn="l"/>
                      <a:r>
                        <a:rPr sz="1100" b="0">
                          <a:solidFill>
                            <a:srgbClr val="14324A"/>
                          </a:solidFill>
                          <a:latin typeface="Calibri"/>
                        </a:rPr>
                        <a:t>Kalenjin</a:t>
                      </a:r>
                    </a:p>
                  </a:txBody>
                  <a:tcPr marL="54864" marR="54864" marT="27432" marB="27432">
                    <a:solidFill>
                      <a:srgbClr val="FFFFFF"/>
                    </a:solidFill>
                  </a:tcPr>
                </a:tc>
                <a:tc>
                  <a:txBody>
                    <a:bodyPr wrap="square"/>
                    <a:lstStyle/>
                    <a:p>
                      <a:pPr algn="l"/>
                      <a:r>
                        <a:rPr sz="1100" b="0">
                          <a:solidFill>
                            <a:srgbClr val="14324A"/>
                          </a:solidFill>
                          <a:latin typeface="Calibri"/>
                        </a:rPr>
                        <a:t>Chamgei</a:t>
                      </a:r>
                    </a:p>
                  </a:txBody>
                  <a:tcPr marL="54864" marR="54864" marT="27432" marB="27432">
                    <a:solidFill>
                      <a:srgbClr val="FFFFFF"/>
                    </a:solidFill>
                  </a:tcPr>
                </a:tc>
                <a:tc>
                  <a:txBody>
                    <a:bodyPr wrap="square"/>
                    <a:lstStyle/>
                    <a:p>
                      <a:pPr algn="r"/>
                      <a:r>
                        <a:rPr sz="1100" b="0">
                          <a:solidFill>
                            <a:srgbClr val="14324A"/>
                          </a:solidFill>
                          <a:latin typeface="Courier New"/>
                        </a:rPr>
                        <a:t>841</a:t>
                      </a:r>
                    </a:p>
                  </a:txBody>
                  <a:tcPr marL="54864" marR="54864" marT="27432" marB="27432">
                    <a:solidFill>
                      <a:srgbClr val="FFFFFF"/>
                    </a:solidFill>
                  </a:tcPr>
                </a:tc>
                <a:tc>
                  <a:txBody>
                    <a:bodyPr wrap="square"/>
                    <a:lstStyle/>
                    <a:p>
                      <a:pPr algn="r"/>
                      <a:r>
                        <a:rPr sz="1100" b="0">
                          <a:solidFill>
                            <a:srgbClr val="14324A"/>
                          </a:solidFill>
                          <a:latin typeface="Courier New"/>
                        </a:rPr>
                        <a:t>300.8</a:t>
                      </a:r>
                    </a:p>
                  </a:txBody>
                  <a:tcPr marL="54864" marR="54864" marT="27432" marB="27432">
                    <a:solidFill>
                      <a:srgbClr val="FFFFFF"/>
                    </a:solidFill>
                  </a:tcPr>
                </a:tc>
                <a:tc>
                  <a:txBody>
                    <a:bodyPr wrap="square"/>
                    <a:lstStyle/>
                    <a:p>
                      <a:pPr algn="r"/>
                      <a:r>
                        <a:rPr sz="1100" b="0">
                          <a:solidFill>
                            <a:srgbClr val="14324A"/>
                          </a:solidFill>
                          <a:latin typeface="Courier New"/>
                        </a:rPr>
                        <a:t>22301</a:t>
                      </a:r>
                    </a:p>
                  </a:txBody>
                  <a:tcPr marL="54864" marR="54864" marT="27432" marB="27432">
                    <a:solidFill>
                      <a:srgbClr val="FFFFFF"/>
                    </a:solidFill>
                  </a:tcPr>
                </a:tc>
                <a:tc>
                  <a:txBody>
                    <a:bodyPr wrap="square"/>
                    <a:lstStyle/>
                    <a:p>
                      <a:pPr algn="r"/>
                      <a:r>
                        <a:rPr sz="1100" b="0">
                          <a:solidFill>
                            <a:srgbClr val="14324A"/>
                          </a:solidFill>
                          <a:latin typeface="Courier New"/>
                        </a:rPr>
                        <a:t>18.0</a:t>
                      </a:r>
                    </a:p>
                  </a:txBody>
                  <a:tcPr marL="54864" marR="54864" marT="27432" marB="27432">
                    <a:solidFill>
                      <a:srgbClr val="FFFFFF"/>
                    </a:solidFill>
                  </a:tcPr>
                </a:tc>
              </a:tr>
              <a:tr h="301752">
                <a:tc>
                  <a:txBody>
                    <a:bodyPr wrap="square"/>
                    <a:lstStyle/>
                    <a:p>
                      <a:pPr algn="l"/>
                      <a:r>
                        <a:rPr sz="1100" b="0">
                          <a:solidFill>
                            <a:srgbClr val="14324A"/>
                          </a:solidFill>
                          <a:latin typeface="Calibri"/>
                        </a:rPr>
                        <a:t>Meru</a:t>
                      </a:r>
                    </a:p>
                  </a:txBody>
                  <a:tcPr marL="54864" marR="54864" marT="27432" marB="27432">
                    <a:solidFill>
                      <a:srgbClr val="FFFFFF"/>
                    </a:solidFill>
                  </a:tcPr>
                </a:tc>
                <a:tc>
                  <a:txBody>
                    <a:bodyPr wrap="square"/>
                    <a:lstStyle/>
                    <a:p>
                      <a:pPr algn="l"/>
                      <a:r>
                        <a:rPr sz="1100" b="0">
                          <a:solidFill>
                            <a:srgbClr val="14324A"/>
                          </a:solidFill>
                          <a:latin typeface="Calibri"/>
                        </a:rPr>
                        <a:t>Muuga</a:t>
                      </a:r>
                    </a:p>
                  </a:txBody>
                  <a:tcPr marL="54864" marR="54864" marT="27432" marB="27432">
                    <a:solidFill>
                      <a:srgbClr val="FFFFFF"/>
                    </a:solidFill>
                  </a:tcPr>
                </a:tc>
                <a:tc>
                  <a:txBody>
                    <a:bodyPr wrap="square"/>
                    <a:lstStyle/>
                    <a:p>
                      <a:pPr algn="r"/>
                      <a:r>
                        <a:rPr sz="1100" b="0">
                          <a:solidFill>
                            <a:srgbClr val="14324A"/>
                          </a:solidFill>
                          <a:latin typeface="Courier New"/>
                        </a:rPr>
                        <a:t>1973</a:t>
                      </a:r>
                    </a:p>
                  </a:txBody>
                  <a:tcPr marL="54864" marR="54864" marT="27432" marB="27432">
                    <a:solidFill>
                      <a:srgbClr val="FFFFFF"/>
                    </a:solidFill>
                  </a:tcPr>
                </a:tc>
                <a:tc>
                  <a:txBody>
                    <a:bodyPr wrap="square"/>
                    <a:lstStyle/>
                    <a:p>
                      <a:pPr algn="r"/>
                      <a:r>
                        <a:rPr sz="1100" b="0">
                          <a:solidFill>
                            <a:srgbClr val="14324A"/>
                          </a:solidFill>
                          <a:latin typeface="Courier New"/>
                        </a:rPr>
                        <a:t>282.6</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r h="301752">
                <a:tc>
                  <a:txBody>
                    <a:bodyPr wrap="square"/>
                    <a:lstStyle/>
                    <a:p>
                      <a:pPr algn="l"/>
                      <a:r>
                        <a:rPr sz="1100" b="0">
                          <a:solidFill>
                            <a:srgbClr val="14324A"/>
                          </a:solidFill>
                          <a:latin typeface="Calibri"/>
                        </a:rPr>
                        <a:t>Embu</a:t>
                      </a:r>
                    </a:p>
                  </a:txBody>
                  <a:tcPr marL="54864" marR="54864" marT="27432" marB="27432">
                    <a:solidFill>
                      <a:srgbClr val="FFFFFF"/>
                    </a:solidFill>
                  </a:tcPr>
                </a:tc>
                <a:tc>
                  <a:txBody>
                    <a:bodyPr wrap="square"/>
                    <a:lstStyle/>
                    <a:p>
                      <a:pPr algn="l"/>
                      <a:r>
                        <a:rPr sz="1100" b="0">
                          <a:solidFill>
                            <a:srgbClr val="14324A"/>
                          </a:solidFill>
                          <a:latin typeface="Calibri"/>
                        </a:rPr>
                        <a:t>wimwaro</a:t>
                      </a:r>
                    </a:p>
                  </a:txBody>
                  <a:tcPr marL="54864" marR="54864" marT="27432" marB="27432">
                    <a:solidFill>
                      <a:srgbClr val="FFFFFF"/>
                    </a:solidFill>
                  </a:tcPr>
                </a:tc>
                <a:tc>
                  <a:txBody>
                    <a:bodyPr wrap="square"/>
                    <a:lstStyle/>
                    <a:p>
                      <a:pPr algn="r"/>
                      <a:r>
                        <a:rPr sz="1100" b="0">
                          <a:solidFill>
                            <a:srgbClr val="14324A"/>
                          </a:solidFill>
                          <a:latin typeface="Courier New"/>
                        </a:rPr>
                        <a:t>1501</a:t>
                      </a:r>
                    </a:p>
                  </a:txBody>
                  <a:tcPr marL="54864" marR="54864" marT="27432" marB="27432">
                    <a:solidFill>
                      <a:srgbClr val="FFFFFF"/>
                    </a:solidFill>
                  </a:tcPr>
                </a:tc>
                <a:tc>
                  <a:txBody>
                    <a:bodyPr wrap="square"/>
                    <a:lstStyle/>
                    <a:p>
                      <a:pPr algn="r"/>
                      <a:r>
                        <a:rPr sz="1100" b="0">
                          <a:solidFill>
                            <a:srgbClr val="14324A"/>
                          </a:solidFill>
                          <a:latin typeface="Courier New"/>
                        </a:rPr>
                        <a:t>276.4</a:t>
                      </a:r>
                    </a:p>
                  </a:txBody>
                  <a:tcPr marL="54864" marR="54864" marT="27432" marB="27432">
                    <a:solidFill>
                      <a:srgbClr val="FFFFFF"/>
                    </a:solidFill>
                  </a:tcPr>
                </a:tc>
                <a:tc>
                  <a:txBody>
                    <a:bodyPr wrap="square"/>
                    <a:lstStyle/>
                    <a:p>
                      <a:pPr algn="r"/>
                      <a:r>
                        <a:rPr sz="1100" b="0">
                          <a:solidFill>
                            <a:srgbClr val="14324A"/>
                          </a:solidFill>
                          <a:latin typeface="Courier New"/>
                        </a:rPr>
                        <a:t>0</a:t>
                      </a:r>
                    </a:p>
                  </a:txBody>
                  <a:tcPr marL="54864" marR="54864" marT="27432" marB="27432">
                    <a:solidFill>
                      <a:srgbClr val="FFFFFF"/>
                    </a:solidFill>
                  </a:tcPr>
                </a:tc>
                <a:tc>
                  <a:txBody>
                    <a:bodyPr wrap="square"/>
                    <a:lstStyle/>
                    <a:p>
                      <a:pPr algn="r"/>
                      <a:r>
                        <a:rPr sz="1100" b="0">
                          <a:solidFill>
                            <a:srgbClr val="14324A"/>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The workbench registers recordings per language with their length and whether a transcript was produced; transcript hours are the summed segment spans.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R08: 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07</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First data products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PRODUCT SHORTLIST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Reference data and the content catalogue are the proposed first products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census scores 8 candidates on dimensional readiness only, which shows neither demand nor revenue.</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Proposed first: reference and master-data licensing, and the content catalogue corpus, each needing canonical keys, completeness checks and de-identification or aggregation.</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If a buyer leads, aggregated channel engagement analytics is the alternative; the order is a planning judgement needing buyer-side review.</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Subscriber segmentation, geospatial and civic panels need cleansing first. Rights are settled and are not a gate.</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08</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Decisions requested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WHAT THE EXECUTIVE DECIDES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The executive is asked to approve verification and preparation, not migration or deletion</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Storage decisions rest on 41.9 TiB of cold object data, 7.7 TiB of duplicate candidates and 40 unreadable buckets.</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benefit is an upper bound of 1,174.4 USD a month at list prices, not current spend.</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The audio opportunity is 529.5 recorded hours, of which an estimated 421.4 are speech, to filter and language-check first.</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Nothing has been moved, deleted or released.</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3017520"/>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01752">
                <a:tc>
                  <a:txBody>
                    <a:bodyPr wrap="square"/>
                    <a:lstStyle/>
                    <a:p>
                      <a:pPr algn="l"/>
                      <a:r>
                        <a:rPr sz="1100" b="1">
                          <a:solidFill>
                            <a:srgbClr val="14324A"/>
                          </a:solidFill>
                          <a:latin typeface="Calibri"/>
                        </a:rPr>
                        <a:t>No.</a:t>
                      </a:r>
                    </a:p>
                  </a:txBody>
                  <a:tcPr marL="54864" marR="54864" marT="27432" marB="27432">
                    <a:solidFill>
                      <a:srgbClr val="E8EEF3"/>
                    </a:solidFill>
                  </a:tcPr>
                </a:tc>
                <a:tc>
                  <a:txBody>
                    <a:bodyPr wrap="square"/>
                    <a:lstStyle/>
                    <a:p>
                      <a:pPr algn="l"/>
                      <a:r>
                        <a:rPr sz="1100" b="1">
                          <a:solidFill>
                            <a:srgbClr val="14324A"/>
                          </a:solidFill>
                          <a:latin typeface="Calibri"/>
                        </a:rPr>
                        <a:t>Decision requested</a:t>
                      </a:r>
                    </a:p>
                  </a:txBody>
                  <a:tcPr marL="54864" marR="54864" marT="27432" marB="27432">
                    <a:solidFill>
                      <a:srgbClr val="E8EEF3"/>
                    </a:solidFill>
                  </a:tcPr>
                </a:tc>
                <a:tc>
                  <a:txBody>
                    <a:bodyPr wrap="square"/>
                    <a:lstStyle/>
                    <a:p>
                      <a:pPr algn="l"/>
                      <a:r>
                        <a:rPr sz="1100" b="1">
                          <a:solidFill>
                            <a:srgbClr val="14324A"/>
                          </a:solidFill>
                          <a:latin typeface="Calibri"/>
                        </a:rPr>
                        <a:t>Exact source</a:t>
                      </a:r>
                    </a:p>
                  </a:txBody>
                  <a:tcPr marL="54864" marR="54864" marT="27432" marB="27432">
                    <a:solidFill>
                      <a:srgbClr val="E8EEF3"/>
                    </a:solidFill>
                  </a:tcPr>
                </a:tc>
                <a:tc>
                  <a:txBody>
                    <a:bodyPr wrap="square"/>
                    <a:lstStyle/>
                    <a:p>
                      <a:pPr algn="l"/>
                      <a:r>
                        <a:rPr sz="1100" b="1">
                          <a:solidFill>
                            <a:srgbClr val="14324A"/>
                          </a:solidFill>
                          <a:latin typeface="Calibri"/>
                        </a:rPr>
                        <a:t>Proposed destination or rule</a:t>
                      </a:r>
                    </a:p>
                  </a:txBody>
                  <a:tcPr marL="54864" marR="54864" marT="27432" marB="27432">
                    <a:solidFill>
                      <a:srgbClr val="E8EEF3"/>
                    </a:solidFill>
                  </a:tcPr>
                </a:tc>
                <a:tc>
                  <a:txBody>
                    <a:bodyPr wrap="square"/>
                    <a:lstStyle/>
                    <a:p>
                      <a:pPr algn="l"/>
                      <a:r>
                        <a:rPr sz="1100" b="1">
                          <a:solidFill>
                            <a:srgbClr val="14324A"/>
                          </a:solidFill>
                          <a:latin typeface="Calibri"/>
                        </a:rPr>
                        <a:t>Responsible role</a:t>
                      </a:r>
                    </a:p>
                  </a:txBody>
                  <a:tcPr marL="54864" marR="54864" marT="27432" marB="27432">
                    <a:solidFill>
                      <a:srgbClr val="E8EEF3"/>
                    </a:solidFill>
                  </a:tcPr>
                </a:tc>
                <a:tc>
                  <a:txBody>
                    <a:bodyPr wrap="square"/>
                    <a:lstStyle/>
                    <a:p>
                      <a:pPr algn="l"/>
                      <a:r>
                        <a:rPr sz="1100" b="1">
                          <a:solidFill>
                            <a:srgbClr val="14324A"/>
                          </a:solidFill>
                          <a:latin typeface="Calibri"/>
                        </a:rPr>
                        <a:t>Expected benefit</a:t>
                      </a:r>
                    </a:p>
                  </a:txBody>
                  <a:tcPr marL="54864" marR="54864" marT="27432" marB="27432">
                    <a:solidFill>
                      <a:srgbClr val="E8EEF3"/>
                    </a:solidFill>
                  </a:tcPr>
                </a:tc>
              </a:tr>
              <a:tr h="301752">
                <a:tc>
                  <a:txBody>
                    <a:bodyPr wrap="square"/>
                    <a:lstStyle/>
                    <a:p>
                      <a:pPr algn="l"/>
                      <a:r>
                        <a:rPr sz="1100" b="0">
                          <a:solidFill>
                            <a:srgbClr val="14324A"/>
                          </a:solidFill>
                          <a:latin typeface="Calibri"/>
                        </a:rPr>
                        <a:t>D1</a:t>
                      </a:r>
                    </a:p>
                  </a:txBody>
                  <a:tcPr marL="54864" marR="54864" marT="27432" marB="27432">
                    <a:solidFill>
                      <a:srgbClr val="FFFFFF"/>
                    </a:solidFill>
                  </a:tcPr>
                </a:tc>
                <a:tc>
                  <a:txBody>
                    <a:bodyPr wrap="square"/>
                    <a:lstStyle/>
                    <a:p>
                      <a:pPr algn="l"/>
                      <a:r>
                        <a:rPr sz="1100" b="0">
                          <a:solidFill>
                            <a:srgbClr val="14324A"/>
                          </a:solidFill>
                          <a:latin typeface="Calibri"/>
                        </a:rPr>
                        <a:t>Approve archive tiering of the cold object-store buckets</a:t>
                      </a:r>
                    </a:p>
                  </a:txBody>
                  <a:tcPr marL="54864" marR="54864" marT="27432" marB="27432">
                    <a:solidFill>
                      <a:srgbClr val="FFFFFF"/>
                    </a:solidFill>
                  </a:tcPr>
                </a:tc>
                <a:tc>
                  <a:txBody>
                    <a:bodyPr wrap="square"/>
                    <a:lstStyle/>
                    <a:p>
                      <a:pPr algn="l"/>
                      <a:r>
                        <a:rPr sz="1100" b="0">
                          <a:solidFill>
                            <a:srgbClr val="14324A"/>
                          </a:solidFill>
                          <a:latin typeface="Calibri"/>
                        </a:rPr>
                        <a:t>43 buckets, e.g. music-bucket-rms, na7p43do, na7p43js, na7p434j, na7p41hj</a:t>
                      </a:r>
                    </a:p>
                  </a:txBody>
                  <a:tcPr marL="54864" marR="54864" marT="27432" marB="27432">
                    <a:solidFill>
                      <a:srgbClr val="FFFFFF"/>
                    </a:solidFill>
                  </a:tcPr>
                </a:tc>
                <a:tc>
                  <a:txBody>
                    <a:bodyPr wrap="square"/>
                    <a:lstStyle/>
                    <a:p>
                      <a:pPr algn="l"/>
                      <a:r>
                        <a:rPr sz="1100" b="0">
                          <a:solidFill>
                            <a:srgbClr val="14324A"/>
                          </a:solidFill>
                          <a:latin typeface="Calibri"/>
                        </a:rPr>
                        <a:t>same buckets, archive storage class (proposed)</a:t>
                      </a:r>
                    </a:p>
                  </a:txBody>
                  <a:tcPr marL="54864" marR="54864" marT="27432" marB="27432">
                    <a:solidFill>
                      <a:srgbClr val="FFFFFF"/>
                    </a:solidFill>
                  </a:tcPr>
                </a:tc>
                <a:tc>
                  <a:txBody>
                    <a:bodyPr wrap="square"/>
                    <a:lstStyle/>
                    <a:p>
                      <a:pPr algn="l"/>
                      <a:r>
                        <a:rPr sz="1100" b="0">
                          <a:solidFill>
                            <a:srgbClr val="14324A"/>
                          </a:solidFill>
                          <a:latin typeface="Calibri"/>
                        </a:rPr>
                        <a:t>Head of Technology (storage owner)</a:t>
                      </a:r>
                    </a:p>
                  </a:txBody>
                  <a:tcPr marL="54864" marR="54864" marT="27432" marB="27432">
                    <a:solidFill>
                      <a:srgbClr val="FFFFFF"/>
                    </a:solidFill>
                  </a:tcPr>
                </a:tc>
                <a:tc>
                  <a:txBody>
                    <a:bodyPr wrap="square"/>
                    <a:lstStyle/>
                    <a:p>
                      <a:pPr algn="l"/>
                      <a:r>
                        <a:rPr sz="1100" b="0">
                          <a:solidFill>
                            <a:srgbClr val="14324A"/>
                          </a:solidFill>
                          <a:latin typeface="Calibri"/>
                        </a:rPr>
                        <a:t>up to 986 USD a month at list price</a:t>
                      </a:r>
                    </a:p>
                  </a:txBody>
                  <a:tcPr marL="54864" marR="54864" marT="27432" marB="27432">
                    <a:solidFill>
                      <a:srgbClr val="FFFFFF"/>
                    </a:solidFill>
                  </a:tcPr>
                </a:tc>
              </a:tr>
              <a:tr h="301752">
                <a:tc>
                  <a:txBody>
                    <a:bodyPr wrap="square"/>
                    <a:lstStyle/>
                    <a:p>
                      <a:pPr algn="l"/>
                      <a:r>
                        <a:rPr sz="1100" b="0">
                          <a:solidFill>
                            <a:srgbClr val="14324A"/>
                          </a:solidFill>
                          <a:latin typeface="Calibri"/>
                        </a:rPr>
                        <a:t>D2</a:t>
                      </a:r>
                    </a:p>
                  </a:txBody>
                  <a:tcPr marL="54864" marR="54864" marT="27432" marB="27432">
                    <a:solidFill>
                      <a:srgbClr val="FFFFFF"/>
                    </a:solidFill>
                  </a:tcPr>
                </a:tc>
                <a:tc>
                  <a:txBody>
                    <a:bodyPr wrap="square"/>
                    <a:lstStyle/>
                    <a:p>
                      <a:pPr algn="l"/>
                      <a:r>
                        <a:rPr sz="1100" b="0">
                          <a:solidFill>
                            <a:srgbClr val="14324A"/>
                          </a:solidFill>
                          <a:latin typeface="Calibri"/>
                        </a:rPr>
                        <a:t>Approve hash confirmation and removal of duplicate objects</a:t>
                      </a:r>
                    </a:p>
                  </a:txBody>
                  <a:tcPr marL="54864" marR="54864" marT="27432" marB="27432">
                    <a:solidFill>
                      <a:srgbClr val="FFFFFF"/>
                    </a:solidFill>
                  </a:tcPr>
                </a:tc>
                <a:tc>
                  <a:txBody>
                    <a:bodyPr wrap="square"/>
                    <a:lstStyle/>
                    <a:p>
                      <a:pPr algn="l"/>
                      <a:r>
                        <a:rPr sz="1100" b="0">
                          <a:solidFill>
                            <a:srgbClr val="14324A"/>
                          </a:solidFill>
                          <a:latin typeface="Calibri"/>
                        </a:rPr>
                        <a:t>na7p43do, na7p4oco, music-bucket-rms, 2024offairrecs (1,139,768 candidates across the store)</a:t>
                      </a:r>
                    </a:p>
                  </a:txBody>
                  <a:tcPr marL="54864" marR="54864" marT="27432" marB="27432">
                    <a:solidFill>
                      <a:srgbClr val="FFFFFF"/>
                    </a:solidFill>
                  </a:tcPr>
                </a:tc>
                <a:tc>
                  <a:txBody>
                    <a:bodyPr wrap="square"/>
                    <a:lstStyle/>
                    <a:p>
                      <a:pPr algn="l"/>
                      <a:r>
                        <a:rPr sz="1100" b="0">
                          <a:solidFill>
                            <a:srgbClr val="14324A"/>
                          </a:solidFill>
                          <a:latin typeface="Calibri"/>
                        </a:rPr>
                        <a:t>keeper stays in its bucket; duplicates removed after confirmation (proposed)</a:t>
                      </a:r>
                    </a:p>
                  </a:txBody>
                  <a:tcPr marL="54864" marR="54864" marT="27432" marB="27432">
                    <a:solidFill>
                      <a:srgbClr val="FFFFFF"/>
                    </a:solidFill>
                  </a:tcPr>
                </a:tc>
                <a:tc>
                  <a:txBody>
                    <a:bodyPr wrap="square"/>
                    <a:lstStyle/>
                    <a:p>
                      <a:pPr algn="l"/>
                      <a:r>
                        <a:rPr sz="1100" b="0">
                          <a:solidFill>
                            <a:srgbClr val="14324A"/>
                          </a:solidFill>
                          <a:latin typeface="Calibri"/>
                        </a:rPr>
                        <a:t>Head of Technology with the content librarian</a:t>
                      </a:r>
                    </a:p>
                  </a:txBody>
                  <a:tcPr marL="54864" marR="54864" marT="27432" marB="27432">
                    <a:solidFill>
                      <a:srgbClr val="FFFFFF"/>
                    </a:solidFill>
                  </a:tcPr>
                </a:tc>
                <a:tc>
                  <a:txBody>
                    <a:bodyPr wrap="square"/>
                    <a:lstStyle/>
                    <a:p>
                      <a:pPr algn="l"/>
                      <a:r>
                        <a:rPr sz="1100" b="0">
                          <a:solidFill>
                            <a:srgbClr val="14324A"/>
                          </a:solidFill>
                          <a:latin typeface="Calibri"/>
                        </a:rPr>
                        <a:t>up to 180 USD a month at list price</a:t>
                      </a:r>
                    </a:p>
                  </a:txBody>
                  <a:tcPr marL="54864" marR="54864" marT="27432" marB="27432">
                    <a:solidFill>
                      <a:srgbClr val="FFFFFF"/>
                    </a:solidFill>
                  </a:tcPr>
                </a:tc>
              </a:tr>
              <a:tr h="301752">
                <a:tc>
                  <a:txBody>
                    <a:bodyPr wrap="square"/>
                    <a:lstStyle/>
                    <a:p>
                      <a:pPr algn="l"/>
                      <a:r>
                        <a:rPr sz="1100" b="0">
                          <a:solidFill>
                            <a:srgbClr val="14324A"/>
                          </a:solidFill>
                          <a:latin typeface="Calibri"/>
                        </a:rPr>
                        <a:t>D3</a:t>
                      </a:r>
                    </a:p>
                  </a:txBody>
                  <a:tcPr marL="54864" marR="54864" marT="27432" marB="27432">
                    <a:solidFill>
                      <a:srgbClr val="FFFFFF"/>
                    </a:solidFill>
                  </a:tcPr>
                </a:tc>
                <a:tc>
                  <a:txBody>
                    <a:bodyPr wrap="square"/>
                    <a:lstStyle/>
                    <a:p>
                      <a:pPr algn="l"/>
                      <a:r>
                        <a:rPr sz="1100" b="0">
                          <a:solidFill>
                            <a:srgbClr val="14324A"/>
                          </a:solidFill>
                          <a:latin typeface="Calibri"/>
                        </a:rPr>
                        <a:t>Instruct reconciliation of the unreadable buckets</a:t>
                      </a:r>
                    </a:p>
                  </a:txBody>
                  <a:tcPr marL="54864" marR="54864" marT="27432" marB="27432">
                    <a:solidFill>
                      <a:srgbClr val="FFFFFF"/>
                    </a:solidFill>
                  </a:tcPr>
                </a:tc>
                <a:tc>
                  <a:txBody>
                    <a:bodyPr wrap="square"/>
                    <a:lstStyle/>
                    <a:p>
                      <a:pPr algn="l"/>
                      <a:r>
                        <a:rPr sz="1100" b="0">
                          <a:solidFill>
                            <a:srgbClr val="14324A"/>
                          </a:solidFill>
                          <a:latin typeface="Calibri"/>
                        </a:rPr>
                        <a:t>40 buckets, e.g. apr252017, citizen-vod, elections, feb272017, instore-radio-items</a:t>
                      </a:r>
                    </a:p>
                  </a:txBody>
                  <a:tcPr marL="54864" marR="54864" marT="27432" marB="27432">
                    <a:solidFill>
                      <a:srgbClr val="FFFFFF"/>
                    </a:solidFill>
                  </a:tcPr>
                </a:tc>
                <a:tc>
                  <a:txBody>
                    <a:bodyPr wrap="square"/>
                    <a:lstStyle/>
                    <a:p>
                      <a:pPr algn="l"/>
                      <a:r>
                        <a:rPr sz="1100" b="0">
                          <a:solidFill>
                            <a:srgbClr val="14324A"/>
                          </a:solidFill>
                          <a:latin typeface="Calibri"/>
                        </a:rPr>
                        <a:t>inventory register corrected (proposed)</a:t>
                      </a:r>
                    </a:p>
                  </a:txBody>
                  <a:tcPr marL="54864" marR="54864" marT="27432" marB="27432">
                    <a:solidFill>
                      <a:srgbClr val="FFFFFF"/>
                    </a:solidFill>
                  </a:tcPr>
                </a:tc>
                <a:tc>
                  <a:txBody>
                    <a:bodyPr wrap="square"/>
                    <a:lstStyle/>
                    <a:p>
                      <a:pPr algn="l"/>
                      <a:r>
                        <a:rPr sz="1100" b="0">
                          <a:solidFill>
                            <a:srgbClr val="14324A"/>
                          </a:solidFill>
                          <a:latin typeface="Calibri"/>
                        </a:rPr>
                        <a:t>Cloud account owner</a:t>
                      </a:r>
                    </a:p>
                  </a:txBody>
                  <a:tcPr marL="54864" marR="54864" marT="27432" marB="27432">
                    <a:solidFill>
                      <a:srgbClr val="FFFFFF"/>
                    </a:solidFill>
                  </a:tcPr>
                </a:tc>
                <a:tc>
                  <a:txBody>
                    <a:bodyPr wrap="square"/>
                    <a:lstStyle/>
                    <a:p>
                      <a:pPr algn="l"/>
                      <a:r>
                        <a:rPr sz="1100" b="0">
                          <a:solidFill>
                            <a:srgbClr val="14324A"/>
                          </a:solidFill>
                          <a:latin typeface="Calibri"/>
                        </a:rPr>
                        <a:t>an inventory the next census can trust</a:t>
                      </a:r>
                    </a:p>
                  </a:txBody>
                  <a:tcPr marL="54864" marR="54864" marT="27432" marB="27432">
                    <a:solidFill>
                      <a:srgbClr val="FFFFFF"/>
                    </a:solidFill>
                  </a:tcPr>
                </a:tc>
              </a:tr>
              <a:tr h="301752">
                <a:tc>
                  <a:txBody>
                    <a:bodyPr wrap="square"/>
                    <a:lstStyle/>
                    <a:p>
                      <a:pPr algn="l"/>
                      <a:r>
                        <a:rPr sz="1100" b="0">
                          <a:solidFill>
                            <a:srgbClr val="14324A"/>
                          </a:solidFill>
                          <a:latin typeface="Calibri"/>
                        </a:rPr>
                        <a:t>D4</a:t>
                      </a:r>
                    </a:p>
                  </a:txBody>
                  <a:tcPr marL="54864" marR="54864" marT="27432" marB="27432">
                    <a:solidFill>
                      <a:srgbClr val="FFFFFF"/>
                    </a:solidFill>
                  </a:tcPr>
                </a:tc>
                <a:tc>
                  <a:txBody>
                    <a:bodyPr wrap="square"/>
                    <a:lstStyle/>
                    <a:p>
                      <a:pPr algn="l"/>
                      <a:r>
                        <a:rPr sz="1100" b="0">
                          <a:solidFill>
                            <a:srgbClr val="14324A"/>
                          </a:solidFill>
                          <a:latin typeface="Calibri"/>
                        </a:rPr>
                        <a:t>Approve cold-table archiving in the databases</a:t>
                      </a:r>
                    </a:p>
                  </a:txBody>
                  <a:tcPr marL="54864" marR="54864" marT="27432" marB="27432">
                    <a:solidFill>
                      <a:srgbClr val="FFFFFF"/>
                    </a:solidFill>
                  </a:tcPr>
                </a:tc>
                <a:tc>
                  <a:txBody>
                    <a:bodyPr wrap="square"/>
                    <a:lstStyle/>
                    <a:p>
                      <a:pPr algn="l"/>
                      <a:r>
                        <a:rPr sz="1100" b="0">
                          <a:solidFill>
                            <a:srgbClr val="14324A"/>
                          </a:solidFill>
                          <a:latin typeface="Calibri"/>
                        </a:rPr>
                        <a:t>6 tables, e.g. viusasa_staging.audits, viusasa_staging.master_payments, razuna.raz1_videos, viusasa_staging.payment_requests</a:t>
                      </a:r>
                    </a:p>
                  </a:txBody>
                  <a:tcPr marL="54864" marR="54864" marT="27432" marB="27432">
                    <a:solidFill>
                      <a:srgbClr val="FFFFFF"/>
                    </a:solidFill>
                  </a:tcPr>
                </a:tc>
                <a:tc>
                  <a:txBody>
                    <a:bodyPr wrap="square"/>
                    <a:lstStyle/>
                    <a:p>
                      <a:pPr algn="l"/>
                      <a:r>
                        <a:rPr sz="1100" b="0">
                          <a:solidFill>
                            <a:srgbClr val="14324A"/>
                          </a:solidFill>
                          <a:latin typeface="Calibri"/>
                        </a:rPr>
                        <a:t>object store, archive class, one prefix per database (proposed)</a:t>
                      </a:r>
                    </a:p>
                  </a:txBody>
                  <a:tcPr marL="54864" marR="54864" marT="27432" marB="27432">
                    <a:solidFill>
                      <a:srgbClr val="FFFFFF"/>
                    </a:solidFill>
                  </a:tcPr>
                </a:tc>
                <a:tc>
                  <a:txBody>
                    <a:bodyPr wrap="square"/>
                    <a:lstStyle/>
                    <a:p>
                      <a:pPr algn="l"/>
                      <a:r>
                        <a:rPr sz="1100" b="0">
                          <a:solidFill>
                            <a:srgbClr val="14324A"/>
                          </a:solidFill>
                          <a:latin typeface="Calibri"/>
                        </a:rPr>
                        <a:t>Database administrator</a:t>
                      </a:r>
                    </a:p>
                  </a:txBody>
                  <a:tcPr marL="54864" marR="54864" marT="27432" marB="27432">
                    <a:solidFill>
                      <a:srgbClr val="FFFFFF"/>
                    </a:solidFill>
                  </a:tcPr>
                </a:tc>
                <a:tc>
                  <a:txBody>
                    <a:bodyPr wrap="square"/>
                    <a:lstStyle/>
                    <a:p>
                      <a:pPr algn="l"/>
                      <a:r>
                        <a:rPr sz="1100" b="0">
                          <a:solidFill>
                            <a:srgbClr val="14324A"/>
                          </a:solidFill>
                          <a:latin typeface="Calibri"/>
                        </a:rPr>
                        <a:t>up to 6 USD a month at list price</a:t>
                      </a:r>
                    </a:p>
                  </a:txBody>
                  <a:tcPr marL="54864" marR="54864" marT="27432" marB="27432">
                    <a:solidFill>
                      <a:srgbClr val="FFFFFF"/>
                    </a:solidFill>
                  </a:tcPr>
                </a:tc>
              </a:tr>
              <a:tr h="301752">
                <a:tc>
                  <a:txBody>
                    <a:bodyPr wrap="square"/>
                    <a:lstStyle/>
                    <a:p>
                      <a:pPr algn="l"/>
                      <a:r>
                        <a:rPr sz="1100" b="0">
                          <a:solidFill>
                            <a:srgbClr val="14324A"/>
                          </a:solidFill>
                          <a:latin typeface="Calibri"/>
                        </a:rPr>
                        <a:t>D5</a:t>
                      </a:r>
                    </a:p>
                  </a:txBody>
                  <a:tcPr marL="54864" marR="54864" marT="27432" marB="27432">
                    <a:solidFill>
                      <a:srgbClr val="FFFFFF"/>
                    </a:solidFill>
                  </a:tcPr>
                </a:tc>
                <a:tc>
                  <a:txBody>
                    <a:bodyPr wrap="square"/>
                    <a:lstStyle/>
                    <a:p>
                      <a:pPr algn="l"/>
                      <a:r>
                        <a:rPr sz="1100" b="0">
                          <a:solidFill>
                            <a:srgbClr val="14324A"/>
                          </a:solidFill>
                          <a:latin typeface="Calibri"/>
                        </a:rPr>
                        <a:t>Decide one authoritative copy for each duplicated table pair</a:t>
                      </a:r>
                    </a:p>
                  </a:txBody>
                  <a:tcPr marL="54864" marR="54864" marT="27432" marB="27432">
                    <a:solidFill>
                      <a:srgbClr val="FFFFFF"/>
                    </a:solidFill>
                  </a:tcPr>
                </a:tc>
                <a:tc>
                  <a:txBody>
                    <a:bodyPr wrap="square"/>
                    <a:lstStyle/>
                    <a:p>
                      <a:pPr algn="l"/>
                      <a:r>
                        <a:rPr sz="1100" b="0">
                          <a:solidFill>
                            <a:srgbClr val="14324A"/>
                          </a:solidFill>
                          <a:latin typeface="Calibri"/>
                        </a:rPr>
                        <a:t>71 pairs, e.g. iebc_forms/viupay.failed_jobs ↔ viupay/viupay.failed_jobs; iebc_forms/viutickets.movies ↔ viupay/viutickets.movies; iebc_forms/viutickets.ussd_hits ↔ viupay/viutickets.ussd_hits</a:t>
                      </a:r>
                    </a:p>
                  </a:txBody>
                  <a:tcPr marL="54864" marR="54864" marT="27432" marB="27432">
                    <a:solidFill>
                      <a:srgbClr val="FFFFFF"/>
                    </a:solidFill>
                  </a:tcPr>
                </a:tc>
                <a:tc>
                  <a:txBody>
                    <a:bodyPr wrap="square"/>
                    <a:lstStyle/>
                    <a:p>
                      <a:pPr algn="l"/>
                      <a:r>
                        <a:rPr sz="1100" b="0">
                          <a:solidFill>
                            <a:srgbClr val="14324A"/>
                          </a:solidFill>
                          <a:latin typeface="Calibri"/>
                        </a:rPr>
                        <a:t>master stays; copy retired (proposed)</a:t>
                      </a:r>
                    </a:p>
                  </a:txBody>
                  <a:tcPr marL="54864" marR="54864" marT="27432" marB="27432">
                    <a:solidFill>
                      <a:srgbClr val="FFFFFF"/>
                    </a:solidFill>
                  </a:tcPr>
                </a:tc>
                <a:tc>
                  <a:txBody>
                    <a:bodyPr wrap="square"/>
                    <a:lstStyle/>
                    <a:p>
                      <a:pPr algn="l"/>
                      <a:r>
                        <a:rPr sz="1100" b="0">
                          <a:solidFill>
                            <a:srgbClr val="14324A"/>
                          </a:solidFill>
                          <a:latin typeface="Calibri"/>
                        </a:rPr>
                        <a:t>Database administrator with the application owners</a:t>
                      </a:r>
                    </a:p>
                  </a:txBody>
                  <a:tcPr marL="54864" marR="54864" marT="27432" marB="27432">
                    <a:solidFill>
                      <a:srgbClr val="FFFFFF"/>
                    </a:solidFill>
                  </a:tcPr>
                </a:tc>
                <a:tc>
                  <a:txBody>
                    <a:bodyPr wrap="square"/>
                    <a:lstStyle/>
                    <a:p>
                      <a:pPr algn="l"/>
                      <a:r>
                        <a:rPr sz="1100" b="0">
                          <a:solidFill>
                            <a:srgbClr val="14324A"/>
                          </a:solidFill>
                          <a:latin typeface="Calibri"/>
                        </a:rPr>
                        <a:t>up to 0 USD a month at list price</a:t>
                      </a:r>
                    </a:p>
                  </a:txBody>
                  <a:tcPr marL="54864" marR="54864" marT="27432" marB="27432">
                    <a:solidFill>
                      <a:srgbClr val="FFFFFF"/>
                    </a:solidFill>
                  </a:tcPr>
                </a:tc>
              </a:tr>
              <a:tr h="301752">
                <a:tc>
                  <a:txBody>
                    <a:bodyPr wrap="square"/>
                    <a:lstStyle/>
                    <a:p>
                      <a:pPr algn="l"/>
                      <a:r>
                        <a:rPr sz="1100" b="0">
                          <a:solidFill>
                            <a:srgbClr val="14324A"/>
                          </a:solidFill>
                          <a:latin typeface="Calibri"/>
                        </a:rPr>
                        <a:t>D6</a:t>
                      </a:r>
                    </a:p>
                  </a:txBody>
                  <a:tcPr marL="54864" marR="54864" marT="27432" marB="27432">
                    <a:solidFill>
                      <a:srgbClr val="FFFFFF"/>
                    </a:solidFill>
                  </a:tcPr>
                </a:tc>
                <a:tc>
                  <a:txBody>
                    <a:bodyPr wrap="square"/>
                    <a:lstStyle/>
                    <a:p>
                      <a:pPr algn="l"/>
                      <a:r>
                        <a:rPr sz="1100" b="0">
                          <a:solidFill>
                            <a:srgbClr val="14324A"/>
                          </a:solidFill>
                          <a:latin typeface="Calibri"/>
                        </a:rPr>
                        <a:t>Approve the housekeeping list: empty tables, redundant indexes, repeated rows</a:t>
                      </a:r>
                    </a:p>
                  </a:txBody>
                  <a:tcPr marL="54864" marR="54864" marT="27432" marB="27432">
                    <a:solidFill>
                      <a:srgbClr val="FFFFFF"/>
                    </a:solidFill>
                  </a:tcPr>
                </a:tc>
                <a:tc>
                  <a:txBody>
                    <a:bodyPr wrap="square"/>
                    <a:lstStyle/>
                    <a:p>
                      <a:pPr algn="l"/>
                      <a:r>
                        <a:rPr sz="1100" b="0">
                          <a:solidFill>
                            <a:srgbClr val="14324A"/>
                          </a:solidFill>
                          <a:latin typeface="Calibri"/>
                        </a:rPr>
                        <a:t>368 empty tables; redundant indexes and repeated rows named in the table list</a:t>
                      </a:r>
                    </a:p>
                  </a:txBody>
                  <a:tcPr marL="54864" marR="54864" marT="27432" marB="27432">
                    <a:solidFill>
                      <a:srgbClr val="FFFFFF"/>
                    </a:solidFill>
                  </a:tcPr>
                </a:tc>
                <a:tc>
                  <a:txBody>
                    <a:bodyPr wrap="square"/>
                    <a:lstStyle/>
                    <a:p>
                      <a:pPr algn="l"/>
                      <a:r>
                        <a:rPr sz="1100" b="0">
                          <a:solidFill>
                            <a:srgbClr val="14324A"/>
                          </a:solidFill>
                          <a:latin typeface="Calibri"/>
                        </a:rPr>
                        <a:t>no destination — removal in place after confirmation (proposed)</a:t>
                      </a:r>
                    </a:p>
                  </a:txBody>
                  <a:tcPr marL="54864" marR="54864" marT="27432" marB="27432">
                    <a:solidFill>
                      <a:srgbClr val="FFFFFF"/>
                    </a:solidFill>
                  </a:tcPr>
                </a:tc>
                <a:tc>
                  <a:txBody>
                    <a:bodyPr wrap="square"/>
                    <a:lstStyle/>
                    <a:p>
                      <a:pPr algn="l"/>
                      <a:r>
                        <a:rPr sz="1100" b="0">
                          <a:solidFill>
                            <a:srgbClr val="14324A"/>
                          </a:solidFill>
                          <a:latin typeface="Calibri"/>
                        </a:rPr>
                        <a:t>Database administrator</a:t>
                      </a:r>
                    </a:p>
                  </a:txBody>
                  <a:tcPr marL="54864" marR="54864" marT="27432" marB="27432">
                    <a:solidFill>
                      <a:srgbClr val="FFFFFF"/>
                    </a:solidFill>
                  </a:tcPr>
                </a:tc>
                <a:tc>
                  <a:txBody>
                    <a:bodyPr wrap="square"/>
                    <a:lstStyle/>
                    <a:p>
                      <a:pPr algn="l"/>
                      <a:r>
                        <a:rPr sz="1100" b="0">
                          <a:solidFill>
                            <a:srgbClr val="14324A"/>
                          </a:solidFill>
                          <a:latin typeface="Calibri"/>
                        </a:rPr>
                        <a:t>up to 2 USD a month at list price plus up to 0 USD a month at list price</a:t>
                      </a:r>
                    </a:p>
                  </a:txBody>
                  <a:tcPr marL="54864" marR="54864" marT="27432" marB="27432">
                    <a:solidFill>
                      <a:srgbClr val="FFFFFF"/>
                    </a:solidFill>
                  </a:tcPr>
                </a:tc>
              </a:tr>
              <a:tr h="301752">
                <a:tc>
                  <a:txBody>
                    <a:bodyPr wrap="square"/>
                    <a:lstStyle/>
                    <a:p>
                      <a:pPr algn="l"/>
                      <a:r>
                        <a:rPr sz="1100" b="0">
                          <a:solidFill>
                            <a:srgbClr val="14324A"/>
                          </a:solidFill>
                          <a:latin typeface="Calibri"/>
                        </a:rPr>
                        <a:t>D7</a:t>
                      </a:r>
                    </a:p>
                  </a:txBody>
                  <a:tcPr marL="54864" marR="54864" marT="27432" marB="27432">
                    <a:solidFill>
                      <a:srgbClr val="FFFFFF"/>
                    </a:solidFill>
                  </a:tcPr>
                </a:tc>
                <a:tc>
                  <a:txBody>
                    <a:bodyPr wrap="square"/>
                    <a:lstStyle/>
                    <a:p>
                      <a:pPr algn="l"/>
                      <a:r>
                        <a:rPr sz="1100" b="0">
                          <a:solidFill>
                            <a:srgbClr val="14324A"/>
                          </a:solidFill>
                          <a:latin typeface="Calibri"/>
                        </a:rPr>
                        <a:t>Order a fingerprint pass over the file shares</a:t>
                      </a:r>
                    </a:p>
                  </a:txBody>
                  <a:tcPr marL="54864" marR="54864" marT="27432" marB="27432">
                    <a:solidFill>
                      <a:srgbClr val="FFFFFF"/>
                    </a:solidFill>
                  </a:tcPr>
                </a:tc>
                <a:tc>
                  <a:txBody>
                    <a:bodyPr wrap="square"/>
                    <a:lstStyle/>
                    <a:p>
                      <a:pPr algn="l"/>
                      <a:r>
                        <a:rPr sz="1100" b="0">
                          <a:solidFill>
                            <a:srgbClr val="14324A"/>
                          </a:solidFill>
                          <a:latin typeface="Calibri"/>
                        </a:rPr>
                        <a:t>16 NAS shares holding 43.6 TiB (channel01 … channel16)</a:t>
                      </a:r>
                    </a:p>
                  </a:txBody>
                  <a:tcPr marL="54864" marR="54864" marT="27432" marB="27432">
                    <a:solidFill>
                      <a:srgbClr val="FFFFFF"/>
                    </a:solidFill>
                  </a:tcPr>
                </a:tc>
                <a:tc>
                  <a:txBody>
                    <a:bodyPr wrap="square"/>
                    <a:lstStyle/>
                    <a:p>
                      <a:pPr algn="l"/>
                      <a:r>
                        <a:rPr sz="1100" b="0">
                          <a:solidFill>
                            <a:srgbClr val="14324A"/>
                          </a:solidFill>
                          <a:latin typeface="Calibri"/>
                        </a:rPr>
                        <a:t>none yet — measurement first</a:t>
                      </a:r>
                    </a:p>
                  </a:txBody>
                  <a:tcPr marL="54864" marR="54864" marT="27432" marB="27432">
                    <a:solidFill>
                      <a:srgbClr val="FFFFFF"/>
                    </a:solidFill>
                  </a:tcPr>
                </a:tc>
                <a:tc>
                  <a:txBody>
                    <a:bodyPr wrap="square"/>
                    <a:lstStyle/>
                    <a:p>
                      <a:pPr algn="l"/>
                      <a:r>
                        <a:rPr sz="1100" b="0">
                          <a:solidFill>
                            <a:srgbClr val="14324A"/>
                          </a:solidFill>
                          <a:latin typeface="Calibri"/>
                        </a:rPr>
                        <a:t>Head of Technology</a:t>
                      </a:r>
                    </a:p>
                  </a:txBody>
                  <a:tcPr marL="54864" marR="54864" marT="27432" marB="27432">
                    <a:solidFill>
                      <a:srgbClr val="FFFFFF"/>
                    </a:solidFill>
                  </a:tcPr>
                </a:tc>
                <a:tc>
                  <a:txBody>
                    <a:bodyPr wrap="square"/>
                    <a:lstStyle/>
                    <a:p>
                      <a:pPr algn="l"/>
                      <a:r>
                        <a:rPr sz="1100" b="0">
                          <a:solidFill>
                            <a:srgbClr val="14324A"/>
                          </a:solidFill>
                          <a:latin typeface="Calibri"/>
                        </a:rPr>
                        <a:t>a measured duplication figure for the largest unmeasured store</a:t>
                      </a:r>
                    </a:p>
                  </a:txBody>
                  <a:tcPr marL="54864" marR="54864" marT="27432" marB="27432">
                    <a:solidFill>
                      <a:srgbClr val="FFFFFF"/>
                    </a:solidFill>
                  </a:tcPr>
                </a:tc>
              </a:tr>
              <a:tr h="301752">
                <a:tc>
                  <a:txBody>
                    <a:bodyPr wrap="square"/>
                    <a:lstStyle/>
                    <a:p>
                      <a:pPr algn="l"/>
                      <a:r>
                        <a:rPr sz="1100" b="0">
                          <a:solidFill>
                            <a:srgbClr val="14324A"/>
                          </a:solidFill>
                          <a:latin typeface="Calibri"/>
                        </a:rPr>
                        <a:t>D8</a:t>
                      </a:r>
                    </a:p>
                  </a:txBody>
                  <a:tcPr marL="54864" marR="54864" marT="27432" marB="27432">
                    <a:solidFill>
                      <a:srgbClr val="FFFFFF"/>
                    </a:solidFill>
                  </a:tcPr>
                </a:tc>
                <a:tc>
                  <a:txBody>
                    <a:bodyPr wrap="square"/>
                    <a:lstStyle/>
                    <a:p>
                      <a:pPr algn="l"/>
                      <a:r>
                        <a:rPr sz="1100" b="0">
                          <a:solidFill>
                            <a:srgbClr val="14324A"/>
                          </a:solidFill>
                          <a:latin typeface="Calibri"/>
                        </a:rPr>
                        <a:t>Adopt naming and ownership rules for storage</a:t>
                      </a:r>
                    </a:p>
                  </a:txBody>
                  <a:tcPr marL="54864" marR="54864" marT="27432" marB="27432">
                    <a:solidFill>
                      <a:srgbClr val="FFFFFF"/>
                    </a:solidFill>
                  </a:tcPr>
                </a:tc>
                <a:tc>
                  <a:txBody>
                    <a:bodyPr wrap="square"/>
                    <a:lstStyle/>
                    <a:p>
                      <a:pPr algn="l"/>
                      <a:r>
                        <a:rPr sz="1100" b="0">
                          <a:solidFill>
                            <a:srgbClr val="14324A"/>
                          </a:solidFill>
                          <a:latin typeface="Calibri"/>
                        </a:rPr>
                        <a:t>machine-named buckets (na7p4…), channel shares, staging copies</a:t>
                      </a:r>
                    </a:p>
                  </a:txBody>
                  <a:tcPr marL="54864" marR="54864" marT="27432" marB="27432">
                    <a:solidFill>
                      <a:srgbClr val="FFFFFF"/>
                    </a:solidFill>
                  </a:tcPr>
                </a:tc>
                <a:tc>
                  <a:txBody>
                    <a:bodyPr wrap="square"/>
                    <a:lstStyle/>
                    <a:p>
                      <a:pPr algn="l"/>
                      <a:r>
                        <a:rPr sz="1100" b="0">
                          <a:solidFill>
                            <a:srgbClr val="14324A"/>
                          </a:solidFill>
                          <a:latin typeface="Calibri"/>
                        </a:rPr>
                        <a:t>register maintained by the storage owner (proposed)</a:t>
                      </a:r>
                    </a:p>
                  </a:txBody>
                  <a:tcPr marL="54864" marR="54864" marT="27432" marB="27432">
                    <a:solidFill>
                      <a:srgbClr val="FFFFFF"/>
                    </a:solidFill>
                  </a:tcPr>
                </a:tc>
                <a:tc>
                  <a:txBody>
                    <a:bodyPr wrap="square"/>
                    <a:lstStyle/>
                    <a:p>
                      <a:pPr algn="l"/>
                      <a:r>
                        <a:rPr sz="1100" b="0">
                          <a:solidFill>
                            <a:srgbClr val="14324A"/>
                          </a:solidFill>
                          <a:latin typeface="Calibri"/>
                        </a:rPr>
                        <a:t>Chief Operating Officer</a:t>
                      </a:r>
                    </a:p>
                  </a:txBody>
                  <a:tcPr marL="54864" marR="54864" marT="27432" marB="27432">
                    <a:solidFill>
                      <a:srgbClr val="FFFFFF"/>
                    </a:solidFill>
                  </a:tcPr>
                </a:tc>
                <a:tc>
                  <a:txBody>
                    <a:bodyPr wrap="square"/>
                    <a:lstStyle/>
                    <a:p>
                      <a:pPr algn="l"/>
                      <a:r>
                        <a:rPr sz="1100" b="0">
                          <a:solidFill>
                            <a:srgbClr val="14324A"/>
                          </a:solidFill>
                          <a:latin typeface="Calibri"/>
                        </a:rPr>
                        <a:t>fewer orphaned stores and faster decisions at the next census</a:t>
                      </a:r>
                    </a:p>
                  </a:txBody>
                  <a:tcPr marL="54864" marR="54864" marT="27432" marB="27432">
                    <a:solidFill>
                      <a:srgbClr val="FFFFFF"/>
                    </a:solidFill>
                  </a:tcPr>
                </a:tc>
              </a:tr>
              <a:tr h="301752">
                <a:tc>
                  <a:txBody>
                    <a:bodyPr wrap="square"/>
                    <a:lstStyle/>
                    <a:p>
                      <a:pPr algn="l"/>
                      <a:r>
                        <a:rPr sz="1100" b="0">
                          <a:solidFill>
                            <a:srgbClr val="14324A"/>
                          </a:solidFill>
                          <a:latin typeface="Calibri"/>
                        </a:rPr>
                        <a:t>D9</a:t>
                      </a:r>
                    </a:p>
                  </a:txBody>
                  <a:tcPr marL="54864" marR="54864" marT="27432" marB="27432">
                    <a:solidFill>
                      <a:srgbClr val="FFFFFF"/>
                    </a:solidFill>
                  </a:tcPr>
                </a:tc>
                <a:tc>
                  <a:txBody>
                    <a:bodyPr wrap="square"/>
                    <a:lstStyle/>
                    <a:p>
                      <a:pPr algn="l"/>
                      <a:r>
                        <a:rPr sz="1100" b="0">
                          <a:solidFill>
                            <a:srgbClr val="14324A"/>
                          </a:solidFill>
                          <a:latin typeface="Calibri"/>
                        </a:rPr>
                        <a:t>Register the language assets as governed data products</a:t>
                      </a:r>
                    </a:p>
                  </a:txBody>
                  <a:tcPr marL="54864" marR="54864" marT="27432" marB="27432">
                    <a:solidFill>
                      <a:srgbClr val="FFFFFF"/>
                    </a:solidFill>
                  </a:tcPr>
                </a:tc>
                <a:tc>
                  <a:txBody>
                    <a:bodyPr wrap="square"/>
                    <a:lstStyle/>
                    <a:p>
                      <a:pPr algn="l"/>
                      <a:r>
                        <a:rPr sz="1100" b="0">
                          <a:solidFill>
                            <a:srgbClr val="14324A"/>
                          </a:solidFill>
                          <a:latin typeface="Calibri"/>
                        </a:rPr>
                        <a:t>staged corpus by language folder (T020), news scripts by station (T022), transcription workbench (T023)</a:t>
                      </a:r>
                    </a:p>
                  </a:txBody>
                  <a:tcPr marL="54864" marR="54864" marT="27432" marB="27432">
                    <a:solidFill>
                      <a:srgbClr val="FFFFFF"/>
                    </a:solidFill>
                  </a:tcPr>
                </a:tc>
                <a:tc>
                  <a:txBody>
                    <a:bodyPr wrap="square"/>
                    <a:lstStyle/>
                    <a:p>
                      <a:pPr algn="l"/>
                      <a:r>
                        <a:rPr sz="1100" b="0">
                          <a:solidFill>
                            <a:srgbClr val="14324A"/>
                          </a:solidFill>
                          <a:latin typeface="Calibri"/>
                        </a:rPr>
                        <a:t>governed asset register (proposed)</a:t>
                      </a:r>
                    </a:p>
                  </a:txBody>
                  <a:tcPr marL="54864" marR="54864" marT="27432" marB="27432">
                    <a:solidFill>
                      <a:srgbClr val="FFFFFF"/>
                    </a:solidFill>
                  </a:tcPr>
                </a:tc>
                <a:tc>
                  <a:txBody>
                    <a:bodyPr wrap="square"/>
                    <a:lstStyle/>
                    <a:p>
                      <a:pPr algn="l"/>
                      <a:r>
                        <a:rPr sz="1100" b="0">
                          <a:solidFill>
                            <a:srgbClr val="14324A"/>
                          </a:solidFill>
                          <a:latin typeface="Calibri"/>
                        </a:rPr>
                        <a:t>Head of Data with the newsroom</a:t>
                      </a:r>
                    </a:p>
                  </a:txBody>
                  <a:tcPr marL="54864" marR="54864" marT="27432" marB="27432">
                    <a:solidFill>
                      <a:srgbClr val="FFFFFF"/>
                    </a:solidFill>
                  </a:tcPr>
                </a:tc>
                <a:tc>
                  <a:txBody>
                    <a:bodyPr wrap="square"/>
                    <a:lstStyle/>
                    <a:p>
                      <a:pPr algn="l"/>
                      <a:r>
                        <a:rPr sz="1100" b="0">
                          <a:solidFill>
                            <a:srgbClr val="14324A"/>
                          </a:solidFill>
                          <a:latin typeface="Calibri"/>
                        </a:rPr>
                        <a:t>a licensable, evidenced inventory of non-English speech and text</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1" cy="768096"/>
        </p:xfrm>
        <a:graphic>
          <a:graphicData uri="http://schemas.openxmlformats.org/drawingml/2006/table">
            <a:tbl>
              <a:tblPr firstRow="1" bandRow="1">
                <a:tableStyleId>{5C22544A-7EE6-4342-B048-85BDC9FD1C3A}</a:tableStyleId>
              </a:tblPr>
              <a:tblGrid>
                <a:gridCol w="837182"/>
                <a:gridCol w="2511548"/>
                <a:gridCol w="2511548"/>
                <a:gridCol w="1674365"/>
                <a:gridCol w="956780"/>
                <a:gridCol w="2511548"/>
              </a:tblGrid>
              <a:tr h="384048">
                <a:tc>
                  <a:txBody>
                    <a:bodyPr wrap="square"/>
                    <a:lstStyle/>
                    <a:p>
                      <a:pPr algn="l"/>
                      <a:r>
                        <a:rPr sz="1200" b="1">
                          <a:solidFill>
                            <a:srgbClr val="14324A"/>
                          </a:solidFill>
                          <a:latin typeface="Calibri"/>
                        </a:rPr>
                        <a:t>No.</a:t>
                      </a:r>
                    </a:p>
                  </a:txBody>
                  <a:tcPr marL="54864" marR="54864" marT="27432" marB="27432">
                    <a:solidFill>
                      <a:srgbClr val="E8EEF3"/>
                    </a:solidFill>
                  </a:tcPr>
                </a:tc>
                <a:tc>
                  <a:txBody>
                    <a:bodyPr wrap="square"/>
                    <a:lstStyle/>
                    <a:p>
                      <a:pPr algn="l"/>
                      <a:r>
                        <a:rPr sz="1200" b="1">
                          <a:solidFill>
                            <a:srgbClr val="14324A"/>
                          </a:solidFill>
                          <a:latin typeface="Calibri"/>
                        </a:rPr>
                        <a:t>Decision requested</a:t>
                      </a:r>
                    </a:p>
                  </a:txBody>
                  <a:tcPr marL="54864" marR="54864" marT="27432" marB="27432">
                    <a:solidFill>
                      <a:srgbClr val="E8EEF3"/>
                    </a:solidFill>
                  </a:tcPr>
                </a:tc>
                <a:tc>
                  <a:txBody>
                    <a:bodyPr wrap="square"/>
                    <a:lstStyle/>
                    <a:p>
                      <a:pPr algn="l"/>
                      <a:r>
                        <a:rPr sz="1200" b="1">
                          <a:solidFill>
                            <a:srgbClr val="14324A"/>
                          </a:solidFill>
                          <a:latin typeface="Calibri"/>
                        </a:rPr>
                        <a:t>Exact source</a:t>
                      </a:r>
                    </a:p>
                  </a:txBody>
                  <a:tcPr marL="54864" marR="54864" marT="27432" marB="27432">
                    <a:solidFill>
                      <a:srgbClr val="E8EEF3"/>
                    </a:solidFill>
                  </a:tcPr>
                </a:tc>
                <a:tc>
                  <a:txBody>
                    <a:bodyPr wrap="square"/>
                    <a:lstStyle/>
                    <a:p>
                      <a:pPr algn="l"/>
                      <a:r>
                        <a:rPr sz="1200" b="1">
                          <a:solidFill>
                            <a:srgbClr val="14324A"/>
                          </a:solidFill>
                          <a:latin typeface="Calibri"/>
                        </a:rPr>
                        <a:t>Proposed destination or rule</a:t>
                      </a:r>
                    </a:p>
                  </a:txBody>
                  <a:tcPr marL="54864" marR="54864" marT="27432" marB="27432">
                    <a:solidFill>
                      <a:srgbClr val="E8EEF3"/>
                    </a:solidFill>
                  </a:tcPr>
                </a:tc>
                <a:tc>
                  <a:txBody>
                    <a:bodyPr wrap="square"/>
                    <a:lstStyle/>
                    <a:p>
                      <a:pPr algn="l"/>
                      <a:r>
                        <a:rPr sz="1200" b="1">
                          <a:solidFill>
                            <a:srgbClr val="14324A"/>
                          </a:solidFill>
                          <a:latin typeface="Calibri"/>
                        </a:rPr>
                        <a:t>Responsible role</a:t>
                      </a:r>
                    </a:p>
                  </a:txBody>
                  <a:tcPr marL="54864" marR="54864" marT="27432" marB="27432">
                    <a:solidFill>
                      <a:srgbClr val="E8EEF3"/>
                    </a:solidFill>
                  </a:tcPr>
                </a:tc>
                <a:tc>
                  <a:txBody>
                    <a:bodyPr wrap="square"/>
                    <a:lstStyle/>
                    <a:p>
                      <a:pPr algn="l"/>
                      <a:r>
                        <a:rPr sz="1200" b="1">
                          <a:solidFill>
                            <a:srgbClr val="14324A"/>
                          </a:solidFill>
                          <a:latin typeface="Calibri"/>
                        </a:rPr>
                        <a:t>Expected benefit</a:t>
                      </a:r>
                    </a:p>
                  </a:txBody>
                  <a:tcPr marL="54864" marR="54864" marT="27432" marB="27432">
                    <a:solidFill>
                      <a:srgbClr val="E8EEF3"/>
                    </a:solidFill>
                  </a:tcPr>
                </a:tc>
              </a:tr>
              <a:tr h="384048">
                <a:tc>
                  <a:txBody>
                    <a:bodyPr wrap="square"/>
                    <a:lstStyle/>
                    <a:p>
                      <a:pPr algn="l"/>
                      <a:r>
                        <a:rPr sz="1200" b="0">
                          <a:solidFill>
                            <a:srgbClr val="14324A"/>
                          </a:solidFill>
                          <a:latin typeface="Calibri"/>
                        </a:rPr>
                        <a:t>D10</a:t>
                      </a:r>
                    </a:p>
                  </a:txBody>
                  <a:tcPr marL="54864" marR="54864" marT="27432" marB="27432">
                    <a:solidFill>
                      <a:srgbClr val="FFFFFF"/>
                    </a:solidFill>
                  </a:tcPr>
                </a:tc>
                <a:tc>
                  <a:txBody>
                    <a:bodyPr wrap="square"/>
                    <a:lstStyle/>
                    <a:p>
                      <a:pPr algn="l"/>
                      <a:r>
                        <a:rPr sz="1200" b="0">
                          <a:solidFill>
                            <a:srgbClr val="14324A"/>
                          </a:solidFill>
                          <a:latin typeface="Calibri"/>
                        </a:rPr>
                        <a:t>Commission the de-identified reference products the census ranks first</a:t>
                      </a:r>
                    </a:p>
                  </a:txBody>
                  <a:tcPr marL="54864" marR="54864" marT="27432" marB="27432">
                    <a:solidFill>
                      <a:srgbClr val="FFFFFF"/>
                    </a:solidFill>
                  </a:tcPr>
                </a:tc>
                <a:tc>
                  <a:txBody>
                    <a:bodyPr wrap="square"/>
                    <a:lstStyle/>
                    <a:p>
                      <a:pPr algn="l"/>
                      <a:r>
                        <a:rPr sz="1200" b="0">
                          <a:solidFill>
                            <a:srgbClr val="14324A"/>
                          </a:solidFill>
                          <a:latin typeface="Calibri"/>
                        </a:rPr>
                        <a:t>the three leading product candidates in the census</a:t>
                      </a:r>
                    </a:p>
                  </a:txBody>
                  <a:tcPr marL="54864" marR="54864" marT="27432" marB="27432">
                    <a:solidFill>
                      <a:srgbClr val="FFFFFF"/>
                    </a:solidFill>
                  </a:tcPr>
                </a:tc>
                <a:tc>
                  <a:txBody>
                    <a:bodyPr wrap="square"/>
                    <a:lstStyle/>
                    <a:p>
                      <a:pPr algn="l"/>
                      <a:r>
                        <a:rPr sz="1200" b="0">
                          <a:solidFill>
                            <a:srgbClr val="14324A"/>
                          </a:solidFill>
                          <a:latin typeface="Calibri"/>
                        </a:rPr>
                        <a:t>product workspace (proposed)</a:t>
                      </a:r>
                    </a:p>
                  </a:txBody>
                  <a:tcPr marL="54864" marR="54864" marT="27432" marB="27432">
                    <a:solidFill>
                      <a:srgbClr val="FFFFFF"/>
                    </a:solidFill>
                  </a:tcPr>
                </a:tc>
                <a:tc>
                  <a:txBody>
                    <a:bodyPr wrap="square"/>
                    <a:lstStyle/>
                    <a:p>
                      <a:pPr algn="l"/>
                      <a:r>
                        <a:rPr sz="1200" b="0">
                          <a:solidFill>
                            <a:srgbClr val="14324A"/>
                          </a:solidFill>
                          <a:latin typeface="Calibri"/>
                        </a:rPr>
                        <a:t>Head of Data</a:t>
                      </a:r>
                    </a:p>
                  </a:txBody>
                  <a:tcPr marL="54864" marR="54864" marT="27432" marB="27432">
                    <a:solidFill>
                      <a:srgbClr val="FFFFFF"/>
                    </a:solidFill>
                  </a:tcPr>
                </a:tc>
                <a:tc>
                  <a:txBody>
                    <a:bodyPr wrap="square"/>
                    <a:lstStyle/>
                    <a:p>
                      <a:pPr algn="l"/>
                      <a:r>
                        <a:rPr sz="1200" b="0">
                          <a:solidFill>
                            <a:srgbClr val="14324A"/>
                          </a:solidFill>
                          <a:latin typeface="Calibri"/>
                        </a:rPr>
                        <a:t>first revenue-bearing use of the estate's data</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E8772E"/>
                </a:solidFill>
                <a:latin typeface="Courier New"/>
              </a:rPr>
              <a:t>09</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4324A"/>
                </a:solidFill>
                <a:latin typeface="Cambria"/>
              </a:rPr>
              <a:t>What is still unmeasured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COVERAGE BOUNDARY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Database ratios, unreadable buckets and file-share duplication remain unmeasured</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4324A"/>
                </a:solidFill>
                <a:latin typeface="Calibri"/>
              </a:rPr>
              <a:t>Database measures cover 638 of 1006 tables; a complete-pass census would firm up sampled ratios.</a:t>
            </a:r>
          </a:p>
        </p:txBody>
      </p:sp>
      <p:cxnSp>
        <p:nvCxnSpPr>
          <p:cNvPr id="6" name="Connector 5"/>
          <p:cNvCxnSpPr/>
          <p:nvPr/>
        </p:nvCxnSpPr>
        <p:spPr>
          <a:xfrm>
            <a:off x="594360" y="256489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4324A"/>
                </a:solidFill>
                <a:latin typeface="Calibri"/>
              </a:rPr>
              <a:t>40 buckets are unreachable; reconcile the inventory with the provider.</a:t>
            </a:r>
          </a:p>
        </p:txBody>
      </p:sp>
      <p:cxnSp>
        <p:nvCxnSpPr>
          <p:cNvPr id="9" name="Connector 8"/>
          <p:cNvCxnSpPr/>
          <p:nvPr/>
        </p:nvCxnSpPr>
        <p:spPr>
          <a:xfrm>
            <a:off x="594360" y="331927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4324A"/>
                </a:solidFill>
                <a:latin typeface="Calibri"/>
              </a:rPr>
              <a:t>File shares hold 43.6 TiB in 1.5m files, but only sizes and dates were recorded; fingerprinting would measure duplication.</a:t>
            </a:r>
          </a:p>
        </p:txBody>
      </p:sp>
      <p:cxnSp>
        <p:nvCxnSpPr>
          <p:cNvPr id="12" name="Connector 11"/>
          <p:cNvCxnSpPr/>
          <p:nvPr/>
        </p:nvCxnSpPr>
        <p:spPr>
          <a:xfrm>
            <a:off x="594360" y="407365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4324A"/>
                </a:solidFill>
                <a:latin typeface="Calibri"/>
              </a:rPr>
              <a:t>1694 transcripts were unread, script language was not read, and workbench overlap is unjoined.</a:t>
            </a:r>
          </a:p>
        </p:txBody>
      </p:sp>
      <p:cxnSp>
        <p:nvCxnSpPr>
          <p:cNvPr id="15" name="Connector 14"/>
          <p:cNvCxnSpPr/>
          <p:nvPr/>
        </p:nvCxnSpPr>
        <p:spPr>
          <a:xfrm>
            <a:off x="594360" y="482803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4324A"/>
                </a:solidFill>
                <a:latin typeface="Calibri"/>
              </a:rPr>
              <a:t>One database connection awaits a read grant.</a:t>
            </a:r>
          </a:p>
        </p:txBody>
      </p:sp>
      <p:cxnSp>
        <p:nvCxnSpPr>
          <p:cNvPr id="18" name="Connector 17"/>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Who wrote this pack — model roles by task strength</a:t>
            </a:r>
          </a:p>
        </p:txBody>
      </p:sp>
      <p:graphicFrame>
        <p:nvGraphicFramePr>
          <p:cNvPr id="4" name="Table 3"/>
          <p:cNvGraphicFramePr>
            <a:graphicFrameLocks noGrp="1"/>
          </p:cNvGraphicFramePr>
          <p:nvPr/>
        </p:nvGraphicFramePr>
        <p:xfrm>
          <a:off x="594360" y="1920240"/>
          <a:ext cx="11002973" cy="1920240"/>
        </p:xfrm>
        <a:graphic>
          <a:graphicData uri="http://schemas.openxmlformats.org/drawingml/2006/table">
            <a:tbl>
              <a:tblPr firstRow="1" bandRow="1">
                <a:tableStyleId>{5C22544A-7EE6-4342-B048-85BDC9FD1C3A}</a:tableStyleId>
              </a:tblPr>
              <a:tblGrid>
                <a:gridCol w="1770593"/>
                <a:gridCol w="2150006"/>
                <a:gridCol w="1770593"/>
                <a:gridCol w="5311781"/>
              </a:tblGrid>
              <a:tr h="384048">
                <a:tc>
                  <a:txBody>
                    <a:bodyPr wrap="square"/>
                    <a:lstStyle/>
                    <a:p>
                      <a:pPr algn="l"/>
                      <a:r>
                        <a:rPr sz="1300" b="1">
                          <a:solidFill>
                            <a:srgbClr val="14324A"/>
                          </a:solidFill>
                          <a:latin typeface="Calibri"/>
                        </a:rPr>
                        <a:t>Role</a:t>
                      </a:r>
                    </a:p>
                  </a:txBody>
                  <a:tcPr marL="54864" marR="54864" marT="27432" marB="27432">
                    <a:solidFill>
                      <a:srgbClr val="E8EEF3"/>
                    </a:solidFill>
                  </a:tcPr>
                </a:tc>
                <a:tc>
                  <a:txBody>
                    <a:bodyPr wrap="square"/>
                    <a:lstStyle/>
                    <a:p>
                      <a:pPr algn="l"/>
                      <a:r>
                        <a:rPr sz="1300" b="1">
                          <a:solidFill>
                            <a:srgbClr val="14324A"/>
                          </a:solidFill>
                          <a:latin typeface="Calibri"/>
                        </a:rPr>
                        <a:t>Model</a:t>
                      </a:r>
                    </a:p>
                  </a:txBody>
                  <a:tcPr marL="54864" marR="54864" marT="27432" marB="27432">
                    <a:solidFill>
                      <a:srgbClr val="E8EEF3"/>
                    </a:solidFill>
                  </a:tcPr>
                </a:tc>
                <a:tc>
                  <a:txBody>
                    <a:bodyPr wrap="square"/>
                    <a:lstStyle/>
                    <a:p>
                      <a:pPr algn="l"/>
                      <a:r>
                        <a:rPr sz="1300" b="1">
                          <a:solidFill>
                            <a:srgbClr val="14324A"/>
                          </a:solidFill>
                          <a:latin typeface="Calibri"/>
                        </a:rPr>
                        <a:t>Family</a:t>
                      </a:r>
                    </a:p>
                  </a:txBody>
                  <a:tcPr marL="54864" marR="54864" marT="27432" marB="27432">
                    <a:solidFill>
                      <a:srgbClr val="E8EEF3"/>
                    </a:solidFill>
                  </a:tcPr>
                </a:tc>
                <a:tc>
                  <a:txBody>
                    <a:bodyPr wrap="square"/>
                    <a:lstStyle/>
                    <a:p>
                      <a:pPr algn="l"/>
                      <a:r>
                        <a:rPr sz="1300" b="1">
                          <a:solidFill>
                            <a:srgbClr val="14324A"/>
                          </a:solidFill>
                          <a:latin typeface="Calibri"/>
                        </a:rPr>
                        <a:t>Job</a:t>
                      </a:r>
                    </a:p>
                  </a:txBody>
                  <a:tcPr marL="54864" marR="54864" marT="27432" marB="27432">
                    <a:solidFill>
                      <a:srgbClr val="E8EEF3"/>
                    </a:solidFill>
                  </a:tcPr>
                </a:tc>
              </a:tr>
              <a:tr h="384048">
                <a:tc>
                  <a:txBody>
                    <a:bodyPr wrap="square"/>
                    <a:lstStyle/>
                    <a:p>
                      <a:pPr algn="l"/>
                      <a:r>
                        <a:rPr sz="1300" b="0">
                          <a:solidFill>
                            <a:srgbClr val="14324A"/>
                          </a:solidFill>
                          <a:latin typeface="Calibri"/>
                        </a:rPr>
                        <a:t>assistant</a:t>
                      </a:r>
                    </a:p>
                  </a:txBody>
                  <a:tcPr marL="54864" marR="54864" marT="27432" marB="27432">
                    <a:solidFill>
                      <a:srgbClr val="FFFFFF"/>
                    </a:solidFill>
                  </a:tcPr>
                </a:tc>
                <a:tc>
                  <a:txBody>
                    <a:bodyPr wrap="square"/>
                    <a:lstStyle/>
                    <a:p>
                      <a:pPr algn="l"/>
                      <a:r>
                        <a:rPr sz="1300" b="0">
                          <a:solidFill>
                            <a:srgbClr val="14324A"/>
                          </a:solidFill>
                          <a:latin typeface="Calibri"/>
                        </a:rPr>
                        <a:t>gpt-6-astra</a:t>
                      </a:r>
                    </a:p>
                  </a:txBody>
                  <a:tcPr marL="54864" marR="54864" marT="27432" marB="27432">
                    <a:solidFill>
                      <a:srgbClr val="FFFFFF"/>
                    </a:solidFill>
                  </a:tcPr>
                </a:tc>
                <a:tc>
                  <a:txBody>
                    <a:bodyPr wrap="square"/>
                    <a:lstStyle/>
                    <a:p>
                      <a:pPr algn="l"/>
                      <a:r>
                        <a:rPr sz="1300" b="0">
                          <a:solidFill>
                            <a:srgbClr val="14324A"/>
                          </a:solidFill>
                          <a:latin typeface="Calibri"/>
                        </a:rPr>
                        <a:t>openai</a:t>
                      </a:r>
                    </a:p>
                  </a:txBody>
                  <a:tcPr marL="54864" marR="54864" marT="27432" marB="27432">
                    <a:solidFill>
                      <a:srgbClr val="FFFFFF"/>
                    </a:solidFill>
                  </a:tcPr>
                </a:tc>
                <a:tc>
                  <a:txBody>
                    <a:bodyPr wrap="square"/>
                    <a:lstStyle/>
                    <a:p>
                      <a:pPr algn="l"/>
                      <a:r>
                        <a:rPr sz="1300" b="0">
                          <a:solidFill>
                            <a:srgbClr val="14324A"/>
                          </a:solidFill>
                          <a:latin typeface="Calibri"/>
                        </a:rPr>
                        <a:t>planning collaborator in Train Models: reads the run record, plans the next bounded step, proposes one action</a:t>
                      </a:r>
                    </a:p>
                  </a:txBody>
                  <a:tcPr marL="54864" marR="54864" marT="27432" marB="27432">
                    <a:solidFill>
                      <a:srgbClr val="FFFFFF"/>
                    </a:solidFill>
                  </a:tcPr>
                </a:tc>
              </a:tr>
              <a:tr h="384048">
                <a:tc>
                  <a:txBody>
                    <a:bodyPr wrap="square"/>
                    <a:lstStyle/>
                    <a:p>
                      <a:pPr algn="l"/>
                      <a:r>
                        <a:rPr sz="1300" b="0">
                          <a:solidFill>
                            <a:srgbClr val="14324A"/>
                          </a:solidFill>
                          <a:latin typeface="Calibri"/>
                        </a:rPr>
                        <a:t>planner</a:t>
                      </a:r>
                    </a:p>
                  </a:txBody>
                  <a:tcPr marL="54864" marR="54864" marT="27432" marB="27432">
                    <a:solidFill>
                      <a:srgbClr val="FFFFFF"/>
                    </a:solidFill>
                  </a:tcPr>
                </a:tc>
                <a:tc>
                  <a:txBody>
                    <a:bodyPr wrap="square"/>
                    <a:lstStyle/>
                    <a:p>
                      <a:pPr algn="l"/>
                      <a:r>
                        <a:rPr sz="1300" b="0">
                          <a:solidFill>
                            <a:srgbClr val="14324A"/>
                          </a:solidFill>
                          <a:latin typeface="Calibri"/>
                        </a:rPr>
                        <a:t>gpt-6-astra</a:t>
                      </a:r>
                    </a:p>
                  </a:txBody>
                  <a:tcPr marL="54864" marR="54864" marT="27432" marB="27432">
                    <a:solidFill>
                      <a:srgbClr val="FFFFFF"/>
                    </a:solidFill>
                  </a:tcPr>
                </a:tc>
                <a:tc>
                  <a:txBody>
                    <a:bodyPr wrap="square"/>
                    <a:lstStyle/>
                    <a:p>
                      <a:pPr algn="l"/>
                      <a:r>
                        <a:rPr sz="1300" b="0">
                          <a:solidFill>
                            <a:srgbClr val="14324A"/>
                          </a:solidFill>
                          <a:latin typeface="Calibri"/>
                        </a:rPr>
                        <a:t>openai</a:t>
                      </a:r>
                    </a:p>
                  </a:txBody>
                  <a:tcPr marL="54864" marR="54864" marT="27432" marB="27432">
                    <a:solidFill>
                      <a:srgbClr val="FFFFFF"/>
                    </a:solidFill>
                  </a:tcPr>
                </a:tc>
                <a:tc>
                  <a:txBody>
                    <a:bodyPr wrap="square"/>
                    <a:lstStyle/>
                    <a:p>
                      <a:pPr algn="l"/>
                      <a:r>
                        <a:rPr sz="1300" b="0">
                          <a:solidFill>
                            <a:srgbClr val="14324A"/>
                          </a:solidFill>
                          <a:latin typeface="Calibri"/>
                        </a:rPr>
                        <a:t>plans and orchestrates multi-step work (document story, measurement order, task decomposition)</a:t>
                      </a:r>
                    </a:p>
                  </a:txBody>
                  <a:tcPr marL="54864" marR="54864" marT="27432" marB="27432">
                    <a:solidFill>
                      <a:srgbClr val="FFFFFF"/>
                    </a:solidFill>
                  </a:tcPr>
                </a:tc>
              </a:tr>
              <a:tr h="384048">
                <a:tc>
                  <a:txBody>
                    <a:bodyPr wrap="square"/>
                    <a:lstStyle/>
                    <a:p>
                      <a:pPr algn="l"/>
                      <a:r>
                        <a:rPr sz="1300" b="0">
                          <a:solidFill>
                            <a:srgbClr val="14324A"/>
                          </a:solidFill>
                          <a:latin typeface="Calibri"/>
                        </a:rPr>
                        <a:t>reviewer</a:t>
                      </a:r>
                    </a:p>
                  </a:txBody>
                  <a:tcPr marL="54864" marR="54864" marT="27432" marB="27432">
                    <a:solidFill>
                      <a:srgbClr val="FFFFFF"/>
                    </a:solidFill>
                  </a:tcPr>
                </a:tc>
                <a:tc>
                  <a:txBody>
                    <a:bodyPr wrap="square"/>
                    <a:lstStyle/>
                    <a:p>
                      <a:pPr algn="l"/>
                      <a:r>
                        <a:rPr sz="1300" b="0">
                          <a:solidFill>
                            <a:srgbClr val="14324A"/>
                          </a:solidFill>
                          <a:latin typeface="Calibri"/>
                        </a:rPr>
                        <a:t>claude-fable-5-1</a:t>
                      </a:r>
                    </a:p>
                  </a:txBody>
                  <a:tcPr marL="54864" marR="54864" marT="27432" marB="27432">
                    <a:solidFill>
                      <a:srgbClr val="FFFFFF"/>
                    </a:solidFill>
                  </a:tcPr>
                </a:tc>
                <a:tc>
                  <a:txBody>
                    <a:bodyPr wrap="square"/>
                    <a:lstStyle/>
                    <a:p>
                      <a:pPr algn="l"/>
                      <a:r>
                        <a:rPr sz="1300" b="0">
                          <a:solidFill>
                            <a:srgbClr val="14324A"/>
                          </a:solidFill>
                          <a:latin typeface="Calibri"/>
                        </a:rPr>
                        <a:t>anthropic</a:t>
                      </a:r>
                    </a:p>
                  </a:txBody>
                  <a:tcPr marL="54864" marR="54864" marT="27432" marB="27432">
                    <a:solidFill>
                      <a:srgbClr val="FFFFFF"/>
                    </a:solidFill>
                  </a:tcPr>
                </a:tc>
                <a:tc>
                  <a:txBody>
                    <a:bodyPr wrap="square"/>
                    <a:lstStyle/>
                    <a:p>
                      <a:pPr algn="l"/>
                      <a:r>
                        <a:rPr sz="1300" b="0">
                          <a:solidFill>
                            <a:srgbClr val="14324A"/>
                          </a:solidFill>
                          <a:latin typeface="Calibri"/>
                        </a:rPr>
                        <a:t>independent review of complex outputs against source evidence and acceptance criteria; a different family from the planner</a:t>
                      </a:r>
                    </a:p>
                  </a:txBody>
                  <a:tcPr marL="54864" marR="54864" marT="27432" marB="27432">
                    <a:solidFill>
                      <a:srgbClr val="FFFFFF"/>
                    </a:solidFill>
                  </a:tcPr>
                </a:tc>
              </a:tr>
              <a:tr h="384048">
                <a:tc>
                  <a:txBody>
                    <a:bodyPr wrap="square"/>
                    <a:lstStyle/>
                    <a:p>
                      <a:pPr algn="l"/>
                      <a:r>
                        <a:rPr sz="1300" b="0">
                          <a:solidFill>
                            <a:srgbClr val="14324A"/>
                          </a:solidFill>
                          <a:latin typeface="Calibri"/>
                        </a:rPr>
                        <a:t>writer</a:t>
                      </a:r>
                    </a:p>
                  </a:txBody>
                  <a:tcPr marL="54864" marR="54864" marT="27432" marB="27432">
                    <a:solidFill>
                      <a:srgbClr val="FFFFFF"/>
                    </a:solidFill>
                  </a:tcPr>
                </a:tc>
                <a:tc>
                  <a:txBody>
                    <a:bodyPr wrap="square"/>
                    <a:lstStyle/>
                    <a:p>
                      <a:pPr algn="l"/>
                      <a:r>
                        <a:rPr sz="1300" b="0">
                          <a:solidFill>
                            <a:srgbClr val="14324A"/>
                          </a:solidFill>
                          <a:latin typeface="Calibri"/>
                        </a:rPr>
                        <a:t>claude-sonnet-5-5</a:t>
                      </a:r>
                    </a:p>
                  </a:txBody>
                  <a:tcPr marL="54864" marR="54864" marT="27432" marB="27432">
                    <a:solidFill>
                      <a:srgbClr val="FFFFFF"/>
                    </a:solidFill>
                  </a:tcPr>
                </a:tc>
                <a:tc>
                  <a:txBody>
                    <a:bodyPr wrap="square"/>
                    <a:lstStyle/>
                    <a:p>
                      <a:pPr algn="l"/>
                      <a:r>
                        <a:rPr sz="1300" b="0">
                          <a:solidFill>
                            <a:srgbClr val="14324A"/>
                          </a:solidFill>
                          <a:latin typeface="Calibri"/>
                        </a:rPr>
                        <a:t>anthropic</a:t>
                      </a:r>
                    </a:p>
                  </a:txBody>
                  <a:tcPr marL="54864" marR="54864" marT="27432" marB="27432">
                    <a:solidFill>
                      <a:srgbClr val="FFFFFF"/>
                    </a:solidFill>
                  </a:tcPr>
                </a:tc>
                <a:tc>
                  <a:txBody>
                    <a:bodyPr wrap="square"/>
                    <a:lstStyle/>
                    <a:p>
                      <a:pPr algn="l"/>
                      <a:r>
                        <a:rPr sz="1300" b="0">
                          <a:solidFill>
                            <a:srgbClr val="14324A"/>
                          </a:solidFill>
                          <a:latin typeface="Calibri"/>
                        </a:rPr>
                        <a:t>writes every sentence the reader sees from evidence tokens under the content-manager gate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E8772E"/>
                </a:solidFill>
                <a:latin typeface="Calibri"/>
              </a:rPr>
              <a:t>Planner and reviewer come from different model families so the review does not share the planner's blind spots; every call crosses the Shield chokepoint.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0879A"/>
                </a:solidFill>
                <a:latin typeface="Courier New"/>
              </a:rPr>
              <a:t>[measured]  Receipt R09: Model role assignments evaluated 2026-10-02: integration model catalogue plus published task benchmarks reviewed on the day; planner/reviewer families kept distinct so the review does not share the planner's blind spots. Not claimed: no independent head-to-head benchmark was run on owner data; assignments are disclosed configuration, re-evaluated when a role under-performs on its own gate</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WHAT TO DO FIRST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Verify cold data first, close the gaps, then prepare two products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4324A"/>
                </a:solidFill>
                <a:latin typeface="Calibri"/>
              </a:rPr>
              <a:t>First, check read use and retrieval fees on 43 cold buckets before tiering; up to 986.5 USD a month.</a:t>
            </a:r>
          </a:p>
        </p:txBody>
      </p:sp>
      <p:cxnSp>
        <p:nvCxnSpPr>
          <p:cNvPr id="6" name="Connector 5"/>
          <p:cNvCxnSpPr/>
          <p:nvPr/>
        </p:nvCxnSpPr>
        <p:spPr>
          <a:xfrm>
            <a:off x="594360" y="275348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4324A"/>
                </a:solidFill>
                <a:latin typeface="Calibri"/>
              </a:rPr>
              <a:t>Second, hash 7.7 TiB of duplicate candidates before removal; up to 180.3 USD a month.</a:t>
            </a:r>
          </a:p>
        </p:txBody>
      </p:sp>
      <p:cxnSp>
        <p:nvCxnSpPr>
          <p:cNvPr id="9" name="Connector 8"/>
          <p:cNvCxnSpPr/>
          <p:nvPr/>
        </p:nvCxnSpPr>
        <p:spPr>
          <a:xfrm>
            <a:off x="594360" y="369646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4324A"/>
                </a:solidFill>
                <a:latin typeface="Calibri"/>
              </a:rPr>
              <a:t>Third, reconcile 40 unreadable buckets and fingerprint 43.6 TiB of file shares.</a:t>
            </a:r>
          </a:p>
        </p:txBody>
      </p:sp>
      <p:cxnSp>
        <p:nvCxnSpPr>
          <p:cNvPr id="12" name="Connector 11"/>
          <p:cNvCxnSpPr/>
          <p:nvPr/>
        </p:nvCxnSpPr>
        <p:spPr>
          <a:xfrm>
            <a:off x="594360" y="4639437"/>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4324A"/>
                </a:solidFill>
                <a:latin typeface="Calibri"/>
              </a:rPr>
              <a:t>Fourth, prepare reference data and the content catalogue; database cleanup is bounded by 15.2 GiB.</a:t>
            </a:r>
          </a:p>
        </p:txBody>
      </p:sp>
      <p:cxnSp>
        <p:nvCxnSpPr>
          <p:cNvPr id="15" name="Connector 14"/>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WHAT WE CANNOT YET SAY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Savings, coverage and privacy conclusions carry limits that specific checks would close</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4324A"/>
                </a:solidFill>
                <a:latin typeface="Calibri"/>
              </a:rPr>
              <a:t>Database ratios rest on 638 of 1006 tables.</a:t>
            </a:r>
          </a:p>
        </p:txBody>
      </p:sp>
      <p:cxnSp>
        <p:nvCxnSpPr>
          <p:cNvPr id="6" name="Connector 5"/>
          <p:cNvCxnSpPr/>
          <p:nvPr/>
        </p:nvCxnSpPr>
        <p:spPr>
          <a:xfrm>
            <a:off x="594360" y="256489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4324A"/>
                </a:solidFill>
                <a:latin typeface="Calibri"/>
              </a:rPr>
              <a:t>Personal-data markers appear in 71.8% of sampled rows; absence of a marker is not absence of personal data.</a:t>
            </a:r>
          </a:p>
        </p:txBody>
      </p:sp>
      <p:cxnSp>
        <p:nvCxnSpPr>
          <p:cNvPr id="9" name="Connector 8"/>
          <p:cNvCxnSpPr/>
          <p:nvPr/>
        </p:nvCxnSpPr>
        <p:spPr>
          <a:xfrm>
            <a:off x="594360" y="331927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4324A"/>
                </a:solidFill>
                <a:latin typeface="Calibri"/>
              </a:rPr>
              <a:t>The 7.7 TiB of duplicates are candidates until content hashing confirms them.</a:t>
            </a:r>
          </a:p>
        </p:txBody>
      </p:sp>
      <p:cxnSp>
        <p:nvCxnSpPr>
          <p:cNvPr id="12" name="Connector 11"/>
          <p:cNvCxnSpPr/>
          <p:nvPr/>
        </p:nvCxnSpPr>
        <p:spPr>
          <a:xfrm>
            <a:off x="594360" y="407365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E877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4324A"/>
                </a:solidFill>
                <a:latin typeface="Calibri"/>
              </a:rPr>
              <a:t>The 1,174.4 USD figure is a list-price upper bound, and cold bytes may still be read.</a:t>
            </a:r>
          </a:p>
        </p:txBody>
      </p:sp>
      <p:cxnSp>
        <p:nvCxnSpPr>
          <p:cNvPr id="15" name="Connector 14"/>
          <p:cNvCxnSpPr/>
          <p:nvPr/>
        </p:nvCxnSpPr>
        <p:spPr>
          <a:xfrm>
            <a:off x="594360" y="4828031"/>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E877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4324A"/>
                </a:solidFill>
                <a:latin typeface="Calibri"/>
              </a:rPr>
              <a:t>Language, noise and intelligibility were not human-verified.</a:t>
            </a:r>
          </a:p>
        </p:txBody>
      </p:sp>
      <p:cxnSp>
        <p:nvCxnSpPr>
          <p:cNvPr id="18" name="Connector 17"/>
          <p:cNvCxnSpPr/>
          <p:nvPr/>
        </p:nvCxnSpPr>
        <p:spPr>
          <a:xfrm>
            <a:off x="594360" y="5582412"/>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What this pack covers, what it cannot say, and what would close each gap</a:t>
            </a:r>
          </a:p>
        </p:txBody>
      </p:sp>
      <p:sp>
        <p:nvSpPr>
          <p:cNvPr id="4" name="TextBox 3"/>
          <p:cNvSpPr txBox="1"/>
          <p:nvPr/>
        </p:nvSpPr>
        <p:spPr>
          <a:xfrm>
            <a:off x="594360" y="1920240"/>
            <a:ext cx="11002975" cy="822960"/>
          </a:xfrm>
          <a:prstGeom prst="rect">
            <a:avLst/>
          </a:prstGeom>
          <a:noFill/>
        </p:spPr>
        <p:txBody>
          <a:bodyPr wrap="square" lIns="0" rIns="0" tIns="0" bIns="0" anchor="t">
            <a:spAutoFit/>
          </a:bodyPr>
          <a:lstStyle/>
          <a:p>
            <a:pPr algn="l"/>
            <a:r>
              <a:rPr sz="1400" b="0" i="0">
                <a:solidFill>
                  <a:srgbClr val="14324A"/>
                </a:solidFill>
                <a:latin typeface="Calibri"/>
              </a:rPr>
              <a:t>COVERS</a:t>
            </a:r>
          </a:p>
          <a:p>
            <a:pPr algn="l"/>
            <a:r>
              <a:rPr sz="1400" b="0" i="0">
                <a:solidFill>
                  <a:srgbClr val="14324A"/>
                </a:solidFill>
                <a:latin typeface="Calibri"/>
              </a:rPr>
              <a:t>The admitted estate as measured by census eij-1b359b3cbd2e: 20 databases, 1,006 tables (351.3 GiB), the object store, the file shares, the staged language corpus read by both GPUs and the written-word databases read as aggregates. No row value, script or transcript text is in this pack.</a:t>
            </a:r>
          </a:p>
        </p:txBody>
      </p:sp>
      <p:sp>
        <p:nvSpPr>
          <p:cNvPr id="5" name="TextBox 4"/>
          <p:cNvSpPr txBox="1"/>
          <p:nvPr/>
        </p:nvSpPr>
        <p:spPr>
          <a:xfrm>
            <a:off x="594360" y="2834640"/>
            <a:ext cx="3545738" cy="274320"/>
          </a:xfrm>
          <a:prstGeom prst="rect">
            <a:avLst/>
          </a:prstGeom>
          <a:noFill/>
        </p:spPr>
        <p:txBody>
          <a:bodyPr wrap="square" lIns="0" rIns="0" tIns="0" bIns="0" anchor="t">
            <a:spAutoFit/>
          </a:bodyPr>
          <a:lstStyle/>
          <a:p>
            <a:pPr algn="l"/>
            <a:r>
              <a:rPr sz="1100" b="1" i="0">
                <a:solidFill>
                  <a:srgbClr val="70879A"/>
                </a:solidFill>
                <a:latin typeface="Calibri"/>
              </a:rPr>
              <a:t>CANNOT SAY</a:t>
            </a:r>
          </a:p>
        </p:txBody>
      </p:sp>
      <p:sp>
        <p:nvSpPr>
          <p:cNvPr id="6" name="TextBox 5"/>
          <p:cNvSpPr txBox="1"/>
          <p:nvPr/>
        </p:nvSpPr>
        <p:spPr>
          <a:xfrm>
            <a:off x="4322978" y="2834640"/>
            <a:ext cx="3545738" cy="274320"/>
          </a:xfrm>
          <a:prstGeom prst="rect">
            <a:avLst/>
          </a:prstGeom>
          <a:noFill/>
        </p:spPr>
        <p:txBody>
          <a:bodyPr wrap="square" lIns="0" rIns="0" tIns="0" bIns="0" anchor="t">
            <a:spAutoFit/>
          </a:bodyPr>
          <a:lstStyle/>
          <a:p>
            <a:pPr algn="l"/>
            <a:r>
              <a:rPr sz="1100" b="1" i="0">
                <a:solidFill>
                  <a:srgbClr val="70879A"/>
                </a:solidFill>
                <a:latin typeface="Calibri"/>
              </a:rPr>
              <a:t>WHY</a:t>
            </a:r>
          </a:p>
        </p:txBody>
      </p:sp>
      <p:sp>
        <p:nvSpPr>
          <p:cNvPr id="7" name="TextBox 6"/>
          <p:cNvSpPr txBox="1"/>
          <p:nvPr/>
        </p:nvSpPr>
        <p:spPr>
          <a:xfrm>
            <a:off x="8051596" y="2834640"/>
            <a:ext cx="3545738" cy="274320"/>
          </a:xfrm>
          <a:prstGeom prst="rect">
            <a:avLst/>
          </a:prstGeom>
          <a:noFill/>
        </p:spPr>
        <p:txBody>
          <a:bodyPr wrap="square" lIns="0" rIns="0" tIns="0" bIns="0" anchor="t">
            <a:spAutoFit/>
          </a:bodyPr>
          <a:lstStyle/>
          <a:p>
            <a:pPr algn="l"/>
            <a:r>
              <a:rPr sz="1100" b="1" i="0">
                <a:solidFill>
                  <a:srgbClr val="70879A"/>
                </a:solidFill>
                <a:latin typeface="Calibri"/>
              </a:rPr>
              <a:t>WHAT WOULD CLOSE IT</a:t>
            </a:r>
          </a:p>
        </p:txBody>
      </p:sp>
      <p:cxnSp>
        <p:nvCxnSpPr>
          <p:cNvPr id="8" name="Connector 7"/>
          <p:cNvCxnSpPr/>
          <p:nvPr/>
        </p:nvCxnSpPr>
        <p:spPr>
          <a:xfrm>
            <a:off x="594360" y="3127248"/>
            <a:ext cx="11002975" cy="0"/>
          </a:xfrm>
          <a:prstGeom prst="line">
            <a:avLst/>
          </a:prstGeom>
          <a:ln w="9525">
            <a:solidFill>
              <a:srgbClr val="14324A"/>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246120"/>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319272"/>
            <a:ext cx="3399434" cy="658368"/>
          </a:xfrm>
          <a:prstGeom prst="rect">
            <a:avLst/>
          </a:prstGeom>
          <a:noFill/>
        </p:spPr>
        <p:txBody>
          <a:bodyPr wrap="square" lIns="0" rIns="0" tIns="0" bIns="0" anchor="t">
            <a:spAutoFit/>
          </a:bodyPr>
          <a:lstStyle/>
          <a:p>
            <a:pPr algn="l"/>
            <a:r>
              <a:rPr sz="1300" b="0" i="0">
                <a:solidFill>
                  <a:srgbClr val="14324A"/>
                </a:solidFill>
                <a:latin typeface="Calibri"/>
              </a:rPr>
              <a:t>Duplicate, damage, empty-field and PII ratios on sampled tables</a:t>
            </a:r>
          </a:p>
        </p:txBody>
      </p:sp>
      <p:sp>
        <p:nvSpPr>
          <p:cNvPr id="11" name="TextBox 10"/>
          <p:cNvSpPr txBox="1"/>
          <p:nvPr/>
        </p:nvSpPr>
        <p:spPr>
          <a:xfrm>
            <a:off x="4396130" y="3319272"/>
            <a:ext cx="3399434" cy="658368"/>
          </a:xfrm>
          <a:prstGeom prst="rect">
            <a:avLst/>
          </a:prstGeom>
          <a:noFill/>
        </p:spPr>
        <p:txBody>
          <a:bodyPr wrap="square" lIns="0" rIns="0" tIns="0" bIns="0" anchor="t">
            <a:spAutoFit/>
          </a:bodyPr>
          <a:lstStyle/>
          <a:p>
            <a:pPr algn="l"/>
            <a:r>
              <a:rPr sz="1300" b="0" i="0">
                <a:solidFill>
                  <a:srgbClr val="14324A"/>
                </a:solidFill>
                <a:latin typeface="Calibri"/>
              </a:rPr>
              <a:t>complete passes where the table allowed it, stratified samples elsewhere</a:t>
            </a:r>
          </a:p>
        </p:txBody>
      </p:sp>
      <p:sp>
        <p:nvSpPr>
          <p:cNvPr id="12" name="TextBox 11"/>
          <p:cNvSpPr txBox="1"/>
          <p:nvPr/>
        </p:nvSpPr>
        <p:spPr>
          <a:xfrm>
            <a:off x="8124748" y="3319272"/>
            <a:ext cx="3399434" cy="658368"/>
          </a:xfrm>
          <a:prstGeom prst="rect">
            <a:avLst/>
          </a:prstGeom>
          <a:noFill/>
        </p:spPr>
        <p:txBody>
          <a:bodyPr wrap="square" lIns="0" rIns="0" tIns="0" bIns="0" anchor="t">
            <a:spAutoFit/>
          </a:bodyPr>
          <a:lstStyle/>
          <a:p>
            <a:pPr algn="l"/>
            <a:r>
              <a:rPr sz="1300" b="0" i="0">
                <a:solidFill>
                  <a:srgbClr val="14324A"/>
                </a:solidFill>
                <a:latin typeface="Calibri"/>
              </a:rPr>
              <a:t>a complete-pass census on the sampled tables</a:t>
            </a:r>
          </a:p>
        </p:txBody>
      </p:sp>
      <p:sp>
        <p:nvSpPr>
          <p:cNvPr id="13" name="Rectangle 12"/>
          <p:cNvSpPr/>
          <p:nvPr/>
        </p:nvSpPr>
        <p:spPr>
          <a:xfrm>
            <a:off x="594360" y="4123944"/>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197096"/>
            <a:ext cx="3399434" cy="658368"/>
          </a:xfrm>
          <a:prstGeom prst="rect">
            <a:avLst/>
          </a:prstGeom>
          <a:noFill/>
        </p:spPr>
        <p:txBody>
          <a:bodyPr wrap="square" lIns="0" rIns="0" tIns="0" bIns="0" anchor="t">
            <a:spAutoFit/>
          </a:bodyPr>
          <a:lstStyle/>
          <a:p>
            <a:pPr algn="l"/>
            <a:r>
              <a:rPr sz="1300" b="0" i="0">
                <a:solidFill>
                  <a:srgbClr val="14324A"/>
                </a:solidFill>
                <a:latin typeface="Calibri"/>
              </a:rPr>
              <a:t>Semantic similarity between candidate datasets and the market</a:t>
            </a:r>
          </a:p>
        </p:txBody>
      </p:sp>
      <p:sp>
        <p:nvSpPr>
          <p:cNvPr id="15" name="TextBox 14"/>
          <p:cNvSpPr txBox="1"/>
          <p:nvPr/>
        </p:nvSpPr>
        <p:spPr>
          <a:xfrm>
            <a:off x="4396130" y="4197096"/>
            <a:ext cx="3399434" cy="658368"/>
          </a:xfrm>
          <a:prstGeom prst="rect">
            <a:avLst/>
          </a:prstGeom>
          <a:noFill/>
        </p:spPr>
        <p:txBody>
          <a:bodyPr wrap="square" lIns="0" rIns="0" tIns="0" bIns="0" anchor="t">
            <a:spAutoFit/>
          </a:bodyPr>
          <a:lstStyle/>
          <a:p>
            <a:pPr algn="l"/>
            <a:r>
              <a:rPr sz="1300" b="0" i="0">
                <a:solidFill>
                  <a:srgbClr val="14324A"/>
                </a:solidFill>
                <a:latin typeface="Calibri"/>
              </a:rPr>
              <a:t>not measured; candidates are dimensional readiness only</a:t>
            </a:r>
          </a:p>
        </p:txBody>
      </p:sp>
      <p:sp>
        <p:nvSpPr>
          <p:cNvPr id="16" name="TextBox 15"/>
          <p:cNvSpPr txBox="1"/>
          <p:nvPr/>
        </p:nvSpPr>
        <p:spPr>
          <a:xfrm>
            <a:off x="8124748" y="4197096"/>
            <a:ext cx="3399434" cy="658368"/>
          </a:xfrm>
          <a:prstGeom prst="rect">
            <a:avLst/>
          </a:prstGeom>
          <a:noFill/>
        </p:spPr>
        <p:txBody>
          <a:bodyPr wrap="square" lIns="0" rIns="0" tIns="0" bIns="0" anchor="t">
            <a:spAutoFit/>
          </a:bodyPr>
          <a:lstStyle/>
          <a:p>
            <a:pPr algn="l"/>
            <a:r>
              <a:rPr sz="1300" b="0" i="0">
                <a:solidFill>
                  <a:srgbClr val="14324A"/>
                </a:solidFill>
                <a:latin typeface="Calibri"/>
              </a:rPr>
              <a:t>a buyer-side review of each candidate against its intended use</a:t>
            </a:r>
          </a:p>
        </p:txBody>
      </p:sp>
      <p:sp>
        <p:nvSpPr>
          <p:cNvPr id="17" name="Rectangle 16"/>
          <p:cNvSpPr/>
          <p:nvPr/>
        </p:nvSpPr>
        <p:spPr>
          <a:xfrm>
            <a:off x="594360" y="5001768"/>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5074920"/>
            <a:ext cx="3399434" cy="658368"/>
          </a:xfrm>
          <a:prstGeom prst="rect">
            <a:avLst/>
          </a:prstGeom>
          <a:noFill/>
        </p:spPr>
        <p:txBody>
          <a:bodyPr wrap="square" lIns="0" rIns="0" tIns="0" bIns="0" anchor="t">
            <a:spAutoFit/>
          </a:bodyPr>
          <a:lstStyle/>
          <a:p>
            <a:pPr algn="l"/>
            <a:r>
              <a:rPr sz="1300" b="0" i="0">
                <a:solidFill>
                  <a:srgbClr val="14324A"/>
                </a:solidFill>
                <a:latin typeface="Calibri"/>
              </a:rPr>
              <a:t>Connection artists_app</a:t>
            </a:r>
          </a:p>
        </p:txBody>
      </p:sp>
      <p:sp>
        <p:nvSpPr>
          <p:cNvPr id="19" name="TextBox 18"/>
          <p:cNvSpPr txBox="1"/>
          <p:nvPr/>
        </p:nvSpPr>
        <p:spPr>
          <a:xfrm>
            <a:off x="4396130" y="5074920"/>
            <a:ext cx="3399434" cy="658368"/>
          </a:xfrm>
          <a:prstGeom prst="rect">
            <a:avLst/>
          </a:prstGeom>
          <a:noFill/>
        </p:spPr>
        <p:txBody>
          <a:bodyPr wrap="square" lIns="0" rIns="0" tIns="0" bIns="0" anchor="t">
            <a:spAutoFit/>
          </a:bodyPr>
          <a:lstStyle/>
          <a:p>
            <a:pPr algn="l"/>
            <a:r>
              <a:rPr sz="1300" b="0" i="0">
                <a:solidFill>
                  <a:srgbClr val="14324A"/>
                </a:solidFill>
                <a:latin typeface="Calibri"/>
              </a:rPr>
              <a:t>could not be read (MySQL GRANT pending)</a:t>
            </a:r>
          </a:p>
        </p:txBody>
      </p:sp>
      <p:sp>
        <p:nvSpPr>
          <p:cNvPr id="20" name="TextBox 19"/>
          <p:cNvSpPr txBox="1"/>
          <p:nvPr/>
        </p:nvSpPr>
        <p:spPr>
          <a:xfrm>
            <a:off x="8124748" y="5074920"/>
            <a:ext cx="3399434" cy="658368"/>
          </a:xfrm>
          <a:prstGeom prst="rect">
            <a:avLst/>
          </a:prstGeom>
          <a:noFill/>
        </p:spPr>
        <p:txBody>
          <a:bodyPr wrap="square" lIns="0" rIns="0" tIns="0" bIns="0" anchor="t">
            <a:spAutoFit/>
          </a:bodyPr>
          <a:lstStyle/>
          <a:p>
            <a:pPr algn="l"/>
            <a:r>
              <a:rPr sz="1300" b="0" i="0">
                <a:solidFill>
                  <a:srgbClr val="14324A"/>
                </a:solidFill>
                <a:latin typeface="Calibri"/>
              </a:rPr>
              <a:t>owner grants read access; re-census</a:t>
            </a:r>
          </a:p>
        </p:txBody>
      </p:sp>
      <p:sp>
        <p:nvSpPr>
          <p:cNvPr id="21" name="Rectangle 20"/>
          <p:cNvSpPr/>
          <p:nvPr/>
        </p:nvSpPr>
        <p:spPr>
          <a:xfrm>
            <a:off x="594360" y="5879592"/>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5952744"/>
            <a:ext cx="3399434" cy="658368"/>
          </a:xfrm>
          <a:prstGeom prst="rect">
            <a:avLst/>
          </a:prstGeom>
          <a:noFill/>
        </p:spPr>
        <p:txBody>
          <a:bodyPr wrap="square" lIns="0" rIns="0" tIns="0" bIns="0" anchor="t">
            <a:spAutoFit/>
          </a:bodyPr>
          <a:lstStyle/>
          <a:p>
            <a:pPr algn="l"/>
            <a:r>
              <a:rPr sz="1300" b="0" i="0">
                <a:solidFill>
                  <a:srgbClr val="14324A"/>
                </a:solidFill>
                <a:latin typeface="Calibri"/>
              </a:rPr>
              <a:t>NAS duplication</a:t>
            </a:r>
          </a:p>
        </p:txBody>
      </p:sp>
      <p:sp>
        <p:nvSpPr>
          <p:cNvPr id="23" name="TextBox 22"/>
          <p:cNvSpPr txBox="1"/>
          <p:nvPr/>
        </p:nvSpPr>
        <p:spPr>
          <a:xfrm>
            <a:off x="4396130" y="5952744"/>
            <a:ext cx="3399434" cy="658368"/>
          </a:xfrm>
          <a:prstGeom prst="rect">
            <a:avLst/>
          </a:prstGeom>
          <a:noFill/>
        </p:spPr>
        <p:txBody>
          <a:bodyPr wrap="square" lIns="0" rIns="0" tIns="0" bIns="0" anchor="t">
            <a:spAutoFit/>
          </a:bodyPr>
          <a:lstStyle/>
          <a:p>
            <a:pPr algn="l"/>
            <a:r>
              <a:rPr sz="1300" b="0" i="0">
                <a:solidFill>
                  <a:srgbClr val="14324A"/>
                </a:solidFill>
                <a:latin typeface="Calibri"/>
              </a:rPr>
              <a:t>the enumeration recorded sizes and dates, not content fingerprints</a:t>
            </a:r>
          </a:p>
        </p:txBody>
      </p:sp>
      <p:sp>
        <p:nvSpPr>
          <p:cNvPr id="24" name="TextBox 23"/>
          <p:cNvSpPr txBox="1"/>
          <p:nvPr/>
        </p:nvSpPr>
        <p:spPr>
          <a:xfrm>
            <a:off x="8124748" y="5952744"/>
            <a:ext cx="3399434" cy="658368"/>
          </a:xfrm>
          <a:prstGeom prst="rect">
            <a:avLst/>
          </a:prstGeom>
          <a:noFill/>
        </p:spPr>
        <p:txBody>
          <a:bodyPr wrap="square" lIns="0" rIns="0" tIns="0" bIns="0" anchor="t">
            <a:spAutoFit/>
          </a:bodyPr>
          <a:lstStyle/>
          <a:p>
            <a:pPr algn="l"/>
            <a:r>
              <a:rPr sz="1300" b="0" i="0">
                <a:solidFill>
                  <a:srgbClr val="14324A"/>
                </a:solidFill>
                <a:latin typeface="Calibri"/>
              </a:rPr>
              <a:t>a fingerprinting pass over the NAS shares</a:t>
            </a:r>
          </a:p>
        </p:txBody>
      </p:sp>
      <p:sp>
        <p:nvSpPr>
          <p:cNvPr id="25" name="Rectangle 24"/>
          <p:cNvSpPr/>
          <p:nvPr/>
        </p:nvSpPr>
        <p:spPr>
          <a:xfrm>
            <a:off x="594360" y="6757416"/>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6830568"/>
            <a:ext cx="3399434" cy="658368"/>
          </a:xfrm>
          <a:prstGeom prst="rect">
            <a:avLst/>
          </a:prstGeom>
          <a:noFill/>
        </p:spPr>
        <p:txBody>
          <a:bodyPr wrap="square" lIns="0" rIns="0" tIns="0" bIns="0" anchor="t">
            <a:spAutoFit/>
          </a:bodyPr>
          <a:lstStyle/>
          <a:p>
            <a:pPr algn="l"/>
            <a:r>
              <a:rPr sz="1300" b="0" i="0">
                <a:solidFill>
                  <a:srgbClr val="14324A"/>
                </a:solidFill>
                <a:latin typeface="Calibri"/>
              </a:rPr>
              <a:t>40 of 106 OBS buckets</a:t>
            </a:r>
          </a:p>
        </p:txBody>
      </p:sp>
      <p:sp>
        <p:nvSpPr>
          <p:cNvPr id="27" name="TextBox 26"/>
          <p:cNvSpPr txBox="1"/>
          <p:nvPr/>
        </p:nvSpPr>
        <p:spPr>
          <a:xfrm>
            <a:off x="4396130" y="6830568"/>
            <a:ext cx="3399434" cy="658368"/>
          </a:xfrm>
          <a:prstGeom prst="rect">
            <a:avLst/>
          </a:prstGeom>
          <a:noFill/>
        </p:spPr>
        <p:txBody>
          <a:bodyPr wrap="square" lIns="0" rIns="0" tIns="0" bIns="0" anchor="t">
            <a:spAutoFit/>
          </a:bodyPr>
          <a:lstStyle/>
          <a:p>
            <a:pPr algn="l"/>
            <a:r>
              <a:rPr sz="1300" b="0" i="0">
                <a:solidFill>
                  <a:srgbClr val="14324A"/>
                </a:solidFill>
                <a:latin typeface="Calibri"/>
              </a:rPr>
              <a:t>unreachable (NoSuchBucket / client errors)</a:t>
            </a:r>
          </a:p>
        </p:txBody>
      </p:sp>
      <p:sp>
        <p:nvSpPr>
          <p:cNvPr id="28" name="TextBox 27"/>
          <p:cNvSpPr txBox="1"/>
          <p:nvPr/>
        </p:nvSpPr>
        <p:spPr>
          <a:xfrm>
            <a:off x="8124748" y="6830568"/>
            <a:ext cx="3399434" cy="658368"/>
          </a:xfrm>
          <a:prstGeom prst="rect">
            <a:avLst/>
          </a:prstGeom>
          <a:noFill/>
        </p:spPr>
        <p:txBody>
          <a:bodyPr wrap="square" lIns="0" rIns="0" tIns="0" bIns="0" anchor="t">
            <a:spAutoFit/>
          </a:bodyPr>
          <a:lstStyle/>
          <a:p>
            <a:pPr algn="l"/>
            <a:r>
              <a:rPr sz="1300" b="0" i="0">
                <a:solidFill>
                  <a:srgbClr val="14324A"/>
                </a:solidFill>
                <a:latin typeface="Calibri"/>
              </a:rPr>
              <a:t>bucket inventory reconciled with the provider</a:t>
            </a:r>
          </a:p>
        </p:txBody>
      </p:sp>
      <p:sp>
        <p:nvSpPr>
          <p:cNvPr id="29" name="Rectangle 28"/>
          <p:cNvSpPr/>
          <p:nvPr/>
        </p:nvSpPr>
        <p:spPr>
          <a:xfrm>
            <a:off x="594360" y="7635240"/>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7708392"/>
            <a:ext cx="3399434" cy="658368"/>
          </a:xfrm>
          <a:prstGeom prst="rect">
            <a:avLst/>
          </a:prstGeom>
          <a:noFill/>
        </p:spPr>
        <p:txBody>
          <a:bodyPr wrap="square" lIns="0" rIns="0" tIns="0" bIns="0" anchor="t">
            <a:spAutoFit/>
          </a:bodyPr>
          <a:lstStyle/>
          <a:p>
            <a:pPr algn="l"/>
            <a:r>
              <a:rPr sz="1300" b="0" i="0">
                <a:solidFill>
                  <a:srgbClr val="14324A"/>
                </a:solidFill>
                <a:latin typeface="Calibri"/>
              </a:rPr>
              <a:t>Language of each news script</a:t>
            </a:r>
          </a:p>
        </p:txBody>
      </p:sp>
      <p:sp>
        <p:nvSpPr>
          <p:cNvPr id="31" name="TextBox 30"/>
          <p:cNvSpPr txBox="1"/>
          <p:nvPr/>
        </p:nvSpPr>
        <p:spPr>
          <a:xfrm>
            <a:off x="4396130" y="7708392"/>
            <a:ext cx="3399434" cy="658368"/>
          </a:xfrm>
          <a:prstGeom prst="rect">
            <a:avLst/>
          </a:prstGeom>
          <a:noFill/>
        </p:spPr>
        <p:txBody>
          <a:bodyPr wrap="square" lIns="0" rIns="0" tIns="0" bIns="0" anchor="t">
            <a:spAutoFit/>
          </a:bodyPr>
          <a:lstStyle/>
          <a:p>
            <a:pPr algn="l"/>
            <a:r>
              <a:rPr sz="1300" b="0" i="0">
                <a:solidFill>
                  <a:srgbClr val="14324A"/>
                </a:solidFill>
                <a:latin typeface="Calibri"/>
              </a:rPr>
              <a:t>the scripts were counted and sized, not read; the language shown is the station's broadcast language from the estate's own table</a:t>
            </a:r>
          </a:p>
        </p:txBody>
      </p:sp>
      <p:sp>
        <p:nvSpPr>
          <p:cNvPr id="32" name="TextBox 31"/>
          <p:cNvSpPr txBox="1"/>
          <p:nvPr/>
        </p:nvSpPr>
        <p:spPr>
          <a:xfrm>
            <a:off x="8124748" y="7708392"/>
            <a:ext cx="3399434" cy="658368"/>
          </a:xfrm>
          <a:prstGeom prst="rect">
            <a:avLst/>
          </a:prstGeom>
          <a:noFill/>
        </p:spPr>
        <p:txBody>
          <a:bodyPr wrap="square" lIns="0" rIns="0" tIns="0" bIns="0" anchor="t">
            <a:spAutoFit/>
          </a:bodyPr>
          <a:lstStyle/>
          <a:p>
            <a:pPr algn="l"/>
            <a:r>
              <a:rPr sz="1300" b="0" i="0">
                <a:solidFill>
                  <a:srgbClr val="14324A"/>
                </a:solidFill>
                <a:latin typeface="Calibri"/>
              </a:rPr>
              <a:t>a text-model pass over the script column under the same aggregate-only seam</a:t>
            </a:r>
          </a:p>
        </p:txBody>
      </p:sp>
      <p:sp>
        <p:nvSpPr>
          <p:cNvPr id="33" name="Rectangle 32"/>
          <p:cNvSpPr/>
          <p:nvPr/>
        </p:nvSpPr>
        <p:spPr>
          <a:xfrm>
            <a:off x="594360" y="8513063"/>
            <a:ext cx="11002975" cy="786384"/>
          </a:xfrm>
          <a:prstGeom prst="rect">
            <a:avLst/>
          </a:prstGeom>
          <a:pattFill>
            <a:fgClr>
              <a:srgbClr val="E8EEF3"/>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 y="8586215"/>
            <a:ext cx="3399434" cy="658368"/>
          </a:xfrm>
          <a:prstGeom prst="rect">
            <a:avLst/>
          </a:prstGeom>
          <a:noFill/>
        </p:spPr>
        <p:txBody>
          <a:bodyPr wrap="square" lIns="0" rIns="0" tIns="0" bIns="0" anchor="t">
            <a:spAutoFit/>
          </a:bodyPr>
          <a:lstStyle/>
          <a:p>
            <a:pPr algn="l"/>
            <a:r>
              <a:rPr sz="1300" b="0" i="0">
                <a:solidFill>
                  <a:srgbClr val="14324A"/>
                </a:solidFill>
                <a:latin typeface="Calibri"/>
              </a:rPr>
              <a:t>Overlap between the workbench recordings and the staged corpus</a:t>
            </a:r>
          </a:p>
        </p:txBody>
      </p:sp>
      <p:sp>
        <p:nvSpPr>
          <p:cNvPr id="35" name="TextBox 34"/>
          <p:cNvSpPr txBox="1"/>
          <p:nvPr/>
        </p:nvSpPr>
        <p:spPr>
          <a:xfrm>
            <a:off x="4396130" y="8586215"/>
            <a:ext cx="3399434" cy="658368"/>
          </a:xfrm>
          <a:prstGeom prst="rect">
            <a:avLst/>
          </a:prstGeom>
          <a:noFill/>
        </p:spPr>
        <p:txBody>
          <a:bodyPr wrap="square" lIns="0" rIns="0" tIns="0" bIns="0" anchor="t">
            <a:spAutoFit/>
          </a:bodyPr>
          <a:lstStyle/>
          <a:p>
            <a:pPr algn="l"/>
            <a:r>
              <a:rPr sz="1300" b="0" i="0">
                <a:solidFill>
                  <a:srgbClr val="14324A"/>
                </a:solidFill>
                <a:latin typeface="Calibri"/>
              </a:rPr>
              <a:t>both inventories were counted on their own; no file-level join was made</a:t>
            </a:r>
          </a:p>
        </p:txBody>
      </p:sp>
      <p:sp>
        <p:nvSpPr>
          <p:cNvPr id="36" name="TextBox 35"/>
          <p:cNvSpPr txBox="1"/>
          <p:nvPr/>
        </p:nvSpPr>
        <p:spPr>
          <a:xfrm>
            <a:off x="8124748" y="8586215"/>
            <a:ext cx="3399434" cy="658368"/>
          </a:xfrm>
          <a:prstGeom prst="rect">
            <a:avLst/>
          </a:prstGeom>
          <a:noFill/>
        </p:spPr>
        <p:txBody>
          <a:bodyPr wrap="square" lIns="0" rIns="0" tIns="0" bIns="0" anchor="t">
            <a:spAutoFit/>
          </a:bodyPr>
          <a:lstStyle/>
          <a:p>
            <a:pPr algn="l"/>
            <a:r>
              <a:rPr sz="1300" b="0" i="0">
                <a:solidFill>
                  <a:srgbClr val="14324A"/>
                </a:solidFill>
                <a:latin typeface="Calibri"/>
              </a:rPr>
              <a:t>a hash join of workbench file locations against the staged corpus paths</a:t>
            </a:r>
          </a:p>
        </p:txBody>
      </p:sp>
      <p:sp>
        <p:nvSpPr>
          <p:cNvPr id="37" name="TextBox 3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38" name="TextBox 3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39" name="TextBox 3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0879A"/>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4324A"/>
                </a:solidFill>
                <a:latin typeface="Cambria"/>
              </a:rPr>
              <a:t>Exhibit index with receipts</a:t>
            </a:r>
          </a:p>
        </p:txBody>
      </p:sp>
      <p:sp>
        <p:nvSpPr>
          <p:cNvPr id="4" name="TextBox 3"/>
          <p:cNvSpPr txBox="1"/>
          <p:nvPr/>
        </p:nvSpPr>
        <p:spPr>
          <a:xfrm>
            <a:off x="594360" y="1920240"/>
            <a:ext cx="822960" cy="502920"/>
          </a:xfrm>
          <a:prstGeom prst="rect">
            <a:avLst/>
          </a:prstGeom>
          <a:noFill/>
        </p:spPr>
        <p:txBody>
          <a:bodyPr wrap="square" lIns="0" rIns="0" tIns="0" bIns="0" anchor="t">
            <a:spAutoFit/>
          </a:bodyPr>
          <a:lstStyle/>
          <a:p>
            <a:pPr algn="l"/>
            <a:r>
              <a:rPr sz="1400" b="1" i="0">
                <a:solidFill>
                  <a:srgbClr val="E8772E"/>
                </a:solidFill>
                <a:latin typeface="Courier New"/>
              </a:rPr>
              <a:t>R01</a:t>
            </a:r>
          </a:p>
        </p:txBody>
      </p:sp>
      <p:sp>
        <p:nvSpPr>
          <p:cNvPr id="5" name="TextBox 4"/>
          <p:cNvSpPr txBox="1"/>
          <p:nvPr/>
        </p:nvSpPr>
        <p:spPr>
          <a:xfrm>
            <a:off x="1508760" y="1920240"/>
            <a:ext cx="10088575" cy="502920"/>
          </a:xfrm>
          <a:prstGeom prst="rect">
            <a:avLst/>
          </a:prstGeom>
          <a:noFill/>
        </p:spPr>
        <p:txBody>
          <a:bodyPr wrap="square" lIns="0" rIns="0" tIns="0" bIns="0" anchor="t">
            <a:spAutoFit/>
          </a:bodyPr>
          <a:lstStyle/>
          <a:p>
            <a:pPr algn="l"/>
            <a:r>
              <a:rPr sz="1300" b="0" i="0">
                <a:solidFill>
                  <a:srgbClr val="14324A"/>
                </a:solidFill>
                <a:latin typeface="Calibri"/>
              </a:rPr>
              <a:t>Estate intelligence census eij-1b359b3cbd2e, digest-verified report (measured 2026-09-29), headline aggregates and per-database measures</a:t>
            </a:r>
          </a:p>
        </p:txBody>
      </p:sp>
      <p:cxnSp>
        <p:nvCxnSpPr>
          <p:cNvPr id="6" name="Connector 5"/>
          <p:cNvCxnSpPr/>
          <p:nvPr/>
        </p:nvCxnSpPr>
        <p:spPr>
          <a:xfrm>
            <a:off x="594360" y="244144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560320"/>
            <a:ext cx="822960" cy="502920"/>
          </a:xfrm>
          <a:prstGeom prst="rect">
            <a:avLst/>
          </a:prstGeom>
          <a:noFill/>
        </p:spPr>
        <p:txBody>
          <a:bodyPr wrap="square" lIns="0" rIns="0" tIns="0" bIns="0" anchor="t">
            <a:spAutoFit/>
          </a:bodyPr>
          <a:lstStyle/>
          <a:p>
            <a:pPr algn="l"/>
            <a:r>
              <a:rPr sz="1400" b="1" i="0">
                <a:solidFill>
                  <a:srgbClr val="E8772E"/>
                </a:solidFill>
                <a:latin typeface="Courier New"/>
              </a:rPr>
              <a:t>R02</a:t>
            </a:r>
          </a:p>
        </p:txBody>
      </p:sp>
      <p:sp>
        <p:nvSpPr>
          <p:cNvPr id="8" name="TextBox 7"/>
          <p:cNvSpPr txBox="1"/>
          <p:nvPr/>
        </p:nvSpPr>
        <p:spPr>
          <a:xfrm>
            <a:off x="1508760" y="2560320"/>
            <a:ext cx="10088575" cy="502920"/>
          </a:xfrm>
          <a:prstGeom prst="rect">
            <a:avLst/>
          </a:prstGeom>
          <a:noFill/>
        </p:spPr>
        <p:txBody>
          <a:bodyPr wrap="square" lIns="0" rIns="0" tIns="0" bIns="0" anchor="t">
            <a:spAutoFit/>
          </a:bodyPr>
          <a:lstStyle/>
          <a:p>
            <a:pPr algn="l"/>
            <a:r>
              <a:rPr sz="1300" b="0" i="0">
                <a:solidFill>
                  <a:srgbClr val="14324A"/>
                </a:solidFill>
                <a:latin typeface="Calibri"/>
              </a:rPr>
              <a:t>Estate intelligence census eij-1b359b3cbd2e, cost_strategies priced at reference list prices, not the owner's invoice: Huawei Cloud RDS for MySQL cloud SSD AF-Johannesburg 0.00015 USD/GB-hour x 730 h; OBS Standard 0.023 USD/GB-month</a:t>
            </a:r>
          </a:p>
        </p:txBody>
      </p:sp>
      <p:cxnSp>
        <p:nvCxnSpPr>
          <p:cNvPr id="9" name="Connector 8"/>
          <p:cNvCxnSpPr/>
          <p:nvPr/>
        </p:nvCxnSpPr>
        <p:spPr>
          <a:xfrm>
            <a:off x="594360" y="308152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0040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R03</a:t>
            </a:r>
          </a:p>
        </p:txBody>
      </p:sp>
      <p:sp>
        <p:nvSpPr>
          <p:cNvPr id="11" name="TextBox 10"/>
          <p:cNvSpPr txBox="1"/>
          <p:nvPr/>
        </p:nvSpPr>
        <p:spPr>
          <a:xfrm>
            <a:off x="1508760" y="3200400"/>
            <a:ext cx="10088575" cy="365760"/>
          </a:xfrm>
          <a:prstGeom prst="rect">
            <a:avLst/>
          </a:prstGeom>
          <a:noFill/>
        </p:spPr>
        <p:txBody>
          <a:bodyPr wrap="square" lIns="0" rIns="0" tIns="0" bIns="0" anchor="t">
            <a:spAutoFit/>
          </a:bodyPr>
          <a:lstStyle/>
          <a:p>
            <a:pPr algn="l"/>
            <a:r>
              <a:rPr sz="1300" b="0" i="0">
                <a:solidFill>
                  <a:srgbClr val="14324A"/>
                </a:solidFill>
                <a:latin typeface="Calibri"/>
              </a:rPr>
              <a:t>Estate intelligence census eij-1b359b3cbd2e, data_products readiness scoring (dimensions, grades, blockers)</a:t>
            </a:r>
          </a:p>
        </p:txBody>
      </p:sp>
      <p:cxnSp>
        <p:nvCxnSpPr>
          <p:cNvPr id="12" name="Connector 11"/>
          <p:cNvCxnSpPr/>
          <p:nvPr/>
        </p:nvCxnSpPr>
        <p:spPr>
          <a:xfrm>
            <a:off x="594360" y="358444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70332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R04</a:t>
            </a:r>
          </a:p>
        </p:txBody>
      </p:sp>
      <p:sp>
        <p:nvSpPr>
          <p:cNvPr id="14" name="TextBox 13"/>
          <p:cNvSpPr txBox="1"/>
          <p:nvPr/>
        </p:nvSpPr>
        <p:spPr>
          <a:xfrm>
            <a:off x="1508760" y="3703320"/>
            <a:ext cx="10088575" cy="365760"/>
          </a:xfrm>
          <a:prstGeom prst="rect">
            <a:avLst/>
          </a:prstGeom>
          <a:noFill/>
        </p:spPr>
        <p:txBody>
          <a:bodyPr wrap="square" lIns="0" rIns="0" tIns="0" bIns="0" anchor="t">
            <a:spAutoFit/>
          </a:bodyPr>
          <a:lstStyle/>
          <a:p>
            <a:pPr algn="l"/>
            <a:r>
              <a:rPr sz="1300" b="0" i="0">
                <a:solidFill>
                  <a:srgbClr val="14324A"/>
                </a:solidFill>
                <a:latin typeface="Calibri"/>
              </a:rPr>
              <a:t>OBS bucket enumeration census run cr-f1415e395361 (22,975,591 objects, 130.3 TiB)</a:t>
            </a:r>
          </a:p>
        </p:txBody>
      </p:sp>
      <p:cxnSp>
        <p:nvCxnSpPr>
          <p:cNvPr id="15" name="Connector 14"/>
          <p:cNvCxnSpPr/>
          <p:nvPr/>
        </p:nvCxnSpPr>
        <p:spPr>
          <a:xfrm>
            <a:off x="594360" y="408736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206240"/>
            <a:ext cx="822960" cy="365760"/>
          </a:xfrm>
          <a:prstGeom prst="rect">
            <a:avLst/>
          </a:prstGeom>
          <a:noFill/>
        </p:spPr>
        <p:txBody>
          <a:bodyPr wrap="square" lIns="0" rIns="0" tIns="0" bIns="0" anchor="t">
            <a:spAutoFit/>
          </a:bodyPr>
          <a:lstStyle/>
          <a:p>
            <a:pPr algn="l"/>
            <a:r>
              <a:rPr sz="1400" b="1" i="0">
                <a:solidFill>
                  <a:srgbClr val="E8772E"/>
                </a:solidFill>
                <a:latin typeface="Courier New"/>
              </a:rPr>
              <a:t>R05</a:t>
            </a:r>
          </a:p>
        </p:txBody>
      </p:sp>
      <p:sp>
        <p:nvSpPr>
          <p:cNvPr id="17" name="TextBox 16"/>
          <p:cNvSpPr txBox="1"/>
          <p:nvPr/>
        </p:nvSpPr>
        <p:spPr>
          <a:xfrm>
            <a:off x="1508760" y="4206240"/>
            <a:ext cx="10088575" cy="365760"/>
          </a:xfrm>
          <a:prstGeom prst="rect">
            <a:avLst/>
          </a:prstGeom>
          <a:noFill/>
        </p:spPr>
        <p:txBody>
          <a:bodyPr wrap="square" lIns="0" rIns="0" tIns="0" bIns="0" anchor="t">
            <a:spAutoFit/>
          </a:bodyPr>
          <a:lstStyle/>
          <a:p>
            <a:pPr algn="l"/>
            <a:r>
              <a:rPr sz="1300" b="0" i="0">
                <a:solidFill>
                  <a:srgbClr val="14324A"/>
                </a:solidFill>
                <a:latin typeface="Calibri"/>
              </a:rPr>
              <a:t>NAS share enumeration census run cr-cf4eef79995b (1,456,787 files, 43.6 TiB)</a:t>
            </a:r>
          </a:p>
        </p:txBody>
      </p:sp>
      <p:cxnSp>
        <p:nvCxnSpPr>
          <p:cNvPr id="18" name="Connector 17"/>
          <p:cNvCxnSpPr/>
          <p:nvPr/>
        </p:nvCxnSpPr>
        <p:spPr>
          <a:xfrm>
            <a:off x="594360" y="459028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4709160"/>
            <a:ext cx="822960" cy="502920"/>
          </a:xfrm>
          <a:prstGeom prst="rect">
            <a:avLst/>
          </a:prstGeom>
          <a:noFill/>
        </p:spPr>
        <p:txBody>
          <a:bodyPr wrap="square" lIns="0" rIns="0" tIns="0" bIns="0" anchor="t">
            <a:spAutoFit/>
          </a:bodyPr>
          <a:lstStyle/>
          <a:p>
            <a:pPr algn="l"/>
            <a:r>
              <a:rPr sz="1400" b="1" i="0">
                <a:solidFill>
                  <a:srgbClr val="E8772E"/>
                </a:solidFill>
                <a:latin typeface="Courier New"/>
              </a:rPr>
              <a:t>R06</a:t>
            </a:r>
          </a:p>
        </p:txBody>
      </p:sp>
      <p:sp>
        <p:nvSpPr>
          <p:cNvPr id="20" name="TextBox 19"/>
          <p:cNvSpPr txBox="1"/>
          <p:nvPr/>
        </p:nvSpPr>
        <p:spPr>
          <a:xfrm>
            <a:off x="1508760" y="4709160"/>
            <a:ext cx="10088575" cy="502920"/>
          </a:xfrm>
          <a:prstGeom prst="rect">
            <a:avLst/>
          </a:prstGeom>
          <a:noFill/>
        </p:spPr>
        <p:txBody>
          <a:bodyPr wrap="square" lIns="0" rIns="0" tIns="0" bIns="0" anchor="t">
            <a:spAutoFit/>
          </a:bodyPr>
          <a:lstStyle/>
          <a:p>
            <a:pPr algn="l"/>
            <a:r>
              <a:rPr sz="1300" b="0" i="0">
                <a:solidFill>
                  <a:srgbClr val="14324A"/>
                </a:solidFill>
                <a:latin typeface="Calibri"/>
              </a:rPr>
              <a:t>Estate language reading m9j-9e8fcb46a809 on akki-vm (2 GPUs, 1.034 GPU-h): audio language model lcj-7128593897d4 sha256 5c1feb8497e8…, music detector m9j-686de001bfe7 sha256 0fea3eee0393…; model readings, not human labels</a:t>
            </a:r>
          </a:p>
        </p:txBody>
      </p:sp>
      <p:cxnSp>
        <p:nvCxnSpPr>
          <p:cNvPr id="21" name="Connector 20"/>
          <p:cNvCxnSpPr/>
          <p:nvPr/>
        </p:nvCxnSpPr>
        <p:spPr>
          <a:xfrm>
            <a:off x="594360" y="523036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5349240"/>
            <a:ext cx="822960" cy="502920"/>
          </a:xfrm>
          <a:prstGeom prst="rect">
            <a:avLst/>
          </a:prstGeom>
          <a:noFill/>
        </p:spPr>
        <p:txBody>
          <a:bodyPr wrap="square" lIns="0" rIns="0" tIns="0" bIns="0" anchor="t">
            <a:spAutoFit/>
          </a:bodyPr>
          <a:lstStyle/>
          <a:p>
            <a:pPr algn="l"/>
            <a:r>
              <a:rPr sz="1400" b="1" i="0">
                <a:solidFill>
                  <a:srgbClr val="E8772E"/>
                </a:solidFill>
                <a:latin typeface="Courier New"/>
              </a:rPr>
              <a:t>R07</a:t>
            </a:r>
          </a:p>
        </p:txBody>
      </p:sp>
      <p:sp>
        <p:nvSpPr>
          <p:cNvPr id="23" name="TextBox 22"/>
          <p:cNvSpPr txBox="1"/>
          <p:nvPr/>
        </p:nvSpPr>
        <p:spPr>
          <a:xfrm>
            <a:off x="1508760" y="5349240"/>
            <a:ext cx="10088575" cy="502920"/>
          </a:xfrm>
          <a:prstGeom prst="rect">
            <a:avLst/>
          </a:prstGeom>
          <a:noFill/>
        </p:spPr>
        <p:txBody>
          <a:bodyPr wrap="square" lIns="0" rIns="0" tIns="0" bIns="0" anchor="t">
            <a:spAutoFit/>
          </a:bodyPr>
          <a:lstStyle/>
          <a:p>
            <a:pPr algn="l"/>
            <a:r>
              <a:rPr sz="1300" b="0" i="0">
                <a:solidFill>
                  <a:srgbClr val="14324A"/>
                </a:solidFill>
                <a:latin typeface="Calibri"/>
              </a:rPr>
              <a:t>Served text language model m9j-74af7cef0a85 readings of the staged transcripts: jobs m9j-2d43ed6cf567, m9j-8cf6702f8718 (2,245 transcripts read, 3939 present)</a:t>
            </a:r>
          </a:p>
        </p:txBody>
      </p:sp>
      <p:cxnSp>
        <p:nvCxnSpPr>
          <p:cNvPr id="24" name="Connector 23"/>
          <p:cNvCxnSpPr/>
          <p:nvPr/>
        </p:nvCxnSpPr>
        <p:spPr>
          <a:xfrm>
            <a:off x="594360" y="5870448"/>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 y="5989320"/>
            <a:ext cx="822960" cy="905256"/>
          </a:xfrm>
          <a:prstGeom prst="rect">
            <a:avLst/>
          </a:prstGeom>
          <a:noFill/>
        </p:spPr>
        <p:txBody>
          <a:bodyPr wrap="square" lIns="0" rIns="0" tIns="0" bIns="0" anchor="t">
            <a:spAutoFit/>
          </a:bodyPr>
          <a:lstStyle/>
          <a:p>
            <a:pPr algn="l"/>
            <a:r>
              <a:rPr sz="1400" b="1" i="0">
                <a:solidFill>
                  <a:srgbClr val="E8772E"/>
                </a:solidFill>
                <a:latin typeface="Courier New"/>
              </a:rPr>
              <a:t>R08</a:t>
            </a:r>
          </a:p>
        </p:txBody>
      </p:sp>
      <p:sp>
        <p:nvSpPr>
          <p:cNvPr id="26" name="TextBox 25"/>
          <p:cNvSpPr txBox="1"/>
          <p:nvPr/>
        </p:nvSpPr>
        <p:spPr>
          <a:xfrm>
            <a:off x="1508760" y="5989320"/>
            <a:ext cx="10088575" cy="905256"/>
          </a:xfrm>
          <a:prstGeom prst="rect">
            <a:avLst/>
          </a:prstGeom>
          <a:noFill/>
        </p:spPr>
        <p:txBody>
          <a:bodyPr wrap="square" lIns="0" rIns="0" tIns="0" bIns="0" anchor="t">
            <a:spAutoFit/>
          </a:bodyPr>
          <a:lstStyle/>
          <a:p>
            <a:pPr algn="l"/>
            <a:r>
              <a:rPr sz="1300" b="0" i="0">
                <a:solidFill>
                  <a:srgbClr val="14324A"/>
                </a:solidFill>
                <a:latin typeface="Calibri"/>
              </a:rPr>
              <a:t>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cxnSp>
        <p:nvCxnSpPr>
          <p:cNvPr id="27" name="Connector 26"/>
          <p:cNvCxnSpPr/>
          <p:nvPr/>
        </p:nvCxnSpPr>
        <p:spPr>
          <a:xfrm>
            <a:off x="594360" y="6912864"/>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4360" y="7031736"/>
            <a:ext cx="822960" cy="905256"/>
          </a:xfrm>
          <a:prstGeom prst="rect">
            <a:avLst/>
          </a:prstGeom>
          <a:noFill/>
        </p:spPr>
        <p:txBody>
          <a:bodyPr wrap="square" lIns="0" rIns="0" tIns="0" bIns="0" anchor="t">
            <a:spAutoFit/>
          </a:bodyPr>
          <a:lstStyle/>
          <a:p>
            <a:pPr algn="l"/>
            <a:r>
              <a:rPr sz="1400" b="1" i="0">
                <a:solidFill>
                  <a:srgbClr val="E8772E"/>
                </a:solidFill>
                <a:latin typeface="Courier New"/>
              </a:rPr>
              <a:t>R09</a:t>
            </a:r>
          </a:p>
        </p:txBody>
      </p:sp>
      <p:sp>
        <p:nvSpPr>
          <p:cNvPr id="29" name="TextBox 28"/>
          <p:cNvSpPr txBox="1"/>
          <p:nvPr/>
        </p:nvSpPr>
        <p:spPr>
          <a:xfrm>
            <a:off x="1508760" y="7031736"/>
            <a:ext cx="10088575" cy="905256"/>
          </a:xfrm>
          <a:prstGeom prst="rect">
            <a:avLst/>
          </a:prstGeom>
          <a:noFill/>
        </p:spPr>
        <p:txBody>
          <a:bodyPr wrap="square" lIns="0" rIns="0" tIns="0" bIns="0" anchor="t">
            <a:spAutoFit/>
          </a:bodyPr>
          <a:lstStyle/>
          <a:p>
            <a:pPr algn="l"/>
            <a:r>
              <a:rPr sz="1300" b="0" i="0">
                <a:solidFill>
                  <a:srgbClr val="14324A"/>
                </a:solidFill>
                <a:latin typeface="Calibri"/>
              </a:rPr>
              <a:t>Model role assignments evaluated 2026-10-02: integration model catalogue plus published task benchmarks reviewed on the day; planner/reviewer families kept distinct so the review does not share the planner's blind spots. Not claimed: no independent head-to-head benchmark was run on owner data; assignments are disclosed configuration, re-evaluated when a role under-performs on its own gate</a:t>
            </a:r>
          </a:p>
        </p:txBody>
      </p:sp>
      <p:cxnSp>
        <p:nvCxnSpPr>
          <p:cNvPr id="30" name="Connector 29"/>
          <p:cNvCxnSpPr/>
          <p:nvPr/>
        </p:nvCxnSpPr>
        <p:spPr>
          <a:xfrm>
            <a:off x="594360" y="7955279"/>
            <a:ext cx="11002975" cy="0"/>
          </a:xfrm>
          <a:prstGeom prst="line">
            <a:avLst/>
          </a:prstGeom>
          <a:ln w="9525">
            <a:solidFill>
              <a:srgbClr val="D3DCE4"/>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0879A"/>
                </a:solidFill>
                <a:latin typeface="Calibri"/>
              </a:rPr>
              <a:t>EI-eij-1b359b3cbd2e</a:t>
            </a:r>
          </a:p>
        </p:txBody>
      </p:sp>
      <p:sp>
        <p:nvSpPr>
          <p:cNvPr id="32" name="TextBox 31"/>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0879A"/>
                </a:solidFill>
                <a:latin typeface="Calibri"/>
              </a:rPr>
              <a:t>Tenant confidential</a:t>
            </a:r>
          </a:p>
        </p:txBody>
      </p:sp>
      <p:sp>
        <p:nvSpPr>
          <p:cNvPr id="33" name="TextBox 32"/>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0879A"/>
                </a:solidFill>
                <a:latin typeface="Courier New"/>
              </a:rPr>
              <a:t>54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Estate-wide intelligence: cut, fix and prepare first</dc:title>
  <dc:subject/>
  <dc:creator>doc-studio</dc:creator>
  <cp:keywords/>
  <dc:description>generated using python-pptx</dc:description>
  <cp:lastModifiedBy>doc-studio</cp:lastModifiedBy>
  <cp:revision>1</cp:revision>
  <dcterms:created xsi:type="dcterms:W3CDTF">2026-10-02T07:26:31Z</dcterms:created>
  <dcterms:modified xsi:type="dcterms:W3CDTF">2026-10-02T07:26:31Z</dcterms:modified>
  <cp:category/>
</cp:coreProperties>
</file>