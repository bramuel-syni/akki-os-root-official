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TiB</c:v>
                </c:pt>
              </c:strCache>
            </c:strRef>
          </c:tx>
          <c:spPr>
            <a:solidFill>
              <a:srgbClr val="E8772E"/>
            </a:solidFill>
          </c:spPr>
          <c:cat>
            <c:strRef>
              <c:f>Sheet1!$A$2:$A$4</c:f>
              <c:strCache>
                <c:ptCount val="3"/>
                <c:pt idx="0">
                  <c:v>Databases</c:v>
                </c:pt>
                <c:pt idx="1">
                  <c:v>Object store (OBS)</c:v>
                </c:pt>
                <c:pt idx="2">
                  <c:v>File shares (NAS)</c:v>
                </c:pt>
              </c:strCache>
            </c:strRef>
          </c:cat>
          <c:val>
            <c:numRef>
              <c:f>Sheet1!$B$2:$B$4</c:f>
              <c:numCache>
                <c:formatCode>General</c:formatCode>
                <c:ptCount val="3"/>
                <c:pt idx="0">
                  <c:v>0.34</c:v>
                </c:pt>
                <c:pt idx="1">
                  <c:v>130.32</c:v>
                </c:pt>
                <c:pt idx="2">
                  <c:v>43.65</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TiB</c:v>
                </c:pt>
              </c:strCache>
            </c:strRef>
          </c:tx>
          <c:spPr>
            <a:solidFill>
              <a:srgbClr val="E8772E"/>
            </a:solidFill>
          </c:spPr>
          <c:cat>
            <c:strRef>
              <c:f>Sheet1!$A$2:$A$9</c:f>
              <c:strCache>
                <c:ptCount val="8"/>
                <c:pt idx="0">
                  <c:v>2024offairrecs</c:v>
                </c:pt>
                <c:pt idx="1">
                  <c:v>music-bucket-rms (cold)</c:v>
                </c:pt>
                <c:pt idx="2">
                  <c:v>na7p43do (cold)</c:v>
                </c:pt>
                <c:pt idx="3">
                  <c:v>na7p43js (cold)</c:v>
                </c:pt>
                <c:pt idx="4">
                  <c:v>na7p434j (cold)</c:v>
                </c:pt>
                <c:pt idx="5">
                  <c:v>na7p41hj (cold)</c:v>
                </c:pt>
                <c:pt idx="6">
                  <c:v>na7p42xe (cold)</c:v>
                </c:pt>
                <c:pt idx="7">
                  <c:v>na7p42xw (cold)</c:v>
                </c:pt>
              </c:strCache>
            </c:strRef>
          </c:cat>
          <c:val>
            <c:numRef>
              <c:f>Sheet1!$B$2:$B$9</c:f>
              <c:numCache>
                <c:formatCode>General</c:formatCode>
                <c:ptCount val="8"/>
                <c:pt idx="0">
                  <c:v>86.3</c:v>
                </c:pt>
                <c:pt idx="1">
                  <c:v>4.93</c:v>
                </c:pt>
                <c:pt idx="2">
                  <c:v>4.1</c:v>
                </c:pt>
                <c:pt idx="3">
                  <c:v>3.57</c:v>
                </c:pt>
                <c:pt idx="4">
                  <c:v>3.5</c:v>
                </c:pt>
                <c:pt idx="5">
                  <c:v>3.48</c:v>
                </c:pt>
                <c:pt idx="6">
                  <c:v>3.44</c:v>
                </c:pt>
                <c:pt idx="7">
                  <c:v>3.4</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GiB</c:v>
                </c:pt>
              </c:strCache>
            </c:strRef>
          </c:tx>
          <c:spPr>
            <a:solidFill>
              <a:srgbClr val="E8772E"/>
            </a:solidFill>
          </c:spPr>
          <c:cat>
            <c:strRef>
              <c:f>Sheet1!$A$2:$A$8</c:f>
              <c:strCache>
                <c:ptCount val="7"/>
                <c:pt idx="0">
                  <c:v>Move buckets not written for over a year</c:v>
                </c:pt>
                <c:pt idx="1">
                  <c:v>Reconcile duplicate objects across OBS b</c:v>
                </c:pt>
                <c:pt idx="2">
                  <c:v>Move tables not written for over a year </c:v>
                </c:pt>
                <c:pt idx="3">
                  <c:v>Remove redundant (prefix-covered) indexe</c:v>
                </c:pt>
                <c:pt idx="4">
                  <c:v>De-duplicate exact repeated rows inside </c:v>
                </c:pt>
                <c:pt idx="5">
                  <c:v>Consolidate duplicate and staging copies</c:v>
                </c:pt>
                <c:pt idx="6">
                  <c:v>Drop or archive empty tables</c:v>
                </c:pt>
              </c:strCache>
            </c:strRef>
          </c:cat>
          <c:val>
            <c:numRef>
              <c:f>Sheet1!$B$2:$B$8</c:f>
              <c:numCache>
                <c:formatCode>General</c:formatCode>
                <c:ptCount val="7"/>
                <c:pt idx="0">
                  <c:v>42891.0</c:v>
                </c:pt>
                <c:pt idx="1">
                  <c:v>7839.5</c:v>
                </c:pt>
                <c:pt idx="2">
                  <c:v>54.1</c:v>
                </c:pt>
                <c:pt idx="3">
                  <c:v>14.0</c:v>
                </c:pt>
                <c:pt idx="4">
                  <c:v>1.2</c:v>
                </c:pt>
                <c:pt idx="5">
                  <c:v>0.1</c:v>
                </c:pt>
                <c:pt idx="6">
                  <c:v>0.0</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Share</c:v>
                </c:pt>
              </c:strCache>
            </c:strRef>
          </c:tx>
          <c:spPr>
            <a:solidFill>
              <a:srgbClr val="E8772E"/>
            </a:solidFill>
          </c:spPr>
          <c:cat>
            <c:strRef>
              <c:f>Sheet1!$A$2:$A$6</c:f>
              <c:strCache>
                <c:ptCount val="5"/>
                <c:pt idx="0">
                  <c:v>Exact duplicates</c:v>
                </c:pt>
                <c:pt idx="1">
                  <c:v>Degraded</c:v>
                </c:pt>
                <c:pt idx="2">
                  <c:v>Empty required fields</c:v>
                </c:pt>
                <c:pt idx="3">
                  <c:v>PII markers (sampled)</c:v>
                </c:pt>
                <c:pt idx="4">
                  <c:v>Stale bytes</c:v>
                </c:pt>
              </c:strCache>
            </c:strRef>
          </c:cat>
          <c:val>
            <c:numRef>
              <c:f>Sheet1!$B$2:$B$6</c:f>
              <c:numCache>
                <c:formatCode>General</c:formatCode>
                <c:ptCount val="5"/>
                <c:pt idx="0">
                  <c:v>0.015</c:v>
                </c:pt>
                <c:pt idx="1">
                  <c:v>0.23</c:v>
                </c:pt>
                <c:pt idx="2">
                  <c:v>0.817</c:v>
                </c:pt>
                <c:pt idx="3">
                  <c:v>0.718</c:v>
                </c:pt>
                <c:pt idx="4">
                  <c:v>0.154</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GiB</c:v>
                </c:pt>
              </c:strCache>
            </c:strRef>
          </c:tx>
          <c:spPr>
            <a:solidFill>
              <a:srgbClr val="E8772E"/>
            </a:solidFill>
          </c:spPr>
          <c:cat>
            <c:strRef>
              <c:f>Sheet1!$A$2:$A$9</c:f>
              <c:strCache>
                <c:ptCount val="8"/>
                <c:pt idx="0">
                  <c:v>viusasa_staging (D)</c:v>
                </c:pt>
                <c:pt idx="1">
                  <c:v>razuna (D)</c:v>
                </c:pt>
                <c:pt idx="2">
                  <c:v>db_visitors (D)</c:v>
                </c:pt>
                <c:pt idx="3">
                  <c:v>kra_reports (D)</c:v>
                </c:pt>
                <c:pt idx="4">
                  <c:v>viupay_agent_staging (A)</c:v>
                </c:pt>
                <c:pt idx="5">
                  <c:v>news_vault (C)</c:v>
                </c:pt>
                <c:pt idx="6">
                  <c:v>local (D)</c:v>
                </c:pt>
                <c:pt idx="7">
                  <c:v>viutickets (B)</c:v>
                </c:pt>
              </c:strCache>
            </c:strRef>
          </c:cat>
          <c:val>
            <c:numRef>
              <c:f>Sheet1!$B$2:$B$9</c:f>
              <c:numCache>
                <c:formatCode>General</c:formatCode>
                <c:ptCount val="8"/>
                <c:pt idx="0">
                  <c:v>338.5</c:v>
                </c:pt>
                <c:pt idx="1">
                  <c:v>4.5</c:v>
                </c:pt>
                <c:pt idx="2">
                  <c:v>2.7</c:v>
                </c:pt>
                <c:pt idx="3">
                  <c:v>1.5</c:v>
                </c:pt>
                <c:pt idx="4">
                  <c:v>1.2</c:v>
                </c:pt>
                <c:pt idx="5">
                  <c:v>0.9</c:v>
                </c:pt>
                <c:pt idx="6">
                  <c:v>0.5</c:v>
                </c:pt>
                <c:pt idx="7">
                  <c:v>0.4</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Hours</c:v>
                </c:pt>
              </c:strCache>
            </c:strRef>
          </c:tx>
          <c:spPr>
            <a:solidFill>
              <a:srgbClr val="E8772E"/>
            </a:solidFill>
          </c:spPr>
          <c:cat>
            <c:strRef>
              <c:f>Sheet1!$A$2:$A$9</c:f>
              <c:strCache>
                <c:ptCount val="8"/>
                <c:pt idx="0">
                  <c:v>Ekegusii (Kisii)</c:v>
                </c:pt>
                <c:pt idx="1">
                  <c:v>Kalenjin</c:v>
                </c:pt>
                <c:pt idx="2">
                  <c:v>Kiswahili</c:v>
                </c:pt>
                <c:pt idx="3">
                  <c:v>Kikamba (Kamba)</c:v>
                </c:pt>
                <c:pt idx="4">
                  <c:v>Gikuyu (Kikuyu)</c:v>
                </c:pt>
                <c:pt idx="5">
                  <c:v>Dholuo (Luo)</c:v>
                </c:pt>
                <c:pt idx="6">
                  <c:v>Wanga (Luhya)</c:v>
                </c:pt>
                <c:pt idx="7">
                  <c:v>Bukusu (Luhya)</c:v>
                </c:pt>
              </c:strCache>
            </c:strRef>
          </c:cat>
          <c:val>
            <c:numRef>
              <c:f>Sheet1!$B$2:$B$9</c:f>
              <c:numCache>
                <c:formatCode>General</c:formatCode>
                <c:ptCount val="8"/>
                <c:pt idx="0">
                  <c:v>76.7</c:v>
                </c:pt>
                <c:pt idx="1">
                  <c:v>73.2</c:v>
                </c:pt>
                <c:pt idx="2">
                  <c:v>78.5</c:v>
                </c:pt>
                <c:pt idx="3">
                  <c:v>67.8</c:v>
                </c:pt>
                <c:pt idx="4">
                  <c:v>65.9</c:v>
                </c:pt>
                <c:pt idx="5">
                  <c:v>51.7</c:v>
                </c:pt>
                <c:pt idx="6">
                  <c:v>6.8</c:v>
                </c:pt>
                <c:pt idx="7">
                  <c:v>0.7</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Share</c:v>
                </c:pt>
              </c:strCache>
            </c:strRef>
          </c:tx>
          <c:spPr>
            <a:solidFill>
              <a:srgbClr val="E8772E"/>
            </a:solidFill>
          </c:spPr>
          <c:cat>
            <c:strRef>
              <c:f>Sheet1!$A$2:$A$9</c:f>
              <c:strCache>
                <c:ptCount val="8"/>
                <c:pt idx="0">
                  <c:v>Ekegusii (Kisii)</c:v>
                </c:pt>
                <c:pt idx="1">
                  <c:v>Kalenjin</c:v>
                </c:pt>
                <c:pt idx="2">
                  <c:v>Kiswahili</c:v>
                </c:pt>
                <c:pt idx="3">
                  <c:v>Kikamba (Kamba)</c:v>
                </c:pt>
                <c:pt idx="4">
                  <c:v>Gikuyu (Kikuyu)</c:v>
                </c:pt>
                <c:pt idx="5">
                  <c:v>Dholuo (Luo)</c:v>
                </c:pt>
                <c:pt idx="6">
                  <c:v>Wanga (Luhya)</c:v>
                </c:pt>
                <c:pt idx="7">
                  <c:v>Bukusu (Luhya)</c:v>
                </c:pt>
              </c:strCache>
            </c:strRef>
          </c:cat>
          <c:val>
            <c:numRef>
              <c:f>Sheet1!$B$2:$B$9</c:f>
              <c:numCache>
                <c:formatCode>General</c:formatCode>
                <c:ptCount val="8"/>
                <c:pt idx="0">
                  <c:v>0.8609</c:v>
                </c:pt>
                <c:pt idx="1">
                  <c:v>0.8991</c:v>
                </c:pt>
                <c:pt idx="2">
                  <c:v>0.7869</c:v>
                </c:pt>
                <c:pt idx="3">
                  <c:v>0.7092</c:v>
                </c:pt>
                <c:pt idx="4">
                  <c:v>0.7981</c:v>
                </c:pt>
                <c:pt idx="5">
                  <c:v>0.8949</c:v>
                </c:pt>
                <c:pt idx="6">
                  <c:v>0.8867</c:v>
                </c:pt>
                <c:pt idx="7">
                  <c:v>0</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Scripts</c:v>
                </c:pt>
              </c:strCache>
            </c:strRef>
          </c:tx>
          <c:spPr>
            <a:solidFill>
              <a:srgbClr val="E8772E"/>
            </a:solidFill>
          </c:spPr>
          <c:cat>
            <c:strRef>
              <c:f>Sheet1!$A$2:$A$14</c:f>
              <c:strCache>
                <c:ptCount val="13"/>
                <c:pt idx="0">
                  <c:v>Muuga FM · Meru</c:v>
                </c:pt>
                <c:pt idx="1">
                  <c:v>Radio Citizen · Kiswahili</c:v>
                </c:pt>
                <c:pt idx="2">
                  <c:v>Chamgei · Kalenjin</c:v>
                </c:pt>
                <c:pt idx="3">
                  <c:v>Mulembe FM · Luhya</c:v>
                </c:pt>
                <c:pt idx="4">
                  <c:v>Wimwaro FM · Embu</c:v>
                </c:pt>
                <c:pt idx="5">
                  <c:v>Hot 96 · English</c:v>
                </c:pt>
                <c:pt idx="6">
                  <c:v>Egesa · Kisii</c:v>
                </c:pt>
                <c:pt idx="7">
                  <c:v>Musyi FM · Akamba</c:v>
                </c:pt>
                <c:pt idx="8">
                  <c:v>Sulwe FM · Bukusu</c:v>
                </c:pt>
                <c:pt idx="9">
                  <c:v>Bahari FM · Kiswahili</c:v>
                </c:pt>
                <c:pt idx="10">
                  <c:v>Inooro FM · Kikuyu</c:v>
                </c:pt>
                <c:pt idx="11">
                  <c:v>Vuuka · Maragoli</c:v>
                </c:pt>
                <c:pt idx="12">
                  <c:v>Ramogi FM · Luo</c:v>
                </c:pt>
              </c:strCache>
            </c:strRef>
          </c:cat>
          <c:val>
            <c:numRef>
              <c:f>Sheet1!$B$2:$B$14</c:f>
              <c:numCache>
                <c:formatCode>General</c:formatCode>
                <c:ptCount val="13"/>
                <c:pt idx="0">
                  <c:v>27467</c:v>
                </c:pt>
                <c:pt idx="1">
                  <c:v>27240</c:v>
                </c:pt>
                <c:pt idx="2">
                  <c:v>26787</c:v>
                </c:pt>
                <c:pt idx="3">
                  <c:v>22191</c:v>
                </c:pt>
                <c:pt idx="4">
                  <c:v>19664</c:v>
                </c:pt>
                <c:pt idx="5">
                  <c:v>18136</c:v>
                </c:pt>
                <c:pt idx="6">
                  <c:v>17606</c:v>
                </c:pt>
                <c:pt idx="7">
                  <c:v>17581</c:v>
                </c:pt>
                <c:pt idx="8">
                  <c:v>16749</c:v>
                </c:pt>
                <c:pt idx="9">
                  <c:v>16177</c:v>
                </c:pt>
                <c:pt idx="10">
                  <c:v>15376</c:v>
                </c:pt>
                <c:pt idx="11">
                  <c:v>15336</c:v>
                </c:pt>
                <c:pt idx="12">
                  <c:v>8013</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Hours</c:v>
                </c:pt>
              </c:strCache>
            </c:strRef>
          </c:tx>
          <c:spPr>
            <a:solidFill>
              <a:srgbClr val="E8772E"/>
            </a:solidFill>
          </c:spPr>
          <c:cat>
            <c:strRef>
              <c:f>Sheet1!$A$2:$A$14</c:f>
              <c:strCache>
                <c:ptCount val="13"/>
                <c:pt idx="0">
                  <c:v>Muuga FM</c:v>
                </c:pt>
                <c:pt idx="1">
                  <c:v>Radio Citizen</c:v>
                </c:pt>
                <c:pt idx="2">
                  <c:v>Chamgei</c:v>
                </c:pt>
                <c:pt idx="3">
                  <c:v>Mulembe FM</c:v>
                </c:pt>
                <c:pt idx="4">
                  <c:v>Wimwaro FM</c:v>
                </c:pt>
                <c:pt idx="5">
                  <c:v>Hot 96</c:v>
                </c:pt>
                <c:pt idx="6">
                  <c:v>Egesa</c:v>
                </c:pt>
                <c:pt idx="7">
                  <c:v>Musyi FM</c:v>
                </c:pt>
                <c:pt idx="8">
                  <c:v>Sulwe FM</c:v>
                </c:pt>
                <c:pt idx="9">
                  <c:v>Bahari FM</c:v>
                </c:pt>
                <c:pt idx="10">
                  <c:v>Inooro FM</c:v>
                </c:pt>
                <c:pt idx="11">
                  <c:v>Vuuka</c:v>
                </c:pt>
                <c:pt idx="12">
                  <c:v>Ramogi FM</c:v>
                </c:pt>
              </c:strCache>
            </c:strRef>
          </c:cat>
          <c:val>
            <c:numRef>
              <c:f>Sheet1!$B$2:$B$14</c:f>
              <c:numCache>
                <c:formatCode>General</c:formatCode>
                <c:ptCount val="13"/>
                <c:pt idx="0">
                  <c:v>17.98</c:v>
                </c:pt>
                <c:pt idx="1">
                  <c:v>18.18</c:v>
                </c:pt>
                <c:pt idx="2">
                  <c:v>18.75</c:v>
                </c:pt>
                <c:pt idx="3">
                  <c:v>15.0</c:v>
                </c:pt>
                <c:pt idx="4">
                  <c:v>15.76</c:v>
                </c:pt>
                <c:pt idx="5">
                  <c:v>15.08</c:v>
                </c:pt>
                <c:pt idx="6">
                  <c:v>11.3</c:v>
                </c:pt>
                <c:pt idx="7">
                  <c:v>17.69</c:v>
                </c:pt>
                <c:pt idx="8">
                  <c:v>11.95</c:v>
                </c:pt>
                <c:pt idx="9">
                  <c:v>16.8</c:v>
                </c:pt>
                <c:pt idx="10">
                  <c:v>15.03</c:v>
                </c:pt>
                <c:pt idx="11">
                  <c:v>14.51</c:v>
                </c:pt>
                <c:pt idx="12">
                  <c:v>6.98</c:v>
                </c:pt>
              </c:numCache>
            </c:numRef>
          </c:val>
        </c:ser>
        <c:dLbls>
          <c:numFmt formatCode="#,##0.0" sourceLinked="0"/>
          <c:txPr>
            <a:bodyPr/>
            <a:lstStyle/>
            <a:p>
              <a:pPr>
                <a:defRPr sz="1100">
                  <a:solidFill>
                    <a:srgbClr val="14324A"/>
                  </a:solidFill>
                  <a:latin typeface="Courier New"/>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3DCE4"/>
            </a:solidFill>
          </a:ln>
        </c:spPr>
        <c:crossAx val="-2113994440"/>
        <c:crosses val="autoZero"/>
        <c:auto val="1"/>
        <c:lblAlgn val="ctr"/>
        <c:lblOffset val="100"/>
        <c:noMultiLvlLbl val="0"/>
      </c:catAx>
      <c:valAx>
        <c:axId val="-2113994440"/>
        <c:scaling/>
        <c:delete val="0"/>
        <c:axPos val="l"/>
        <c:majorGridlines>
          <c:spPr>
            <a:ln>
              <a:solidFill>
                <a:srgbClr val="D3DCE4"/>
              </a:solidFill>
            </a:ln>
          </c:spPr>
        </c:majorGridlines>
        <c:numFmt formatCode="#,##0.0" sourceLinked="0"/>
        <c:majorTickMark val="out"/>
        <c:minorTickMark val="none"/>
        <c:tickLblPos val="nextTo"/>
        <c:spPr>
          <a:ln>
            <a:noFill/>
          </a:ln>
        </c:spPr>
        <c:txPr>
          <a:bodyPr/>
          <a:lstStyle/>
          <a:p>
            <a:pPr>
              <a:defRPr>
                <a:latin typeface="Courier New"/>
              </a:defRPr>
            </a:pPr>
          </a:p>
        </c:txPr>
        <c:crossAx val="-2068027336"/>
        <c:crosses val="autoZero"/>
      </c:valAx>
    </c:plotArea>
    <c:dispBlanksAs val="gap"/>
  </c:chart>
  <c:txPr>
    <a:bodyPr/>
    <a:lstStyle/>
    <a:p>
      <a:pPr>
        <a:defRPr sz="1100">
          <a:solidFill>
            <a:srgbClr val="70879A"/>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674620"/>
            <a:ext cx="7274052" cy="1508760"/>
          </a:xfrm>
          <a:prstGeom prst="rect">
            <a:avLst/>
          </a:prstGeom>
          <a:noFill/>
        </p:spPr>
        <p:txBody>
          <a:bodyPr wrap="square" lIns="0" rIns="0" tIns="0" bIns="0" anchor="b">
            <a:spAutoFit/>
          </a:bodyPr>
          <a:lstStyle/>
          <a:p>
            <a:pPr algn="l"/>
            <a:r>
              <a:rPr sz="4000" b="0" i="0">
                <a:solidFill>
                  <a:srgbClr val="14324A"/>
                </a:solidFill>
                <a:latin typeface="Cambria"/>
              </a:rPr>
              <a:t>RMS estate: what is held, what it costs, what to do first</a:t>
            </a:r>
          </a:p>
        </p:txBody>
      </p:sp>
      <p:sp>
        <p:nvSpPr>
          <p:cNvPr id="3" name="TextBox 2"/>
          <p:cNvSpPr txBox="1"/>
          <p:nvPr/>
        </p:nvSpPr>
        <p:spPr>
          <a:xfrm>
            <a:off x="594360" y="4183380"/>
            <a:ext cx="7274052" cy="754380"/>
          </a:xfrm>
          <a:prstGeom prst="rect">
            <a:avLst/>
          </a:prstGeom>
          <a:noFill/>
        </p:spPr>
        <p:txBody>
          <a:bodyPr wrap="square" lIns="0" rIns="0" tIns="0" bIns="0" anchor="t">
            <a:spAutoFit/>
          </a:bodyPr>
          <a:lstStyle/>
          <a:p>
            <a:pPr algn="l"/>
            <a:r>
              <a:rPr sz="1800" b="0" i="0">
                <a:solidFill>
                  <a:srgbClr val="70879A"/>
                </a:solidFill>
                <a:latin typeface="Calibri"/>
              </a:rPr>
              <a:t>Estate-wide census of databases, object store and file shares, with product priorities</a:t>
            </a:r>
          </a:p>
        </p:txBody>
      </p:sp>
      <p:sp>
        <p:nvSpPr>
          <p:cNvPr id="4" name="TextBox 3"/>
          <p:cNvSpPr txBox="1"/>
          <p:nvPr/>
        </p:nvSpPr>
        <p:spPr>
          <a:xfrm>
            <a:off x="594360" y="5314492"/>
            <a:ext cx="5409590" cy="376732"/>
          </a:xfrm>
          <a:prstGeom prst="rect">
            <a:avLst/>
          </a:prstGeom>
          <a:noFill/>
        </p:spPr>
        <p:txBody>
          <a:bodyPr wrap="square" lIns="0" rIns="0" tIns="0" bIns="0" anchor="t">
            <a:spAutoFit/>
          </a:bodyPr>
          <a:lstStyle/>
          <a:p>
            <a:pPr algn="l"/>
            <a:r>
              <a:rPr sz="1000" b="0" i="0">
                <a:solidFill>
                  <a:srgbClr val="70879A"/>
                </a:solidFill>
                <a:latin typeface="Calibri"/>
              </a:rPr>
              <a:t>RMS  ·  Tenant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EXECUTIVE SUMMARY</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Object storage holds most of the estate, so archive tiering is the first saving to test</a:t>
            </a:r>
          </a:p>
        </p:txBody>
      </p:sp>
      <p:sp>
        <p:nvSpPr>
          <p:cNvPr id="4" name="TextBox 3"/>
          <p:cNvSpPr txBox="1"/>
          <p:nvPr/>
        </p:nvSpPr>
        <p:spPr>
          <a:xfrm>
            <a:off x="594360" y="1920240"/>
            <a:ext cx="1463040" cy="805815"/>
          </a:xfrm>
          <a:prstGeom prst="rect">
            <a:avLst/>
          </a:prstGeom>
          <a:noFill/>
        </p:spPr>
        <p:txBody>
          <a:bodyPr wrap="square" lIns="0" rIns="0" tIns="0" bIns="0" anchor="t">
            <a:spAutoFit/>
          </a:bodyPr>
          <a:lstStyle/>
          <a:p>
            <a:pPr algn="l"/>
            <a:r>
              <a:rPr sz="1100" b="1" i="0">
                <a:solidFill>
                  <a:srgbClr val="70879A"/>
                </a:solidFill>
                <a:latin typeface="Calibri"/>
              </a:rPr>
              <a:t>SITUATION</a:t>
            </a:r>
          </a:p>
        </p:txBody>
      </p:sp>
      <p:sp>
        <p:nvSpPr>
          <p:cNvPr id="5" name="TextBox 4"/>
          <p:cNvSpPr txBox="1"/>
          <p:nvPr/>
        </p:nvSpPr>
        <p:spPr>
          <a:xfrm>
            <a:off x="2240280" y="1920240"/>
            <a:ext cx="9357055" cy="805815"/>
          </a:xfrm>
          <a:prstGeom prst="rect">
            <a:avLst/>
          </a:prstGeom>
          <a:noFill/>
        </p:spPr>
        <p:txBody>
          <a:bodyPr wrap="square" lIns="0" rIns="0" tIns="0" bIns="0" anchor="t">
            <a:spAutoFit/>
          </a:bodyPr>
          <a:lstStyle/>
          <a:p>
            <a:pPr algn="l"/>
            <a:r>
              <a:rPr sz="1400" b="0" i="0">
                <a:solidFill>
                  <a:srgbClr val="14324A"/>
                </a:solidFill>
                <a:latin typeface="Calibri"/>
              </a:rPr>
              <a:t>The census covers 20 databases, an object store, file shares, a staged audio corpus and written-word archives. The whole estate holds 174.3 TiB. Object storage is 74.8% of it and file shares are 25.0%. Databases are only 0.2%.</a:t>
            </a:r>
          </a:p>
        </p:txBody>
      </p:sp>
      <p:cxnSp>
        <p:nvCxnSpPr>
          <p:cNvPr id="6" name="Connector 5"/>
          <p:cNvCxnSpPr/>
          <p:nvPr/>
        </p:nvCxnSpPr>
        <p:spPr>
          <a:xfrm>
            <a:off x="594360" y="2790063"/>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1463040" cy="805815"/>
          </a:xfrm>
          <a:prstGeom prst="rect">
            <a:avLst/>
          </a:prstGeom>
          <a:noFill/>
        </p:spPr>
        <p:txBody>
          <a:bodyPr wrap="square" lIns="0" rIns="0" tIns="0" bIns="0" anchor="t">
            <a:spAutoFit/>
          </a:bodyPr>
          <a:lstStyle/>
          <a:p>
            <a:pPr algn="l"/>
            <a:r>
              <a:rPr sz="1100" b="1" i="0">
                <a:solidFill>
                  <a:srgbClr val="70879A"/>
                </a:solidFill>
                <a:latin typeface="Calibri"/>
              </a:rPr>
              <a:t>COMPLICATION</a:t>
            </a:r>
          </a:p>
        </p:txBody>
      </p:sp>
      <p:sp>
        <p:nvSpPr>
          <p:cNvPr id="8" name="TextBox 7"/>
          <p:cNvSpPr txBox="1"/>
          <p:nvPr/>
        </p:nvSpPr>
        <p:spPr>
          <a:xfrm>
            <a:off x="2240280" y="2863215"/>
            <a:ext cx="9357055" cy="805815"/>
          </a:xfrm>
          <a:prstGeom prst="rect">
            <a:avLst/>
          </a:prstGeom>
          <a:noFill/>
        </p:spPr>
        <p:txBody>
          <a:bodyPr wrap="square" lIns="0" rIns="0" tIns="0" bIns="0" anchor="t">
            <a:spAutoFit/>
          </a:bodyPr>
          <a:lstStyle/>
          <a:p>
            <a:pPr algn="l"/>
            <a:r>
              <a:rPr sz="1400" b="0" i="0">
                <a:solidFill>
                  <a:srgbClr val="14324A"/>
                </a:solidFill>
                <a:latin typeface="Calibri"/>
              </a:rPr>
              <a:t>41.9 TiB of the object store has not been written for over a year, and 7.7 TiB are duplicate candidates. The saving is priced at no more than 1,174.4 USD a month at reference list prices, which is not the owner's invoice. 40 of 106 buckets could not be read, and database condition is uneven.</a:t>
            </a:r>
          </a:p>
        </p:txBody>
      </p:sp>
      <p:cxnSp>
        <p:nvCxnSpPr>
          <p:cNvPr id="9" name="Connector 8"/>
          <p:cNvCxnSpPr/>
          <p:nvPr/>
        </p:nvCxnSpPr>
        <p:spPr>
          <a:xfrm>
            <a:off x="594360" y="37330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1463040" cy="805815"/>
          </a:xfrm>
          <a:prstGeom prst="rect">
            <a:avLst/>
          </a:prstGeom>
          <a:noFill/>
        </p:spPr>
        <p:txBody>
          <a:bodyPr wrap="square" lIns="0" rIns="0" tIns="0" bIns="0" anchor="t">
            <a:spAutoFit/>
          </a:bodyPr>
          <a:lstStyle/>
          <a:p>
            <a:pPr algn="l"/>
            <a:r>
              <a:rPr sz="1100" b="1" i="0">
                <a:solidFill>
                  <a:srgbClr val="70879A"/>
                </a:solidFill>
                <a:latin typeface="Calibri"/>
              </a:rPr>
              <a:t>QUESTION</a:t>
            </a:r>
          </a:p>
        </p:txBody>
      </p:sp>
      <p:sp>
        <p:nvSpPr>
          <p:cNvPr id="11" name="TextBox 10"/>
          <p:cNvSpPr txBox="1"/>
          <p:nvPr/>
        </p:nvSpPr>
        <p:spPr>
          <a:xfrm>
            <a:off x="2240280" y="3806189"/>
            <a:ext cx="9357055" cy="805815"/>
          </a:xfrm>
          <a:prstGeom prst="rect">
            <a:avLst/>
          </a:prstGeom>
          <a:noFill/>
        </p:spPr>
        <p:txBody>
          <a:bodyPr wrap="square" lIns="0" rIns="0" tIns="0" bIns="0" anchor="t">
            <a:spAutoFit/>
          </a:bodyPr>
          <a:lstStyle/>
          <a:p>
            <a:pPr algn="l"/>
            <a:r>
              <a:rPr sz="1400" b="0" i="0">
                <a:solidFill>
                  <a:srgbClr val="14324A"/>
                </a:solidFill>
                <a:latin typeface="Calibri"/>
              </a:rPr>
              <a:t>What should the owner do first, given how certain each saving and each product preparation step is?</a:t>
            </a:r>
          </a:p>
        </p:txBody>
      </p:sp>
      <p:cxnSp>
        <p:nvCxnSpPr>
          <p:cNvPr id="12" name="Connector 11"/>
          <p:cNvCxnSpPr/>
          <p:nvPr/>
        </p:nvCxnSpPr>
        <p:spPr>
          <a:xfrm>
            <a:off x="594360" y="4676013"/>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1463040" cy="805815"/>
          </a:xfrm>
          <a:prstGeom prst="rect">
            <a:avLst/>
          </a:prstGeom>
          <a:noFill/>
        </p:spPr>
        <p:txBody>
          <a:bodyPr wrap="square" lIns="0" rIns="0" tIns="0" bIns="0" anchor="t">
            <a:spAutoFit/>
          </a:bodyPr>
          <a:lstStyle/>
          <a:p>
            <a:pPr algn="l"/>
            <a:r>
              <a:rPr sz="1100" b="1" i="0">
                <a:solidFill>
                  <a:srgbClr val="E8772E"/>
                </a:solidFill>
                <a:latin typeface="Calibri"/>
              </a:rPr>
              <a:t>ANSWER</a:t>
            </a:r>
          </a:p>
        </p:txBody>
      </p:sp>
      <p:sp>
        <p:nvSpPr>
          <p:cNvPr id="14" name="TextBox 13"/>
          <p:cNvSpPr txBox="1"/>
          <p:nvPr/>
        </p:nvSpPr>
        <p:spPr>
          <a:xfrm>
            <a:off x="2240280" y="4749165"/>
            <a:ext cx="9357055" cy="805815"/>
          </a:xfrm>
          <a:prstGeom prst="rect">
            <a:avLst/>
          </a:prstGeom>
          <a:noFill/>
        </p:spPr>
        <p:txBody>
          <a:bodyPr wrap="square" lIns="0" rIns="0" tIns="0" bIns="0" anchor="t">
            <a:spAutoFit/>
          </a:bodyPr>
          <a:lstStyle/>
          <a:p>
            <a:pPr algn="l"/>
            <a:r>
              <a:rPr sz="1400" b="0" i="0">
                <a:solidFill>
                  <a:srgbClr val="14324A"/>
                </a:solidFill>
                <a:latin typeface="Calibri"/>
              </a:rPr>
              <a:t>Validate before moving anything. Check read patterns and retrieval fees on the write-inactive buckets, confirm duplicates by content hash, and reconcile the unreadable buckets. In parallel, prepare one bounded product from the shortlist. Rights are settled, so product preparation means de-identification or aggregation, not rights clearance.</a:t>
            </a:r>
          </a:p>
        </p:txBody>
      </p:sp>
      <p:sp>
        <p:nvSpPr>
          <p:cNvPr id="15" name="TextBox 14"/>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6" name="TextBox 15"/>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7" name="TextBox 16"/>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PLAIN ENGLISH</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What the terms in this pack mean</a:t>
            </a:r>
          </a:p>
        </p:txBody>
      </p:sp>
      <p:sp>
        <p:nvSpPr>
          <p:cNvPr id="4" name="TextBox 3"/>
          <p:cNvSpPr txBox="1"/>
          <p:nvPr/>
        </p:nvSpPr>
        <p:spPr>
          <a:xfrm>
            <a:off x="594360" y="1975104"/>
            <a:ext cx="2377440" cy="537210"/>
          </a:xfrm>
          <a:prstGeom prst="rect">
            <a:avLst/>
          </a:prstGeom>
          <a:noFill/>
        </p:spPr>
        <p:txBody>
          <a:bodyPr wrap="square" lIns="0" rIns="0" tIns="0" bIns="0" anchor="t">
            <a:spAutoFit/>
          </a:bodyPr>
          <a:lstStyle/>
          <a:p>
            <a:pPr algn="l"/>
            <a:r>
              <a:rPr sz="1400" b="1" i="0">
                <a:solidFill>
                  <a:srgbClr val="E8772E"/>
                </a:solidFill>
                <a:latin typeface="Calibri"/>
              </a:rPr>
              <a:t>Reclaimable</a:t>
            </a:r>
          </a:p>
        </p:txBody>
      </p:sp>
      <p:sp>
        <p:nvSpPr>
          <p:cNvPr id="5" name="TextBox 4"/>
          <p:cNvSpPr txBox="1"/>
          <p:nvPr/>
        </p:nvSpPr>
        <p:spPr>
          <a:xfrm>
            <a:off x="3154680" y="1975104"/>
            <a:ext cx="8442655" cy="537210"/>
          </a:xfrm>
          <a:prstGeom prst="rect">
            <a:avLst/>
          </a:prstGeom>
          <a:noFill/>
        </p:spPr>
        <p:txBody>
          <a:bodyPr wrap="square" lIns="0" rIns="0" tIns="0" bIns="0" anchor="t">
            <a:spAutoFit/>
          </a:bodyPr>
          <a:lstStyle/>
          <a:p>
            <a:pPr algn="l"/>
            <a:r>
              <a:rPr sz="1300" b="0" i="0">
                <a:solidFill>
                  <a:srgbClr val="14324A"/>
                </a:solidFill>
                <a:latin typeface="Calibri"/>
              </a:rPr>
              <a:t>Space that could be removed or stored more cheaply once the check named beside it has been done. It is not space already freed, and it is not a guaranteed saving — the monthly figures are upper bounds at list prices.</a:t>
            </a:r>
          </a:p>
        </p:txBody>
      </p:sp>
      <p:cxnSp>
        <p:nvCxnSpPr>
          <p:cNvPr id="6" name="Connector 5"/>
          <p:cNvCxnSpPr/>
          <p:nvPr/>
        </p:nvCxnSpPr>
        <p:spPr>
          <a:xfrm>
            <a:off x="594360" y="247573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603754"/>
            <a:ext cx="2377440" cy="537210"/>
          </a:xfrm>
          <a:prstGeom prst="rect">
            <a:avLst/>
          </a:prstGeom>
          <a:noFill/>
        </p:spPr>
        <p:txBody>
          <a:bodyPr wrap="square" lIns="0" rIns="0" tIns="0" bIns="0" anchor="t">
            <a:spAutoFit/>
          </a:bodyPr>
          <a:lstStyle/>
          <a:p>
            <a:pPr algn="l"/>
            <a:r>
              <a:rPr sz="1400" b="1" i="0">
                <a:solidFill>
                  <a:srgbClr val="E8772E"/>
                </a:solidFill>
                <a:latin typeface="Calibri"/>
              </a:rPr>
              <a:t>Cold (not written for over a year)</a:t>
            </a:r>
          </a:p>
        </p:txBody>
      </p:sp>
      <p:sp>
        <p:nvSpPr>
          <p:cNvPr id="8" name="TextBox 7"/>
          <p:cNvSpPr txBox="1"/>
          <p:nvPr/>
        </p:nvSpPr>
        <p:spPr>
          <a:xfrm>
            <a:off x="3154680" y="2603754"/>
            <a:ext cx="8442655" cy="537210"/>
          </a:xfrm>
          <a:prstGeom prst="rect">
            <a:avLst/>
          </a:prstGeom>
          <a:noFill/>
        </p:spPr>
        <p:txBody>
          <a:bodyPr wrap="square" lIns="0" rIns="0" tIns="0" bIns="0" anchor="t">
            <a:spAutoFit/>
          </a:bodyPr>
          <a:lstStyle/>
          <a:p>
            <a:pPr algn="l"/>
            <a:r>
              <a:rPr sz="1300" b="0" i="0">
                <a:solidFill>
                  <a:srgbClr val="14324A"/>
                </a:solidFill>
                <a:latin typeface="Calibri"/>
              </a:rPr>
              <a:t>Nothing new has been written to that bucket or table for more than a year, judged by the newest write date we could see. It says nothing about whether anyone still reads it — that was not measured.</a:t>
            </a:r>
          </a:p>
        </p:txBody>
      </p:sp>
      <p:cxnSp>
        <p:nvCxnSpPr>
          <p:cNvPr id="9" name="Connector 8"/>
          <p:cNvCxnSpPr/>
          <p:nvPr/>
        </p:nvCxnSpPr>
        <p:spPr>
          <a:xfrm>
            <a:off x="594360" y="310438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232404"/>
            <a:ext cx="2377440" cy="537210"/>
          </a:xfrm>
          <a:prstGeom prst="rect">
            <a:avLst/>
          </a:prstGeom>
          <a:noFill/>
        </p:spPr>
        <p:txBody>
          <a:bodyPr wrap="square" lIns="0" rIns="0" tIns="0" bIns="0" anchor="t">
            <a:spAutoFit/>
          </a:bodyPr>
          <a:lstStyle/>
          <a:p>
            <a:pPr algn="l"/>
            <a:r>
              <a:rPr sz="1400" b="1" i="0">
                <a:solidFill>
                  <a:srgbClr val="E8772E"/>
                </a:solidFill>
                <a:latin typeface="Calibri"/>
              </a:rPr>
              <a:t>Duplicate candidate</a:t>
            </a:r>
          </a:p>
        </p:txBody>
      </p:sp>
      <p:sp>
        <p:nvSpPr>
          <p:cNvPr id="11" name="TextBox 10"/>
          <p:cNvSpPr txBox="1"/>
          <p:nvPr/>
        </p:nvSpPr>
        <p:spPr>
          <a:xfrm>
            <a:off x="3154680" y="3232404"/>
            <a:ext cx="8442655" cy="537210"/>
          </a:xfrm>
          <a:prstGeom prst="rect">
            <a:avLst/>
          </a:prstGeom>
          <a:noFill/>
        </p:spPr>
        <p:txBody>
          <a:bodyPr wrap="square" lIns="0" rIns="0" tIns="0" bIns="0" anchor="t">
            <a:spAutoFit/>
          </a:bodyPr>
          <a:lstStyle/>
          <a:p>
            <a:pPr algn="l"/>
            <a:r>
              <a:rPr sz="1300" b="0" i="0">
                <a:solidFill>
                  <a:srgbClr val="14324A"/>
                </a:solidFill>
                <a:latin typeface="Calibri"/>
              </a:rPr>
              <a:t>Two objects whose size and storage fingerprint (ETag) match inside the same store. For large uploads that fingerprint is not a content hash, so a candidate must be confirmed by hashing before any copy is removed.</a:t>
            </a:r>
          </a:p>
        </p:txBody>
      </p:sp>
      <p:cxnSp>
        <p:nvCxnSpPr>
          <p:cNvPr id="12" name="Connector 11"/>
          <p:cNvCxnSpPr/>
          <p:nvPr/>
        </p:nvCxnSpPr>
        <p:spPr>
          <a:xfrm>
            <a:off x="594360" y="37330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3861053"/>
            <a:ext cx="2377440" cy="537210"/>
          </a:xfrm>
          <a:prstGeom prst="rect">
            <a:avLst/>
          </a:prstGeom>
          <a:noFill/>
        </p:spPr>
        <p:txBody>
          <a:bodyPr wrap="square" lIns="0" rIns="0" tIns="0" bIns="0" anchor="t">
            <a:spAutoFit/>
          </a:bodyPr>
          <a:lstStyle/>
          <a:p>
            <a:pPr algn="l"/>
            <a:r>
              <a:rPr sz="1400" b="1" i="0">
                <a:solidFill>
                  <a:srgbClr val="E8772E"/>
                </a:solidFill>
                <a:latin typeface="Calibri"/>
              </a:rPr>
              <a:t>Exact duplicate rows</a:t>
            </a:r>
          </a:p>
        </p:txBody>
      </p:sp>
      <p:sp>
        <p:nvSpPr>
          <p:cNvPr id="14" name="TextBox 13"/>
          <p:cNvSpPr txBox="1"/>
          <p:nvPr/>
        </p:nvSpPr>
        <p:spPr>
          <a:xfrm>
            <a:off x="3154680" y="3861053"/>
            <a:ext cx="8442655" cy="537210"/>
          </a:xfrm>
          <a:prstGeom prst="rect">
            <a:avLst/>
          </a:prstGeom>
          <a:noFill/>
        </p:spPr>
        <p:txBody>
          <a:bodyPr wrap="square" lIns="0" rIns="0" tIns="0" bIns="0" anchor="t">
            <a:spAutoFit/>
          </a:bodyPr>
          <a:lstStyle/>
          <a:p>
            <a:pPr algn="l"/>
            <a:r>
              <a:rPr sz="1300" b="0" i="0">
                <a:solidFill>
                  <a:srgbClr val="14324A"/>
                </a:solidFill>
                <a:latin typeface="Calibri"/>
              </a:rPr>
              <a:t>Database rows that are identical in every measured column. 'Normalised' duplicates also match after trimming spaces and case.</a:t>
            </a:r>
          </a:p>
        </p:txBody>
      </p:sp>
      <p:cxnSp>
        <p:nvCxnSpPr>
          <p:cNvPr id="15" name="Connector 14"/>
          <p:cNvCxnSpPr/>
          <p:nvPr/>
        </p:nvCxnSpPr>
        <p:spPr>
          <a:xfrm>
            <a:off x="594360" y="436168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4489703"/>
            <a:ext cx="2377440" cy="537210"/>
          </a:xfrm>
          <a:prstGeom prst="rect">
            <a:avLst/>
          </a:prstGeom>
          <a:noFill/>
        </p:spPr>
        <p:txBody>
          <a:bodyPr wrap="square" lIns="0" rIns="0" tIns="0" bIns="0" anchor="t">
            <a:spAutoFit/>
          </a:bodyPr>
          <a:lstStyle/>
          <a:p>
            <a:pPr algn="l"/>
            <a:r>
              <a:rPr sz="1400" b="1" i="0">
                <a:solidFill>
                  <a:srgbClr val="E8772E"/>
                </a:solidFill>
                <a:latin typeface="Calibri"/>
              </a:rPr>
              <a:t>Degraded row</a:t>
            </a:r>
          </a:p>
        </p:txBody>
      </p:sp>
      <p:sp>
        <p:nvSpPr>
          <p:cNvPr id="17" name="TextBox 16"/>
          <p:cNvSpPr txBox="1"/>
          <p:nvPr/>
        </p:nvSpPr>
        <p:spPr>
          <a:xfrm>
            <a:off x="3154680" y="4489703"/>
            <a:ext cx="8442655" cy="537210"/>
          </a:xfrm>
          <a:prstGeom prst="rect">
            <a:avLst/>
          </a:prstGeom>
          <a:noFill/>
        </p:spPr>
        <p:txBody>
          <a:bodyPr wrap="square" lIns="0" rIns="0" tIns="0" bIns="0" anchor="t">
            <a:spAutoFit/>
          </a:bodyPr>
          <a:lstStyle/>
          <a:p>
            <a:pPr algn="l"/>
            <a:r>
              <a:rPr sz="1300" b="0" i="0">
                <a:solidFill>
                  <a:srgbClr val="14324A"/>
                </a:solidFill>
                <a:latin typeface="Calibri"/>
              </a:rPr>
              <a:t>A row whose worst column shows damage: text cut short, a placeholder such as 'N/A' or 'test', an invalid format, stray whitespace or garbled characters.</a:t>
            </a:r>
          </a:p>
        </p:txBody>
      </p:sp>
      <p:cxnSp>
        <p:nvCxnSpPr>
          <p:cNvPr id="18" name="Connector 17"/>
          <p:cNvCxnSpPr/>
          <p:nvPr/>
        </p:nvCxnSpPr>
        <p:spPr>
          <a:xfrm>
            <a:off x="594360" y="499033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94360" y="5118353"/>
            <a:ext cx="2377440" cy="537210"/>
          </a:xfrm>
          <a:prstGeom prst="rect">
            <a:avLst/>
          </a:prstGeom>
          <a:noFill/>
        </p:spPr>
        <p:txBody>
          <a:bodyPr wrap="square" lIns="0" rIns="0" tIns="0" bIns="0" anchor="t">
            <a:spAutoFit/>
          </a:bodyPr>
          <a:lstStyle/>
          <a:p>
            <a:pPr algn="l"/>
            <a:r>
              <a:rPr sz="1400" b="1" i="0">
                <a:solidFill>
                  <a:srgbClr val="E8772E"/>
                </a:solidFill>
                <a:latin typeface="Calibri"/>
              </a:rPr>
              <a:t>Empty required-looking fields</a:t>
            </a:r>
          </a:p>
        </p:txBody>
      </p:sp>
      <p:sp>
        <p:nvSpPr>
          <p:cNvPr id="20" name="TextBox 19"/>
          <p:cNvSpPr txBox="1"/>
          <p:nvPr/>
        </p:nvSpPr>
        <p:spPr>
          <a:xfrm>
            <a:off x="3154680" y="5118353"/>
            <a:ext cx="8442655" cy="537210"/>
          </a:xfrm>
          <a:prstGeom prst="rect">
            <a:avLst/>
          </a:prstGeom>
          <a:noFill/>
        </p:spPr>
        <p:txBody>
          <a:bodyPr wrap="square" lIns="0" rIns="0" tIns="0" bIns="0" anchor="t">
            <a:spAutoFit/>
          </a:bodyPr>
          <a:lstStyle/>
          <a:p>
            <a:pPr algn="l"/>
            <a:r>
              <a:rPr sz="1300" b="0" i="0">
                <a:solidFill>
                  <a:srgbClr val="14324A"/>
                </a:solidFill>
                <a:latin typeface="Calibri"/>
              </a:rPr>
              <a:t>Blank values in columns whose name or pattern suggests they should always be filled (for example an identifier or a date). The database may not formally require them; the census flags them so an owner can decide.</a:t>
            </a:r>
          </a:p>
        </p:txBody>
      </p:sp>
      <p:cxnSp>
        <p:nvCxnSpPr>
          <p:cNvPr id="21" name="Connector 20"/>
          <p:cNvCxnSpPr/>
          <p:nvPr/>
        </p:nvCxnSpPr>
        <p:spPr>
          <a:xfrm>
            <a:off x="594360" y="561898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23" name="TextBox 22"/>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24" name="TextBox 23"/>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PLAIN ENGLISH</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What the terms in this pack mean</a:t>
            </a:r>
          </a:p>
        </p:txBody>
      </p:sp>
      <p:sp>
        <p:nvSpPr>
          <p:cNvPr id="4" name="TextBox 3"/>
          <p:cNvSpPr txBox="1"/>
          <p:nvPr/>
        </p:nvSpPr>
        <p:spPr>
          <a:xfrm>
            <a:off x="594360" y="1975104"/>
            <a:ext cx="2377440" cy="537210"/>
          </a:xfrm>
          <a:prstGeom prst="rect">
            <a:avLst/>
          </a:prstGeom>
          <a:noFill/>
        </p:spPr>
        <p:txBody>
          <a:bodyPr wrap="square" lIns="0" rIns="0" tIns="0" bIns="0" anchor="t">
            <a:spAutoFit/>
          </a:bodyPr>
          <a:lstStyle/>
          <a:p>
            <a:pPr algn="l"/>
            <a:r>
              <a:rPr sz="1400" b="1" i="0">
                <a:solidFill>
                  <a:srgbClr val="E8772E"/>
                </a:solidFill>
                <a:latin typeface="Calibri"/>
              </a:rPr>
              <a:t>Dead column</a:t>
            </a:r>
          </a:p>
        </p:txBody>
      </p:sp>
      <p:sp>
        <p:nvSpPr>
          <p:cNvPr id="5" name="TextBox 4"/>
          <p:cNvSpPr txBox="1"/>
          <p:nvPr/>
        </p:nvSpPr>
        <p:spPr>
          <a:xfrm>
            <a:off x="3154680" y="1975104"/>
            <a:ext cx="8442655" cy="537210"/>
          </a:xfrm>
          <a:prstGeom prst="rect">
            <a:avLst/>
          </a:prstGeom>
          <a:noFill/>
        </p:spPr>
        <p:txBody>
          <a:bodyPr wrap="square" lIns="0" rIns="0" tIns="0" bIns="0" anchor="t">
            <a:spAutoFit/>
          </a:bodyPr>
          <a:lstStyle/>
          <a:p>
            <a:pPr algn="l"/>
            <a:r>
              <a:rPr sz="1300" b="0" i="0">
                <a:solidFill>
                  <a:srgbClr val="14324A"/>
                </a:solidFill>
                <a:latin typeface="Calibri"/>
              </a:rPr>
              <a:t>A column that is empty on practically every row: schema carried without data.</a:t>
            </a:r>
          </a:p>
        </p:txBody>
      </p:sp>
      <p:cxnSp>
        <p:nvCxnSpPr>
          <p:cNvPr id="6" name="Connector 5"/>
          <p:cNvCxnSpPr/>
          <p:nvPr/>
        </p:nvCxnSpPr>
        <p:spPr>
          <a:xfrm>
            <a:off x="594360" y="247573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603754"/>
            <a:ext cx="2377440" cy="537210"/>
          </a:xfrm>
          <a:prstGeom prst="rect">
            <a:avLst/>
          </a:prstGeom>
          <a:noFill/>
        </p:spPr>
        <p:txBody>
          <a:bodyPr wrap="square" lIns="0" rIns="0" tIns="0" bIns="0" anchor="t">
            <a:spAutoFit/>
          </a:bodyPr>
          <a:lstStyle/>
          <a:p>
            <a:pPr algn="l"/>
            <a:r>
              <a:rPr sz="1400" b="1" i="0">
                <a:solidFill>
                  <a:srgbClr val="E8772E"/>
                </a:solidFill>
                <a:latin typeface="Calibri"/>
              </a:rPr>
              <a:t>Personal-data marker</a:t>
            </a:r>
          </a:p>
        </p:txBody>
      </p:sp>
      <p:sp>
        <p:nvSpPr>
          <p:cNvPr id="8" name="TextBox 7"/>
          <p:cNvSpPr txBox="1"/>
          <p:nvPr/>
        </p:nvSpPr>
        <p:spPr>
          <a:xfrm>
            <a:off x="3154680" y="2603754"/>
            <a:ext cx="8442655" cy="537210"/>
          </a:xfrm>
          <a:prstGeom prst="rect">
            <a:avLst/>
          </a:prstGeom>
          <a:noFill/>
        </p:spPr>
        <p:txBody>
          <a:bodyPr wrap="square" lIns="0" rIns="0" tIns="0" bIns="0" anchor="t">
            <a:spAutoFit/>
          </a:bodyPr>
          <a:lstStyle/>
          <a:p>
            <a:pPr algn="l"/>
            <a:r>
              <a:rPr sz="1300" b="0" i="0">
                <a:solidFill>
                  <a:srgbClr val="14324A"/>
                </a:solidFill>
                <a:latin typeface="Calibri"/>
              </a:rPr>
              <a:t>A sampled value that looks like an email, phone number, national ID or similar. It is a condition of the data, not a judgement about rights — the owner has declared all rights established.</a:t>
            </a:r>
          </a:p>
        </p:txBody>
      </p:sp>
      <p:cxnSp>
        <p:nvCxnSpPr>
          <p:cNvPr id="9" name="Connector 8"/>
          <p:cNvCxnSpPr/>
          <p:nvPr/>
        </p:nvCxnSpPr>
        <p:spPr>
          <a:xfrm>
            <a:off x="594360" y="310438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232404"/>
            <a:ext cx="2377440" cy="537210"/>
          </a:xfrm>
          <a:prstGeom prst="rect">
            <a:avLst/>
          </a:prstGeom>
          <a:noFill/>
        </p:spPr>
        <p:txBody>
          <a:bodyPr wrap="square" lIns="0" rIns="0" tIns="0" bIns="0" anchor="t">
            <a:spAutoFit/>
          </a:bodyPr>
          <a:lstStyle/>
          <a:p>
            <a:pPr algn="l"/>
            <a:r>
              <a:rPr sz="1400" b="1" i="0">
                <a:solidFill>
                  <a:srgbClr val="E8772E"/>
                </a:solidFill>
                <a:latin typeface="Calibri"/>
              </a:rPr>
              <a:t>Archive-class storage</a:t>
            </a:r>
          </a:p>
        </p:txBody>
      </p:sp>
      <p:sp>
        <p:nvSpPr>
          <p:cNvPr id="11" name="TextBox 10"/>
          <p:cNvSpPr txBox="1"/>
          <p:nvPr/>
        </p:nvSpPr>
        <p:spPr>
          <a:xfrm>
            <a:off x="3154680" y="3232404"/>
            <a:ext cx="8442655" cy="537210"/>
          </a:xfrm>
          <a:prstGeom prst="rect">
            <a:avLst/>
          </a:prstGeom>
          <a:noFill/>
        </p:spPr>
        <p:txBody>
          <a:bodyPr wrap="square" lIns="0" rIns="0" tIns="0" bIns="0" anchor="t">
            <a:spAutoFit/>
          </a:bodyPr>
          <a:lstStyle/>
          <a:p>
            <a:pPr algn="l"/>
            <a:r>
              <a:rPr sz="1300" b="0" i="0">
                <a:solidFill>
                  <a:srgbClr val="14324A"/>
                </a:solidFill>
                <a:latin typeface="Calibri"/>
              </a:rPr>
              <a:t>A cheaper storage tier for data that is kept but rarely opened. Retrieval is slower and carries its own fee, which is why the saving is stated as an upper bound.</a:t>
            </a:r>
          </a:p>
        </p:txBody>
      </p:sp>
      <p:cxnSp>
        <p:nvCxnSpPr>
          <p:cNvPr id="12" name="Connector 11"/>
          <p:cNvCxnSpPr/>
          <p:nvPr/>
        </p:nvCxnSpPr>
        <p:spPr>
          <a:xfrm>
            <a:off x="594360" y="37330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3861053"/>
            <a:ext cx="2377440" cy="537210"/>
          </a:xfrm>
          <a:prstGeom prst="rect">
            <a:avLst/>
          </a:prstGeom>
          <a:noFill/>
        </p:spPr>
        <p:txBody>
          <a:bodyPr wrap="square" lIns="0" rIns="0" tIns="0" bIns="0" anchor="t">
            <a:spAutoFit/>
          </a:bodyPr>
          <a:lstStyle/>
          <a:p>
            <a:pPr algn="l"/>
            <a:r>
              <a:rPr sz="1400" b="1" i="0">
                <a:solidFill>
                  <a:srgbClr val="E8772E"/>
                </a:solidFill>
                <a:latin typeface="Calibri"/>
              </a:rPr>
              <a:t>Proposed destination</a:t>
            </a:r>
          </a:p>
        </p:txBody>
      </p:sp>
      <p:sp>
        <p:nvSpPr>
          <p:cNvPr id="14" name="TextBox 13"/>
          <p:cNvSpPr txBox="1"/>
          <p:nvPr/>
        </p:nvSpPr>
        <p:spPr>
          <a:xfrm>
            <a:off x="3154680" y="3861053"/>
            <a:ext cx="8442655" cy="537210"/>
          </a:xfrm>
          <a:prstGeom prst="rect">
            <a:avLst/>
          </a:prstGeom>
          <a:noFill/>
        </p:spPr>
        <p:txBody>
          <a:bodyPr wrap="square" lIns="0" rIns="0" tIns="0" bIns="0" anchor="t">
            <a:spAutoFit/>
          </a:bodyPr>
          <a:lstStyle/>
          <a:p>
            <a:pPr algn="l"/>
            <a:r>
              <a:rPr sz="1300" b="0" i="0">
                <a:solidFill>
                  <a:srgbClr val="14324A"/>
                </a:solidFill>
                <a:latin typeface="Calibri"/>
              </a:rPr>
              <a:t>Where this pack suggests data should live or how it should be tiered. Every destination here is a proposal for the executive to approve; this pack moved and deleted nothing.</a:t>
            </a:r>
          </a:p>
        </p:txBody>
      </p:sp>
      <p:cxnSp>
        <p:nvCxnSpPr>
          <p:cNvPr id="15" name="Connector 14"/>
          <p:cNvCxnSpPr/>
          <p:nvPr/>
        </p:nvCxnSpPr>
        <p:spPr>
          <a:xfrm>
            <a:off x="594360" y="436168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4489703"/>
            <a:ext cx="2377440" cy="537210"/>
          </a:xfrm>
          <a:prstGeom prst="rect">
            <a:avLst/>
          </a:prstGeom>
          <a:noFill/>
        </p:spPr>
        <p:txBody>
          <a:bodyPr wrap="square" lIns="0" rIns="0" tIns="0" bIns="0" anchor="t">
            <a:spAutoFit/>
          </a:bodyPr>
          <a:lstStyle/>
          <a:p>
            <a:pPr algn="l"/>
            <a:r>
              <a:rPr sz="1400" b="1" i="0">
                <a:solidFill>
                  <a:srgbClr val="E8772E"/>
                </a:solidFill>
                <a:latin typeface="Calibri"/>
              </a:rPr>
              <a:t>Speech hours (estimate)</a:t>
            </a:r>
          </a:p>
        </p:txBody>
      </p:sp>
      <p:sp>
        <p:nvSpPr>
          <p:cNvPr id="17" name="TextBox 16"/>
          <p:cNvSpPr txBox="1"/>
          <p:nvPr/>
        </p:nvSpPr>
        <p:spPr>
          <a:xfrm>
            <a:off x="3154680" y="4489703"/>
            <a:ext cx="8442655" cy="537210"/>
          </a:xfrm>
          <a:prstGeom prst="rect">
            <a:avLst/>
          </a:prstGeom>
          <a:noFill/>
        </p:spPr>
        <p:txBody>
          <a:bodyPr wrap="square" lIns="0" rIns="0" tIns="0" bIns="0" anchor="t">
            <a:spAutoFit/>
          </a:bodyPr>
          <a:lstStyle/>
          <a:p>
            <a:pPr algn="l"/>
            <a:r>
              <a:rPr sz="1300" b="0" i="0">
                <a:solidFill>
                  <a:srgbClr val="14324A"/>
                </a:solidFill>
                <a:latin typeface="Calibri"/>
              </a:rPr>
              <a:t>Recorded hours multiplied by the share of two-second windows the admitted music detector did not call music. Silence is set aside first.</a:t>
            </a:r>
          </a:p>
        </p:txBody>
      </p:sp>
      <p:cxnSp>
        <p:nvCxnSpPr>
          <p:cNvPr id="18" name="Connector 17"/>
          <p:cNvCxnSpPr/>
          <p:nvPr/>
        </p:nvCxnSpPr>
        <p:spPr>
          <a:xfrm>
            <a:off x="594360" y="499033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94360" y="5118353"/>
            <a:ext cx="2377440" cy="537210"/>
          </a:xfrm>
          <a:prstGeom prst="rect">
            <a:avLst/>
          </a:prstGeom>
          <a:noFill/>
        </p:spPr>
        <p:txBody>
          <a:bodyPr wrap="square" lIns="0" rIns="0" tIns="0" bIns="0" anchor="t">
            <a:spAutoFit/>
          </a:bodyPr>
          <a:lstStyle/>
          <a:p>
            <a:pPr algn="l"/>
            <a:r>
              <a:rPr sz="1400" b="1" i="0">
                <a:solidFill>
                  <a:srgbClr val="E8772E"/>
                </a:solidFill>
                <a:latin typeface="Calibri"/>
              </a:rPr>
              <a:t>Agrees with folder</a:t>
            </a:r>
          </a:p>
        </p:txBody>
      </p:sp>
      <p:sp>
        <p:nvSpPr>
          <p:cNvPr id="20" name="TextBox 19"/>
          <p:cNvSpPr txBox="1"/>
          <p:nvPr/>
        </p:nvSpPr>
        <p:spPr>
          <a:xfrm>
            <a:off x="3154680" y="5118353"/>
            <a:ext cx="8442655" cy="537210"/>
          </a:xfrm>
          <a:prstGeom prst="rect">
            <a:avLst/>
          </a:prstGeom>
          <a:noFill/>
        </p:spPr>
        <p:txBody>
          <a:bodyPr wrap="square" lIns="0" rIns="0" tIns="0" bIns="0" anchor="t">
            <a:spAutoFit/>
          </a:bodyPr>
          <a:lstStyle/>
          <a:p>
            <a:pPr algn="l"/>
            <a:r>
              <a:rPr sz="1300" b="0" i="0">
                <a:solidFill>
                  <a:srgbClr val="14324A"/>
                </a:solidFill>
                <a:latin typeface="Calibri"/>
              </a:rPr>
              <a:t>The share of labelled windows (or transcript passages) where the model's language label matched the folder the recording was filed under. It is a model reading, not a human verification.</a:t>
            </a:r>
          </a:p>
        </p:txBody>
      </p:sp>
      <p:cxnSp>
        <p:nvCxnSpPr>
          <p:cNvPr id="21" name="Connector 20"/>
          <p:cNvCxnSpPr/>
          <p:nvPr/>
        </p:nvCxnSpPr>
        <p:spPr>
          <a:xfrm>
            <a:off x="594360" y="561898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23" name="TextBox 22"/>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24" name="TextBox 23"/>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PLAIN ENGLISH</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What the terms in this pack mean</a:t>
            </a:r>
          </a:p>
        </p:txBody>
      </p:sp>
      <p:sp>
        <p:nvSpPr>
          <p:cNvPr id="4" name="TextBox 3"/>
          <p:cNvSpPr txBox="1"/>
          <p:nvPr/>
        </p:nvSpPr>
        <p:spPr>
          <a:xfrm>
            <a:off x="594360" y="1975104"/>
            <a:ext cx="2377440" cy="1097280"/>
          </a:xfrm>
          <a:prstGeom prst="rect">
            <a:avLst/>
          </a:prstGeom>
          <a:noFill/>
        </p:spPr>
        <p:txBody>
          <a:bodyPr wrap="square" lIns="0" rIns="0" tIns="0" bIns="0" anchor="t">
            <a:spAutoFit/>
          </a:bodyPr>
          <a:lstStyle/>
          <a:p>
            <a:pPr algn="l"/>
            <a:r>
              <a:rPr sz="1400" b="1" i="0">
                <a:solidFill>
                  <a:srgbClr val="E8772E"/>
                </a:solidFill>
                <a:latin typeface="Calibri"/>
              </a:rPr>
              <a:t>Declined to label</a:t>
            </a:r>
          </a:p>
        </p:txBody>
      </p:sp>
      <p:sp>
        <p:nvSpPr>
          <p:cNvPr id="5" name="TextBox 4"/>
          <p:cNvSpPr txBox="1"/>
          <p:nvPr/>
        </p:nvSpPr>
        <p:spPr>
          <a:xfrm>
            <a:off x="3154680" y="1975104"/>
            <a:ext cx="8442655" cy="1097280"/>
          </a:xfrm>
          <a:prstGeom prst="rect">
            <a:avLst/>
          </a:prstGeom>
          <a:noFill/>
        </p:spPr>
        <p:txBody>
          <a:bodyPr wrap="square" lIns="0" rIns="0" tIns="0" bIns="0" anchor="t">
            <a:spAutoFit/>
          </a:bodyPr>
          <a:lstStyle/>
          <a:p>
            <a:pPr algn="l"/>
            <a:r>
              <a:rPr sz="1300" b="0" i="0">
                <a:solidFill>
                  <a:srgbClr val="14324A"/>
                </a:solidFill>
                <a:latin typeface="Calibri"/>
              </a:rPr>
              <a:t>Windows where the language model's confidence fell below its threshold, so it gave no language rather than guess.</a:t>
            </a:r>
          </a:p>
        </p:txBody>
      </p:sp>
      <p:cxnSp>
        <p:nvCxnSpPr>
          <p:cNvPr id="6" name="Connector 5"/>
          <p:cNvCxnSpPr/>
          <p:nvPr/>
        </p:nvCxnSpPr>
        <p:spPr>
          <a:xfrm>
            <a:off x="594360" y="303580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3163824"/>
            <a:ext cx="2377440" cy="1097280"/>
          </a:xfrm>
          <a:prstGeom prst="rect">
            <a:avLst/>
          </a:prstGeom>
          <a:noFill/>
        </p:spPr>
        <p:txBody>
          <a:bodyPr wrap="square" lIns="0" rIns="0" tIns="0" bIns="0" anchor="t">
            <a:spAutoFit/>
          </a:bodyPr>
          <a:lstStyle/>
          <a:p>
            <a:pPr algn="l"/>
            <a:r>
              <a:rPr sz="1400" b="1" i="0">
                <a:solidFill>
                  <a:srgbClr val="E8772E"/>
                </a:solidFill>
                <a:latin typeface="Calibri"/>
              </a:rPr>
              <a:t>Scripted day / bulletin hour</a:t>
            </a:r>
          </a:p>
        </p:txBody>
      </p:sp>
      <p:sp>
        <p:nvSpPr>
          <p:cNvPr id="8" name="TextBox 7"/>
          <p:cNvSpPr txBox="1"/>
          <p:nvPr/>
        </p:nvSpPr>
        <p:spPr>
          <a:xfrm>
            <a:off x="3154680" y="3163824"/>
            <a:ext cx="8442655" cy="1097280"/>
          </a:xfrm>
          <a:prstGeom prst="rect">
            <a:avLst/>
          </a:prstGeom>
          <a:noFill/>
        </p:spPr>
        <p:txBody>
          <a:bodyPr wrap="square" lIns="0" rIns="0" tIns="0" bIns="0" anchor="t">
            <a:spAutoFit/>
          </a:bodyPr>
          <a:lstStyle/>
          <a:p>
            <a:pPr algn="l"/>
            <a:r>
              <a:rPr sz="1300" b="0" i="0">
                <a:solidFill>
                  <a:srgbClr val="14324A"/>
                </a:solidFill>
                <a:latin typeface="Calibri"/>
              </a:rPr>
              <a:t>A calendar date on which a station has at least one news script in the archive, and the distinct hour slots scripted that day. The archive does not carry a script for every hour of every day; the tables show exactly which days and hours it does.</a:t>
            </a:r>
          </a:p>
        </p:txBody>
      </p:sp>
      <p:cxnSp>
        <p:nvCxnSpPr>
          <p:cNvPr id="9" name="Connector 8"/>
          <p:cNvCxnSpPr/>
          <p:nvPr/>
        </p:nvCxnSpPr>
        <p:spPr>
          <a:xfrm>
            <a:off x="594360" y="422452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4352544"/>
            <a:ext cx="2377440" cy="1097280"/>
          </a:xfrm>
          <a:prstGeom prst="rect">
            <a:avLst/>
          </a:prstGeom>
          <a:noFill/>
        </p:spPr>
        <p:txBody>
          <a:bodyPr wrap="square" lIns="0" rIns="0" tIns="0" bIns="0" anchor="t">
            <a:spAutoFit/>
          </a:bodyPr>
          <a:lstStyle/>
          <a:p>
            <a:pPr algn="l"/>
            <a:r>
              <a:rPr sz="1400" b="1" i="0">
                <a:solidFill>
                  <a:srgbClr val="E8772E"/>
                </a:solidFill>
                <a:latin typeface="Calibri"/>
              </a:rPr>
              <a:t>Receipt</a:t>
            </a:r>
          </a:p>
        </p:txBody>
      </p:sp>
      <p:sp>
        <p:nvSpPr>
          <p:cNvPr id="11" name="TextBox 10"/>
          <p:cNvSpPr txBox="1"/>
          <p:nvPr/>
        </p:nvSpPr>
        <p:spPr>
          <a:xfrm>
            <a:off x="3154680" y="4352544"/>
            <a:ext cx="8442655" cy="1097280"/>
          </a:xfrm>
          <a:prstGeom prst="rect">
            <a:avLst/>
          </a:prstGeom>
          <a:noFill/>
        </p:spPr>
        <p:txBody>
          <a:bodyPr wrap="square" lIns="0" rIns="0" tIns="0" bIns="0" anchor="t">
            <a:spAutoFit/>
          </a:bodyPr>
          <a:lstStyle/>
          <a:p>
            <a:pPr algn="l"/>
            <a:r>
              <a:rPr sz="1300" b="0" i="0">
                <a:solidFill>
                  <a:srgbClr val="14324A"/>
                </a:solidFill>
                <a:latin typeface="Calibri"/>
              </a:rPr>
              <a:t>The retained Akki record (census run, GPU job or database reading) that every figure in this pack is traced to. The appendix lists them; the workbook carries the row-level evidence.</a:t>
            </a:r>
          </a:p>
        </p:txBody>
      </p:sp>
      <p:cxnSp>
        <p:nvCxnSpPr>
          <p:cNvPr id="12" name="Connector 11"/>
          <p:cNvCxnSpPr/>
          <p:nvPr/>
        </p:nvCxnSpPr>
        <p:spPr>
          <a:xfrm>
            <a:off x="594360" y="541324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4" name="TextBox 13"/>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5" name="TextBox 14"/>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01</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Where the bytes sit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ESTATE BY STORE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The object store and file shares hold almost every byte; databases are a sliver</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Manage the estate as a whole: databases are small beside 130.3 TiB of objects and 43.6 TiB of file shares.</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R01: Estate intelligence census eij-1b359b3cbd2e, digest-verified report (measured 2026-09-29), headline aggregates and per-database measures</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OBJECT-STORE CONCENTRATION</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One bucket holds most of the object store, so bucket-level decisions carry the weight</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The largest bucket is 86.3 TiB, which is 66.2% of the object store, so a few decisions move most of the bytes.</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R04: OBS bucket enumeration census run cr-f1415e395361 (22,975,591 objects, 130.3 TiB)</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WHOLE ESTATE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The estate holds 174.3 TiB and nearly all of it sits outside the databases</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whole estate holds 174.3 TiB across databases, object store and file shares, all measured.</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object store holds 130.3 TiB, which is 74.8% of the estate, in 106 buckets and 23.0m objects.</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File shares hold 43.6 TiB, which is 25.0% of the estate, in 16 shares and 1.5m files.</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Databases hold 0.3 TiB, which is 0.2%, so database tuning alone cannot change the storage picture.</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02</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What is under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EXACT SOURCES</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Named buckets, tables and shares are under review, each with a proposed destination</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41.9 TiB of the object store, across 43 buckets, has not been written for over a year. That shows write inactivity, not absence of reads.</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7.7 TiB, about 5.0% of objects, are duplicate candidates and need a content hash before any removal.</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40 of 106 buckets returned errors when listed and need reconciling with the provider.</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File shares are sized and dated but not fingerprinted. Every destination in the tables is a proposal; nothing has moved.</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Exact object-store buckets under review (largest first)</a:t>
            </a:r>
          </a:p>
        </p:txBody>
      </p:sp>
      <p:graphicFrame>
        <p:nvGraphicFramePr>
          <p:cNvPr id="4" name="Table 3"/>
          <p:cNvGraphicFramePr>
            <a:graphicFrameLocks noGrp="1"/>
          </p:cNvGraphicFramePr>
          <p:nvPr/>
        </p:nvGraphicFramePr>
        <p:xfrm>
          <a:off x="594360" y="1920240"/>
          <a:ext cx="11002973" cy="3017520"/>
        </p:xfrm>
        <a:graphic>
          <a:graphicData uri="http://schemas.openxmlformats.org/drawingml/2006/table">
            <a:tbl>
              <a:tblPr firstRow="1" bandRow="1">
                <a:tableStyleId>{5C22544A-7EE6-4342-B048-85BDC9FD1C3A}</a:tableStyleId>
              </a:tblPr>
              <a:tblGrid>
                <a:gridCol w="1086713"/>
                <a:gridCol w="950874"/>
                <a:gridCol w="950874"/>
                <a:gridCol w="950874"/>
                <a:gridCol w="1358392"/>
                <a:gridCol w="2852623"/>
                <a:gridCol w="2852623"/>
              </a:tblGrid>
              <a:tr h="301752">
                <a:tc>
                  <a:txBody>
                    <a:bodyPr wrap="square"/>
                    <a:lstStyle/>
                    <a:p>
                      <a:pPr algn="l"/>
                      <a:r>
                        <a:rPr sz="1100" b="1">
                          <a:solidFill>
                            <a:srgbClr val="14324A"/>
                          </a:solidFill>
                          <a:latin typeface="Calibri"/>
                        </a:rPr>
                        <a:t>Bucket</a:t>
                      </a:r>
                    </a:p>
                  </a:txBody>
                  <a:tcPr marL="54864" marR="54864" marT="27432" marB="27432">
                    <a:solidFill>
                      <a:srgbClr val="E8EEF3"/>
                    </a:solidFill>
                  </a:tcPr>
                </a:tc>
                <a:tc>
                  <a:txBody>
                    <a:bodyPr wrap="square"/>
                    <a:lstStyle/>
                    <a:p>
                      <a:pPr algn="l"/>
                      <a:r>
                        <a:rPr sz="1100" b="1">
                          <a:solidFill>
                            <a:srgbClr val="14324A"/>
                          </a:solidFill>
                          <a:latin typeface="Calibri"/>
                        </a:rPr>
                        <a:t>Held (TiB)</a:t>
                      </a:r>
                    </a:p>
                  </a:txBody>
                  <a:tcPr marL="54864" marR="54864" marT="27432" marB="27432">
                    <a:solidFill>
                      <a:srgbClr val="E8EEF3"/>
                    </a:solidFill>
                  </a:tcPr>
                </a:tc>
                <a:tc>
                  <a:txBody>
                    <a:bodyPr wrap="square"/>
                    <a:lstStyle/>
                    <a:p>
                      <a:pPr algn="l"/>
                      <a:r>
                        <a:rPr sz="1100" b="1">
                          <a:solidFill>
                            <a:srgbClr val="14324A"/>
                          </a:solidFill>
                          <a:latin typeface="Calibri"/>
                        </a:rPr>
                        <a:t>Last write</a:t>
                      </a:r>
                    </a:p>
                  </a:txBody>
                  <a:tcPr marL="54864" marR="54864" marT="27432" marB="27432">
                    <a:solidFill>
                      <a:srgbClr val="E8EEF3"/>
                    </a:solidFill>
                  </a:tcPr>
                </a:tc>
                <a:tc>
                  <a:txBody>
                    <a:bodyPr wrap="square"/>
                    <a:lstStyle/>
                    <a:p>
                      <a:pPr algn="l"/>
                      <a:r>
                        <a:rPr sz="1100" b="1">
                          <a:solidFill>
                            <a:srgbClr val="14324A"/>
                          </a:solidFill>
                          <a:latin typeface="Calibri"/>
                        </a:rPr>
                        <a:t>Idle days</a:t>
                      </a:r>
                    </a:p>
                  </a:txBody>
                  <a:tcPr marL="54864" marR="54864" marT="27432" marB="27432">
                    <a:solidFill>
                      <a:srgbClr val="E8EEF3"/>
                    </a:solidFill>
                  </a:tcPr>
                </a:tc>
                <a:tc>
                  <a:txBody>
                    <a:bodyPr wrap="square"/>
                    <a:lstStyle/>
                    <a:p>
                      <a:pPr algn="l"/>
                      <a:r>
                        <a:rPr sz="1100" b="1">
                          <a:solidFill>
                            <a:srgbClr val="14324A"/>
                          </a:solidFill>
                          <a:latin typeface="Calibri"/>
                        </a:rPr>
                        <a:t>Duplicate candidates</a:t>
                      </a:r>
                    </a:p>
                  </a:txBody>
                  <a:tcPr marL="54864" marR="54864" marT="27432" marB="27432">
                    <a:solidFill>
                      <a:srgbClr val="E8EEF3"/>
                    </a:solidFill>
                  </a:tcPr>
                </a:tc>
                <a:tc>
                  <a:txBody>
                    <a:bodyPr wrap="square"/>
                    <a:lstStyle/>
                    <a:p>
                      <a:pPr algn="l"/>
                      <a:r>
                        <a:rPr sz="1100" b="1">
                          <a:solidFill>
                            <a:srgbClr val="14324A"/>
                          </a:solidFill>
                          <a:latin typeface="Calibri"/>
                        </a:rPr>
                        <a:t>Classification</a:t>
                      </a:r>
                    </a:p>
                  </a:txBody>
                  <a:tcPr marL="54864" marR="54864" marT="27432" marB="27432">
                    <a:solidFill>
                      <a:srgbClr val="E8EEF3"/>
                    </a:solidFill>
                  </a:tcPr>
                </a:tc>
                <a:tc>
                  <a:txBody>
                    <a:bodyPr wrap="square"/>
                    <a:lstStyle/>
                    <a:p>
                      <a:pPr algn="l"/>
                      <a:r>
                        <a:rPr sz="1100" b="1">
                          <a:solidFill>
                            <a:srgbClr val="14324A"/>
                          </a:solidFill>
                          <a:latin typeface="Calibri"/>
                        </a:rPr>
                        <a:t>Proposed action</a:t>
                      </a:r>
                    </a:p>
                  </a:txBody>
                  <a:tcPr marL="54864" marR="54864" marT="27432" marB="27432">
                    <a:solidFill>
                      <a:srgbClr val="E8EEF3"/>
                    </a:solidFill>
                  </a:tcPr>
                </a:tc>
              </a:tr>
              <a:tr h="301752">
                <a:tc>
                  <a:txBody>
                    <a:bodyPr wrap="square"/>
                    <a:lstStyle/>
                    <a:p>
                      <a:pPr algn="l"/>
                      <a:r>
                        <a:rPr sz="1100" b="0">
                          <a:solidFill>
                            <a:srgbClr val="14324A"/>
                          </a:solidFill>
                          <a:latin typeface="Calibri"/>
                        </a:rPr>
                        <a:t>2024offairrecs</a:t>
                      </a:r>
                    </a:p>
                  </a:txBody>
                  <a:tcPr marL="54864" marR="54864" marT="27432" marB="27432">
                    <a:solidFill>
                      <a:srgbClr val="FFFFFF"/>
                    </a:solidFill>
                  </a:tcPr>
                </a:tc>
                <a:tc>
                  <a:txBody>
                    <a:bodyPr wrap="square"/>
                    <a:lstStyle/>
                    <a:p>
                      <a:pPr algn="r"/>
                      <a:r>
                        <a:rPr sz="1100" b="0">
                          <a:solidFill>
                            <a:srgbClr val="14324A"/>
                          </a:solidFill>
                          <a:latin typeface="Courier New"/>
                        </a:rPr>
                        <a:t>86.3</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16,589</a:t>
                      </a:r>
                    </a:p>
                  </a:txBody>
                  <a:tcPr marL="54864" marR="54864" marT="27432" marB="27432">
                    <a:solidFill>
                      <a:srgbClr val="FFFFFF"/>
                    </a:solidFill>
                  </a:tcPr>
                </a:tc>
                <a:tc>
                  <a:txBody>
                    <a:bodyPr wrap="square"/>
                    <a:lstStyle/>
                    <a:p>
                      <a:pPr algn="r"/>
                      <a:r>
                        <a:rPr sz="1100" b="0">
                          <a:solidFill>
                            <a:srgbClr val="14324A"/>
                          </a:solidFill>
                          <a:latin typeface="Courier New"/>
                        </a:rPr>
                        <a:t>active — keep hot; heavy duplicate candidates</a:t>
                      </a:r>
                    </a:p>
                  </a:txBody>
                  <a:tcPr marL="54864" marR="54864" marT="27432" marB="27432">
                    <a:solidFill>
                      <a:srgbClr val="FFFFFF"/>
                    </a:solidFill>
                  </a:tcPr>
                </a:tc>
                <a:tc>
                  <a:txBody>
                    <a:bodyPr wrap="square"/>
                    <a:lstStyle/>
                    <a:p>
                      <a:pPr algn="r"/>
                      <a:r>
                        <a:rPr sz="1100" b="0">
                          <a:solidFill>
                            <a:srgbClr val="14324A"/>
                          </a:solidFill>
                          <a:latin typeface="Courier New"/>
                        </a:rPr>
                        <a:t>hash-confirm duplicate candidates, keep one copy</a:t>
                      </a:r>
                    </a:p>
                  </a:txBody>
                  <a:tcPr marL="54864" marR="54864" marT="27432" marB="27432">
                    <a:solidFill>
                      <a:srgbClr val="FFFFFF"/>
                    </a:solidFill>
                  </a:tcPr>
                </a:tc>
              </a:tr>
              <a:tr h="301752">
                <a:tc>
                  <a:txBody>
                    <a:bodyPr wrap="square"/>
                    <a:lstStyle/>
                    <a:p>
                      <a:pPr algn="l"/>
                      <a:r>
                        <a:rPr sz="1100" b="0">
                          <a:solidFill>
                            <a:srgbClr val="14324A"/>
                          </a:solidFill>
                          <a:latin typeface="Calibri"/>
                        </a:rPr>
                        <a:t>music-bucket-rms</a:t>
                      </a:r>
                    </a:p>
                  </a:txBody>
                  <a:tcPr marL="54864" marR="54864" marT="27432" marB="27432">
                    <a:solidFill>
                      <a:srgbClr val="FFFFFF"/>
                    </a:solidFill>
                  </a:tcPr>
                </a:tc>
                <a:tc>
                  <a:txBody>
                    <a:bodyPr wrap="square"/>
                    <a:lstStyle/>
                    <a:p>
                      <a:pPr algn="r"/>
                      <a:r>
                        <a:rPr sz="1100" b="0">
                          <a:solidFill>
                            <a:srgbClr val="14324A"/>
                          </a:solidFill>
                          <a:latin typeface="Courier New"/>
                        </a:rPr>
                        <a:t>4.93</a:t>
                      </a:r>
                    </a:p>
                  </a:txBody>
                  <a:tcPr marL="54864" marR="54864" marT="27432" marB="27432">
                    <a:solidFill>
                      <a:srgbClr val="FFFFFF"/>
                    </a:solidFill>
                  </a:tcPr>
                </a:tc>
                <a:tc>
                  <a:txBody>
                    <a:bodyPr wrap="square"/>
                    <a:lstStyle/>
                    <a:p>
                      <a:pPr algn="r"/>
                      <a:r>
                        <a:rPr sz="1100" b="0">
                          <a:solidFill>
                            <a:srgbClr val="14324A"/>
                          </a:solidFill>
                          <a:latin typeface="Courier New"/>
                        </a:rPr>
                        <a:t>2024-03-26</a:t>
                      </a:r>
                    </a:p>
                  </a:txBody>
                  <a:tcPr marL="54864" marR="54864" marT="27432" marB="27432">
                    <a:solidFill>
                      <a:srgbClr val="FFFFFF"/>
                    </a:solidFill>
                  </a:tcPr>
                </a:tc>
                <a:tc>
                  <a:txBody>
                    <a:bodyPr wrap="square"/>
                    <a:lstStyle/>
                    <a:p>
                      <a:pPr algn="r"/>
                      <a:r>
                        <a:rPr sz="1100" b="0">
                          <a:solidFill>
                            <a:srgbClr val="14324A"/>
                          </a:solidFill>
                          <a:latin typeface="Courier New"/>
                        </a:rPr>
                        <a:t>916</a:t>
                      </a:r>
                    </a:p>
                  </a:txBody>
                  <a:tcPr marL="54864" marR="54864" marT="27432" marB="27432">
                    <a:solidFill>
                      <a:srgbClr val="FFFFFF"/>
                    </a:solidFill>
                  </a:tcPr>
                </a:tc>
                <a:tc>
                  <a:txBody>
                    <a:bodyPr wrap="square"/>
                    <a:lstStyle/>
                    <a:p>
                      <a:pPr algn="r"/>
                      <a:r>
                        <a:rPr sz="1100" b="0">
                          <a:solidFill>
                            <a:srgbClr val="14324A"/>
                          </a:solidFill>
                          <a:latin typeface="Courier New"/>
                        </a:rPr>
                        <a:t>14,696</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 heavy duplicate candidates</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r h="301752">
                <a:tc>
                  <a:txBody>
                    <a:bodyPr wrap="square"/>
                    <a:lstStyle/>
                    <a:p>
                      <a:pPr algn="l"/>
                      <a:r>
                        <a:rPr sz="1100" b="0">
                          <a:solidFill>
                            <a:srgbClr val="14324A"/>
                          </a:solidFill>
                          <a:latin typeface="Calibri"/>
                        </a:rPr>
                        <a:t>na7p43do</a:t>
                      </a:r>
                    </a:p>
                  </a:txBody>
                  <a:tcPr marL="54864" marR="54864" marT="27432" marB="27432">
                    <a:solidFill>
                      <a:srgbClr val="FFFFFF"/>
                    </a:solidFill>
                  </a:tcPr>
                </a:tc>
                <a:tc>
                  <a:txBody>
                    <a:bodyPr wrap="square"/>
                    <a:lstStyle/>
                    <a:p>
                      <a:pPr algn="r"/>
                      <a:r>
                        <a:rPr sz="1100" b="0">
                          <a:solidFill>
                            <a:srgbClr val="14324A"/>
                          </a:solidFill>
                          <a:latin typeface="Courier New"/>
                        </a:rPr>
                        <a:t>4.1</a:t>
                      </a:r>
                    </a:p>
                  </a:txBody>
                  <a:tcPr marL="54864" marR="54864" marT="27432" marB="27432">
                    <a:solidFill>
                      <a:srgbClr val="FFFFFF"/>
                    </a:solidFill>
                  </a:tcPr>
                </a:tc>
                <a:tc>
                  <a:txBody>
                    <a:bodyPr wrap="square"/>
                    <a:lstStyle/>
                    <a:p>
                      <a:pPr algn="r"/>
                      <a:r>
                        <a:rPr sz="1100" b="0">
                          <a:solidFill>
                            <a:srgbClr val="14324A"/>
                          </a:solidFill>
                          <a:latin typeface="Courier New"/>
                        </a:rPr>
                        <a:t>2024-04-04</a:t>
                      </a:r>
                    </a:p>
                  </a:txBody>
                  <a:tcPr marL="54864" marR="54864" marT="27432" marB="27432">
                    <a:solidFill>
                      <a:srgbClr val="FFFFFF"/>
                    </a:solidFill>
                  </a:tcPr>
                </a:tc>
                <a:tc>
                  <a:txBody>
                    <a:bodyPr wrap="square"/>
                    <a:lstStyle/>
                    <a:p>
                      <a:pPr algn="r"/>
                      <a:r>
                        <a:rPr sz="1100" b="0">
                          <a:solidFill>
                            <a:srgbClr val="14324A"/>
                          </a:solidFill>
                          <a:latin typeface="Courier New"/>
                        </a:rPr>
                        <a:t>908</a:t>
                      </a:r>
                    </a:p>
                  </a:txBody>
                  <a:tcPr marL="54864" marR="54864" marT="27432" marB="27432">
                    <a:solidFill>
                      <a:srgbClr val="FFFFFF"/>
                    </a:solidFill>
                  </a:tcPr>
                </a:tc>
                <a:tc>
                  <a:txBody>
                    <a:bodyPr wrap="square"/>
                    <a:lstStyle/>
                    <a:p>
                      <a:pPr algn="r"/>
                      <a:r>
                        <a:rPr sz="1100" b="0">
                          <a:solidFill>
                            <a:srgbClr val="14324A"/>
                          </a:solidFill>
                          <a:latin typeface="Courier New"/>
                        </a:rPr>
                        <a:t>197,528</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 heavy duplicate candidates</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r h="301752">
                <a:tc>
                  <a:txBody>
                    <a:bodyPr wrap="square"/>
                    <a:lstStyle/>
                    <a:p>
                      <a:pPr algn="l"/>
                      <a:r>
                        <a:rPr sz="1100" b="0">
                          <a:solidFill>
                            <a:srgbClr val="14324A"/>
                          </a:solidFill>
                          <a:latin typeface="Calibri"/>
                        </a:rPr>
                        <a:t>na7p43js</a:t>
                      </a:r>
                    </a:p>
                  </a:txBody>
                  <a:tcPr marL="54864" marR="54864" marT="27432" marB="27432">
                    <a:solidFill>
                      <a:srgbClr val="FFFFFF"/>
                    </a:solidFill>
                  </a:tcPr>
                </a:tc>
                <a:tc>
                  <a:txBody>
                    <a:bodyPr wrap="square"/>
                    <a:lstStyle/>
                    <a:p>
                      <a:pPr algn="r"/>
                      <a:r>
                        <a:rPr sz="1100" b="0">
                          <a:solidFill>
                            <a:srgbClr val="14324A"/>
                          </a:solidFill>
                          <a:latin typeface="Courier New"/>
                        </a:rPr>
                        <a:t>3.57</a:t>
                      </a:r>
                    </a:p>
                  </a:txBody>
                  <a:tcPr marL="54864" marR="54864" marT="27432" marB="27432">
                    <a:solidFill>
                      <a:srgbClr val="FFFFFF"/>
                    </a:solidFill>
                  </a:tcPr>
                </a:tc>
                <a:tc>
                  <a:txBody>
                    <a:bodyPr wrap="square"/>
                    <a:lstStyle/>
                    <a:p>
                      <a:pPr algn="r"/>
                      <a:r>
                        <a:rPr sz="1100" b="0">
                          <a:solidFill>
                            <a:srgbClr val="14324A"/>
                          </a:solidFill>
                          <a:latin typeface="Courier New"/>
                        </a:rPr>
                        <a:t>2024-04-02</a:t>
                      </a:r>
                    </a:p>
                  </a:txBody>
                  <a:tcPr marL="54864" marR="54864" marT="27432" marB="27432">
                    <a:solidFill>
                      <a:srgbClr val="FFFFFF"/>
                    </a:solidFill>
                  </a:tcPr>
                </a:tc>
                <a:tc>
                  <a:txBody>
                    <a:bodyPr wrap="square"/>
                    <a:lstStyle/>
                    <a:p>
                      <a:pPr algn="r"/>
                      <a:r>
                        <a:rPr sz="1100" b="0">
                          <a:solidFill>
                            <a:srgbClr val="14324A"/>
                          </a:solidFill>
                          <a:latin typeface="Courier New"/>
                        </a:rPr>
                        <a:t>909</a:t>
                      </a:r>
                    </a:p>
                  </a:txBody>
                  <a:tcPr marL="54864" marR="54864" marT="27432" marB="27432">
                    <a:solidFill>
                      <a:srgbClr val="FFFFFF"/>
                    </a:solidFill>
                  </a:tcPr>
                </a:tc>
                <a:tc>
                  <a:txBody>
                    <a:bodyPr wrap="square"/>
                    <a:lstStyle/>
                    <a:p>
                      <a:pPr algn="r"/>
                      <a:r>
                        <a:rPr sz="1100" b="0">
                          <a:solidFill>
                            <a:srgbClr val="14324A"/>
                          </a:solidFill>
                          <a:latin typeface="Courier New"/>
                        </a:rPr>
                        <a:t>27,187</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 heavy duplicate candidates</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r h="301752">
                <a:tc>
                  <a:txBody>
                    <a:bodyPr wrap="square"/>
                    <a:lstStyle/>
                    <a:p>
                      <a:pPr algn="l"/>
                      <a:r>
                        <a:rPr sz="1100" b="0">
                          <a:solidFill>
                            <a:srgbClr val="14324A"/>
                          </a:solidFill>
                          <a:latin typeface="Calibri"/>
                        </a:rPr>
                        <a:t>na7p434j</a:t>
                      </a:r>
                    </a:p>
                  </a:txBody>
                  <a:tcPr marL="54864" marR="54864" marT="27432" marB="27432">
                    <a:solidFill>
                      <a:srgbClr val="FFFFFF"/>
                    </a:solidFill>
                  </a:tcPr>
                </a:tc>
                <a:tc>
                  <a:txBody>
                    <a:bodyPr wrap="square"/>
                    <a:lstStyle/>
                    <a:p>
                      <a:pPr algn="r"/>
                      <a:r>
                        <a:rPr sz="1100" b="0">
                          <a:solidFill>
                            <a:srgbClr val="14324A"/>
                          </a:solidFill>
                          <a:latin typeface="Courier New"/>
                        </a:rPr>
                        <a:t>3.5</a:t>
                      </a:r>
                    </a:p>
                  </a:txBody>
                  <a:tcPr marL="54864" marR="54864" marT="27432" marB="27432">
                    <a:solidFill>
                      <a:srgbClr val="FFFFFF"/>
                    </a:solidFill>
                  </a:tcPr>
                </a:tc>
                <a:tc>
                  <a:txBody>
                    <a:bodyPr wrap="square"/>
                    <a:lstStyle/>
                    <a:p>
                      <a:pPr algn="r"/>
                      <a:r>
                        <a:rPr sz="1100" b="0">
                          <a:solidFill>
                            <a:srgbClr val="14324A"/>
                          </a:solidFill>
                          <a:latin typeface="Courier New"/>
                        </a:rPr>
                        <a:t>2024-04-04</a:t>
                      </a:r>
                    </a:p>
                  </a:txBody>
                  <a:tcPr marL="54864" marR="54864" marT="27432" marB="27432">
                    <a:solidFill>
                      <a:srgbClr val="FFFFFF"/>
                    </a:solidFill>
                  </a:tcPr>
                </a:tc>
                <a:tc>
                  <a:txBody>
                    <a:bodyPr wrap="square"/>
                    <a:lstStyle/>
                    <a:p>
                      <a:pPr algn="r"/>
                      <a:r>
                        <a:rPr sz="1100" b="0">
                          <a:solidFill>
                            <a:srgbClr val="14324A"/>
                          </a:solidFill>
                          <a:latin typeface="Courier New"/>
                        </a:rPr>
                        <a:t>908</a:t>
                      </a:r>
                    </a:p>
                  </a:txBody>
                  <a:tcPr marL="54864" marR="54864" marT="27432" marB="27432">
                    <a:solidFill>
                      <a:srgbClr val="FFFFFF"/>
                    </a:solidFill>
                  </a:tcPr>
                </a:tc>
                <a:tc>
                  <a:txBody>
                    <a:bodyPr wrap="square"/>
                    <a:lstStyle/>
                    <a:p>
                      <a:pPr algn="r"/>
                      <a:r>
                        <a:rPr sz="1100" b="0">
                          <a:solidFill>
                            <a:srgbClr val="14324A"/>
                          </a:solidFill>
                          <a:latin typeface="Courier New"/>
                        </a:rPr>
                        <a:t>2,890</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r h="301752">
                <a:tc>
                  <a:txBody>
                    <a:bodyPr wrap="square"/>
                    <a:lstStyle/>
                    <a:p>
                      <a:pPr algn="l"/>
                      <a:r>
                        <a:rPr sz="1100" b="0">
                          <a:solidFill>
                            <a:srgbClr val="14324A"/>
                          </a:solidFill>
                          <a:latin typeface="Calibri"/>
                        </a:rPr>
                        <a:t>na7p41hj</a:t>
                      </a:r>
                    </a:p>
                  </a:txBody>
                  <a:tcPr marL="54864" marR="54864" marT="27432" marB="27432">
                    <a:solidFill>
                      <a:srgbClr val="FFFFFF"/>
                    </a:solidFill>
                  </a:tcPr>
                </a:tc>
                <a:tc>
                  <a:txBody>
                    <a:bodyPr wrap="square"/>
                    <a:lstStyle/>
                    <a:p>
                      <a:pPr algn="r"/>
                      <a:r>
                        <a:rPr sz="1100" b="0">
                          <a:solidFill>
                            <a:srgbClr val="14324A"/>
                          </a:solidFill>
                          <a:latin typeface="Courier New"/>
                        </a:rPr>
                        <a:t>3.48</a:t>
                      </a:r>
                    </a:p>
                  </a:txBody>
                  <a:tcPr marL="54864" marR="54864" marT="27432" marB="27432">
                    <a:solidFill>
                      <a:srgbClr val="FFFFFF"/>
                    </a:solidFill>
                  </a:tcPr>
                </a:tc>
                <a:tc>
                  <a:txBody>
                    <a:bodyPr wrap="square"/>
                    <a:lstStyle/>
                    <a:p>
                      <a:pPr algn="r"/>
                      <a:r>
                        <a:rPr sz="1100" b="0">
                          <a:solidFill>
                            <a:srgbClr val="14324A"/>
                          </a:solidFill>
                          <a:latin typeface="Courier New"/>
                        </a:rPr>
                        <a:t>2024-03-27</a:t>
                      </a:r>
                    </a:p>
                  </a:txBody>
                  <a:tcPr marL="54864" marR="54864" marT="27432" marB="27432">
                    <a:solidFill>
                      <a:srgbClr val="FFFFFF"/>
                    </a:solidFill>
                  </a:tcPr>
                </a:tc>
                <a:tc>
                  <a:txBody>
                    <a:bodyPr wrap="square"/>
                    <a:lstStyle/>
                    <a:p>
                      <a:pPr algn="r"/>
                      <a:r>
                        <a:rPr sz="1100" b="0">
                          <a:solidFill>
                            <a:srgbClr val="14324A"/>
                          </a:solidFill>
                          <a:latin typeface="Courier New"/>
                        </a:rPr>
                        <a:t>915</a:t>
                      </a:r>
                    </a:p>
                  </a:txBody>
                  <a:tcPr marL="54864" marR="54864" marT="27432" marB="27432">
                    <a:solidFill>
                      <a:srgbClr val="FFFFFF"/>
                    </a:solidFill>
                  </a:tcPr>
                </a:tc>
                <a:tc>
                  <a:txBody>
                    <a:bodyPr wrap="square"/>
                    <a:lstStyle/>
                    <a:p>
                      <a:pPr algn="r"/>
                      <a:r>
                        <a:rPr sz="1100" b="0">
                          <a:solidFill>
                            <a:srgbClr val="14324A"/>
                          </a:solidFill>
                          <a:latin typeface="Courier New"/>
                        </a:rPr>
                        <a:t>1,852</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r h="301752">
                <a:tc>
                  <a:txBody>
                    <a:bodyPr wrap="square"/>
                    <a:lstStyle/>
                    <a:p>
                      <a:pPr algn="l"/>
                      <a:r>
                        <a:rPr sz="1100" b="0">
                          <a:solidFill>
                            <a:srgbClr val="14324A"/>
                          </a:solidFill>
                          <a:latin typeface="Calibri"/>
                        </a:rPr>
                        <a:t>na7p42xe</a:t>
                      </a:r>
                    </a:p>
                  </a:txBody>
                  <a:tcPr marL="54864" marR="54864" marT="27432" marB="27432">
                    <a:solidFill>
                      <a:srgbClr val="FFFFFF"/>
                    </a:solidFill>
                  </a:tcPr>
                </a:tc>
                <a:tc>
                  <a:txBody>
                    <a:bodyPr wrap="square"/>
                    <a:lstStyle/>
                    <a:p>
                      <a:pPr algn="r"/>
                      <a:r>
                        <a:rPr sz="1100" b="0">
                          <a:solidFill>
                            <a:srgbClr val="14324A"/>
                          </a:solidFill>
                          <a:latin typeface="Courier New"/>
                        </a:rPr>
                        <a:t>3.44</a:t>
                      </a:r>
                    </a:p>
                  </a:txBody>
                  <a:tcPr marL="54864" marR="54864" marT="27432" marB="27432">
                    <a:solidFill>
                      <a:srgbClr val="FFFFFF"/>
                    </a:solidFill>
                  </a:tcPr>
                </a:tc>
                <a:tc>
                  <a:txBody>
                    <a:bodyPr wrap="square"/>
                    <a:lstStyle/>
                    <a:p>
                      <a:pPr algn="r"/>
                      <a:r>
                        <a:rPr sz="1100" b="0">
                          <a:solidFill>
                            <a:srgbClr val="14324A"/>
                          </a:solidFill>
                          <a:latin typeface="Courier New"/>
                        </a:rPr>
                        <a:t>2024-04-04</a:t>
                      </a:r>
                    </a:p>
                  </a:txBody>
                  <a:tcPr marL="54864" marR="54864" marT="27432" marB="27432">
                    <a:solidFill>
                      <a:srgbClr val="FFFFFF"/>
                    </a:solidFill>
                  </a:tcPr>
                </a:tc>
                <a:tc>
                  <a:txBody>
                    <a:bodyPr wrap="square"/>
                    <a:lstStyle/>
                    <a:p>
                      <a:pPr algn="r"/>
                      <a:r>
                        <a:rPr sz="1100" b="0">
                          <a:solidFill>
                            <a:srgbClr val="14324A"/>
                          </a:solidFill>
                          <a:latin typeface="Courier New"/>
                        </a:rPr>
                        <a:t>907</a:t>
                      </a:r>
                    </a:p>
                  </a:txBody>
                  <a:tcPr marL="54864" marR="54864" marT="27432" marB="27432">
                    <a:solidFill>
                      <a:srgbClr val="FFFFFF"/>
                    </a:solidFill>
                  </a:tcPr>
                </a:tc>
                <a:tc>
                  <a:txBody>
                    <a:bodyPr wrap="square"/>
                    <a:lstStyle/>
                    <a:p>
                      <a:pPr algn="r"/>
                      <a:r>
                        <a:rPr sz="1100" b="0">
                          <a:solidFill>
                            <a:srgbClr val="14324A"/>
                          </a:solidFill>
                          <a:latin typeface="Courier New"/>
                        </a:rPr>
                        <a:t>1,120</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r h="301752">
                <a:tc>
                  <a:txBody>
                    <a:bodyPr wrap="square"/>
                    <a:lstStyle/>
                    <a:p>
                      <a:pPr algn="l"/>
                      <a:r>
                        <a:rPr sz="1100" b="0">
                          <a:solidFill>
                            <a:srgbClr val="14324A"/>
                          </a:solidFill>
                          <a:latin typeface="Calibri"/>
                        </a:rPr>
                        <a:t>na7p42xw</a:t>
                      </a:r>
                    </a:p>
                  </a:txBody>
                  <a:tcPr marL="54864" marR="54864" marT="27432" marB="27432">
                    <a:solidFill>
                      <a:srgbClr val="FFFFFF"/>
                    </a:solidFill>
                  </a:tcPr>
                </a:tc>
                <a:tc>
                  <a:txBody>
                    <a:bodyPr wrap="square"/>
                    <a:lstStyle/>
                    <a:p>
                      <a:pPr algn="r"/>
                      <a:r>
                        <a:rPr sz="1100" b="0">
                          <a:solidFill>
                            <a:srgbClr val="14324A"/>
                          </a:solidFill>
                          <a:latin typeface="Courier New"/>
                        </a:rPr>
                        <a:t>3.4</a:t>
                      </a:r>
                    </a:p>
                  </a:txBody>
                  <a:tcPr marL="54864" marR="54864" marT="27432" marB="27432">
                    <a:solidFill>
                      <a:srgbClr val="FFFFFF"/>
                    </a:solidFill>
                  </a:tcPr>
                </a:tc>
                <a:tc>
                  <a:txBody>
                    <a:bodyPr wrap="square"/>
                    <a:lstStyle/>
                    <a:p>
                      <a:pPr algn="r"/>
                      <a:r>
                        <a:rPr sz="1100" b="0">
                          <a:solidFill>
                            <a:srgbClr val="14324A"/>
                          </a:solidFill>
                          <a:latin typeface="Courier New"/>
                        </a:rPr>
                        <a:t>2024-03-31</a:t>
                      </a:r>
                    </a:p>
                  </a:txBody>
                  <a:tcPr marL="54864" marR="54864" marT="27432" marB="27432">
                    <a:solidFill>
                      <a:srgbClr val="FFFFFF"/>
                    </a:solidFill>
                  </a:tcPr>
                </a:tc>
                <a:tc>
                  <a:txBody>
                    <a:bodyPr wrap="square"/>
                    <a:lstStyle/>
                    <a:p>
                      <a:pPr algn="r"/>
                      <a:r>
                        <a:rPr sz="1100" b="0">
                          <a:solidFill>
                            <a:srgbClr val="14324A"/>
                          </a:solidFill>
                          <a:latin typeface="Courier New"/>
                        </a:rPr>
                        <a:t>911</a:t>
                      </a:r>
                    </a:p>
                  </a:txBody>
                  <a:tcPr marL="54864" marR="54864" marT="27432" marB="27432">
                    <a:solidFill>
                      <a:srgbClr val="FFFFFF"/>
                    </a:solidFill>
                  </a:tcPr>
                </a:tc>
                <a:tc>
                  <a:txBody>
                    <a:bodyPr wrap="square"/>
                    <a:lstStyle/>
                    <a:p>
                      <a:pPr algn="r"/>
                      <a:r>
                        <a:rPr sz="1100" b="0">
                          <a:solidFill>
                            <a:srgbClr val="14324A"/>
                          </a:solidFill>
                          <a:latin typeface="Courier New"/>
                        </a:rPr>
                        <a:t>2,391</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r h="301752">
                <a:tc>
                  <a:txBody>
                    <a:bodyPr wrap="square"/>
                    <a:lstStyle/>
                    <a:p>
                      <a:pPr algn="l"/>
                      <a:r>
                        <a:rPr sz="1100" b="0">
                          <a:solidFill>
                            <a:srgbClr val="14324A"/>
                          </a:solidFill>
                          <a:latin typeface="Calibri"/>
                        </a:rPr>
                        <a:t>na7p42yg</a:t>
                      </a:r>
                    </a:p>
                  </a:txBody>
                  <a:tcPr marL="54864" marR="54864" marT="27432" marB="27432">
                    <a:solidFill>
                      <a:srgbClr val="FFFFFF"/>
                    </a:solidFill>
                  </a:tcPr>
                </a:tc>
                <a:tc>
                  <a:txBody>
                    <a:bodyPr wrap="square"/>
                    <a:lstStyle/>
                    <a:p>
                      <a:pPr algn="r"/>
                      <a:r>
                        <a:rPr sz="1100" b="0">
                          <a:solidFill>
                            <a:srgbClr val="14324A"/>
                          </a:solidFill>
                          <a:latin typeface="Courier New"/>
                        </a:rPr>
                        <a:t>3.28</a:t>
                      </a:r>
                    </a:p>
                  </a:txBody>
                  <a:tcPr marL="54864" marR="54864" marT="27432" marB="27432">
                    <a:solidFill>
                      <a:srgbClr val="FFFFFF"/>
                    </a:solidFill>
                  </a:tcPr>
                </a:tc>
                <a:tc>
                  <a:txBody>
                    <a:bodyPr wrap="square"/>
                    <a:lstStyle/>
                    <a:p>
                      <a:pPr algn="r"/>
                      <a:r>
                        <a:rPr sz="1100" b="0">
                          <a:solidFill>
                            <a:srgbClr val="14324A"/>
                          </a:solidFill>
                          <a:latin typeface="Courier New"/>
                        </a:rPr>
                        <a:t>2024-03-31</a:t>
                      </a:r>
                    </a:p>
                  </a:txBody>
                  <a:tcPr marL="54864" marR="54864" marT="27432" marB="27432">
                    <a:solidFill>
                      <a:srgbClr val="FFFFFF"/>
                    </a:solidFill>
                  </a:tcPr>
                </a:tc>
                <a:tc>
                  <a:txBody>
                    <a:bodyPr wrap="square"/>
                    <a:lstStyle/>
                    <a:p>
                      <a:pPr algn="r"/>
                      <a:r>
                        <a:rPr sz="1100" b="0">
                          <a:solidFill>
                            <a:srgbClr val="14324A"/>
                          </a:solidFill>
                          <a:latin typeface="Courier New"/>
                        </a:rPr>
                        <a:t>912</a:t>
                      </a:r>
                    </a:p>
                  </a:txBody>
                  <a:tcPr marL="54864" marR="54864" marT="27432" marB="27432">
                    <a:solidFill>
                      <a:srgbClr val="FFFFFF"/>
                    </a:solidFill>
                  </a:tcPr>
                </a:tc>
                <a:tc>
                  <a:txBody>
                    <a:bodyPr wrap="square"/>
                    <a:lstStyle/>
                    <a:p>
                      <a:pPr algn="r"/>
                      <a:r>
                        <a:rPr sz="1100" b="0">
                          <a:solidFill>
                            <a:srgbClr val="14324A"/>
                          </a:solidFill>
                          <a:latin typeface="Courier New"/>
                        </a:rPr>
                        <a:t>4,197</a:t>
                      </a:r>
                    </a:p>
                  </a:txBody>
                  <a:tcPr marL="54864" marR="54864" marT="27432" marB="27432">
                    <a:solidFill>
                      <a:srgbClr val="FFFFFF"/>
                    </a:solidFill>
                  </a:tcPr>
                </a:tc>
                <a:tc>
                  <a:txBody>
                    <a:bodyPr wrap="square"/>
                    <a:lstStyle/>
                    <a:p>
                      <a:pPr algn="r"/>
                      <a:r>
                        <a:rPr sz="1100" b="0">
                          <a:solidFill>
                            <a:srgbClr val="14324A"/>
                          </a:solidFill>
                          <a:latin typeface="Courier New"/>
                        </a:rPr>
                        <a:t>cold — archive candidate</a:t>
                      </a:r>
                    </a:p>
                  </a:txBody>
                  <a:tcPr marL="54864" marR="54864" marT="27432" marB="27432">
                    <a:solidFill>
                      <a:srgbClr val="FFFFFF"/>
                    </a:solidFill>
                  </a:tcPr>
                </a:tc>
                <a:tc>
                  <a:txBody>
                    <a:bodyPr wrap="square"/>
                    <a:lstStyle/>
                    <a:p>
                      <a:pPr algn="r"/>
                      <a:r>
                        <a:rPr sz="1100" b="0">
                          <a:solidFill>
                            <a:srgbClr val="14324A"/>
                          </a:solidFill>
                          <a:latin typeface="Courier New"/>
                        </a:rPr>
                        <a:t>lifecycle rule Standard → Archive after read-log check</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Every bucket named here was enumerated object by object; the classification follows from its last write date and its duplicate-candidate count.</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R04: OBS bucket enumeration census run cr-f1415e395361 (22,975,591 objects, 130.3 TiB)</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Exact object-store buckets under review (largest first)</a:t>
            </a:r>
          </a:p>
        </p:txBody>
      </p:sp>
      <p:graphicFrame>
        <p:nvGraphicFramePr>
          <p:cNvPr id="4" name="Table 3"/>
          <p:cNvGraphicFramePr>
            <a:graphicFrameLocks noGrp="1"/>
          </p:cNvGraphicFramePr>
          <p:nvPr/>
        </p:nvGraphicFramePr>
        <p:xfrm>
          <a:off x="594360" y="1920240"/>
          <a:ext cx="11002971" cy="1536192"/>
        </p:xfrm>
        <a:graphic>
          <a:graphicData uri="http://schemas.openxmlformats.org/drawingml/2006/table">
            <a:tbl>
              <a:tblPr firstRow="1" bandRow="1">
                <a:tableStyleId>{5C22544A-7EE6-4342-B048-85BDC9FD1C3A}</a:tableStyleId>
              </a:tblPr>
              <a:tblGrid>
                <a:gridCol w="962760"/>
                <a:gridCol w="962760"/>
                <a:gridCol w="962760"/>
                <a:gridCol w="962760"/>
                <a:gridCol w="1375371"/>
                <a:gridCol w="2888280"/>
                <a:gridCol w="2888280"/>
              </a:tblGrid>
              <a:tr h="384048">
                <a:tc>
                  <a:txBody>
                    <a:bodyPr wrap="square"/>
                    <a:lstStyle/>
                    <a:p>
                      <a:pPr algn="l"/>
                      <a:r>
                        <a:rPr sz="1200" b="1">
                          <a:solidFill>
                            <a:srgbClr val="14324A"/>
                          </a:solidFill>
                          <a:latin typeface="Calibri"/>
                        </a:rPr>
                        <a:t>Bucket</a:t>
                      </a:r>
                    </a:p>
                  </a:txBody>
                  <a:tcPr marL="54864" marR="54864" marT="27432" marB="27432">
                    <a:solidFill>
                      <a:srgbClr val="E8EEF3"/>
                    </a:solidFill>
                  </a:tcPr>
                </a:tc>
                <a:tc>
                  <a:txBody>
                    <a:bodyPr wrap="square"/>
                    <a:lstStyle/>
                    <a:p>
                      <a:pPr algn="l"/>
                      <a:r>
                        <a:rPr sz="1200" b="1">
                          <a:solidFill>
                            <a:srgbClr val="14324A"/>
                          </a:solidFill>
                          <a:latin typeface="Calibri"/>
                        </a:rPr>
                        <a:t>Held (TiB)</a:t>
                      </a:r>
                    </a:p>
                  </a:txBody>
                  <a:tcPr marL="54864" marR="54864" marT="27432" marB="27432">
                    <a:solidFill>
                      <a:srgbClr val="E8EEF3"/>
                    </a:solidFill>
                  </a:tcPr>
                </a:tc>
                <a:tc>
                  <a:txBody>
                    <a:bodyPr wrap="square"/>
                    <a:lstStyle/>
                    <a:p>
                      <a:pPr algn="l"/>
                      <a:r>
                        <a:rPr sz="1200" b="1">
                          <a:solidFill>
                            <a:srgbClr val="14324A"/>
                          </a:solidFill>
                          <a:latin typeface="Calibri"/>
                        </a:rPr>
                        <a:t>Last write</a:t>
                      </a:r>
                    </a:p>
                  </a:txBody>
                  <a:tcPr marL="54864" marR="54864" marT="27432" marB="27432">
                    <a:solidFill>
                      <a:srgbClr val="E8EEF3"/>
                    </a:solidFill>
                  </a:tcPr>
                </a:tc>
                <a:tc>
                  <a:txBody>
                    <a:bodyPr wrap="square"/>
                    <a:lstStyle/>
                    <a:p>
                      <a:pPr algn="l"/>
                      <a:r>
                        <a:rPr sz="1200" b="1">
                          <a:solidFill>
                            <a:srgbClr val="14324A"/>
                          </a:solidFill>
                          <a:latin typeface="Calibri"/>
                        </a:rPr>
                        <a:t>Idle days</a:t>
                      </a:r>
                    </a:p>
                  </a:txBody>
                  <a:tcPr marL="54864" marR="54864" marT="27432" marB="27432">
                    <a:solidFill>
                      <a:srgbClr val="E8EEF3"/>
                    </a:solidFill>
                  </a:tcPr>
                </a:tc>
                <a:tc>
                  <a:txBody>
                    <a:bodyPr wrap="square"/>
                    <a:lstStyle/>
                    <a:p>
                      <a:pPr algn="l"/>
                      <a:r>
                        <a:rPr sz="1200" b="1">
                          <a:solidFill>
                            <a:srgbClr val="14324A"/>
                          </a:solidFill>
                          <a:latin typeface="Calibri"/>
                        </a:rPr>
                        <a:t>Duplicate candidates</a:t>
                      </a:r>
                    </a:p>
                  </a:txBody>
                  <a:tcPr marL="54864" marR="54864" marT="27432" marB="27432">
                    <a:solidFill>
                      <a:srgbClr val="E8EEF3"/>
                    </a:solidFill>
                  </a:tcPr>
                </a:tc>
                <a:tc>
                  <a:txBody>
                    <a:bodyPr wrap="square"/>
                    <a:lstStyle/>
                    <a:p>
                      <a:pPr algn="l"/>
                      <a:r>
                        <a:rPr sz="1200" b="1">
                          <a:solidFill>
                            <a:srgbClr val="14324A"/>
                          </a:solidFill>
                          <a:latin typeface="Calibri"/>
                        </a:rPr>
                        <a:t>Classification</a:t>
                      </a:r>
                    </a:p>
                  </a:txBody>
                  <a:tcPr marL="54864" marR="54864" marT="27432" marB="27432">
                    <a:solidFill>
                      <a:srgbClr val="E8EEF3"/>
                    </a:solidFill>
                  </a:tcPr>
                </a:tc>
                <a:tc>
                  <a:txBody>
                    <a:bodyPr wrap="square"/>
                    <a:lstStyle/>
                    <a:p>
                      <a:pPr algn="l"/>
                      <a:r>
                        <a:rPr sz="1200" b="1">
                          <a:solidFill>
                            <a:srgbClr val="14324A"/>
                          </a:solidFill>
                          <a:latin typeface="Calibri"/>
                        </a:rPr>
                        <a:t>Proposed action</a:t>
                      </a:r>
                    </a:p>
                  </a:txBody>
                  <a:tcPr marL="54864" marR="54864" marT="27432" marB="27432">
                    <a:solidFill>
                      <a:srgbClr val="E8EEF3"/>
                    </a:solidFill>
                  </a:tcPr>
                </a:tc>
              </a:tr>
              <a:tr h="384048">
                <a:tc>
                  <a:txBody>
                    <a:bodyPr wrap="square"/>
                    <a:lstStyle/>
                    <a:p>
                      <a:pPr algn="l"/>
                      <a:r>
                        <a:rPr sz="1200" b="0">
                          <a:solidFill>
                            <a:srgbClr val="14324A"/>
                          </a:solidFill>
                          <a:latin typeface="Calibri"/>
                        </a:rPr>
                        <a:t>na7p43d3</a:t>
                      </a:r>
                    </a:p>
                  </a:txBody>
                  <a:tcPr marL="54864" marR="54864" marT="27432" marB="27432">
                    <a:solidFill>
                      <a:srgbClr val="FFFFFF"/>
                    </a:solidFill>
                  </a:tcPr>
                </a:tc>
                <a:tc>
                  <a:txBody>
                    <a:bodyPr wrap="square"/>
                    <a:lstStyle/>
                    <a:p>
                      <a:pPr algn="r"/>
                      <a:r>
                        <a:rPr sz="1200" b="0">
                          <a:solidFill>
                            <a:srgbClr val="14324A"/>
                          </a:solidFill>
                          <a:latin typeface="Courier New"/>
                        </a:rPr>
                        <a:t>2.9</a:t>
                      </a:r>
                    </a:p>
                  </a:txBody>
                  <a:tcPr marL="54864" marR="54864" marT="27432" marB="27432">
                    <a:solidFill>
                      <a:srgbClr val="FFFFFF"/>
                    </a:solidFill>
                  </a:tcPr>
                </a:tc>
                <a:tc>
                  <a:txBody>
                    <a:bodyPr wrap="square"/>
                    <a:lstStyle/>
                    <a:p>
                      <a:pPr algn="r"/>
                      <a:r>
                        <a:rPr sz="1200" b="0">
                          <a:solidFill>
                            <a:srgbClr val="14324A"/>
                          </a:solidFill>
                          <a:latin typeface="Courier New"/>
                        </a:rPr>
                        <a:t>2024-03-30</a:t>
                      </a:r>
                    </a:p>
                  </a:txBody>
                  <a:tcPr marL="54864" marR="54864" marT="27432" marB="27432">
                    <a:solidFill>
                      <a:srgbClr val="FFFFFF"/>
                    </a:solidFill>
                  </a:tcPr>
                </a:tc>
                <a:tc>
                  <a:txBody>
                    <a:bodyPr wrap="square"/>
                    <a:lstStyle/>
                    <a:p>
                      <a:pPr algn="r"/>
                      <a:r>
                        <a:rPr sz="1200" b="0">
                          <a:solidFill>
                            <a:srgbClr val="14324A"/>
                          </a:solidFill>
                          <a:latin typeface="Courier New"/>
                        </a:rPr>
                        <a:t>912</a:t>
                      </a:r>
                    </a:p>
                  </a:txBody>
                  <a:tcPr marL="54864" marR="54864" marT="27432" marB="27432">
                    <a:solidFill>
                      <a:srgbClr val="FFFFFF"/>
                    </a:solidFill>
                  </a:tcPr>
                </a:tc>
                <a:tc>
                  <a:txBody>
                    <a:bodyPr wrap="square"/>
                    <a:lstStyle/>
                    <a:p>
                      <a:pPr algn="r"/>
                      <a:r>
                        <a:rPr sz="1200" b="0">
                          <a:solidFill>
                            <a:srgbClr val="14324A"/>
                          </a:solidFill>
                          <a:latin typeface="Courier New"/>
                        </a:rPr>
                        <a:t>1,395</a:t>
                      </a:r>
                    </a:p>
                  </a:txBody>
                  <a:tcPr marL="54864" marR="54864" marT="27432" marB="27432">
                    <a:solidFill>
                      <a:srgbClr val="FFFFFF"/>
                    </a:solidFill>
                  </a:tcPr>
                </a:tc>
                <a:tc>
                  <a:txBody>
                    <a:bodyPr wrap="square"/>
                    <a:lstStyle/>
                    <a:p>
                      <a:pPr algn="r"/>
                      <a:r>
                        <a:rPr sz="1200" b="0">
                          <a:solidFill>
                            <a:srgbClr val="14324A"/>
                          </a:solidFill>
                          <a:latin typeface="Courier New"/>
                        </a:rPr>
                        <a:t>cold — archive candidate</a:t>
                      </a:r>
                    </a:p>
                  </a:txBody>
                  <a:tcPr marL="54864" marR="54864" marT="27432" marB="27432">
                    <a:solidFill>
                      <a:srgbClr val="FFFFFF"/>
                    </a:solidFill>
                  </a:tcPr>
                </a:tc>
                <a:tc>
                  <a:txBody>
                    <a:bodyPr wrap="square"/>
                    <a:lstStyle/>
                    <a:p>
                      <a:pPr algn="r"/>
                      <a:r>
                        <a:rPr sz="1200" b="0">
                          <a:solidFill>
                            <a:srgbClr val="14324A"/>
                          </a:solidFill>
                          <a:latin typeface="Courier New"/>
                        </a:rPr>
                        <a:t>lifecycle rule Standard → Archive after read-log check</a:t>
                      </a:r>
                    </a:p>
                  </a:txBody>
                  <a:tcPr marL="54864" marR="54864" marT="27432" marB="27432">
                    <a:solidFill>
                      <a:srgbClr val="FFFFFF"/>
                    </a:solidFill>
                  </a:tcPr>
                </a:tc>
              </a:tr>
              <a:tr h="384048">
                <a:tc>
                  <a:txBody>
                    <a:bodyPr wrap="square"/>
                    <a:lstStyle/>
                    <a:p>
                      <a:pPr algn="l"/>
                      <a:r>
                        <a:rPr sz="1200" b="0">
                          <a:solidFill>
                            <a:srgbClr val="14324A"/>
                          </a:solidFill>
                          <a:latin typeface="Calibri"/>
                        </a:rPr>
                        <a:t>na7p4oco</a:t>
                      </a:r>
                    </a:p>
                  </a:txBody>
                  <a:tcPr marL="54864" marR="54864" marT="27432" marB="27432">
                    <a:solidFill>
                      <a:srgbClr val="FFFFFF"/>
                    </a:solidFill>
                  </a:tcPr>
                </a:tc>
                <a:tc>
                  <a:txBody>
                    <a:bodyPr wrap="square"/>
                    <a:lstStyle/>
                    <a:p>
                      <a:pPr algn="r"/>
                      <a:r>
                        <a:rPr sz="1200" b="0">
                          <a:solidFill>
                            <a:srgbClr val="14324A"/>
                          </a:solidFill>
                          <a:latin typeface="Courier New"/>
                        </a:rPr>
                        <a:t>2.86</a:t>
                      </a:r>
                    </a:p>
                  </a:txBody>
                  <a:tcPr marL="54864" marR="54864" marT="27432" marB="27432">
                    <a:solidFill>
                      <a:srgbClr val="FFFFFF"/>
                    </a:solidFill>
                  </a:tcPr>
                </a:tc>
                <a:tc>
                  <a:txBody>
                    <a:bodyPr wrap="square"/>
                    <a:lstStyle/>
                    <a:p>
                      <a:pPr algn="r"/>
                      <a:r>
                        <a:rPr sz="1200" b="0">
                          <a:solidFill>
                            <a:srgbClr val="14324A"/>
                          </a:solidFill>
                          <a:latin typeface="Courier New"/>
                        </a:rPr>
                        <a:t>2024-04-03</a:t>
                      </a:r>
                    </a:p>
                  </a:txBody>
                  <a:tcPr marL="54864" marR="54864" marT="27432" marB="27432">
                    <a:solidFill>
                      <a:srgbClr val="FFFFFF"/>
                    </a:solidFill>
                  </a:tcPr>
                </a:tc>
                <a:tc>
                  <a:txBody>
                    <a:bodyPr wrap="square"/>
                    <a:lstStyle/>
                    <a:p>
                      <a:pPr algn="r"/>
                      <a:r>
                        <a:rPr sz="1200" b="0">
                          <a:solidFill>
                            <a:srgbClr val="14324A"/>
                          </a:solidFill>
                          <a:latin typeface="Courier New"/>
                        </a:rPr>
                        <a:t>908</a:t>
                      </a:r>
                    </a:p>
                  </a:txBody>
                  <a:tcPr marL="54864" marR="54864" marT="27432" marB="27432">
                    <a:solidFill>
                      <a:srgbClr val="FFFFFF"/>
                    </a:solidFill>
                  </a:tcPr>
                </a:tc>
                <a:tc>
                  <a:txBody>
                    <a:bodyPr wrap="square"/>
                    <a:lstStyle/>
                    <a:p>
                      <a:pPr algn="r"/>
                      <a:r>
                        <a:rPr sz="1200" b="0">
                          <a:solidFill>
                            <a:srgbClr val="14324A"/>
                          </a:solidFill>
                          <a:latin typeface="Courier New"/>
                        </a:rPr>
                        <a:t>166,328</a:t>
                      </a:r>
                    </a:p>
                  </a:txBody>
                  <a:tcPr marL="54864" marR="54864" marT="27432" marB="27432">
                    <a:solidFill>
                      <a:srgbClr val="FFFFFF"/>
                    </a:solidFill>
                  </a:tcPr>
                </a:tc>
                <a:tc>
                  <a:txBody>
                    <a:bodyPr wrap="square"/>
                    <a:lstStyle/>
                    <a:p>
                      <a:pPr algn="r"/>
                      <a:r>
                        <a:rPr sz="1200" b="0">
                          <a:solidFill>
                            <a:srgbClr val="14324A"/>
                          </a:solidFill>
                          <a:latin typeface="Courier New"/>
                        </a:rPr>
                        <a:t>cold — archive candidate; heavy duplicate candidates</a:t>
                      </a:r>
                    </a:p>
                  </a:txBody>
                  <a:tcPr marL="54864" marR="54864" marT="27432" marB="27432">
                    <a:solidFill>
                      <a:srgbClr val="FFFFFF"/>
                    </a:solidFill>
                  </a:tcPr>
                </a:tc>
                <a:tc>
                  <a:txBody>
                    <a:bodyPr wrap="square"/>
                    <a:lstStyle/>
                    <a:p>
                      <a:pPr algn="r"/>
                      <a:r>
                        <a:rPr sz="1200" b="0">
                          <a:solidFill>
                            <a:srgbClr val="14324A"/>
                          </a:solidFill>
                          <a:latin typeface="Courier New"/>
                        </a:rPr>
                        <a:t>lifecycle rule Standard → Archive after read-log check</a:t>
                      </a:r>
                    </a:p>
                  </a:txBody>
                  <a:tcPr marL="54864" marR="54864" marT="27432" marB="27432">
                    <a:solidFill>
                      <a:srgbClr val="FFFFFF"/>
                    </a:solidFill>
                  </a:tcPr>
                </a:tc>
              </a:tr>
              <a:tr h="384048">
                <a:tc>
                  <a:txBody>
                    <a:bodyPr wrap="square"/>
                    <a:lstStyle/>
                    <a:p>
                      <a:pPr algn="l"/>
                      <a:r>
                        <a:rPr sz="1200" b="0">
                          <a:solidFill>
                            <a:srgbClr val="14324A"/>
                          </a:solidFill>
                          <a:latin typeface="Calibri"/>
                        </a:rPr>
                        <a:t>rmsbroadcast</a:t>
                      </a:r>
                    </a:p>
                  </a:txBody>
                  <a:tcPr marL="54864" marR="54864" marT="27432" marB="27432">
                    <a:solidFill>
                      <a:srgbClr val="FFFFFF"/>
                    </a:solidFill>
                  </a:tcPr>
                </a:tc>
                <a:tc>
                  <a:txBody>
                    <a:bodyPr wrap="square"/>
                    <a:lstStyle/>
                    <a:p>
                      <a:pPr algn="r"/>
                      <a:r>
                        <a:rPr sz="1200" b="0">
                          <a:solidFill>
                            <a:srgbClr val="14324A"/>
                          </a:solidFill>
                          <a:latin typeface="Courier New"/>
                        </a:rPr>
                        <a:t>1.49</a:t>
                      </a:r>
                    </a:p>
                  </a:txBody>
                  <a:tcPr marL="54864" marR="54864" marT="27432" marB="27432">
                    <a:solidFill>
                      <a:srgbClr val="FFFFFF"/>
                    </a:solidFill>
                  </a:tcPr>
                </a:tc>
                <a:tc>
                  <a:txBody>
                    <a:bodyPr wrap="square"/>
                    <a:lstStyle/>
                    <a:p>
                      <a:pPr algn="r"/>
                      <a:r>
                        <a:rPr sz="1200" b="0">
                          <a:solidFill>
                            <a:srgbClr val="14324A"/>
                          </a:solidFill>
                          <a:latin typeface="Courier New"/>
                        </a:rPr>
                        <a:t>2024-03-24</a:t>
                      </a:r>
                    </a:p>
                  </a:txBody>
                  <a:tcPr marL="54864" marR="54864" marT="27432" marB="27432">
                    <a:solidFill>
                      <a:srgbClr val="FFFFFF"/>
                    </a:solidFill>
                  </a:tcPr>
                </a:tc>
                <a:tc>
                  <a:txBody>
                    <a:bodyPr wrap="square"/>
                    <a:lstStyle/>
                    <a:p>
                      <a:pPr algn="r"/>
                      <a:r>
                        <a:rPr sz="1200" b="0">
                          <a:solidFill>
                            <a:srgbClr val="14324A"/>
                          </a:solidFill>
                          <a:latin typeface="Courier New"/>
                        </a:rPr>
                        <a:t>918</a:t>
                      </a:r>
                    </a:p>
                  </a:txBody>
                  <a:tcPr marL="54864" marR="54864" marT="27432" marB="27432">
                    <a:solidFill>
                      <a:srgbClr val="FFFFFF"/>
                    </a:solidFill>
                  </a:tcPr>
                </a:tc>
                <a:tc>
                  <a:txBody>
                    <a:bodyPr wrap="square"/>
                    <a:lstStyle/>
                    <a:p>
                      <a:pPr algn="r"/>
                      <a:r>
                        <a:rPr sz="1200" b="0">
                          <a:solidFill>
                            <a:srgbClr val="14324A"/>
                          </a:solidFill>
                          <a:latin typeface="Courier New"/>
                        </a:rPr>
                        <a:t>5,060</a:t>
                      </a:r>
                    </a:p>
                  </a:txBody>
                  <a:tcPr marL="54864" marR="54864" marT="27432" marB="27432">
                    <a:solidFill>
                      <a:srgbClr val="FFFFFF"/>
                    </a:solidFill>
                  </a:tcPr>
                </a:tc>
                <a:tc>
                  <a:txBody>
                    <a:bodyPr wrap="square"/>
                    <a:lstStyle/>
                    <a:p>
                      <a:pPr algn="r"/>
                      <a:r>
                        <a:rPr sz="1200" b="0">
                          <a:solidFill>
                            <a:srgbClr val="14324A"/>
                          </a:solidFill>
                          <a:latin typeface="Courier New"/>
                        </a:rPr>
                        <a:t>cold — archive candidate</a:t>
                      </a:r>
                    </a:p>
                  </a:txBody>
                  <a:tcPr marL="54864" marR="54864" marT="27432" marB="27432">
                    <a:solidFill>
                      <a:srgbClr val="FFFFFF"/>
                    </a:solidFill>
                  </a:tcPr>
                </a:tc>
                <a:tc>
                  <a:txBody>
                    <a:bodyPr wrap="square"/>
                    <a:lstStyle/>
                    <a:p>
                      <a:pPr algn="r"/>
                      <a:r>
                        <a:rPr sz="1200" b="0">
                          <a:solidFill>
                            <a:srgbClr val="14324A"/>
                          </a:solidFill>
                          <a:latin typeface="Courier New"/>
                        </a:rPr>
                        <a:t>lifecycle rule Standard → Archive after read-log check</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Every bucket named here was enumerated object by object; the classification follows from its last write date and its duplicate-candidate count.</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R04: OBS bucket enumeration census run cr-f1415e395361 (22,975,591 objects, 130.3 TiB)</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Exact database tables under review, by finding</a:t>
            </a:r>
          </a:p>
        </p:txBody>
      </p:sp>
      <p:graphicFrame>
        <p:nvGraphicFramePr>
          <p:cNvPr id="4" name="Table 3"/>
          <p:cNvGraphicFramePr>
            <a:graphicFrameLocks noGrp="1"/>
          </p:cNvGraphicFramePr>
          <p:nvPr/>
        </p:nvGraphicFramePr>
        <p:xfrm>
          <a:off x="594360" y="1920240"/>
          <a:ext cx="11002973" cy="3017520"/>
        </p:xfrm>
        <a:graphic>
          <a:graphicData uri="http://schemas.openxmlformats.org/drawingml/2006/table">
            <a:tbl>
              <a:tblPr firstRow="1" bandRow="1">
                <a:tableStyleId>{5C22544A-7EE6-4342-B048-85BDC9FD1C3A}</a:tableStyleId>
              </a:tblPr>
              <a:tblGrid>
                <a:gridCol w="3300892"/>
                <a:gridCol w="2357780"/>
                <a:gridCol w="2043409"/>
                <a:gridCol w="3300892"/>
              </a:tblGrid>
              <a:tr h="301752">
                <a:tc>
                  <a:txBody>
                    <a:bodyPr wrap="square"/>
                    <a:lstStyle/>
                    <a:p>
                      <a:pPr algn="l"/>
                      <a:r>
                        <a:rPr sz="1200" b="1">
                          <a:solidFill>
                            <a:srgbClr val="14324A"/>
                          </a:solidFill>
                          <a:latin typeface="Calibri"/>
                        </a:rPr>
                        <a:t>Table (database.table)</a:t>
                      </a:r>
                    </a:p>
                  </a:txBody>
                  <a:tcPr marL="54864" marR="54864" marT="27432" marB="27432">
                    <a:solidFill>
                      <a:srgbClr val="E8EEF3"/>
                    </a:solidFill>
                  </a:tcPr>
                </a:tc>
                <a:tc>
                  <a:txBody>
                    <a:bodyPr wrap="square"/>
                    <a:lstStyle/>
                    <a:p>
                      <a:pPr algn="l"/>
                      <a:r>
                        <a:rPr sz="1200" b="1">
                          <a:solidFill>
                            <a:srgbClr val="14324A"/>
                          </a:solidFill>
                          <a:latin typeface="Calibri"/>
                        </a:rPr>
                        <a:t>Finding</a:t>
                      </a:r>
                    </a:p>
                  </a:txBody>
                  <a:tcPr marL="54864" marR="54864" marT="27432" marB="27432">
                    <a:solidFill>
                      <a:srgbClr val="E8EEF3"/>
                    </a:solidFill>
                  </a:tcPr>
                </a:tc>
                <a:tc>
                  <a:txBody>
                    <a:bodyPr wrap="square"/>
                    <a:lstStyle/>
                    <a:p>
                      <a:pPr algn="l"/>
                      <a:r>
                        <a:rPr sz="1200" b="1">
                          <a:solidFill>
                            <a:srgbClr val="14324A"/>
                          </a:solidFill>
                          <a:latin typeface="Calibri"/>
                        </a:rPr>
                        <a:t>Measured detail</a:t>
                      </a:r>
                    </a:p>
                  </a:txBody>
                  <a:tcPr marL="54864" marR="54864" marT="27432" marB="27432">
                    <a:solidFill>
                      <a:srgbClr val="E8EEF3"/>
                    </a:solidFill>
                  </a:tcPr>
                </a:tc>
                <a:tc>
                  <a:txBody>
                    <a:bodyPr wrap="square"/>
                    <a:lstStyle/>
                    <a:p>
                      <a:pPr algn="l"/>
                      <a:r>
                        <a:rPr sz="1200" b="1">
                          <a:solidFill>
                            <a:srgbClr val="14324A"/>
                          </a:solidFill>
                          <a:latin typeface="Calibri"/>
                        </a:rPr>
                        <a:t>Proposed action</a:t>
                      </a:r>
                    </a:p>
                  </a:txBody>
                  <a:tcPr marL="54864" marR="54864" marT="27432" marB="27432">
                    <a:solidFill>
                      <a:srgbClr val="E8EEF3"/>
                    </a:solidFill>
                  </a:tcPr>
                </a:tc>
              </a:tr>
              <a:tr h="301752">
                <a:tc>
                  <a:txBody>
                    <a:bodyPr wrap="square"/>
                    <a:lstStyle/>
                    <a:p>
                      <a:pPr algn="l"/>
                      <a:r>
                        <a:rPr sz="1200" b="0">
                          <a:solidFill>
                            <a:srgbClr val="14324A"/>
                          </a:solidFill>
                          <a:latin typeface="Calibri"/>
                        </a:rPr>
                        <a:t>viusasa_staging.audits</a:t>
                      </a:r>
                    </a:p>
                  </a:txBody>
                  <a:tcPr marL="54864" marR="54864" marT="27432" marB="27432">
                    <a:solidFill>
                      <a:srgbClr val="FFFFFF"/>
                    </a:solidFill>
                  </a:tcPr>
                </a:tc>
                <a:tc>
                  <a:txBody>
                    <a:bodyPr wrap="square"/>
                    <a:lstStyle/>
                    <a:p>
                      <a:pPr algn="l"/>
                      <a:r>
                        <a:rPr sz="1200" b="0">
                          <a:solidFill>
                            <a:srgbClr val="14324A"/>
                          </a:solidFill>
                          <a:latin typeface="Calibri"/>
                        </a:rPr>
                        <a:t>not written for over a year</a:t>
                      </a:r>
                    </a:p>
                  </a:txBody>
                  <a:tcPr marL="54864" marR="54864" marT="27432" marB="27432">
                    <a:solidFill>
                      <a:srgbClr val="FFFFFF"/>
                    </a:solidFill>
                  </a:tcPr>
                </a:tc>
                <a:tc>
                  <a:txBody>
                    <a:bodyPr wrap="square"/>
                    <a:lstStyle/>
                    <a:p>
                      <a:pPr algn="l"/>
                      <a:r>
                        <a:rPr sz="1200" b="0">
                          <a:solidFill>
                            <a:srgbClr val="14324A"/>
                          </a:solidFill>
                          <a:latin typeface="Calibri"/>
                        </a:rPr>
                        <a:t>666 days · 18.6 GiB</a:t>
                      </a:r>
                    </a:p>
                  </a:txBody>
                  <a:tcPr marL="54864" marR="54864" marT="27432" marB="27432">
                    <a:solidFill>
                      <a:srgbClr val="FFFFFF"/>
                    </a:solidFill>
                  </a:tcPr>
                </a:tc>
                <a:tc>
                  <a:txBody>
                    <a:bodyPr wrap="square"/>
                    <a:lstStyle/>
                    <a:p>
                      <a:pPr algn="l"/>
                      <a:r>
                        <a:rPr sz="1200" b="0">
                          <a:solidFill>
                            <a:srgbClr val="14324A"/>
                          </a:solidFill>
                          <a:latin typeface="Calibri"/>
                        </a:rPr>
                        <a:t>export to compressed object storage with a schema stub (proposed); restore on demand</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viusasa_staging.master_payments</a:t>
                      </a:r>
                    </a:p>
                  </a:txBody>
                  <a:tcPr marL="54864" marR="54864" marT="27432" marB="27432">
                    <a:solidFill>
                      <a:srgbClr val="FFFFFF"/>
                    </a:solidFill>
                  </a:tcPr>
                </a:tc>
                <a:tc>
                  <a:txBody>
                    <a:bodyPr wrap="square"/>
                    <a:lstStyle/>
                    <a:p>
                      <a:pPr algn="l"/>
                      <a:r>
                        <a:rPr sz="1200" b="0">
                          <a:solidFill>
                            <a:srgbClr val="14324A"/>
                          </a:solidFill>
                          <a:latin typeface="Calibri"/>
                        </a:rPr>
                        <a:t>not written for over a year</a:t>
                      </a:r>
                    </a:p>
                  </a:txBody>
                  <a:tcPr marL="54864" marR="54864" marT="27432" marB="27432">
                    <a:solidFill>
                      <a:srgbClr val="FFFFFF"/>
                    </a:solidFill>
                  </a:tcPr>
                </a:tc>
                <a:tc>
                  <a:txBody>
                    <a:bodyPr wrap="square"/>
                    <a:lstStyle/>
                    <a:p>
                      <a:pPr algn="l"/>
                      <a:r>
                        <a:rPr sz="1200" b="0">
                          <a:solidFill>
                            <a:srgbClr val="14324A"/>
                          </a:solidFill>
                          <a:latin typeface="Calibri"/>
                        </a:rPr>
                        <a:t>438 days · 4.2 GiB</a:t>
                      </a:r>
                    </a:p>
                  </a:txBody>
                  <a:tcPr marL="54864" marR="54864" marT="27432" marB="27432">
                    <a:solidFill>
                      <a:srgbClr val="FFFFFF"/>
                    </a:solidFill>
                  </a:tcPr>
                </a:tc>
                <a:tc>
                  <a:txBody>
                    <a:bodyPr wrap="square"/>
                    <a:lstStyle/>
                    <a:p>
                      <a:pPr algn="l"/>
                      <a:r>
                        <a:rPr sz="1200" b="0">
                          <a:solidFill>
                            <a:srgbClr val="14324A"/>
                          </a:solidFill>
                          <a:latin typeface="Calibri"/>
                        </a:rPr>
                        <a:t>export to compressed object storage with a schema stub (proposed); restore on demand</a:t>
                      </a:r>
                    </a:p>
                  </a:txBody>
                  <a:tcPr marL="54864" marR="54864" marT="27432" marB="27432">
                    <a:solidFill>
                      <a:srgbClr val="FFFFFF"/>
                    </a:solidFill>
                  </a:tcPr>
                </a:tc>
              </a:tr>
              <a:tr h="301752">
                <a:tc>
                  <a:txBody>
                    <a:bodyPr wrap="square"/>
                    <a:lstStyle/>
                    <a:p>
                      <a:pPr algn="l"/>
                      <a:r>
                        <a:rPr sz="1200" b="0">
                          <a:solidFill>
                            <a:srgbClr val="14324A"/>
                          </a:solidFill>
                          <a:latin typeface="Calibri"/>
                        </a:rPr>
                        <a:t>razuna.raz1_videos</a:t>
                      </a:r>
                    </a:p>
                  </a:txBody>
                  <a:tcPr marL="54864" marR="54864" marT="27432" marB="27432">
                    <a:solidFill>
                      <a:srgbClr val="FFFFFF"/>
                    </a:solidFill>
                  </a:tcPr>
                </a:tc>
                <a:tc>
                  <a:txBody>
                    <a:bodyPr wrap="square"/>
                    <a:lstStyle/>
                    <a:p>
                      <a:pPr algn="l"/>
                      <a:r>
                        <a:rPr sz="1200" b="0">
                          <a:solidFill>
                            <a:srgbClr val="14324A"/>
                          </a:solidFill>
                          <a:latin typeface="Calibri"/>
                        </a:rPr>
                        <a:t>not written for over a year</a:t>
                      </a:r>
                    </a:p>
                  </a:txBody>
                  <a:tcPr marL="54864" marR="54864" marT="27432" marB="27432">
                    <a:solidFill>
                      <a:srgbClr val="FFFFFF"/>
                    </a:solidFill>
                  </a:tcPr>
                </a:tc>
                <a:tc>
                  <a:txBody>
                    <a:bodyPr wrap="square"/>
                    <a:lstStyle/>
                    <a:p>
                      <a:pPr algn="l"/>
                      <a:r>
                        <a:rPr sz="1200" b="0">
                          <a:solidFill>
                            <a:srgbClr val="14324A"/>
                          </a:solidFill>
                          <a:latin typeface="Calibri"/>
                        </a:rPr>
                        <a:t>1341 days · 3.0 GiB</a:t>
                      </a:r>
                    </a:p>
                  </a:txBody>
                  <a:tcPr marL="54864" marR="54864" marT="27432" marB="27432">
                    <a:solidFill>
                      <a:srgbClr val="FFFFFF"/>
                    </a:solidFill>
                  </a:tcPr>
                </a:tc>
                <a:tc>
                  <a:txBody>
                    <a:bodyPr wrap="square"/>
                    <a:lstStyle/>
                    <a:p>
                      <a:pPr algn="l"/>
                      <a:r>
                        <a:rPr sz="1200" b="0">
                          <a:solidFill>
                            <a:srgbClr val="14324A"/>
                          </a:solidFill>
                          <a:latin typeface="Calibri"/>
                        </a:rPr>
                        <a:t>export to compressed object storage with a schema stub (proposed); restore on demand</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viusasa_staging.payment_requests</a:t>
                      </a:r>
                    </a:p>
                  </a:txBody>
                  <a:tcPr marL="54864" marR="54864" marT="27432" marB="27432">
                    <a:solidFill>
                      <a:srgbClr val="FFFFFF"/>
                    </a:solidFill>
                  </a:tcPr>
                </a:tc>
                <a:tc>
                  <a:txBody>
                    <a:bodyPr wrap="square"/>
                    <a:lstStyle/>
                    <a:p>
                      <a:pPr algn="l"/>
                      <a:r>
                        <a:rPr sz="1200" b="0">
                          <a:solidFill>
                            <a:srgbClr val="14324A"/>
                          </a:solidFill>
                          <a:latin typeface="Calibri"/>
                        </a:rPr>
                        <a:t>not written for over a year</a:t>
                      </a:r>
                    </a:p>
                  </a:txBody>
                  <a:tcPr marL="54864" marR="54864" marT="27432" marB="27432">
                    <a:solidFill>
                      <a:srgbClr val="FFFFFF"/>
                    </a:solidFill>
                  </a:tcPr>
                </a:tc>
                <a:tc>
                  <a:txBody>
                    <a:bodyPr wrap="square"/>
                    <a:lstStyle/>
                    <a:p>
                      <a:pPr algn="l"/>
                      <a:r>
                        <a:rPr sz="1200" b="0">
                          <a:solidFill>
                            <a:srgbClr val="14324A"/>
                          </a:solidFill>
                          <a:latin typeface="Calibri"/>
                        </a:rPr>
                        <a:t>664 days · 2.8 GiB</a:t>
                      </a:r>
                    </a:p>
                  </a:txBody>
                  <a:tcPr marL="54864" marR="54864" marT="27432" marB="27432">
                    <a:solidFill>
                      <a:srgbClr val="FFFFFF"/>
                    </a:solidFill>
                  </a:tcPr>
                </a:tc>
                <a:tc>
                  <a:txBody>
                    <a:bodyPr wrap="square"/>
                    <a:lstStyle/>
                    <a:p>
                      <a:pPr algn="l"/>
                      <a:r>
                        <a:rPr sz="1200" b="0">
                          <a:solidFill>
                            <a:srgbClr val="14324A"/>
                          </a:solidFill>
                          <a:latin typeface="Calibri"/>
                        </a:rPr>
                        <a:t>export to compressed object storage with a schema stub (proposed); restore on demand</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viusasa_staging.sms</a:t>
                      </a:r>
                    </a:p>
                  </a:txBody>
                  <a:tcPr marL="54864" marR="54864" marT="27432" marB="27432">
                    <a:solidFill>
                      <a:srgbClr val="FFFFFF"/>
                    </a:solidFill>
                  </a:tcPr>
                </a:tc>
                <a:tc>
                  <a:txBody>
                    <a:bodyPr wrap="square"/>
                    <a:lstStyle/>
                    <a:p>
                      <a:pPr algn="l"/>
                      <a:r>
                        <a:rPr sz="1200" b="0">
                          <a:solidFill>
                            <a:srgbClr val="14324A"/>
                          </a:solidFill>
                          <a:latin typeface="Calibri"/>
                        </a:rPr>
                        <a:t>not written for over a year</a:t>
                      </a:r>
                    </a:p>
                  </a:txBody>
                  <a:tcPr marL="54864" marR="54864" marT="27432" marB="27432">
                    <a:solidFill>
                      <a:srgbClr val="FFFFFF"/>
                    </a:solidFill>
                  </a:tcPr>
                </a:tc>
                <a:tc>
                  <a:txBody>
                    <a:bodyPr wrap="square"/>
                    <a:lstStyle/>
                    <a:p>
                      <a:pPr algn="l"/>
                      <a:r>
                        <a:rPr sz="1200" b="0">
                          <a:solidFill>
                            <a:srgbClr val="14324A"/>
                          </a:solidFill>
                          <a:latin typeface="Calibri"/>
                        </a:rPr>
                        <a:t>583 days · 2.7 GiB</a:t>
                      </a:r>
                    </a:p>
                  </a:txBody>
                  <a:tcPr marL="54864" marR="54864" marT="27432" marB="27432">
                    <a:solidFill>
                      <a:srgbClr val="FFFFFF"/>
                    </a:solidFill>
                  </a:tcPr>
                </a:tc>
                <a:tc>
                  <a:txBody>
                    <a:bodyPr wrap="square"/>
                    <a:lstStyle/>
                    <a:p>
                      <a:pPr algn="l"/>
                      <a:r>
                        <a:rPr sz="1200" b="0">
                          <a:solidFill>
                            <a:srgbClr val="14324A"/>
                          </a:solidFill>
                          <a:latin typeface="Calibri"/>
                        </a:rPr>
                        <a:t>export to compressed object storage with a schema stub (proposed); restore on demand</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viusasa_staging.mpesa_stk_requests</a:t>
                      </a:r>
                    </a:p>
                  </a:txBody>
                  <a:tcPr marL="54864" marR="54864" marT="27432" marB="27432">
                    <a:solidFill>
                      <a:srgbClr val="FFFFFF"/>
                    </a:solidFill>
                  </a:tcPr>
                </a:tc>
                <a:tc>
                  <a:txBody>
                    <a:bodyPr wrap="square"/>
                    <a:lstStyle/>
                    <a:p>
                      <a:pPr algn="l"/>
                      <a:r>
                        <a:rPr sz="1200" b="0">
                          <a:solidFill>
                            <a:srgbClr val="14324A"/>
                          </a:solidFill>
                          <a:latin typeface="Calibri"/>
                        </a:rPr>
                        <a:t>not written for over a year</a:t>
                      </a:r>
                    </a:p>
                  </a:txBody>
                  <a:tcPr marL="54864" marR="54864" marT="27432" marB="27432">
                    <a:solidFill>
                      <a:srgbClr val="FFFFFF"/>
                    </a:solidFill>
                  </a:tcPr>
                </a:tc>
                <a:tc>
                  <a:txBody>
                    <a:bodyPr wrap="square"/>
                    <a:lstStyle/>
                    <a:p>
                      <a:pPr algn="l"/>
                      <a:r>
                        <a:rPr sz="1200" b="0">
                          <a:solidFill>
                            <a:srgbClr val="14324A"/>
                          </a:solidFill>
                          <a:latin typeface="Calibri"/>
                        </a:rPr>
                        <a:t>724 days · 1.4 GiB</a:t>
                      </a:r>
                    </a:p>
                  </a:txBody>
                  <a:tcPr marL="54864" marR="54864" marT="27432" marB="27432">
                    <a:solidFill>
                      <a:srgbClr val="FFFFFF"/>
                    </a:solidFill>
                  </a:tcPr>
                </a:tc>
                <a:tc>
                  <a:txBody>
                    <a:bodyPr wrap="square"/>
                    <a:lstStyle/>
                    <a:p>
                      <a:pPr algn="l"/>
                      <a:r>
                        <a:rPr sz="1200" b="0">
                          <a:solidFill>
                            <a:srgbClr val="14324A"/>
                          </a:solidFill>
                          <a:latin typeface="Calibri"/>
                        </a:rPr>
                        <a:t>export to compressed object storage with a schema stub (proposed); restore on demand</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viusasa_staging.search_lookups</a:t>
                      </a:r>
                    </a:p>
                  </a:txBody>
                  <a:tcPr marL="54864" marR="54864" marT="27432" marB="27432">
                    <a:solidFill>
                      <a:srgbClr val="FFFFFF"/>
                    </a:solidFill>
                  </a:tcPr>
                </a:tc>
                <a:tc>
                  <a:txBody>
                    <a:bodyPr wrap="square"/>
                    <a:lstStyle/>
                    <a:p>
                      <a:pPr algn="l"/>
                      <a:r>
                        <a:rPr sz="1200" b="0">
                          <a:solidFill>
                            <a:srgbClr val="14324A"/>
                          </a:solidFill>
                          <a:latin typeface="Calibri"/>
                        </a:rPr>
                        <a:t>repeated rows inside the table</a:t>
                      </a:r>
                    </a:p>
                  </a:txBody>
                  <a:tcPr marL="54864" marR="54864" marT="27432" marB="27432">
                    <a:solidFill>
                      <a:srgbClr val="FFFFFF"/>
                    </a:solidFill>
                  </a:tcPr>
                </a:tc>
                <a:tc>
                  <a:txBody>
                    <a:bodyPr wrap="square"/>
                    <a:lstStyle/>
                    <a:p>
                      <a:pPr algn="l"/>
                      <a:r>
                        <a:rPr sz="1200" b="0">
                          <a:solidFill>
                            <a:srgbClr val="14324A"/>
                          </a:solidFill>
                          <a:latin typeface="Calibri"/>
                        </a:rPr>
                        <a:t>5.9% repeated · 8.7 GiB</a:t>
                      </a:r>
                    </a:p>
                  </a:txBody>
                  <a:tcPr marL="54864" marR="54864" marT="27432" marB="27432">
                    <a:solidFill>
                      <a:srgbClr val="FFFFFF"/>
                    </a:solidFill>
                  </a:tcPr>
                </a:tc>
                <a:tc>
                  <a:txBody>
                    <a:bodyPr wrap="square"/>
                    <a:lstStyle/>
                    <a:p>
                      <a:pPr algn="l"/>
                      <a:r>
                        <a:rPr sz="1200" b="0">
                          <a:solidFill>
                            <a:srgbClr val="14324A"/>
                          </a:solidFill>
                          <a:latin typeface="Calibri"/>
                        </a:rPr>
                        <a:t>de-duplicate in place after a keyed comparison; keep the newest row</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viusasa_staging.playback_qualified_streams</a:t>
                      </a:r>
                    </a:p>
                  </a:txBody>
                  <a:tcPr marL="54864" marR="54864" marT="27432" marB="27432">
                    <a:solidFill>
                      <a:srgbClr val="FFFFFF"/>
                    </a:solidFill>
                  </a:tcPr>
                </a:tc>
                <a:tc>
                  <a:txBody>
                    <a:bodyPr wrap="square"/>
                    <a:lstStyle/>
                    <a:p>
                      <a:pPr algn="l"/>
                      <a:r>
                        <a:rPr sz="1200" b="0">
                          <a:solidFill>
                            <a:srgbClr val="14324A"/>
                          </a:solidFill>
                          <a:latin typeface="Calibri"/>
                        </a:rPr>
                        <a:t>repeated rows inside the table</a:t>
                      </a:r>
                    </a:p>
                  </a:txBody>
                  <a:tcPr marL="54864" marR="54864" marT="27432" marB="27432">
                    <a:solidFill>
                      <a:srgbClr val="FFFFFF"/>
                    </a:solidFill>
                  </a:tcPr>
                </a:tc>
                <a:tc>
                  <a:txBody>
                    <a:bodyPr wrap="square"/>
                    <a:lstStyle/>
                    <a:p>
                      <a:pPr algn="l"/>
                      <a:r>
                        <a:rPr sz="1200" b="0">
                          <a:solidFill>
                            <a:srgbClr val="14324A"/>
                          </a:solidFill>
                          <a:latin typeface="Calibri"/>
                        </a:rPr>
                        <a:t>5.1% repeated · 4.6 GiB</a:t>
                      </a:r>
                    </a:p>
                  </a:txBody>
                  <a:tcPr marL="54864" marR="54864" marT="27432" marB="27432">
                    <a:solidFill>
                      <a:srgbClr val="FFFFFF"/>
                    </a:solidFill>
                  </a:tcPr>
                </a:tc>
                <a:tc>
                  <a:txBody>
                    <a:bodyPr wrap="square"/>
                    <a:lstStyle/>
                    <a:p>
                      <a:pPr algn="l"/>
                      <a:r>
                        <a:rPr sz="1200" b="0">
                          <a:solidFill>
                            <a:srgbClr val="14324A"/>
                          </a:solidFill>
                          <a:latin typeface="Calibri"/>
                        </a:rPr>
                        <a:t>de-duplicate in place after a keyed comparison; keep the newest row</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viusasa_staging.episode_views</a:t>
                      </a:r>
                    </a:p>
                  </a:txBody>
                  <a:tcPr marL="54864" marR="54864" marT="27432" marB="27432">
                    <a:solidFill>
                      <a:srgbClr val="FFFFFF"/>
                    </a:solidFill>
                  </a:tcPr>
                </a:tc>
                <a:tc>
                  <a:txBody>
                    <a:bodyPr wrap="square"/>
                    <a:lstStyle/>
                    <a:p>
                      <a:pPr algn="l"/>
                      <a:r>
                        <a:rPr sz="1200" b="0">
                          <a:solidFill>
                            <a:srgbClr val="14324A"/>
                          </a:solidFill>
                          <a:latin typeface="Calibri"/>
                        </a:rPr>
                        <a:t>repeated rows inside the table</a:t>
                      </a:r>
                    </a:p>
                  </a:txBody>
                  <a:tcPr marL="54864" marR="54864" marT="27432" marB="27432">
                    <a:solidFill>
                      <a:srgbClr val="FFFFFF"/>
                    </a:solidFill>
                  </a:tcPr>
                </a:tc>
                <a:tc>
                  <a:txBody>
                    <a:bodyPr wrap="square"/>
                    <a:lstStyle/>
                    <a:p>
                      <a:pPr algn="l"/>
                      <a:r>
                        <a:rPr sz="1200" b="0">
                          <a:solidFill>
                            <a:srgbClr val="14324A"/>
                          </a:solidFill>
                          <a:latin typeface="Calibri"/>
                        </a:rPr>
                        <a:t>22.0% repeated · 764.0 MiB</a:t>
                      </a:r>
                    </a:p>
                  </a:txBody>
                  <a:tcPr marL="54864" marR="54864" marT="27432" marB="27432">
                    <a:solidFill>
                      <a:srgbClr val="FFFFFF"/>
                    </a:solidFill>
                  </a:tcPr>
                </a:tc>
                <a:tc>
                  <a:txBody>
                    <a:bodyPr wrap="square"/>
                    <a:lstStyle/>
                    <a:p>
                      <a:pPr algn="l"/>
                      <a:r>
                        <a:rPr sz="1200" b="0">
                          <a:solidFill>
                            <a:srgbClr val="14324A"/>
                          </a:solidFill>
                          <a:latin typeface="Calibri"/>
                        </a:rPr>
                        <a:t>de-duplicate in place after a keyed comparison; keep the newest row</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Each row names a table the census measured and the finding that puts it on the list; the bytes column is the strategy total the table belongs to, not the table alone.</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R02: Estate intelligence census eij-1b359b3cbd2e, cost_strategies priced at reference list prices, not the owner's invoice: Huawei Cloud RDS for MySQL cloud SSD AF-Johannesburg 0.00015 USD/GB-hour x 730 h; OBS Standard 0.023 USD/GB-month</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Exact database tables under review, by finding</a:t>
            </a:r>
          </a:p>
        </p:txBody>
      </p:sp>
      <p:graphicFrame>
        <p:nvGraphicFramePr>
          <p:cNvPr id="4" name="Table 3"/>
          <p:cNvGraphicFramePr>
            <a:graphicFrameLocks noGrp="1"/>
          </p:cNvGraphicFramePr>
          <p:nvPr/>
        </p:nvGraphicFramePr>
        <p:xfrm>
          <a:off x="594360" y="1920240"/>
          <a:ext cx="11002972" cy="3017520"/>
        </p:xfrm>
        <a:graphic>
          <a:graphicData uri="http://schemas.openxmlformats.org/drawingml/2006/table">
            <a:tbl>
              <a:tblPr firstRow="1" bandRow="1">
                <a:tableStyleId>{5C22544A-7EE6-4342-B048-85BDC9FD1C3A}</a:tableStyleId>
              </a:tblPr>
              <a:tblGrid>
                <a:gridCol w="3040295"/>
                <a:gridCol w="3040295"/>
                <a:gridCol w="1882087"/>
                <a:gridCol w="3040295"/>
              </a:tblGrid>
              <a:tr h="301752">
                <a:tc>
                  <a:txBody>
                    <a:bodyPr wrap="square"/>
                    <a:lstStyle/>
                    <a:p>
                      <a:pPr algn="l"/>
                      <a:r>
                        <a:rPr sz="1200" b="1">
                          <a:solidFill>
                            <a:srgbClr val="14324A"/>
                          </a:solidFill>
                          <a:latin typeface="Calibri"/>
                        </a:rPr>
                        <a:t>Table (database.table)</a:t>
                      </a:r>
                    </a:p>
                  </a:txBody>
                  <a:tcPr marL="54864" marR="54864" marT="27432" marB="27432">
                    <a:solidFill>
                      <a:srgbClr val="E8EEF3"/>
                    </a:solidFill>
                  </a:tcPr>
                </a:tc>
                <a:tc>
                  <a:txBody>
                    <a:bodyPr wrap="square"/>
                    <a:lstStyle/>
                    <a:p>
                      <a:pPr algn="l"/>
                      <a:r>
                        <a:rPr sz="1200" b="1">
                          <a:solidFill>
                            <a:srgbClr val="14324A"/>
                          </a:solidFill>
                          <a:latin typeface="Calibri"/>
                        </a:rPr>
                        <a:t>Finding</a:t>
                      </a:r>
                    </a:p>
                  </a:txBody>
                  <a:tcPr marL="54864" marR="54864" marT="27432" marB="27432">
                    <a:solidFill>
                      <a:srgbClr val="E8EEF3"/>
                    </a:solidFill>
                  </a:tcPr>
                </a:tc>
                <a:tc>
                  <a:txBody>
                    <a:bodyPr wrap="square"/>
                    <a:lstStyle/>
                    <a:p>
                      <a:pPr algn="l"/>
                      <a:r>
                        <a:rPr sz="1200" b="1">
                          <a:solidFill>
                            <a:srgbClr val="14324A"/>
                          </a:solidFill>
                          <a:latin typeface="Calibri"/>
                        </a:rPr>
                        <a:t>Measured detail</a:t>
                      </a:r>
                    </a:p>
                  </a:txBody>
                  <a:tcPr marL="54864" marR="54864" marT="27432" marB="27432">
                    <a:solidFill>
                      <a:srgbClr val="E8EEF3"/>
                    </a:solidFill>
                  </a:tcPr>
                </a:tc>
                <a:tc>
                  <a:txBody>
                    <a:bodyPr wrap="square"/>
                    <a:lstStyle/>
                    <a:p>
                      <a:pPr algn="l"/>
                      <a:r>
                        <a:rPr sz="1200" b="1">
                          <a:solidFill>
                            <a:srgbClr val="14324A"/>
                          </a:solidFill>
                          <a:latin typeface="Calibri"/>
                        </a:rPr>
                        <a:t>Proposed action</a:t>
                      </a:r>
                    </a:p>
                  </a:txBody>
                  <a:tcPr marL="54864" marR="54864" marT="27432" marB="27432">
                    <a:solidFill>
                      <a:srgbClr val="E8EEF3"/>
                    </a:solidFill>
                  </a:tcPr>
                </a:tc>
              </a:tr>
              <a:tr h="301752">
                <a:tc>
                  <a:txBody>
                    <a:bodyPr wrap="square"/>
                    <a:lstStyle/>
                    <a:p>
                      <a:pPr algn="l"/>
                      <a:r>
                        <a:rPr sz="1200" b="0">
                          <a:solidFill>
                            <a:srgbClr val="14324A"/>
                          </a:solidFill>
                          <a:latin typeface="Calibri"/>
                        </a:rPr>
                        <a:t>kra_reports.external_credit_notes</a:t>
                      </a:r>
                    </a:p>
                  </a:txBody>
                  <a:tcPr marL="54864" marR="54864" marT="27432" marB="27432">
                    <a:solidFill>
                      <a:srgbClr val="FFFFFF"/>
                    </a:solidFill>
                  </a:tcPr>
                </a:tc>
                <a:tc>
                  <a:txBody>
                    <a:bodyPr wrap="square"/>
                    <a:lstStyle/>
                    <a:p>
                      <a:pPr algn="l"/>
                      <a:r>
                        <a:rPr sz="1200" b="0">
                          <a:solidFill>
                            <a:srgbClr val="14324A"/>
                          </a:solidFill>
                          <a:latin typeface="Calibri"/>
                        </a:rPr>
                        <a:t>repeated rows inside the table</a:t>
                      </a:r>
                    </a:p>
                  </a:txBody>
                  <a:tcPr marL="54864" marR="54864" marT="27432" marB="27432">
                    <a:solidFill>
                      <a:srgbClr val="FFFFFF"/>
                    </a:solidFill>
                  </a:tcPr>
                </a:tc>
                <a:tc>
                  <a:txBody>
                    <a:bodyPr wrap="square"/>
                    <a:lstStyle/>
                    <a:p>
                      <a:pPr algn="l"/>
                      <a:r>
                        <a:rPr sz="1200" b="0">
                          <a:solidFill>
                            <a:srgbClr val="14324A"/>
                          </a:solidFill>
                          <a:latin typeface="Calibri"/>
                        </a:rPr>
                        <a:t>25.0% repeated · 277.8 MiB</a:t>
                      </a:r>
                    </a:p>
                  </a:txBody>
                  <a:tcPr marL="54864" marR="54864" marT="27432" marB="27432">
                    <a:solidFill>
                      <a:srgbClr val="FFFFFF"/>
                    </a:solidFill>
                  </a:tcPr>
                </a:tc>
                <a:tc>
                  <a:txBody>
                    <a:bodyPr wrap="square"/>
                    <a:lstStyle/>
                    <a:p>
                      <a:pPr algn="l"/>
                      <a:r>
                        <a:rPr sz="1200" b="0">
                          <a:solidFill>
                            <a:srgbClr val="14324A"/>
                          </a:solidFill>
                          <a:latin typeface="Calibri"/>
                        </a:rPr>
                        <a:t>de-duplicate in place after a keyed comparison; keep the newest row</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viusasa_staging.new_episode_views</a:t>
                      </a:r>
                    </a:p>
                  </a:txBody>
                  <a:tcPr marL="54864" marR="54864" marT="27432" marB="27432">
                    <a:solidFill>
                      <a:srgbClr val="FFFFFF"/>
                    </a:solidFill>
                  </a:tcPr>
                </a:tc>
                <a:tc>
                  <a:txBody>
                    <a:bodyPr wrap="square"/>
                    <a:lstStyle/>
                    <a:p>
                      <a:pPr algn="l"/>
                      <a:r>
                        <a:rPr sz="1200" b="0">
                          <a:solidFill>
                            <a:srgbClr val="14324A"/>
                          </a:solidFill>
                          <a:latin typeface="Calibri"/>
                        </a:rPr>
                        <a:t>repeated rows inside the table</a:t>
                      </a:r>
                    </a:p>
                  </a:txBody>
                  <a:tcPr marL="54864" marR="54864" marT="27432" marB="27432">
                    <a:solidFill>
                      <a:srgbClr val="FFFFFF"/>
                    </a:solidFill>
                  </a:tcPr>
                </a:tc>
                <a:tc>
                  <a:txBody>
                    <a:bodyPr wrap="square"/>
                    <a:lstStyle/>
                    <a:p>
                      <a:pPr algn="l"/>
                      <a:r>
                        <a:rPr sz="1200" b="0">
                          <a:solidFill>
                            <a:srgbClr val="14324A"/>
                          </a:solidFill>
                          <a:latin typeface="Calibri"/>
                        </a:rPr>
                        <a:t>66.1% repeated · 98.7 MiB</a:t>
                      </a:r>
                    </a:p>
                  </a:txBody>
                  <a:tcPr marL="54864" marR="54864" marT="27432" marB="27432">
                    <a:solidFill>
                      <a:srgbClr val="FFFFFF"/>
                    </a:solidFill>
                  </a:tcPr>
                </a:tc>
                <a:tc>
                  <a:txBody>
                    <a:bodyPr wrap="square"/>
                    <a:lstStyle/>
                    <a:p>
                      <a:pPr algn="l"/>
                      <a:r>
                        <a:rPr sz="1200" b="0">
                          <a:solidFill>
                            <a:srgbClr val="14324A"/>
                          </a:solidFill>
                          <a:latin typeface="Calibri"/>
                        </a:rPr>
                        <a:t>de-duplicate in place after a keyed comparison; keep the newest row</a:t>
                      </a:r>
                    </a:p>
                  </a:txBody>
                  <a:tcPr marL="54864" marR="54864" marT="27432" marB="27432">
                    <a:solidFill>
                      <a:srgbClr val="FFFFFF"/>
                    </a:solidFill>
                  </a:tcPr>
                </a:tc>
              </a:tr>
              <a:tr h="301752">
                <a:tc>
                  <a:txBody>
                    <a:bodyPr wrap="square"/>
                    <a:lstStyle/>
                    <a:p>
                      <a:pPr algn="l"/>
                      <a:r>
                        <a:rPr sz="1200" b="0">
                          <a:solidFill>
                            <a:srgbClr val="14324A"/>
                          </a:solidFill>
                          <a:latin typeface="Calibri"/>
                        </a:rPr>
                        <a:t>viusasa_staging.ussd_hits</a:t>
                      </a:r>
                    </a:p>
                  </a:txBody>
                  <a:tcPr marL="54864" marR="54864" marT="27432" marB="27432">
                    <a:solidFill>
                      <a:srgbClr val="FFFFFF"/>
                    </a:solidFill>
                  </a:tcPr>
                </a:tc>
                <a:tc>
                  <a:txBody>
                    <a:bodyPr wrap="square"/>
                    <a:lstStyle/>
                    <a:p>
                      <a:pPr algn="l"/>
                      <a:r>
                        <a:rPr sz="1200" b="0">
                          <a:solidFill>
                            <a:srgbClr val="14324A"/>
                          </a:solidFill>
                          <a:latin typeface="Calibri"/>
                        </a:rPr>
                        <a:t>repeated rows inside the table</a:t>
                      </a:r>
                    </a:p>
                  </a:txBody>
                  <a:tcPr marL="54864" marR="54864" marT="27432" marB="27432">
                    <a:solidFill>
                      <a:srgbClr val="FFFFFF"/>
                    </a:solidFill>
                  </a:tcPr>
                </a:tc>
                <a:tc>
                  <a:txBody>
                    <a:bodyPr wrap="square"/>
                    <a:lstStyle/>
                    <a:p>
                      <a:pPr algn="l"/>
                      <a:r>
                        <a:rPr sz="1200" b="0">
                          <a:solidFill>
                            <a:srgbClr val="14324A"/>
                          </a:solidFill>
                          <a:latin typeface="Calibri"/>
                        </a:rPr>
                        <a:t>8.5% repeated · 573.0 MiB</a:t>
                      </a:r>
                    </a:p>
                  </a:txBody>
                  <a:tcPr marL="54864" marR="54864" marT="27432" marB="27432">
                    <a:solidFill>
                      <a:srgbClr val="FFFFFF"/>
                    </a:solidFill>
                  </a:tcPr>
                </a:tc>
                <a:tc>
                  <a:txBody>
                    <a:bodyPr wrap="square"/>
                    <a:lstStyle/>
                    <a:p>
                      <a:pPr algn="l"/>
                      <a:r>
                        <a:rPr sz="1200" b="0">
                          <a:solidFill>
                            <a:srgbClr val="14324A"/>
                          </a:solidFill>
                          <a:latin typeface="Calibri"/>
                        </a:rPr>
                        <a:t>de-duplicate in place after a keyed comparison; keep the newest row</a:t>
                      </a:r>
                    </a:p>
                  </a:txBody>
                  <a:tcPr marL="54864" marR="54864" marT="27432" marB="27432">
                    <a:solidFill>
                      <a:srgbClr val="FFFFFF"/>
                    </a:solidFill>
                  </a:tcPr>
                </a:tc>
              </a:tr>
              <a:tr h="301752">
                <a:tc>
                  <a:txBody>
                    <a:bodyPr wrap="square"/>
                    <a:lstStyle/>
                    <a:p>
                      <a:pPr algn="l"/>
                      <a:r>
                        <a:rPr sz="1200" b="0">
                          <a:solidFill>
                            <a:srgbClr val="14324A"/>
                          </a:solidFill>
                          <a:latin typeface="Calibri"/>
                        </a:rPr>
                        <a:t>iebc_forms/viupay.failed_jobs ↔ viupay/viupay.failed_jobs</a:t>
                      </a:r>
                    </a:p>
                  </a:txBody>
                  <a:tcPr marL="54864" marR="54864" marT="27432" marB="27432">
                    <a:solidFill>
                      <a:srgbClr val="FFFFFF"/>
                    </a:solidFill>
                  </a:tcPr>
                </a:tc>
                <a:tc>
                  <a:txBody>
                    <a:bodyPr wrap="square"/>
                    <a:lstStyle/>
                    <a:p>
                      <a:pPr algn="l"/>
                      <a:r>
                        <a:rPr sz="1200" b="0">
                          <a:solidFill>
                            <a:srgbClr val="14324A"/>
                          </a:solidFill>
                          <a:latin typeface="Calibri"/>
                        </a:rPr>
                        <a:t>two copies of the same table across connections</a:t>
                      </a:r>
                    </a:p>
                  </a:txBody>
                  <a:tcPr marL="54864" marR="54864" marT="27432" marB="27432">
                    <a:solidFill>
                      <a:srgbClr val="FFFFFF"/>
                    </a:solidFill>
                  </a:tcPr>
                </a:tc>
                <a:tc>
                  <a:txBody>
                    <a:bodyPr wrap="square"/>
                    <a:lstStyle/>
                    <a:p>
                      <a:pPr algn="l"/>
                      <a:r>
                        <a:rPr sz="1200" b="0">
                          <a:solidFill>
                            <a:srgbClr val="14324A"/>
                          </a:solidFill>
                          <a:latin typeface="Calibri"/>
                        </a:rPr>
                        <a:t>overlap 78.0% · 31.6 MiB</a:t>
                      </a:r>
                    </a:p>
                  </a:txBody>
                  <a:tcPr marL="54864" marR="54864" marT="27432" marB="27432">
                    <a:solidFill>
                      <a:srgbClr val="FFFFFF"/>
                    </a:solidFill>
                  </a:tcPr>
                </a:tc>
                <a:tc>
                  <a:txBody>
                    <a:bodyPr wrap="square"/>
                    <a:lstStyle/>
                    <a:p>
                      <a:pPr algn="l"/>
                      <a:r>
                        <a:rPr sz="1200" b="0">
                          <a:solidFill>
                            <a:srgbClr val="14324A"/>
                          </a:solidFill>
                          <a:latin typeface="Calibri"/>
                        </a:rPr>
                        <a:t>name one authoritative copy; retire or redirect the other</a:t>
                      </a:r>
                    </a:p>
                  </a:txBody>
                  <a:tcPr marL="54864" marR="54864" marT="27432" marB="27432">
                    <a:solidFill>
                      <a:srgbClr val="FFFFFF"/>
                    </a:solidFill>
                  </a:tcPr>
                </a:tc>
              </a:tr>
              <a:tr h="301752">
                <a:tc>
                  <a:txBody>
                    <a:bodyPr wrap="square"/>
                    <a:lstStyle/>
                    <a:p>
                      <a:pPr algn="l"/>
                      <a:r>
                        <a:rPr sz="1200" b="0">
                          <a:solidFill>
                            <a:srgbClr val="14324A"/>
                          </a:solidFill>
                          <a:latin typeface="Calibri"/>
                        </a:rPr>
                        <a:t>iebc_forms/viutickets.movies ↔ viupay/viutickets.movies</a:t>
                      </a:r>
                    </a:p>
                  </a:txBody>
                  <a:tcPr marL="54864" marR="54864" marT="27432" marB="27432">
                    <a:solidFill>
                      <a:srgbClr val="FFFFFF"/>
                    </a:solidFill>
                  </a:tcPr>
                </a:tc>
                <a:tc>
                  <a:txBody>
                    <a:bodyPr wrap="square"/>
                    <a:lstStyle/>
                    <a:p>
                      <a:pPr algn="l"/>
                      <a:r>
                        <a:rPr sz="1200" b="0">
                          <a:solidFill>
                            <a:srgbClr val="14324A"/>
                          </a:solidFill>
                          <a:latin typeface="Calibri"/>
                        </a:rPr>
                        <a:t>two copies of the same table across connections</a:t>
                      </a:r>
                    </a:p>
                  </a:txBody>
                  <a:tcPr marL="54864" marR="54864" marT="27432" marB="27432">
                    <a:solidFill>
                      <a:srgbClr val="FFFFFF"/>
                    </a:solidFill>
                  </a:tcPr>
                </a:tc>
                <a:tc>
                  <a:txBody>
                    <a:bodyPr wrap="square"/>
                    <a:lstStyle/>
                    <a:p>
                      <a:pPr algn="l"/>
                      <a:r>
                        <a:rPr sz="1200" b="0">
                          <a:solidFill>
                            <a:srgbClr val="14324A"/>
                          </a:solidFill>
                          <a:latin typeface="Calibri"/>
                        </a:rPr>
                        <a:t>overlap 84.0% · 6.5 MiB</a:t>
                      </a:r>
                    </a:p>
                  </a:txBody>
                  <a:tcPr marL="54864" marR="54864" marT="27432" marB="27432">
                    <a:solidFill>
                      <a:srgbClr val="FFFFFF"/>
                    </a:solidFill>
                  </a:tcPr>
                </a:tc>
                <a:tc>
                  <a:txBody>
                    <a:bodyPr wrap="square"/>
                    <a:lstStyle/>
                    <a:p>
                      <a:pPr algn="l"/>
                      <a:r>
                        <a:rPr sz="1200" b="0">
                          <a:solidFill>
                            <a:srgbClr val="14324A"/>
                          </a:solidFill>
                          <a:latin typeface="Calibri"/>
                        </a:rPr>
                        <a:t>name one authoritative copy; retire or redirect the other</a:t>
                      </a:r>
                    </a:p>
                  </a:txBody>
                  <a:tcPr marL="54864" marR="54864" marT="27432" marB="27432">
                    <a:solidFill>
                      <a:srgbClr val="FFFFFF"/>
                    </a:solidFill>
                  </a:tcPr>
                </a:tc>
              </a:tr>
              <a:tr h="301752">
                <a:tc>
                  <a:txBody>
                    <a:bodyPr wrap="square"/>
                    <a:lstStyle/>
                    <a:p>
                      <a:pPr algn="l"/>
                      <a:r>
                        <a:rPr sz="1200" b="0">
                          <a:solidFill>
                            <a:srgbClr val="14324A"/>
                          </a:solidFill>
                          <a:latin typeface="Calibri"/>
                        </a:rPr>
                        <a:t>iebc_forms/viutickets.ussd_hits ↔ viupay/viutickets.ussd_hits</a:t>
                      </a:r>
                    </a:p>
                  </a:txBody>
                  <a:tcPr marL="54864" marR="54864" marT="27432" marB="27432">
                    <a:solidFill>
                      <a:srgbClr val="FFFFFF"/>
                    </a:solidFill>
                  </a:tcPr>
                </a:tc>
                <a:tc>
                  <a:txBody>
                    <a:bodyPr wrap="square"/>
                    <a:lstStyle/>
                    <a:p>
                      <a:pPr algn="l"/>
                      <a:r>
                        <a:rPr sz="1200" b="0">
                          <a:solidFill>
                            <a:srgbClr val="14324A"/>
                          </a:solidFill>
                          <a:latin typeface="Calibri"/>
                        </a:rPr>
                        <a:t>two copies of the same table across connections</a:t>
                      </a:r>
                    </a:p>
                  </a:txBody>
                  <a:tcPr marL="54864" marR="54864" marT="27432" marB="27432">
                    <a:solidFill>
                      <a:srgbClr val="FFFFFF"/>
                    </a:solidFill>
                  </a:tcPr>
                </a:tc>
                <a:tc>
                  <a:txBody>
                    <a:bodyPr wrap="square"/>
                    <a:lstStyle/>
                    <a:p>
                      <a:pPr algn="l"/>
                      <a:r>
                        <a:rPr sz="1200" b="0">
                          <a:solidFill>
                            <a:srgbClr val="14324A"/>
                          </a:solidFill>
                          <a:latin typeface="Calibri"/>
                        </a:rPr>
                        <a:t>overlap 100.0% · 6.5 MiB</a:t>
                      </a:r>
                    </a:p>
                  </a:txBody>
                  <a:tcPr marL="54864" marR="54864" marT="27432" marB="27432">
                    <a:solidFill>
                      <a:srgbClr val="FFFFFF"/>
                    </a:solidFill>
                  </a:tcPr>
                </a:tc>
                <a:tc>
                  <a:txBody>
                    <a:bodyPr wrap="square"/>
                    <a:lstStyle/>
                    <a:p>
                      <a:pPr algn="l"/>
                      <a:r>
                        <a:rPr sz="1200" b="0">
                          <a:solidFill>
                            <a:srgbClr val="14324A"/>
                          </a:solidFill>
                          <a:latin typeface="Calibri"/>
                        </a:rPr>
                        <a:t>name one authoritative copy; retire or redirect the other</a:t>
                      </a:r>
                    </a:p>
                  </a:txBody>
                  <a:tcPr marL="54864" marR="54864" marT="27432" marB="27432">
                    <a:solidFill>
                      <a:srgbClr val="FFFFFF"/>
                    </a:solidFill>
                  </a:tcPr>
                </a:tc>
              </a:tr>
              <a:tr h="301752">
                <a:tc>
                  <a:txBody>
                    <a:bodyPr wrap="square"/>
                    <a:lstStyle/>
                    <a:p>
                      <a:pPr algn="l"/>
                      <a:r>
                        <a:rPr sz="1200" b="0">
                          <a:solidFill>
                            <a:srgbClr val="14324A"/>
                          </a:solidFill>
                          <a:latin typeface="Calibri"/>
                        </a:rPr>
                        <a:t>iebc_forms/viutickets.payment_processings ↔ viupay/viutickets.payment_processings</a:t>
                      </a:r>
                    </a:p>
                  </a:txBody>
                  <a:tcPr marL="54864" marR="54864" marT="27432" marB="27432">
                    <a:solidFill>
                      <a:srgbClr val="FFFFFF"/>
                    </a:solidFill>
                  </a:tcPr>
                </a:tc>
                <a:tc>
                  <a:txBody>
                    <a:bodyPr wrap="square"/>
                    <a:lstStyle/>
                    <a:p>
                      <a:pPr algn="l"/>
                      <a:r>
                        <a:rPr sz="1200" b="0">
                          <a:solidFill>
                            <a:srgbClr val="14324A"/>
                          </a:solidFill>
                          <a:latin typeface="Calibri"/>
                        </a:rPr>
                        <a:t>two copies of the same table across connections</a:t>
                      </a:r>
                    </a:p>
                  </a:txBody>
                  <a:tcPr marL="54864" marR="54864" marT="27432" marB="27432">
                    <a:solidFill>
                      <a:srgbClr val="FFFFFF"/>
                    </a:solidFill>
                  </a:tcPr>
                </a:tc>
                <a:tc>
                  <a:txBody>
                    <a:bodyPr wrap="square"/>
                    <a:lstStyle/>
                    <a:p>
                      <a:pPr algn="l"/>
                      <a:r>
                        <a:rPr sz="1200" b="0">
                          <a:solidFill>
                            <a:srgbClr val="14324A"/>
                          </a:solidFill>
                          <a:latin typeface="Calibri"/>
                        </a:rPr>
                        <a:t>overlap 65.0% · 4.5 MiB</a:t>
                      </a:r>
                    </a:p>
                  </a:txBody>
                  <a:tcPr marL="54864" marR="54864" marT="27432" marB="27432">
                    <a:solidFill>
                      <a:srgbClr val="FFFFFF"/>
                    </a:solidFill>
                  </a:tcPr>
                </a:tc>
                <a:tc>
                  <a:txBody>
                    <a:bodyPr wrap="square"/>
                    <a:lstStyle/>
                    <a:p>
                      <a:pPr algn="l"/>
                      <a:r>
                        <a:rPr sz="1200" b="0">
                          <a:solidFill>
                            <a:srgbClr val="14324A"/>
                          </a:solidFill>
                          <a:latin typeface="Calibri"/>
                        </a:rPr>
                        <a:t>name one authoritative copy; retire or redirect the other</a:t>
                      </a:r>
                    </a:p>
                  </a:txBody>
                  <a:tcPr marL="54864" marR="54864" marT="27432" marB="27432">
                    <a:solidFill>
                      <a:srgbClr val="FFFFFF"/>
                    </a:solidFill>
                  </a:tcPr>
                </a:tc>
              </a:tr>
              <a:tr h="301752">
                <a:tc>
                  <a:txBody>
                    <a:bodyPr wrap="square"/>
                    <a:lstStyle/>
                    <a:p>
                      <a:pPr algn="l"/>
                      <a:r>
                        <a:rPr sz="1200" b="0">
                          <a:solidFill>
                            <a:srgbClr val="14324A"/>
                          </a:solidFill>
                          <a:latin typeface="Calibri"/>
                        </a:rPr>
                        <a:t>iebc_forms/viupay.payment_requests ↔ viupay/viupay.payment_requests</a:t>
                      </a:r>
                    </a:p>
                  </a:txBody>
                  <a:tcPr marL="54864" marR="54864" marT="27432" marB="27432">
                    <a:solidFill>
                      <a:srgbClr val="FFFFFF"/>
                    </a:solidFill>
                  </a:tcPr>
                </a:tc>
                <a:tc>
                  <a:txBody>
                    <a:bodyPr wrap="square"/>
                    <a:lstStyle/>
                    <a:p>
                      <a:pPr algn="l"/>
                      <a:r>
                        <a:rPr sz="1200" b="0">
                          <a:solidFill>
                            <a:srgbClr val="14324A"/>
                          </a:solidFill>
                          <a:latin typeface="Calibri"/>
                        </a:rPr>
                        <a:t>two copies of the same table across connections</a:t>
                      </a:r>
                    </a:p>
                  </a:txBody>
                  <a:tcPr marL="54864" marR="54864" marT="27432" marB="27432">
                    <a:solidFill>
                      <a:srgbClr val="FFFFFF"/>
                    </a:solidFill>
                  </a:tcPr>
                </a:tc>
                <a:tc>
                  <a:txBody>
                    <a:bodyPr wrap="square"/>
                    <a:lstStyle/>
                    <a:p>
                      <a:pPr algn="l"/>
                      <a:r>
                        <a:rPr sz="1200" b="0">
                          <a:solidFill>
                            <a:srgbClr val="14324A"/>
                          </a:solidFill>
                          <a:latin typeface="Calibri"/>
                        </a:rPr>
                        <a:t>overlap 50.0% · 3.5 MiB</a:t>
                      </a:r>
                    </a:p>
                  </a:txBody>
                  <a:tcPr marL="54864" marR="54864" marT="27432" marB="27432">
                    <a:solidFill>
                      <a:srgbClr val="FFFFFF"/>
                    </a:solidFill>
                  </a:tcPr>
                </a:tc>
                <a:tc>
                  <a:txBody>
                    <a:bodyPr wrap="square"/>
                    <a:lstStyle/>
                    <a:p>
                      <a:pPr algn="l"/>
                      <a:r>
                        <a:rPr sz="1200" b="0">
                          <a:solidFill>
                            <a:srgbClr val="14324A"/>
                          </a:solidFill>
                          <a:latin typeface="Calibri"/>
                        </a:rPr>
                        <a:t>name one authoritative copy; retire or redirect the other</a:t>
                      </a:r>
                    </a:p>
                  </a:txBody>
                  <a:tcPr marL="54864" marR="54864" marT="27432" marB="27432">
                    <a:solidFill>
                      <a:srgbClr val="FFFFFF"/>
                    </a:solidFill>
                  </a:tcPr>
                </a:tc>
              </a:tr>
              <a:tr h="301752">
                <a:tc>
                  <a:txBody>
                    <a:bodyPr wrap="square"/>
                    <a:lstStyle/>
                    <a:p>
                      <a:pPr algn="l"/>
                      <a:r>
                        <a:rPr sz="1200" b="0">
                          <a:solidFill>
                            <a:srgbClr val="14324A"/>
                          </a:solidFill>
                          <a:latin typeface="Calibri"/>
                        </a:rPr>
                        <a:t>iebc_forms/viutickets.movie_shows ↔ viupay/viutickets.movie_shows</a:t>
                      </a:r>
                    </a:p>
                  </a:txBody>
                  <a:tcPr marL="54864" marR="54864" marT="27432" marB="27432">
                    <a:solidFill>
                      <a:srgbClr val="FFFFFF"/>
                    </a:solidFill>
                  </a:tcPr>
                </a:tc>
                <a:tc>
                  <a:txBody>
                    <a:bodyPr wrap="square"/>
                    <a:lstStyle/>
                    <a:p>
                      <a:pPr algn="l"/>
                      <a:r>
                        <a:rPr sz="1200" b="0">
                          <a:solidFill>
                            <a:srgbClr val="14324A"/>
                          </a:solidFill>
                          <a:latin typeface="Calibri"/>
                        </a:rPr>
                        <a:t>two copies of the same table across connections</a:t>
                      </a:r>
                    </a:p>
                  </a:txBody>
                  <a:tcPr marL="54864" marR="54864" marT="27432" marB="27432">
                    <a:solidFill>
                      <a:srgbClr val="FFFFFF"/>
                    </a:solidFill>
                  </a:tcPr>
                </a:tc>
                <a:tc>
                  <a:txBody>
                    <a:bodyPr wrap="square"/>
                    <a:lstStyle/>
                    <a:p>
                      <a:pPr algn="l"/>
                      <a:r>
                        <a:rPr sz="1200" b="0">
                          <a:solidFill>
                            <a:srgbClr val="14324A"/>
                          </a:solidFill>
                          <a:latin typeface="Calibri"/>
                        </a:rPr>
                        <a:t>overlap 80.0% · 3.5 MiB</a:t>
                      </a:r>
                    </a:p>
                  </a:txBody>
                  <a:tcPr marL="54864" marR="54864" marT="27432" marB="27432">
                    <a:solidFill>
                      <a:srgbClr val="FFFFFF"/>
                    </a:solidFill>
                  </a:tcPr>
                </a:tc>
                <a:tc>
                  <a:txBody>
                    <a:bodyPr wrap="square"/>
                    <a:lstStyle/>
                    <a:p>
                      <a:pPr algn="l"/>
                      <a:r>
                        <a:rPr sz="1200" b="0">
                          <a:solidFill>
                            <a:srgbClr val="14324A"/>
                          </a:solidFill>
                          <a:latin typeface="Calibri"/>
                        </a:rPr>
                        <a:t>name one authoritative copy; retire or redirect the other</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Each row names a table the census measured and the finding that puts it on the list; the bytes column is the strategy total the table belongs to, not the table alone.</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R02: Estate intelligence census eij-1b359b3cbd2e, cost_strategies priced at reference list prices, not the owner's invoice: Huawei Cloud RDS for MySQL cloud SSD AF-Johannesburg 0.00015 USD/GB-hour x 730 h; OBS Standard 0.023 USD/GB-month</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Exact file shares (NAS) enumerated</a:t>
            </a:r>
          </a:p>
        </p:txBody>
      </p:sp>
      <p:graphicFrame>
        <p:nvGraphicFramePr>
          <p:cNvPr id="4" name="Table 3"/>
          <p:cNvGraphicFramePr>
            <a:graphicFrameLocks noGrp="1"/>
          </p:cNvGraphicFramePr>
          <p:nvPr/>
        </p:nvGraphicFramePr>
        <p:xfrm>
          <a:off x="594360" y="1920240"/>
          <a:ext cx="11002972" cy="3017520"/>
        </p:xfrm>
        <a:graphic>
          <a:graphicData uri="http://schemas.openxmlformats.org/drawingml/2006/table">
            <a:tbl>
              <a:tblPr firstRow="1" bandRow="1">
                <a:tableStyleId>{5C22544A-7EE6-4342-B048-85BDC9FD1C3A}</a:tableStyleId>
              </a:tblPr>
              <a:tblGrid>
                <a:gridCol w="1108213"/>
                <a:gridCol w="1108213"/>
                <a:gridCol w="1108213"/>
                <a:gridCol w="1108213"/>
                <a:gridCol w="1108213"/>
                <a:gridCol w="2137268"/>
                <a:gridCol w="3324639"/>
              </a:tblGrid>
              <a:tr h="301752">
                <a:tc>
                  <a:txBody>
                    <a:bodyPr wrap="square"/>
                    <a:lstStyle/>
                    <a:p>
                      <a:pPr algn="l"/>
                      <a:r>
                        <a:rPr sz="1100" b="1">
                          <a:solidFill>
                            <a:srgbClr val="14324A"/>
                          </a:solidFill>
                          <a:latin typeface="Calibri"/>
                        </a:rPr>
                        <a:t>Share</a:t>
                      </a:r>
                    </a:p>
                  </a:txBody>
                  <a:tcPr marL="54864" marR="54864" marT="27432" marB="27432">
                    <a:solidFill>
                      <a:srgbClr val="E8EEF3"/>
                    </a:solidFill>
                  </a:tcPr>
                </a:tc>
                <a:tc>
                  <a:txBody>
                    <a:bodyPr wrap="square"/>
                    <a:lstStyle/>
                    <a:p>
                      <a:pPr algn="l"/>
                      <a:r>
                        <a:rPr sz="1100" b="1">
                          <a:solidFill>
                            <a:srgbClr val="14324A"/>
                          </a:solidFill>
                          <a:latin typeface="Calibri"/>
                        </a:rPr>
                        <a:t>Enumeration</a:t>
                      </a:r>
                    </a:p>
                  </a:txBody>
                  <a:tcPr marL="54864" marR="54864" marT="27432" marB="27432">
                    <a:solidFill>
                      <a:srgbClr val="E8EEF3"/>
                    </a:solidFill>
                  </a:tcPr>
                </a:tc>
                <a:tc>
                  <a:txBody>
                    <a:bodyPr wrap="square"/>
                    <a:lstStyle/>
                    <a:p>
                      <a:pPr algn="l"/>
                      <a:r>
                        <a:rPr sz="1100" b="1">
                          <a:solidFill>
                            <a:srgbClr val="14324A"/>
                          </a:solidFill>
                          <a:latin typeface="Calibri"/>
                        </a:rPr>
                        <a:t>Held (TiB)</a:t>
                      </a:r>
                    </a:p>
                  </a:txBody>
                  <a:tcPr marL="54864" marR="54864" marT="27432" marB="27432">
                    <a:solidFill>
                      <a:srgbClr val="E8EEF3"/>
                    </a:solidFill>
                  </a:tcPr>
                </a:tc>
                <a:tc>
                  <a:txBody>
                    <a:bodyPr wrap="square"/>
                    <a:lstStyle/>
                    <a:p>
                      <a:pPr algn="l"/>
                      <a:r>
                        <a:rPr sz="1100" b="1">
                          <a:solidFill>
                            <a:srgbClr val="14324A"/>
                          </a:solidFill>
                          <a:latin typeface="Calibri"/>
                        </a:rPr>
                        <a:t>Files</a:t>
                      </a:r>
                    </a:p>
                  </a:txBody>
                  <a:tcPr marL="54864" marR="54864" marT="27432" marB="27432">
                    <a:solidFill>
                      <a:srgbClr val="E8EEF3"/>
                    </a:solidFill>
                  </a:tcPr>
                </a:tc>
                <a:tc>
                  <a:txBody>
                    <a:bodyPr wrap="square"/>
                    <a:lstStyle/>
                    <a:p>
                      <a:pPr algn="l"/>
                      <a:r>
                        <a:rPr sz="1100" b="1">
                          <a:solidFill>
                            <a:srgbClr val="14324A"/>
                          </a:solidFill>
                          <a:latin typeface="Calibri"/>
                        </a:rPr>
                        <a:t>Last write</a:t>
                      </a:r>
                    </a:p>
                  </a:txBody>
                  <a:tcPr marL="54864" marR="54864" marT="27432" marB="27432">
                    <a:solidFill>
                      <a:srgbClr val="E8EEF3"/>
                    </a:solidFill>
                  </a:tcPr>
                </a:tc>
                <a:tc>
                  <a:txBody>
                    <a:bodyPr wrap="square"/>
                    <a:lstStyle/>
                    <a:p>
                      <a:pPr algn="l"/>
                      <a:r>
                        <a:rPr sz="1100" b="1">
                          <a:solidFill>
                            <a:srgbClr val="14324A"/>
                          </a:solidFill>
                          <a:latin typeface="Calibri"/>
                        </a:rPr>
                        <a:t>Main formats</a:t>
                      </a:r>
                    </a:p>
                  </a:txBody>
                  <a:tcPr marL="54864" marR="54864" marT="27432" marB="27432">
                    <a:solidFill>
                      <a:srgbClr val="E8EEF3"/>
                    </a:solidFill>
                  </a:tcPr>
                </a:tc>
                <a:tc>
                  <a:txBody>
                    <a:bodyPr wrap="square"/>
                    <a:lstStyle/>
                    <a:p>
                      <a:pPr algn="l"/>
                      <a:r>
                        <a:rPr sz="1100" b="1">
                          <a:solidFill>
                            <a:srgbClr val="14324A"/>
                          </a:solidFill>
                          <a:latin typeface="Calibri"/>
                        </a:rPr>
                        <a:t>Proposed action</a:t>
                      </a:r>
                    </a:p>
                  </a:txBody>
                  <a:tcPr marL="54864" marR="54864" marT="27432" marB="27432">
                    <a:solidFill>
                      <a:srgbClr val="E8EEF3"/>
                    </a:solidFill>
                  </a:tcPr>
                </a:tc>
              </a:tr>
              <a:tr h="301752">
                <a:tc>
                  <a:txBody>
                    <a:bodyPr wrap="square"/>
                    <a:lstStyle/>
                    <a:p>
                      <a:pPr algn="l"/>
                      <a:r>
                        <a:rPr sz="1100" b="0">
                          <a:solidFill>
                            <a:srgbClr val="14324A"/>
                          </a:solidFill>
                          <a:latin typeface="Calibri"/>
                        </a:rPr>
                        <a:t>channel01</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6.87</a:t>
                      </a:r>
                    </a:p>
                  </a:txBody>
                  <a:tcPr marL="54864" marR="54864" marT="27432" marB="27432">
                    <a:solidFill>
                      <a:srgbClr val="FFFFFF"/>
                    </a:solidFill>
                  </a:tcPr>
                </a:tc>
                <a:tc>
                  <a:txBody>
                    <a:bodyPr wrap="square"/>
                    <a:lstStyle/>
                    <a:p>
                      <a:pPr algn="r"/>
                      <a:r>
                        <a:rPr sz="1100" b="0">
                          <a:solidFill>
                            <a:srgbClr val="14324A"/>
                          </a:solidFill>
                          <a:latin typeface="Courier New"/>
                        </a:rPr>
                        <a:t>95,122</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95,108, .rmd 6, .mpt 3</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channel02</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6.87</a:t>
                      </a:r>
                    </a:p>
                  </a:txBody>
                  <a:tcPr marL="54864" marR="54864" marT="27432" marB="27432">
                    <a:solidFill>
                      <a:srgbClr val="FFFFFF"/>
                    </a:solidFill>
                  </a:tcPr>
                </a:tc>
                <a:tc>
                  <a:txBody>
                    <a:bodyPr wrap="square"/>
                    <a:lstStyle/>
                    <a:p>
                      <a:pPr algn="r"/>
                      <a:r>
                        <a:rPr sz="1100" b="0">
                          <a:solidFill>
                            <a:srgbClr val="14324A"/>
                          </a:solidFill>
                          <a:latin typeface="Courier New"/>
                        </a:rPr>
                        <a:t>95,134</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95,129, .db 1, .jpg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channel16</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6.81</a:t>
                      </a:r>
                    </a:p>
                  </a:txBody>
                  <a:tcPr marL="54864" marR="54864" marT="27432" marB="27432">
                    <a:solidFill>
                      <a:srgbClr val="FFFFFF"/>
                    </a:solidFill>
                  </a:tcPr>
                </a:tc>
                <a:tc>
                  <a:txBody>
                    <a:bodyPr wrap="square"/>
                    <a:lstStyle/>
                    <a:p>
                      <a:pPr algn="r"/>
                      <a:r>
                        <a:rPr sz="1100" b="0">
                          <a:solidFill>
                            <a:srgbClr val="14324A"/>
                          </a:solidFill>
                          <a:latin typeface="Courier New"/>
                        </a:rPr>
                        <a:t>94,597</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94,592, .db 1, .jpg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Channel15</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1.91</a:t>
                      </a:r>
                    </a:p>
                  </a:txBody>
                  <a:tcPr marL="54864" marR="54864" marT="27432" marB="27432">
                    <a:solidFill>
                      <a:srgbClr val="FFFFFF"/>
                    </a:solidFill>
                  </a:tcPr>
                </a:tc>
                <a:tc>
                  <a:txBody>
                    <a:bodyPr wrap="square"/>
                    <a:lstStyle/>
                    <a:p>
                      <a:pPr algn="r"/>
                      <a:r>
                        <a:rPr sz="1100" b="0">
                          <a:solidFill>
                            <a:srgbClr val="14324A"/>
                          </a:solidFill>
                          <a:latin typeface="Courier New"/>
                        </a:rPr>
                        <a:t>95,635</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95,627, .rmd 3, .db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Channel14</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1.91</a:t>
                      </a:r>
                    </a:p>
                  </a:txBody>
                  <a:tcPr marL="54864" marR="54864" marT="27432" marB="27432">
                    <a:solidFill>
                      <a:srgbClr val="FFFFFF"/>
                    </a:solidFill>
                  </a:tcPr>
                </a:tc>
                <a:tc>
                  <a:txBody>
                    <a:bodyPr wrap="square"/>
                    <a:lstStyle/>
                    <a:p>
                      <a:pPr algn="r"/>
                      <a:r>
                        <a:rPr sz="1100" b="0">
                          <a:solidFill>
                            <a:srgbClr val="14324A"/>
                          </a:solidFill>
                          <a:latin typeface="Courier New"/>
                        </a:rPr>
                        <a:t>95,615</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95,609, .rmd 2, .db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Channel11</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1.91</a:t>
                      </a:r>
                    </a:p>
                  </a:txBody>
                  <a:tcPr marL="54864" marR="54864" marT="27432" marB="27432">
                    <a:solidFill>
                      <a:srgbClr val="FFFFFF"/>
                    </a:solidFill>
                  </a:tcPr>
                </a:tc>
                <a:tc>
                  <a:txBody>
                    <a:bodyPr wrap="square"/>
                    <a:lstStyle/>
                    <a:p>
                      <a:pPr algn="r"/>
                      <a:r>
                        <a:rPr sz="1100" b="0">
                          <a:solidFill>
                            <a:srgbClr val="14324A"/>
                          </a:solidFill>
                          <a:latin typeface="Courier New"/>
                        </a:rPr>
                        <a:t>95,602</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95,592, .rmd 6, .db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Channel12</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1.91</a:t>
                      </a:r>
                    </a:p>
                  </a:txBody>
                  <a:tcPr marL="54864" marR="54864" marT="27432" marB="27432">
                    <a:solidFill>
                      <a:srgbClr val="FFFFFF"/>
                    </a:solidFill>
                  </a:tcPr>
                </a:tc>
                <a:tc>
                  <a:txBody>
                    <a:bodyPr wrap="square"/>
                    <a:lstStyle/>
                    <a:p>
                      <a:pPr algn="r"/>
                      <a:r>
                        <a:rPr sz="1100" b="0">
                          <a:solidFill>
                            <a:srgbClr val="14324A"/>
                          </a:solidFill>
                          <a:latin typeface="Courier New"/>
                        </a:rPr>
                        <a:t>95,600</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95,590, .rmd 6, .db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channel07</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1.91</a:t>
                      </a:r>
                    </a:p>
                  </a:txBody>
                  <a:tcPr marL="54864" marR="54864" marT="27432" marB="27432">
                    <a:solidFill>
                      <a:srgbClr val="FFFFFF"/>
                    </a:solidFill>
                  </a:tcPr>
                </a:tc>
                <a:tc>
                  <a:txBody>
                    <a:bodyPr wrap="square"/>
                    <a:lstStyle/>
                    <a:p>
                      <a:pPr algn="r"/>
                      <a:r>
                        <a:rPr sz="1100" b="0">
                          <a:solidFill>
                            <a:srgbClr val="14324A"/>
                          </a:solidFill>
                          <a:latin typeface="Courier New"/>
                        </a:rPr>
                        <a:t>95,550</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95,546, .db 1, .jpg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r h="301752">
                <a:tc>
                  <a:txBody>
                    <a:bodyPr wrap="square"/>
                    <a:lstStyle/>
                    <a:p>
                      <a:pPr algn="l"/>
                      <a:r>
                        <a:rPr sz="1100" b="0">
                          <a:solidFill>
                            <a:srgbClr val="14324A"/>
                          </a:solidFill>
                          <a:latin typeface="Calibri"/>
                        </a:rPr>
                        <a:t>channel06</a:t>
                      </a:r>
                    </a:p>
                  </a:txBody>
                  <a:tcPr marL="54864" marR="54864" marT="27432" marB="27432">
                    <a:solidFill>
                      <a:srgbClr val="FFFFFF"/>
                    </a:solidFill>
                  </a:tcPr>
                </a:tc>
                <a:tc>
                  <a:txBody>
                    <a:bodyPr wrap="square"/>
                    <a:lstStyle/>
                    <a:p>
                      <a:pPr algn="l"/>
                      <a:r>
                        <a:rPr sz="1100" b="0">
                          <a:solidFill>
                            <a:srgbClr val="14324A"/>
                          </a:solidFill>
                          <a:latin typeface="Calibri"/>
                        </a:rPr>
                        <a:t>complete</a:t>
                      </a:r>
                    </a:p>
                  </a:txBody>
                  <a:tcPr marL="54864" marR="54864" marT="27432" marB="27432">
                    <a:solidFill>
                      <a:srgbClr val="FFFFFF"/>
                    </a:solidFill>
                  </a:tcPr>
                </a:tc>
                <a:tc>
                  <a:txBody>
                    <a:bodyPr wrap="square"/>
                    <a:lstStyle/>
                    <a:p>
                      <a:pPr algn="r"/>
                      <a:r>
                        <a:rPr sz="1100" b="0">
                          <a:solidFill>
                            <a:srgbClr val="14324A"/>
                          </a:solidFill>
                          <a:latin typeface="Courier New"/>
                        </a:rPr>
                        <a:t>1.91</a:t>
                      </a:r>
                    </a:p>
                  </a:txBody>
                  <a:tcPr marL="54864" marR="54864" marT="27432" marB="27432">
                    <a:solidFill>
                      <a:srgbClr val="FFFFFF"/>
                    </a:solidFill>
                  </a:tcPr>
                </a:tc>
                <a:tc>
                  <a:txBody>
                    <a:bodyPr wrap="square"/>
                    <a:lstStyle/>
                    <a:p>
                      <a:pPr algn="r"/>
                      <a:r>
                        <a:rPr sz="1100" b="0">
                          <a:solidFill>
                            <a:srgbClr val="14324A"/>
                          </a:solidFill>
                          <a:latin typeface="Courier New"/>
                        </a:rPr>
                        <a:t>95,548</a:t>
                      </a:r>
                    </a:p>
                  </a:txBody>
                  <a:tcPr marL="54864" marR="54864" marT="27432" marB="27432">
                    <a:solidFill>
                      <a:srgbClr val="FFFFFF"/>
                    </a:solidFill>
                  </a:tcPr>
                </a:tc>
                <a:tc>
                  <a:txBody>
                    <a:bodyPr wrap="square"/>
                    <a:lstStyle/>
                    <a:p>
                      <a:pPr algn="r"/>
                      <a:r>
                        <a:rPr sz="1100" b="0">
                          <a:solidFill>
                            <a:srgbClr val="14324A"/>
                          </a:solidFill>
                          <a:latin typeface="Courier New"/>
                        </a:rPr>
                        <a:t>2026-09-29</a:t>
                      </a:r>
                    </a:p>
                  </a:txBody>
                  <a:tcPr marL="54864" marR="54864" marT="27432" marB="27432">
                    <a:solidFill>
                      <a:srgbClr val="FFFFFF"/>
                    </a:solidFill>
                  </a:tcPr>
                </a:tc>
                <a:tc>
                  <a:txBody>
                    <a:bodyPr wrap="square"/>
                    <a:lstStyle/>
                    <a:p>
                      <a:pPr algn="r"/>
                      <a:r>
                        <a:rPr sz="1100" b="0">
                          <a:solidFill>
                            <a:srgbClr val="14324A"/>
                          </a:solidFill>
                          <a:latin typeface="Courier New"/>
                        </a:rPr>
                        <a:t>.mp4 95,544, .db 1, .jpg 1</a:t>
                      </a:r>
                    </a:p>
                  </a:txBody>
                  <a:tcPr marL="54864" marR="54864" marT="27432" marB="27432">
                    <a:solidFill>
                      <a:srgbClr val="FFFFFF"/>
                    </a:solidFill>
                  </a:tcPr>
                </a:tc>
                <a:tc>
                  <a:txBody>
                    <a:bodyPr wrap="square"/>
                    <a:lstStyle/>
                    <a:p>
                      <a:pPr algn="r"/>
                      <a:r>
                        <a:rPr sz="1100" b="0">
                          <a:solidFill>
                            <a:srgbClr val="14324A"/>
                          </a:solidFill>
                          <a:latin typeface="Courier New"/>
                        </a:rPr>
                        <a:t>fingerprint pass to measure duplication; then tier by channel</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Sizes and dates were recorded; content fingerprints were not, so duplication across the channel shares is not yet measured.</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R05: NAS share enumeration census run cr-cf4eef79995b (1,456,787 files, 43.6 TiB)</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Exact file shares (NAS) enumerated</a:t>
            </a:r>
          </a:p>
        </p:txBody>
      </p:sp>
      <p:graphicFrame>
        <p:nvGraphicFramePr>
          <p:cNvPr id="4" name="Table 3"/>
          <p:cNvGraphicFramePr>
            <a:graphicFrameLocks noGrp="1"/>
          </p:cNvGraphicFramePr>
          <p:nvPr/>
        </p:nvGraphicFramePr>
        <p:xfrm>
          <a:off x="594360" y="1920240"/>
          <a:ext cx="11002970" cy="1536192"/>
        </p:xfrm>
        <a:graphic>
          <a:graphicData uri="http://schemas.openxmlformats.org/drawingml/2006/table">
            <a:tbl>
              <a:tblPr firstRow="1" bandRow="1">
                <a:tableStyleId>{5C22544A-7EE6-4342-B048-85BDC9FD1C3A}</a:tableStyleId>
              </a:tblPr>
              <a:tblGrid>
                <a:gridCol w="1116243"/>
                <a:gridCol w="1116243"/>
                <a:gridCol w="1116243"/>
                <a:gridCol w="1116243"/>
                <a:gridCol w="1116243"/>
                <a:gridCol w="2073024"/>
                <a:gridCol w="3348731"/>
              </a:tblGrid>
              <a:tr h="384048">
                <a:tc>
                  <a:txBody>
                    <a:bodyPr wrap="square"/>
                    <a:lstStyle/>
                    <a:p>
                      <a:pPr algn="l"/>
                      <a:r>
                        <a:rPr sz="1200" b="1">
                          <a:solidFill>
                            <a:srgbClr val="14324A"/>
                          </a:solidFill>
                          <a:latin typeface="Calibri"/>
                        </a:rPr>
                        <a:t>Share</a:t>
                      </a:r>
                    </a:p>
                  </a:txBody>
                  <a:tcPr marL="54864" marR="54864" marT="27432" marB="27432">
                    <a:solidFill>
                      <a:srgbClr val="E8EEF3"/>
                    </a:solidFill>
                  </a:tcPr>
                </a:tc>
                <a:tc>
                  <a:txBody>
                    <a:bodyPr wrap="square"/>
                    <a:lstStyle/>
                    <a:p>
                      <a:pPr algn="l"/>
                      <a:r>
                        <a:rPr sz="1200" b="1">
                          <a:solidFill>
                            <a:srgbClr val="14324A"/>
                          </a:solidFill>
                          <a:latin typeface="Calibri"/>
                        </a:rPr>
                        <a:t>Enumeration</a:t>
                      </a:r>
                    </a:p>
                  </a:txBody>
                  <a:tcPr marL="54864" marR="54864" marT="27432" marB="27432">
                    <a:solidFill>
                      <a:srgbClr val="E8EEF3"/>
                    </a:solidFill>
                  </a:tcPr>
                </a:tc>
                <a:tc>
                  <a:txBody>
                    <a:bodyPr wrap="square"/>
                    <a:lstStyle/>
                    <a:p>
                      <a:pPr algn="l"/>
                      <a:r>
                        <a:rPr sz="1200" b="1">
                          <a:solidFill>
                            <a:srgbClr val="14324A"/>
                          </a:solidFill>
                          <a:latin typeface="Calibri"/>
                        </a:rPr>
                        <a:t>Held (TiB)</a:t>
                      </a:r>
                    </a:p>
                  </a:txBody>
                  <a:tcPr marL="54864" marR="54864" marT="27432" marB="27432">
                    <a:solidFill>
                      <a:srgbClr val="E8EEF3"/>
                    </a:solidFill>
                  </a:tcPr>
                </a:tc>
                <a:tc>
                  <a:txBody>
                    <a:bodyPr wrap="square"/>
                    <a:lstStyle/>
                    <a:p>
                      <a:pPr algn="l"/>
                      <a:r>
                        <a:rPr sz="1200" b="1">
                          <a:solidFill>
                            <a:srgbClr val="14324A"/>
                          </a:solidFill>
                          <a:latin typeface="Calibri"/>
                        </a:rPr>
                        <a:t>Files</a:t>
                      </a:r>
                    </a:p>
                  </a:txBody>
                  <a:tcPr marL="54864" marR="54864" marT="27432" marB="27432">
                    <a:solidFill>
                      <a:srgbClr val="E8EEF3"/>
                    </a:solidFill>
                  </a:tcPr>
                </a:tc>
                <a:tc>
                  <a:txBody>
                    <a:bodyPr wrap="square"/>
                    <a:lstStyle/>
                    <a:p>
                      <a:pPr algn="l"/>
                      <a:r>
                        <a:rPr sz="1200" b="1">
                          <a:solidFill>
                            <a:srgbClr val="14324A"/>
                          </a:solidFill>
                          <a:latin typeface="Calibri"/>
                        </a:rPr>
                        <a:t>Last write</a:t>
                      </a:r>
                    </a:p>
                  </a:txBody>
                  <a:tcPr marL="54864" marR="54864" marT="27432" marB="27432">
                    <a:solidFill>
                      <a:srgbClr val="E8EEF3"/>
                    </a:solidFill>
                  </a:tcPr>
                </a:tc>
                <a:tc>
                  <a:txBody>
                    <a:bodyPr wrap="square"/>
                    <a:lstStyle/>
                    <a:p>
                      <a:pPr algn="l"/>
                      <a:r>
                        <a:rPr sz="1200" b="1">
                          <a:solidFill>
                            <a:srgbClr val="14324A"/>
                          </a:solidFill>
                          <a:latin typeface="Calibri"/>
                        </a:rPr>
                        <a:t>Main formats</a:t>
                      </a:r>
                    </a:p>
                  </a:txBody>
                  <a:tcPr marL="54864" marR="54864" marT="27432" marB="27432">
                    <a:solidFill>
                      <a:srgbClr val="E8EEF3"/>
                    </a:solidFill>
                  </a:tcPr>
                </a:tc>
                <a:tc>
                  <a:txBody>
                    <a:bodyPr wrap="square"/>
                    <a:lstStyle/>
                    <a:p>
                      <a:pPr algn="l"/>
                      <a:r>
                        <a:rPr sz="1200" b="1">
                          <a:solidFill>
                            <a:srgbClr val="14324A"/>
                          </a:solidFill>
                          <a:latin typeface="Calibri"/>
                        </a:rPr>
                        <a:t>Proposed action</a:t>
                      </a:r>
                    </a:p>
                  </a:txBody>
                  <a:tcPr marL="54864" marR="54864" marT="27432" marB="27432">
                    <a:solidFill>
                      <a:srgbClr val="E8EEF3"/>
                    </a:solidFill>
                  </a:tcPr>
                </a:tc>
              </a:tr>
              <a:tr h="384048">
                <a:tc>
                  <a:txBody>
                    <a:bodyPr wrap="square"/>
                    <a:lstStyle/>
                    <a:p>
                      <a:pPr algn="l"/>
                      <a:r>
                        <a:rPr sz="1200" b="0">
                          <a:solidFill>
                            <a:srgbClr val="14324A"/>
                          </a:solidFill>
                          <a:latin typeface="Calibri"/>
                        </a:rPr>
                        <a:t>channel05</a:t>
                      </a:r>
                    </a:p>
                  </a:txBody>
                  <a:tcPr marL="54864" marR="54864" marT="27432" marB="27432">
                    <a:solidFill>
                      <a:srgbClr val="FFFFFF"/>
                    </a:solidFill>
                  </a:tcPr>
                </a:tc>
                <a:tc>
                  <a:txBody>
                    <a:bodyPr wrap="square"/>
                    <a:lstStyle/>
                    <a:p>
                      <a:pPr algn="l"/>
                      <a:r>
                        <a:rPr sz="1200" b="0">
                          <a:solidFill>
                            <a:srgbClr val="14324A"/>
                          </a:solidFill>
                          <a:latin typeface="Calibri"/>
                        </a:rPr>
                        <a:t>complete</a:t>
                      </a:r>
                    </a:p>
                  </a:txBody>
                  <a:tcPr marL="54864" marR="54864" marT="27432" marB="27432">
                    <a:solidFill>
                      <a:srgbClr val="FFFFFF"/>
                    </a:solidFill>
                  </a:tcPr>
                </a:tc>
                <a:tc>
                  <a:txBody>
                    <a:bodyPr wrap="square"/>
                    <a:lstStyle/>
                    <a:p>
                      <a:pPr algn="r"/>
                      <a:r>
                        <a:rPr sz="1200" b="0">
                          <a:solidFill>
                            <a:srgbClr val="14324A"/>
                          </a:solidFill>
                          <a:latin typeface="Courier New"/>
                        </a:rPr>
                        <a:t>1.9</a:t>
                      </a:r>
                    </a:p>
                  </a:txBody>
                  <a:tcPr marL="54864" marR="54864" marT="27432" marB="27432">
                    <a:solidFill>
                      <a:srgbClr val="FFFFFF"/>
                    </a:solidFill>
                  </a:tcPr>
                </a:tc>
                <a:tc>
                  <a:txBody>
                    <a:bodyPr wrap="square"/>
                    <a:lstStyle/>
                    <a:p>
                      <a:pPr algn="r"/>
                      <a:r>
                        <a:rPr sz="1200" b="0">
                          <a:solidFill>
                            <a:srgbClr val="14324A"/>
                          </a:solidFill>
                          <a:latin typeface="Courier New"/>
                        </a:rPr>
                        <a:t>95,494</a:t>
                      </a:r>
                    </a:p>
                  </a:txBody>
                  <a:tcPr marL="54864" marR="54864" marT="27432" marB="27432">
                    <a:solidFill>
                      <a:srgbClr val="FFFFFF"/>
                    </a:solidFill>
                  </a:tcPr>
                </a:tc>
                <a:tc>
                  <a:txBody>
                    <a:bodyPr wrap="square"/>
                    <a:lstStyle/>
                    <a:p>
                      <a:pPr algn="r"/>
                      <a:r>
                        <a:rPr sz="1200" b="0">
                          <a:solidFill>
                            <a:srgbClr val="14324A"/>
                          </a:solidFill>
                          <a:latin typeface="Courier New"/>
                        </a:rPr>
                        <a:t>2026-09-29</a:t>
                      </a:r>
                    </a:p>
                  </a:txBody>
                  <a:tcPr marL="54864" marR="54864" marT="27432" marB="27432">
                    <a:solidFill>
                      <a:srgbClr val="FFFFFF"/>
                    </a:solidFill>
                  </a:tcPr>
                </a:tc>
                <a:tc>
                  <a:txBody>
                    <a:bodyPr wrap="square"/>
                    <a:lstStyle/>
                    <a:p>
                      <a:pPr algn="r"/>
                      <a:r>
                        <a:rPr sz="1200" b="0">
                          <a:solidFill>
                            <a:srgbClr val="14324A"/>
                          </a:solidFill>
                          <a:latin typeface="Courier New"/>
                        </a:rPr>
                        <a:t>.mp4 95,490, .db 1, .jpg 1</a:t>
                      </a:r>
                    </a:p>
                  </a:txBody>
                  <a:tcPr marL="54864" marR="54864" marT="27432" marB="27432">
                    <a:solidFill>
                      <a:srgbClr val="FFFFFF"/>
                    </a:solidFill>
                  </a:tcPr>
                </a:tc>
                <a:tc>
                  <a:txBody>
                    <a:bodyPr wrap="square"/>
                    <a:lstStyle/>
                    <a:p>
                      <a:pPr algn="r"/>
                      <a:r>
                        <a:rPr sz="1200" b="0">
                          <a:solidFill>
                            <a:srgbClr val="14324A"/>
                          </a:solidFill>
                          <a:latin typeface="Courier New"/>
                        </a:rPr>
                        <a:t>fingerprint pass to measure duplication; then tier by channel</a:t>
                      </a:r>
                    </a:p>
                  </a:txBody>
                  <a:tcPr marL="54864" marR="54864" marT="27432" marB="27432">
                    <a:solidFill>
                      <a:srgbClr val="FFFFFF"/>
                    </a:solidFill>
                  </a:tcPr>
                </a:tc>
              </a:tr>
              <a:tr h="384048">
                <a:tc>
                  <a:txBody>
                    <a:bodyPr wrap="square"/>
                    <a:lstStyle/>
                    <a:p>
                      <a:pPr algn="l"/>
                      <a:r>
                        <a:rPr sz="1200" b="0">
                          <a:solidFill>
                            <a:srgbClr val="14324A"/>
                          </a:solidFill>
                          <a:latin typeface="Calibri"/>
                        </a:rPr>
                        <a:t>channel04</a:t>
                      </a:r>
                    </a:p>
                  </a:txBody>
                  <a:tcPr marL="54864" marR="54864" marT="27432" marB="27432">
                    <a:solidFill>
                      <a:srgbClr val="FFFFFF"/>
                    </a:solidFill>
                  </a:tcPr>
                </a:tc>
                <a:tc>
                  <a:txBody>
                    <a:bodyPr wrap="square"/>
                    <a:lstStyle/>
                    <a:p>
                      <a:pPr algn="l"/>
                      <a:r>
                        <a:rPr sz="1200" b="0">
                          <a:solidFill>
                            <a:srgbClr val="14324A"/>
                          </a:solidFill>
                          <a:latin typeface="Calibri"/>
                        </a:rPr>
                        <a:t>complete</a:t>
                      </a:r>
                    </a:p>
                  </a:txBody>
                  <a:tcPr marL="54864" marR="54864" marT="27432" marB="27432">
                    <a:solidFill>
                      <a:srgbClr val="FFFFFF"/>
                    </a:solidFill>
                  </a:tcPr>
                </a:tc>
                <a:tc>
                  <a:txBody>
                    <a:bodyPr wrap="square"/>
                    <a:lstStyle/>
                    <a:p>
                      <a:pPr algn="r"/>
                      <a:r>
                        <a:rPr sz="1200" b="0">
                          <a:solidFill>
                            <a:srgbClr val="14324A"/>
                          </a:solidFill>
                          <a:latin typeface="Courier New"/>
                        </a:rPr>
                        <a:t>1.9</a:t>
                      </a:r>
                    </a:p>
                  </a:txBody>
                  <a:tcPr marL="54864" marR="54864" marT="27432" marB="27432">
                    <a:solidFill>
                      <a:srgbClr val="FFFFFF"/>
                    </a:solidFill>
                  </a:tcPr>
                </a:tc>
                <a:tc>
                  <a:txBody>
                    <a:bodyPr wrap="square"/>
                    <a:lstStyle/>
                    <a:p>
                      <a:pPr algn="r"/>
                      <a:r>
                        <a:rPr sz="1200" b="0">
                          <a:solidFill>
                            <a:srgbClr val="14324A"/>
                          </a:solidFill>
                          <a:latin typeface="Courier New"/>
                        </a:rPr>
                        <a:t>95,475</a:t>
                      </a:r>
                    </a:p>
                  </a:txBody>
                  <a:tcPr marL="54864" marR="54864" marT="27432" marB="27432">
                    <a:solidFill>
                      <a:srgbClr val="FFFFFF"/>
                    </a:solidFill>
                  </a:tcPr>
                </a:tc>
                <a:tc>
                  <a:txBody>
                    <a:bodyPr wrap="square"/>
                    <a:lstStyle/>
                    <a:p>
                      <a:pPr algn="r"/>
                      <a:r>
                        <a:rPr sz="1200" b="0">
                          <a:solidFill>
                            <a:srgbClr val="14324A"/>
                          </a:solidFill>
                          <a:latin typeface="Courier New"/>
                        </a:rPr>
                        <a:t>2026-09-29</a:t>
                      </a:r>
                    </a:p>
                  </a:txBody>
                  <a:tcPr marL="54864" marR="54864" marT="27432" marB="27432">
                    <a:solidFill>
                      <a:srgbClr val="FFFFFF"/>
                    </a:solidFill>
                  </a:tcPr>
                </a:tc>
                <a:tc>
                  <a:txBody>
                    <a:bodyPr wrap="square"/>
                    <a:lstStyle/>
                    <a:p>
                      <a:pPr algn="r"/>
                      <a:r>
                        <a:rPr sz="1200" b="0">
                          <a:solidFill>
                            <a:srgbClr val="14324A"/>
                          </a:solidFill>
                          <a:latin typeface="Courier New"/>
                        </a:rPr>
                        <a:t>.mp4 95,470, .db 1, .jpg 1</a:t>
                      </a:r>
                    </a:p>
                  </a:txBody>
                  <a:tcPr marL="54864" marR="54864" marT="27432" marB="27432">
                    <a:solidFill>
                      <a:srgbClr val="FFFFFF"/>
                    </a:solidFill>
                  </a:tcPr>
                </a:tc>
                <a:tc>
                  <a:txBody>
                    <a:bodyPr wrap="square"/>
                    <a:lstStyle/>
                    <a:p>
                      <a:pPr algn="r"/>
                      <a:r>
                        <a:rPr sz="1200" b="0">
                          <a:solidFill>
                            <a:srgbClr val="14324A"/>
                          </a:solidFill>
                          <a:latin typeface="Courier New"/>
                        </a:rPr>
                        <a:t>fingerprint pass to measure duplication; then tier by channel</a:t>
                      </a:r>
                    </a:p>
                  </a:txBody>
                  <a:tcPr marL="54864" marR="54864" marT="27432" marB="27432">
                    <a:solidFill>
                      <a:srgbClr val="FFFFFF"/>
                    </a:solidFill>
                  </a:tcPr>
                </a:tc>
              </a:tr>
              <a:tr h="384048">
                <a:tc>
                  <a:txBody>
                    <a:bodyPr wrap="square"/>
                    <a:lstStyle/>
                    <a:p>
                      <a:pPr algn="l"/>
                      <a:r>
                        <a:rPr sz="1200" b="0">
                          <a:solidFill>
                            <a:srgbClr val="14324A"/>
                          </a:solidFill>
                          <a:latin typeface="Calibri"/>
                        </a:rPr>
                        <a:t>channel03</a:t>
                      </a:r>
                    </a:p>
                  </a:txBody>
                  <a:tcPr marL="54864" marR="54864" marT="27432" marB="27432">
                    <a:solidFill>
                      <a:srgbClr val="FFFFFF"/>
                    </a:solidFill>
                  </a:tcPr>
                </a:tc>
                <a:tc>
                  <a:txBody>
                    <a:bodyPr wrap="square"/>
                    <a:lstStyle/>
                    <a:p>
                      <a:pPr algn="l"/>
                      <a:r>
                        <a:rPr sz="1200" b="0">
                          <a:solidFill>
                            <a:srgbClr val="14324A"/>
                          </a:solidFill>
                          <a:latin typeface="Calibri"/>
                        </a:rPr>
                        <a:t>complete</a:t>
                      </a:r>
                    </a:p>
                  </a:txBody>
                  <a:tcPr marL="54864" marR="54864" marT="27432" marB="27432">
                    <a:solidFill>
                      <a:srgbClr val="FFFFFF"/>
                    </a:solidFill>
                  </a:tcPr>
                </a:tc>
                <a:tc>
                  <a:txBody>
                    <a:bodyPr wrap="square"/>
                    <a:lstStyle/>
                    <a:p>
                      <a:pPr algn="r"/>
                      <a:r>
                        <a:rPr sz="1200" b="0">
                          <a:solidFill>
                            <a:srgbClr val="14324A"/>
                          </a:solidFill>
                          <a:latin typeface="Courier New"/>
                        </a:rPr>
                        <a:t>1.9</a:t>
                      </a:r>
                    </a:p>
                  </a:txBody>
                  <a:tcPr marL="54864" marR="54864" marT="27432" marB="27432">
                    <a:solidFill>
                      <a:srgbClr val="FFFFFF"/>
                    </a:solidFill>
                  </a:tcPr>
                </a:tc>
                <a:tc>
                  <a:txBody>
                    <a:bodyPr wrap="square"/>
                    <a:lstStyle/>
                    <a:p>
                      <a:pPr algn="r"/>
                      <a:r>
                        <a:rPr sz="1200" b="0">
                          <a:solidFill>
                            <a:srgbClr val="14324A"/>
                          </a:solidFill>
                          <a:latin typeface="Courier New"/>
                        </a:rPr>
                        <a:t>95,419</a:t>
                      </a:r>
                    </a:p>
                  </a:txBody>
                  <a:tcPr marL="54864" marR="54864" marT="27432" marB="27432">
                    <a:solidFill>
                      <a:srgbClr val="FFFFFF"/>
                    </a:solidFill>
                  </a:tcPr>
                </a:tc>
                <a:tc>
                  <a:txBody>
                    <a:bodyPr wrap="square"/>
                    <a:lstStyle/>
                    <a:p>
                      <a:pPr algn="r"/>
                      <a:r>
                        <a:rPr sz="1200" b="0">
                          <a:solidFill>
                            <a:srgbClr val="14324A"/>
                          </a:solidFill>
                          <a:latin typeface="Courier New"/>
                        </a:rPr>
                        <a:t>2026-09-29</a:t>
                      </a:r>
                    </a:p>
                  </a:txBody>
                  <a:tcPr marL="54864" marR="54864" marT="27432" marB="27432">
                    <a:solidFill>
                      <a:srgbClr val="FFFFFF"/>
                    </a:solidFill>
                  </a:tcPr>
                </a:tc>
                <a:tc>
                  <a:txBody>
                    <a:bodyPr wrap="square"/>
                    <a:lstStyle/>
                    <a:p>
                      <a:pPr algn="r"/>
                      <a:r>
                        <a:rPr sz="1200" b="0">
                          <a:solidFill>
                            <a:srgbClr val="14324A"/>
                          </a:solidFill>
                          <a:latin typeface="Courier New"/>
                        </a:rPr>
                        <a:t>.mp4 95,415, .db 1, .jpg 1</a:t>
                      </a:r>
                    </a:p>
                  </a:txBody>
                  <a:tcPr marL="54864" marR="54864" marT="27432" marB="27432">
                    <a:solidFill>
                      <a:srgbClr val="FFFFFF"/>
                    </a:solidFill>
                  </a:tcPr>
                </a:tc>
                <a:tc>
                  <a:txBody>
                    <a:bodyPr wrap="square"/>
                    <a:lstStyle/>
                    <a:p>
                      <a:pPr algn="r"/>
                      <a:r>
                        <a:rPr sz="1200" b="0">
                          <a:solidFill>
                            <a:srgbClr val="14324A"/>
                          </a:solidFill>
                          <a:latin typeface="Courier New"/>
                        </a:rPr>
                        <a:t>fingerprint pass to measure duplication; then tier by channel</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Sizes and dates were recorded; content fingerprints were not, so duplication across the channel shares is not yet measured.</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R05: NAS share enumeration census run cr-cf4eef79995b (1,456,787 files, 43.6 TiB)</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Object-store buckets that could not be read</a:t>
            </a:r>
          </a:p>
        </p:txBody>
      </p:sp>
      <p:graphicFrame>
        <p:nvGraphicFramePr>
          <p:cNvPr id="4" name="Table 3"/>
          <p:cNvGraphicFramePr>
            <a:graphicFrameLocks noGrp="1"/>
          </p:cNvGraphicFramePr>
          <p:nvPr/>
        </p:nvGraphicFramePr>
        <p:xfrm>
          <a:off x="594360" y="1920240"/>
          <a:ext cx="11002973" cy="3017520"/>
        </p:xfrm>
        <a:graphic>
          <a:graphicData uri="http://schemas.openxmlformats.org/drawingml/2006/table">
            <a:tbl>
              <a:tblPr firstRow="1" bandRow="1">
                <a:tableStyleId>{5C22544A-7EE6-4342-B048-85BDC9FD1C3A}</a:tableStyleId>
              </a:tblPr>
              <a:tblGrid>
                <a:gridCol w="2895519"/>
                <a:gridCol w="2026863"/>
                <a:gridCol w="6080591"/>
              </a:tblGrid>
              <a:tr h="301752">
                <a:tc>
                  <a:txBody>
                    <a:bodyPr wrap="square"/>
                    <a:lstStyle/>
                    <a:p>
                      <a:pPr algn="l"/>
                      <a:r>
                        <a:rPr sz="1200" b="1">
                          <a:solidFill>
                            <a:srgbClr val="14324A"/>
                          </a:solidFill>
                          <a:latin typeface="Calibri"/>
                        </a:rPr>
                        <a:t>Bucket</a:t>
                      </a:r>
                    </a:p>
                  </a:txBody>
                  <a:tcPr marL="54864" marR="54864" marT="27432" marB="27432">
                    <a:solidFill>
                      <a:srgbClr val="E8EEF3"/>
                    </a:solidFill>
                  </a:tcPr>
                </a:tc>
                <a:tc>
                  <a:txBody>
                    <a:bodyPr wrap="square"/>
                    <a:lstStyle/>
                    <a:p>
                      <a:pPr algn="l"/>
                      <a:r>
                        <a:rPr sz="1200" b="1">
                          <a:solidFill>
                            <a:srgbClr val="14324A"/>
                          </a:solidFill>
                          <a:latin typeface="Calibri"/>
                        </a:rPr>
                        <a:t>Error returned</a:t>
                      </a:r>
                    </a:p>
                  </a:txBody>
                  <a:tcPr marL="54864" marR="54864" marT="27432" marB="27432">
                    <a:solidFill>
                      <a:srgbClr val="E8EEF3"/>
                    </a:solidFill>
                  </a:tcPr>
                </a:tc>
                <a:tc>
                  <a:txBody>
                    <a:bodyPr wrap="square"/>
                    <a:lstStyle/>
                    <a:p>
                      <a:pPr algn="l"/>
                      <a:r>
                        <a:rPr sz="1200" b="1">
                          <a:solidFill>
                            <a:srgbClr val="14324A"/>
                          </a:solidFill>
                          <a:latin typeface="Calibri"/>
                        </a:rPr>
                        <a:t>Proposed action</a:t>
                      </a:r>
                    </a:p>
                  </a:txBody>
                  <a:tcPr marL="54864" marR="54864" marT="27432" marB="27432">
                    <a:solidFill>
                      <a:srgbClr val="E8EEF3"/>
                    </a:solidFill>
                  </a:tcPr>
                </a:tc>
              </a:tr>
              <a:tr h="301752">
                <a:tc>
                  <a:txBody>
                    <a:bodyPr wrap="square"/>
                    <a:lstStyle/>
                    <a:p>
                      <a:pPr algn="l"/>
                      <a:r>
                        <a:rPr sz="1200" b="0">
                          <a:solidFill>
                            <a:srgbClr val="14324A"/>
                          </a:solidFill>
                          <a:latin typeface="Calibri"/>
                        </a:rPr>
                        <a:t>apr252017</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citizen-vod</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elections</a:t>
                      </a:r>
                    </a:p>
                  </a:txBody>
                  <a:tcPr marL="54864" marR="54864" marT="27432" marB="27432">
                    <a:solidFill>
                      <a:srgbClr val="FFFFFF"/>
                    </a:solidFill>
                  </a:tcPr>
                </a:tc>
                <a:tc>
                  <a:txBody>
                    <a:bodyPr wrap="square"/>
                    <a:lstStyle/>
                    <a:p>
                      <a:pPr algn="l"/>
                      <a:r>
                        <a:rPr sz="1200" b="0">
                          <a:solidFill>
                            <a:srgbClr val="14324A"/>
                          </a:solidFill>
                          <a:latin typeface="Calibri"/>
                        </a:rPr>
                        <a:t>ClientError</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feb272017</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instore-radio-items</a:t>
                      </a:r>
                    </a:p>
                  </a:txBody>
                  <a:tcPr marL="54864" marR="54864" marT="27432" marB="27432">
                    <a:solidFill>
                      <a:srgbClr val="FFFFFF"/>
                    </a:solidFill>
                  </a:tcPr>
                </a:tc>
                <a:tc>
                  <a:txBody>
                    <a:bodyPr wrap="square"/>
                    <a:lstStyle/>
                    <a:p>
                      <a:pPr algn="l"/>
                      <a:r>
                        <a:rPr sz="1200" b="0">
                          <a:solidFill>
                            <a:srgbClr val="14324A"/>
                          </a:solidFill>
                          <a:latin typeface="Calibri"/>
                        </a:rPr>
                        <a:t>ClientError</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iso-rms-storage</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librarydirectupload2</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na7p4100</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na7p410c</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These names are in the bucket inventory but returned an error when listed; each needs reconciling with the provider — deleted, renamed or access withdrawn.</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R04: OBS bucket enumeration census run cr-f1415e395361 (22,975,591 objects, 130.3 TiB)</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Object-store buckets that could not be read</a:t>
            </a:r>
          </a:p>
        </p:txBody>
      </p:sp>
      <p:graphicFrame>
        <p:nvGraphicFramePr>
          <p:cNvPr id="4" name="Table 3"/>
          <p:cNvGraphicFramePr>
            <a:graphicFrameLocks noGrp="1"/>
          </p:cNvGraphicFramePr>
          <p:nvPr/>
        </p:nvGraphicFramePr>
        <p:xfrm>
          <a:off x="594360" y="1920240"/>
          <a:ext cx="11002975" cy="3017520"/>
        </p:xfrm>
        <a:graphic>
          <a:graphicData uri="http://schemas.openxmlformats.org/drawingml/2006/table">
            <a:tbl>
              <a:tblPr firstRow="1" bandRow="1">
                <a:tableStyleId>{5C22544A-7EE6-4342-B048-85BDC9FD1C3A}</a:tableStyleId>
              </a:tblPr>
              <a:tblGrid>
                <a:gridCol w="2200595"/>
                <a:gridCol w="2200595"/>
                <a:gridCol w="6601785"/>
              </a:tblGrid>
              <a:tr h="301752">
                <a:tc>
                  <a:txBody>
                    <a:bodyPr wrap="square"/>
                    <a:lstStyle/>
                    <a:p>
                      <a:pPr algn="l"/>
                      <a:r>
                        <a:rPr sz="1200" b="1">
                          <a:solidFill>
                            <a:srgbClr val="14324A"/>
                          </a:solidFill>
                          <a:latin typeface="Calibri"/>
                        </a:rPr>
                        <a:t>Bucket</a:t>
                      </a:r>
                    </a:p>
                  </a:txBody>
                  <a:tcPr marL="54864" marR="54864" marT="27432" marB="27432">
                    <a:solidFill>
                      <a:srgbClr val="E8EEF3"/>
                    </a:solidFill>
                  </a:tcPr>
                </a:tc>
                <a:tc>
                  <a:txBody>
                    <a:bodyPr wrap="square"/>
                    <a:lstStyle/>
                    <a:p>
                      <a:pPr algn="l"/>
                      <a:r>
                        <a:rPr sz="1200" b="1">
                          <a:solidFill>
                            <a:srgbClr val="14324A"/>
                          </a:solidFill>
                          <a:latin typeface="Calibri"/>
                        </a:rPr>
                        <a:t>Error returned</a:t>
                      </a:r>
                    </a:p>
                  </a:txBody>
                  <a:tcPr marL="54864" marR="54864" marT="27432" marB="27432">
                    <a:solidFill>
                      <a:srgbClr val="E8EEF3"/>
                    </a:solidFill>
                  </a:tcPr>
                </a:tc>
                <a:tc>
                  <a:txBody>
                    <a:bodyPr wrap="square"/>
                    <a:lstStyle/>
                    <a:p>
                      <a:pPr algn="l"/>
                      <a:r>
                        <a:rPr sz="1200" b="1">
                          <a:solidFill>
                            <a:srgbClr val="14324A"/>
                          </a:solidFill>
                          <a:latin typeface="Calibri"/>
                        </a:rPr>
                        <a:t>Proposed action</a:t>
                      </a:r>
                    </a:p>
                  </a:txBody>
                  <a:tcPr marL="54864" marR="54864" marT="27432" marB="27432">
                    <a:solidFill>
                      <a:srgbClr val="E8EEF3"/>
                    </a:solidFill>
                  </a:tcPr>
                </a:tc>
              </a:tr>
              <a:tr h="301752">
                <a:tc>
                  <a:txBody>
                    <a:bodyPr wrap="square"/>
                    <a:lstStyle/>
                    <a:p>
                      <a:pPr algn="l"/>
                      <a:r>
                        <a:rPr sz="1200" b="0">
                          <a:solidFill>
                            <a:srgbClr val="14324A"/>
                          </a:solidFill>
                          <a:latin typeface="Calibri"/>
                        </a:rPr>
                        <a:t>na7p419y</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na7p41ab</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na7p41f4</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na7p41j6</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na7p41jk</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na7p42ry</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na7p42s5</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na7p42s7</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r h="301752">
                <a:tc>
                  <a:txBody>
                    <a:bodyPr wrap="square"/>
                    <a:lstStyle/>
                    <a:p>
                      <a:pPr algn="l"/>
                      <a:r>
                        <a:rPr sz="1200" b="0">
                          <a:solidFill>
                            <a:srgbClr val="14324A"/>
                          </a:solidFill>
                          <a:latin typeface="Calibri"/>
                        </a:rPr>
                        <a:t>na7p42tq</a:t>
                      </a:r>
                    </a:p>
                  </a:txBody>
                  <a:tcPr marL="54864" marR="54864" marT="27432" marB="27432">
                    <a:solidFill>
                      <a:srgbClr val="FFFFFF"/>
                    </a:solidFill>
                  </a:tcPr>
                </a:tc>
                <a:tc>
                  <a:txBody>
                    <a:bodyPr wrap="square"/>
                    <a:lstStyle/>
                    <a:p>
                      <a:pPr algn="l"/>
                      <a:r>
                        <a:rPr sz="1200" b="0">
                          <a:solidFill>
                            <a:srgbClr val="14324A"/>
                          </a:solidFill>
                          <a:latin typeface="Calibri"/>
                        </a:rPr>
                        <a:t>NoSuchBucket</a:t>
                      </a:r>
                    </a:p>
                  </a:txBody>
                  <a:tcPr marL="54864" marR="54864" marT="27432" marB="27432">
                    <a:solidFill>
                      <a:srgbClr val="FFFFFF"/>
                    </a:solidFill>
                  </a:tcPr>
                </a:tc>
                <a:tc>
                  <a:txBody>
                    <a:bodyPr wrap="square"/>
                    <a:lstStyle/>
                    <a:p>
                      <a:pPr algn="l"/>
                      <a:r>
                        <a:rPr sz="1200" b="0">
                          <a:solidFill>
                            <a:srgbClr val="14324A"/>
                          </a:solidFill>
                          <a:latin typeface="Calibri"/>
                        </a:rPr>
                        <a:t>reconcile with provider; remove from inventory if gone</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These names are in the bucket inventory but returned an error when listed; each needs reconciling with the provider — deleted, renamed or access withdrawn.</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R04: OBS bucket enumeration census run cr-f1415e395361 (22,975,591 objects, 130.3 TiB)</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03</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Cost of bytes nobody writes to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COST STRATEGIES</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Object-store tiering and duplicate reconciliation dominate the addressable bytes</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The three largest strategies address 100.0% of the bytes all strategies reach, but these are estimates and the strategies may overlap.</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[estimated]  Receipt R02: Estate intelligence census eij-1b359b3cbd2e, cost_strategies priced at reference list prices, not the owner's invoice: Huawei Cloud RDS for MySQL cloud SSD AF-Johannesburg 0.00015 USD/GB-hour x 730 h; OBS Standard 0.023 USD/GB-month</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THREE PRICED MOVES</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The three priced moves differ sharply in size and in the checks each needs first</a:t>
            </a:r>
          </a:p>
        </p:txBody>
      </p:sp>
      <p:graphicFrame>
        <p:nvGraphicFramePr>
          <p:cNvPr id="4" name="Table 3"/>
          <p:cNvGraphicFramePr>
            <a:graphicFrameLocks noGrp="1"/>
          </p:cNvGraphicFramePr>
          <p:nvPr/>
        </p:nvGraphicFramePr>
        <p:xfrm>
          <a:off x="594360" y="1920240"/>
          <a:ext cx="11002975" cy="1371600"/>
        </p:xfrm>
        <a:graphic>
          <a:graphicData uri="http://schemas.openxmlformats.org/drawingml/2006/table">
            <a:tbl>
              <a:tblPr firstRow="1" bandRow="1">
                <a:tableStyleId>{5C22544A-7EE6-4342-B048-85BDC9FD1C3A}</a:tableStyleId>
              </a:tblPr>
              <a:tblGrid>
                <a:gridCol w="3080833"/>
                <a:gridCol w="2640714"/>
                <a:gridCol w="2640714"/>
                <a:gridCol w="2640714"/>
              </a:tblGrid>
              <a:tr h="457200">
                <a:tc>
                  <a:txBody>
                    <a:bodyPr wrap="square"/>
                    <a:lstStyle/>
                    <a:p>
                      <a:pPr algn="l"/>
                      <a:r>
                        <a:rPr sz="1300" b="0">
                          <a:solidFill>
                            <a:srgbClr val="14324A"/>
                          </a:solidFill>
                          <a:latin typeface="Calibri"/>
                        </a:rPr>
                        <a:t/>
                      </a:r>
                    </a:p>
                  </a:txBody>
                  <a:tcPr marL="73152" marR="73152">
                    <a:solidFill>
                      <a:srgbClr val="E8EEF3"/>
                    </a:solidFill>
                  </a:tcPr>
                </a:tc>
                <a:tc>
                  <a:txBody>
                    <a:bodyPr wrap="square"/>
                    <a:lstStyle/>
                    <a:p>
                      <a:pPr algn="l"/>
                      <a:r>
                        <a:rPr sz="1300" b="1">
                          <a:solidFill>
                            <a:srgbClr val="14324A"/>
                          </a:solidFill>
                          <a:latin typeface="Calibri"/>
                        </a:rPr>
                        <a:t>Move buckets not written for over a year to archive-class st</a:t>
                      </a:r>
                    </a:p>
                  </a:txBody>
                  <a:tcPr marL="73152" marR="73152">
                    <a:solidFill>
                      <a:srgbClr val="E8EEF3"/>
                    </a:solidFill>
                  </a:tcPr>
                </a:tc>
                <a:tc>
                  <a:txBody>
                    <a:bodyPr wrap="square"/>
                    <a:lstStyle/>
                    <a:p>
                      <a:pPr algn="l"/>
                      <a:r>
                        <a:rPr sz="1300" b="1">
                          <a:solidFill>
                            <a:srgbClr val="14324A"/>
                          </a:solidFill>
                          <a:latin typeface="Calibri"/>
                        </a:rPr>
                        <a:t>Reconcile duplicate objects across OBS buckets</a:t>
                      </a:r>
                    </a:p>
                  </a:txBody>
                  <a:tcPr marL="73152" marR="73152">
                    <a:solidFill>
                      <a:srgbClr val="E8EEF3"/>
                    </a:solidFill>
                  </a:tcPr>
                </a:tc>
                <a:tc>
                  <a:txBody>
                    <a:bodyPr wrap="square"/>
                    <a:lstStyle/>
                    <a:p>
                      <a:pPr algn="l"/>
                      <a:r>
                        <a:rPr sz="1300" b="1">
                          <a:solidFill>
                            <a:srgbClr val="14324A"/>
                          </a:solidFill>
                          <a:latin typeface="Calibri"/>
                        </a:rPr>
                        <a:t>Move tables not written for over a year to cold storage</a:t>
                      </a:r>
                    </a:p>
                  </a:txBody>
                  <a:tcPr marL="73152" marR="73152">
                    <a:solidFill>
                      <a:srgbClr val="E8EEF3"/>
                    </a:solidFill>
                  </a:tcPr>
                </a:tc>
              </a:tr>
              <a:tr h="457200">
                <a:tc>
                  <a:txBody>
                    <a:bodyPr wrap="square"/>
                    <a:lstStyle/>
                    <a:p>
                      <a:pPr algn="l"/>
                      <a:r>
                        <a:rPr sz="1300" b="0">
                          <a:solidFill>
                            <a:srgbClr val="70879A"/>
                          </a:solidFill>
                          <a:latin typeface="Calibri"/>
                        </a:rPr>
                        <a:t>Reclaimable gib</a:t>
                      </a:r>
                    </a:p>
                  </a:txBody>
                  <a:tcPr marL="73152" marR="73152">
                    <a:solidFill>
                      <a:srgbClr val="FFFFFF"/>
                    </a:solidFill>
                  </a:tcPr>
                </a:tc>
                <a:tc>
                  <a:txBody>
                    <a:bodyPr wrap="square"/>
                    <a:lstStyle/>
                    <a:p>
                      <a:pPr algn="r"/>
                      <a:r>
                        <a:rPr sz="1300" b="0">
                          <a:solidFill>
                            <a:srgbClr val="14324A"/>
                          </a:solidFill>
                          <a:latin typeface="Courier New"/>
                        </a:rPr>
                        <a:t>42,891.0</a:t>
                      </a:r>
                    </a:p>
                  </a:txBody>
                  <a:tcPr marL="73152" marR="73152">
                    <a:solidFill>
                      <a:srgbClr val="FFFFFF"/>
                    </a:solidFill>
                  </a:tcPr>
                </a:tc>
                <a:tc>
                  <a:txBody>
                    <a:bodyPr wrap="square"/>
                    <a:lstStyle/>
                    <a:p>
                      <a:pPr algn="r"/>
                      <a:r>
                        <a:rPr sz="1300" b="0">
                          <a:solidFill>
                            <a:srgbClr val="14324A"/>
                          </a:solidFill>
                          <a:latin typeface="Courier New"/>
                        </a:rPr>
                        <a:t>7,839.5</a:t>
                      </a:r>
                    </a:p>
                  </a:txBody>
                  <a:tcPr marL="73152" marR="73152">
                    <a:solidFill>
                      <a:srgbClr val="FFFFFF"/>
                    </a:solidFill>
                  </a:tcPr>
                </a:tc>
                <a:tc>
                  <a:txBody>
                    <a:bodyPr wrap="square"/>
                    <a:lstStyle/>
                    <a:p>
                      <a:pPr algn="r"/>
                      <a:r>
                        <a:rPr sz="1300" b="0">
                          <a:solidFill>
                            <a:srgbClr val="14324A"/>
                          </a:solidFill>
                          <a:latin typeface="Courier New"/>
                        </a:rPr>
                        <a:t>54.1</a:t>
                      </a:r>
                    </a:p>
                  </a:txBody>
                  <a:tcPr marL="73152" marR="73152">
                    <a:solidFill>
                      <a:srgbClr val="FFFFFF"/>
                    </a:solidFill>
                  </a:tcPr>
                </a:tc>
              </a:tr>
              <a:tr h="457200">
                <a:tc>
                  <a:txBody>
                    <a:bodyPr wrap="square"/>
                    <a:lstStyle/>
                    <a:p>
                      <a:pPr algn="l"/>
                      <a:r>
                        <a:rPr sz="1300" b="0">
                          <a:solidFill>
                            <a:srgbClr val="70879A"/>
                          </a:solidFill>
                          <a:latin typeface="Calibri"/>
                        </a:rPr>
                        <a:t>Monthly saving usd</a:t>
                      </a:r>
                    </a:p>
                  </a:txBody>
                  <a:tcPr marL="73152" marR="73152">
                    <a:solidFill>
                      <a:srgbClr val="FFFFFF"/>
                    </a:solidFill>
                  </a:tcPr>
                </a:tc>
                <a:tc>
                  <a:txBody>
                    <a:bodyPr wrap="square"/>
                    <a:lstStyle/>
                    <a:p>
                      <a:pPr algn="r"/>
                      <a:r>
                        <a:rPr sz="1300" b="0">
                          <a:solidFill>
                            <a:srgbClr val="14324A"/>
                          </a:solidFill>
                          <a:latin typeface="Courier New"/>
                        </a:rPr>
                        <a:t>986.5</a:t>
                      </a:r>
                    </a:p>
                  </a:txBody>
                  <a:tcPr marL="73152" marR="73152">
                    <a:solidFill>
                      <a:srgbClr val="FFFFFF"/>
                    </a:solidFill>
                  </a:tcPr>
                </a:tc>
                <a:tc>
                  <a:txBody>
                    <a:bodyPr wrap="square"/>
                    <a:lstStyle/>
                    <a:p>
                      <a:pPr algn="r"/>
                      <a:r>
                        <a:rPr sz="1300" b="0">
                          <a:solidFill>
                            <a:srgbClr val="14324A"/>
                          </a:solidFill>
                          <a:latin typeface="Courier New"/>
                        </a:rPr>
                        <a:t>180.3</a:t>
                      </a:r>
                    </a:p>
                  </a:txBody>
                  <a:tcPr marL="73152" marR="73152">
                    <a:solidFill>
                      <a:srgbClr val="FFFFFF"/>
                    </a:solidFill>
                  </a:tcPr>
                </a:tc>
                <a:tc>
                  <a:txBody>
                    <a:bodyPr wrap="square"/>
                    <a:lstStyle/>
                    <a:p>
                      <a:pPr algn="r"/>
                      <a:r>
                        <a:rPr sz="1300" b="0">
                          <a:solidFill>
                            <a:srgbClr val="14324A"/>
                          </a:solidFill>
                          <a:latin typeface="Courier New"/>
                        </a:rPr>
                        <a:t>5.9</a:t>
                      </a:r>
                    </a:p>
                  </a:txBody>
                  <a:tcPr marL="73152" marR="7315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Archive tiering is the largest priced move, duplicate reconciliation needs hash confirmation, and table cold storage is small; the priced total is at most 1,174.4 USD a month.</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[estimated]  Receipt R02: Estate intelligence census eij-1b359b3cbd2e, cost_strategies priced at reference list prices, not the owner's invoice: Huawei Cloud RDS for MySQL cloud SSD AF-Johannesburg 0.00015 USD/GB-hour x 730 h; OBS Standard 0.023 USD/GB-month</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04</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Condition of the database rows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ROW CONDITION</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Completeness and personal-data markers, not exact duplicates, are the main preparation burden</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These ratios overlap and use different samples, so read each on its own and do not add them.</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[estimated]  Receipt R01: Estate intelligence census eij-1b359b3cbd2e, digest-verified report (measured 2026-09-29), headline aggregates and per-database measures</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DATABASE FOOTPRINT</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One staging database holds nearly all database bytes, so cleanup is a narrow workstream</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The largest databases hold 99.7% of database bytes. Concentration of bytes does not show that the same database has the worst quality.</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R01: Estate intelligence census eij-1b359b3cbd2e, digest-verified report (measured 2026-09-29), headline aggregates and per-database measures</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ROW CONDITION</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Degradation, gaps and personal-data markers are common, so prepare before release</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Exact duplicate rows are only 1.5%, but 23.0% of rows are degraded and 81.7% carry empty required-looking fields.</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71.8% of 1.0m sampled rows carry personal-data markers. Prepare by de-identification or aggregation; this is not a rights question.</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15.4% of database bytes have not been written for over a year, and 368 tables are empty.</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About 15.2 GiB, or 4.3% of bytes, looks reclaimable in the databases before pricing, far narrower than the estate-wide strategies.</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05</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Speech audio by language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SPEECH BY LANGUAGE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Estimated speech hours are concentrated in six language folders; two others hold little</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Speech hours are estimates after music removal, so use them to scope language preparation, not as a verified corpus.</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[estimated]  Receipt R06: Estate language reading m9j-9e8fcb46a809 on akki-vm (2 GPUs, 1.034 GPU-h): audio language model lcj-7128593897d4 sha256 5c1feb8497e8…, music detector m9j-686de001bfe7 sha256 0fea3eee0393…; model readings, not human labels</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LANGUAGE AGREEMENT</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Agreement with the folder language varies by folder and is weakest in the smallest</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Agreement is a model reading on labelled windows, so aim human validation at the folders where it is lowest.</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R06: Estate language reading m9j-9e8fcb46a809 on akki-vm (2 GPUs, 1.034 GPU-h): audio language model lcj-7128593897d4 sha256 5c1feb8497e8…, music detector m9j-686de001bfe7 sha256 0fea3eee0393…; model readings, not human labels</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AUDIO</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The staged corpus holds 529.5 recorded hours, of which about 421.4 are speech</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529.5 hours were recorded across 3958 files in 8 language folders: an estimated 421.4 hours of speech and 108.2 hours of music.</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detector called 20.4% of windows music. Music is the majority in 539 files, which are filter candidates.</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82.3% of labelled windows agree with the folder language, and the model declined to label 10.7% of speech windows.</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Noise and intelligibility were not scored, so filter music and validate language before packaging.</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Audio held by language folder — what both GPUs read</a:t>
            </a:r>
          </a:p>
        </p:txBody>
      </p:sp>
      <p:graphicFrame>
        <p:nvGraphicFramePr>
          <p:cNvPr id="4" name="Table 3"/>
          <p:cNvGraphicFramePr>
            <a:graphicFrameLocks noGrp="1"/>
          </p:cNvGraphicFramePr>
          <p:nvPr/>
        </p:nvGraphicFramePr>
        <p:xfrm>
          <a:off x="594360" y="1920240"/>
          <a:ext cx="11002972" cy="3017520"/>
        </p:xfrm>
        <a:graphic>
          <a:graphicData uri="http://schemas.openxmlformats.org/drawingml/2006/table">
            <a:tbl>
              <a:tblPr firstRow="1" bandRow="1">
                <a:tableStyleId>{5C22544A-7EE6-4342-B048-85BDC9FD1C3A}</a:tableStyleId>
              </a:tblPr>
              <a:tblGrid>
                <a:gridCol w="1778258"/>
                <a:gridCol w="1555976"/>
                <a:gridCol w="1555976"/>
                <a:gridCol w="2111682"/>
                <a:gridCol w="2000540"/>
                <a:gridCol w="2000540"/>
              </a:tblGrid>
              <a:tr h="335280">
                <a:tc>
                  <a:txBody>
                    <a:bodyPr wrap="square"/>
                    <a:lstStyle/>
                    <a:p>
                      <a:pPr algn="l"/>
                      <a:r>
                        <a:rPr sz="1100" b="1">
                          <a:solidFill>
                            <a:srgbClr val="14324A"/>
                          </a:solidFill>
                          <a:latin typeface="Calibri"/>
                        </a:rPr>
                        <a:t>Language</a:t>
                      </a:r>
                    </a:p>
                  </a:txBody>
                  <a:tcPr marL="54864" marR="54864" marT="27432" marB="27432">
                    <a:solidFill>
                      <a:srgbClr val="E8EEF3"/>
                    </a:solidFill>
                  </a:tcPr>
                </a:tc>
                <a:tc>
                  <a:txBody>
                    <a:bodyPr wrap="square"/>
                    <a:lstStyle/>
                    <a:p>
                      <a:pPr algn="l"/>
                      <a:r>
                        <a:rPr sz="1100" b="1">
                          <a:solidFill>
                            <a:srgbClr val="14324A"/>
                          </a:solidFill>
                          <a:latin typeface="Calibri"/>
                        </a:rPr>
                        <a:t>Files</a:t>
                      </a:r>
                    </a:p>
                  </a:txBody>
                  <a:tcPr marL="54864" marR="54864" marT="27432" marB="27432">
                    <a:solidFill>
                      <a:srgbClr val="E8EEF3"/>
                    </a:solidFill>
                  </a:tcPr>
                </a:tc>
                <a:tc>
                  <a:txBody>
                    <a:bodyPr wrap="square"/>
                    <a:lstStyle/>
                    <a:p>
                      <a:pPr algn="l"/>
                      <a:r>
                        <a:rPr sz="1100" b="1">
                          <a:solidFill>
                            <a:srgbClr val="14324A"/>
                          </a:solidFill>
                          <a:latin typeface="Calibri"/>
                        </a:rPr>
                        <a:t>Hours recorded</a:t>
                      </a:r>
                    </a:p>
                  </a:txBody>
                  <a:tcPr marL="54864" marR="54864" marT="27432" marB="27432">
                    <a:solidFill>
                      <a:srgbClr val="E8EEF3"/>
                    </a:solidFill>
                  </a:tcPr>
                </a:tc>
                <a:tc>
                  <a:txBody>
                    <a:bodyPr wrap="square"/>
                    <a:lstStyle/>
                    <a:p>
                      <a:pPr algn="l"/>
                      <a:r>
                        <a:rPr sz="1100" b="1">
                          <a:solidFill>
                            <a:srgbClr val="14324A"/>
                          </a:solidFill>
                          <a:latin typeface="Calibri"/>
                        </a:rPr>
                        <a:t>Speech hours (est.)</a:t>
                      </a:r>
                    </a:p>
                  </a:txBody>
                  <a:tcPr marL="54864" marR="54864" marT="27432" marB="27432">
                    <a:solidFill>
                      <a:srgbClr val="E8EEF3"/>
                    </a:solidFill>
                  </a:tcPr>
                </a:tc>
                <a:tc>
                  <a:txBody>
                    <a:bodyPr wrap="square"/>
                    <a:lstStyle/>
                    <a:p>
                      <a:pPr algn="l"/>
                      <a:r>
                        <a:rPr sz="1100" b="1">
                          <a:solidFill>
                            <a:srgbClr val="14324A"/>
                          </a:solidFill>
                          <a:latin typeface="Calibri"/>
                        </a:rPr>
                        <a:t>Music hours (est.)</a:t>
                      </a:r>
                    </a:p>
                  </a:txBody>
                  <a:tcPr marL="54864" marR="54864" marT="27432" marB="27432">
                    <a:solidFill>
                      <a:srgbClr val="E8EEF3"/>
                    </a:solidFill>
                  </a:tcPr>
                </a:tc>
                <a:tc>
                  <a:txBody>
                    <a:bodyPr wrap="square"/>
                    <a:lstStyle/>
                    <a:p>
                      <a:pPr algn="l"/>
                      <a:r>
                        <a:rPr sz="1100" b="1">
                          <a:solidFill>
                            <a:srgbClr val="14324A"/>
                          </a:solidFill>
                          <a:latin typeface="Calibri"/>
                        </a:rPr>
                        <a:t>Agrees with folder</a:t>
                      </a:r>
                    </a:p>
                  </a:txBody>
                  <a:tcPr marL="54864" marR="54864" marT="27432" marB="27432">
                    <a:solidFill>
                      <a:srgbClr val="E8EEF3"/>
                    </a:solidFill>
                  </a:tcPr>
                </a:tc>
              </a:tr>
              <a:tr h="335280">
                <a:tc>
                  <a:txBody>
                    <a:bodyPr wrap="square"/>
                    <a:lstStyle/>
                    <a:p>
                      <a:pPr algn="l"/>
                      <a:r>
                        <a:rPr sz="1100" b="0">
                          <a:solidFill>
                            <a:srgbClr val="14324A"/>
                          </a:solidFill>
                          <a:latin typeface="Calibri"/>
                        </a:rPr>
                        <a:t>Ekegusii (Kisii)</a:t>
                      </a:r>
                    </a:p>
                  </a:txBody>
                  <a:tcPr marL="54864" marR="54864" marT="27432" marB="27432">
                    <a:solidFill>
                      <a:srgbClr val="FFFFFF"/>
                    </a:solidFill>
                  </a:tcPr>
                </a:tc>
                <a:tc>
                  <a:txBody>
                    <a:bodyPr wrap="square"/>
                    <a:lstStyle/>
                    <a:p>
                      <a:pPr algn="l"/>
                      <a:r>
                        <a:rPr sz="1100" b="0">
                          <a:solidFill>
                            <a:srgbClr val="14324A"/>
                          </a:solidFill>
                          <a:latin typeface="Calibri"/>
                        </a:rPr>
                        <a:t>732</a:t>
                      </a:r>
                    </a:p>
                  </a:txBody>
                  <a:tcPr marL="54864" marR="54864" marT="27432" marB="27432">
                    <a:solidFill>
                      <a:srgbClr val="FFFFFF"/>
                    </a:solidFill>
                  </a:tcPr>
                </a:tc>
                <a:tc>
                  <a:txBody>
                    <a:bodyPr wrap="square"/>
                    <a:lstStyle/>
                    <a:p>
                      <a:pPr algn="r"/>
                      <a:r>
                        <a:rPr sz="1100" b="0">
                          <a:solidFill>
                            <a:srgbClr val="14324A"/>
                          </a:solidFill>
                          <a:latin typeface="Courier New"/>
                        </a:rPr>
                        <a:t>92.2</a:t>
                      </a:r>
                    </a:p>
                  </a:txBody>
                  <a:tcPr marL="54864" marR="54864" marT="27432" marB="27432">
                    <a:solidFill>
                      <a:srgbClr val="FFFFFF"/>
                    </a:solidFill>
                  </a:tcPr>
                </a:tc>
                <a:tc>
                  <a:txBody>
                    <a:bodyPr wrap="square"/>
                    <a:lstStyle/>
                    <a:p>
                      <a:pPr algn="r"/>
                      <a:r>
                        <a:rPr sz="1100" b="0">
                          <a:solidFill>
                            <a:srgbClr val="14324A"/>
                          </a:solidFill>
                          <a:latin typeface="Courier New"/>
                        </a:rPr>
                        <a:t>76.7</a:t>
                      </a:r>
                    </a:p>
                  </a:txBody>
                  <a:tcPr marL="54864" marR="54864" marT="27432" marB="27432">
                    <a:solidFill>
                      <a:srgbClr val="FFFFFF"/>
                    </a:solidFill>
                  </a:tcPr>
                </a:tc>
                <a:tc>
                  <a:txBody>
                    <a:bodyPr wrap="square"/>
                    <a:lstStyle/>
                    <a:p>
                      <a:pPr algn="r"/>
                      <a:r>
                        <a:rPr sz="1100" b="0">
                          <a:solidFill>
                            <a:srgbClr val="14324A"/>
                          </a:solidFill>
                          <a:latin typeface="Courier New"/>
                        </a:rPr>
                        <a:t>15.6</a:t>
                      </a:r>
                    </a:p>
                  </a:txBody>
                  <a:tcPr marL="54864" marR="54864" marT="27432" marB="27432">
                    <a:solidFill>
                      <a:srgbClr val="FFFFFF"/>
                    </a:solidFill>
                  </a:tcPr>
                </a:tc>
                <a:tc>
                  <a:txBody>
                    <a:bodyPr wrap="square"/>
                    <a:lstStyle/>
                    <a:p>
                      <a:pPr algn="r"/>
                      <a:r>
                        <a:rPr sz="1100" b="0">
                          <a:solidFill>
                            <a:srgbClr val="14324A"/>
                          </a:solidFill>
                          <a:latin typeface="Courier New"/>
                        </a:rPr>
                        <a:t>86.1%</a:t>
                      </a:r>
                    </a:p>
                  </a:txBody>
                  <a:tcPr marL="54864" marR="54864" marT="27432" marB="27432">
                    <a:solidFill>
                      <a:srgbClr val="FFFFFF"/>
                    </a:solidFill>
                  </a:tcPr>
                </a:tc>
              </a:tr>
              <a:tr h="335280">
                <a:tc>
                  <a:txBody>
                    <a:bodyPr wrap="square"/>
                    <a:lstStyle/>
                    <a:p>
                      <a:pPr algn="l"/>
                      <a:r>
                        <a:rPr sz="1100" b="0">
                          <a:solidFill>
                            <a:srgbClr val="14324A"/>
                          </a:solidFill>
                          <a:latin typeface="Calibri"/>
                        </a:rPr>
                        <a:t>Kalenjin</a:t>
                      </a:r>
                    </a:p>
                  </a:txBody>
                  <a:tcPr marL="54864" marR="54864" marT="27432" marB="27432">
                    <a:solidFill>
                      <a:srgbClr val="FFFFFF"/>
                    </a:solidFill>
                  </a:tcPr>
                </a:tc>
                <a:tc>
                  <a:txBody>
                    <a:bodyPr wrap="square"/>
                    <a:lstStyle/>
                    <a:p>
                      <a:pPr algn="l"/>
                      <a:r>
                        <a:rPr sz="1100" b="0">
                          <a:solidFill>
                            <a:srgbClr val="14324A"/>
                          </a:solidFill>
                          <a:latin typeface="Calibri"/>
                        </a:rPr>
                        <a:t>295</a:t>
                      </a:r>
                    </a:p>
                  </a:txBody>
                  <a:tcPr marL="54864" marR="54864" marT="27432" marB="27432">
                    <a:solidFill>
                      <a:srgbClr val="FFFFFF"/>
                    </a:solidFill>
                  </a:tcPr>
                </a:tc>
                <a:tc>
                  <a:txBody>
                    <a:bodyPr wrap="square"/>
                    <a:lstStyle/>
                    <a:p>
                      <a:pPr algn="r"/>
                      <a:r>
                        <a:rPr sz="1100" b="0">
                          <a:solidFill>
                            <a:srgbClr val="14324A"/>
                          </a:solidFill>
                          <a:latin typeface="Courier New"/>
                        </a:rPr>
                        <a:t>89.8</a:t>
                      </a:r>
                    </a:p>
                  </a:txBody>
                  <a:tcPr marL="54864" marR="54864" marT="27432" marB="27432">
                    <a:solidFill>
                      <a:srgbClr val="FFFFFF"/>
                    </a:solidFill>
                  </a:tcPr>
                </a:tc>
                <a:tc>
                  <a:txBody>
                    <a:bodyPr wrap="square"/>
                    <a:lstStyle/>
                    <a:p>
                      <a:pPr algn="r"/>
                      <a:r>
                        <a:rPr sz="1100" b="0">
                          <a:solidFill>
                            <a:srgbClr val="14324A"/>
                          </a:solidFill>
                          <a:latin typeface="Courier New"/>
                        </a:rPr>
                        <a:t>73.2</a:t>
                      </a:r>
                    </a:p>
                  </a:txBody>
                  <a:tcPr marL="54864" marR="54864" marT="27432" marB="27432">
                    <a:solidFill>
                      <a:srgbClr val="FFFFFF"/>
                    </a:solidFill>
                  </a:tcPr>
                </a:tc>
                <a:tc>
                  <a:txBody>
                    <a:bodyPr wrap="square"/>
                    <a:lstStyle/>
                    <a:p>
                      <a:pPr algn="r"/>
                      <a:r>
                        <a:rPr sz="1100" b="0">
                          <a:solidFill>
                            <a:srgbClr val="14324A"/>
                          </a:solidFill>
                          <a:latin typeface="Courier New"/>
                        </a:rPr>
                        <a:t>16.6</a:t>
                      </a:r>
                    </a:p>
                  </a:txBody>
                  <a:tcPr marL="54864" marR="54864" marT="27432" marB="27432">
                    <a:solidFill>
                      <a:srgbClr val="FFFFFF"/>
                    </a:solidFill>
                  </a:tcPr>
                </a:tc>
                <a:tc>
                  <a:txBody>
                    <a:bodyPr wrap="square"/>
                    <a:lstStyle/>
                    <a:p>
                      <a:pPr algn="r"/>
                      <a:r>
                        <a:rPr sz="1100" b="0">
                          <a:solidFill>
                            <a:srgbClr val="14324A"/>
                          </a:solidFill>
                          <a:latin typeface="Courier New"/>
                        </a:rPr>
                        <a:t>89.9%</a:t>
                      </a:r>
                    </a:p>
                  </a:txBody>
                  <a:tcPr marL="54864" marR="54864" marT="27432" marB="27432">
                    <a:solidFill>
                      <a:srgbClr val="FFFFFF"/>
                    </a:solidFill>
                  </a:tcPr>
                </a:tc>
              </a:tr>
              <a:tr h="335280">
                <a:tc>
                  <a:txBody>
                    <a:bodyPr wrap="square"/>
                    <a:lstStyle/>
                    <a:p>
                      <a:pPr algn="l"/>
                      <a:r>
                        <a:rPr sz="1100" b="0">
                          <a:solidFill>
                            <a:srgbClr val="14324A"/>
                          </a:solidFill>
                          <a:latin typeface="Calibri"/>
                        </a:rPr>
                        <a:t>Kiswahili</a:t>
                      </a:r>
                    </a:p>
                  </a:txBody>
                  <a:tcPr marL="54864" marR="54864" marT="27432" marB="27432">
                    <a:solidFill>
                      <a:srgbClr val="FFFFFF"/>
                    </a:solidFill>
                  </a:tcPr>
                </a:tc>
                <a:tc>
                  <a:txBody>
                    <a:bodyPr wrap="square"/>
                    <a:lstStyle/>
                    <a:p>
                      <a:pPr algn="l"/>
                      <a:r>
                        <a:rPr sz="1100" b="0">
                          <a:solidFill>
                            <a:srgbClr val="14324A"/>
                          </a:solidFill>
                          <a:latin typeface="Calibri"/>
                        </a:rPr>
                        <a:t>549</a:t>
                      </a:r>
                    </a:p>
                  </a:txBody>
                  <a:tcPr marL="54864" marR="54864" marT="27432" marB="27432">
                    <a:solidFill>
                      <a:srgbClr val="FFFFFF"/>
                    </a:solidFill>
                  </a:tcPr>
                </a:tc>
                <a:tc>
                  <a:txBody>
                    <a:bodyPr wrap="square"/>
                    <a:lstStyle/>
                    <a:p>
                      <a:pPr algn="r"/>
                      <a:r>
                        <a:rPr sz="1100" b="0">
                          <a:solidFill>
                            <a:srgbClr val="14324A"/>
                          </a:solidFill>
                          <a:latin typeface="Courier New"/>
                        </a:rPr>
                        <a:t>87.7</a:t>
                      </a:r>
                    </a:p>
                  </a:txBody>
                  <a:tcPr marL="54864" marR="54864" marT="27432" marB="27432">
                    <a:solidFill>
                      <a:srgbClr val="FFFFFF"/>
                    </a:solidFill>
                  </a:tcPr>
                </a:tc>
                <a:tc>
                  <a:txBody>
                    <a:bodyPr wrap="square"/>
                    <a:lstStyle/>
                    <a:p>
                      <a:pPr algn="r"/>
                      <a:r>
                        <a:rPr sz="1100" b="0">
                          <a:solidFill>
                            <a:srgbClr val="14324A"/>
                          </a:solidFill>
                          <a:latin typeface="Courier New"/>
                        </a:rPr>
                        <a:t>78.5</a:t>
                      </a:r>
                    </a:p>
                  </a:txBody>
                  <a:tcPr marL="54864" marR="54864" marT="27432" marB="27432">
                    <a:solidFill>
                      <a:srgbClr val="FFFFFF"/>
                    </a:solidFill>
                  </a:tcPr>
                </a:tc>
                <a:tc>
                  <a:txBody>
                    <a:bodyPr wrap="square"/>
                    <a:lstStyle/>
                    <a:p>
                      <a:pPr algn="r"/>
                      <a:r>
                        <a:rPr sz="1100" b="0">
                          <a:solidFill>
                            <a:srgbClr val="14324A"/>
                          </a:solidFill>
                          <a:latin typeface="Courier New"/>
                        </a:rPr>
                        <a:t>9.2</a:t>
                      </a:r>
                    </a:p>
                  </a:txBody>
                  <a:tcPr marL="54864" marR="54864" marT="27432" marB="27432">
                    <a:solidFill>
                      <a:srgbClr val="FFFFFF"/>
                    </a:solidFill>
                  </a:tcPr>
                </a:tc>
                <a:tc>
                  <a:txBody>
                    <a:bodyPr wrap="square"/>
                    <a:lstStyle/>
                    <a:p>
                      <a:pPr algn="r"/>
                      <a:r>
                        <a:rPr sz="1100" b="0">
                          <a:solidFill>
                            <a:srgbClr val="14324A"/>
                          </a:solidFill>
                          <a:latin typeface="Courier New"/>
                        </a:rPr>
                        <a:t>78.7%</a:t>
                      </a:r>
                    </a:p>
                  </a:txBody>
                  <a:tcPr marL="54864" marR="54864" marT="27432" marB="27432">
                    <a:solidFill>
                      <a:srgbClr val="FFFFFF"/>
                    </a:solidFill>
                  </a:tcPr>
                </a:tc>
              </a:tr>
              <a:tr h="335280">
                <a:tc>
                  <a:txBody>
                    <a:bodyPr wrap="square"/>
                    <a:lstStyle/>
                    <a:p>
                      <a:pPr algn="l"/>
                      <a:r>
                        <a:rPr sz="1100" b="0">
                          <a:solidFill>
                            <a:srgbClr val="14324A"/>
                          </a:solidFill>
                          <a:latin typeface="Calibri"/>
                        </a:rPr>
                        <a:t>Kikamba (Kamba)</a:t>
                      </a:r>
                    </a:p>
                  </a:txBody>
                  <a:tcPr marL="54864" marR="54864" marT="27432" marB="27432">
                    <a:solidFill>
                      <a:srgbClr val="FFFFFF"/>
                    </a:solidFill>
                  </a:tcPr>
                </a:tc>
                <a:tc>
                  <a:txBody>
                    <a:bodyPr wrap="square"/>
                    <a:lstStyle/>
                    <a:p>
                      <a:pPr algn="l"/>
                      <a:r>
                        <a:rPr sz="1100" b="0">
                          <a:solidFill>
                            <a:srgbClr val="14324A"/>
                          </a:solidFill>
                          <a:latin typeface="Calibri"/>
                        </a:rPr>
                        <a:t>1166</a:t>
                      </a:r>
                    </a:p>
                  </a:txBody>
                  <a:tcPr marL="54864" marR="54864" marT="27432" marB="27432">
                    <a:solidFill>
                      <a:srgbClr val="FFFFFF"/>
                    </a:solidFill>
                  </a:tcPr>
                </a:tc>
                <a:tc>
                  <a:txBody>
                    <a:bodyPr wrap="square"/>
                    <a:lstStyle/>
                    <a:p>
                      <a:pPr algn="r"/>
                      <a:r>
                        <a:rPr sz="1100" b="0">
                          <a:solidFill>
                            <a:srgbClr val="14324A"/>
                          </a:solidFill>
                          <a:latin typeface="Courier New"/>
                        </a:rPr>
                        <a:t>85.4</a:t>
                      </a:r>
                    </a:p>
                  </a:txBody>
                  <a:tcPr marL="54864" marR="54864" marT="27432" marB="27432">
                    <a:solidFill>
                      <a:srgbClr val="FFFFFF"/>
                    </a:solidFill>
                  </a:tcPr>
                </a:tc>
                <a:tc>
                  <a:txBody>
                    <a:bodyPr wrap="square"/>
                    <a:lstStyle/>
                    <a:p>
                      <a:pPr algn="r"/>
                      <a:r>
                        <a:rPr sz="1100" b="0">
                          <a:solidFill>
                            <a:srgbClr val="14324A"/>
                          </a:solidFill>
                          <a:latin typeface="Courier New"/>
                        </a:rPr>
                        <a:t>67.8</a:t>
                      </a:r>
                    </a:p>
                  </a:txBody>
                  <a:tcPr marL="54864" marR="54864" marT="27432" marB="27432">
                    <a:solidFill>
                      <a:srgbClr val="FFFFFF"/>
                    </a:solidFill>
                  </a:tcPr>
                </a:tc>
                <a:tc>
                  <a:txBody>
                    <a:bodyPr wrap="square"/>
                    <a:lstStyle/>
                    <a:p>
                      <a:pPr algn="r"/>
                      <a:r>
                        <a:rPr sz="1100" b="0">
                          <a:solidFill>
                            <a:srgbClr val="14324A"/>
                          </a:solidFill>
                          <a:latin typeface="Courier New"/>
                        </a:rPr>
                        <a:t>17.6</a:t>
                      </a:r>
                    </a:p>
                  </a:txBody>
                  <a:tcPr marL="54864" marR="54864" marT="27432" marB="27432">
                    <a:solidFill>
                      <a:srgbClr val="FFFFFF"/>
                    </a:solidFill>
                  </a:tcPr>
                </a:tc>
                <a:tc>
                  <a:txBody>
                    <a:bodyPr wrap="square"/>
                    <a:lstStyle/>
                    <a:p>
                      <a:pPr algn="r"/>
                      <a:r>
                        <a:rPr sz="1100" b="0">
                          <a:solidFill>
                            <a:srgbClr val="14324A"/>
                          </a:solidFill>
                          <a:latin typeface="Courier New"/>
                        </a:rPr>
                        <a:t>70.9%</a:t>
                      </a:r>
                    </a:p>
                  </a:txBody>
                  <a:tcPr marL="54864" marR="54864" marT="27432" marB="27432">
                    <a:solidFill>
                      <a:srgbClr val="FFFFFF"/>
                    </a:solidFill>
                  </a:tcPr>
                </a:tc>
              </a:tr>
              <a:tr h="335280">
                <a:tc>
                  <a:txBody>
                    <a:bodyPr wrap="square"/>
                    <a:lstStyle/>
                    <a:p>
                      <a:pPr algn="l"/>
                      <a:r>
                        <a:rPr sz="1100" b="0">
                          <a:solidFill>
                            <a:srgbClr val="14324A"/>
                          </a:solidFill>
                          <a:latin typeface="Calibri"/>
                        </a:rPr>
                        <a:t>Gikuyu (Kikuyu)</a:t>
                      </a:r>
                    </a:p>
                  </a:txBody>
                  <a:tcPr marL="54864" marR="54864" marT="27432" marB="27432">
                    <a:solidFill>
                      <a:srgbClr val="FFFFFF"/>
                    </a:solidFill>
                  </a:tcPr>
                </a:tc>
                <a:tc>
                  <a:txBody>
                    <a:bodyPr wrap="square"/>
                    <a:lstStyle/>
                    <a:p>
                      <a:pPr algn="l"/>
                      <a:r>
                        <a:rPr sz="1100" b="0">
                          <a:solidFill>
                            <a:srgbClr val="14324A"/>
                          </a:solidFill>
                          <a:latin typeface="Calibri"/>
                        </a:rPr>
                        <a:t>584</a:t>
                      </a:r>
                    </a:p>
                  </a:txBody>
                  <a:tcPr marL="54864" marR="54864" marT="27432" marB="27432">
                    <a:solidFill>
                      <a:srgbClr val="FFFFFF"/>
                    </a:solidFill>
                  </a:tcPr>
                </a:tc>
                <a:tc>
                  <a:txBody>
                    <a:bodyPr wrap="square"/>
                    <a:lstStyle/>
                    <a:p>
                      <a:pPr algn="r"/>
                      <a:r>
                        <a:rPr sz="1100" b="0">
                          <a:solidFill>
                            <a:srgbClr val="14324A"/>
                          </a:solidFill>
                          <a:latin typeface="Courier New"/>
                        </a:rPr>
                        <a:t>82.1</a:t>
                      </a:r>
                    </a:p>
                  </a:txBody>
                  <a:tcPr marL="54864" marR="54864" marT="27432" marB="27432">
                    <a:solidFill>
                      <a:srgbClr val="FFFFFF"/>
                    </a:solidFill>
                  </a:tcPr>
                </a:tc>
                <a:tc>
                  <a:txBody>
                    <a:bodyPr wrap="square"/>
                    <a:lstStyle/>
                    <a:p>
                      <a:pPr algn="r"/>
                      <a:r>
                        <a:rPr sz="1100" b="0">
                          <a:solidFill>
                            <a:srgbClr val="14324A"/>
                          </a:solidFill>
                          <a:latin typeface="Courier New"/>
                        </a:rPr>
                        <a:t>65.9</a:t>
                      </a:r>
                    </a:p>
                  </a:txBody>
                  <a:tcPr marL="54864" marR="54864" marT="27432" marB="27432">
                    <a:solidFill>
                      <a:srgbClr val="FFFFFF"/>
                    </a:solidFill>
                  </a:tcPr>
                </a:tc>
                <a:tc>
                  <a:txBody>
                    <a:bodyPr wrap="square"/>
                    <a:lstStyle/>
                    <a:p>
                      <a:pPr algn="r"/>
                      <a:r>
                        <a:rPr sz="1100" b="0">
                          <a:solidFill>
                            <a:srgbClr val="14324A"/>
                          </a:solidFill>
                          <a:latin typeface="Courier New"/>
                        </a:rPr>
                        <a:t>16.2</a:t>
                      </a:r>
                    </a:p>
                  </a:txBody>
                  <a:tcPr marL="54864" marR="54864" marT="27432" marB="27432">
                    <a:solidFill>
                      <a:srgbClr val="FFFFFF"/>
                    </a:solidFill>
                  </a:tcPr>
                </a:tc>
                <a:tc>
                  <a:txBody>
                    <a:bodyPr wrap="square"/>
                    <a:lstStyle/>
                    <a:p>
                      <a:pPr algn="r"/>
                      <a:r>
                        <a:rPr sz="1100" b="0">
                          <a:solidFill>
                            <a:srgbClr val="14324A"/>
                          </a:solidFill>
                          <a:latin typeface="Courier New"/>
                        </a:rPr>
                        <a:t>79.8%</a:t>
                      </a:r>
                    </a:p>
                  </a:txBody>
                  <a:tcPr marL="54864" marR="54864" marT="27432" marB="27432">
                    <a:solidFill>
                      <a:srgbClr val="FFFFFF"/>
                    </a:solidFill>
                  </a:tcPr>
                </a:tc>
              </a:tr>
              <a:tr h="335280">
                <a:tc>
                  <a:txBody>
                    <a:bodyPr wrap="square"/>
                    <a:lstStyle/>
                    <a:p>
                      <a:pPr algn="l"/>
                      <a:r>
                        <a:rPr sz="1100" b="0">
                          <a:solidFill>
                            <a:srgbClr val="14324A"/>
                          </a:solidFill>
                          <a:latin typeface="Calibri"/>
                        </a:rPr>
                        <a:t>Dholuo (Luo)</a:t>
                      </a:r>
                    </a:p>
                  </a:txBody>
                  <a:tcPr marL="54864" marR="54864" marT="27432" marB="27432">
                    <a:solidFill>
                      <a:srgbClr val="FFFFFF"/>
                    </a:solidFill>
                  </a:tcPr>
                </a:tc>
                <a:tc>
                  <a:txBody>
                    <a:bodyPr wrap="square"/>
                    <a:lstStyle/>
                    <a:p>
                      <a:pPr algn="l"/>
                      <a:r>
                        <a:rPr sz="1100" b="0">
                          <a:solidFill>
                            <a:srgbClr val="14324A"/>
                          </a:solidFill>
                          <a:latin typeface="Calibri"/>
                        </a:rPr>
                        <a:t>558</a:t>
                      </a:r>
                    </a:p>
                  </a:txBody>
                  <a:tcPr marL="54864" marR="54864" marT="27432" marB="27432">
                    <a:solidFill>
                      <a:srgbClr val="FFFFFF"/>
                    </a:solidFill>
                  </a:tcPr>
                </a:tc>
                <a:tc>
                  <a:txBody>
                    <a:bodyPr wrap="square"/>
                    <a:lstStyle/>
                    <a:p>
                      <a:pPr algn="r"/>
                      <a:r>
                        <a:rPr sz="1100" b="0">
                          <a:solidFill>
                            <a:srgbClr val="14324A"/>
                          </a:solidFill>
                          <a:latin typeface="Courier New"/>
                        </a:rPr>
                        <a:t>82.1</a:t>
                      </a:r>
                    </a:p>
                  </a:txBody>
                  <a:tcPr marL="54864" marR="54864" marT="27432" marB="27432">
                    <a:solidFill>
                      <a:srgbClr val="FFFFFF"/>
                    </a:solidFill>
                  </a:tcPr>
                </a:tc>
                <a:tc>
                  <a:txBody>
                    <a:bodyPr wrap="square"/>
                    <a:lstStyle/>
                    <a:p>
                      <a:pPr algn="r"/>
                      <a:r>
                        <a:rPr sz="1100" b="0">
                          <a:solidFill>
                            <a:srgbClr val="14324A"/>
                          </a:solidFill>
                          <a:latin typeface="Courier New"/>
                        </a:rPr>
                        <a:t>51.7</a:t>
                      </a:r>
                    </a:p>
                  </a:txBody>
                  <a:tcPr marL="54864" marR="54864" marT="27432" marB="27432">
                    <a:solidFill>
                      <a:srgbClr val="FFFFFF"/>
                    </a:solidFill>
                  </a:tcPr>
                </a:tc>
                <a:tc>
                  <a:txBody>
                    <a:bodyPr wrap="square"/>
                    <a:lstStyle/>
                    <a:p>
                      <a:pPr algn="r"/>
                      <a:r>
                        <a:rPr sz="1100" b="0">
                          <a:solidFill>
                            <a:srgbClr val="14324A"/>
                          </a:solidFill>
                          <a:latin typeface="Courier New"/>
                        </a:rPr>
                        <a:t>30.4</a:t>
                      </a:r>
                    </a:p>
                  </a:txBody>
                  <a:tcPr marL="54864" marR="54864" marT="27432" marB="27432">
                    <a:solidFill>
                      <a:srgbClr val="FFFFFF"/>
                    </a:solidFill>
                  </a:tcPr>
                </a:tc>
                <a:tc>
                  <a:txBody>
                    <a:bodyPr wrap="square"/>
                    <a:lstStyle/>
                    <a:p>
                      <a:pPr algn="r"/>
                      <a:r>
                        <a:rPr sz="1100" b="0">
                          <a:solidFill>
                            <a:srgbClr val="14324A"/>
                          </a:solidFill>
                          <a:latin typeface="Courier New"/>
                        </a:rPr>
                        <a:t>89.5%</a:t>
                      </a:r>
                    </a:p>
                  </a:txBody>
                  <a:tcPr marL="54864" marR="54864" marT="27432" marB="27432">
                    <a:solidFill>
                      <a:srgbClr val="FFFFFF"/>
                    </a:solidFill>
                  </a:tcPr>
                </a:tc>
              </a:tr>
              <a:tr h="335280">
                <a:tc>
                  <a:txBody>
                    <a:bodyPr wrap="square"/>
                    <a:lstStyle/>
                    <a:p>
                      <a:pPr algn="l"/>
                      <a:r>
                        <a:rPr sz="1100" b="0">
                          <a:solidFill>
                            <a:srgbClr val="14324A"/>
                          </a:solidFill>
                          <a:latin typeface="Calibri"/>
                        </a:rPr>
                        <a:t>Wanga (Luhya)</a:t>
                      </a:r>
                    </a:p>
                  </a:txBody>
                  <a:tcPr marL="54864" marR="54864" marT="27432" marB="27432">
                    <a:solidFill>
                      <a:srgbClr val="FFFFFF"/>
                    </a:solidFill>
                  </a:tcPr>
                </a:tc>
                <a:tc>
                  <a:txBody>
                    <a:bodyPr wrap="square"/>
                    <a:lstStyle/>
                    <a:p>
                      <a:pPr algn="l"/>
                      <a:r>
                        <a:rPr sz="1100" b="0">
                          <a:solidFill>
                            <a:srgbClr val="14324A"/>
                          </a:solidFill>
                          <a:latin typeface="Calibri"/>
                        </a:rPr>
                        <a:t>60</a:t>
                      </a:r>
                    </a:p>
                  </a:txBody>
                  <a:tcPr marL="54864" marR="54864" marT="27432" marB="27432">
                    <a:solidFill>
                      <a:srgbClr val="FFFFFF"/>
                    </a:solidFill>
                  </a:tcPr>
                </a:tc>
                <a:tc>
                  <a:txBody>
                    <a:bodyPr wrap="square"/>
                    <a:lstStyle/>
                    <a:p>
                      <a:pPr algn="r"/>
                      <a:r>
                        <a:rPr sz="1100" b="0">
                          <a:solidFill>
                            <a:srgbClr val="14324A"/>
                          </a:solidFill>
                          <a:latin typeface="Courier New"/>
                        </a:rPr>
                        <a:t>9.2</a:t>
                      </a:r>
                    </a:p>
                  </a:txBody>
                  <a:tcPr marL="54864" marR="54864" marT="27432" marB="27432">
                    <a:solidFill>
                      <a:srgbClr val="FFFFFF"/>
                    </a:solidFill>
                  </a:tcPr>
                </a:tc>
                <a:tc>
                  <a:txBody>
                    <a:bodyPr wrap="square"/>
                    <a:lstStyle/>
                    <a:p>
                      <a:pPr algn="r"/>
                      <a:r>
                        <a:rPr sz="1100" b="0">
                          <a:solidFill>
                            <a:srgbClr val="14324A"/>
                          </a:solidFill>
                          <a:latin typeface="Courier New"/>
                        </a:rPr>
                        <a:t>6.8</a:t>
                      </a:r>
                    </a:p>
                  </a:txBody>
                  <a:tcPr marL="54864" marR="54864" marT="27432" marB="27432">
                    <a:solidFill>
                      <a:srgbClr val="FFFFFF"/>
                    </a:solidFill>
                  </a:tcPr>
                </a:tc>
                <a:tc>
                  <a:txBody>
                    <a:bodyPr wrap="square"/>
                    <a:lstStyle/>
                    <a:p>
                      <a:pPr algn="r"/>
                      <a:r>
                        <a:rPr sz="1100" b="0">
                          <a:solidFill>
                            <a:srgbClr val="14324A"/>
                          </a:solidFill>
                          <a:latin typeface="Courier New"/>
                        </a:rPr>
                        <a:t>2.3</a:t>
                      </a:r>
                    </a:p>
                  </a:txBody>
                  <a:tcPr marL="54864" marR="54864" marT="27432" marB="27432">
                    <a:solidFill>
                      <a:srgbClr val="FFFFFF"/>
                    </a:solidFill>
                  </a:tcPr>
                </a:tc>
                <a:tc>
                  <a:txBody>
                    <a:bodyPr wrap="square"/>
                    <a:lstStyle/>
                    <a:p>
                      <a:pPr algn="r"/>
                      <a:r>
                        <a:rPr sz="1100" b="0">
                          <a:solidFill>
                            <a:srgbClr val="14324A"/>
                          </a:solidFill>
                          <a:latin typeface="Courier New"/>
                        </a:rPr>
                        <a:t>88.7%</a:t>
                      </a:r>
                    </a:p>
                  </a:txBody>
                  <a:tcPr marL="54864" marR="54864" marT="27432" marB="27432">
                    <a:solidFill>
                      <a:srgbClr val="FFFFFF"/>
                    </a:solidFill>
                  </a:tcPr>
                </a:tc>
              </a:tr>
              <a:tr h="335280">
                <a:tc>
                  <a:txBody>
                    <a:bodyPr wrap="square"/>
                    <a:lstStyle/>
                    <a:p>
                      <a:pPr algn="l"/>
                      <a:r>
                        <a:rPr sz="1100" b="0">
                          <a:solidFill>
                            <a:srgbClr val="14324A"/>
                          </a:solidFill>
                          <a:latin typeface="Calibri"/>
                        </a:rPr>
                        <a:t>Bukusu (Luhya)</a:t>
                      </a:r>
                    </a:p>
                  </a:txBody>
                  <a:tcPr marL="54864" marR="54864" marT="27432" marB="27432">
                    <a:solidFill>
                      <a:srgbClr val="FFFFFF"/>
                    </a:solidFill>
                  </a:tcPr>
                </a:tc>
                <a:tc>
                  <a:txBody>
                    <a:bodyPr wrap="square"/>
                    <a:lstStyle/>
                    <a:p>
                      <a:pPr algn="l"/>
                      <a:r>
                        <a:rPr sz="1100" b="0">
                          <a:solidFill>
                            <a:srgbClr val="14324A"/>
                          </a:solidFill>
                          <a:latin typeface="Calibri"/>
                        </a:rPr>
                        <a:t>14</a:t>
                      </a:r>
                    </a:p>
                  </a:txBody>
                  <a:tcPr marL="54864" marR="54864" marT="27432" marB="27432">
                    <a:solidFill>
                      <a:srgbClr val="FFFFFF"/>
                    </a:solidFill>
                  </a:tcPr>
                </a:tc>
                <a:tc>
                  <a:txBody>
                    <a:bodyPr wrap="square"/>
                    <a:lstStyle/>
                    <a:p>
                      <a:pPr algn="r"/>
                      <a:r>
                        <a:rPr sz="1100" b="0">
                          <a:solidFill>
                            <a:srgbClr val="14324A"/>
                          </a:solidFill>
                          <a:latin typeface="Courier New"/>
                        </a:rPr>
                        <a:t>1.1</a:t>
                      </a:r>
                    </a:p>
                  </a:txBody>
                  <a:tcPr marL="54864" marR="54864" marT="27432" marB="27432">
                    <a:solidFill>
                      <a:srgbClr val="FFFFFF"/>
                    </a:solidFill>
                  </a:tcPr>
                </a:tc>
                <a:tc>
                  <a:txBody>
                    <a:bodyPr wrap="square"/>
                    <a:lstStyle/>
                    <a:p>
                      <a:pPr algn="r"/>
                      <a:r>
                        <a:rPr sz="1100" b="0">
                          <a:solidFill>
                            <a:srgbClr val="14324A"/>
                          </a:solidFill>
                          <a:latin typeface="Courier New"/>
                        </a:rPr>
                        <a:t>0.7</a:t>
                      </a:r>
                    </a:p>
                  </a:txBody>
                  <a:tcPr marL="54864" marR="54864" marT="27432" marB="27432">
                    <a:solidFill>
                      <a:srgbClr val="FFFFFF"/>
                    </a:solidFill>
                  </a:tcPr>
                </a:tc>
                <a:tc>
                  <a:txBody>
                    <a:bodyPr wrap="square"/>
                    <a:lstStyle/>
                    <a:p>
                      <a:pPr algn="r"/>
                      <a:r>
                        <a:rPr sz="1100" b="0">
                          <a:solidFill>
                            <a:srgbClr val="14324A"/>
                          </a:solidFill>
                          <a:latin typeface="Courier New"/>
                        </a:rPr>
                        <a:t>0.3</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Hours are recorded duration; speech and music hours split those hours by the music detector; agreement is the share of labelled windows whose language matched the folder name.</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R06: Estate language reading m9j-9e8fcb46a809 on akki-vm (2 GPUs, 1.034 GPU-h): audio language model lcj-7128593897d4 sha256 5c1feb8497e8…, music detector m9j-686de001bfe7 sha256 0fea3eee0393…; model readings, not human labels</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Audio quality signals by language folder</a:t>
            </a:r>
          </a:p>
        </p:txBody>
      </p:sp>
      <p:graphicFrame>
        <p:nvGraphicFramePr>
          <p:cNvPr id="4" name="Table 3"/>
          <p:cNvGraphicFramePr>
            <a:graphicFrameLocks noGrp="1"/>
          </p:cNvGraphicFramePr>
          <p:nvPr/>
        </p:nvGraphicFramePr>
        <p:xfrm>
          <a:off x="594360" y="1920240"/>
          <a:ext cx="11002972" cy="3017520"/>
        </p:xfrm>
        <a:graphic>
          <a:graphicData uri="http://schemas.openxmlformats.org/drawingml/2006/table">
            <a:tbl>
              <a:tblPr firstRow="1" bandRow="1">
                <a:tableStyleId>{5C22544A-7EE6-4342-B048-85BDC9FD1C3A}</a:tableStyleId>
              </a:tblPr>
              <a:tblGrid>
                <a:gridCol w="1467063"/>
                <a:gridCol w="1283680"/>
                <a:gridCol w="1375371"/>
                <a:gridCol w="1833829"/>
                <a:gridCol w="1833829"/>
                <a:gridCol w="1833829"/>
                <a:gridCol w="1375371"/>
              </a:tblGrid>
              <a:tr h="335280">
                <a:tc>
                  <a:txBody>
                    <a:bodyPr wrap="square"/>
                    <a:lstStyle/>
                    <a:p>
                      <a:pPr algn="l"/>
                      <a:r>
                        <a:rPr sz="1100" b="1">
                          <a:solidFill>
                            <a:srgbClr val="14324A"/>
                          </a:solidFill>
                          <a:latin typeface="Calibri"/>
                        </a:rPr>
                        <a:t>Language</a:t>
                      </a:r>
                    </a:p>
                  </a:txBody>
                  <a:tcPr marL="54864" marR="54864" marT="27432" marB="27432">
                    <a:solidFill>
                      <a:srgbClr val="E8EEF3"/>
                    </a:solidFill>
                  </a:tcPr>
                </a:tc>
                <a:tc>
                  <a:txBody>
                    <a:bodyPr wrap="square"/>
                    <a:lstStyle/>
                    <a:p>
                      <a:pPr algn="l"/>
                      <a:r>
                        <a:rPr sz="1100" b="1">
                          <a:solidFill>
                            <a:srgbClr val="14324A"/>
                          </a:solidFill>
                          <a:latin typeface="Calibri"/>
                        </a:rPr>
                        <a:t>Files</a:t>
                      </a:r>
                    </a:p>
                  </a:txBody>
                  <a:tcPr marL="54864" marR="54864" marT="27432" marB="27432">
                    <a:solidFill>
                      <a:srgbClr val="E8EEF3"/>
                    </a:solidFill>
                  </a:tcPr>
                </a:tc>
                <a:tc>
                  <a:txBody>
                    <a:bodyPr wrap="square"/>
                    <a:lstStyle/>
                    <a:p>
                      <a:pPr algn="l"/>
                      <a:r>
                        <a:rPr sz="1100" b="1">
                          <a:solidFill>
                            <a:srgbClr val="14324A"/>
                          </a:solidFill>
                          <a:latin typeface="Calibri"/>
                        </a:rPr>
                        <a:t>Decode failures</a:t>
                      </a:r>
                    </a:p>
                  </a:txBody>
                  <a:tcPr marL="54864" marR="54864" marT="27432" marB="27432">
                    <a:solidFill>
                      <a:srgbClr val="E8EEF3"/>
                    </a:solidFill>
                  </a:tcPr>
                </a:tc>
                <a:tc>
                  <a:txBody>
                    <a:bodyPr wrap="square"/>
                    <a:lstStyle/>
                    <a:p>
                      <a:pPr algn="l"/>
                      <a:r>
                        <a:rPr sz="1100" b="1">
                          <a:solidFill>
                            <a:srgbClr val="14324A"/>
                          </a:solidFill>
                          <a:latin typeface="Calibri"/>
                        </a:rPr>
                        <a:t>Music-majority files</a:t>
                      </a:r>
                    </a:p>
                  </a:txBody>
                  <a:tcPr marL="54864" marR="54864" marT="27432" marB="27432">
                    <a:solidFill>
                      <a:srgbClr val="E8EEF3"/>
                    </a:solidFill>
                  </a:tcPr>
                </a:tc>
                <a:tc>
                  <a:txBody>
                    <a:bodyPr wrap="square"/>
                    <a:lstStyle/>
                    <a:p>
                      <a:pPr algn="l"/>
                      <a:r>
                        <a:rPr sz="1100" b="1">
                          <a:solidFill>
                            <a:srgbClr val="14324A"/>
                          </a:solidFill>
                          <a:latin typeface="Calibri"/>
                        </a:rPr>
                        <a:t>Mixed-language files</a:t>
                      </a:r>
                    </a:p>
                  </a:txBody>
                  <a:tcPr marL="54864" marR="54864" marT="27432" marB="27432">
                    <a:solidFill>
                      <a:srgbClr val="E8EEF3"/>
                    </a:solidFill>
                  </a:tcPr>
                </a:tc>
                <a:tc>
                  <a:txBody>
                    <a:bodyPr wrap="square"/>
                    <a:lstStyle/>
                    <a:p>
                      <a:pPr algn="l"/>
                      <a:r>
                        <a:rPr sz="1100" b="1">
                          <a:solidFill>
                            <a:srgbClr val="14324A"/>
                          </a:solidFill>
                          <a:latin typeface="Calibri"/>
                        </a:rPr>
                        <a:t>Low-confidence files</a:t>
                      </a:r>
                    </a:p>
                  </a:txBody>
                  <a:tcPr marL="54864" marR="54864" marT="27432" marB="27432">
                    <a:solidFill>
                      <a:srgbClr val="E8EEF3"/>
                    </a:solidFill>
                  </a:tcPr>
                </a:tc>
                <a:tc>
                  <a:txBody>
                    <a:bodyPr wrap="square"/>
                    <a:lstStyle/>
                    <a:p>
                      <a:pPr algn="l"/>
                      <a:r>
                        <a:rPr sz="1100" b="1">
                          <a:solidFill>
                            <a:srgbClr val="14324A"/>
                          </a:solidFill>
                          <a:latin typeface="Calibri"/>
                        </a:rPr>
                        <a:t>Mean confidence</a:t>
                      </a:r>
                    </a:p>
                  </a:txBody>
                  <a:tcPr marL="54864" marR="54864" marT="27432" marB="27432">
                    <a:solidFill>
                      <a:srgbClr val="E8EEF3"/>
                    </a:solidFill>
                  </a:tcPr>
                </a:tc>
              </a:tr>
              <a:tr h="335280">
                <a:tc>
                  <a:txBody>
                    <a:bodyPr wrap="square"/>
                    <a:lstStyle/>
                    <a:p>
                      <a:pPr algn="l"/>
                      <a:r>
                        <a:rPr sz="1100" b="0">
                          <a:solidFill>
                            <a:srgbClr val="14324A"/>
                          </a:solidFill>
                          <a:latin typeface="Calibri"/>
                        </a:rPr>
                        <a:t>Ekegusii (Kisii)</a:t>
                      </a:r>
                    </a:p>
                  </a:txBody>
                  <a:tcPr marL="54864" marR="54864" marT="27432" marB="27432">
                    <a:solidFill>
                      <a:srgbClr val="FFFFFF"/>
                    </a:solidFill>
                  </a:tcPr>
                </a:tc>
                <a:tc>
                  <a:txBody>
                    <a:bodyPr wrap="square"/>
                    <a:lstStyle/>
                    <a:p>
                      <a:pPr algn="r"/>
                      <a:r>
                        <a:rPr sz="1100" b="0">
                          <a:solidFill>
                            <a:srgbClr val="14324A"/>
                          </a:solidFill>
                          <a:latin typeface="Courier New"/>
                        </a:rPr>
                        <a:t>732</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46</a:t>
                      </a:r>
                    </a:p>
                  </a:txBody>
                  <a:tcPr marL="54864" marR="54864" marT="27432" marB="27432">
                    <a:solidFill>
                      <a:srgbClr val="FFFFFF"/>
                    </a:solidFill>
                  </a:tcPr>
                </a:tc>
                <a:tc>
                  <a:txBody>
                    <a:bodyPr wrap="square"/>
                    <a:lstStyle/>
                    <a:p>
                      <a:pPr algn="r"/>
                      <a:r>
                        <a:rPr sz="1100" b="0">
                          <a:solidFill>
                            <a:srgbClr val="14324A"/>
                          </a:solidFill>
                          <a:latin typeface="Courier New"/>
                        </a:rPr>
                        <a:t>29</a:t>
                      </a:r>
                    </a:p>
                  </a:txBody>
                  <a:tcPr marL="54864" marR="54864" marT="27432" marB="27432">
                    <a:solidFill>
                      <a:srgbClr val="FFFFFF"/>
                    </a:solidFill>
                  </a:tcPr>
                </a:tc>
                <a:tc>
                  <a:txBody>
                    <a:bodyPr wrap="square"/>
                    <a:lstStyle/>
                    <a:p>
                      <a:pPr algn="r"/>
                      <a:r>
                        <a:rPr sz="1100" b="0">
                          <a:solidFill>
                            <a:srgbClr val="14324A"/>
                          </a:solidFill>
                          <a:latin typeface="Courier New"/>
                        </a:rPr>
                        <a:t>1</a:t>
                      </a:r>
                    </a:p>
                  </a:txBody>
                  <a:tcPr marL="54864" marR="54864" marT="27432" marB="27432">
                    <a:solidFill>
                      <a:srgbClr val="FFFFFF"/>
                    </a:solidFill>
                  </a:tcPr>
                </a:tc>
                <a:tc>
                  <a:txBody>
                    <a:bodyPr wrap="square"/>
                    <a:lstStyle/>
                    <a:p>
                      <a:pPr algn="r"/>
                      <a:r>
                        <a:rPr sz="1100" b="0">
                          <a:solidFill>
                            <a:srgbClr val="14324A"/>
                          </a:solidFill>
                          <a:latin typeface="Courier New"/>
                        </a:rPr>
                        <a:t>0.905</a:t>
                      </a:r>
                    </a:p>
                  </a:txBody>
                  <a:tcPr marL="54864" marR="54864" marT="27432" marB="27432">
                    <a:solidFill>
                      <a:srgbClr val="FFFFFF"/>
                    </a:solidFill>
                  </a:tcPr>
                </a:tc>
              </a:tr>
              <a:tr h="335280">
                <a:tc>
                  <a:txBody>
                    <a:bodyPr wrap="square"/>
                    <a:lstStyle/>
                    <a:p>
                      <a:pPr algn="l"/>
                      <a:r>
                        <a:rPr sz="1100" b="0">
                          <a:solidFill>
                            <a:srgbClr val="14324A"/>
                          </a:solidFill>
                          <a:latin typeface="Calibri"/>
                        </a:rPr>
                        <a:t>Kalenjin</a:t>
                      </a:r>
                    </a:p>
                  </a:txBody>
                  <a:tcPr marL="54864" marR="54864" marT="27432" marB="27432">
                    <a:solidFill>
                      <a:srgbClr val="FFFFFF"/>
                    </a:solidFill>
                  </a:tcPr>
                </a:tc>
                <a:tc>
                  <a:txBody>
                    <a:bodyPr wrap="square"/>
                    <a:lstStyle/>
                    <a:p>
                      <a:pPr algn="r"/>
                      <a:r>
                        <a:rPr sz="1100" b="0">
                          <a:solidFill>
                            <a:srgbClr val="14324A"/>
                          </a:solidFill>
                          <a:latin typeface="Courier New"/>
                        </a:rPr>
                        <a:t>295</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18</a:t>
                      </a:r>
                    </a:p>
                  </a:txBody>
                  <a:tcPr marL="54864" marR="54864" marT="27432" marB="27432">
                    <a:solidFill>
                      <a:srgbClr val="FFFFFF"/>
                    </a:solidFill>
                  </a:tcPr>
                </a:tc>
                <a:tc>
                  <a:txBody>
                    <a:bodyPr wrap="square"/>
                    <a:lstStyle/>
                    <a:p>
                      <a:pPr algn="r"/>
                      <a:r>
                        <a:rPr sz="1100" b="0">
                          <a:solidFill>
                            <a:srgbClr val="14324A"/>
                          </a:solidFill>
                          <a:latin typeface="Courier New"/>
                        </a:rPr>
                        <a:t>5</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0.912</a:t>
                      </a:r>
                    </a:p>
                  </a:txBody>
                  <a:tcPr marL="54864" marR="54864" marT="27432" marB="27432">
                    <a:solidFill>
                      <a:srgbClr val="FFFFFF"/>
                    </a:solidFill>
                  </a:tcPr>
                </a:tc>
              </a:tr>
              <a:tr h="335280">
                <a:tc>
                  <a:txBody>
                    <a:bodyPr wrap="square"/>
                    <a:lstStyle/>
                    <a:p>
                      <a:pPr algn="l"/>
                      <a:r>
                        <a:rPr sz="1100" b="0">
                          <a:solidFill>
                            <a:srgbClr val="14324A"/>
                          </a:solidFill>
                          <a:latin typeface="Calibri"/>
                        </a:rPr>
                        <a:t>Kiswahili</a:t>
                      </a:r>
                    </a:p>
                  </a:txBody>
                  <a:tcPr marL="54864" marR="54864" marT="27432" marB="27432">
                    <a:solidFill>
                      <a:srgbClr val="FFFFFF"/>
                    </a:solidFill>
                  </a:tcPr>
                </a:tc>
                <a:tc>
                  <a:txBody>
                    <a:bodyPr wrap="square"/>
                    <a:lstStyle/>
                    <a:p>
                      <a:pPr algn="r"/>
                      <a:r>
                        <a:rPr sz="1100" b="0">
                          <a:solidFill>
                            <a:srgbClr val="14324A"/>
                          </a:solidFill>
                          <a:latin typeface="Courier New"/>
                        </a:rPr>
                        <a:t>549</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26</a:t>
                      </a:r>
                    </a:p>
                  </a:txBody>
                  <a:tcPr marL="54864" marR="54864" marT="27432" marB="27432">
                    <a:solidFill>
                      <a:srgbClr val="FFFFFF"/>
                    </a:solidFill>
                  </a:tcPr>
                </a:tc>
                <a:tc>
                  <a:txBody>
                    <a:bodyPr wrap="square"/>
                    <a:lstStyle/>
                    <a:p>
                      <a:pPr algn="r"/>
                      <a:r>
                        <a:rPr sz="1100" b="0">
                          <a:solidFill>
                            <a:srgbClr val="14324A"/>
                          </a:solidFill>
                          <a:latin typeface="Courier New"/>
                        </a:rPr>
                        <a:t>44</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0.875</a:t>
                      </a:r>
                    </a:p>
                  </a:txBody>
                  <a:tcPr marL="54864" marR="54864" marT="27432" marB="27432">
                    <a:solidFill>
                      <a:srgbClr val="FFFFFF"/>
                    </a:solidFill>
                  </a:tcPr>
                </a:tc>
              </a:tr>
              <a:tr h="335280">
                <a:tc>
                  <a:txBody>
                    <a:bodyPr wrap="square"/>
                    <a:lstStyle/>
                    <a:p>
                      <a:pPr algn="l"/>
                      <a:r>
                        <a:rPr sz="1100" b="0">
                          <a:solidFill>
                            <a:srgbClr val="14324A"/>
                          </a:solidFill>
                          <a:latin typeface="Calibri"/>
                        </a:rPr>
                        <a:t>Kikamba (Kamba)</a:t>
                      </a:r>
                    </a:p>
                  </a:txBody>
                  <a:tcPr marL="54864" marR="54864" marT="27432" marB="27432">
                    <a:solidFill>
                      <a:srgbClr val="FFFFFF"/>
                    </a:solidFill>
                  </a:tcPr>
                </a:tc>
                <a:tc>
                  <a:txBody>
                    <a:bodyPr wrap="square"/>
                    <a:lstStyle/>
                    <a:p>
                      <a:pPr algn="r"/>
                      <a:r>
                        <a:rPr sz="1100" b="0">
                          <a:solidFill>
                            <a:srgbClr val="14324A"/>
                          </a:solidFill>
                          <a:latin typeface="Courier New"/>
                        </a:rPr>
                        <a:t>1166</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192</a:t>
                      </a:r>
                    </a:p>
                  </a:txBody>
                  <a:tcPr marL="54864" marR="54864" marT="27432" marB="27432">
                    <a:solidFill>
                      <a:srgbClr val="FFFFFF"/>
                    </a:solidFill>
                  </a:tcPr>
                </a:tc>
                <a:tc>
                  <a:txBody>
                    <a:bodyPr wrap="square"/>
                    <a:lstStyle/>
                    <a:p>
                      <a:pPr algn="r"/>
                      <a:r>
                        <a:rPr sz="1100" b="0">
                          <a:solidFill>
                            <a:srgbClr val="14324A"/>
                          </a:solidFill>
                          <a:latin typeface="Courier New"/>
                        </a:rPr>
                        <a:t>232</a:t>
                      </a:r>
                    </a:p>
                  </a:txBody>
                  <a:tcPr marL="54864" marR="54864" marT="27432" marB="27432">
                    <a:solidFill>
                      <a:srgbClr val="FFFFFF"/>
                    </a:solidFill>
                  </a:tcPr>
                </a:tc>
                <a:tc>
                  <a:txBody>
                    <a:bodyPr wrap="square"/>
                    <a:lstStyle/>
                    <a:p>
                      <a:pPr algn="r"/>
                      <a:r>
                        <a:rPr sz="1100" b="0">
                          <a:solidFill>
                            <a:srgbClr val="14324A"/>
                          </a:solidFill>
                          <a:latin typeface="Courier New"/>
                        </a:rPr>
                        <a:t>12</a:t>
                      </a:r>
                    </a:p>
                  </a:txBody>
                  <a:tcPr marL="54864" marR="54864" marT="27432" marB="27432">
                    <a:solidFill>
                      <a:srgbClr val="FFFFFF"/>
                    </a:solidFill>
                  </a:tcPr>
                </a:tc>
                <a:tc>
                  <a:txBody>
                    <a:bodyPr wrap="square"/>
                    <a:lstStyle/>
                    <a:p>
                      <a:pPr algn="r"/>
                      <a:r>
                        <a:rPr sz="1100" b="0">
                          <a:solidFill>
                            <a:srgbClr val="14324A"/>
                          </a:solidFill>
                          <a:latin typeface="Courier New"/>
                        </a:rPr>
                        <a:t>0.870</a:t>
                      </a:r>
                    </a:p>
                  </a:txBody>
                  <a:tcPr marL="54864" marR="54864" marT="27432" marB="27432">
                    <a:solidFill>
                      <a:srgbClr val="FFFFFF"/>
                    </a:solidFill>
                  </a:tcPr>
                </a:tc>
              </a:tr>
              <a:tr h="335280">
                <a:tc>
                  <a:txBody>
                    <a:bodyPr wrap="square"/>
                    <a:lstStyle/>
                    <a:p>
                      <a:pPr algn="l"/>
                      <a:r>
                        <a:rPr sz="1100" b="0">
                          <a:solidFill>
                            <a:srgbClr val="14324A"/>
                          </a:solidFill>
                          <a:latin typeface="Calibri"/>
                        </a:rPr>
                        <a:t>Gikuyu (Kikuyu)</a:t>
                      </a:r>
                    </a:p>
                  </a:txBody>
                  <a:tcPr marL="54864" marR="54864" marT="27432" marB="27432">
                    <a:solidFill>
                      <a:srgbClr val="FFFFFF"/>
                    </a:solidFill>
                  </a:tcPr>
                </a:tc>
                <a:tc>
                  <a:txBody>
                    <a:bodyPr wrap="square"/>
                    <a:lstStyle/>
                    <a:p>
                      <a:pPr algn="r"/>
                      <a:r>
                        <a:rPr sz="1100" b="0">
                          <a:solidFill>
                            <a:srgbClr val="14324A"/>
                          </a:solidFill>
                          <a:latin typeface="Courier New"/>
                        </a:rPr>
                        <a:t>584</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71</a:t>
                      </a:r>
                    </a:p>
                  </a:txBody>
                  <a:tcPr marL="54864" marR="54864" marT="27432" marB="27432">
                    <a:solidFill>
                      <a:srgbClr val="FFFFFF"/>
                    </a:solidFill>
                  </a:tcPr>
                </a:tc>
                <a:tc>
                  <a:txBody>
                    <a:bodyPr wrap="square"/>
                    <a:lstStyle/>
                    <a:p>
                      <a:pPr algn="r"/>
                      <a:r>
                        <a:rPr sz="1100" b="0">
                          <a:solidFill>
                            <a:srgbClr val="14324A"/>
                          </a:solidFill>
                          <a:latin typeface="Courier New"/>
                        </a:rPr>
                        <a:t>89</a:t>
                      </a:r>
                    </a:p>
                  </a:txBody>
                  <a:tcPr marL="54864" marR="54864" marT="27432" marB="27432">
                    <a:solidFill>
                      <a:srgbClr val="FFFFFF"/>
                    </a:solidFill>
                  </a:tcPr>
                </a:tc>
                <a:tc>
                  <a:txBody>
                    <a:bodyPr wrap="square"/>
                    <a:lstStyle/>
                    <a:p>
                      <a:pPr algn="r"/>
                      <a:r>
                        <a:rPr sz="1100" b="0">
                          <a:solidFill>
                            <a:srgbClr val="14324A"/>
                          </a:solidFill>
                          <a:latin typeface="Courier New"/>
                        </a:rPr>
                        <a:t>32</a:t>
                      </a:r>
                    </a:p>
                  </a:txBody>
                  <a:tcPr marL="54864" marR="54864" marT="27432" marB="27432">
                    <a:solidFill>
                      <a:srgbClr val="FFFFFF"/>
                    </a:solidFill>
                  </a:tcPr>
                </a:tc>
                <a:tc>
                  <a:txBody>
                    <a:bodyPr wrap="square"/>
                    <a:lstStyle/>
                    <a:p>
                      <a:pPr algn="r"/>
                      <a:r>
                        <a:rPr sz="1100" b="0">
                          <a:solidFill>
                            <a:srgbClr val="14324A"/>
                          </a:solidFill>
                          <a:latin typeface="Courier New"/>
                        </a:rPr>
                        <a:t>0.817</a:t>
                      </a:r>
                    </a:p>
                  </a:txBody>
                  <a:tcPr marL="54864" marR="54864" marT="27432" marB="27432">
                    <a:solidFill>
                      <a:srgbClr val="FFFFFF"/>
                    </a:solidFill>
                  </a:tcPr>
                </a:tc>
              </a:tr>
              <a:tr h="335280">
                <a:tc>
                  <a:txBody>
                    <a:bodyPr wrap="square"/>
                    <a:lstStyle/>
                    <a:p>
                      <a:pPr algn="l"/>
                      <a:r>
                        <a:rPr sz="1100" b="0">
                          <a:solidFill>
                            <a:srgbClr val="14324A"/>
                          </a:solidFill>
                          <a:latin typeface="Calibri"/>
                        </a:rPr>
                        <a:t>Dholuo (Luo)</a:t>
                      </a:r>
                    </a:p>
                  </a:txBody>
                  <a:tcPr marL="54864" marR="54864" marT="27432" marB="27432">
                    <a:solidFill>
                      <a:srgbClr val="FFFFFF"/>
                    </a:solidFill>
                  </a:tcPr>
                </a:tc>
                <a:tc>
                  <a:txBody>
                    <a:bodyPr wrap="square"/>
                    <a:lstStyle/>
                    <a:p>
                      <a:pPr algn="r"/>
                      <a:r>
                        <a:rPr sz="1100" b="0">
                          <a:solidFill>
                            <a:srgbClr val="14324A"/>
                          </a:solidFill>
                          <a:latin typeface="Courier New"/>
                        </a:rPr>
                        <a:t>558</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169</a:t>
                      </a:r>
                    </a:p>
                  </a:txBody>
                  <a:tcPr marL="54864" marR="54864" marT="27432" marB="27432">
                    <a:solidFill>
                      <a:srgbClr val="FFFFFF"/>
                    </a:solidFill>
                  </a:tcPr>
                </a:tc>
                <a:tc>
                  <a:txBody>
                    <a:bodyPr wrap="square"/>
                    <a:lstStyle/>
                    <a:p>
                      <a:pPr algn="r"/>
                      <a:r>
                        <a:rPr sz="1100" b="0">
                          <a:solidFill>
                            <a:srgbClr val="14324A"/>
                          </a:solidFill>
                          <a:latin typeface="Courier New"/>
                        </a:rPr>
                        <a:t>27</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0.939</a:t>
                      </a:r>
                    </a:p>
                  </a:txBody>
                  <a:tcPr marL="54864" marR="54864" marT="27432" marB="27432">
                    <a:solidFill>
                      <a:srgbClr val="FFFFFF"/>
                    </a:solidFill>
                  </a:tcPr>
                </a:tc>
              </a:tr>
              <a:tr h="335280">
                <a:tc>
                  <a:txBody>
                    <a:bodyPr wrap="square"/>
                    <a:lstStyle/>
                    <a:p>
                      <a:pPr algn="l"/>
                      <a:r>
                        <a:rPr sz="1100" b="0">
                          <a:solidFill>
                            <a:srgbClr val="14324A"/>
                          </a:solidFill>
                          <a:latin typeface="Calibri"/>
                        </a:rPr>
                        <a:t>Wanga (Luhya)</a:t>
                      </a:r>
                    </a:p>
                  </a:txBody>
                  <a:tcPr marL="54864" marR="54864" marT="27432" marB="27432">
                    <a:solidFill>
                      <a:srgbClr val="FFFFFF"/>
                    </a:solidFill>
                  </a:tcPr>
                </a:tc>
                <a:tc>
                  <a:txBody>
                    <a:bodyPr wrap="square"/>
                    <a:lstStyle/>
                    <a:p>
                      <a:pPr algn="r"/>
                      <a:r>
                        <a:rPr sz="1100" b="0">
                          <a:solidFill>
                            <a:srgbClr val="14324A"/>
                          </a:solidFill>
                          <a:latin typeface="Courier New"/>
                        </a:rPr>
                        <a:t>60</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13</a:t>
                      </a:r>
                    </a:p>
                  </a:txBody>
                  <a:tcPr marL="54864" marR="54864" marT="27432" marB="27432">
                    <a:solidFill>
                      <a:srgbClr val="FFFFFF"/>
                    </a:solidFill>
                  </a:tcPr>
                </a:tc>
                <a:tc>
                  <a:txBody>
                    <a:bodyPr wrap="square"/>
                    <a:lstStyle/>
                    <a:p>
                      <a:pPr algn="r"/>
                      <a:r>
                        <a:rPr sz="1100" b="0">
                          <a:solidFill>
                            <a:srgbClr val="14324A"/>
                          </a:solidFill>
                          <a:latin typeface="Courier New"/>
                        </a:rPr>
                        <a:t>3</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0.922</a:t>
                      </a:r>
                    </a:p>
                  </a:txBody>
                  <a:tcPr marL="54864" marR="54864" marT="27432" marB="27432">
                    <a:solidFill>
                      <a:srgbClr val="FFFFFF"/>
                    </a:solidFill>
                  </a:tcPr>
                </a:tc>
              </a:tr>
              <a:tr h="335280">
                <a:tc>
                  <a:txBody>
                    <a:bodyPr wrap="square"/>
                    <a:lstStyle/>
                    <a:p>
                      <a:pPr algn="l"/>
                      <a:r>
                        <a:rPr sz="1100" b="0">
                          <a:solidFill>
                            <a:srgbClr val="14324A"/>
                          </a:solidFill>
                          <a:latin typeface="Calibri"/>
                        </a:rPr>
                        <a:t>Bukusu (Luhya)</a:t>
                      </a:r>
                    </a:p>
                  </a:txBody>
                  <a:tcPr marL="54864" marR="54864" marT="27432" marB="27432">
                    <a:solidFill>
                      <a:srgbClr val="FFFFFF"/>
                    </a:solidFill>
                  </a:tcPr>
                </a:tc>
                <a:tc>
                  <a:txBody>
                    <a:bodyPr wrap="square"/>
                    <a:lstStyle/>
                    <a:p>
                      <a:pPr algn="r"/>
                      <a:r>
                        <a:rPr sz="1100" b="0">
                          <a:solidFill>
                            <a:srgbClr val="14324A"/>
                          </a:solidFill>
                          <a:latin typeface="Courier New"/>
                        </a:rPr>
                        <a:t>14</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4</a:t>
                      </a:r>
                    </a:p>
                  </a:txBody>
                  <a:tcPr marL="54864" marR="54864" marT="27432" marB="27432">
                    <a:solidFill>
                      <a:srgbClr val="FFFFFF"/>
                    </a:solidFill>
                  </a:tcPr>
                </a:tc>
                <a:tc>
                  <a:txBody>
                    <a:bodyPr wrap="square"/>
                    <a:lstStyle/>
                    <a:p>
                      <a:pPr algn="r"/>
                      <a:r>
                        <a:rPr sz="1100" b="0">
                          <a:solidFill>
                            <a:srgbClr val="14324A"/>
                          </a:solidFill>
                          <a:latin typeface="Courier New"/>
                        </a:rPr>
                        <a:t>11</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0.866</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Decode failures, digital silence, music-dominated files, mixed-language files (no language reaches sixty percent of labelled windows) and low-confidence files are the quality signals the reading can measure; noise and intelligibility were not scored.</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R06: Estate language reading m9j-9e8fcb46a809 on akki-vm (2 GPUs, 1.034 GPU-h): audio language model lcj-7128593897d4 sha256 5c1feb8497e8…, music detector m9j-686de001bfe7 sha256 0fea3eee0393…; model readings, not human labels</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06</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Written text by language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NEWS SCRIPTS</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The news archive is substantial and spread across many stations, but not evenly</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248841 live scripts come from 13 stations. Language is the station's broadcast language, since the script text was not read.</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R08: Aggregate-only database reading etx-81e10befe6e0: news_vault.stories (script, title, date, hour_id) → news_vault.hours (station_id, time, type_id) → news_vault.stations (name); news_vault.news (2022 bulletins); local.uploaded_files (language_id, audio_length, status) ← local.transcripts (file_id, start_time, end_time, transcript) ; local.folder_languages (Language, code, station)</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BULLETIN COVERAGE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No station averages a full day of bulletin hours on the days it has scripts</a:t>
            </a:r>
          </a:p>
        </p:txBody>
      </p:sp>
      <p:graphicFrame>
        <p:nvGraphicFramePr>
          <p:cNvPr id="4" name="Chart 3"/>
          <p:cNvGraphicFramePr>
            <a:graphicFrameLocks noGrp="1"/>
          </p:cNvGraphicFramePr>
          <p:nvPr/>
        </p:nvGraphicFramePr>
        <p:xfrm>
          <a:off x="594360" y="1920240"/>
          <a:ext cx="11002975" cy="3394252"/>
        </p:xfrm>
        <a:graphic>
          <a:graphicData uri="http://schemas.openxmlformats.org/drawingml/2006/chart">
            <c:chart xmlns:c="http://schemas.openxmlformats.org/drawingml/2006/chart" r:id="rId2"/>
          </a:graphicData>
        </a:graphic>
      </p:graphicFrame>
      <p:sp>
        <p:nvSpPr>
          <p:cNvPr id="5" name="TextBox 4"/>
          <p:cNvSpPr txBox="1"/>
          <p:nvPr/>
        </p:nvSpPr>
        <p:spPr>
          <a:xfrm>
            <a:off x="594360" y="5314492"/>
            <a:ext cx="8206740" cy="376732"/>
          </a:xfrm>
          <a:prstGeom prst="rect">
            <a:avLst/>
          </a:prstGeom>
          <a:noFill/>
        </p:spPr>
        <p:txBody>
          <a:bodyPr wrap="square" lIns="0" rIns="0" tIns="0" bIns="0" anchor="b">
            <a:spAutoFit/>
          </a:bodyPr>
          <a:lstStyle/>
          <a:p>
            <a:pPr algn="l"/>
            <a:r>
              <a:rPr sz="1400" b="0" i="1">
                <a:solidFill>
                  <a:srgbClr val="E8772E"/>
                </a:solidFill>
                <a:latin typeface="Calibri"/>
              </a:rPr>
              <a:t>The measure counts distinct scripted hour slots on scripted days, not continuous coverage or broadcast duration.</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R08: Aggregate-only database reading etx-81e10befe6e0: news_vault.stories (script, title, date, hour_id) → news_vault.hours (station_id, time, type_id) → news_vault.stations (name); news_vault.news (2022 bulletins); local.uploaded_files (language_id, audio_length, status) ← local.transcripts (file_id, start_time, end_time, transcript) ; local.folder_languages (Language, code, station)</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WRITTEN TEXT</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Three separate text inventories exist and should be prepared separately, not added together</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news archive holds 248841 live scripts from 13 stations on 226 dates across 1432 days, which is 15.8% of days.</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38.0% of script rows are revisions, leaving 159100 distinct texts (63.9% of live rows). 10206 rows are marked deleted.</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text model read 399 transcripts; 99.6% of passages agree with the folder language. 3540 transcripts were not reached.</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workbench registers 83014 recordings and 12,290.6 hours. It may overlap the staged corpus, so the two are not added.</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Hourly news scripts by station (news_vault.stories)</a:t>
            </a:r>
          </a:p>
        </p:txBody>
      </p:sp>
      <p:graphicFrame>
        <p:nvGraphicFramePr>
          <p:cNvPr id="4" name="Table 3"/>
          <p:cNvGraphicFramePr>
            <a:graphicFrameLocks noGrp="1"/>
          </p:cNvGraphicFramePr>
          <p:nvPr/>
        </p:nvGraphicFramePr>
        <p:xfrm>
          <a:off x="594360" y="1920240"/>
          <a:ext cx="11002972" cy="3017520"/>
        </p:xfrm>
        <a:graphic>
          <a:graphicData uri="http://schemas.openxmlformats.org/drawingml/2006/table">
            <a:tbl>
              <a:tblPr firstRow="1" bandRow="1">
                <a:tableStyleId>{5C22544A-7EE6-4342-B048-85BDC9FD1C3A}</a:tableStyleId>
              </a:tblPr>
              <a:tblGrid>
                <a:gridCol w="1194121"/>
                <a:gridCol w="1535298"/>
                <a:gridCol w="1194121"/>
                <a:gridCol w="1194121"/>
                <a:gridCol w="2047065"/>
                <a:gridCol w="2644125"/>
                <a:gridCol w="1194121"/>
              </a:tblGrid>
              <a:tr h="301752">
                <a:tc>
                  <a:txBody>
                    <a:bodyPr wrap="square"/>
                    <a:lstStyle/>
                    <a:p>
                      <a:pPr algn="l"/>
                      <a:r>
                        <a:rPr sz="1100" b="1">
                          <a:solidFill>
                            <a:srgbClr val="14324A"/>
                          </a:solidFill>
                          <a:latin typeface="Calibri"/>
                        </a:rPr>
                        <a:t>Station</a:t>
                      </a:r>
                    </a:p>
                  </a:txBody>
                  <a:tcPr marL="54864" marR="54864" marT="27432" marB="27432">
                    <a:solidFill>
                      <a:srgbClr val="E8EEF3"/>
                    </a:solidFill>
                  </a:tcPr>
                </a:tc>
                <a:tc>
                  <a:txBody>
                    <a:bodyPr wrap="square"/>
                    <a:lstStyle/>
                    <a:p>
                      <a:pPr algn="l"/>
                      <a:r>
                        <a:rPr sz="1100" b="1">
                          <a:solidFill>
                            <a:srgbClr val="14324A"/>
                          </a:solidFill>
                          <a:latin typeface="Calibri"/>
                        </a:rPr>
                        <a:t>Broadcast language</a:t>
                      </a:r>
                    </a:p>
                  </a:txBody>
                  <a:tcPr marL="54864" marR="54864" marT="27432" marB="27432">
                    <a:solidFill>
                      <a:srgbClr val="E8EEF3"/>
                    </a:solidFill>
                  </a:tcPr>
                </a:tc>
                <a:tc>
                  <a:txBody>
                    <a:bodyPr wrap="square"/>
                    <a:lstStyle/>
                    <a:p>
                      <a:pPr algn="l"/>
                      <a:r>
                        <a:rPr sz="1100" b="1">
                          <a:solidFill>
                            <a:srgbClr val="14324A"/>
                          </a:solidFill>
                          <a:latin typeface="Calibri"/>
                        </a:rPr>
                        <a:t>Live scripts</a:t>
                      </a:r>
                    </a:p>
                  </a:txBody>
                  <a:tcPr marL="54864" marR="54864" marT="27432" marB="27432">
                    <a:solidFill>
                      <a:srgbClr val="E8EEF3"/>
                    </a:solidFill>
                  </a:tcPr>
                </a:tc>
                <a:tc>
                  <a:txBody>
                    <a:bodyPr wrap="square"/>
                    <a:lstStyle/>
                    <a:p>
                      <a:pPr algn="l"/>
                      <a:r>
                        <a:rPr sz="1100" b="1">
                          <a:solidFill>
                            <a:srgbClr val="14324A"/>
                          </a:solidFill>
                          <a:latin typeface="Calibri"/>
                        </a:rPr>
                        <a:t>Scripted days</a:t>
                      </a:r>
                    </a:p>
                  </a:txBody>
                  <a:tcPr marL="54864" marR="54864" marT="27432" marB="27432">
                    <a:solidFill>
                      <a:srgbClr val="E8EEF3"/>
                    </a:solidFill>
                  </a:tcPr>
                </a:tc>
                <a:tc>
                  <a:txBody>
                    <a:bodyPr wrap="square"/>
                    <a:lstStyle/>
                    <a:p>
                      <a:pPr algn="l"/>
                      <a:r>
                        <a:rPr sz="1100" b="1">
                          <a:solidFill>
                            <a:srgbClr val="14324A"/>
                          </a:solidFill>
                          <a:latin typeface="Calibri"/>
                        </a:rPr>
                        <a:t>Scripts per scripted day</a:t>
                      </a:r>
                    </a:p>
                  </a:txBody>
                  <a:tcPr marL="54864" marR="54864" marT="27432" marB="27432">
                    <a:solidFill>
                      <a:srgbClr val="E8EEF3"/>
                    </a:solidFill>
                  </a:tcPr>
                </a:tc>
                <a:tc>
                  <a:txBody>
                    <a:bodyPr wrap="square"/>
                    <a:lstStyle/>
                    <a:p>
                      <a:pPr algn="l"/>
                      <a:r>
                        <a:rPr sz="1100" b="1">
                          <a:solidFill>
                            <a:srgbClr val="14324A"/>
                          </a:solidFill>
                          <a:latin typeface="Calibri"/>
                        </a:rPr>
                        <a:t>Bulletin hours per scripted day</a:t>
                      </a:r>
                    </a:p>
                  </a:txBody>
                  <a:tcPr marL="54864" marR="54864" marT="27432" marB="27432">
                    <a:solidFill>
                      <a:srgbClr val="E8EEF3"/>
                    </a:solidFill>
                  </a:tcPr>
                </a:tc>
                <a:tc>
                  <a:txBody>
                    <a:bodyPr wrap="square"/>
                    <a:lstStyle/>
                    <a:p>
                      <a:pPr algn="l"/>
                      <a:r>
                        <a:rPr sz="1100" b="1">
                          <a:solidFill>
                            <a:srgbClr val="14324A"/>
                          </a:solidFill>
                          <a:latin typeface="Calibri"/>
                        </a:rPr>
                        <a:t>Characters</a:t>
                      </a:r>
                    </a:p>
                  </a:txBody>
                  <a:tcPr marL="54864" marR="54864" marT="27432" marB="27432">
                    <a:solidFill>
                      <a:srgbClr val="E8EEF3"/>
                    </a:solidFill>
                  </a:tcPr>
                </a:tc>
              </a:tr>
              <a:tr h="301752">
                <a:tc>
                  <a:txBody>
                    <a:bodyPr wrap="square"/>
                    <a:lstStyle/>
                    <a:p>
                      <a:pPr algn="l"/>
                      <a:r>
                        <a:rPr sz="1100" b="0">
                          <a:solidFill>
                            <a:srgbClr val="14324A"/>
                          </a:solidFill>
                          <a:latin typeface="Calibri"/>
                        </a:rPr>
                        <a:t>Muuga FM</a:t>
                      </a:r>
                    </a:p>
                  </a:txBody>
                  <a:tcPr marL="54864" marR="54864" marT="27432" marB="27432">
                    <a:solidFill>
                      <a:srgbClr val="FFFFFF"/>
                    </a:solidFill>
                  </a:tcPr>
                </a:tc>
                <a:tc>
                  <a:txBody>
                    <a:bodyPr wrap="square"/>
                    <a:lstStyle/>
                    <a:p>
                      <a:pPr algn="l"/>
                      <a:r>
                        <a:rPr sz="1100" b="0">
                          <a:solidFill>
                            <a:srgbClr val="14324A"/>
                          </a:solidFill>
                          <a:latin typeface="Calibri"/>
                        </a:rPr>
                        <a:t>Meru</a:t>
                      </a:r>
                    </a:p>
                  </a:txBody>
                  <a:tcPr marL="54864" marR="54864" marT="27432" marB="27432">
                    <a:solidFill>
                      <a:srgbClr val="FFFFFF"/>
                    </a:solidFill>
                  </a:tcPr>
                </a:tc>
                <a:tc>
                  <a:txBody>
                    <a:bodyPr wrap="square"/>
                    <a:lstStyle/>
                    <a:p>
                      <a:pPr algn="r"/>
                      <a:r>
                        <a:rPr sz="1100" b="0">
                          <a:solidFill>
                            <a:srgbClr val="14324A"/>
                          </a:solidFill>
                          <a:latin typeface="Courier New"/>
                        </a:rPr>
                        <a:t>27467</a:t>
                      </a:r>
                    </a:p>
                  </a:txBody>
                  <a:tcPr marL="54864" marR="54864" marT="27432" marB="27432">
                    <a:solidFill>
                      <a:srgbClr val="FFFFFF"/>
                    </a:solidFill>
                  </a:tcPr>
                </a:tc>
                <a:tc>
                  <a:txBody>
                    <a:bodyPr wrap="square"/>
                    <a:lstStyle/>
                    <a:p>
                      <a:pPr algn="r"/>
                      <a:r>
                        <a:rPr sz="1100" b="0">
                          <a:solidFill>
                            <a:srgbClr val="14324A"/>
                          </a:solidFill>
                          <a:latin typeface="Courier New"/>
                        </a:rPr>
                        <a:t>221</a:t>
                      </a:r>
                    </a:p>
                  </a:txBody>
                  <a:tcPr marL="54864" marR="54864" marT="27432" marB="27432">
                    <a:solidFill>
                      <a:srgbClr val="FFFFFF"/>
                    </a:solidFill>
                  </a:tcPr>
                </a:tc>
                <a:tc>
                  <a:txBody>
                    <a:bodyPr wrap="square"/>
                    <a:lstStyle/>
                    <a:p>
                      <a:pPr algn="r"/>
                      <a:r>
                        <a:rPr sz="1100" b="0">
                          <a:solidFill>
                            <a:srgbClr val="14324A"/>
                          </a:solidFill>
                          <a:latin typeface="Courier New"/>
                        </a:rPr>
                        <a:t>127.53</a:t>
                      </a:r>
                    </a:p>
                  </a:txBody>
                  <a:tcPr marL="54864" marR="54864" marT="27432" marB="27432">
                    <a:solidFill>
                      <a:srgbClr val="FFFFFF"/>
                    </a:solidFill>
                  </a:tcPr>
                </a:tc>
                <a:tc>
                  <a:txBody>
                    <a:bodyPr wrap="square"/>
                    <a:lstStyle/>
                    <a:p>
                      <a:pPr algn="r"/>
                      <a:r>
                        <a:rPr sz="1100" b="0">
                          <a:solidFill>
                            <a:srgbClr val="14324A"/>
                          </a:solidFill>
                          <a:latin typeface="Courier New"/>
                        </a:rPr>
                        <a:t>17.98</a:t>
                      </a:r>
                    </a:p>
                  </a:txBody>
                  <a:tcPr marL="54864" marR="54864" marT="27432" marB="27432">
                    <a:solidFill>
                      <a:srgbClr val="FFFFFF"/>
                    </a:solidFill>
                  </a:tcPr>
                </a:tc>
                <a:tc>
                  <a:txBody>
                    <a:bodyPr wrap="square"/>
                    <a:lstStyle/>
                    <a:p>
                      <a:pPr algn="r"/>
                      <a:r>
                        <a:rPr sz="1100" b="0">
                          <a:solidFill>
                            <a:srgbClr val="14324A"/>
                          </a:solidFill>
                          <a:latin typeface="Courier New"/>
                        </a:rPr>
                        <a:t>14128382</a:t>
                      </a:r>
                    </a:p>
                  </a:txBody>
                  <a:tcPr marL="54864" marR="54864" marT="27432" marB="27432">
                    <a:solidFill>
                      <a:srgbClr val="FFFFFF"/>
                    </a:solidFill>
                  </a:tcPr>
                </a:tc>
              </a:tr>
              <a:tr h="301752">
                <a:tc>
                  <a:txBody>
                    <a:bodyPr wrap="square"/>
                    <a:lstStyle/>
                    <a:p>
                      <a:pPr algn="l"/>
                      <a:r>
                        <a:rPr sz="1100" b="0">
                          <a:solidFill>
                            <a:srgbClr val="14324A"/>
                          </a:solidFill>
                          <a:latin typeface="Calibri"/>
                        </a:rPr>
                        <a:t>Radio Citizen</a:t>
                      </a:r>
                    </a:p>
                  </a:txBody>
                  <a:tcPr marL="54864" marR="54864" marT="27432" marB="27432">
                    <a:solidFill>
                      <a:srgbClr val="FFFFFF"/>
                    </a:solidFill>
                  </a:tcPr>
                </a:tc>
                <a:tc>
                  <a:txBody>
                    <a:bodyPr wrap="square"/>
                    <a:lstStyle/>
                    <a:p>
                      <a:pPr algn="l"/>
                      <a:r>
                        <a:rPr sz="1100" b="0">
                          <a:solidFill>
                            <a:srgbClr val="14324A"/>
                          </a:solidFill>
                          <a:latin typeface="Calibri"/>
                        </a:rPr>
                        <a:t>Kiswahili</a:t>
                      </a:r>
                    </a:p>
                  </a:txBody>
                  <a:tcPr marL="54864" marR="54864" marT="27432" marB="27432">
                    <a:solidFill>
                      <a:srgbClr val="FFFFFF"/>
                    </a:solidFill>
                  </a:tcPr>
                </a:tc>
                <a:tc>
                  <a:txBody>
                    <a:bodyPr wrap="square"/>
                    <a:lstStyle/>
                    <a:p>
                      <a:pPr algn="r"/>
                      <a:r>
                        <a:rPr sz="1100" b="0">
                          <a:solidFill>
                            <a:srgbClr val="14324A"/>
                          </a:solidFill>
                          <a:latin typeface="Courier New"/>
                        </a:rPr>
                        <a:t>27240</a:t>
                      </a:r>
                    </a:p>
                  </a:txBody>
                  <a:tcPr marL="54864" marR="54864" marT="27432" marB="27432">
                    <a:solidFill>
                      <a:srgbClr val="FFFFFF"/>
                    </a:solidFill>
                  </a:tcPr>
                </a:tc>
                <a:tc>
                  <a:txBody>
                    <a:bodyPr wrap="square"/>
                    <a:lstStyle/>
                    <a:p>
                      <a:pPr algn="r"/>
                      <a:r>
                        <a:rPr sz="1100" b="0">
                          <a:solidFill>
                            <a:srgbClr val="14324A"/>
                          </a:solidFill>
                          <a:latin typeface="Courier New"/>
                        </a:rPr>
                        <a:t>219</a:t>
                      </a:r>
                    </a:p>
                  </a:txBody>
                  <a:tcPr marL="54864" marR="54864" marT="27432" marB="27432">
                    <a:solidFill>
                      <a:srgbClr val="FFFFFF"/>
                    </a:solidFill>
                  </a:tcPr>
                </a:tc>
                <a:tc>
                  <a:txBody>
                    <a:bodyPr wrap="square"/>
                    <a:lstStyle/>
                    <a:p>
                      <a:pPr algn="r"/>
                      <a:r>
                        <a:rPr sz="1100" b="0">
                          <a:solidFill>
                            <a:srgbClr val="14324A"/>
                          </a:solidFill>
                          <a:latin typeface="Courier New"/>
                        </a:rPr>
                        <a:t>126.98</a:t>
                      </a:r>
                    </a:p>
                  </a:txBody>
                  <a:tcPr marL="54864" marR="54864" marT="27432" marB="27432">
                    <a:solidFill>
                      <a:srgbClr val="FFFFFF"/>
                    </a:solidFill>
                  </a:tcPr>
                </a:tc>
                <a:tc>
                  <a:txBody>
                    <a:bodyPr wrap="square"/>
                    <a:lstStyle/>
                    <a:p>
                      <a:pPr algn="r"/>
                      <a:r>
                        <a:rPr sz="1100" b="0">
                          <a:solidFill>
                            <a:srgbClr val="14324A"/>
                          </a:solidFill>
                          <a:latin typeface="Courier New"/>
                        </a:rPr>
                        <a:t>18.18</a:t>
                      </a:r>
                    </a:p>
                  </a:txBody>
                  <a:tcPr marL="54864" marR="54864" marT="27432" marB="27432">
                    <a:solidFill>
                      <a:srgbClr val="FFFFFF"/>
                    </a:solidFill>
                  </a:tcPr>
                </a:tc>
                <a:tc>
                  <a:txBody>
                    <a:bodyPr wrap="square"/>
                    <a:lstStyle/>
                    <a:p>
                      <a:pPr algn="r"/>
                      <a:r>
                        <a:rPr sz="1100" b="0">
                          <a:solidFill>
                            <a:srgbClr val="14324A"/>
                          </a:solidFill>
                          <a:latin typeface="Courier New"/>
                        </a:rPr>
                        <a:t>22231911</a:t>
                      </a:r>
                    </a:p>
                  </a:txBody>
                  <a:tcPr marL="54864" marR="54864" marT="27432" marB="27432">
                    <a:solidFill>
                      <a:srgbClr val="FFFFFF"/>
                    </a:solidFill>
                  </a:tcPr>
                </a:tc>
              </a:tr>
              <a:tr h="301752">
                <a:tc>
                  <a:txBody>
                    <a:bodyPr wrap="square"/>
                    <a:lstStyle/>
                    <a:p>
                      <a:pPr algn="l"/>
                      <a:r>
                        <a:rPr sz="1100" b="0">
                          <a:solidFill>
                            <a:srgbClr val="14324A"/>
                          </a:solidFill>
                          <a:latin typeface="Calibri"/>
                        </a:rPr>
                        <a:t>Chamgei</a:t>
                      </a:r>
                    </a:p>
                  </a:txBody>
                  <a:tcPr marL="54864" marR="54864" marT="27432" marB="27432">
                    <a:solidFill>
                      <a:srgbClr val="FFFFFF"/>
                    </a:solidFill>
                  </a:tcPr>
                </a:tc>
                <a:tc>
                  <a:txBody>
                    <a:bodyPr wrap="square"/>
                    <a:lstStyle/>
                    <a:p>
                      <a:pPr algn="l"/>
                      <a:r>
                        <a:rPr sz="1100" b="0">
                          <a:solidFill>
                            <a:srgbClr val="14324A"/>
                          </a:solidFill>
                          <a:latin typeface="Calibri"/>
                        </a:rPr>
                        <a:t>Kalenjin</a:t>
                      </a:r>
                    </a:p>
                  </a:txBody>
                  <a:tcPr marL="54864" marR="54864" marT="27432" marB="27432">
                    <a:solidFill>
                      <a:srgbClr val="FFFFFF"/>
                    </a:solidFill>
                  </a:tcPr>
                </a:tc>
                <a:tc>
                  <a:txBody>
                    <a:bodyPr wrap="square"/>
                    <a:lstStyle/>
                    <a:p>
                      <a:pPr algn="r"/>
                      <a:r>
                        <a:rPr sz="1100" b="0">
                          <a:solidFill>
                            <a:srgbClr val="14324A"/>
                          </a:solidFill>
                          <a:latin typeface="Courier New"/>
                        </a:rPr>
                        <a:t>26787</a:t>
                      </a:r>
                    </a:p>
                  </a:txBody>
                  <a:tcPr marL="54864" marR="54864" marT="27432" marB="27432">
                    <a:solidFill>
                      <a:srgbClr val="FFFFFF"/>
                    </a:solidFill>
                  </a:tcPr>
                </a:tc>
                <a:tc>
                  <a:txBody>
                    <a:bodyPr wrap="square"/>
                    <a:lstStyle/>
                    <a:p>
                      <a:pPr algn="r"/>
                      <a:r>
                        <a:rPr sz="1100" b="0">
                          <a:solidFill>
                            <a:srgbClr val="14324A"/>
                          </a:solidFill>
                          <a:latin typeface="Courier New"/>
                        </a:rPr>
                        <a:t>224</a:t>
                      </a:r>
                    </a:p>
                  </a:txBody>
                  <a:tcPr marL="54864" marR="54864" marT="27432" marB="27432">
                    <a:solidFill>
                      <a:srgbClr val="FFFFFF"/>
                    </a:solidFill>
                  </a:tcPr>
                </a:tc>
                <a:tc>
                  <a:txBody>
                    <a:bodyPr wrap="square"/>
                    <a:lstStyle/>
                    <a:p>
                      <a:pPr algn="r"/>
                      <a:r>
                        <a:rPr sz="1100" b="0">
                          <a:solidFill>
                            <a:srgbClr val="14324A"/>
                          </a:solidFill>
                          <a:latin typeface="Courier New"/>
                        </a:rPr>
                        <a:t>130.68</a:t>
                      </a:r>
                    </a:p>
                  </a:txBody>
                  <a:tcPr marL="54864" marR="54864" marT="27432" marB="27432">
                    <a:solidFill>
                      <a:srgbClr val="FFFFFF"/>
                    </a:solidFill>
                  </a:tcPr>
                </a:tc>
                <a:tc>
                  <a:txBody>
                    <a:bodyPr wrap="square"/>
                    <a:lstStyle/>
                    <a:p>
                      <a:pPr algn="r"/>
                      <a:r>
                        <a:rPr sz="1100" b="0">
                          <a:solidFill>
                            <a:srgbClr val="14324A"/>
                          </a:solidFill>
                          <a:latin typeface="Courier New"/>
                        </a:rPr>
                        <a:t>18.75</a:t>
                      </a:r>
                    </a:p>
                  </a:txBody>
                  <a:tcPr marL="54864" marR="54864" marT="27432" marB="27432">
                    <a:solidFill>
                      <a:srgbClr val="FFFFFF"/>
                    </a:solidFill>
                  </a:tcPr>
                </a:tc>
                <a:tc>
                  <a:txBody>
                    <a:bodyPr wrap="square"/>
                    <a:lstStyle/>
                    <a:p>
                      <a:pPr algn="r"/>
                      <a:r>
                        <a:rPr sz="1100" b="0">
                          <a:solidFill>
                            <a:srgbClr val="14324A"/>
                          </a:solidFill>
                          <a:latin typeface="Courier New"/>
                        </a:rPr>
                        <a:t>20538503</a:t>
                      </a:r>
                    </a:p>
                  </a:txBody>
                  <a:tcPr marL="54864" marR="54864" marT="27432" marB="27432">
                    <a:solidFill>
                      <a:srgbClr val="FFFFFF"/>
                    </a:solidFill>
                  </a:tcPr>
                </a:tc>
              </a:tr>
              <a:tr h="301752">
                <a:tc>
                  <a:txBody>
                    <a:bodyPr wrap="square"/>
                    <a:lstStyle/>
                    <a:p>
                      <a:pPr algn="l"/>
                      <a:r>
                        <a:rPr sz="1100" b="0">
                          <a:solidFill>
                            <a:srgbClr val="14324A"/>
                          </a:solidFill>
                          <a:latin typeface="Calibri"/>
                        </a:rPr>
                        <a:t>Mulembe FM</a:t>
                      </a:r>
                    </a:p>
                  </a:txBody>
                  <a:tcPr marL="54864" marR="54864" marT="27432" marB="27432">
                    <a:solidFill>
                      <a:srgbClr val="FFFFFF"/>
                    </a:solidFill>
                  </a:tcPr>
                </a:tc>
                <a:tc>
                  <a:txBody>
                    <a:bodyPr wrap="square"/>
                    <a:lstStyle/>
                    <a:p>
                      <a:pPr algn="l"/>
                      <a:r>
                        <a:rPr sz="1100" b="0">
                          <a:solidFill>
                            <a:srgbClr val="14324A"/>
                          </a:solidFill>
                          <a:latin typeface="Calibri"/>
                        </a:rPr>
                        <a:t>Luhya</a:t>
                      </a:r>
                    </a:p>
                  </a:txBody>
                  <a:tcPr marL="54864" marR="54864" marT="27432" marB="27432">
                    <a:solidFill>
                      <a:srgbClr val="FFFFFF"/>
                    </a:solidFill>
                  </a:tcPr>
                </a:tc>
                <a:tc>
                  <a:txBody>
                    <a:bodyPr wrap="square"/>
                    <a:lstStyle/>
                    <a:p>
                      <a:pPr algn="r"/>
                      <a:r>
                        <a:rPr sz="1100" b="0">
                          <a:solidFill>
                            <a:srgbClr val="14324A"/>
                          </a:solidFill>
                          <a:latin typeface="Courier New"/>
                        </a:rPr>
                        <a:t>22191</a:t>
                      </a:r>
                    </a:p>
                  </a:txBody>
                  <a:tcPr marL="54864" marR="54864" marT="27432" marB="27432">
                    <a:solidFill>
                      <a:srgbClr val="FFFFFF"/>
                    </a:solidFill>
                  </a:tcPr>
                </a:tc>
                <a:tc>
                  <a:txBody>
                    <a:bodyPr wrap="square"/>
                    <a:lstStyle/>
                    <a:p>
                      <a:pPr algn="r"/>
                      <a:r>
                        <a:rPr sz="1100" b="0">
                          <a:solidFill>
                            <a:srgbClr val="14324A"/>
                          </a:solidFill>
                          <a:latin typeface="Courier New"/>
                        </a:rPr>
                        <a:t>225</a:t>
                      </a:r>
                    </a:p>
                  </a:txBody>
                  <a:tcPr marL="54864" marR="54864" marT="27432" marB="27432">
                    <a:solidFill>
                      <a:srgbClr val="FFFFFF"/>
                    </a:solidFill>
                  </a:tcPr>
                </a:tc>
                <a:tc>
                  <a:txBody>
                    <a:bodyPr wrap="square"/>
                    <a:lstStyle/>
                    <a:p>
                      <a:pPr algn="r"/>
                      <a:r>
                        <a:rPr sz="1100" b="0">
                          <a:solidFill>
                            <a:srgbClr val="14324A"/>
                          </a:solidFill>
                          <a:latin typeface="Courier New"/>
                        </a:rPr>
                        <a:t>102.58</a:t>
                      </a:r>
                    </a:p>
                  </a:txBody>
                  <a:tcPr marL="54864" marR="54864" marT="27432" marB="27432">
                    <a:solidFill>
                      <a:srgbClr val="FFFFFF"/>
                    </a:solidFill>
                  </a:tcPr>
                </a:tc>
                <a:tc>
                  <a:txBody>
                    <a:bodyPr wrap="square"/>
                    <a:lstStyle/>
                    <a:p>
                      <a:pPr algn="r"/>
                      <a:r>
                        <a:rPr sz="1100" b="0">
                          <a:solidFill>
                            <a:srgbClr val="14324A"/>
                          </a:solidFill>
                          <a:latin typeface="Courier New"/>
                        </a:rPr>
                        <a:t>15.0</a:t>
                      </a:r>
                    </a:p>
                  </a:txBody>
                  <a:tcPr marL="54864" marR="54864" marT="27432" marB="27432">
                    <a:solidFill>
                      <a:srgbClr val="FFFFFF"/>
                    </a:solidFill>
                  </a:tcPr>
                </a:tc>
                <a:tc>
                  <a:txBody>
                    <a:bodyPr wrap="square"/>
                    <a:lstStyle/>
                    <a:p>
                      <a:pPr algn="r"/>
                      <a:r>
                        <a:rPr sz="1100" b="0">
                          <a:solidFill>
                            <a:srgbClr val="14324A"/>
                          </a:solidFill>
                          <a:latin typeface="Courier New"/>
                        </a:rPr>
                        <a:t>15496412</a:t>
                      </a:r>
                    </a:p>
                  </a:txBody>
                  <a:tcPr marL="54864" marR="54864" marT="27432" marB="27432">
                    <a:solidFill>
                      <a:srgbClr val="FFFFFF"/>
                    </a:solidFill>
                  </a:tcPr>
                </a:tc>
              </a:tr>
              <a:tr h="301752">
                <a:tc>
                  <a:txBody>
                    <a:bodyPr wrap="square"/>
                    <a:lstStyle/>
                    <a:p>
                      <a:pPr algn="l"/>
                      <a:r>
                        <a:rPr sz="1100" b="0">
                          <a:solidFill>
                            <a:srgbClr val="14324A"/>
                          </a:solidFill>
                          <a:latin typeface="Calibri"/>
                        </a:rPr>
                        <a:t>Wimwaro FM</a:t>
                      </a:r>
                    </a:p>
                  </a:txBody>
                  <a:tcPr marL="54864" marR="54864" marT="27432" marB="27432">
                    <a:solidFill>
                      <a:srgbClr val="FFFFFF"/>
                    </a:solidFill>
                  </a:tcPr>
                </a:tc>
                <a:tc>
                  <a:txBody>
                    <a:bodyPr wrap="square"/>
                    <a:lstStyle/>
                    <a:p>
                      <a:pPr algn="l"/>
                      <a:r>
                        <a:rPr sz="1100" b="0">
                          <a:solidFill>
                            <a:srgbClr val="14324A"/>
                          </a:solidFill>
                          <a:latin typeface="Calibri"/>
                        </a:rPr>
                        <a:t>Embu</a:t>
                      </a:r>
                    </a:p>
                  </a:txBody>
                  <a:tcPr marL="54864" marR="54864" marT="27432" marB="27432">
                    <a:solidFill>
                      <a:srgbClr val="FFFFFF"/>
                    </a:solidFill>
                  </a:tcPr>
                </a:tc>
                <a:tc>
                  <a:txBody>
                    <a:bodyPr wrap="square"/>
                    <a:lstStyle/>
                    <a:p>
                      <a:pPr algn="r"/>
                      <a:r>
                        <a:rPr sz="1100" b="0">
                          <a:solidFill>
                            <a:srgbClr val="14324A"/>
                          </a:solidFill>
                          <a:latin typeface="Courier New"/>
                        </a:rPr>
                        <a:t>19664</a:t>
                      </a:r>
                    </a:p>
                  </a:txBody>
                  <a:tcPr marL="54864" marR="54864" marT="27432" marB="27432">
                    <a:solidFill>
                      <a:srgbClr val="FFFFFF"/>
                    </a:solidFill>
                  </a:tcPr>
                </a:tc>
                <a:tc>
                  <a:txBody>
                    <a:bodyPr wrap="square"/>
                    <a:lstStyle/>
                    <a:p>
                      <a:pPr algn="r"/>
                      <a:r>
                        <a:rPr sz="1100" b="0">
                          <a:solidFill>
                            <a:srgbClr val="14324A"/>
                          </a:solidFill>
                          <a:latin typeface="Courier New"/>
                        </a:rPr>
                        <a:t>223</a:t>
                      </a:r>
                    </a:p>
                  </a:txBody>
                  <a:tcPr marL="54864" marR="54864" marT="27432" marB="27432">
                    <a:solidFill>
                      <a:srgbClr val="FFFFFF"/>
                    </a:solidFill>
                  </a:tcPr>
                </a:tc>
                <a:tc>
                  <a:txBody>
                    <a:bodyPr wrap="square"/>
                    <a:lstStyle/>
                    <a:p>
                      <a:pPr algn="r"/>
                      <a:r>
                        <a:rPr sz="1100" b="0">
                          <a:solidFill>
                            <a:srgbClr val="14324A"/>
                          </a:solidFill>
                          <a:latin typeface="Courier New"/>
                        </a:rPr>
                        <a:t>90.1</a:t>
                      </a:r>
                    </a:p>
                  </a:txBody>
                  <a:tcPr marL="54864" marR="54864" marT="27432" marB="27432">
                    <a:solidFill>
                      <a:srgbClr val="FFFFFF"/>
                    </a:solidFill>
                  </a:tcPr>
                </a:tc>
                <a:tc>
                  <a:txBody>
                    <a:bodyPr wrap="square"/>
                    <a:lstStyle/>
                    <a:p>
                      <a:pPr algn="r"/>
                      <a:r>
                        <a:rPr sz="1100" b="0">
                          <a:solidFill>
                            <a:srgbClr val="14324A"/>
                          </a:solidFill>
                          <a:latin typeface="Courier New"/>
                        </a:rPr>
                        <a:t>15.76</a:t>
                      </a:r>
                    </a:p>
                  </a:txBody>
                  <a:tcPr marL="54864" marR="54864" marT="27432" marB="27432">
                    <a:solidFill>
                      <a:srgbClr val="FFFFFF"/>
                    </a:solidFill>
                  </a:tcPr>
                </a:tc>
                <a:tc>
                  <a:txBody>
                    <a:bodyPr wrap="square"/>
                    <a:lstStyle/>
                    <a:p>
                      <a:pPr algn="r"/>
                      <a:r>
                        <a:rPr sz="1100" b="0">
                          <a:solidFill>
                            <a:srgbClr val="14324A"/>
                          </a:solidFill>
                          <a:latin typeface="Courier New"/>
                        </a:rPr>
                        <a:t>12408784</a:t>
                      </a:r>
                    </a:p>
                  </a:txBody>
                  <a:tcPr marL="54864" marR="54864" marT="27432" marB="27432">
                    <a:solidFill>
                      <a:srgbClr val="FFFFFF"/>
                    </a:solidFill>
                  </a:tcPr>
                </a:tc>
              </a:tr>
              <a:tr h="301752">
                <a:tc>
                  <a:txBody>
                    <a:bodyPr wrap="square"/>
                    <a:lstStyle/>
                    <a:p>
                      <a:pPr algn="l"/>
                      <a:r>
                        <a:rPr sz="1100" b="0">
                          <a:solidFill>
                            <a:srgbClr val="14324A"/>
                          </a:solidFill>
                          <a:latin typeface="Calibri"/>
                        </a:rPr>
                        <a:t>Hot 96</a:t>
                      </a:r>
                    </a:p>
                  </a:txBody>
                  <a:tcPr marL="54864" marR="54864" marT="27432" marB="27432">
                    <a:solidFill>
                      <a:srgbClr val="FFFFFF"/>
                    </a:solidFill>
                  </a:tcPr>
                </a:tc>
                <a:tc>
                  <a:txBody>
                    <a:bodyPr wrap="square"/>
                    <a:lstStyle/>
                    <a:p>
                      <a:pPr algn="l"/>
                      <a:r>
                        <a:rPr sz="1100" b="0">
                          <a:solidFill>
                            <a:srgbClr val="14324A"/>
                          </a:solidFill>
                          <a:latin typeface="Calibri"/>
                        </a:rPr>
                        <a:t>English</a:t>
                      </a:r>
                    </a:p>
                  </a:txBody>
                  <a:tcPr marL="54864" marR="54864" marT="27432" marB="27432">
                    <a:solidFill>
                      <a:srgbClr val="FFFFFF"/>
                    </a:solidFill>
                  </a:tcPr>
                </a:tc>
                <a:tc>
                  <a:txBody>
                    <a:bodyPr wrap="square"/>
                    <a:lstStyle/>
                    <a:p>
                      <a:pPr algn="r"/>
                      <a:r>
                        <a:rPr sz="1100" b="0">
                          <a:solidFill>
                            <a:srgbClr val="14324A"/>
                          </a:solidFill>
                          <a:latin typeface="Courier New"/>
                        </a:rPr>
                        <a:t>18136</a:t>
                      </a:r>
                    </a:p>
                  </a:txBody>
                  <a:tcPr marL="54864" marR="54864" marT="27432" marB="27432">
                    <a:solidFill>
                      <a:srgbClr val="FFFFFF"/>
                    </a:solidFill>
                  </a:tcPr>
                </a:tc>
                <a:tc>
                  <a:txBody>
                    <a:bodyPr wrap="square"/>
                    <a:lstStyle/>
                    <a:p>
                      <a:pPr algn="r"/>
                      <a:r>
                        <a:rPr sz="1100" b="0">
                          <a:solidFill>
                            <a:srgbClr val="14324A"/>
                          </a:solidFill>
                          <a:latin typeface="Courier New"/>
                        </a:rPr>
                        <a:t>225</a:t>
                      </a:r>
                    </a:p>
                  </a:txBody>
                  <a:tcPr marL="54864" marR="54864" marT="27432" marB="27432">
                    <a:solidFill>
                      <a:srgbClr val="FFFFFF"/>
                    </a:solidFill>
                  </a:tcPr>
                </a:tc>
                <a:tc>
                  <a:txBody>
                    <a:bodyPr wrap="square"/>
                    <a:lstStyle/>
                    <a:p>
                      <a:pPr algn="r"/>
                      <a:r>
                        <a:rPr sz="1100" b="0">
                          <a:solidFill>
                            <a:srgbClr val="14324A"/>
                          </a:solidFill>
                          <a:latin typeface="Courier New"/>
                        </a:rPr>
                        <a:t>83.18</a:t>
                      </a:r>
                    </a:p>
                  </a:txBody>
                  <a:tcPr marL="54864" marR="54864" marT="27432" marB="27432">
                    <a:solidFill>
                      <a:srgbClr val="FFFFFF"/>
                    </a:solidFill>
                  </a:tcPr>
                </a:tc>
                <a:tc>
                  <a:txBody>
                    <a:bodyPr wrap="square"/>
                    <a:lstStyle/>
                    <a:p>
                      <a:pPr algn="r"/>
                      <a:r>
                        <a:rPr sz="1100" b="0">
                          <a:solidFill>
                            <a:srgbClr val="14324A"/>
                          </a:solidFill>
                          <a:latin typeface="Courier New"/>
                        </a:rPr>
                        <a:t>15.08</a:t>
                      </a:r>
                    </a:p>
                  </a:txBody>
                  <a:tcPr marL="54864" marR="54864" marT="27432" marB="27432">
                    <a:solidFill>
                      <a:srgbClr val="FFFFFF"/>
                    </a:solidFill>
                  </a:tcPr>
                </a:tc>
                <a:tc>
                  <a:txBody>
                    <a:bodyPr wrap="square"/>
                    <a:lstStyle/>
                    <a:p>
                      <a:pPr algn="r"/>
                      <a:r>
                        <a:rPr sz="1100" b="0">
                          <a:solidFill>
                            <a:srgbClr val="14324A"/>
                          </a:solidFill>
                          <a:latin typeface="Courier New"/>
                        </a:rPr>
                        <a:t>12470183</a:t>
                      </a:r>
                    </a:p>
                  </a:txBody>
                  <a:tcPr marL="54864" marR="54864" marT="27432" marB="27432">
                    <a:solidFill>
                      <a:srgbClr val="FFFFFF"/>
                    </a:solidFill>
                  </a:tcPr>
                </a:tc>
              </a:tr>
              <a:tr h="301752">
                <a:tc>
                  <a:txBody>
                    <a:bodyPr wrap="square"/>
                    <a:lstStyle/>
                    <a:p>
                      <a:pPr algn="l"/>
                      <a:r>
                        <a:rPr sz="1100" b="0">
                          <a:solidFill>
                            <a:srgbClr val="14324A"/>
                          </a:solidFill>
                          <a:latin typeface="Calibri"/>
                        </a:rPr>
                        <a:t>Egesa</a:t>
                      </a:r>
                    </a:p>
                  </a:txBody>
                  <a:tcPr marL="54864" marR="54864" marT="27432" marB="27432">
                    <a:solidFill>
                      <a:srgbClr val="FFFFFF"/>
                    </a:solidFill>
                  </a:tcPr>
                </a:tc>
                <a:tc>
                  <a:txBody>
                    <a:bodyPr wrap="square"/>
                    <a:lstStyle/>
                    <a:p>
                      <a:pPr algn="l"/>
                      <a:r>
                        <a:rPr sz="1100" b="0">
                          <a:solidFill>
                            <a:srgbClr val="14324A"/>
                          </a:solidFill>
                          <a:latin typeface="Calibri"/>
                        </a:rPr>
                        <a:t>Kisii</a:t>
                      </a:r>
                    </a:p>
                  </a:txBody>
                  <a:tcPr marL="54864" marR="54864" marT="27432" marB="27432">
                    <a:solidFill>
                      <a:srgbClr val="FFFFFF"/>
                    </a:solidFill>
                  </a:tcPr>
                </a:tc>
                <a:tc>
                  <a:txBody>
                    <a:bodyPr wrap="square"/>
                    <a:lstStyle/>
                    <a:p>
                      <a:pPr algn="r"/>
                      <a:r>
                        <a:rPr sz="1100" b="0">
                          <a:solidFill>
                            <a:srgbClr val="14324A"/>
                          </a:solidFill>
                          <a:latin typeface="Courier New"/>
                        </a:rPr>
                        <a:t>17606</a:t>
                      </a:r>
                    </a:p>
                  </a:txBody>
                  <a:tcPr marL="54864" marR="54864" marT="27432" marB="27432">
                    <a:solidFill>
                      <a:srgbClr val="FFFFFF"/>
                    </a:solidFill>
                  </a:tcPr>
                </a:tc>
                <a:tc>
                  <a:txBody>
                    <a:bodyPr wrap="square"/>
                    <a:lstStyle/>
                    <a:p>
                      <a:pPr algn="r"/>
                      <a:r>
                        <a:rPr sz="1100" b="0">
                          <a:solidFill>
                            <a:srgbClr val="14324A"/>
                          </a:solidFill>
                          <a:latin typeface="Courier New"/>
                        </a:rPr>
                        <a:t>219</a:t>
                      </a:r>
                    </a:p>
                  </a:txBody>
                  <a:tcPr marL="54864" marR="54864" marT="27432" marB="27432">
                    <a:solidFill>
                      <a:srgbClr val="FFFFFF"/>
                    </a:solidFill>
                  </a:tcPr>
                </a:tc>
                <a:tc>
                  <a:txBody>
                    <a:bodyPr wrap="square"/>
                    <a:lstStyle/>
                    <a:p>
                      <a:pPr algn="r"/>
                      <a:r>
                        <a:rPr sz="1100" b="0">
                          <a:solidFill>
                            <a:srgbClr val="14324A"/>
                          </a:solidFill>
                          <a:latin typeface="Courier New"/>
                        </a:rPr>
                        <a:t>84.36</a:t>
                      </a:r>
                    </a:p>
                  </a:txBody>
                  <a:tcPr marL="54864" marR="54864" marT="27432" marB="27432">
                    <a:solidFill>
                      <a:srgbClr val="FFFFFF"/>
                    </a:solidFill>
                  </a:tcPr>
                </a:tc>
                <a:tc>
                  <a:txBody>
                    <a:bodyPr wrap="square"/>
                    <a:lstStyle/>
                    <a:p>
                      <a:pPr algn="r"/>
                      <a:r>
                        <a:rPr sz="1100" b="0">
                          <a:solidFill>
                            <a:srgbClr val="14324A"/>
                          </a:solidFill>
                          <a:latin typeface="Courier New"/>
                        </a:rPr>
                        <a:t>11.3</a:t>
                      </a:r>
                    </a:p>
                  </a:txBody>
                  <a:tcPr marL="54864" marR="54864" marT="27432" marB="27432">
                    <a:solidFill>
                      <a:srgbClr val="FFFFFF"/>
                    </a:solidFill>
                  </a:tcPr>
                </a:tc>
                <a:tc>
                  <a:txBody>
                    <a:bodyPr wrap="square"/>
                    <a:lstStyle/>
                    <a:p>
                      <a:pPr algn="r"/>
                      <a:r>
                        <a:rPr sz="1100" b="0">
                          <a:solidFill>
                            <a:srgbClr val="14324A"/>
                          </a:solidFill>
                          <a:latin typeface="Courier New"/>
                        </a:rPr>
                        <a:t>14458656</a:t>
                      </a:r>
                    </a:p>
                  </a:txBody>
                  <a:tcPr marL="54864" marR="54864" marT="27432" marB="27432">
                    <a:solidFill>
                      <a:srgbClr val="FFFFFF"/>
                    </a:solidFill>
                  </a:tcPr>
                </a:tc>
              </a:tr>
              <a:tr h="301752">
                <a:tc>
                  <a:txBody>
                    <a:bodyPr wrap="square"/>
                    <a:lstStyle/>
                    <a:p>
                      <a:pPr algn="l"/>
                      <a:r>
                        <a:rPr sz="1100" b="0">
                          <a:solidFill>
                            <a:srgbClr val="14324A"/>
                          </a:solidFill>
                          <a:latin typeface="Calibri"/>
                        </a:rPr>
                        <a:t>Musyi FM</a:t>
                      </a:r>
                    </a:p>
                  </a:txBody>
                  <a:tcPr marL="54864" marR="54864" marT="27432" marB="27432">
                    <a:solidFill>
                      <a:srgbClr val="FFFFFF"/>
                    </a:solidFill>
                  </a:tcPr>
                </a:tc>
                <a:tc>
                  <a:txBody>
                    <a:bodyPr wrap="square"/>
                    <a:lstStyle/>
                    <a:p>
                      <a:pPr algn="l"/>
                      <a:r>
                        <a:rPr sz="1100" b="0">
                          <a:solidFill>
                            <a:srgbClr val="14324A"/>
                          </a:solidFill>
                          <a:latin typeface="Calibri"/>
                        </a:rPr>
                        <a:t>Akamba</a:t>
                      </a:r>
                    </a:p>
                  </a:txBody>
                  <a:tcPr marL="54864" marR="54864" marT="27432" marB="27432">
                    <a:solidFill>
                      <a:srgbClr val="FFFFFF"/>
                    </a:solidFill>
                  </a:tcPr>
                </a:tc>
                <a:tc>
                  <a:txBody>
                    <a:bodyPr wrap="square"/>
                    <a:lstStyle/>
                    <a:p>
                      <a:pPr algn="r"/>
                      <a:r>
                        <a:rPr sz="1100" b="0">
                          <a:solidFill>
                            <a:srgbClr val="14324A"/>
                          </a:solidFill>
                          <a:latin typeface="Courier New"/>
                        </a:rPr>
                        <a:t>17581</a:t>
                      </a:r>
                    </a:p>
                  </a:txBody>
                  <a:tcPr marL="54864" marR="54864" marT="27432" marB="27432">
                    <a:solidFill>
                      <a:srgbClr val="FFFFFF"/>
                    </a:solidFill>
                  </a:tcPr>
                </a:tc>
                <a:tc>
                  <a:txBody>
                    <a:bodyPr wrap="square"/>
                    <a:lstStyle/>
                    <a:p>
                      <a:pPr algn="r"/>
                      <a:r>
                        <a:rPr sz="1100" b="0">
                          <a:solidFill>
                            <a:srgbClr val="14324A"/>
                          </a:solidFill>
                          <a:latin typeface="Courier New"/>
                        </a:rPr>
                        <a:t>199</a:t>
                      </a:r>
                    </a:p>
                  </a:txBody>
                  <a:tcPr marL="54864" marR="54864" marT="27432" marB="27432">
                    <a:solidFill>
                      <a:srgbClr val="FFFFFF"/>
                    </a:solidFill>
                  </a:tcPr>
                </a:tc>
                <a:tc>
                  <a:txBody>
                    <a:bodyPr wrap="square"/>
                    <a:lstStyle/>
                    <a:p>
                      <a:pPr algn="r"/>
                      <a:r>
                        <a:rPr sz="1100" b="0">
                          <a:solidFill>
                            <a:srgbClr val="14324A"/>
                          </a:solidFill>
                          <a:latin typeface="Courier New"/>
                        </a:rPr>
                        <a:t>91.48</a:t>
                      </a:r>
                    </a:p>
                  </a:txBody>
                  <a:tcPr marL="54864" marR="54864" marT="27432" marB="27432">
                    <a:solidFill>
                      <a:srgbClr val="FFFFFF"/>
                    </a:solidFill>
                  </a:tcPr>
                </a:tc>
                <a:tc>
                  <a:txBody>
                    <a:bodyPr wrap="square"/>
                    <a:lstStyle/>
                    <a:p>
                      <a:pPr algn="r"/>
                      <a:r>
                        <a:rPr sz="1100" b="0">
                          <a:solidFill>
                            <a:srgbClr val="14324A"/>
                          </a:solidFill>
                          <a:latin typeface="Courier New"/>
                        </a:rPr>
                        <a:t>17.69</a:t>
                      </a:r>
                    </a:p>
                  </a:txBody>
                  <a:tcPr marL="54864" marR="54864" marT="27432" marB="27432">
                    <a:solidFill>
                      <a:srgbClr val="FFFFFF"/>
                    </a:solidFill>
                  </a:tcPr>
                </a:tc>
                <a:tc>
                  <a:txBody>
                    <a:bodyPr wrap="square"/>
                    <a:lstStyle/>
                    <a:p>
                      <a:pPr algn="r"/>
                      <a:r>
                        <a:rPr sz="1100" b="0">
                          <a:solidFill>
                            <a:srgbClr val="14324A"/>
                          </a:solidFill>
                          <a:latin typeface="Courier New"/>
                        </a:rPr>
                        <a:t>16521768</a:t>
                      </a:r>
                    </a:p>
                  </a:txBody>
                  <a:tcPr marL="54864" marR="54864" marT="27432" marB="27432">
                    <a:solidFill>
                      <a:srgbClr val="FFFFFF"/>
                    </a:solidFill>
                  </a:tcPr>
                </a:tc>
              </a:tr>
              <a:tr h="301752">
                <a:tc>
                  <a:txBody>
                    <a:bodyPr wrap="square"/>
                    <a:lstStyle/>
                    <a:p>
                      <a:pPr algn="l"/>
                      <a:r>
                        <a:rPr sz="1100" b="0">
                          <a:solidFill>
                            <a:srgbClr val="14324A"/>
                          </a:solidFill>
                          <a:latin typeface="Calibri"/>
                        </a:rPr>
                        <a:t>Sulwe FM</a:t>
                      </a:r>
                    </a:p>
                  </a:txBody>
                  <a:tcPr marL="54864" marR="54864" marT="27432" marB="27432">
                    <a:solidFill>
                      <a:srgbClr val="FFFFFF"/>
                    </a:solidFill>
                  </a:tcPr>
                </a:tc>
                <a:tc>
                  <a:txBody>
                    <a:bodyPr wrap="square"/>
                    <a:lstStyle/>
                    <a:p>
                      <a:pPr algn="l"/>
                      <a:r>
                        <a:rPr sz="1100" b="0">
                          <a:solidFill>
                            <a:srgbClr val="14324A"/>
                          </a:solidFill>
                          <a:latin typeface="Calibri"/>
                        </a:rPr>
                        <a:t>Bukusu</a:t>
                      </a:r>
                    </a:p>
                  </a:txBody>
                  <a:tcPr marL="54864" marR="54864" marT="27432" marB="27432">
                    <a:solidFill>
                      <a:srgbClr val="FFFFFF"/>
                    </a:solidFill>
                  </a:tcPr>
                </a:tc>
                <a:tc>
                  <a:txBody>
                    <a:bodyPr wrap="square"/>
                    <a:lstStyle/>
                    <a:p>
                      <a:pPr algn="r"/>
                      <a:r>
                        <a:rPr sz="1100" b="0">
                          <a:solidFill>
                            <a:srgbClr val="14324A"/>
                          </a:solidFill>
                          <a:latin typeface="Courier New"/>
                        </a:rPr>
                        <a:t>16749</a:t>
                      </a:r>
                    </a:p>
                  </a:txBody>
                  <a:tcPr marL="54864" marR="54864" marT="27432" marB="27432">
                    <a:solidFill>
                      <a:srgbClr val="FFFFFF"/>
                    </a:solidFill>
                  </a:tcPr>
                </a:tc>
                <a:tc>
                  <a:txBody>
                    <a:bodyPr wrap="square"/>
                    <a:lstStyle/>
                    <a:p>
                      <a:pPr algn="r"/>
                      <a:r>
                        <a:rPr sz="1100" b="0">
                          <a:solidFill>
                            <a:srgbClr val="14324A"/>
                          </a:solidFill>
                          <a:latin typeface="Courier New"/>
                        </a:rPr>
                        <a:t>225</a:t>
                      </a:r>
                    </a:p>
                  </a:txBody>
                  <a:tcPr marL="54864" marR="54864" marT="27432" marB="27432">
                    <a:solidFill>
                      <a:srgbClr val="FFFFFF"/>
                    </a:solidFill>
                  </a:tcPr>
                </a:tc>
                <a:tc>
                  <a:txBody>
                    <a:bodyPr wrap="square"/>
                    <a:lstStyle/>
                    <a:p>
                      <a:pPr algn="r"/>
                      <a:r>
                        <a:rPr sz="1100" b="0">
                          <a:solidFill>
                            <a:srgbClr val="14324A"/>
                          </a:solidFill>
                          <a:latin typeface="Courier New"/>
                        </a:rPr>
                        <a:t>76.6</a:t>
                      </a:r>
                    </a:p>
                  </a:txBody>
                  <a:tcPr marL="54864" marR="54864" marT="27432" marB="27432">
                    <a:solidFill>
                      <a:srgbClr val="FFFFFF"/>
                    </a:solidFill>
                  </a:tcPr>
                </a:tc>
                <a:tc>
                  <a:txBody>
                    <a:bodyPr wrap="square"/>
                    <a:lstStyle/>
                    <a:p>
                      <a:pPr algn="r"/>
                      <a:r>
                        <a:rPr sz="1100" b="0">
                          <a:solidFill>
                            <a:srgbClr val="14324A"/>
                          </a:solidFill>
                          <a:latin typeface="Courier New"/>
                        </a:rPr>
                        <a:t>11.95</a:t>
                      </a:r>
                    </a:p>
                  </a:txBody>
                  <a:tcPr marL="54864" marR="54864" marT="27432" marB="27432">
                    <a:solidFill>
                      <a:srgbClr val="FFFFFF"/>
                    </a:solidFill>
                  </a:tcPr>
                </a:tc>
                <a:tc>
                  <a:txBody>
                    <a:bodyPr wrap="square"/>
                    <a:lstStyle/>
                    <a:p>
                      <a:pPr algn="r"/>
                      <a:r>
                        <a:rPr sz="1100" b="0">
                          <a:solidFill>
                            <a:srgbClr val="14324A"/>
                          </a:solidFill>
                          <a:latin typeface="Courier New"/>
                        </a:rPr>
                        <a:t>14484808</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A scripted day is a calendar date with at least one script for the station; bulletin hours are the distinct hour slots scripted that day.</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R08: Aggregate-only database reading etx-81e10befe6e0: news_vault.stories (script, title, date, hour_id) → news_vault.hours (station_id, time, type_id) → news_vault.stations (name); news_vault.news (2022 bulletins); local.uploaded_files (language_id, audio_length, status) ← local.transcripts (file_id, start_time, end_time, transcript) ; local.folder_languages (Language, code, station)</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Hourly news scripts by station (news_vault.stories)</a:t>
            </a:r>
          </a:p>
        </p:txBody>
      </p:sp>
      <p:graphicFrame>
        <p:nvGraphicFramePr>
          <p:cNvPr id="4" name="Table 3"/>
          <p:cNvGraphicFramePr>
            <a:graphicFrameLocks noGrp="1"/>
          </p:cNvGraphicFramePr>
          <p:nvPr/>
        </p:nvGraphicFramePr>
        <p:xfrm>
          <a:off x="594360" y="1920240"/>
          <a:ext cx="11002971" cy="2304288"/>
        </p:xfrm>
        <a:graphic>
          <a:graphicData uri="http://schemas.openxmlformats.org/drawingml/2006/table">
            <a:tbl>
              <a:tblPr firstRow="1" bandRow="1">
                <a:tableStyleId>{5C22544A-7EE6-4342-B048-85BDC9FD1C3A}</a:tableStyleId>
              </a:tblPr>
              <a:tblGrid>
                <a:gridCol w="1269574"/>
                <a:gridCol w="1523488"/>
                <a:gridCol w="1184935"/>
                <a:gridCol w="1184935"/>
                <a:gridCol w="2031318"/>
                <a:gridCol w="2623786"/>
                <a:gridCol w="1184935"/>
              </a:tblGrid>
              <a:tr h="384048">
                <a:tc>
                  <a:txBody>
                    <a:bodyPr wrap="square"/>
                    <a:lstStyle/>
                    <a:p>
                      <a:pPr algn="l"/>
                      <a:r>
                        <a:rPr sz="1200" b="1">
                          <a:solidFill>
                            <a:srgbClr val="14324A"/>
                          </a:solidFill>
                          <a:latin typeface="Calibri"/>
                        </a:rPr>
                        <a:t>Station</a:t>
                      </a:r>
                    </a:p>
                  </a:txBody>
                  <a:tcPr marL="54864" marR="54864" marT="27432" marB="27432">
                    <a:solidFill>
                      <a:srgbClr val="E8EEF3"/>
                    </a:solidFill>
                  </a:tcPr>
                </a:tc>
                <a:tc>
                  <a:txBody>
                    <a:bodyPr wrap="square"/>
                    <a:lstStyle/>
                    <a:p>
                      <a:pPr algn="l"/>
                      <a:r>
                        <a:rPr sz="1200" b="1">
                          <a:solidFill>
                            <a:srgbClr val="14324A"/>
                          </a:solidFill>
                          <a:latin typeface="Calibri"/>
                        </a:rPr>
                        <a:t>Broadcast language</a:t>
                      </a:r>
                    </a:p>
                  </a:txBody>
                  <a:tcPr marL="54864" marR="54864" marT="27432" marB="27432">
                    <a:solidFill>
                      <a:srgbClr val="E8EEF3"/>
                    </a:solidFill>
                  </a:tcPr>
                </a:tc>
                <a:tc>
                  <a:txBody>
                    <a:bodyPr wrap="square"/>
                    <a:lstStyle/>
                    <a:p>
                      <a:pPr algn="l"/>
                      <a:r>
                        <a:rPr sz="1200" b="1">
                          <a:solidFill>
                            <a:srgbClr val="14324A"/>
                          </a:solidFill>
                          <a:latin typeface="Calibri"/>
                        </a:rPr>
                        <a:t>Live scripts</a:t>
                      </a:r>
                    </a:p>
                  </a:txBody>
                  <a:tcPr marL="54864" marR="54864" marT="27432" marB="27432">
                    <a:solidFill>
                      <a:srgbClr val="E8EEF3"/>
                    </a:solidFill>
                  </a:tcPr>
                </a:tc>
                <a:tc>
                  <a:txBody>
                    <a:bodyPr wrap="square"/>
                    <a:lstStyle/>
                    <a:p>
                      <a:pPr algn="l"/>
                      <a:r>
                        <a:rPr sz="1200" b="1">
                          <a:solidFill>
                            <a:srgbClr val="14324A"/>
                          </a:solidFill>
                          <a:latin typeface="Calibri"/>
                        </a:rPr>
                        <a:t>Scripted days</a:t>
                      </a:r>
                    </a:p>
                  </a:txBody>
                  <a:tcPr marL="54864" marR="54864" marT="27432" marB="27432">
                    <a:solidFill>
                      <a:srgbClr val="E8EEF3"/>
                    </a:solidFill>
                  </a:tcPr>
                </a:tc>
                <a:tc>
                  <a:txBody>
                    <a:bodyPr wrap="square"/>
                    <a:lstStyle/>
                    <a:p>
                      <a:pPr algn="l"/>
                      <a:r>
                        <a:rPr sz="1200" b="1">
                          <a:solidFill>
                            <a:srgbClr val="14324A"/>
                          </a:solidFill>
                          <a:latin typeface="Calibri"/>
                        </a:rPr>
                        <a:t>Scripts per scripted day</a:t>
                      </a:r>
                    </a:p>
                  </a:txBody>
                  <a:tcPr marL="54864" marR="54864" marT="27432" marB="27432">
                    <a:solidFill>
                      <a:srgbClr val="E8EEF3"/>
                    </a:solidFill>
                  </a:tcPr>
                </a:tc>
                <a:tc>
                  <a:txBody>
                    <a:bodyPr wrap="square"/>
                    <a:lstStyle/>
                    <a:p>
                      <a:pPr algn="l"/>
                      <a:r>
                        <a:rPr sz="1200" b="1">
                          <a:solidFill>
                            <a:srgbClr val="14324A"/>
                          </a:solidFill>
                          <a:latin typeface="Calibri"/>
                        </a:rPr>
                        <a:t>Bulletin hours per scripted day</a:t>
                      </a:r>
                    </a:p>
                  </a:txBody>
                  <a:tcPr marL="54864" marR="54864" marT="27432" marB="27432">
                    <a:solidFill>
                      <a:srgbClr val="E8EEF3"/>
                    </a:solidFill>
                  </a:tcPr>
                </a:tc>
                <a:tc>
                  <a:txBody>
                    <a:bodyPr wrap="square"/>
                    <a:lstStyle/>
                    <a:p>
                      <a:pPr algn="l"/>
                      <a:r>
                        <a:rPr sz="1200" b="1">
                          <a:solidFill>
                            <a:srgbClr val="14324A"/>
                          </a:solidFill>
                          <a:latin typeface="Calibri"/>
                        </a:rPr>
                        <a:t>Characters</a:t>
                      </a:r>
                    </a:p>
                  </a:txBody>
                  <a:tcPr marL="54864" marR="54864" marT="27432" marB="27432">
                    <a:solidFill>
                      <a:srgbClr val="E8EEF3"/>
                    </a:solidFill>
                  </a:tcPr>
                </a:tc>
              </a:tr>
              <a:tr h="384048">
                <a:tc>
                  <a:txBody>
                    <a:bodyPr wrap="square"/>
                    <a:lstStyle/>
                    <a:p>
                      <a:pPr algn="l"/>
                      <a:r>
                        <a:rPr sz="1200" b="0">
                          <a:solidFill>
                            <a:srgbClr val="14324A"/>
                          </a:solidFill>
                          <a:latin typeface="Calibri"/>
                        </a:rPr>
                        <a:t>Bahari FM</a:t>
                      </a:r>
                    </a:p>
                  </a:txBody>
                  <a:tcPr marL="54864" marR="54864" marT="27432" marB="27432">
                    <a:solidFill>
                      <a:srgbClr val="FFFFFF"/>
                    </a:solidFill>
                  </a:tcPr>
                </a:tc>
                <a:tc>
                  <a:txBody>
                    <a:bodyPr wrap="square"/>
                    <a:lstStyle/>
                    <a:p>
                      <a:pPr algn="l"/>
                      <a:r>
                        <a:rPr sz="1200" b="0">
                          <a:solidFill>
                            <a:srgbClr val="14324A"/>
                          </a:solidFill>
                          <a:latin typeface="Calibri"/>
                        </a:rPr>
                        <a:t>Kiswahili</a:t>
                      </a:r>
                    </a:p>
                  </a:txBody>
                  <a:tcPr marL="54864" marR="54864" marT="27432" marB="27432">
                    <a:solidFill>
                      <a:srgbClr val="FFFFFF"/>
                    </a:solidFill>
                  </a:tcPr>
                </a:tc>
                <a:tc>
                  <a:txBody>
                    <a:bodyPr wrap="square"/>
                    <a:lstStyle/>
                    <a:p>
                      <a:pPr algn="r"/>
                      <a:r>
                        <a:rPr sz="1200" b="0">
                          <a:solidFill>
                            <a:srgbClr val="14324A"/>
                          </a:solidFill>
                          <a:latin typeface="Courier New"/>
                        </a:rPr>
                        <a:t>16177</a:t>
                      </a:r>
                    </a:p>
                  </a:txBody>
                  <a:tcPr marL="54864" marR="54864" marT="27432" marB="27432">
                    <a:solidFill>
                      <a:srgbClr val="FFFFFF"/>
                    </a:solidFill>
                  </a:tcPr>
                </a:tc>
                <a:tc>
                  <a:txBody>
                    <a:bodyPr wrap="square"/>
                    <a:lstStyle/>
                    <a:p>
                      <a:pPr algn="r"/>
                      <a:r>
                        <a:rPr sz="1200" b="0">
                          <a:solidFill>
                            <a:srgbClr val="14324A"/>
                          </a:solidFill>
                          <a:latin typeface="Courier New"/>
                        </a:rPr>
                        <a:t>222</a:t>
                      </a:r>
                    </a:p>
                  </a:txBody>
                  <a:tcPr marL="54864" marR="54864" marT="27432" marB="27432">
                    <a:solidFill>
                      <a:srgbClr val="FFFFFF"/>
                    </a:solidFill>
                  </a:tcPr>
                </a:tc>
                <a:tc>
                  <a:txBody>
                    <a:bodyPr wrap="square"/>
                    <a:lstStyle/>
                    <a:p>
                      <a:pPr algn="r"/>
                      <a:r>
                        <a:rPr sz="1200" b="0">
                          <a:solidFill>
                            <a:srgbClr val="14324A"/>
                          </a:solidFill>
                          <a:latin typeface="Courier New"/>
                        </a:rPr>
                        <a:t>77.55</a:t>
                      </a:r>
                    </a:p>
                  </a:txBody>
                  <a:tcPr marL="54864" marR="54864" marT="27432" marB="27432">
                    <a:solidFill>
                      <a:srgbClr val="FFFFFF"/>
                    </a:solidFill>
                  </a:tcPr>
                </a:tc>
                <a:tc>
                  <a:txBody>
                    <a:bodyPr wrap="square"/>
                    <a:lstStyle/>
                    <a:p>
                      <a:pPr algn="r"/>
                      <a:r>
                        <a:rPr sz="1200" b="0">
                          <a:solidFill>
                            <a:srgbClr val="14324A"/>
                          </a:solidFill>
                          <a:latin typeface="Courier New"/>
                        </a:rPr>
                        <a:t>16.8</a:t>
                      </a:r>
                    </a:p>
                  </a:txBody>
                  <a:tcPr marL="54864" marR="54864" marT="27432" marB="27432">
                    <a:solidFill>
                      <a:srgbClr val="FFFFFF"/>
                    </a:solidFill>
                  </a:tcPr>
                </a:tc>
                <a:tc>
                  <a:txBody>
                    <a:bodyPr wrap="square"/>
                    <a:lstStyle/>
                    <a:p>
                      <a:pPr algn="r"/>
                      <a:r>
                        <a:rPr sz="1200" b="0">
                          <a:solidFill>
                            <a:srgbClr val="14324A"/>
                          </a:solidFill>
                          <a:latin typeface="Courier New"/>
                        </a:rPr>
                        <a:t>12789664</a:t>
                      </a:r>
                    </a:p>
                  </a:txBody>
                  <a:tcPr marL="54864" marR="54864" marT="27432" marB="27432">
                    <a:solidFill>
                      <a:srgbClr val="FFFFFF"/>
                    </a:solidFill>
                  </a:tcPr>
                </a:tc>
              </a:tr>
              <a:tr h="384048">
                <a:tc>
                  <a:txBody>
                    <a:bodyPr wrap="square"/>
                    <a:lstStyle/>
                    <a:p>
                      <a:pPr algn="l"/>
                      <a:r>
                        <a:rPr sz="1200" b="0">
                          <a:solidFill>
                            <a:srgbClr val="14324A"/>
                          </a:solidFill>
                          <a:latin typeface="Calibri"/>
                        </a:rPr>
                        <a:t>Inooro FM</a:t>
                      </a:r>
                    </a:p>
                  </a:txBody>
                  <a:tcPr marL="54864" marR="54864" marT="27432" marB="27432">
                    <a:solidFill>
                      <a:srgbClr val="FFFFFF"/>
                    </a:solidFill>
                  </a:tcPr>
                </a:tc>
                <a:tc>
                  <a:txBody>
                    <a:bodyPr wrap="square"/>
                    <a:lstStyle/>
                    <a:p>
                      <a:pPr algn="l"/>
                      <a:r>
                        <a:rPr sz="1200" b="0">
                          <a:solidFill>
                            <a:srgbClr val="14324A"/>
                          </a:solidFill>
                          <a:latin typeface="Calibri"/>
                        </a:rPr>
                        <a:t>Kikuyu</a:t>
                      </a:r>
                    </a:p>
                  </a:txBody>
                  <a:tcPr marL="54864" marR="54864" marT="27432" marB="27432">
                    <a:solidFill>
                      <a:srgbClr val="FFFFFF"/>
                    </a:solidFill>
                  </a:tcPr>
                </a:tc>
                <a:tc>
                  <a:txBody>
                    <a:bodyPr wrap="square"/>
                    <a:lstStyle/>
                    <a:p>
                      <a:pPr algn="r"/>
                      <a:r>
                        <a:rPr sz="1200" b="0">
                          <a:solidFill>
                            <a:srgbClr val="14324A"/>
                          </a:solidFill>
                          <a:latin typeface="Courier New"/>
                        </a:rPr>
                        <a:t>15376</a:t>
                      </a:r>
                    </a:p>
                  </a:txBody>
                  <a:tcPr marL="54864" marR="54864" marT="27432" marB="27432">
                    <a:solidFill>
                      <a:srgbClr val="FFFFFF"/>
                    </a:solidFill>
                  </a:tcPr>
                </a:tc>
                <a:tc>
                  <a:txBody>
                    <a:bodyPr wrap="square"/>
                    <a:lstStyle/>
                    <a:p>
                      <a:pPr algn="r"/>
                      <a:r>
                        <a:rPr sz="1200" b="0">
                          <a:solidFill>
                            <a:srgbClr val="14324A"/>
                          </a:solidFill>
                          <a:latin typeface="Courier New"/>
                        </a:rPr>
                        <a:t>209</a:t>
                      </a:r>
                    </a:p>
                  </a:txBody>
                  <a:tcPr marL="54864" marR="54864" marT="27432" marB="27432">
                    <a:solidFill>
                      <a:srgbClr val="FFFFFF"/>
                    </a:solidFill>
                  </a:tcPr>
                </a:tc>
                <a:tc>
                  <a:txBody>
                    <a:bodyPr wrap="square"/>
                    <a:lstStyle/>
                    <a:p>
                      <a:pPr algn="r"/>
                      <a:r>
                        <a:rPr sz="1200" b="0">
                          <a:solidFill>
                            <a:srgbClr val="14324A"/>
                          </a:solidFill>
                          <a:latin typeface="Courier New"/>
                        </a:rPr>
                        <a:t>75.0</a:t>
                      </a:r>
                    </a:p>
                  </a:txBody>
                  <a:tcPr marL="54864" marR="54864" marT="27432" marB="27432">
                    <a:solidFill>
                      <a:srgbClr val="FFFFFF"/>
                    </a:solidFill>
                  </a:tcPr>
                </a:tc>
                <a:tc>
                  <a:txBody>
                    <a:bodyPr wrap="square"/>
                    <a:lstStyle/>
                    <a:p>
                      <a:pPr algn="r"/>
                      <a:r>
                        <a:rPr sz="1200" b="0">
                          <a:solidFill>
                            <a:srgbClr val="14324A"/>
                          </a:solidFill>
                          <a:latin typeface="Courier New"/>
                        </a:rPr>
                        <a:t>15.03</a:t>
                      </a:r>
                    </a:p>
                  </a:txBody>
                  <a:tcPr marL="54864" marR="54864" marT="27432" marB="27432">
                    <a:solidFill>
                      <a:srgbClr val="FFFFFF"/>
                    </a:solidFill>
                  </a:tcPr>
                </a:tc>
                <a:tc>
                  <a:txBody>
                    <a:bodyPr wrap="square"/>
                    <a:lstStyle/>
                    <a:p>
                      <a:pPr algn="r"/>
                      <a:r>
                        <a:rPr sz="1200" b="0">
                          <a:solidFill>
                            <a:srgbClr val="14324A"/>
                          </a:solidFill>
                          <a:latin typeface="Courier New"/>
                        </a:rPr>
                        <a:t>11946715</a:t>
                      </a:r>
                    </a:p>
                  </a:txBody>
                  <a:tcPr marL="54864" marR="54864" marT="27432" marB="27432">
                    <a:solidFill>
                      <a:srgbClr val="FFFFFF"/>
                    </a:solidFill>
                  </a:tcPr>
                </a:tc>
              </a:tr>
              <a:tr h="384048">
                <a:tc>
                  <a:txBody>
                    <a:bodyPr wrap="square"/>
                    <a:lstStyle/>
                    <a:p>
                      <a:pPr algn="l"/>
                      <a:r>
                        <a:rPr sz="1200" b="0">
                          <a:solidFill>
                            <a:srgbClr val="14324A"/>
                          </a:solidFill>
                          <a:latin typeface="Calibri"/>
                        </a:rPr>
                        <a:t>Vuuka</a:t>
                      </a:r>
                    </a:p>
                  </a:txBody>
                  <a:tcPr marL="54864" marR="54864" marT="27432" marB="27432">
                    <a:solidFill>
                      <a:srgbClr val="FFFFFF"/>
                    </a:solidFill>
                  </a:tcPr>
                </a:tc>
                <a:tc>
                  <a:txBody>
                    <a:bodyPr wrap="square"/>
                    <a:lstStyle/>
                    <a:p>
                      <a:pPr algn="l"/>
                      <a:r>
                        <a:rPr sz="1200" b="0">
                          <a:solidFill>
                            <a:srgbClr val="14324A"/>
                          </a:solidFill>
                          <a:latin typeface="Calibri"/>
                        </a:rPr>
                        <a:t>Maragoli</a:t>
                      </a:r>
                    </a:p>
                  </a:txBody>
                  <a:tcPr marL="54864" marR="54864" marT="27432" marB="27432">
                    <a:solidFill>
                      <a:srgbClr val="FFFFFF"/>
                    </a:solidFill>
                  </a:tcPr>
                </a:tc>
                <a:tc>
                  <a:txBody>
                    <a:bodyPr wrap="square"/>
                    <a:lstStyle/>
                    <a:p>
                      <a:pPr algn="r"/>
                      <a:r>
                        <a:rPr sz="1200" b="0">
                          <a:solidFill>
                            <a:srgbClr val="14324A"/>
                          </a:solidFill>
                          <a:latin typeface="Courier New"/>
                        </a:rPr>
                        <a:t>15336</a:t>
                      </a:r>
                    </a:p>
                  </a:txBody>
                  <a:tcPr marL="54864" marR="54864" marT="27432" marB="27432">
                    <a:solidFill>
                      <a:srgbClr val="FFFFFF"/>
                    </a:solidFill>
                  </a:tcPr>
                </a:tc>
                <a:tc>
                  <a:txBody>
                    <a:bodyPr wrap="square"/>
                    <a:lstStyle/>
                    <a:p>
                      <a:pPr algn="r"/>
                      <a:r>
                        <a:rPr sz="1200" b="0">
                          <a:solidFill>
                            <a:srgbClr val="14324A"/>
                          </a:solidFill>
                          <a:latin typeface="Courier New"/>
                        </a:rPr>
                        <a:t>222</a:t>
                      </a:r>
                    </a:p>
                  </a:txBody>
                  <a:tcPr marL="54864" marR="54864" marT="27432" marB="27432">
                    <a:solidFill>
                      <a:srgbClr val="FFFFFF"/>
                    </a:solidFill>
                  </a:tcPr>
                </a:tc>
                <a:tc>
                  <a:txBody>
                    <a:bodyPr wrap="square"/>
                    <a:lstStyle/>
                    <a:p>
                      <a:pPr algn="r"/>
                      <a:r>
                        <a:rPr sz="1200" b="0">
                          <a:solidFill>
                            <a:srgbClr val="14324A"/>
                          </a:solidFill>
                          <a:latin typeface="Courier New"/>
                        </a:rPr>
                        <a:t>70.78</a:t>
                      </a:r>
                    </a:p>
                  </a:txBody>
                  <a:tcPr marL="54864" marR="54864" marT="27432" marB="27432">
                    <a:solidFill>
                      <a:srgbClr val="FFFFFF"/>
                    </a:solidFill>
                  </a:tcPr>
                </a:tc>
                <a:tc>
                  <a:txBody>
                    <a:bodyPr wrap="square"/>
                    <a:lstStyle/>
                    <a:p>
                      <a:pPr algn="r"/>
                      <a:r>
                        <a:rPr sz="1200" b="0">
                          <a:solidFill>
                            <a:srgbClr val="14324A"/>
                          </a:solidFill>
                          <a:latin typeface="Courier New"/>
                        </a:rPr>
                        <a:t>14.51</a:t>
                      </a:r>
                    </a:p>
                  </a:txBody>
                  <a:tcPr marL="54864" marR="54864" marT="27432" marB="27432">
                    <a:solidFill>
                      <a:srgbClr val="FFFFFF"/>
                    </a:solidFill>
                  </a:tcPr>
                </a:tc>
                <a:tc>
                  <a:txBody>
                    <a:bodyPr wrap="square"/>
                    <a:lstStyle/>
                    <a:p>
                      <a:pPr algn="r"/>
                      <a:r>
                        <a:rPr sz="1200" b="0">
                          <a:solidFill>
                            <a:srgbClr val="14324A"/>
                          </a:solidFill>
                          <a:latin typeface="Courier New"/>
                        </a:rPr>
                        <a:t>12773790</a:t>
                      </a:r>
                    </a:p>
                  </a:txBody>
                  <a:tcPr marL="54864" marR="54864" marT="27432" marB="27432">
                    <a:solidFill>
                      <a:srgbClr val="FFFFFF"/>
                    </a:solidFill>
                  </a:tcPr>
                </a:tc>
              </a:tr>
              <a:tr h="384048">
                <a:tc>
                  <a:txBody>
                    <a:bodyPr wrap="square"/>
                    <a:lstStyle/>
                    <a:p>
                      <a:pPr algn="l"/>
                      <a:r>
                        <a:rPr sz="1200" b="0">
                          <a:solidFill>
                            <a:srgbClr val="14324A"/>
                          </a:solidFill>
                          <a:latin typeface="Calibri"/>
                        </a:rPr>
                        <a:t>Ramogi FM</a:t>
                      </a:r>
                    </a:p>
                  </a:txBody>
                  <a:tcPr marL="54864" marR="54864" marT="27432" marB="27432">
                    <a:solidFill>
                      <a:srgbClr val="FFFFFF"/>
                    </a:solidFill>
                  </a:tcPr>
                </a:tc>
                <a:tc>
                  <a:txBody>
                    <a:bodyPr wrap="square"/>
                    <a:lstStyle/>
                    <a:p>
                      <a:pPr algn="l"/>
                      <a:r>
                        <a:rPr sz="1200" b="0">
                          <a:solidFill>
                            <a:srgbClr val="14324A"/>
                          </a:solidFill>
                          <a:latin typeface="Calibri"/>
                        </a:rPr>
                        <a:t>Luo</a:t>
                      </a:r>
                    </a:p>
                  </a:txBody>
                  <a:tcPr marL="54864" marR="54864" marT="27432" marB="27432">
                    <a:solidFill>
                      <a:srgbClr val="FFFFFF"/>
                    </a:solidFill>
                  </a:tcPr>
                </a:tc>
                <a:tc>
                  <a:txBody>
                    <a:bodyPr wrap="square"/>
                    <a:lstStyle/>
                    <a:p>
                      <a:pPr algn="r"/>
                      <a:r>
                        <a:rPr sz="1200" b="0">
                          <a:solidFill>
                            <a:srgbClr val="14324A"/>
                          </a:solidFill>
                          <a:latin typeface="Courier New"/>
                        </a:rPr>
                        <a:t>8013</a:t>
                      </a:r>
                    </a:p>
                  </a:txBody>
                  <a:tcPr marL="54864" marR="54864" marT="27432" marB="27432">
                    <a:solidFill>
                      <a:srgbClr val="FFFFFF"/>
                    </a:solidFill>
                  </a:tcPr>
                </a:tc>
                <a:tc>
                  <a:txBody>
                    <a:bodyPr wrap="square"/>
                    <a:lstStyle/>
                    <a:p>
                      <a:pPr algn="r"/>
                      <a:r>
                        <a:rPr sz="1200" b="0">
                          <a:solidFill>
                            <a:srgbClr val="14324A"/>
                          </a:solidFill>
                          <a:latin typeface="Courier New"/>
                        </a:rPr>
                        <a:t>222</a:t>
                      </a:r>
                    </a:p>
                  </a:txBody>
                  <a:tcPr marL="54864" marR="54864" marT="27432" marB="27432">
                    <a:solidFill>
                      <a:srgbClr val="FFFFFF"/>
                    </a:solidFill>
                  </a:tcPr>
                </a:tc>
                <a:tc>
                  <a:txBody>
                    <a:bodyPr wrap="square"/>
                    <a:lstStyle/>
                    <a:p>
                      <a:pPr algn="r"/>
                      <a:r>
                        <a:rPr sz="1200" b="0">
                          <a:solidFill>
                            <a:srgbClr val="14324A"/>
                          </a:solidFill>
                          <a:latin typeface="Courier New"/>
                        </a:rPr>
                        <a:t>39.8</a:t>
                      </a:r>
                    </a:p>
                  </a:txBody>
                  <a:tcPr marL="54864" marR="54864" marT="27432" marB="27432">
                    <a:solidFill>
                      <a:srgbClr val="FFFFFF"/>
                    </a:solidFill>
                  </a:tcPr>
                </a:tc>
                <a:tc>
                  <a:txBody>
                    <a:bodyPr wrap="square"/>
                    <a:lstStyle/>
                    <a:p>
                      <a:pPr algn="r"/>
                      <a:r>
                        <a:rPr sz="1200" b="0">
                          <a:solidFill>
                            <a:srgbClr val="14324A"/>
                          </a:solidFill>
                          <a:latin typeface="Courier New"/>
                        </a:rPr>
                        <a:t>6.98</a:t>
                      </a:r>
                    </a:p>
                  </a:txBody>
                  <a:tcPr marL="54864" marR="54864" marT="27432" marB="27432">
                    <a:solidFill>
                      <a:srgbClr val="FFFFFF"/>
                    </a:solidFill>
                  </a:tcPr>
                </a:tc>
                <a:tc>
                  <a:txBody>
                    <a:bodyPr wrap="square"/>
                    <a:lstStyle/>
                    <a:p>
                      <a:pPr algn="r"/>
                      <a:r>
                        <a:rPr sz="1200" b="0">
                          <a:solidFill>
                            <a:srgbClr val="14324A"/>
                          </a:solidFill>
                          <a:latin typeface="Courier New"/>
                        </a:rPr>
                        <a:t>8574493</a:t>
                      </a:r>
                    </a:p>
                  </a:txBody>
                  <a:tcPr marL="54864" marR="54864" marT="27432" marB="27432">
                    <a:solidFill>
                      <a:srgbClr val="FFFFFF"/>
                    </a:solidFill>
                  </a:tcPr>
                </a:tc>
              </a:tr>
              <a:tr h="384048">
                <a:tc>
                  <a:txBody>
                    <a:bodyPr wrap="square"/>
                    <a:lstStyle/>
                    <a:p>
                      <a:pPr algn="l"/>
                      <a:r>
                        <a:rPr sz="1200" b="0">
                          <a:solidFill>
                            <a:srgbClr val="14324A"/>
                          </a:solidFill>
                          <a:latin typeface="Calibri"/>
                        </a:rPr>
                        <a:t>unassigned hour</a:t>
                      </a:r>
                    </a:p>
                  </a:txBody>
                  <a:tcPr marL="54864" marR="54864" marT="27432" marB="27432">
                    <a:solidFill>
                      <a:srgbClr val="FFFFFF"/>
                    </a:solidFill>
                  </a:tcPr>
                </a:tc>
                <a:tc>
                  <a:txBody>
                    <a:bodyPr wrap="square"/>
                    <a:lstStyle/>
                    <a:p>
                      <a:pPr algn="l"/>
                      <a:r>
                        <a:rPr sz="1200" b="0">
                          <a:solidFill>
                            <a:srgbClr val="14324A"/>
                          </a:solidFill>
                          <a:latin typeface="Calibri"/>
                        </a:rPr>
                        <a:t>—</a:t>
                      </a:r>
                    </a:p>
                  </a:txBody>
                  <a:tcPr marL="54864" marR="54864" marT="27432" marB="27432">
                    <a:solidFill>
                      <a:srgbClr val="FFFFFF"/>
                    </a:solidFill>
                  </a:tcPr>
                </a:tc>
                <a:tc>
                  <a:txBody>
                    <a:bodyPr wrap="square"/>
                    <a:lstStyle/>
                    <a:p>
                      <a:pPr algn="r"/>
                      <a:r>
                        <a:rPr sz="1200" b="0">
                          <a:solidFill>
                            <a:srgbClr val="14324A"/>
                          </a:solidFill>
                          <a:latin typeface="Courier New"/>
                        </a:rPr>
                        <a:t>518</a:t>
                      </a:r>
                    </a:p>
                  </a:txBody>
                  <a:tcPr marL="54864" marR="54864" marT="27432" marB="27432">
                    <a:solidFill>
                      <a:srgbClr val="FFFFFF"/>
                    </a:solidFill>
                  </a:tcPr>
                </a:tc>
                <a:tc>
                  <a:txBody>
                    <a:bodyPr wrap="square"/>
                    <a:lstStyle/>
                    <a:p>
                      <a:pPr algn="r"/>
                      <a:r>
                        <a:rPr sz="1200" b="0">
                          <a:solidFill>
                            <a:srgbClr val="14324A"/>
                          </a:solidFill>
                          <a:latin typeface="Courier New"/>
                        </a:rPr>
                        <a:t>31</a:t>
                      </a:r>
                    </a:p>
                  </a:txBody>
                  <a:tcPr marL="54864" marR="54864" marT="27432" marB="27432">
                    <a:solidFill>
                      <a:srgbClr val="FFFFFF"/>
                    </a:solidFill>
                  </a:tcPr>
                </a:tc>
                <a:tc>
                  <a:txBody>
                    <a:bodyPr wrap="square"/>
                    <a:lstStyle/>
                    <a:p>
                      <a:pPr algn="r"/>
                      <a:r>
                        <a:rPr sz="1200" b="0">
                          <a:solidFill>
                            <a:srgbClr val="14324A"/>
                          </a:solidFill>
                          <a:latin typeface="Courier New"/>
                        </a:rPr>
                        <a:t>17.55</a:t>
                      </a:r>
                    </a:p>
                  </a:txBody>
                  <a:tcPr marL="54864" marR="54864" marT="27432" marB="27432">
                    <a:solidFill>
                      <a:srgbClr val="FFFFFF"/>
                    </a:solidFill>
                  </a:tcPr>
                </a:tc>
                <a:tc>
                  <a:txBody>
                    <a:bodyPr wrap="square"/>
                    <a:lstStyle/>
                    <a:p>
                      <a:pPr algn="r"/>
                      <a:r>
                        <a:rPr sz="1200" b="0">
                          <a:solidFill>
                            <a:srgbClr val="14324A"/>
                          </a:solidFill>
                          <a:latin typeface="Courier New"/>
                        </a:rPr>
                        <a:t>3.65</a:t>
                      </a:r>
                    </a:p>
                  </a:txBody>
                  <a:tcPr marL="54864" marR="54864" marT="27432" marB="27432">
                    <a:solidFill>
                      <a:srgbClr val="FFFFFF"/>
                    </a:solidFill>
                  </a:tcPr>
                </a:tc>
                <a:tc>
                  <a:txBody>
                    <a:bodyPr wrap="square"/>
                    <a:lstStyle/>
                    <a:p>
                      <a:pPr algn="r"/>
                      <a:r>
                        <a:rPr sz="1200" b="0">
                          <a:solidFill>
                            <a:srgbClr val="14324A"/>
                          </a:solidFill>
                          <a:latin typeface="Courier New"/>
                        </a:rPr>
                        <a:t>481289</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A scripted day is a calendar date with at least one script for the station; bulletin hours are the distinct hour slots scripted that day.</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R08: Aggregate-only database reading etx-81e10befe6e0: news_vault.stories (script, title, date, hour_id) → news_vault.hours (station_id, time, type_id) → news_vault.stations (name); news_vault.news (2022 bulletins); local.uploaded_files (language_id, audio_length, status) ← local.transcripts (file_id, start_time, end_time, transcript) ; local.folder_languages (Language, code, station)</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Transcripts by language folder — read by the served text language model</a:t>
            </a:r>
          </a:p>
        </p:txBody>
      </p:sp>
      <p:graphicFrame>
        <p:nvGraphicFramePr>
          <p:cNvPr id="4" name="Table 3"/>
          <p:cNvGraphicFramePr>
            <a:graphicFrameLocks noGrp="1"/>
          </p:cNvGraphicFramePr>
          <p:nvPr/>
        </p:nvGraphicFramePr>
        <p:xfrm>
          <a:off x="594360" y="1920240"/>
          <a:ext cx="11002971" cy="768096"/>
        </p:xfrm>
        <a:graphic>
          <a:graphicData uri="http://schemas.openxmlformats.org/drawingml/2006/table">
            <a:tbl>
              <a:tblPr firstRow="1" bandRow="1">
                <a:tableStyleId>{5C22544A-7EE6-4342-B048-85BDC9FD1C3A}</a:tableStyleId>
              </a:tblPr>
              <a:tblGrid>
                <a:gridCol w="1645304"/>
                <a:gridCol w="1645304"/>
                <a:gridCol w="1439641"/>
                <a:gridCol w="1439641"/>
                <a:gridCol w="1850967"/>
                <a:gridCol w="2982114"/>
              </a:tblGrid>
              <a:tr h="384048">
                <a:tc>
                  <a:txBody>
                    <a:bodyPr wrap="square"/>
                    <a:lstStyle/>
                    <a:p>
                      <a:pPr algn="l"/>
                      <a:r>
                        <a:rPr sz="1200" b="1">
                          <a:solidFill>
                            <a:srgbClr val="14324A"/>
                          </a:solidFill>
                          <a:latin typeface="Calibri"/>
                        </a:rPr>
                        <a:t>Language</a:t>
                      </a:r>
                    </a:p>
                  </a:txBody>
                  <a:tcPr marL="54864" marR="54864" marT="27432" marB="27432">
                    <a:solidFill>
                      <a:srgbClr val="E8EEF3"/>
                    </a:solidFill>
                  </a:tcPr>
                </a:tc>
                <a:tc>
                  <a:txBody>
                    <a:bodyPr wrap="square"/>
                    <a:lstStyle/>
                    <a:p>
                      <a:pPr algn="l"/>
                      <a:r>
                        <a:rPr sz="1200" b="1">
                          <a:solidFill>
                            <a:srgbClr val="14324A"/>
                          </a:solidFill>
                          <a:latin typeface="Calibri"/>
                        </a:rPr>
                        <a:t>Transcripts read</a:t>
                      </a:r>
                    </a:p>
                  </a:txBody>
                  <a:tcPr marL="54864" marR="54864" marT="27432" marB="27432">
                    <a:solidFill>
                      <a:srgbClr val="E8EEF3"/>
                    </a:solidFill>
                  </a:tcPr>
                </a:tc>
                <a:tc>
                  <a:txBody>
                    <a:bodyPr wrap="square"/>
                    <a:lstStyle/>
                    <a:p>
                      <a:pPr algn="l"/>
                      <a:r>
                        <a:rPr sz="1200" b="1">
                          <a:solidFill>
                            <a:srgbClr val="14324A"/>
                          </a:solidFill>
                          <a:latin typeface="Calibri"/>
                        </a:rPr>
                        <a:t>Characters</a:t>
                      </a:r>
                    </a:p>
                  </a:txBody>
                  <a:tcPr marL="54864" marR="54864" marT="27432" marB="27432">
                    <a:solidFill>
                      <a:srgbClr val="E8EEF3"/>
                    </a:solidFill>
                  </a:tcPr>
                </a:tc>
                <a:tc>
                  <a:txBody>
                    <a:bodyPr wrap="square"/>
                    <a:lstStyle/>
                    <a:p>
                      <a:pPr algn="l"/>
                      <a:r>
                        <a:rPr sz="1200" b="1">
                          <a:solidFill>
                            <a:srgbClr val="14324A"/>
                          </a:solidFill>
                          <a:latin typeface="Calibri"/>
                        </a:rPr>
                        <a:t>Words</a:t>
                      </a:r>
                    </a:p>
                  </a:txBody>
                  <a:tcPr marL="54864" marR="54864" marT="27432" marB="27432">
                    <a:solidFill>
                      <a:srgbClr val="E8EEF3"/>
                    </a:solidFill>
                  </a:tcPr>
                </a:tc>
                <a:tc>
                  <a:txBody>
                    <a:bodyPr wrap="square"/>
                    <a:lstStyle/>
                    <a:p>
                      <a:pPr algn="l"/>
                      <a:r>
                        <a:rPr sz="1200" b="1">
                          <a:solidFill>
                            <a:srgbClr val="14324A"/>
                          </a:solidFill>
                          <a:latin typeface="Calibri"/>
                        </a:rPr>
                        <a:t>Agrees with folder</a:t>
                      </a:r>
                    </a:p>
                  </a:txBody>
                  <a:tcPr marL="54864" marR="54864" marT="27432" marB="27432">
                    <a:solidFill>
                      <a:srgbClr val="E8EEF3"/>
                    </a:solidFill>
                  </a:tcPr>
                </a:tc>
                <a:tc>
                  <a:txBody>
                    <a:bodyPr wrap="square"/>
                    <a:lstStyle/>
                    <a:p>
                      <a:pPr algn="l"/>
                      <a:r>
                        <a:rPr sz="1200" b="1">
                          <a:solidFill>
                            <a:srgbClr val="14324A"/>
                          </a:solidFill>
                          <a:latin typeface="Calibri"/>
                        </a:rPr>
                        <a:t>Files whose top label matches</a:t>
                      </a:r>
                    </a:p>
                  </a:txBody>
                  <a:tcPr marL="54864" marR="54864" marT="27432" marB="27432">
                    <a:solidFill>
                      <a:srgbClr val="E8EEF3"/>
                    </a:solidFill>
                  </a:tcPr>
                </a:tc>
              </a:tr>
              <a:tr h="384048">
                <a:tc>
                  <a:txBody>
                    <a:bodyPr wrap="square"/>
                    <a:lstStyle/>
                    <a:p>
                      <a:pPr algn="l"/>
                      <a:r>
                        <a:rPr sz="1200" b="0">
                          <a:solidFill>
                            <a:srgbClr val="14324A"/>
                          </a:solidFill>
                          <a:latin typeface="Calibri"/>
                        </a:rPr>
                        <a:t>Ekegusii (Kisii)</a:t>
                      </a:r>
                    </a:p>
                  </a:txBody>
                  <a:tcPr marL="54864" marR="54864" marT="27432" marB="27432">
                    <a:solidFill>
                      <a:srgbClr val="FFFFFF"/>
                    </a:solidFill>
                  </a:tcPr>
                </a:tc>
                <a:tc>
                  <a:txBody>
                    <a:bodyPr wrap="square"/>
                    <a:lstStyle/>
                    <a:p>
                      <a:pPr algn="r"/>
                      <a:r>
                        <a:rPr sz="1200" b="0">
                          <a:solidFill>
                            <a:srgbClr val="14324A"/>
                          </a:solidFill>
                          <a:latin typeface="Courier New"/>
                        </a:rPr>
                        <a:t>399</a:t>
                      </a:r>
                    </a:p>
                  </a:txBody>
                  <a:tcPr marL="54864" marR="54864" marT="27432" marB="27432">
                    <a:solidFill>
                      <a:srgbClr val="FFFFFF"/>
                    </a:solidFill>
                  </a:tcPr>
                </a:tc>
                <a:tc>
                  <a:txBody>
                    <a:bodyPr wrap="square"/>
                    <a:lstStyle/>
                    <a:p>
                      <a:pPr algn="r"/>
                      <a:r>
                        <a:rPr sz="1200" b="0">
                          <a:solidFill>
                            <a:srgbClr val="14324A"/>
                          </a:solidFill>
                          <a:latin typeface="Courier New"/>
                        </a:rPr>
                        <a:t>2694168</a:t>
                      </a:r>
                    </a:p>
                  </a:txBody>
                  <a:tcPr marL="54864" marR="54864" marT="27432" marB="27432">
                    <a:solidFill>
                      <a:srgbClr val="FFFFFF"/>
                    </a:solidFill>
                  </a:tcPr>
                </a:tc>
                <a:tc>
                  <a:txBody>
                    <a:bodyPr wrap="square"/>
                    <a:lstStyle/>
                    <a:p>
                      <a:pPr algn="r"/>
                      <a:r>
                        <a:rPr sz="1200" b="0">
                          <a:solidFill>
                            <a:srgbClr val="14324A"/>
                          </a:solidFill>
                          <a:latin typeface="Courier New"/>
                        </a:rPr>
                        <a:t>385453</a:t>
                      </a:r>
                    </a:p>
                  </a:txBody>
                  <a:tcPr marL="54864" marR="54864" marT="27432" marB="27432">
                    <a:solidFill>
                      <a:srgbClr val="FFFFFF"/>
                    </a:solidFill>
                  </a:tcPr>
                </a:tc>
                <a:tc>
                  <a:txBody>
                    <a:bodyPr wrap="square"/>
                    <a:lstStyle/>
                    <a:p>
                      <a:pPr algn="r"/>
                      <a:r>
                        <a:rPr sz="1200" b="0">
                          <a:solidFill>
                            <a:srgbClr val="14324A"/>
                          </a:solidFill>
                          <a:latin typeface="Courier New"/>
                        </a:rPr>
                        <a:t>99.6%</a:t>
                      </a:r>
                    </a:p>
                  </a:txBody>
                  <a:tcPr marL="54864" marR="54864" marT="27432" marB="27432">
                    <a:solidFill>
                      <a:srgbClr val="FFFFFF"/>
                    </a:solidFill>
                  </a:tcPr>
                </a:tc>
                <a:tc>
                  <a:txBody>
                    <a:bodyPr wrap="square"/>
                    <a:lstStyle/>
                    <a:p>
                      <a:pPr algn="r"/>
                      <a:r>
                        <a:rPr sz="1200" b="0">
                          <a:solidFill>
                            <a:srgbClr val="14324A"/>
                          </a:solidFill>
                          <a:latin typeface="Courier New"/>
                        </a:rPr>
                        <a:t>399</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Passages of up to fifteen hundred characters were labelled by the admitted text model; agreement is the share of passages whose label matched the folder language.</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R07: Served text language model m9j-74af7cef0a85 readings of the staged transcripts: jobs m9j-8cf6702f8718 (399 transcripts read, 3939 present)</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Transcription workbench by language (local.uploaded_files, local.transcripts)</a:t>
            </a:r>
          </a:p>
        </p:txBody>
      </p:sp>
      <p:graphicFrame>
        <p:nvGraphicFramePr>
          <p:cNvPr id="4" name="Table 3"/>
          <p:cNvGraphicFramePr>
            <a:graphicFrameLocks noGrp="1"/>
          </p:cNvGraphicFramePr>
          <p:nvPr/>
        </p:nvGraphicFramePr>
        <p:xfrm>
          <a:off x="594360" y="1920240"/>
          <a:ext cx="11002971" cy="3017520"/>
        </p:xfrm>
        <a:graphic>
          <a:graphicData uri="http://schemas.openxmlformats.org/drawingml/2006/table">
            <a:tbl>
              <a:tblPr firstRow="1" bandRow="1">
                <a:tableStyleId>{5C22544A-7EE6-4342-B048-85BDC9FD1C3A}</a:tableStyleId>
              </a:tblPr>
              <a:tblGrid>
                <a:gridCol w="1674365"/>
                <a:gridCol w="1674365"/>
                <a:gridCol w="1674365"/>
                <a:gridCol w="1674365"/>
                <a:gridCol w="2272353"/>
                <a:gridCol w="2033158"/>
              </a:tblGrid>
              <a:tr h="301752">
                <a:tc>
                  <a:txBody>
                    <a:bodyPr wrap="square"/>
                    <a:lstStyle/>
                    <a:p>
                      <a:pPr algn="l"/>
                      <a:r>
                        <a:rPr sz="1100" b="1">
                          <a:solidFill>
                            <a:srgbClr val="14324A"/>
                          </a:solidFill>
                          <a:latin typeface="Calibri"/>
                        </a:rPr>
                        <a:t>Language</a:t>
                      </a:r>
                    </a:p>
                  </a:txBody>
                  <a:tcPr marL="54864" marR="54864" marT="27432" marB="27432">
                    <a:solidFill>
                      <a:srgbClr val="E8EEF3"/>
                    </a:solidFill>
                  </a:tcPr>
                </a:tc>
                <a:tc>
                  <a:txBody>
                    <a:bodyPr wrap="square"/>
                    <a:lstStyle/>
                    <a:p>
                      <a:pPr algn="l"/>
                      <a:r>
                        <a:rPr sz="1100" b="1">
                          <a:solidFill>
                            <a:srgbClr val="14324A"/>
                          </a:solidFill>
                          <a:latin typeface="Calibri"/>
                        </a:rPr>
                        <a:t>Station</a:t>
                      </a:r>
                    </a:p>
                  </a:txBody>
                  <a:tcPr marL="54864" marR="54864" marT="27432" marB="27432">
                    <a:solidFill>
                      <a:srgbClr val="E8EEF3"/>
                    </a:solidFill>
                  </a:tcPr>
                </a:tc>
                <a:tc>
                  <a:txBody>
                    <a:bodyPr wrap="square"/>
                    <a:lstStyle/>
                    <a:p>
                      <a:pPr algn="l"/>
                      <a:r>
                        <a:rPr sz="1100" b="1">
                          <a:solidFill>
                            <a:srgbClr val="14324A"/>
                          </a:solidFill>
                          <a:latin typeface="Calibri"/>
                        </a:rPr>
                        <a:t>Recordings</a:t>
                      </a:r>
                    </a:p>
                  </a:txBody>
                  <a:tcPr marL="54864" marR="54864" marT="27432" marB="27432">
                    <a:solidFill>
                      <a:srgbClr val="E8EEF3"/>
                    </a:solidFill>
                  </a:tcPr>
                </a:tc>
                <a:tc>
                  <a:txBody>
                    <a:bodyPr wrap="square"/>
                    <a:lstStyle/>
                    <a:p>
                      <a:pPr algn="l"/>
                      <a:r>
                        <a:rPr sz="1100" b="1">
                          <a:solidFill>
                            <a:srgbClr val="14324A"/>
                          </a:solidFill>
                          <a:latin typeface="Calibri"/>
                        </a:rPr>
                        <a:t>Audio hours</a:t>
                      </a:r>
                    </a:p>
                  </a:txBody>
                  <a:tcPr marL="54864" marR="54864" marT="27432" marB="27432">
                    <a:solidFill>
                      <a:srgbClr val="E8EEF3"/>
                    </a:solidFill>
                  </a:tcPr>
                </a:tc>
                <a:tc>
                  <a:txBody>
                    <a:bodyPr wrap="square"/>
                    <a:lstStyle/>
                    <a:p>
                      <a:pPr algn="l"/>
                      <a:r>
                        <a:rPr sz="1100" b="1">
                          <a:solidFill>
                            <a:srgbClr val="14324A"/>
                          </a:solidFill>
                          <a:latin typeface="Calibri"/>
                        </a:rPr>
                        <a:t>Transcript segments</a:t>
                      </a:r>
                    </a:p>
                  </a:txBody>
                  <a:tcPr marL="54864" marR="54864" marT="27432" marB="27432">
                    <a:solidFill>
                      <a:srgbClr val="E8EEF3"/>
                    </a:solidFill>
                  </a:tcPr>
                </a:tc>
                <a:tc>
                  <a:txBody>
                    <a:bodyPr wrap="square"/>
                    <a:lstStyle/>
                    <a:p>
                      <a:pPr algn="l"/>
                      <a:r>
                        <a:rPr sz="1100" b="1">
                          <a:solidFill>
                            <a:srgbClr val="14324A"/>
                          </a:solidFill>
                          <a:latin typeface="Calibri"/>
                        </a:rPr>
                        <a:t>Transcribed hours</a:t>
                      </a:r>
                    </a:p>
                  </a:txBody>
                  <a:tcPr marL="54864" marR="54864" marT="27432" marB="27432">
                    <a:solidFill>
                      <a:srgbClr val="E8EEF3"/>
                    </a:solidFill>
                  </a:tcPr>
                </a:tc>
              </a:tr>
              <a:tr h="301752">
                <a:tc>
                  <a:txBody>
                    <a:bodyPr wrap="square"/>
                    <a:lstStyle/>
                    <a:p>
                      <a:pPr algn="l"/>
                      <a:r>
                        <a:rPr sz="1100" b="0">
                          <a:solidFill>
                            <a:srgbClr val="14324A"/>
                          </a:solidFill>
                          <a:latin typeface="Calibri"/>
                        </a:rPr>
                        <a:t>kiswahili</a:t>
                      </a:r>
                    </a:p>
                  </a:txBody>
                  <a:tcPr marL="54864" marR="54864" marT="27432" marB="27432">
                    <a:solidFill>
                      <a:srgbClr val="FFFFFF"/>
                    </a:solidFill>
                  </a:tcPr>
                </a:tc>
                <a:tc>
                  <a:txBody>
                    <a:bodyPr wrap="square"/>
                    <a:lstStyle/>
                    <a:p>
                      <a:pPr algn="l"/>
                      <a:r>
                        <a:rPr sz="1100" b="0">
                          <a:solidFill>
                            <a:srgbClr val="14324A"/>
                          </a:solidFill>
                          <a:latin typeface="Calibri"/>
                        </a:rPr>
                        <a:t>Radio citizen</a:t>
                      </a:r>
                    </a:p>
                  </a:txBody>
                  <a:tcPr marL="54864" marR="54864" marT="27432" marB="27432">
                    <a:solidFill>
                      <a:srgbClr val="FFFFFF"/>
                    </a:solidFill>
                  </a:tcPr>
                </a:tc>
                <a:tc>
                  <a:txBody>
                    <a:bodyPr wrap="square"/>
                    <a:lstStyle/>
                    <a:p>
                      <a:pPr algn="r"/>
                      <a:r>
                        <a:rPr sz="1100" b="0">
                          <a:solidFill>
                            <a:srgbClr val="14324A"/>
                          </a:solidFill>
                          <a:latin typeface="Courier New"/>
                        </a:rPr>
                        <a:t>4006</a:t>
                      </a:r>
                    </a:p>
                  </a:txBody>
                  <a:tcPr marL="54864" marR="54864" marT="27432" marB="27432">
                    <a:solidFill>
                      <a:srgbClr val="FFFFFF"/>
                    </a:solidFill>
                  </a:tcPr>
                </a:tc>
                <a:tc>
                  <a:txBody>
                    <a:bodyPr wrap="square"/>
                    <a:lstStyle/>
                    <a:p>
                      <a:pPr algn="r"/>
                      <a:r>
                        <a:rPr sz="1100" b="0">
                          <a:solidFill>
                            <a:srgbClr val="14324A"/>
                          </a:solidFill>
                          <a:latin typeface="Courier New"/>
                        </a:rPr>
                        <a:t>836.2</a:t>
                      </a:r>
                    </a:p>
                  </a:txBody>
                  <a:tcPr marL="54864" marR="54864" marT="27432" marB="27432">
                    <a:solidFill>
                      <a:srgbClr val="FFFFFF"/>
                    </a:solidFill>
                  </a:tcPr>
                </a:tc>
                <a:tc>
                  <a:txBody>
                    <a:bodyPr wrap="square"/>
                    <a:lstStyle/>
                    <a:p>
                      <a:pPr algn="r"/>
                      <a:r>
                        <a:rPr sz="1100" b="0">
                          <a:solidFill>
                            <a:srgbClr val="14324A"/>
                          </a:solidFill>
                          <a:latin typeface="Courier New"/>
                        </a:rPr>
                        <a:t>54516</a:t>
                      </a:r>
                    </a:p>
                  </a:txBody>
                  <a:tcPr marL="54864" marR="54864" marT="27432" marB="27432">
                    <a:solidFill>
                      <a:srgbClr val="FFFFFF"/>
                    </a:solidFill>
                  </a:tcPr>
                </a:tc>
                <a:tc>
                  <a:txBody>
                    <a:bodyPr wrap="square"/>
                    <a:lstStyle/>
                    <a:p>
                      <a:pPr algn="r"/>
                      <a:r>
                        <a:rPr sz="1100" b="0">
                          <a:solidFill>
                            <a:srgbClr val="14324A"/>
                          </a:solidFill>
                          <a:latin typeface="Courier New"/>
                        </a:rPr>
                        <a:t>101.0</a:t>
                      </a:r>
                    </a:p>
                  </a:txBody>
                  <a:tcPr marL="54864" marR="54864" marT="27432" marB="27432">
                    <a:solidFill>
                      <a:srgbClr val="FFFFFF"/>
                    </a:solidFill>
                  </a:tcPr>
                </a:tc>
              </a:tr>
              <a:tr h="301752">
                <a:tc>
                  <a:txBody>
                    <a:bodyPr wrap="square"/>
                    <a:lstStyle/>
                    <a:p>
                      <a:pPr algn="l"/>
                      <a:r>
                        <a:rPr sz="1100" b="0">
                          <a:solidFill>
                            <a:srgbClr val="14324A"/>
                          </a:solidFill>
                          <a:latin typeface="Calibri"/>
                        </a:rPr>
                        <a:t>Bukusu</a:t>
                      </a:r>
                    </a:p>
                  </a:txBody>
                  <a:tcPr marL="54864" marR="54864" marT="27432" marB="27432">
                    <a:solidFill>
                      <a:srgbClr val="FFFFFF"/>
                    </a:solidFill>
                  </a:tcPr>
                </a:tc>
                <a:tc>
                  <a:txBody>
                    <a:bodyPr wrap="square"/>
                    <a:lstStyle/>
                    <a:p>
                      <a:pPr algn="l"/>
                      <a:r>
                        <a:rPr sz="1100" b="0">
                          <a:solidFill>
                            <a:srgbClr val="14324A"/>
                          </a:solidFill>
                          <a:latin typeface="Calibri"/>
                        </a:rPr>
                        <a:t>sulwe</a:t>
                      </a:r>
                    </a:p>
                  </a:txBody>
                  <a:tcPr marL="54864" marR="54864" marT="27432" marB="27432">
                    <a:solidFill>
                      <a:srgbClr val="FFFFFF"/>
                    </a:solidFill>
                  </a:tcPr>
                </a:tc>
                <a:tc>
                  <a:txBody>
                    <a:bodyPr wrap="square"/>
                    <a:lstStyle/>
                    <a:p>
                      <a:pPr algn="r"/>
                      <a:r>
                        <a:rPr sz="1100" b="0">
                          <a:solidFill>
                            <a:srgbClr val="14324A"/>
                          </a:solidFill>
                          <a:latin typeface="Courier New"/>
                        </a:rPr>
                        <a:t>8223</a:t>
                      </a:r>
                    </a:p>
                  </a:txBody>
                  <a:tcPr marL="54864" marR="54864" marT="27432" marB="27432">
                    <a:solidFill>
                      <a:srgbClr val="FFFFFF"/>
                    </a:solidFill>
                  </a:tcPr>
                </a:tc>
                <a:tc>
                  <a:txBody>
                    <a:bodyPr wrap="square"/>
                    <a:lstStyle/>
                    <a:p>
                      <a:pPr algn="r"/>
                      <a:r>
                        <a:rPr sz="1100" b="0">
                          <a:solidFill>
                            <a:srgbClr val="14324A"/>
                          </a:solidFill>
                          <a:latin typeface="Courier New"/>
                        </a:rPr>
                        <a:t>806.4</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r h="301752">
                <a:tc>
                  <a:txBody>
                    <a:bodyPr wrap="square"/>
                    <a:lstStyle/>
                    <a:p>
                      <a:pPr algn="l"/>
                      <a:r>
                        <a:rPr sz="1100" b="0">
                          <a:solidFill>
                            <a:srgbClr val="14324A"/>
                          </a:solidFill>
                          <a:latin typeface="Calibri"/>
                        </a:rPr>
                        <a:t>Kikuyu</a:t>
                      </a:r>
                    </a:p>
                  </a:txBody>
                  <a:tcPr marL="54864" marR="54864" marT="27432" marB="27432">
                    <a:solidFill>
                      <a:srgbClr val="FFFFFF"/>
                    </a:solidFill>
                  </a:tcPr>
                </a:tc>
                <a:tc>
                  <a:txBody>
                    <a:bodyPr wrap="square"/>
                    <a:lstStyle/>
                    <a:p>
                      <a:pPr algn="l"/>
                      <a:r>
                        <a:rPr sz="1100" b="0">
                          <a:solidFill>
                            <a:srgbClr val="14324A"/>
                          </a:solidFill>
                          <a:latin typeface="Calibri"/>
                        </a:rPr>
                        <a:t>Inooro</a:t>
                      </a:r>
                    </a:p>
                  </a:txBody>
                  <a:tcPr marL="54864" marR="54864" marT="27432" marB="27432">
                    <a:solidFill>
                      <a:srgbClr val="FFFFFF"/>
                    </a:solidFill>
                  </a:tcPr>
                </a:tc>
                <a:tc>
                  <a:txBody>
                    <a:bodyPr wrap="square"/>
                    <a:lstStyle/>
                    <a:p>
                      <a:pPr algn="r"/>
                      <a:r>
                        <a:rPr sz="1100" b="0">
                          <a:solidFill>
                            <a:srgbClr val="14324A"/>
                          </a:solidFill>
                          <a:latin typeface="Courier New"/>
                        </a:rPr>
                        <a:t>3640</a:t>
                      </a:r>
                    </a:p>
                  </a:txBody>
                  <a:tcPr marL="54864" marR="54864" marT="27432" marB="27432">
                    <a:solidFill>
                      <a:srgbClr val="FFFFFF"/>
                    </a:solidFill>
                  </a:tcPr>
                </a:tc>
                <a:tc>
                  <a:txBody>
                    <a:bodyPr wrap="square"/>
                    <a:lstStyle/>
                    <a:p>
                      <a:pPr algn="r"/>
                      <a:r>
                        <a:rPr sz="1100" b="0">
                          <a:solidFill>
                            <a:srgbClr val="14324A"/>
                          </a:solidFill>
                          <a:latin typeface="Courier New"/>
                        </a:rPr>
                        <a:t>670.9</a:t>
                      </a:r>
                    </a:p>
                  </a:txBody>
                  <a:tcPr marL="54864" marR="54864" marT="27432" marB="27432">
                    <a:solidFill>
                      <a:srgbClr val="FFFFFF"/>
                    </a:solidFill>
                  </a:tcPr>
                </a:tc>
                <a:tc>
                  <a:txBody>
                    <a:bodyPr wrap="square"/>
                    <a:lstStyle/>
                    <a:p>
                      <a:pPr algn="r"/>
                      <a:r>
                        <a:rPr sz="1100" b="0">
                          <a:solidFill>
                            <a:srgbClr val="14324A"/>
                          </a:solidFill>
                          <a:latin typeface="Courier New"/>
                        </a:rPr>
                        <a:t>11034</a:t>
                      </a:r>
                    </a:p>
                  </a:txBody>
                  <a:tcPr marL="54864" marR="54864" marT="27432" marB="27432">
                    <a:solidFill>
                      <a:srgbClr val="FFFFFF"/>
                    </a:solidFill>
                  </a:tcPr>
                </a:tc>
                <a:tc>
                  <a:txBody>
                    <a:bodyPr wrap="square"/>
                    <a:lstStyle/>
                    <a:p>
                      <a:pPr algn="r"/>
                      <a:r>
                        <a:rPr sz="1100" b="0">
                          <a:solidFill>
                            <a:srgbClr val="14324A"/>
                          </a:solidFill>
                          <a:latin typeface="Courier New"/>
                        </a:rPr>
                        <a:t>20.3</a:t>
                      </a:r>
                    </a:p>
                  </a:txBody>
                  <a:tcPr marL="54864" marR="54864" marT="27432" marB="27432">
                    <a:solidFill>
                      <a:srgbClr val="FFFFFF"/>
                    </a:solidFill>
                  </a:tcPr>
                </a:tc>
              </a:tr>
              <a:tr h="301752">
                <a:tc>
                  <a:txBody>
                    <a:bodyPr wrap="square"/>
                    <a:lstStyle/>
                    <a:p>
                      <a:pPr algn="l"/>
                      <a:r>
                        <a:rPr sz="1100" b="0">
                          <a:solidFill>
                            <a:srgbClr val="14324A"/>
                          </a:solidFill>
                          <a:latin typeface="Calibri"/>
                        </a:rPr>
                        <a:t>Maragoli</a:t>
                      </a:r>
                    </a:p>
                  </a:txBody>
                  <a:tcPr marL="54864" marR="54864" marT="27432" marB="27432">
                    <a:solidFill>
                      <a:srgbClr val="FFFFFF"/>
                    </a:solidFill>
                  </a:tcPr>
                </a:tc>
                <a:tc>
                  <a:txBody>
                    <a:bodyPr wrap="square"/>
                    <a:lstStyle/>
                    <a:p>
                      <a:pPr algn="l"/>
                      <a:r>
                        <a:rPr sz="1100" b="0">
                          <a:solidFill>
                            <a:srgbClr val="14324A"/>
                          </a:solidFill>
                          <a:latin typeface="Calibri"/>
                        </a:rPr>
                        <a:t>Vuuka</a:t>
                      </a:r>
                    </a:p>
                  </a:txBody>
                  <a:tcPr marL="54864" marR="54864" marT="27432" marB="27432">
                    <a:solidFill>
                      <a:srgbClr val="FFFFFF"/>
                    </a:solidFill>
                  </a:tcPr>
                </a:tc>
                <a:tc>
                  <a:txBody>
                    <a:bodyPr wrap="square"/>
                    <a:lstStyle/>
                    <a:p>
                      <a:pPr algn="r"/>
                      <a:r>
                        <a:rPr sz="1100" b="0">
                          <a:solidFill>
                            <a:srgbClr val="14324A"/>
                          </a:solidFill>
                          <a:latin typeface="Courier New"/>
                        </a:rPr>
                        <a:t>5503</a:t>
                      </a:r>
                    </a:p>
                  </a:txBody>
                  <a:tcPr marL="54864" marR="54864" marT="27432" marB="27432">
                    <a:solidFill>
                      <a:srgbClr val="FFFFFF"/>
                    </a:solidFill>
                  </a:tcPr>
                </a:tc>
                <a:tc>
                  <a:txBody>
                    <a:bodyPr wrap="square"/>
                    <a:lstStyle/>
                    <a:p>
                      <a:pPr algn="r"/>
                      <a:r>
                        <a:rPr sz="1100" b="0">
                          <a:solidFill>
                            <a:srgbClr val="14324A"/>
                          </a:solidFill>
                          <a:latin typeface="Courier New"/>
                        </a:rPr>
                        <a:t>559.7</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r h="301752">
                <a:tc>
                  <a:txBody>
                    <a:bodyPr wrap="square"/>
                    <a:lstStyle/>
                    <a:p>
                      <a:pPr algn="l"/>
                      <a:r>
                        <a:rPr sz="1100" b="0">
                          <a:solidFill>
                            <a:srgbClr val="14324A"/>
                          </a:solidFill>
                          <a:latin typeface="Calibri"/>
                        </a:rPr>
                        <a:t>Embu</a:t>
                      </a:r>
                    </a:p>
                  </a:txBody>
                  <a:tcPr marL="54864" marR="54864" marT="27432" marB="27432">
                    <a:solidFill>
                      <a:srgbClr val="FFFFFF"/>
                    </a:solidFill>
                  </a:tcPr>
                </a:tc>
                <a:tc>
                  <a:txBody>
                    <a:bodyPr wrap="square"/>
                    <a:lstStyle/>
                    <a:p>
                      <a:pPr algn="l"/>
                      <a:r>
                        <a:rPr sz="1100" b="0">
                          <a:solidFill>
                            <a:srgbClr val="14324A"/>
                          </a:solidFill>
                          <a:latin typeface="Calibri"/>
                        </a:rPr>
                        <a:t>wimwaro</a:t>
                      </a:r>
                    </a:p>
                  </a:txBody>
                  <a:tcPr marL="54864" marR="54864" marT="27432" marB="27432">
                    <a:solidFill>
                      <a:srgbClr val="FFFFFF"/>
                    </a:solidFill>
                  </a:tcPr>
                </a:tc>
                <a:tc>
                  <a:txBody>
                    <a:bodyPr wrap="square"/>
                    <a:lstStyle/>
                    <a:p>
                      <a:pPr algn="r"/>
                      <a:r>
                        <a:rPr sz="1100" b="0">
                          <a:solidFill>
                            <a:srgbClr val="14324A"/>
                          </a:solidFill>
                          <a:latin typeface="Courier New"/>
                        </a:rPr>
                        <a:t>2000</a:t>
                      </a:r>
                    </a:p>
                  </a:txBody>
                  <a:tcPr marL="54864" marR="54864" marT="27432" marB="27432">
                    <a:solidFill>
                      <a:srgbClr val="FFFFFF"/>
                    </a:solidFill>
                  </a:tcPr>
                </a:tc>
                <a:tc>
                  <a:txBody>
                    <a:bodyPr wrap="square"/>
                    <a:lstStyle/>
                    <a:p>
                      <a:pPr algn="r"/>
                      <a:r>
                        <a:rPr sz="1100" b="0">
                          <a:solidFill>
                            <a:srgbClr val="14324A"/>
                          </a:solidFill>
                          <a:latin typeface="Courier New"/>
                        </a:rPr>
                        <a:t>504.3</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r h="301752">
                <a:tc>
                  <a:txBody>
                    <a:bodyPr wrap="square"/>
                    <a:lstStyle/>
                    <a:p>
                      <a:pPr algn="l"/>
                      <a:r>
                        <a:rPr sz="1100" b="0">
                          <a:solidFill>
                            <a:srgbClr val="14324A"/>
                          </a:solidFill>
                          <a:latin typeface="Calibri"/>
                        </a:rPr>
                        <a:t>Kalenjin</a:t>
                      </a:r>
                    </a:p>
                  </a:txBody>
                  <a:tcPr marL="54864" marR="54864" marT="27432" marB="27432">
                    <a:solidFill>
                      <a:srgbClr val="FFFFFF"/>
                    </a:solidFill>
                  </a:tcPr>
                </a:tc>
                <a:tc>
                  <a:txBody>
                    <a:bodyPr wrap="square"/>
                    <a:lstStyle/>
                    <a:p>
                      <a:pPr algn="l"/>
                      <a:r>
                        <a:rPr sz="1100" b="0">
                          <a:solidFill>
                            <a:srgbClr val="14324A"/>
                          </a:solidFill>
                          <a:latin typeface="Calibri"/>
                        </a:rPr>
                        <a:t>Chamgei</a:t>
                      </a:r>
                    </a:p>
                  </a:txBody>
                  <a:tcPr marL="54864" marR="54864" marT="27432" marB="27432">
                    <a:solidFill>
                      <a:srgbClr val="FFFFFF"/>
                    </a:solidFill>
                  </a:tcPr>
                </a:tc>
                <a:tc>
                  <a:txBody>
                    <a:bodyPr wrap="square"/>
                    <a:lstStyle/>
                    <a:p>
                      <a:pPr algn="r"/>
                      <a:r>
                        <a:rPr sz="1100" b="0">
                          <a:solidFill>
                            <a:srgbClr val="14324A"/>
                          </a:solidFill>
                          <a:latin typeface="Courier New"/>
                        </a:rPr>
                        <a:t>1280</a:t>
                      </a:r>
                    </a:p>
                  </a:txBody>
                  <a:tcPr marL="54864" marR="54864" marT="27432" marB="27432">
                    <a:solidFill>
                      <a:srgbClr val="FFFFFF"/>
                    </a:solidFill>
                  </a:tcPr>
                </a:tc>
                <a:tc>
                  <a:txBody>
                    <a:bodyPr wrap="square"/>
                    <a:lstStyle/>
                    <a:p>
                      <a:pPr algn="r"/>
                      <a:r>
                        <a:rPr sz="1100" b="0">
                          <a:solidFill>
                            <a:srgbClr val="14324A"/>
                          </a:solidFill>
                          <a:latin typeface="Courier New"/>
                        </a:rPr>
                        <a:t>500.6</a:t>
                      </a:r>
                    </a:p>
                  </a:txBody>
                  <a:tcPr marL="54864" marR="54864" marT="27432" marB="27432">
                    <a:solidFill>
                      <a:srgbClr val="FFFFFF"/>
                    </a:solidFill>
                  </a:tcPr>
                </a:tc>
                <a:tc>
                  <a:txBody>
                    <a:bodyPr wrap="square"/>
                    <a:lstStyle/>
                    <a:p>
                      <a:pPr algn="r"/>
                      <a:r>
                        <a:rPr sz="1100" b="0">
                          <a:solidFill>
                            <a:srgbClr val="14324A"/>
                          </a:solidFill>
                          <a:latin typeface="Courier New"/>
                        </a:rPr>
                        <a:t>59507</a:t>
                      </a:r>
                    </a:p>
                  </a:txBody>
                  <a:tcPr marL="54864" marR="54864" marT="27432" marB="27432">
                    <a:solidFill>
                      <a:srgbClr val="FFFFFF"/>
                    </a:solidFill>
                  </a:tcPr>
                </a:tc>
                <a:tc>
                  <a:txBody>
                    <a:bodyPr wrap="square"/>
                    <a:lstStyle/>
                    <a:p>
                      <a:pPr algn="r"/>
                      <a:r>
                        <a:rPr sz="1100" b="0">
                          <a:solidFill>
                            <a:srgbClr val="14324A"/>
                          </a:solidFill>
                          <a:latin typeface="Courier New"/>
                        </a:rPr>
                        <a:t>129.1</a:t>
                      </a:r>
                    </a:p>
                  </a:txBody>
                  <a:tcPr marL="54864" marR="54864" marT="27432" marB="27432">
                    <a:solidFill>
                      <a:srgbClr val="FFFFFF"/>
                    </a:solidFill>
                  </a:tcPr>
                </a:tc>
              </a:tr>
              <a:tr h="301752">
                <a:tc>
                  <a:txBody>
                    <a:bodyPr wrap="square"/>
                    <a:lstStyle/>
                    <a:p>
                      <a:pPr algn="l"/>
                      <a:r>
                        <a:rPr sz="1100" b="0">
                          <a:solidFill>
                            <a:srgbClr val="14324A"/>
                          </a:solidFill>
                          <a:latin typeface="Calibri"/>
                        </a:rPr>
                        <a:t>Luo</a:t>
                      </a:r>
                    </a:p>
                  </a:txBody>
                  <a:tcPr marL="54864" marR="54864" marT="27432" marB="27432">
                    <a:solidFill>
                      <a:srgbClr val="FFFFFF"/>
                    </a:solidFill>
                  </a:tcPr>
                </a:tc>
                <a:tc>
                  <a:txBody>
                    <a:bodyPr wrap="square"/>
                    <a:lstStyle/>
                    <a:p>
                      <a:pPr algn="l"/>
                      <a:r>
                        <a:rPr sz="1100" b="0">
                          <a:solidFill>
                            <a:srgbClr val="14324A"/>
                          </a:solidFill>
                          <a:latin typeface="Calibri"/>
                        </a:rPr>
                        <a:t>Ramogi</a:t>
                      </a:r>
                    </a:p>
                  </a:txBody>
                  <a:tcPr marL="54864" marR="54864" marT="27432" marB="27432">
                    <a:solidFill>
                      <a:srgbClr val="FFFFFF"/>
                    </a:solidFill>
                  </a:tcPr>
                </a:tc>
                <a:tc>
                  <a:txBody>
                    <a:bodyPr wrap="square"/>
                    <a:lstStyle/>
                    <a:p>
                      <a:pPr algn="r"/>
                      <a:r>
                        <a:rPr sz="1100" b="0">
                          <a:solidFill>
                            <a:srgbClr val="14324A"/>
                          </a:solidFill>
                          <a:latin typeface="Courier New"/>
                        </a:rPr>
                        <a:t>3693</a:t>
                      </a:r>
                    </a:p>
                  </a:txBody>
                  <a:tcPr marL="54864" marR="54864" marT="27432" marB="27432">
                    <a:solidFill>
                      <a:srgbClr val="FFFFFF"/>
                    </a:solidFill>
                  </a:tcPr>
                </a:tc>
                <a:tc>
                  <a:txBody>
                    <a:bodyPr wrap="square"/>
                    <a:lstStyle/>
                    <a:p>
                      <a:pPr algn="r"/>
                      <a:r>
                        <a:rPr sz="1100" b="0">
                          <a:solidFill>
                            <a:srgbClr val="14324A"/>
                          </a:solidFill>
                          <a:latin typeface="Courier New"/>
                        </a:rPr>
                        <a:t>492.5</a:t>
                      </a:r>
                    </a:p>
                  </a:txBody>
                  <a:tcPr marL="54864" marR="54864" marT="27432" marB="27432">
                    <a:solidFill>
                      <a:srgbClr val="FFFFFF"/>
                    </a:solidFill>
                  </a:tcPr>
                </a:tc>
                <a:tc>
                  <a:txBody>
                    <a:bodyPr wrap="square"/>
                    <a:lstStyle/>
                    <a:p>
                      <a:pPr algn="r"/>
                      <a:r>
                        <a:rPr sz="1100" b="0">
                          <a:solidFill>
                            <a:srgbClr val="14324A"/>
                          </a:solidFill>
                          <a:latin typeface="Courier New"/>
                        </a:rPr>
                        <a:t>44184</a:t>
                      </a:r>
                    </a:p>
                  </a:txBody>
                  <a:tcPr marL="54864" marR="54864" marT="27432" marB="27432">
                    <a:solidFill>
                      <a:srgbClr val="FFFFFF"/>
                    </a:solidFill>
                  </a:tcPr>
                </a:tc>
                <a:tc>
                  <a:txBody>
                    <a:bodyPr wrap="square"/>
                    <a:lstStyle/>
                    <a:p>
                      <a:pPr algn="r"/>
                      <a:r>
                        <a:rPr sz="1100" b="0">
                          <a:solidFill>
                            <a:srgbClr val="14324A"/>
                          </a:solidFill>
                          <a:latin typeface="Courier New"/>
                        </a:rPr>
                        <a:t>711.1</a:t>
                      </a:r>
                    </a:p>
                  </a:txBody>
                  <a:tcPr marL="54864" marR="54864" marT="27432" marB="27432">
                    <a:solidFill>
                      <a:srgbClr val="FFFFFF"/>
                    </a:solidFill>
                  </a:tcPr>
                </a:tc>
              </a:tr>
              <a:tr h="301752">
                <a:tc>
                  <a:txBody>
                    <a:bodyPr wrap="square"/>
                    <a:lstStyle/>
                    <a:p>
                      <a:pPr algn="l"/>
                      <a:r>
                        <a:rPr sz="1100" b="0">
                          <a:solidFill>
                            <a:srgbClr val="14324A"/>
                          </a:solidFill>
                          <a:latin typeface="Calibri"/>
                        </a:rPr>
                        <a:t>Kisii</a:t>
                      </a:r>
                    </a:p>
                  </a:txBody>
                  <a:tcPr marL="54864" marR="54864" marT="27432" marB="27432">
                    <a:solidFill>
                      <a:srgbClr val="FFFFFF"/>
                    </a:solidFill>
                  </a:tcPr>
                </a:tc>
                <a:tc>
                  <a:txBody>
                    <a:bodyPr wrap="square"/>
                    <a:lstStyle/>
                    <a:p>
                      <a:pPr algn="l"/>
                      <a:r>
                        <a:rPr sz="1100" b="0">
                          <a:solidFill>
                            <a:srgbClr val="14324A"/>
                          </a:solidFill>
                          <a:latin typeface="Calibri"/>
                        </a:rPr>
                        <a:t>Egesa</a:t>
                      </a:r>
                    </a:p>
                  </a:txBody>
                  <a:tcPr marL="54864" marR="54864" marT="27432" marB="27432">
                    <a:solidFill>
                      <a:srgbClr val="FFFFFF"/>
                    </a:solidFill>
                  </a:tcPr>
                </a:tc>
                <a:tc>
                  <a:txBody>
                    <a:bodyPr wrap="square"/>
                    <a:lstStyle/>
                    <a:p>
                      <a:pPr algn="r"/>
                      <a:r>
                        <a:rPr sz="1100" b="0">
                          <a:solidFill>
                            <a:srgbClr val="14324A"/>
                          </a:solidFill>
                          <a:latin typeface="Courier New"/>
                        </a:rPr>
                        <a:t>2503</a:t>
                      </a:r>
                    </a:p>
                  </a:txBody>
                  <a:tcPr marL="54864" marR="54864" marT="27432" marB="27432">
                    <a:solidFill>
                      <a:srgbClr val="FFFFFF"/>
                    </a:solidFill>
                  </a:tcPr>
                </a:tc>
                <a:tc>
                  <a:txBody>
                    <a:bodyPr wrap="square"/>
                    <a:lstStyle/>
                    <a:p>
                      <a:pPr algn="r"/>
                      <a:r>
                        <a:rPr sz="1100" b="0">
                          <a:solidFill>
                            <a:srgbClr val="14324A"/>
                          </a:solidFill>
                          <a:latin typeface="Courier New"/>
                        </a:rPr>
                        <a:t>491.0</a:t>
                      </a:r>
                    </a:p>
                  </a:txBody>
                  <a:tcPr marL="54864" marR="54864" marT="27432" marB="27432">
                    <a:solidFill>
                      <a:srgbClr val="FFFFFF"/>
                    </a:solidFill>
                  </a:tcPr>
                </a:tc>
                <a:tc>
                  <a:txBody>
                    <a:bodyPr wrap="square"/>
                    <a:lstStyle/>
                    <a:p>
                      <a:pPr algn="r"/>
                      <a:r>
                        <a:rPr sz="1100" b="0">
                          <a:solidFill>
                            <a:srgbClr val="14324A"/>
                          </a:solidFill>
                          <a:latin typeface="Courier New"/>
                        </a:rPr>
                        <a:t>44470</a:t>
                      </a:r>
                    </a:p>
                  </a:txBody>
                  <a:tcPr marL="54864" marR="54864" marT="27432" marB="27432">
                    <a:solidFill>
                      <a:srgbClr val="FFFFFF"/>
                    </a:solidFill>
                  </a:tcPr>
                </a:tc>
                <a:tc>
                  <a:txBody>
                    <a:bodyPr wrap="square"/>
                    <a:lstStyle/>
                    <a:p>
                      <a:pPr algn="r"/>
                      <a:r>
                        <a:rPr sz="1100" b="0">
                          <a:solidFill>
                            <a:srgbClr val="14324A"/>
                          </a:solidFill>
                          <a:latin typeface="Courier New"/>
                        </a:rPr>
                        <a:t>75.1</a:t>
                      </a:r>
                    </a:p>
                  </a:txBody>
                  <a:tcPr marL="54864" marR="54864" marT="27432" marB="27432">
                    <a:solidFill>
                      <a:srgbClr val="FFFFFF"/>
                    </a:solidFill>
                  </a:tcPr>
                </a:tc>
              </a:tr>
              <a:tr h="301752">
                <a:tc>
                  <a:txBody>
                    <a:bodyPr wrap="square"/>
                    <a:lstStyle/>
                    <a:p>
                      <a:pPr algn="l"/>
                      <a:r>
                        <a:rPr sz="1100" b="0">
                          <a:solidFill>
                            <a:srgbClr val="14324A"/>
                          </a:solidFill>
                          <a:latin typeface="Calibri"/>
                        </a:rPr>
                        <a:t>luhya</a:t>
                      </a:r>
                    </a:p>
                  </a:txBody>
                  <a:tcPr marL="54864" marR="54864" marT="27432" marB="27432">
                    <a:solidFill>
                      <a:srgbClr val="FFFFFF"/>
                    </a:solidFill>
                  </a:tcPr>
                </a:tc>
                <a:tc>
                  <a:txBody>
                    <a:bodyPr wrap="square"/>
                    <a:lstStyle/>
                    <a:p>
                      <a:pPr algn="l"/>
                      <a:r>
                        <a:rPr sz="1100" b="0">
                          <a:solidFill>
                            <a:srgbClr val="14324A"/>
                          </a:solidFill>
                          <a:latin typeface="Calibri"/>
                        </a:rPr>
                        <a:t>mulembe</a:t>
                      </a:r>
                    </a:p>
                  </a:txBody>
                  <a:tcPr marL="54864" marR="54864" marT="27432" marB="27432">
                    <a:solidFill>
                      <a:srgbClr val="FFFFFF"/>
                    </a:solidFill>
                  </a:tcPr>
                </a:tc>
                <a:tc>
                  <a:txBody>
                    <a:bodyPr wrap="square"/>
                    <a:lstStyle/>
                    <a:p>
                      <a:pPr algn="r"/>
                      <a:r>
                        <a:rPr sz="1100" b="0">
                          <a:solidFill>
                            <a:srgbClr val="14324A"/>
                          </a:solidFill>
                          <a:latin typeface="Courier New"/>
                        </a:rPr>
                        <a:t>2253</a:t>
                      </a:r>
                    </a:p>
                  </a:txBody>
                  <a:tcPr marL="54864" marR="54864" marT="27432" marB="27432">
                    <a:solidFill>
                      <a:srgbClr val="FFFFFF"/>
                    </a:solidFill>
                  </a:tcPr>
                </a:tc>
                <a:tc>
                  <a:txBody>
                    <a:bodyPr wrap="square"/>
                    <a:lstStyle/>
                    <a:p>
                      <a:pPr algn="r"/>
                      <a:r>
                        <a:rPr sz="1100" b="0">
                          <a:solidFill>
                            <a:srgbClr val="14324A"/>
                          </a:solidFill>
                          <a:latin typeface="Courier New"/>
                        </a:rPr>
                        <a:t>420.1</a:t>
                      </a:r>
                    </a:p>
                  </a:txBody>
                  <a:tcPr marL="54864" marR="54864" marT="27432" marB="27432">
                    <a:solidFill>
                      <a:srgbClr val="FFFFFF"/>
                    </a:solidFill>
                  </a:tcPr>
                </a:tc>
                <a:tc>
                  <a:txBody>
                    <a:bodyPr wrap="square"/>
                    <a:lstStyle/>
                    <a:p>
                      <a:pPr algn="r"/>
                      <a:r>
                        <a:rPr sz="1100" b="0">
                          <a:solidFill>
                            <a:srgbClr val="14324A"/>
                          </a:solidFill>
                          <a:latin typeface="Courier New"/>
                        </a:rPr>
                        <a:t>53287</a:t>
                      </a:r>
                    </a:p>
                  </a:txBody>
                  <a:tcPr marL="54864" marR="54864" marT="27432" marB="27432">
                    <a:solidFill>
                      <a:srgbClr val="FFFFFF"/>
                    </a:solidFill>
                  </a:tcPr>
                </a:tc>
                <a:tc>
                  <a:txBody>
                    <a:bodyPr wrap="square"/>
                    <a:lstStyle/>
                    <a:p>
                      <a:pPr algn="r"/>
                      <a:r>
                        <a:rPr sz="1100" b="0">
                          <a:solidFill>
                            <a:srgbClr val="14324A"/>
                          </a:solidFill>
                          <a:latin typeface="Courier New"/>
                        </a:rPr>
                        <a:t>7.4</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The workbench registers recordings per language with their length and whether a transcript was produced; transcript hours are the summed segment spans.</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R08: Aggregate-only database reading etx-81e10befe6e0: news_vault.stories (script, title, date, hour_id) → news_vault.hours (station_id, time, type_id) → news_vault.stations (name); news_vault.news (2022 bulletins); local.uploaded_files (language_id, audio_length, status) ← local.transcripts (file_id, start_time, end_time, transcript) ; local.folder_languages (Language, code, station)</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Transcription workbench by language (local.uploaded_files, local.transcripts)</a:t>
            </a:r>
          </a:p>
        </p:txBody>
      </p:sp>
      <p:graphicFrame>
        <p:nvGraphicFramePr>
          <p:cNvPr id="4" name="Table 3"/>
          <p:cNvGraphicFramePr>
            <a:graphicFrameLocks noGrp="1"/>
          </p:cNvGraphicFramePr>
          <p:nvPr/>
        </p:nvGraphicFramePr>
        <p:xfrm>
          <a:off x="594360" y="1920240"/>
          <a:ext cx="11002971" cy="3017520"/>
        </p:xfrm>
        <a:graphic>
          <a:graphicData uri="http://schemas.openxmlformats.org/drawingml/2006/table">
            <a:tbl>
              <a:tblPr firstRow="1" bandRow="1">
                <a:tableStyleId>{5C22544A-7EE6-4342-B048-85BDC9FD1C3A}</a:tableStyleId>
              </a:tblPr>
              <a:tblGrid>
                <a:gridCol w="1674365"/>
                <a:gridCol w="1674365"/>
                <a:gridCol w="1674365"/>
                <a:gridCol w="1674365"/>
                <a:gridCol w="2272353"/>
                <a:gridCol w="2033158"/>
              </a:tblGrid>
              <a:tr h="301752">
                <a:tc>
                  <a:txBody>
                    <a:bodyPr wrap="square"/>
                    <a:lstStyle/>
                    <a:p>
                      <a:pPr algn="l"/>
                      <a:r>
                        <a:rPr sz="1100" b="1">
                          <a:solidFill>
                            <a:srgbClr val="14324A"/>
                          </a:solidFill>
                          <a:latin typeface="Calibri"/>
                        </a:rPr>
                        <a:t>Language</a:t>
                      </a:r>
                    </a:p>
                  </a:txBody>
                  <a:tcPr marL="54864" marR="54864" marT="27432" marB="27432">
                    <a:solidFill>
                      <a:srgbClr val="E8EEF3"/>
                    </a:solidFill>
                  </a:tcPr>
                </a:tc>
                <a:tc>
                  <a:txBody>
                    <a:bodyPr wrap="square"/>
                    <a:lstStyle/>
                    <a:p>
                      <a:pPr algn="l"/>
                      <a:r>
                        <a:rPr sz="1100" b="1">
                          <a:solidFill>
                            <a:srgbClr val="14324A"/>
                          </a:solidFill>
                          <a:latin typeface="Calibri"/>
                        </a:rPr>
                        <a:t>Station</a:t>
                      </a:r>
                    </a:p>
                  </a:txBody>
                  <a:tcPr marL="54864" marR="54864" marT="27432" marB="27432">
                    <a:solidFill>
                      <a:srgbClr val="E8EEF3"/>
                    </a:solidFill>
                  </a:tcPr>
                </a:tc>
                <a:tc>
                  <a:txBody>
                    <a:bodyPr wrap="square"/>
                    <a:lstStyle/>
                    <a:p>
                      <a:pPr algn="l"/>
                      <a:r>
                        <a:rPr sz="1100" b="1">
                          <a:solidFill>
                            <a:srgbClr val="14324A"/>
                          </a:solidFill>
                          <a:latin typeface="Calibri"/>
                        </a:rPr>
                        <a:t>Recordings</a:t>
                      </a:r>
                    </a:p>
                  </a:txBody>
                  <a:tcPr marL="54864" marR="54864" marT="27432" marB="27432">
                    <a:solidFill>
                      <a:srgbClr val="E8EEF3"/>
                    </a:solidFill>
                  </a:tcPr>
                </a:tc>
                <a:tc>
                  <a:txBody>
                    <a:bodyPr wrap="square"/>
                    <a:lstStyle/>
                    <a:p>
                      <a:pPr algn="l"/>
                      <a:r>
                        <a:rPr sz="1100" b="1">
                          <a:solidFill>
                            <a:srgbClr val="14324A"/>
                          </a:solidFill>
                          <a:latin typeface="Calibri"/>
                        </a:rPr>
                        <a:t>Audio hours</a:t>
                      </a:r>
                    </a:p>
                  </a:txBody>
                  <a:tcPr marL="54864" marR="54864" marT="27432" marB="27432">
                    <a:solidFill>
                      <a:srgbClr val="E8EEF3"/>
                    </a:solidFill>
                  </a:tcPr>
                </a:tc>
                <a:tc>
                  <a:txBody>
                    <a:bodyPr wrap="square"/>
                    <a:lstStyle/>
                    <a:p>
                      <a:pPr algn="l"/>
                      <a:r>
                        <a:rPr sz="1100" b="1">
                          <a:solidFill>
                            <a:srgbClr val="14324A"/>
                          </a:solidFill>
                          <a:latin typeface="Calibri"/>
                        </a:rPr>
                        <a:t>Transcript segments</a:t>
                      </a:r>
                    </a:p>
                  </a:txBody>
                  <a:tcPr marL="54864" marR="54864" marT="27432" marB="27432">
                    <a:solidFill>
                      <a:srgbClr val="E8EEF3"/>
                    </a:solidFill>
                  </a:tcPr>
                </a:tc>
                <a:tc>
                  <a:txBody>
                    <a:bodyPr wrap="square"/>
                    <a:lstStyle/>
                    <a:p>
                      <a:pPr algn="l"/>
                      <a:r>
                        <a:rPr sz="1100" b="1">
                          <a:solidFill>
                            <a:srgbClr val="14324A"/>
                          </a:solidFill>
                          <a:latin typeface="Calibri"/>
                        </a:rPr>
                        <a:t>Transcribed hours</a:t>
                      </a:r>
                    </a:p>
                  </a:txBody>
                  <a:tcPr marL="54864" marR="54864" marT="27432" marB="27432">
                    <a:solidFill>
                      <a:srgbClr val="E8EEF3"/>
                    </a:solidFill>
                  </a:tcPr>
                </a:tc>
              </a:tr>
              <a:tr h="301752">
                <a:tc>
                  <a:txBody>
                    <a:bodyPr wrap="square"/>
                    <a:lstStyle/>
                    <a:p>
                      <a:pPr algn="l"/>
                      <a:r>
                        <a:rPr sz="1100" b="0">
                          <a:solidFill>
                            <a:srgbClr val="14324A"/>
                          </a:solidFill>
                          <a:latin typeface="Calibri"/>
                        </a:rPr>
                        <a:t>Kikuyu</a:t>
                      </a:r>
                    </a:p>
                  </a:txBody>
                  <a:tcPr marL="54864" marR="54864" marT="27432" marB="27432">
                    <a:solidFill>
                      <a:srgbClr val="FFFFFF"/>
                    </a:solidFill>
                  </a:tcPr>
                </a:tc>
                <a:tc>
                  <a:txBody>
                    <a:bodyPr wrap="square"/>
                    <a:lstStyle/>
                    <a:p>
                      <a:pPr algn="l"/>
                      <a:r>
                        <a:rPr sz="1100" b="0">
                          <a:solidFill>
                            <a:srgbClr val="14324A"/>
                          </a:solidFill>
                          <a:latin typeface="Calibri"/>
                        </a:rPr>
                        <a:t>inooro</a:t>
                      </a:r>
                    </a:p>
                  </a:txBody>
                  <a:tcPr marL="54864" marR="54864" marT="27432" marB="27432">
                    <a:solidFill>
                      <a:srgbClr val="FFFFFF"/>
                    </a:solidFill>
                  </a:tcPr>
                </a:tc>
                <a:tc>
                  <a:txBody>
                    <a:bodyPr wrap="square"/>
                    <a:lstStyle/>
                    <a:p>
                      <a:pPr algn="r"/>
                      <a:r>
                        <a:rPr sz="1100" b="0">
                          <a:solidFill>
                            <a:srgbClr val="14324A"/>
                          </a:solidFill>
                          <a:latin typeface="Courier New"/>
                        </a:rPr>
                        <a:t>853</a:t>
                      </a:r>
                    </a:p>
                  </a:txBody>
                  <a:tcPr marL="54864" marR="54864" marT="27432" marB="27432">
                    <a:solidFill>
                      <a:srgbClr val="FFFFFF"/>
                    </a:solidFill>
                  </a:tcPr>
                </a:tc>
                <a:tc>
                  <a:txBody>
                    <a:bodyPr wrap="square"/>
                    <a:lstStyle/>
                    <a:p>
                      <a:pPr algn="r"/>
                      <a:r>
                        <a:rPr sz="1100" b="0">
                          <a:solidFill>
                            <a:srgbClr val="14324A"/>
                          </a:solidFill>
                          <a:latin typeface="Courier New"/>
                        </a:rPr>
                        <a:t>401.7</a:t>
                      </a:r>
                    </a:p>
                  </a:txBody>
                  <a:tcPr marL="54864" marR="54864" marT="27432" marB="27432">
                    <a:solidFill>
                      <a:srgbClr val="FFFFFF"/>
                    </a:solidFill>
                  </a:tcPr>
                </a:tc>
                <a:tc>
                  <a:txBody>
                    <a:bodyPr wrap="square"/>
                    <a:lstStyle/>
                    <a:p>
                      <a:pPr algn="r"/>
                      <a:r>
                        <a:rPr sz="1100" b="0">
                          <a:solidFill>
                            <a:srgbClr val="14324A"/>
                          </a:solidFill>
                          <a:latin typeface="Courier New"/>
                        </a:rPr>
                        <a:t>2456</a:t>
                      </a:r>
                    </a:p>
                  </a:txBody>
                  <a:tcPr marL="54864" marR="54864" marT="27432" marB="27432">
                    <a:solidFill>
                      <a:srgbClr val="FFFFFF"/>
                    </a:solidFill>
                  </a:tcPr>
                </a:tc>
                <a:tc>
                  <a:txBody>
                    <a:bodyPr wrap="square"/>
                    <a:lstStyle/>
                    <a:p>
                      <a:pPr algn="r"/>
                      <a:r>
                        <a:rPr sz="1100" b="0">
                          <a:solidFill>
                            <a:srgbClr val="14324A"/>
                          </a:solidFill>
                          <a:latin typeface="Courier New"/>
                        </a:rPr>
                        <a:t>9.1</a:t>
                      </a:r>
                    </a:p>
                  </a:txBody>
                  <a:tcPr marL="54864" marR="54864" marT="27432" marB="27432">
                    <a:solidFill>
                      <a:srgbClr val="FFFFFF"/>
                    </a:solidFill>
                  </a:tcPr>
                </a:tc>
              </a:tr>
              <a:tr h="301752">
                <a:tc>
                  <a:txBody>
                    <a:bodyPr wrap="square"/>
                    <a:lstStyle/>
                    <a:p>
                      <a:pPr algn="l"/>
                      <a:r>
                        <a:rPr sz="1100" b="0">
                          <a:solidFill>
                            <a:srgbClr val="14324A"/>
                          </a:solidFill>
                          <a:latin typeface="Calibri"/>
                        </a:rPr>
                        <a:t>Meru</a:t>
                      </a:r>
                    </a:p>
                  </a:txBody>
                  <a:tcPr marL="54864" marR="54864" marT="27432" marB="27432">
                    <a:solidFill>
                      <a:srgbClr val="FFFFFF"/>
                    </a:solidFill>
                  </a:tcPr>
                </a:tc>
                <a:tc>
                  <a:txBody>
                    <a:bodyPr wrap="square"/>
                    <a:lstStyle/>
                    <a:p>
                      <a:pPr algn="l"/>
                      <a:r>
                        <a:rPr sz="1100" b="0">
                          <a:solidFill>
                            <a:srgbClr val="14324A"/>
                          </a:solidFill>
                          <a:latin typeface="Calibri"/>
                        </a:rPr>
                        <a:t>muuga</a:t>
                      </a:r>
                    </a:p>
                  </a:txBody>
                  <a:tcPr marL="54864" marR="54864" marT="27432" marB="27432">
                    <a:solidFill>
                      <a:srgbClr val="FFFFFF"/>
                    </a:solidFill>
                  </a:tcPr>
                </a:tc>
                <a:tc>
                  <a:txBody>
                    <a:bodyPr wrap="square"/>
                    <a:lstStyle/>
                    <a:p>
                      <a:pPr algn="r"/>
                      <a:r>
                        <a:rPr sz="1100" b="0">
                          <a:solidFill>
                            <a:srgbClr val="14324A"/>
                          </a:solidFill>
                          <a:latin typeface="Courier New"/>
                        </a:rPr>
                        <a:t>3215</a:t>
                      </a:r>
                    </a:p>
                  </a:txBody>
                  <a:tcPr marL="54864" marR="54864" marT="27432" marB="27432">
                    <a:solidFill>
                      <a:srgbClr val="FFFFFF"/>
                    </a:solidFill>
                  </a:tcPr>
                </a:tc>
                <a:tc>
                  <a:txBody>
                    <a:bodyPr wrap="square"/>
                    <a:lstStyle/>
                    <a:p>
                      <a:pPr algn="r"/>
                      <a:r>
                        <a:rPr sz="1100" b="0">
                          <a:solidFill>
                            <a:srgbClr val="14324A"/>
                          </a:solidFill>
                          <a:latin typeface="Courier New"/>
                        </a:rPr>
                        <a:t>384.2</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r h="301752">
                <a:tc>
                  <a:txBody>
                    <a:bodyPr wrap="square"/>
                    <a:lstStyle/>
                    <a:p>
                      <a:pPr algn="l"/>
                      <a:r>
                        <a:rPr sz="1100" b="0">
                          <a:solidFill>
                            <a:srgbClr val="14324A"/>
                          </a:solidFill>
                          <a:latin typeface="Calibri"/>
                        </a:rPr>
                        <a:t>Akamba</a:t>
                      </a:r>
                    </a:p>
                  </a:txBody>
                  <a:tcPr marL="54864" marR="54864" marT="27432" marB="27432">
                    <a:solidFill>
                      <a:srgbClr val="FFFFFF"/>
                    </a:solidFill>
                  </a:tcPr>
                </a:tc>
                <a:tc>
                  <a:txBody>
                    <a:bodyPr wrap="square"/>
                    <a:lstStyle/>
                    <a:p>
                      <a:pPr algn="l"/>
                      <a:r>
                        <a:rPr sz="1100" b="0">
                          <a:solidFill>
                            <a:srgbClr val="14324A"/>
                          </a:solidFill>
                          <a:latin typeface="Calibri"/>
                        </a:rPr>
                        <a:t>musyi</a:t>
                      </a:r>
                    </a:p>
                  </a:txBody>
                  <a:tcPr marL="54864" marR="54864" marT="27432" marB="27432">
                    <a:solidFill>
                      <a:srgbClr val="FFFFFF"/>
                    </a:solidFill>
                  </a:tcPr>
                </a:tc>
                <a:tc>
                  <a:txBody>
                    <a:bodyPr wrap="square"/>
                    <a:lstStyle/>
                    <a:p>
                      <a:pPr algn="r"/>
                      <a:r>
                        <a:rPr sz="1100" b="0">
                          <a:solidFill>
                            <a:srgbClr val="14324A"/>
                          </a:solidFill>
                          <a:latin typeface="Courier New"/>
                        </a:rPr>
                        <a:t>3257</a:t>
                      </a:r>
                    </a:p>
                  </a:txBody>
                  <a:tcPr marL="54864" marR="54864" marT="27432" marB="27432">
                    <a:solidFill>
                      <a:srgbClr val="FFFFFF"/>
                    </a:solidFill>
                  </a:tcPr>
                </a:tc>
                <a:tc>
                  <a:txBody>
                    <a:bodyPr wrap="square"/>
                    <a:lstStyle/>
                    <a:p>
                      <a:pPr algn="r"/>
                      <a:r>
                        <a:rPr sz="1100" b="0">
                          <a:solidFill>
                            <a:srgbClr val="14324A"/>
                          </a:solidFill>
                          <a:latin typeface="Courier New"/>
                        </a:rPr>
                        <a:t>376.9</a:t>
                      </a:r>
                    </a:p>
                  </a:txBody>
                  <a:tcPr marL="54864" marR="54864" marT="27432" marB="27432">
                    <a:solidFill>
                      <a:srgbClr val="FFFFFF"/>
                    </a:solidFill>
                  </a:tcPr>
                </a:tc>
                <a:tc>
                  <a:txBody>
                    <a:bodyPr wrap="square"/>
                    <a:lstStyle/>
                    <a:p>
                      <a:pPr algn="r"/>
                      <a:r>
                        <a:rPr sz="1100" b="0">
                          <a:solidFill>
                            <a:srgbClr val="14324A"/>
                          </a:solidFill>
                          <a:latin typeface="Courier New"/>
                        </a:rPr>
                        <a:t>7815</a:t>
                      </a:r>
                    </a:p>
                  </a:txBody>
                  <a:tcPr marL="54864" marR="54864" marT="27432" marB="27432">
                    <a:solidFill>
                      <a:srgbClr val="FFFFFF"/>
                    </a:solidFill>
                  </a:tcPr>
                </a:tc>
                <a:tc>
                  <a:txBody>
                    <a:bodyPr wrap="square"/>
                    <a:lstStyle/>
                    <a:p>
                      <a:pPr algn="r"/>
                      <a:r>
                        <a:rPr sz="1100" b="0">
                          <a:solidFill>
                            <a:srgbClr val="14324A"/>
                          </a:solidFill>
                          <a:latin typeface="Courier New"/>
                        </a:rPr>
                        <a:t>-26.1</a:t>
                      </a:r>
                    </a:p>
                  </a:txBody>
                  <a:tcPr marL="54864" marR="54864" marT="27432" marB="27432">
                    <a:solidFill>
                      <a:srgbClr val="FFFFFF"/>
                    </a:solidFill>
                  </a:tcPr>
                </a:tc>
              </a:tr>
              <a:tr h="301752">
                <a:tc>
                  <a:txBody>
                    <a:bodyPr wrap="square"/>
                    <a:lstStyle/>
                    <a:p>
                      <a:pPr algn="l"/>
                      <a:r>
                        <a:rPr sz="1100" b="0">
                          <a:solidFill>
                            <a:srgbClr val="14324A"/>
                          </a:solidFill>
                          <a:latin typeface="Calibri"/>
                        </a:rPr>
                        <a:t>Luhya</a:t>
                      </a:r>
                    </a:p>
                  </a:txBody>
                  <a:tcPr marL="54864" marR="54864" marT="27432" marB="27432">
                    <a:solidFill>
                      <a:srgbClr val="FFFFFF"/>
                    </a:solidFill>
                  </a:tcPr>
                </a:tc>
                <a:tc>
                  <a:txBody>
                    <a:bodyPr wrap="square"/>
                    <a:lstStyle/>
                    <a:p>
                      <a:pPr algn="l"/>
                      <a:r>
                        <a:rPr sz="1100" b="0">
                          <a:solidFill>
                            <a:srgbClr val="14324A"/>
                          </a:solidFill>
                          <a:latin typeface="Calibri"/>
                        </a:rPr>
                        <a:t>mulembe</a:t>
                      </a:r>
                    </a:p>
                  </a:txBody>
                  <a:tcPr marL="54864" marR="54864" marT="27432" marB="27432">
                    <a:solidFill>
                      <a:srgbClr val="FFFFFF"/>
                    </a:solidFill>
                  </a:tcPr>
                </a:tc>
                <a:tc>
                  <a:txBody>
                    <a:bodyPr wrap="square"/>
                    <a:lstStyle/>
                    <a:p>
                      <a:pPr algn="r"/>
                      <a:r>
                        <a:rPr sz="1100" b="0">
                          <a:solidFill>
                            <a:srgbClr val="14324A"/>
                          </a:solidFill>
                          <a:latin typeface="Courier New"/>
                        </a:rPr>
                        <a:t>3344</a:t>
                      </a:r>
                    </a:p>
                  </a:txBody>
                  <a:tcPr marL="54864" marR="54864" marT="27432" marB="27432">
                    <a:solidFill>
                      <a:srgbClr val="FFFFFF"/>
                    </a:solidFill>
                  </a:tcPr>
                </a:tc>
                <a:tc>
                  <a:txBody>
                    <a:bodyPr wrap="square"/>
                    <a:lstStyle/>
                    <a:p>
                      <a:pPr algn="r"/>
                      <a:r>
                        <a:rPr sz="1100" b="0">
                          <a:solidFill>
                            <a:srgbClr val="14324A"/>
                          </a:solidFill>
                          <a:latin typeface="Courier New"/>
                        </a:rPr>
                        <a:t>371.8</a:t>
                      </a:r>
                    </a:p>
                  </a:txBody>
                  <a:tcPr marL="54864" marR="54864" marT="27432" marB="27432">
                    <a:solidFill>
                      <a:srgbClr val="FFFFFF"/>
                    </a:solidFill>
                  </a:tcPr>
                </a:tc>
                <a:tc>
                  <a:txBody>
                    <a:bodyPr wrap="square"/>
                    <a:lstStyle/>
                    <a:p>
                      <a:pPr algn="r"/>
                      <a:r>
                        <a:rPr sz="1100" b="0">
                          <a:solidFill>
                            <a:srgbClr val="14324A"/>
                          </a:solidFill>
                          <a:latin typeface="Courier New"/>
                        </a:rPr>
                        <a:t>13849</a:t>
                      </a:r>
                    </a:p>
                  </a:txBody>
                  <a:tcPr marL="54864" marR="54864" marT="27432" marB="27432">
                    <a:solidFill>
                      <a:srgbClr val="FFFFFF"/>
                    </a:solidFill>
                  </a:tcPr>
                </a:tc>
                <a:tc>
                  <a:txBody>
                    <a:bodyPr wrap="square"/>
                    <a:lstStyle/>
                    <a:p>
                      <a:pPr algn="r"/>
                      <a:r>
                        <a:rPr sz="1100" b="0">
                          <a:solidFill>
                            <a:srgbClr val="14324A"/>
                          </a:solidFill>
                          <a:latin typeface="Courier New"/>
                        </a:rPr>
                        <a:t>21.5</a:t>
                      </a:r>
                    </a:p>
                  </a:txBody>
                  <a:tcPr marL="54864" marR="54864" marT="27432" marB="27432">
                    <a:solidFill>
                      <a:srgbClr val="FFFFFF"/>
                    </a:solidFill>
                  </a:tcPr>
                </a:tc>
              </a:tr>
              <a:tr h="301752">
                <a:tc>
                  <a:txBody>
                    <a:bodyPr wrap="square"/>
                    <a:lstStyle/>
                    <a:p>
                      <a:pPr algn="l"/>
                      <a:r>
                        <a:rPr sz="1100" b="0">
                          <a:solidFill>
                            <a:srgbClr val="14324A"/>
                          </a:solidFill>
                          <a:latin typeface="Calibri"/>
                        </a:rPr>
                        <a:t>Luo</a:t>
                      </a:r>
                    </a:p>
                  </a:txBody>
                  <a:tcPr marL="54864" marR="54864" marT="27432" marB="27432">
                    <a:solidFill>
                      <a:srgbClr val="FFFFFF"/>
                    </a:solidFill>
                  </a:tcPr>
                </a:tc>
                <a:tc>
                  <a:txBody>
                    <a:bodyPr wrap="square"/>
                    <a:lstStyle/>
                    <a:p>
                      <a:pPr algn="l"/>
                      <a:r>
                        <a:rPr sz="1100" b="0">
                          <a:solidFill>
                            <a:srgbClr val="14324A"/>
                          </a:solidFill>
                          <a:latin typeface="Calibri"/>
                        </a:rPr>
                        <a:t>Ramogi</a:t>
                      </a:r>
                    </a:p>
                  </a:txBody>
                  <a:tcPr marL="54864" marR="54864" marT="27432" marB="27432">
                    <a:solidFill>
                      <a:srgbClr val="FFFFFF"/>
                    </a:solidFill>
                  </a:tcPr>
                </a:tc>
                <a:tc>
                  <a:txBody>
                    <a:bodyPr wrap="square"/>
                    <a:lstStyle/>
                    <a:p>
                      <a:pPr algn="r"/>
                      <a:r>
                        <a:rPr sz="1100" b="0">
                          <a:solidFill>
                            <a:srgbClr val="14324A"/>
                          </a:solidFill>
                          <a:latin typeface="Courier New"/>
                        </a:rPr>
                        <a:t>3228</a:t>
                      </a:r>
                    </a:p>
                  </a:txBody>
                  <a:tcPr marL="54864" marR="54864" marT="27432" marB="27432">
                    <a:solidFill>
                      <a:srgbClr val="FFFFFF"/>
                    </a:solidFill>
                  </a:tcPr>
                </a:tc>
                <a:tc>
                  <a:txBody>
                    <a:bodyPr wrap="square"/>
                    <a:lstStyle/>
                    <a:p>
                      <a:pPr algn="r"/>
                      <a:r>
                        <a:rPr sz="1100" b="0">
                          <a:solidFill>
                            <a:srgbClr val="14324A"/>
                          </a:solidFill>
                          <a:latin typeface="Courier New"/>
                        </a:rPr>
                        <a:t>359.9</a:t>
                      </a:r>
                    </a:p>
                  </a:txBody>
                  <a:tcPr marL="54864" marR="54864" marT="27432" marB="27432">
                    <a:solidFill>
                      <a:srgbClr val="FFFFFF"/>
                    </a:solidFill>
                  </a:tcPr>
                </a:tc>
                <a:tc>
                  <a:txBody>
                    <a:bodyPr wrap="square"/>
                    <a:lstStyle/>
                    <a:p>
                      <a:pPr algn="r"/>
                      <a:r>
                        <a:rPr sz="1100" b="0">
                          <a:solidFill>
                            <a:srgbClr val="14324A"/>
                          </a:solidFill>
                          <a:latin typeface="Courier New"/>
                        </a:rPr>
                        <a:t>22805</a:t>
                      </a:r>
                    </a:p>
                  </a:txBody>
                  <a:tcPr marL="54864" marR="54864" marT="27432" marB="27432">
                    <a:solidFill>
                      <a:srgbClr val="FFFFFF"/>
                    </a:solidFill>
                  </a:tcPr>
                </a:tc>
                <a:tc>
                  <a:txBody>
                    <a:bodyPr wrap="square"/>
                    <a:lstStyle/>
                    <a:p>
                      <a:pPr algn="r"/>
                      <a:r>
                        <a:rPr sz="1100" b="0">
                          <a:solidFill>
                            <a:srgbClr val="14324A"/>
                          </a:solidFill>
                          <a:latin typeface="Courier New"/>
                        </a:rPr>
                        <a:t>320.6</a:t>
                      </a:r>
                    </a:p>
                  </a:txBody>
                  <a:tcPr marL="54864" marR="54864" marT="27432" marB="27432">
                    <a:solidFill>
                      <a:srgbClr val="FFFFFF"/>
                    </a:solidFill>
                  </a:tcPr>
                </a:tc>
              </a:tr>
              <a:tr h="301752">
                <a:tc>
                  <a:txBody>
                    <a:bodyPr wrap="square"/>
                    <a:lstStyle/>
                    <a:p>
                      <a:pPr algn="l"/>
                      <a:r>
                        <a:rPr sz="1100" b="0">
                          <a:solidFill>
                            <a:srgbClr val="14324A"/>
                          </a:solidFill>
                          <a:latin typeface="Calibri"/>
                        </a:rPr>
                        <a:t>Maragoli</a:t>
                      </a:r>
                    </a:p>
                  </a:txBody>
                  <a:tcPr marL="54864" marR="54864" marT="27432" marB="27432">
                    <a:solidFill>
                      <a:srgbClr val="FFFFFF"/>
                    </a:solidFill>
                  </a:tcPr>
                </a:tc>
                <a:tc>
                  <a:txBody>
                    <a:bodyPr wrap="square"/>
                    <a:lstStyle/>
                    <a:p>
                      <a:pPr algn="l"/>
                      <a:r>
                        <a:rPr sz="1100" b="0">
                          <a:solidFill>
                            <a:srgbClr val="14324A"/>
                          </a:solidFill>
                          <a:latin typeface="Calibri"/>
                        </a:rPr>
                        <a:t>Vuuka</a:t>
                      </a:r>
                    </a:p>
                  </a:txBody>
                  <a:tcPr marL="54864" marR="54864" marT="27432" marB="27432">
                    <a:solidFill>
                      <a:srgbClr val="FFFFFF"/>
                    </a:solidFill>
                  </a:tcPr>
                </a:tc>
                <a:tc>
                  <a:txBody>
                    <a:bodyPr wrap="square"/>
                    <a:lstStyle/>
                    <a:p>
                      <a:pPr algn="r"/>
                      <a:r>
                        <a:rPr sz="1100" b="0">
                          <a:solidFill>
                            <a:srgbClr val="14324A"/>
                          </a:solidFill>
                          <a:latin typeface="Courier New"/>
                        </a:rPr>
                        <a:t>3017</a:t>
                      </a:r>
                    </a:p>
                  </a:txBody>
                  <a:tcPr marL="54864" marR="54864" marT="27432" marB="27432">
                    <a:solidFill>
                      <a:srgbClr val="FFFFFF"/>
                    </a:solidFill>
                  </a:tcPr>
                </a:tc>
                <a:tc>
                  <a:txBody>
                    <a:bodyPr wrap="square"/>
                    <a:lstStyle/>
                    <a:p>
                      <a:pPr algn="r"/>
                      <a:r>
                        <a:rPr sz="1100" b="0">
                          <a:solidFill>
                            <a:srgbClr val="14324A"/>
                          </a:solidFill>
                          <a:latin typeface="Courier New"/>
                        </a:rPr>
                        <a:t>311.6</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r h="301752">
                <a:tc>
                  <a:txBody>
                    <a:bodyPr wrap="square"/>
                    <a:lstStyle/>
                    <a:p>
                      <a:pPr algn="l"/>
                      <a:r>
                        <a:rPr sz="1100" b="0">
                          <a:solidFill>
                            <a:srgbClr val="14324A"/>
                          </a:solidFill>
                          <a:latin typeface="Calibri"/>
                        </a:rPr>
                        <a:t>Kalenjin</a:t>
                      </a:r>
                    </a:p>
                  </a:txBody>
                  <a:tcPr marL="54864" marR="54864" marT="27432" marB="27432">
                    <a:solidFill>
                      <a:srgbClr val="FFFFFF"/>
                    </a:solidFill>
                  </a:tcPr>
                </a:tc>
                <a:tc>
                  <a:txBody>
                    <a:bodyPr wrap="square"/>
                    <a:lstStyle/>
                    <a:p>
                      <a:pPr algn="l"/>
                      <a:r>
                        <a:rPr sz="1100" b="0">
                          <a:solidFill>
                            <a:srgbClr val="14324A"/>
                          </a:solidFill>
                          <a:latin typeface="Calibri"/>
                        </a:rPr>
                        <a:t>Chamgei</a:t>
                      </a:r>
                    </a:p>
                  </a:txBody>
                  <a:tcPr marL="54864" marR="54864" marT="27432" marB="27432">
                    <a:solidFill>
                      <a:srgbClr val="FFFFFF"/>
                    </a:solidFill>
                  </a:tcPr>
                </a:tc>
                <a:tc>
                  <a:txBody>
                    <a:bodyPr wrap="square"/>
                    <a:lstStyle/>
                    <a:p>
                      <a:pPr algn="r"/>
                      <a:r>
                        <a:rPr sz="1100" b="0">
                          <a:solidFill>
                            <a:srgbClr val="14324A"/>
                          </a:solidFill>
                          <a:latin typeface="Courier New"/>
                        </a:rPr>
                        <a:t>841</a:t>
                      </a:r>
                    </a:p>
                  </a:txBody>
                  <a:tcPr marL="54864" marR="54864" marT="27432" marB="27432">
                    <a:solidFill>
                      <a:srgbClr val="FFFFFF"/>
                    </a:solidFill>
                  </a:tcPr>
                </a:tc>
                <a:tc>
                  <a:txBody>
                    <a:bodyPr wrap="square"/>
                    <a:lstStyle/>
                    <a:p>
                      <a:pPr algn="r"/>
                      <a:r>
                        <a:rPr sz="1100" b="0">
                          <a:solidFill>
                            <a:srgbClr val="14324A"/>
                          </a:solidFill>
                          <a:latin typeface="Courier New"/>
                        </a:rPr>
                        <a:t>300.8</a:t>
                      </a:r>
                    </a:p>
                  </a:txBody>
                  <a:tcPr marL="54864" marR="54864" marT="27432" marB="27432">
                    <a:solidFill>
                      <a:srgbClr val="FFFFFF"/>
                    </a:solidFill>
                  </a:tcPr>
                </a:tc>
                <a:tc>
                  <a:txBody>
                    <a:bodyPr wrap="square"/>
                    <a:lstStyle/>
                    <a:p>
                      <a:pPr algn="r"/>
                      <a:r>
                        <a:rPr sz="1100" b="0">
                          <a:solidFill>
                            <a:srgbClr val="14324A"/>
                          </a:solidFill>
                          <a:latin typeface="Courier New"/>
                        </a:rPr>
                        <a:t>22301</a:t>
                      </a:r>
                    </a:p>
                  </a:txBody>
                  <a:tcPr marL="54864" marR="54864" marT="27432" marB="27432">
                    <a:solidFill>
                      <a:srgbClr val="FFFFFF"/>
                    </a:solidFill>
                  </a:tcPr>
                </a:tc>
                <a:tc>
                  <a:txBody>
                    <a:bodyPr wrap="square"/>
                    <a:lstStyle/>
                    <a:p>
                      <a:pPr algn="r"/>
                      <a:r>
                        <a:rPr sz="1100" b="0">
                          <a:solidFill>
                            <a:srgbClr val="14324A"/>
                          </a:solidFill>
                          <a:latin typeface="Courier New"/>
                        </a:rPr>
                        <a:t>18.0</a:t>
                      </a:r>
                    </a:p>
                  </a:txBody>
                  <a:tcPr marL="54864" marR="54864" marT="27432" marB="27432">
                    <a:solidFill>
                      <a:srgbClr val="FFFFFF"/>
                    </a:solidFill>
                  </a:tcPr>
                </a:tc>
              </a:tr>
              <a:tr h="301752">
                <a:tc>
                  <a:txBody>
                    <a:bodyPr wrap="square"/>
                    <a:lstStyle/>
                    <a:p>
                      <a:pPr algn="l"/>
                      <a:r>
                        <a:rPr sz="1100" b="0">
                          <a:solidFill>
                            <a:srgbClr val="14324A"/>
                          </a:solidFill>
                          <a:latin typeface="Calibri"/>
                        </a:rPr>
                        <a:t>Meru</a:t>
                      </a:r>
                    </a:p>
                  </a:txBody>
                  <a:tcPr marL="54864" marR="54864" marT="27432" marB="27432">
                    <a:solidFill>
                      <a:srgbClr val="FFFFFF"/>
                    </a:solidFill>
                  </a:tcPr>
                </a:tc>
                <a:tc>
                  <a:txBody>
                    <a:bodyPr wrap="square"/>
                    <a:lstStyle/>
                    <a:p>
                      <a:pPr algn="l"/>
                      <a:r>
                        <a:rPr sz="1100" b="0">
                          <a:solidFill>
                            <a:srgbClr val="14324A"/>
                          </a:solidFill>
                          <a:latin typeface="Calibri"/>
                        </a:rPr>
                        <a:t>Muuga</a:t>
                      </a:r>
                    </a:p>
                  </a:txBody>
                  <a:tcPr marL="54864" marR="54864" marT="27432" marB="27432">
                    <a:solidFill>
                      <a:srgbClr val="FFFFFF"/>
                    </a:solidFill>
                  </a:tcPr>
                </a:tc>
                <a:tc>
                  <a:txBody>
                    <a:bodyPr wrap="square"/>
                    <a:lstStyle/>
                    <a:p>
                      <a:pPr algn="r"/>
                      <a:r>
                        <a:rPr sz="1100" b="0">
                          <a:solidFill>
                            <a:srgbClr val="14324A"/>
                          </a:solidFill>
                          <a:latin typeface="Courier New"/>
                        </a:rPr>
                        <a:t>1973</a:t>
                      </a:r>
                    </a:p>
                  </a:txBody>
                  <a:tcPr marL="54864" marR="54864" marT="27432" marB="27432">
                    <a:solidFill>
                      <a:srgbClr val="FFFFFF"/>
                    </a:solidFill>
                  </a:tcPr>
                </a:tc>
                <a:tc>
                  <a:txBody>
                    <a:bodyPr wrap="square"/>
                    <a:lstStyle/>
                    <a:p>
                      <a:pPr algn="r"/>
                      <a:r>
                        <a:rPr sz="1100" b="0">
                          <a:solidFill>
                            <a:srgbClr val="14324A"/>
                          </a:solidFill>
                          <a:latin typeface="Courier New"/>
                        </a:rPr>
                        <a:t>282.6</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r h="301752">
                <a:tc>
                  <a:txBody>
                    <a:bodyPr wrap="square"/>
                    <a:lstStyle/>
                    <a:p>
                      <a:pPr algn="l"/>
                      <a:r>
                        <a:rPr sz="1100" b="0">
                          <a:solidFill>
                            <a:srgbClr val="14324A"/>
                          </a:solidFill>
                          <a:latin typeface="Calibri"/>
                        </a:rPr>
                        <a:t>Embu</a:t>
                      </a:r>
                    </a:p>
                  </a:txBody>
                  <a:tcPr marL="54864" marR="54864" marT="27432" marB="27432">
                    <a:solidFill>
                      <a:srgbClr val="FFFFFF"/>
                    </a:solidFill>
                  </a:tcPr>
                </a:tc>
                <a:tc>
                  <a:txBody>
                    <a:bodyPr wrap="square"/>
                    <a:lstStyle/>
                    <a:p>
                      <a:pPr algn="l"/>
                      <a:r>
                        <a:rPr sz="1100" b="0">
                          <a:solidFill>
                            <a:srgbClr val="14324A"/>
                          </a:solidFill>
                          <a:latin typeface="Calibri"/>
                        </a:rPr>
                        <a:t>wimwaro</a:t>
                      </a:r>
                    </a:p>
                  </a:txBody>
                  <a:tcPr marL="54864" marR="54864" marT="27432" marB="27432">
                    <a:solidFill>
                      <a:srgbClr val="FFFFFF"/>
                    </a:solidFill>
                  </a:tcPr>
                </a:tc>
                <a:tc>
                  <a:txBody>
                    <a:bodyPr wrap="square"/>
                    <a:lstStyle/>
                    <a:p>
                      <a:pPr algn="r"/>
                      <a:r>
                        <a:rPr sz="1100" b="0">
                          <a:solidFill>
                            <a:srgbClr val="14324A"/>
                          </a:solidFill>
                          <a:latin typeface="Courier New"/>
                        </a:rPr>
                        <a:t>1501</a:t>
                      </a:r>
                    </a:p>
                  </a:txBody>
                  <a:tcPr marL="54864" marR="54864" marT="27432" marB="27432">
                    <a:solidFill>
                      <a:srgbClr val="FFFFFF"/>
                    </a:solidFill>
                  </a:tcPr>
                </a:tc>
                <a:tc>
                  <a:txBody>
                    <a:bodyPr wrap="square"/>
                    <a:lstStyle/>
                    <a:p>
                      <a:pPr algn="r"/>
                      <a:r>
                        <a:rPr sz="1100" b="0">
                          <a:solidFill>
                            <a:srgbClr val="14324A"/>
                          </a:solidFill>
                          <a:latin typeface="Courier New"/>
                        </a:rPr>
                        <a:t>276.4</a:t>
                      </a:r>
                    </a:p>
                  </a:txBody>
                  <a:tcPr marL="54864" marR="54864" marT="27432" marB="27432">
                    <a:solidFill>
                      <a:srgbClr val="FFFFFF"/>
                    </a:solidFill>
                  </a:tcPr>
                </a:tc>
                <a:tc>
                  <a:txBody>
                    <a:bodyPr wrap="square"/>
                    <a:lstStyle/>
                    <a:p>
                      <a:pPr algn="r"/>
                      <a:r>
                        <a:rPr sz="1100" b="0">
                          <a:solidFill>
                            <a:srgbClr val="14324A"/>
                          </a:solidFill>
                          <a:latin typeface="Courier New"/>
                        </a:rPr>
                        <a:t>0</a:t>
                      </a:r>
                    </a:p>
                  </a:txBody>
                  <a:tcPr marL="54864" marR="54864" marT="27432" marB="27432">
                    <a:solidFill>
                      <a:srgbClr val="FFFFFF"/>
                    </a:solidFill>
                  </a:tcPr>
                </a:tc>
                <a:tc>
                  <a:txBody>
                    <a:bodyPr wrap="square"/>
                    <a:lstStyle/>
                    <a:p>
                      <a:pPr algn="r"/>
                      <a:r>
                        <a:rPr sz="1100" b="0">
                          <a:solidFill>
                            <a:srgbClr val="14324A"/>
                          </a:solidFill>
                          <a:latin typeface="Courier New"/>
                        </a:rPr>
                        <a:t>0.0</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The workbench registers recordings per language with their length and whether a transcript was produced; transcript hours are the summed segment spans.</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[measured]  Receipt R08: Aggregate-only database reading etx-81e10befe6e0: news_vault.stories (script, title, date, hour_id) → news_vault.hours (station_id, time, type_id) → news_vault.stations (name); news_vault.news (2022 bulletins); local.uploaded_files (language_id, audio_length, status) ← local.transcripts (file_id, start_time, end_time, transcript) ; local.folder_languages (Language, code, station)</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07</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Data products to stand up first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PRODUCTS</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Three of 8 candidates are the proposed first specifications, each needing preparation</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Reference and master-data licensing is graded C. First task: isolate canonical reference fields and check completeness.</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content catalogue and recommendation corpus is graded C. First task: reconcile catalogue entries and remove identifiers.</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Channel and telco engagement analytics is graded C. First task: aggregate by channel and time, then validate the metrics.</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This shortlist is a recommendation, not a measured commercial ranking. Each needs a buyer-side fit review; no revenue is implied.</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08</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Decisions requested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DECISIONS</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Ten decisions are requested, each resting on named evidence and none yet executed</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Approve validation of tiering for 41.9 TiB of write-inactive object bytes. The benefit is bounded by 1,174.4 USD a month at list prices.</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Approve content-hash confirmation of 7.7 TiB of duplicate candidates before any removal.</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Approve reconciliation of 40 unreadable buckets with the provider.</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Approve preparation of one bounded product, from the 529.5 staged audio hours or a shortlisted database product, with a named role and acceptance check.</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Executive decisions requested — one row each</a:t>
            </a:r>
          </a:p>
        </p:txBody>
      </p:sp>
      <p:graphicFrame>
        <p:nvGraphicFramePr>
          <p:cNvPr id="4" name="Table 3"/>
          <p:cNvGraphicFramePr>
            <a:graphicFrameLocks noGrp="1"/>
          </p:cNvGraphicFramePr>
          <p:nvPr/>
        </p:nvGraphicFramePr>
        <p:xfrm>
          <a:off x="594360" y="1920240"/>
          <a:ext cx="11002970" cy="3017520"/>
        </p:xfrm>
        <a:graphic>
          <a:graphicData uri="http://schemas.openxmlformats.org/drawingml/2006/table">
            <a:tbl>
              <a:tblPr firstRow="1" bandRow="1">
                <a:tableStyleId>{5C22544A-7EE6-4342-B048-85BDC9FD1C3A}</a:tableStyleId>
              </a:tblPr>
              <a:tblGrid>
                <a:gridCol w="687685"/>
                <a:gridCol w="2063057"/>
                <a:gridCol w="2063057"/>
                <a:gridCol w="2063057"/>
                <a:gridCol w="2063057"/>
                <a:gridCol w="2063057"/>
              </a:tblGrid>
              <a:tr h="301752">
                <a:tc>
                  <a:txBody>
                    <a:bodyPr wrap="square"/>
                    <a:lstStyle/>
                    <a:p>
                      <a:pPr algn="l"/>
                      <a:r>
                        <a:rPr sz="1100" b="1">
                          <a:solidFill>
                            <a:srgbClr val="14324A"/>
                          </a:solidFill>
                          <a:latin typeface="Calibri"/>
                        </a:rPr>
                        <a:t>No.</a:t>
                      </a:r>
                    </a:p>
                  </a:txBody>
                  <a:tcPr marL="54864" marR="54864" marT="27432" marB="27432">
                    <a:solidFill>
                      <a:srgbClr val="E8EEF3"/>
                    </a:solidFill>
                  </a:tcPr>
                </a:tc>
                <a:tc>
                  <a:txBody>
                    <a:bodyPr wrap="square"/>
                    <a:lstStyle/>
                    <a:p>
                      <a:pPr algn="l"/>
                      <a:r>
                        <a:rPr sz="1100" b="1">
                          <a:solidFill>
                            <a:srgbClr val="14324A"/>
                          </a:solidFill>
                          <a:latin typeface="Calibri"/>
                        </a:rPr>
                        <a:t>Decision requested</a:t>
                      </a:r>
                    </a:p>
                  </a:txBody>
                  <a:tcPr marL="54864" marR="54864" marT="27432" marB="27432">
                    <a:solidFill>
                      <a:srgbClr val="E8EEF3"/>
                    </a:solidFill>
                  </a:tcPr>
                </a:tc>
                <a:tc>
                  <a:txBody>
                    <a:bodyPr wrap="square"/>
                    <a:lstStyle/>
                    <a:p>
                      <a:pPr algn="l"/>
                      <a:r>
                        <a:rPr sz="1100" b="1">
                          <a:solidFill>
                            <a:srgbClr val="14324A"/>
                          </a:solidFill>
                          <a:latin typeface="Calibri"/>
                        </a:rPr>
                        <a:t>Exact source</a:t>
                      </a:r>
                    </a:p>
                  </a:txBody>
                  <a:tcPr marL="54864" marR="54864" marT="27432" marB="27432">
                    <a:solidFill>
                      <a:srgbClr val="E8EEF3"/>
                    </a:solidFill>
                  </a:tcPr>
                </a:tc>
                <a:tc>
                  <a:txBody>
                    <a:bodyPr wrap="square"/>
                    <a:lstStyle/>
                    <a:p>
                      <a:pPr algn="l"/>
                      <a:r>
                        <a:rPr sz="1100" b="1">
                          <a:solidFill>
                            <a:srgbClr val="14324A"/>
                          </a:solidFill>
                          <a:latin typeface="Calibri"/>
                        </a:rPr>
                        <a:t>Proposed destination or rule</a:t>
                      </a:r>
                    </a:p>
                  </a:txBody>
                  <a:tcPr marL="54864" marR="54864" marT="27432" marB="27432">
                    <a:solidFill>
                      <a:srgbClr val="E8EEF3"/>
                    </a:solidFill>
                  </a:tcPr>
                </a:tc>
                <a:tc>
                  <a:txBody>
                    <a:bodyPr wrap="square"/>
                    <a:lstStyle/>
                    <a:p>
                      <a:pPr algn="l"/>
                      <a:r>
                        <a:rPr sz="1100" b="1">
                          <a:solidFill>
                            <a:srgbClr val="14324A"/>
                          </a:solidFill>
                          <a:latin typeface="Calibri"/>
                        </a:rPr>
                        <a:t>Responsible role</a:t>
                      </a:r>
                    </a:p>
                  </a:txBody>
                  <a:tcPr marL="54864" marR="54864" marT="27432" marB="27432">
                    <a:solidFill>
                      <a:srgbClr val="E8EEF3"/>
                    </a:solidFill>
                  </a:tcPr>
                </a:tc>
                <a:tc>
                  <a:txBody>
                    <a:bodyPr wrap="square"/>
                    <a:lstStyle/>
                    <a:p>
                      <a:pPr algn="l"/>
                      <a:r>
                        <a:rPr sz="1100" b="1">
                          <a:solidFill>
                            <a:srgbClr val="14324A"/>
                          </a:solidFill>
                          <a:latin typeface="Calibri"/>
                        </a:rPr>
                        <a:t>Expected benefit</a:t>
                      </a:r>
                    </a:p>
                  </a:txBody>
                  <a:tcPr marL="54864" marR="54864" marT="27432" marB="27432">
                    <a:solidFill>
                      <a:srgbClr val="E8EEF3"/>
                    </a:solidFill>
                  </a:tcPr>
                </a:tc>
              </a:tr>
              <a:tr h="301752">
                <a:tc>
                  <a:txBody>
                    <a:bodyPr wrap="square"/>
                    <a:lstStyle/>
                    <a:p>
                      <a:pPr algn="l"/>
                      <a:r>
                        <a:rPr sz="1100" b="0">
                          <a:solidFill>
                            <a:srgbClr val="14324A"/>
                          </a:solidFill>
                          <a:latin typeface="Calibri"/>
                        </a:rPr>
                        <a:t>D1</a:t>
                      </a:r>
                    </a:p>
                  </a:txBody>
                  <a:tcPr marL="54864" marR="54864" marT="27432" marB="27432">
                    <a:solidFill>
                      <a:srgbClr val="FFFFFF"/>
                    </a:solidFill>
                  </a:tcPr>
                </a:tc>
                <a:tc>
                  <a:txBody>
                    <a:bodyPr wrap="square"/>
                    <a:lstStyle/>
                    <a:p>
                      <a:pPr algn="l"/>
                      <a:r>
                        <a:rPr sz="1100" b="0">
                          <a:solidFill>
                            <a:srgbClr val="14324A"/>
                          </a:solidFill>
                          <a:latin typeface="Calibri"/>
                        </a:rPr>
                        <a:t>Approve archive tiering of the cold object-store buckets</a:t>
                      </a:r>
                    </a:p>
                  </a:txBody>
                  <a:tcPr marL="54864" marR="54864" marT="27432" marB="27432">
                    <a:solidFill>
                      <a:srgbClr val="FFFFFF"/>
                    </a:solidFill>
                  </a:tcPr>
                </a:tc>
                <a:tc>
                  <a:txBody>
                    <a:bodyPr wrap="square"/>
                    <a:lstStyle/>
                    <a:p>
                      <a:pPr algn="l"/>
                      <a:r>
                        <a:rPr sz="1100" b="0">
                          <a:solidFill>
                            <a:srgbClr val="14324A"/>
                          </a:solidFill>
                          <a:latin typeface="Calibri"/>
                        </a:rPr>
                        <a:t>43 buckets, e.g. music-bucket-rms, na7p43do, na7p43js, na7p434j, na7p41hj</a:t>
                      </a:r>
                    </a:p>
                  </a:txBody>
                  <a:tcPr marL="54864" marR="54864" marT="27432" marB="27432">
                    <a:solidFill>
                      <a:srgbClr val="FFFFFF"/>
                    </a:solidFill>
                  </a:tcPr>
                </a:tc>
                <a:tc>
                  <a:txBody>
                    <a:bodyPr wrap="square"/>
                    <a:lstStyle/>
                    <a:p>
                      <a:pPr algn="l"/>
                      <a:r>
                        <a:rPr sz="1100" b="0">
                          <a:solidFill>
                            <a:srgbClr val="14324A"/>
                          </a:solidFill>
                          <a:latin typeface="Calibri"/>
                        </a:rPr>
                        <a:t>same buckets, archive storage class (proposed)</a:t>
                      </a:r>
                    </a:p>
                  </a:txBody>
                  <a:tcPr marL="54864" marR="54864" marT="27432" marB="27432">
                    <a:solidFill>
                      <a:srgbClr val="FFFFFF"/>
                    </a:solidFill>
                  </a:tcPr>
                </a:tc>
                <a:tc>
                  <a:txBody>
                    <a:bodyPr wrap="square"/>
                    <a:lstStyle/>
                    <a:p>
                      <a:pPr algn="l"/>
                      <a:r>
                        <a:rPr sz="1100" b="0">
                          <a:solidFill>
                            <a:srgbClr val="14324A"/>
                          </a:solidFill>
                          <a:latin typeface="Calibri"/>
                        </a:rPr>
                        <a:t>Head of Technology (storage owner)</a:t>
                      </a:r>
                    </a:p>
                  </a:txBody>
                  <a:tcPr marL="54864" marR="54864" marT="27432" marB="27432">
                    <a:solidFill>
                      <a:srgbClr val="FFFFFF"/>
                    </a:solidFill>
                  </a:tcPr>
                </a:tc>
                <a:tc>
                  <a:txBody>
                    <a:bodyPr wrap="square"/>
                    <a:lstStyle/>
                    <a:p>
                      <a:pPr algn="l"/>
                      <a:r>
                        <a:rPr sz="1100" b="0">
                          <a:solidFill>
                            <a:srgbClr val="14324A"/>
                          </a:solidFill>
                          <a:latin typeface="Calibri"/>
                        </a:rPr>
                        <a:t>up to 986 USD a month at list price</a:t>
                      </a:r>
                    </a:p>
                  </a:txBody>
                  <a:tcPr marL="54864" marR="54864" marT="27432" marB="27432">
                    <a:solidFill>
                      <a:srgbClr val="FFFFFF"/>
                    </a:solidFill>
                  </a:tcPr>
                </a:tc>
              </a:tr>
              <a:tr h="301752">
                <a:tc>
                  <a:txBody>
                    <a:bodyPr wrap="square"/>
                    <a:lstStyle/>
                    <a:p>
                      <a:pPr algn="l"/>
                      <a:r>
                        <a:rPr sz="1100" b="0">
                          <a:solidFill>
                            <a:srgbClr val="14324A"/>
                          </a:solidFill>
                          <a:latin typeface="Calibri"/>
                        </a:rPr>
                        <a:t>D2</a:t>
                      </a:r>
                    </a:p>
                  </a:txBody>
                  <a:tcPr marL="54864" marR="54864" marT="27432" marB="27432">
                    <a:solidFill>
                      <a:srgbClr val="FFFFFF"/>
                    </a:solidFill>
                  </a:tcPr>
                </a:tc>
                <a:tc>
                  <a:txBody>
                    <a:bodyPr wrap="square"/>
                    <a:lstStyle/>
                    <a:p>
                      <a:pPr algn="l"/>
                      <a:r>
                        <a:rPr sz="1100" b="0">
                          <a:solidFill>
                            <a:srgbClr val="14324A"/>
                          </a:solidFill>
                          <a:latin typeface="Calibri"/>
                        </a:rPr>
                        <a:t>Approve hash confirmation and removal of duplicate objects</a:t>
                      </a:r>
                    </a:p>
                  </a:txBody>
                  <a:tcPr marL="54864" marR="54864" marT="27432" marB="27432">
                    <a:solidFill>
                      <a:srgbClr val="FFFFFF"/>
                    </a:solidFill>
                  </a:tcPr>
                </a:tc>
                <a:tc>
                  <a:txBody>
                    <a:bodyPr wrap="square"/>
                    <a:lstStyle/>
                    <a:p>
                      <a:pPr algn="l"/>
                      <a:r>
                        <a:rPr sz="1100" b="0">
                          <a:solidFill>
                            <a:srgbClr val="14324A"/>
                          </a:solidFill>
                          <a:latin typeface="Calibri"/>
                        </a:rPr>
                        <a:t>na7p43do, na7p4oco, music-bucket-rms, 2024offairrecs (1,139,768 candidates across the store)</a:t>
                      </a:r>
                    </a:p>
                  </a:txBody>
                  <a:tcPr marL="54864" marR="54864" marT="27432" marB="27432">
                    <a:solidFill>
                      <a:srgbClr val="FFFFFF"/>
                    </a:solidFill>
                  </a:tcPr>
                </a:tc>
                <a:tc>
                  <a:txBody>
                    <a:bodyPr wrap="square"/>
                    <a:lstStyle/>
                    <a:p>
                      <a:pPr algn="l"/>
                      <a:r>
                        <a:rPr sz="1100" b="0">
                          <a:solidFill>
                            <a:srgbClr val="14324A"/>
                          </a:solidFill>
                          <a:latin typeface="Calibri"/>
                        </a:rPr>
                        <a:t>keeper stays in its bucket; duplicates removed after confirmation (proposed)</a:t>
                      </a:r>
                    </a:p>
                  </a:txBody>
                  <a:tcPr marL="54864" marR="54864" marT="27432" marB="27432">
                    <a:solidFill>
                      <a:srgbClr val="FFFFFF"/>
                    </a:solidFill>
                  </a:tcPr>
                </a:tc>
                <a:tc>
                  <a:txBody>
                    <a:bodyPr wrap="square"/>
                    <a:lstStyle/>
                    <a:p>
                      <a:pPr algn="l"/>
                      <a:r>
                        <a:rPr sz="1100" b="0">
                          <a:solidFill>
                            <a:srgbClr val="14324A"/>
                          </a:solidFill>
                          <a:latin typeface="Calibri"/>
                        </a:rPr>
                        <a:t>Head of Technology with the content librarian</a:t>
                      </a:r>
                    </a:p>
                  </a:txBody>
                  <a:tcPr marL="54864" marR="54864" marT="27432" marB="27432">
                    <a:solidFill>
                      <a:srgbClr val="FFFFFF"/>
                    </a:solidFill>
                  </a:tcPr>
                </a:tc>
                <a:tc>
                  <a:txBody>
                    <a:bodyPr wrap="square"/>
                    <a:lstStyle/>
                    <a:p>
                      <a:pPr algn="l"/>
                      <a:r>
                        <a:rPr sz="1100" b="0">
                          <a:solidFill>
                            <a:srgbClr val="14324A"/>
                          </a:solidFill>
                          <a:latin typeface="Calibri"/>
                        </a:rPr>
                        <a:t>up to 180 USD a month at list price</a:t>
                      </a:r>
                    </a:p>
                  </a:txBody>
                  <a:tcPr marL="54864" marR="54864" marT="27432" marB="27432">
                    <a:solidFill>
                      <a:srgbClr val="FFFFFF"/>
                    </a:solidFill>
                  </a:tcPr>
                </a:tc>
              </a:tr>
              <a:tr h="301752">
                <a:tc>
                  <a:txBody>
                    <a:bodyPr wrap="square"/>
                    <a:lstStyle/>
                    <a:p>
                      <a:pPr algn="l"/>
                      <a:r>
                        <a:rPr sz="1100" b="0">
                          <a:solidFill>
                            <a:srgbClr val="14324A"/>
                          </a:solidFill>
                          <a:latin typeface="Calibri"/>
                        </a:rPr>
                        <a:t>D3</a:t>
                      </a:r>
                    </a:p>
                  </a:txBody>
                  <a:tcPr marL="54864" marR="54864" marT="27432" marB="27432">
                    <a:solidFill>
                      <a:srgbClr val="FFFFFF"/>
                    </a:solidFill>
                  </a:tcPr>
                </a:tc>
                <a:tc>
                  <a:txBody>
                    <a:bodyPr wrap="square"/>
                    <a:lstStyle/>
                    <a:p>
                      <a:pPr algn="l"/>
                      <a:r>
                        <a:rPr sz="1100" b="0">
                          <a:solidFill>
                            <a:srgbClr val="14324A"/>
                          </a:solidFill>
                          <a:latin typeface="Calibri"/>
                        </a:rPr>
                        <a:t>Instruct reconciliation of the unreadable buckets</a:t>
                      </a:r>
                    </a:p>
                  </a:txBody>
                  <a:tcPr marL="54864" marR="54864" marT="27432" marB="27432">
                    <a:solidFill>
                      <a:srgbClr val="FFFFFF"/>
                    </a:solidFill>
                  </a:tcPr>
                </a:tc>
                <a:tc>
                  <a:txBody>
                    <a:bodyPr wrap="square"/>
                    <a:lstStyle/>
                    <a:p>
                      <a:pPr algn="l"/>
                      <a:r>
                        <a:rPr sz="1100" b="0">
                          <a:solidFill>
                            <a:srgbClr val="14324A"/>
                          </a:solidFill>
                          <a:latin typeface="Calibri"/>
                        </a:rPr>
                        <a:t>40 buckets, e.g. apr252017, citizen-vod, elections, feb272017, instore-radio-items</a:t>
                      </a:r>
                    </a:p>
                  </a:txBody>
                  <a:tcPr marL="54864" marR="54864" marT="27432" marB="27432">
                    <a:solidFill>
                      <a:srgbClr val="FFFFFF"/>
                    </a:solidFill>
                  </a:tcPr>
                </a:tc>
                <a:tc>
                  <a:txBody>
                    <a:bodyPr wrap="square"/>
                    <a:lstStyle/>
                    <a:p>
                      <a:pPr algn="l"/>
                      <a:r>
                        <a:rPr sz="1100" b="0">
                          <a:solidFill>
                            <a:srgbClr val="14324A"/>
                          </a:solidFill>
                          <a:latin typeface="Calibri"/>
                        </a:rPr>
                        <a:t>inventory register corrected (proposed)</a:t>
                      </a:r>
                    </a:p>
                  </a:txBody>
                  <a:tcPr marL="54864" marR="54864" marT="27432" marB="27432">
                    <a:solidFill>
                      <a:srgbClr val="FFFFFF"/>
                    </a:solidFill>
                  </a:tcPr>
                </a:tc>
                <a:tc>
                  <a:txBody>
                    <a:bodyPr wrap="square"/>
                    <a:lstStyle/>
                    <a:p>
                      <a:pPr algn="l"/>
                      <a:r>
                        <a:rPr sz="1100" b="0">
                          <a:solidFill>
                            <a:srgbClr val="14324A"/>
                          </a:solidFill>
                          <a:latin typeface="Calibri"/>
                        </a:rPr>
                        <a:t>Cloud account owner</a:t>
                      </a:r>
                    </a:p>
                  </a:txBody>
                  <a:tcPr marL="54864" marR="54864" marT="27432" marB="27432">
                    <a:solidFill>
                      <a:srgbClr val="FFFFFF"/>
                    </a:solidFill>
                  </a:tcPr>
                </a:tc>
                <a:tc>
                  <a:txBody>
                    <a:bodyPr wrap="square"/>
                    <a:lstStyle/>
                    <a:p>
                      <a:pPr algn="l"/>
                      <a:r>
                        <a:rPr sz="1100" b="0">
                          <a:solidFill>
                            <a:srgbClr val="14324A"/>
                          </a:solidFill>
                          <a:latin typeface="Calibri"/>
                        </a:rPr>
                        <a:t>an inventory the next census can trust</a:t>
                      </a:r>
                    </a:p>
                  </a:txBody>
                  <a:tcPr marL="54864" marR="54864" marT="27432" marB="27432">
                    <a:solidFill>
                      <a:srgbClr val="FFFFFF"/>
                    </a:solidFill>
                  </a:tcPr>
                </a:tc>
              </a:tr>
              <a:tr h="301752">
                <a:tc>
                  <a:txBody>
                    <a:bodyPr wrap="square"/>
                    <a:lstStyle/>
                    <a:p>
                      <a:pPr algn="l"/>
                      <a:r>
                        <a:rPr sz="1100" b="0">
                          <a:solidFill>
                            <a:srgbClr val="14324A"/>
                          </a:solidFill>
                          <a:latin typeface="Calibri"/>
                        </a:rPr>
                        <a:t>D4</a:t>
                      </a:r>
                    </a:p>
                  </a:txBody>
                  <a:tcPr marL="54864" marR="54864" marT="27432" marB="27432">
                    <a:solidFill>
                      <a:srgbClr val="FFFFFF"/>
                    </a:solidFill>
                  </a:tcPr>
                </a:tc>
                <a:tc>
                  <a:txBody>
                    <a:bodyPr wrap="square"/>
                    <a:lstStyle/>
                    <a:p>
                      <a:pPr algn="l"/>
                      <a:r>
                        <a:rPr sz="1100" b="0">
                          <a:solidFill>
                            <a:srgbClr val="14324A"/>
                          </a:solidFill>
                          <a:latin typeface="Calibri"/>
                        </a:rPr>
                        <a:t>Approve cold-table archiving in the databases</a:t>
                      </a:r>
                    </a:p>
                  </a:txBody>
                  <a:tcPr marL="54864" marR="54864" marT="27432" marB="27432">
                    <a:solidFill>
                      <a:srgbClr val="FFFFFF"/>
                    </a:solidFill>
                  </a:tcPr>
                </a:tc>
                <a:tc>
                  <a:txBody>
                    <a:bodyPr wrap="square"/>
                    <a:lstStyle/>
                    <a:p>
                      <a:pPr algn="l"/>
                      <a:r>
                        <a:rPr sz="1100" b="0">
                          <a:solidFill>
                            <a:srgbClr val="14324A"/>
                          </a:solidFill>
                          <a:latin typeface="Calibri"/>
                        </a:rPr>
                        <a:t>6 tables, e.g. viusasa_staging.audits, viusasa_staging.master_payments, razuna.raz1_videos, viusasa_staging.payment_requests</a:t>
                      </a:r>
                    </a:p>
                  </a:txBody>
                  <a:tcPr marL="54864" marR="54864" marT="27432" marB="27432">
                    <a:solidFill>
                      <a:srgbClr val="FFFFFF"/>
                    </a:solidFill>
                  </a:tcPr>
                </a:tc>
                <a:tc>
                  <a:txBody>
                    <a:bodyPr wrap="square"/>
                    <a:lstStyle/>
                    <a:p>
                      <a:pPr algn="l"/>
                      <a:r>
                        <a:rPr sz="1100" b="0">
                          <a:solidFill>
                            <a:srgbClr val="14324A"/>
                          </a:solidFill>
                          <a:latin typeface="Calibri"/>
                        </a:rPr>
                        <a:t>object store, archive class, one prefix per database (proposed)</a:t>
                      </a:r>
                    </a:p>
                  </a:txBody>
                  <a:tcPr marL="54864" marR="54864" marT="27432" marB="27432">
                    <a:solidFill>
                      <a:srgbClr val="FFFFFF"/>
                    </a:solidFill>
                  </a:tcPr>
                </a:tc>
                <a:tc>
                  <a:txBody>
                    <a:bodyPr wrap="square"/>
                    <a:lstStyle/>
                    <a:p>
                      <a:pPr algn="l"/>
                      <a:r>
                        <a:rPr sz="1100" b="0">
                          <a:solidFill>
                            <a:srgbClr val="14324A"/>
                          </a:solidFill>
                          <a:latin typeface="Calibri"/>
                        </a:rPr>
                        <a:t>Database administrator</a:t>
                      </a:r>
                    </a:p>
                  </a:txBody>
                  <a:tcPr marL="54864" marR="54864" marT="27432" marB="27432">
                    <a:solidFill>
                      <a:srgbClr val="FFFFFF"/>
                    </a:solidFill>
                  </a:tcPr>
                </a:tc>
                <a:tc>
                  <a:txBody>
                    <a:bodyPr wrap="square"/>
                    <a:lstStyle/>
                    <a:p>
                      <a:pPr algn="l"/>
                      <a:r>
                        <a:rPr sz="1100" b="0">
                          <a:solidFill>
                            <a:srgbClr val="14324A"/>
                          </a:solidFill>
                          <a:latin typeface="Calibri"/>
                        </a:rPr>
                        <a:t>up to 6 USD a month at list price</a:t>
                      </a:r>
                    </a:p>
                  </a:txBody>
                  <a:tcPr marL="54864" marR="54864" marT="27432" marB="27432">
                    <a:solidFill>
                      <a:srgbClr val="FFFFFF"/>
                    </a:solidFill>
                  </a:tcPr>
                </a:tc>
              </a:tr>
              <a:tr h="301752">
                <a:tc>
                  <a:txBody>
                    <a:bodyPr wrap="square"/>
                    <a:lstStyle/>
                    <a:p>
                      <a:pPr algn="l"/>
                      <a:r>
                        <a:rPr sz="1100" b="0">
                          <a:solidFill>
                            <a:srgbClr val="14324A"/>
                          </a:solidFill>
                          <a:latin typeface="Calibri"/>
                        </a:rPr>
                        <a:t>D5</a:t>
                      </a:r>
                    </a:p>
                  </a:txBody>
                  <a:tcPr marL="54864" marR="54864" marT="27432" marB="27432">
                    <a:solidFill>
                      <a:srgbClr val="FFFFFF"/>
                    </a:solidFill>
                  </a:tcPr>
                </a:tc>
                <a:tc>
                  <a:txBody>
                    <a:bodyPr wrap="square"/>
                    <a:lstStyle/>
                    <a:p>
                      <a:pPr algn="l"/>
                      <a:r>
                        <a:rPr sz="1100" b="0">
                          <a:solidFill>
                            <a:srgbClr val="14324A"/>
                          </a:solidFill>
                          <a:latin typeface="Calibri"/>
                        </a:rPr>
                        <a:t>Decide one authoritative copy for each duplicated table pair</a:t>
                      </a:r>
                    </a:p>
                  </a:txBody>
                  <a:tcPr marL="54864" marR="54864" marT="27432" marB="27432">
                    <a:solidFill>
                      <a:srgbClr val="FFFFFF"/>
                    </a:solidFill>
                  </a:tcPr>
                </a:tc>
                <a:tc>
                  <a:txBody>
                    <a:bodyPr wrap="square"/>
                    <a:lstStyle/>
                    <a:p>
                      <a:pPr algn="l"/>
                      <a:r>
                        <a:rPr sz="1100" b="0">
                          <a:solidFill>
                            <a:srgbClr val="14324A"/>
                          </a:solidFill>
                          <a:latin typeface="Calibri"/>
                        </a:rPr>
                        <a:t>71 pairs, e.g. iebc_forms/viupay.failed_jobs ↔ viupay/viupay.failed_jobs; iebc_forms/viutickets.movies ↔ viupay/viutickets.movies; iebc_forms/viutickets.ussd_hits ↔ viupay/viutickets.ussd_hits</a:t>
                      </a:r>
                    </a:p>
                  </a:txBody>
                  <a:tcPr marL="54864" marR="54864" marT="27432" marB="27432">
                    <a:solidFill>
                      <a:srgbClr val="FFFFFF"/>
                    </a:solidFill>
                  </a:tcPr>
                </a:tc>
                <a:tc>
                  <a:txBody>
                    <a:bodyPr wrap="square"/>
                    <a:lstStyle/>
                    <a:p>
                      <a:pPr algn="l"/>
                      <a:r>
                        <a:rPr sz="1100" b="0">
                          <a:solidFill>
                            <a:srgbClr val="14324A"/>
                          </a:solidFill>
                          <a:latin typeface="Calibri"/>
                        </a:rPr>
                        <a:t>master stays; copy retired (proposed)</a:t>
                      </a:r>
                    </a:p>
                  </a:txBody>
                  <a:tcPr marL="54864" marR="54864" marT="27432" marB="27432">
                    <a:solidFill>
                      <a:srgbClr val="FFFFFF"/>
                    </a:solidFill>
                  </a:tcPr>
                </a:tc>
                <a:tc>
                  <a:txBody>
                    <a:bodyPr wrap="square"/>
                    <a:lstStyle/>
                    <a:p>
                      <a:pPr algn="l"/>
                      <a:r>
                        <a:rPr sz="1100" b="0">
                          <a:solidFill>
                            <a:srgbClr val="14324A"/>
                          </a:solidFill>
                          <a:latin typeface="Calibri"/>
                        </a:rPr>
                        <a:t>Database administrator with the application owners</a:t>
                      </a:r>
                    </a:p>
                  </a:txBody>
                  <a:tcPr marL="54864" marR="54864" marT="27432" marB="27432">
                    <a:solidFill>
                      <a:srgbClr val="FFFFFF"/>
                    </a:solidFill>
                  </a:tcPr>
                </a:tc>
                <a:tc>
                  <a:txBody>
                    <a:bodyPr wrap="square"/>
                    <a:lstStyle/>
                    <a:p>
                      <a:pPr algn="l"/>
                      <a:r>
                        <a:rPr sz="1100" b="0">
                          <a:solidFill>
                            <a:srgbClr val="14324A"/>
                          </a:solidFill>
                          <a:latin typeface="Calibri"/>
                        </a:rPr>
                        <a:t>up to 0 USD a month at list price</a:t>
                      </a:r>
                    </a:p>
                  </a:txBody>
                  <a:tcPr marL="54864" marR="54864" marT="27432" marB="27432">
                    <a:solidFill>
                      <a:srgbClr val="FFFFFF"/>
                    </a:solidFill>
                  </a:tcPr>
                </a:tc>
              </a:tr>
              <a:tr h="301752">
                <a:tc>
                  <a:txBody>
                    <a:bodyPr wrap="square"/>
                    <a:lstStyle/>
                    <a:p>
                      <a:pPr algn="l"/>
                      <a:r>
                        <a:rPr sz="1100" b="0">
                          <a:solidFill>
                            <a:srgbClr val="14324A"/>
                          </a:solidFill>
                          <a:latin typeface="Calibri"/>
                        </a:rPr>
                        <a:t>D6</a:t>
                      </a:r>
                    </a:p>
                  </a:txBody>
                  <a:tcPr marL="54864" marR="54864" marT="27432" marB="27432">
                    <a:solidFill>
                      <a:srgbClr val="FFFFFF"/>
                    </a:solidFill>
                  </a:tcPr>
                </a:tc>
                <a:tc>
                  <a:txBody>
                    <a:bodyPr wrap="square"/>
                    <a:lstStyle/>
                    <a:p>
                      <a:pPr algn="l"/>
                      <a:r>
                        <a:rPr sz="1100" b="0">
                          <a:solidFill>
                            <a:srgbClr val="14324A"/>
                          </a:solidFill>
                          <a:latin typeface="Calibri"/>
                        </a:rPr>
                        <a:t>Approve the housekeeping list: empty tables, redundant indexes, repeated rows</a:t>
                      </a:r>
                    </a:p>
                  </a:txBody>
                  <a:tcPr marL="54864" marR="54864" marT="27432" marB="27432">
                    <a:solidFill>
                      <a:srgbClr val="FFFFFF"/>
                    </a:solidFill>
                  </a:tcPr>
                </a:tc>
                <a:tc>
                  <a:txBody>
                    <a:bodyPr wrap="square"/>
                    <a:lstStyle/>
                    <a:p>
                      <a:pPr algn="l"/>
                      <a:r>
                        <a:rPr sz="1100" b="0">
                          <a:solidFill>
                            <a:srgbClr val="14324A"/>
                          </a:solidFill>
                          <a:latin typeface="Calibri"/>
                        </a:rPr>
                        <a:t>368 empty tables; redundant indexes and repeated rows named in the table list</a:t>
                      </a:r>
                    </a:p>
                  </a:txBody>
                  <a:tcPr marL="54864" marR="54864" marT="27432" marB="27432">
                    <a:solidFill>
                      <a:srgbClr val="FFFFFF"/>
                    </a:solidFill>
                  </a:tcPr>
                </a:tc>
                <a:tc>
                  <a:txBody>
                    <a:bodyPr wrap="square"/>
                    <a:lstStyle/>
                    <a:p>
                      <a:pPr algn="l"/>
                      <a:r>
                        <a:rPr sz="1100" b="0">
                          <a:solidFill>
                            <a:srgbClr val="14324A"/>
                          </a:solidFill>
                          <a:latin typeface="Calibri"/>
                        </a:rPr>
                        <a:t>no destination — removal in place after confirmation (proposed)</a:t>
                      </a:r>
                    </a:p>
                  </a:txBody>
                  <a:tcPr marL="54864" marR="54864" marT="27432" marB="27432">
                    <a:solidFill>
                      <a:srgbClr val="FFFFFF"/>
                    </a:solidFill>
                  </a:tcPr>
                </a:tc>
                <a:tc>
                  <a:txBody>
                    <a:bodyPr wrap="square"/>
                    <a:lstStyle/>
                    <a:p>
                      <a:pPr algn="l"/>
                      <a:r>
                        <a:rPr sz="1100" b="0">
                          <a:solidFill>
                            <a:srgbClr val="14324A"/>
                          </a:solidFill>
                          <a:latin typeface="Calibri"/>
                        </a:rPr>
                        <a:t>Database administrator</a:t>
                      </a:r>
                    </a:p>
                  </a:txBody>
                  <a:tcPr marL="54864" marR="54864" marT="27432" marB="27432">
                    <a:solidFill>
                      <a:srgbClr val="FFFFFF"/>
                    </a:solidFill>
                  </a:tcPr>
                </a:tc>
                <a:tc>
                  <a:txBody>
                    <a:bodyPr wrap="square"/>
                    <a:lstStyle/>
                    <a:p>
                      <a:pPr algn="l"/>
                      <a:r>
                        <a:rPr sz="1100" b="0">
                          <a:solidFill>
                            <a:srgbClr val="14324A"/>
                          </a:solidFill>
                          <a:latin typeface="Calibri"/>
                        </a:rPr>
                        <a:t>up to 2 USD a month at list price plus up to 0 USD a month at list price</a:t>
                      </a:r>
                    </a:p>
                  </a:txBody>
                  <a:tcPr marL="54864" marR="54864" marT="27432" marB="27432">
                    <a:solidFill>
                      <a:srgbClr val="FFFFFF"/>
                    </a:solidFill>
                  </a:tcPr>
                </a:tc>
              </a:tr>
              <a:tr h="301752">
                <a:tc>
                  <a:txBody>
                    <a:bodyPr wrap="square"/>
                    <a:lstStyle/>
                    <a:p>
                      <a:pPr algn="l"/>
                      <a:r>
                        <a:rPr sz="1100" b="0">
                          <a:solidFill>
                            <a:srgbClr val="14324A"/>
                          </a:solidFill>
                          <a:latin typeface="Calibri"/>
                        </a:rPr>
                        <a:t>D7</a:t>
                      </a:r>
                    </a:p>
                  </a:txBody>
                  <a:tcPr marL="54864" marR="54864" marT="27432" marB="27432">
                    <a:solidFill>
                      <a:srgbClr val="FFFFFF"/>
                    </a:solidFill>
                  </a:tcPr>
                </a:tc>
                <a:tc>
                  <a:txBody>
                    <a:bodyPr wrap="square"/>
                    <a:lstStyle/>
                    <a:p>
                      <a:pPr algn="l"/>
                      <a:r>
                        <a:rPr sz="1100" b="0">
                          <a:solidFill>
                            <a:srgbClr val="14324A"/>
                          </a:solidFill>
                          <a:latin typeface="Calibri"/>
                        </a:rPr>
                        <a:t>Order a fingerprint pass over the file shares</a:t>
                      </a:r>
                    </a:p>
                  </a:txBody>
                  <a:tcPr marL="54864" marR="54864" marT="27432" marB="27432">
                    <a:solidFill>
                      <a:srgbClr val="FFFFFF"/>
                    </a:solidFill>
                  </a:tcPr>
                </a:tc>
                <a:tc>
                  <a:txBody>
                    <a:bodyPr wrap="square"/>
                    <a:lstStyle/>
                    <a:p>
                      <a:pPr algn="l"/>
                      <a:r>
                        <a:rPr sz="1100" b="0">
                          <a:solidFill>
                            <a:srgbClr val="14324A"/>
                          </a:solidFill>
                          <a:latin typeface="Calibri"/>
                        </a:rPr>
                        <a:t>16 NAS shares holding 43.6 TiB (channel01 … channel16)</a:t>
                      </a:r>
                    </a:p>
                  </a:txBody>
                  <a:tcPr marL="54864" marR="54864" marT="27432" marB="27432">
                    <a:solidFill>
                      <a:srgbClr val="FFFFFF"/>
                    </a:solidFill>
                  </a:tcPr>
                </a:tc>
                <a:tc>
                  <a:txBody>
                    <a:bodyPr wrap="square"/>
                    <a:lstStyle/>
                    <a:p>
                      <a:pPr algn="l"/>
                      <a:r>
                        <a:rPr sz="1100" b="0">
                          <a:solidFill>
                            <a:srgbClr val="14324A"/>
                          </a:solidFill>
                          <a:latin typeface="Calibri"/>
                        </a:rPr>
                        <a:t>none yet — measurement first</a:t>
                      </a:r>
                    </a:p>
                  </a:txBody>
                  <a:tcPr marL="54864" marR="54864" marT="27432" marB="27432">
                    <a:solidFill>
                      <a:srgbClr val="FFFFFF"/>
                    </a:solidFill>
                  </a:tcPr>
                </a:tc>
                <a:tc>
                  <a:txBody>
                    <a:bodyPr wrap="square"/>
                    <a:lstStyle/>
                    <a:p>
                      <a:pPr algn="l"/>
                      <a:r>
                        <a:rPr sz="1100" b="0">
                          <a:solidFill>
                            <a:srgbClr val="14324A"/>
                          </a:solidFill>
                          <a:latin typeface="Calibri"/>
                        </a:rPr>
                        <a:t>Head of Technology</a:t>
                      </a:r>
                    </a:p>
                  </a:txBody>
                  <a:tcPr marL="54864" marR="54864" marT="27432" marB="27432">
                    <a:solidFill>
                      <a:srgbClr val="FFFFFF"/>
                    </a:solidFill>
                  </a:tcPr>
                </a:tc>
                <a:tc>
                  <a:txBody>
                    <a:bodyPr wrap="square"/>
                    <a:lstStyle/>
                    <a:p>
                      <a:pPr algn="l"/>
                      <a:r>
                        <a:rPr sz="1100" b="0">
                          <a:solidFill>
                            <a:srgbClr val="14324A"/>
                          </a:solidFill>
                          <a:latin typeface="Calibri"/>
                        </a:rPr>
                        <a:t>a measured duplication figure for the largest unmeasured store</a:t>
                      </a:r>
                    </a:p>
                  </a:txBody>
                  <a:tcPr marL="54864" marR="54864" marT="27432" marB="27432">
                    <a:solidFill>
                      <a:srgbClr val="FFFFFF"/>
                    </a:solidFill>
                  </a:tcPr>
                </a:tc>
              </a:tr>
              <a:tr h="301752">
                <a:tc>
                  <a:txBody>
                    <a:bodyPr wrap="square"/>
                    <a:lstStyle/>
                    <a:p>
                      <a:pPr algn="l"/>
                      <a:r>
                        <a:rPr sz="1100" b="0">
                          <a:solidFill>
                            <a:srgbClr val="14324A"/>
                          </a:solidFill>
                          <a:latin typeface="Calibri"/>
                        </a:rPr>
                        <a:t>D8</a:t>
                      </a:r>
                    </a:p>
                  </a:txBody>
                  <a:tcPr marL="54864" marR="54864" marT="27432" marB="27432">
                    <a:solidFill>
                      <a:srgbClr val="FFFFFF"/>
                    </a:solidFill>
                  </a:tcPr>
                </a:tc>
                <a:tc>
                  <a:txBody>
                    <a:bodyPr wrap="square"/>
                    <a:lstStyle/>
                    <a:p>
                      <a:pPr algn="l"/>
                      <a:r>
                        <a:rPr sz="1100" b="0">
                          <a:solidFill>
                            <a:srgbClr val="14324A"/>
                          </a:solidFill>
                          <a:latin typeface="Calibri"/>
                        </a:rPr>
                        <a:t>Adopt naming and ownership rules for storage</a:t>
                      </a:r>
                    </a:p>
                  </a:txBody>
                  <a:tcPr marL="54864" marR="54864" marT="27432" marB="27432">
                    <a:solidFill>
                      <a:srgbClr val="FFFFFF"/>
                    </a:solidFill>
                  </a:tcPr>
                </a:tc>
                <a:tc>
                  <a:txBody>
                    <a:bodyPr wrap="square"/>
                    <a:lstStyle/>
                    <a:p>
                      <a:pPr algn="l"/>
                      <a:r>
                        <a:rPr sz="1100" b="0">
                          <a:solidFill>
                            <a:srgbClr val="14324A"/>
                          </a:solidFill>
                          <a:latin typeface="Calibri"/>
                        </a:rPr>
                        <a:t>machine-named buckets (na7p4…), channel shares, staging copies</a:t>
                      </a:r>
                    </a:p>
                  </a:txBody>
                  <a:tcPr marL="54864" marR="54864" marT="27432" marB="27432">
                    <a:solidFill>
                      <a:srgbClr val="FFFFFF"/>
                    </a:solidFill>
                  </a:tcPr>
                </a:tc>
                <a:tc>
                  <a:txBody>
                    <a:bodyPr wrap="square"/>
                    <a:lstStyle/>
                    <a:p>
                      <a:pPr algn="l"/>
                      <a:r>
                        <a:rPr sz="1100" b="0">
                          <a:solidFill>
                            <a:srgbClr val="14324A"/>
                          </a:solidFill>
                          <a:latin typeface="Calibri"/>
                        </a:rPr>
                        <a:t>register maintained by the storage owner (proposed)</a:t>
                      </a:r>
                    </a:p>
                  </a:txBody>
                  <a:tcPr marL="54864" marR="54864" marT="27432" marB="27432">
                    <a:solidFill>
                      <a:srgbClr val="FFFFFF"/>
                    </a:solidFill>
                  </a:tcPr>
                </a:tc>
                <a:tc>
                  <a:txBody>
                    <a:bodyPr wrap="square"/>
                    <a:lstStyle/>
                    <a:p>
                      <a:pPr algn="l"/>
                      <a:r>
                        <a:rPr sz="1100" b="0">
                          <a:solidFill>
                            <a:srgbClr val="14324A"/>
                          </a:solidFill>
                          <a:latin typeface="Calibri"/>
                        </a:rPr>
                        <a:t>Chief Operating Officer</a:t>
                      </a:r>
                    </a:p>
                  </a:txBody>
                  <a:tcPr marL="54864" marR="54864" marT="27432" marB="27432">
                    <a:solidFill>
                      <a:srgbClr val="FFFFFF"/>
                    </a:solidFill>
                  </a:tcPr>
                </a:tc>
                <a:tc>
                  <a:txBody>
                    <a:bodyPr wrap="square"/>
                    <a:lstStyle/>
                    <a:p>
                      <a:pPr algn="l"/>
                      <a:r>
                        <a:rPr sz="1100" b="0">
                          <a:solidFill>
                            <a:srgbClr val="14324A"/>
                          </a:solidFill>
                          <a:latin typeface="Calibri"/>
                        </a:rPr>
                        <a:t>fewer orphaned stores and faster decisions at the next census</a:t>
                      </a:r>
                    </a:p>
                  </a:txBody>
                  <a:tcPr marL="54864" marR="54864" marT="27432" marB="27432">
                    <a:solidFill>
                      <a:srgbClr val="FFFFFF"/>
                    </a:solidFill>
                  </a:tcPr>
                </a:tc>
              </a:tr>
              <a:tr h="301752">
                <a:tc>
                  <a:txBody>
                    <a:bodyPr wrap="square"/>
                    <a:lstStyle/>
                    <a:p>
                      <a:pPr algn="l"/>
                      <a:r>
                        <a:rPr sz="1100" b="0">
                          <a:solidFill>
                            <a:srgbClr val="14324A"/>
                          </a:solidFill>
                          <a:latin typeface="Calibri"/>
                        </a:rPr>
                        <a:t>D9</a:t>
                      </a:r>
                    </a:p>
                  </a:txBody>
                  <a:tcPr marL="54864" marR="54864" marT="27432" marB="27432">
                    <a:solidFill>
                      <a:srgbClr val="FFFFFF"/>
                    </a:solidFill>
                  </a:tcPr>
                </a:tc>
                <a:tc>
                  <a:txBody>
                    <a:bodyPr wrap="square"/>
                    <a:lstStyle/>
                    <a:p>
                      <a:pPr algn="l"/>
                      <a:r>
                        <a:rPr sz="1100" b="0">
                          <a:solidFill>
                            <a:srgbClr val="14324A"/>
                          </a:solidFill>
                          <a:latin typeface="Calibri"/>
                        </a:rPr>
                        <a:t>Register the language assets as governed data products</a:t>
                      </a:r>
                    </a:p>
                  </a:txBody>
                  <a:tcPr marL="54864" marR="54864" marT="27432" marB="27432">
                    <a:solidFill>
                      <a:srgbClr val="FFFFFF"/>
                    </a:solidFill>
                  </a:tcPr>
                </a:tc>
                <a:tc>
                  <a:txBody>
                    <a:bodyPr wrap="square"/>
                    <a:lstStyle/>
                    <a:p>
                      <a:pPr algn="l"/>
                      <a:r>
                        <a:rPr sz="1100" b="0">
                          <a:solidFill>
                            <a:srgbClr val="14324A"/>
                          </a:solidFill>
                          <a:latin typeface="Calibri"/>
                        </a:rPr>
                        <a:t>staged corpus by language folder (T020), news scripts by station (T022), transcription workbench (T023)</a:t>
                      </a:r>
                    </a:p>
                  </a:txBody>
                  <a:tcPr marL="54864" marR="54864" marT="27432" marB="27432">
                    <a:solidFill>
                      <a:srgbClr val="FFFFFF"/>
                    </a:solidFill>
                  </a:tcPr>
                </a:tc>
                <a:tc>
                  <a:txBody>
                    <a:bodyPr wrap="square"/>
                    <a:lstStyle/>
                    <a:p>
                      <a:pPr algn="l"/>
                      <a:r>
                        <a:rPr sz="1100" b="0">
                          <a:solidFill>
                            <a:srgbClr val="14324A"/>
                          </a:solidFill>
                          <a:latin typeface="Calibri"/>
                        </a:rPr>
                        <a:t>governed asset register (proposed)</a:t>
                      </a:r>
                    </a:p>
                  </a:txBody>
                  <a:tcPr marL="54864" marR="54864" marT="27432" marB="27432">
                    <a:solidFill>
                      <a:srgbClr val="FFFFFF"/>
                    </a:solidFill>
                  </a:tcPr>
                </a:tc>
                <a:tc>
                  <a:txBody>
                    <a:bodyPr wrap="square"/>
                    <a:lstStyle/>
                    <a:p>
                      <a:pPr algn="l"/>
                      <a:r>
                        <a:rPr sz="1100" b="0">
                          <a:solidFill>
                            <a:srgbClr val="14324A"/>
                          </a:solidFill>
                          <a:latin typeface="Calibri"/>
                        </a:rPr>
                        <a:t>Head of Data with the newsroom</a:t>
                      </a:r>
                    </a:p>
                  </a:txBody>
                  <a:tcPr marL="54864" marR="54864" marT="27432" marB="27432">
                    <a:solidFill>
                      <a:srgbClr val="FFFFFF"/>
                    </a:solidFill>
                  </a:tcPr>
                </a:tc>
                <a:tc>
                  <a:txBody>
                    <a:bodyPr wrap="square"/>
                    <a:lstStyle/>
                    <a:p>
                      <a:pPr algn="l"/>
                      <a:r>
                        <a:rPr sz="1100" b="0">
                          <a:solidFill>
                            <a:srgbClr val="14324A"/>
                          </a:solidFill>
                          <a:latin typeface="Calibri"/>
                        </a:rPr>
                        <a:t>a licensable, evidenced inventory of non-English speech and text</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Each decision names the exact source it rests on, the action, the proposed destination or rule, who carries it, the benefit stated as an upper bound where it is money, the evidence it rests on and what still has to be verified.</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[estimated]  Receipt R02: Estate intelligence census eij-1b359b3cbd2e, cost_strategies priced at reference list prices, not the owner's invoice: Huawei Cloud RDS for MySQL cloud SSD AF-Johannesburg 0.00015 USD/GB-hour x 730 h; OBS Standard 0.023 USD/GB-month</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EVIDENCE BY NAME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Executive decisions requested — one row each</a:t>
            </a:r>
          </a:p>
        </p:txBody>
      </p:sp>
      <p:graphicFrame>
        <p:nvGraphicFramePr>
          <p:cNvPr id="4" name="Table 3"/>
          <p:cNvGraphicFramePr>
            <a:graphicFrameLocks noGrp="1"/>
          </p:cNvGraphicFramePr>
          <p:nvPr/>
        </p:nvGraphicFramePr>
        <p:xfrm>
          <a:off x="594360" y="1920240"/>
          <a:ext cx="11002971" cy="768096"/>
        </p:xfrm>
        <a:graphic>
          <a:graphicData uri="http://schemas.openxmlformats.org/drawingml/2006/table">
            <a:tbl>
              <a:tblPr firstRow="1" bandRow="1">
                <a:tableStyleId>{5C22544A-7EE6-4342-B048-85BDC9FD1C3A}</a:tableStyleId>
              </a:tblPr>
              <a:tblGrid>
                <a:gridCol w="837182"/>
                <a:gridCol w="2511548"/>
                <a:gridCol w="2511548"/>
                <a:gridCol w="1674365"/>
                <a:gridCol w="956780"/>
                <a:gridCol w="2511548"/>
              </a:tblGrid>
              <a:tr h="384048">
                <a:tc>
                  <a:txBody>
                    <a:bodyPr wrap="square"/>
                    <a:lstStyle/>
                    <a:p>
                      <a:pPr algn="l"/>
                      <a:r>
                        <a:rPr sz="1200" b="1">
                          <a:solidFill>
                            <a:srgbClr val="14324A"/>
                          </a:solidFill>
                          <a:latin typeface="Calibri"/>
                        </a:rPr>
                        <a:t>No.</a:t>
                      </a:r>
                    </a:p>
                  </a:txBody>
                  <a:tcPr marL="54864" marR="54864" marT="27432" marB="27432">
                    <a:solidFill>
                      <a:srgbClr val="E8EEF3"/>
                    </a:solidFill>
                  </a:tcPr>
                </a:tc>
                <a:tc>
                  <a:txBody>
                    <a:bodyPr wrap="square"/>
                    <a:lstStyle/>
                    <a:p>
                      <a:pPr algn="l"/>
                      <a:r>
                        <a:rPr sz="1200" b="1">
                          <a:solidFill>
                            <a:srgbClr val="14324A"/>
                          </a:solidFill>
                          <a:latin typeface="Calibri"/>
                        </a:rPr>
                        <a:t>Decision requested</a:t>
                      </a:r>
                    </a:p>
                  </a:txBody>
                  <a:tcPr marL="54864" marR="54864" marT="27432" marB="27432">
                    <a:solidFill>
                      <a:srgbClr val="E8EEF3"/>
                    </a:solidFill>
                  </a:tcPr>
                </a:tc>
                <a:tc>
                  <a:txBody>
                    <a:bodyPr wrap="square"/>
                    <a:lstStyle/>
                    <a:p>
                      <a:pPr algn="l"/>
                      <a:r>
                        <a:rPr sz="1200" b="1">
                          <a:solidFill>
                            <a:srgbClr val="14324A"/>
                          </a:solidFill>
                          <a:latin typeface="Calibri"/>
                        </a:rPr>
                        <a:t>Exact source</a:t>
                      </a:r>
                    </a:p>
                  </a:txBody>
                  <a:tcPr marL="54864" marR="54864" marT="27432" marB="27432">
                    <a:solidFill>
                      <a:srgbClr val="E8EEF3"/>
                    </a:solidFill>
                  </a:tcPr>
                </a:tc>
                <a:tc>
                  <a:txBody>
                    <a:bodyPr wrap="square"/>
                    <a:lstStyle/>
                    <a:p>
                      <a:pPr algn="l"/>
                      <a:r>
                        <a:rPr sz="1200" b="1">
                          <a:solidFill>
                            <a:srgbClr val="14324A"/>
                          </a:solidFill>
                          <a:latin typeface="Calibri"/>
                        </a:rPr>
                        <a:t>Proposed destination or rule</a:t>
                      </a:r>
                    </a:p>
                  </a:txBody>
                  <a:tcPr marL="54864" marR="54864" marT="27432" marB="27432">
                    <a:solidFill>
                      <a:srgbClr val="E8EEF3"/>
                    </a:solidFill>
                  </a:tcPr>
                </a:tc>
                <a:tc>
                  <a:txBody>
                    <a:bodyPr wrap="square"/>
                    <a:lstStyle/>
                    <a:p>
                      <a:pPr algn="l"/>
                      <a:r>
                        <a:rPr sz="1200" b="1">
                          <a:solidFill>
                            <a:srgbClr val="14324A"/>
                          </a:solidFill>
                          <a:latin typeface="Calibri"/>
                        </a:rPr>
                        <a:t>Responsible role</a:t>
                      </a:r>
                    </a:p>
                  </a:txBody>
                  <a:tcPr marL="54864" marR="54864" marT="27432" marB="27432">
                    <a:solidFill>
                      <a:srgbClr val="E8EEF3"/>
                    </a:solidFill>
                  </a:tcPr>
                </a:tc>
                <a:tc>
                  <a:txBody>
                    <a:bodyPr wrap="square"/>
                    <a:lstStyle/>
                    <a:p>
                      <a:pPr algn="l"/>
                      <a:r>
                        <a:rPr sz="1200" b="1">
                          <a:solidFill>
                            <a:srgbClr val="14324A"/>
                          </a:solidFill>
                          <a:latin typeface="Calibri"/>
                        </a:rPr>
                        <a:t>Expected benefit</a:t>
                      </a:r>
                    </a:p>
                  </a:txBody>
                  <a:tcPr marL="54864" marR="54864" marT="27432" marB="27432">
                    <a:solidFill>
                      <a:srgbClr val="E8EEF3"/>
                    </a:solidFill>
                  </a:tcPr>
                </a:tc>
              </a:tr>
              <a:tr h="384048">
                <a:tc>
                  <a:txBody>
                    <a:bodyPr wrap="square"/>
                    <a:lstStyle/>
                    <a:p>
                      <a:pPr algn="l"/>
                      <a:r>
                        <a:rPr sz="1200" b="0">
                          <a:solidFill>
                            <a:srgbClr val="14324A"/>
                          </a:solidFill>
                          <a:latin typeface="Calibri"/>
                        </a:rPr>
                        <a:t>D10</a:t>
                      </a:r>
                    </a:p>
                  </a:txBody>
                  <a:tcPr marL="54864" marR="54864" marT="27432" marB="27432">
                    <a:solidFill>
                      <a:srgbClr val="FFFFFF"/>
                    </a:solidFill>
                  </a:tcPr>
                </a:tc>
                <a:tc>
                  <a:txBody>
                    <a:bodyPr wrap="square"/>
                    <a:lstStyle/>
                    <a:p>
                      <a:pPr algn="l"/>
                      <a:r>
                        <a:rPr sz="1200" b="0">
                          <a:solidFill>
                            <a:srgbClr val="14324A"/>
                          </a:solidFill>
                          <a:latin typeface="Calibri"/>
                        </a:rPr>
                        <a:t>Commission the de-identified reference products the census ranks first</a:t>
                      </a:r>
                    </a:p>
                  </a:txBody>
                  <a:tcPr marL="54864" marR="54864" marT="27432" marB="27432">
                    <a:solidFill>
                      <a:srgbClr val="FFFFFF"/>
                    </a:solidFill>
                  </a:tcPr>
                </a:tc>
                <a:tc>
                  <a:txBody>
                    <a:bodyPr wrap="square"/>
                    <a:lstStyle/>
                    <a:p>
                      <a:pPr algn="l"/>
                      <a:r>
                        <a:rPr sz="1200" b="0">
                          <a:solidFill>
                            <a:srgbClr val="14324A"/>
                          </a:solidFill>
                          <a:latin typeface="Calibri"/>
                        </a:rPr>
                        <a:t>the three leading product candidates in the census</a:t>
                      </a:r>
                    </a:p>
                  </a:txBody>
                  <a:tcPr marL="54864" marR="54864" marT="27432" marB="27432">
                    <a:solidFill>
                      <a:srgbClr val="FFFFFF"/>
                    </a:solidFill>
                  </a:tcPr>
                </a:tc>
                <a:tc>
                  <a:txBody>
                    <a:bodyPr wrap="square"/>
                    <a:lstStyle/>
                    <a:p>
                      <a:pPr algn="l"/>
                      <a:r>
                        <a:rPr sz="1200" b="0">
                          <a:solidFill>
                            <a:srgbClr val="14324A"/>
                          </a:solidFill>
                          <a:latin typeface="Calibri"/>
                        </a:rPr>
                        <a:t>product workspace (proposed)</a:t>
                      </a:r>
                    </a:p>
                  </a:txBody>
                  <a:tcPr marL="54864" marR="54864" marT="27432" marB="27432">
                    <a:solidFill>
                      <a:srgbClr val="FFFFFF"/>
                    </a:solidFill>
                  </a:tcPr>
                </a:tc>
                <a:tc>
                  <a:txBody>
                    <a:bodyPr wrap="square"/>
                    <a:lstStyle/>
                    <a:p>
                      <a:pPr algn="l"/>
                      <a:r>
                        <a:rPr sz="1200" b="0">
                          <a:solidFill>
                            <a:srgbClr val="14324A"/>
                          </a:solidFill>
                          <a:latin typeface="Calibri"/>
                        </a:rPr>
                        <a:t>Head of Data</a:t>
                      </a:r>
                    </a:p>
                  </a:txBody>
                  <a:tcPr marL="54864" marR="54864" marT="27432" marB="27432">
                    <a:solidFill>
                      <a:srgbClr val="FFFFFF"/>
                    </a:solidFill>
                  </a:tcPr>
                </a:tc>
                <a:tc>
                  <a:txBody>
                    <a:bodyPr wrap="square"/>
                    <a:lstStyle/>
                    <a:p>
                      <a:pPr algn="l"/>
                      <a:r>
                        <a:rPr sz="1200" b="0">
                          <a:solidFill>
                            <a:srgbClr val="14324A"/>
                          </a:solidFill>
                          <a:latin typeface="Calibri"/>
                        </a:rPr>
                        <a:t>first revenue-bearing use of the estate's data</a:t>
                      </a:r>
                    </a:p>
                  </a:txBody>
                  <a:tcPr marL="54864" marR="54864" marT="27432" marB="27432">
                    <a:solidFill>
                      <a:srgbClr val="FFFFFF"/>
                    </a:solidFill>
                  </a:tcPr>
                </a:tc>
              </a:tr>
            </a:tbl>
          </a:graphicData>
        </a:graphic>
      </p:graphicFrame>
      <p:sp>
        <p:nvSpPr>
          <p:cNvPr id="5" name="TextBox 4"/>
          <p:cNvSpPr txBox="1"/>
          <p:nvPr/>
        </p:nvSpPr>
        <p:spPr>
          <a:xfrm>
            <a:off x="594360" y="4937760"/>
            <a:ext cx="11002975" cy="376732"/>
          </a:xfrm>
          <a:prstGeom prst="rect">
            <a:avLst/>
          </a:prstGeom>
          <a:noFill/>
        </p:spPr>
        <p:txBody>
          <a:bodyPr wrap="square" lIns="0" rIns="0" tIns="0" bIns="0" anchor="b">
            <a:spAutoFit/>
          </a:bodyPr>
          <a:lstStyle/>
          <a:p>
            <a:pPr algn="l"/>
            <a:r>
              <a:rPr sz="1400" b="0" i="1">
                <a:solidFill>
                  <a:srgbClr val="E8772E"/>
                </a:solidFill>
                <a:latin typeface="Calibri"/>
              </a:rPr>
              <a:t>Each decision names the exact source it rests on, the action, the proposed destination or rule, who carries it, the benefit stated as an upper bound where it is money, the evidence it rests on and what still has to be verified.</a:t>
            </a:r>
          </a:p>
        </p:txBody>
      </p:sp>
      <p:sp>
        <p:nvSpPr>
          <p:cNvPr id="6" name="TextBox 5"/>
          <p:cNvSpPr txBox="1"/>
          <p:nvPr/>
        </p:nvSpPr>
        <p:spPr>
          <a:xfrm>
            <a:off x="594360" y="5692140"/>
            <a:ext cx="11002975" cy="376732"/>
          </a:xfrm>
          <a:prstGeom prst="rect">
            <a:avLst/>
          </a:prstGeom>
          <a:noFill/>
        </p:spPr>
        <p:txBody>
          <a:bodyPr wrap="square" lIns="0" rIns="0" tIns="0" bIns="0" anchor="b">
            <a:spAutoFit/>
          </a:bodyPr>
          <a:lstStyle/>
          <a:p>
            <a:pPr algn="l"/>
            <a:r>
              <a:rPr sz="1000" b="0" i="0">
                <a:solidFill>
                  <a:srgbClr val="70879A"/>
                </a:solidFill>
                <a:latin typeface="Courier New"/>
              </a:rPr>
              <a:t>[estimated]  Receipt R02: Estate intelligence census eij-1b359b3cbd2e, cost_strategies priced at reference list prices, not the owner's invoice: Huawei Cloud RDS for MySQL cloud SSD AF-Johannesburg 0.00015 USD/GB-hour x 730 h; OBS Standard 0.023 USD/GB-month</a:t>
            </a:r>
          </a:p>
        </p:txBody>
      </p:sp>
      <p:sp>
        <p:nvSpPr>
          <p:cNvPr id="7" name="TextBox 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8" name="TextBox 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9" name="TextBox 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1920240"/>
            <a:ext cx="2613355" cy="1885492"/>
          </a:xfrm>
          <a:prstGeom prst="rect">
            <a:avLst/>
          </a:prstGeom>
          <a:noFill/>
        </p:spPr>
        <p:txBody>
          <a:bodyPr wrap="square" lIns="0" rIns="0" tIns="0" bIns="0" anchor="ctr">
            <a:spAutoFit/>
          </a:bodyPr>
          <a:lstStyle/>
          <a:p>
            <a:pPr algn="l"/>
            <a:r>
              <a:rPr sz="9600" b="0" i="0">
                <a:solidFill>
                  <a:srgbClr val="E8772E"/>
                </a:solidFill>
                <a:latin typeface="Courier New"/>
              </a:rPr>
              <a:t>09</a:t>
            </a:r>
          </a:p>
        </p:txBody>
      </p:sp>
      <p:sp>
        <p:nvSpPr>
          <p:cNvPr id="3" name="TextBox 2"/>
          <p:cNvSpPr txBox="1"/>
          <p:nvPr/>
        </p:nvSpPr>
        <p:spPr>
          <a:xfrm>
            <a:off x="3390595" y="2297887"/>
            <a:ext cx="8206740" cy="1508760"/>
          </a:xfrm>
          <a:prstGeom prst="rect">
            <a:avLst/>
          </a:prstGeom>
          <a:noFill/>
        </p:spPr>
        <p:txBody>
          <a:bodyPr wrap="square" lIns="0" rIns="0" tIns="0" bIns="0" anchor="ctr">
            <a:spAutoFit/>
          </a:bodyPr>
          <a:lstStyle/>
          <a:p>
            <a:pPr algn="l"/>
            <a:r>
              <a:rPr sz="3200" b="0" i="0">
                <a:solidFill>
                  <a:srgbClr val="14324A"/>
                </a:solidFill>
                <a:latin typeface="Cambria"/>
              </a:rPr>
              <a:t>What remains unmeasured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COVERAGE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Coverage is bounded, and each gap has a specific task that would close it</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Only 638 of 1006 tables were measured. A complete-pass census would firm up the sampled ratios; one connection awaits a read grant.</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40 buckets could not be listed. Reconciling the inventory with the provider closes this.</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43.6 TiB of file shares across 1.5m files lack content fingerprints, so duplication needs a fingerprinting pass.</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3540 transcripts are unread, script language is unassessed, and workbench overlap needs a hash join.</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WHAT TO DO FIRST</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Validate the object-store economics first, then close the gaps, then prepare one product</a:t>
            </a:r>
          </a:p>
        </p:txBody>
      </p:sp>
      <p:sp>
        <p:nvSpPr>
          <p:cNvPr id="4" name="TextBox 3"/>
          <p:cNvSpPr txBox="1"/>
          <p:nvPr/>
        </p:nvSpPr>
        <p:spPr>
          <a:xfrm>
            <a:off x="594360" y="1920240"/>
            <a:ext cx="640080" cy="754380"/>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662940"/>
          </a:xfrm>
          <a:prstGeom prst="rect">
            <a:avLst/>
          </a:prstGeom>
          <a:noFill/>
        </p:spPr>
        <p:txBody>
          <a:bodyPr wrap="square" lIns="0" rIns="0" tIns="0" bIns="0" anchor="t">
            <a:spAutoFit/>
          </a:bodyPr>
          <a:lstStyle/>
          <a:p>
            <a:pPr algn="l"/>
            <a:r>
              <a:rPr sz="1400" b="0" i="0">
                <a:solidFill>
                  <a:srgbClr val="14324A"/>
                </a:solidFill>
                <a:latin typeface="Calibri"/>
              </a:rPr>
              <a:t>First, test archive tiering on the 41.9 TiB of write-inactive buckets. Check read patterns and retrieval fees against the 1,174.4 USD monthly upper bound.</a:t>
            </a:r>
          </a:p>
        </p:txBody>
      </p:sp>
      <p:cxnSp>
        <p:nvCxnSpPr>
          <p:cNvPr id="6" name="Connector 5"/>
          <p:cNvCxnSpPr/>
          <p:nvPr/>
        </p:nvCxnSpPr>
        <p:spPr>
          <a:xfrm>
            <a:off x="594360" y="256489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674620"/>
            <a:ext cx="640080" cy="754380"/>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747772"/>
            <a:ext cx="10180015" cy="662940"/>
          </a:xfrm>
          <a:prstGeom prst="rect">
            <a:avLst/>
          </a:prstGeom>
          <a:noFill/>
        </p:spPr>
        <p:txBody>
          <a:bodyPr wrap="square" lIns="0" rIns="0" tIns="0" bIns="0" anchor="t">
            <a:spAutoFit/>
          </a:bodyPr>
          <a:lstStyle/>
          <a:p>
            <a:pPr algn="l"/>
            <a:r>
              <a:rPr sz="1400" b="0" i="0">
                <a:solidFill>
                  <a:srgbClr val="14324A"/>
                </a:solidFill>
                <a:latin typeface="Calibri"/>
              </a:rPr>
              <a:t>Second, confirm the 7.7 TiB of duplicate candidates by content hash. Remove nothing before then.</a:t>
            </a:r>
          </a:p>
        </p:txBody>
      </p:sp>
      <p:cxnSp>
        <p:nvCxnSpPr>
          <p:cNvPr id="9" name="Connector 8"/>
          <p:cNvCxnSpPr/>
          <p:nvPr/>
        </p:nvCxnSpPr>
        <p:spPr>
          <a:xfrm>
            <a:off x="594360" y="331927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429000"/>
            <a:ext cx="640080" cy="754380"/>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502152"/>
            <a:ext cx="10180015" cy="662940"/>
          </a:xfrm>
          <a:prstGeom prst="rect">
            <a:avLst/>
          </a:prstGeom>
          <a:noFill/>
        </p:spPr>
        <p:txBody>
          <a:bodyPr wrap="square" lIns="0" rIns="0" tIns="0" bIns="0" anchor="t">
            <a:spAutoFit/>
          </a:bodyPr>
          <a:lstStyle/>
          <a:p>
            <a:pPr algn="l"/>
            <a:r>
              <a:rPr sz="1400" b="0" i="0">
                <a:solidFill>
                  <a:srgbClr val="14324A"/>
                </a:solidFill>
                <a:latin typeface="Calibri"/>
              </a:rPr>
              <a:t>Third, reconcile the 40 unreadable buckets and fingerprint the 43.6 TiB of file shares.</a:t>
            </a:r>
          </a:p>
        </p:txBody>
      </p:sp>
      <p:cxnSp>
        <p:nvCxnSpPr>
          <p:cNvPr id="12" name="Connector 11"/>
          <p:cNvCxnSpPr/>
          <p:nvPr/>
        </p:nvCxnSpPr>
        <p:spPr>
          <a:xfrm>
            <a:off x="594360" y="407365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183379"/>
            <a:ext cx="640080" cy="754380"/>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256531"/>
            <a:ext cx="10180015" cy="662940"/>
          </a:xfrm>
          <a:prstGeom prst="rect">
            <a:avLst/>
          </a:prstGeom>
          <a:noFill/>
        </p:spPr>
        <p:txBody>
          <a:bodyPr wrap="square" lIns="0" rIns="0" tIns="0" bIns="0" anchor="t">
            <a:spAutoFit/>
          </a:bodyPr>
          <a:lstStyle/>
          <a:p>
            <a:pPr algn="l"/>
            <a:r>
              <a:rPr sz="1400" b="0" i="0">
                <a:solidFill>
                  <a:srgbClr val="14324A"/>
                </a:solidFill>
                <a:latin typeface="Calibri"/>
              </a:rPr>
              <a:t>Fourth, prepare one shortlisted product by aggregation or de-identification, with a buyer-side review.</a:t>
            </a:r>
          </a:p>
        </p:txBody>
      </p:sp>
      <p:cxnSp>
        <p:nvCxnSpPr>
          <p:cNvPr id="15" name="Connector 14"/>
          <p:cNvCxnSpPr/>
          <p:nvPr/>
        </p:nvCxnSpPr>
        <p:spPr>
          <a:xfrm>
            <a:off x="594360" y="482803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4937760"/>
            <a:ext cx="640080" cy="754380"/>
          </a:xfrm>
          <a:prstGeom prst="rect">
            <a:avLst/>
          </a:prstGeom>
          <a:noFill/>
        </p:spPr>
        <p:txBody>
          <a:bodyPr wrap="square" lIns="0" rIns="0" tIns="0" bIns="0" anchor="t">
            <a:spAutoFit/>
          </a:bodyPr>
          <a:lstStyle/>
          <a:p>
            <a:pPr algn="l"/>
            <a:r>
              <a:rPr sz="2600" b="0" i="0">
                <a:solidFill>
                  <a:srgbClr val="E8772E"/>
                </a:solidFill>
                <a:latin typeface="Courier New"/>
              </a:rPr>
              <a:t>05</a:t>
            </a:r>
          </a:p>
        </p:txBody>
      </p:sp>
      <p:sp>
        <p:nvSpPr>
          <p:cNvPr id="17" name="TextBox 16"/>
          <p:cNvSpPr txBox="1"/>
          <p:nvPr/>
        </p:nvSpPr>
        <p:spPr>
          <a:xfrm>
            <a:off x="1417320" y="5010912"/>
            <a:ext cx="10180015" cy="662940"/>
          </a:xfrm>
          <a:prstGeom prst="rect">
            <a:avLst/>
          </a:prstGeom>
          <a:noFill/>
        </p:spPr>
        <p:txBody>
          <a:bodyPr wrap="square" lIns="0" rIns="0" tIns="0" bIns="0" anchor="t">
            <a:spAutoFit/>
          </a:bodyPr>
          <a:lstStyle/>
          <a:p>
            <a:pPr algn="l"/>
            <a:r>
              <a:rPr sz="1400" b="0" i="0">
                <a:solidFill>
                  <a:srgbClr val="14324A"/>
                </a:solidFill>
                <a:latin typeface="Calibri"/>
              </a:rPr>
              <a:t>Keep database cleanup of about 15.2 GiB as a separate, narrower workstream.</a:t>
            </a:r>
          </a:p>
        </p:txBody>
      </p:sp>
      <p:cxnSp>
        <p:nvCxnSpPr>
          <p:cNvPr id="18" name="Connector 17"/>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20" name="TextBox 19"/>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21" name="TextBox 20"/>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LIMITS OF THE EVIDENCE</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Coverage, unreadable inventory and estimate quality limit how far the figures can be pushed</a:t>
            </a:r>
          </a:p>
        </p:txBody>
      </p:sp>
      <p:sp>
        <p:nvSpPr>
          <p:cNvPr id="4" name="TextBox 3"/>
          <p:cNvSpPr txBox="1"/>
          <p:nvPr/>
        </p:nvSpPr>
        <p:spPr>
          <a:xfrm>
            <a:off x="594360" y="1920240"/>
            <a:ext cx="640080" cy="942975"/>
          </a:xfrm>
          <a:prstGeom prst="rect">
            <a:avLst/>
          </a:prstGeom>
          <a:noFill/>
        </p:spPr>
        <p:txBody>
          <a:bodyPr wrap="square" lIns="0" rIns="0" tIns="0" bIns="0" anchor="t">
            <a:spAutoFit/>
          </a:bodyPr>
          <a:lstStyle/>
          <a:p>
            <a:pPr algn="l"/>
            <a:r>
              <a:rPr sz="2600" b="0" i="0">
                <a:solidFill>
                  <a:srgbClr val="E8772E"/>
                </a:solidFill>
                <a:latin typeface="Courier New"/>
              </a:rPr>
              <a:t>01</a:t>
            </a:r>
          </a:p>
        </p:txBody>
      </p:sp>
      <p:sp>
        <p:nvSpPr>
          <p:cNvPr id="5" name="TextBox 4"/>
          <p:cNvSpPr txBox="1"/>
          <p:nvPr/>
        </p:nvSpPr>
        <p:spPr>
          <a:xfrm>
            <a:off x="1417320" y="1993392"/>
            <a:ext cx="10180015" cy="851535"/>
          </a:xfrm>
          <a:prstGeom prst="rect">
            <a:avLst/>
          </a:prstGeom>
          <a:noFill/>
        </p:spPr>
        <p:txBody>
          <a:bodyPr wrap="square" lIns="0" rIns="0" tIns="0" bIns="0" anchor="t">
            <a:spAutoFit/>
          </a:bodyPr>
          <a:lstStyle/>
          <a:p>
            <a:pPr algn="l"/>
            <a:r>
              <a:rPr sz="1400" b="0" i="0">
                <a:solidFill>
                  <a:srgbClr val="14324A"/>
                </a:solidFill>
                <a:latin typeface="Calibri"/>
              </a:rPr>
              <a:t>Only 638 of 1006 tables were measured. Do not extend the sampled 71.8% personal-data marker share to the whole estate.</a:t>
            </a:r>
          </a:p>
        </p:txBody>
      </p:sp>
      <p:cxnSp>
        <p:nvCxnSpPr>
          <p:cNvPr id="6" name="Connector 5"/>
          <p:cNvCxnSpPr/>
          <p:nvPr/>
        </p:nvCxnSpPr>
        <p:spPr>
          <a:xfrm>
            <a:off x="594360" y="275348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86321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02</a:t>
            </a:r>
          </a:p>
        </p:txBody>
      </p:sp>
      <p:sp>
        <p:nvSpPr>
          <p:cNvPr id="8" name="TextBox 7"/>
          <p:cNvSpPr txBox="1"/>
          <p:nvPr/>
        </p:nvSpPr>
        <p:spPr>
          <a:xfrm>
            <a:off x="1417320" y="2936367"/>
            <a:ext cx="10180015" cy="851535"/>
          </a:xfrm>
          <a:prstGeom prst="rect">
            <a:avLst/>
          </a:prstGeom>
          <a:noFill/>
        </p:spPr>
        <p:txBody>
          <a:bodyPr wrap="square" lIns="0" rIns="0" tIns="0" bIns="0" anchor="t">
            <a:spAutoFit/>
          </a:bodyPr>
          <a:lstStyle/>
          <a:p>
            <a:pPr algn="l"/>
            <a:r>
              <a:rPr sz="1400" b="0" i="0">
                <a:solidFill>
                  <a:srgbClr val="14324A"/>
                </a:solidFill>
                <a:latin typeface="Calibri"/>
              </a:rPr>
              <a:t>40 buckets are unreadable, so their contents are unknown. Duplicate bytes of 7.7 TiB are candidates only.</a:t>
            </a:r>
          </a:p>
        </p:txBody>
      </p:sp>
      <p:cxnSp>
        <p:nvCxnSpPr>
          <p:cNvPr id="9" name="Connector 8"/>
          <p:cNvCxnSpPr/>
          <p:nvPr/>
        </p:nvCxnSpPr>
        <p:spPr>
          <a:xfrm>
            <a:off x="594360" y="3696461"/>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806189"/>
            <a:ext cx="640080" cy="942975"/>
          </a:xfrm>
          <a:prstGeom prst="rect">
            <a:avLst/>
          </a:prstGeom>
          <a:noFill/>
        </p:spPr>
        <p:txBody>
          <a:bodyPr wrap="square" lIns="0" rIns="0" tIns="0" bIns="0" anchor="t">
            <a:spAutoFit/>
          </a:bodyPr>
          <a:lstStyle/>
          <a:p>
            <a:pPr algn="l"/>
            <a:r>
              <a:rPr sz="2600" b="0" i="0">
                <a:solidFill>
                  <a:srgbClr val="E8772E"/>
                </a:solidFill>
                <a:latin typeface="Courier New"/>
              </a:rPr>
              <a:t>03</a:t>
            </a:r>
          </a:p>
        </p:txBody>
      </p:sp>
      <p:sp>
        <p:nvSpPr>
          <p:cNvPr id="11" name="TextBox 10"/>
          <p:cNvSpPr txBox="1"/>
          <p:nvPr/>
        </p:nvSpPr>
        <p:spPr>
          <a:xfrm>
            <a:off x="1417320" y="3879341"/>
            <a:ext cx="10180015" cy="851535"/>
          </a:xfrm>
          <a:prstGeom prst="rect">
            <a:avLst/>
          </a:prstGeom>
          <a:noFill/>
        </p:spPr>
        <p:txBody>
          <a:bodyPr wrap="square" lIns="0" rIns="0" tIns="0" bIns="0" anchor="t">
            <a:spAutoFit/>
          </a:bodyPr>
          <a:lstStyle/>
          <a:p>
            <a:pPr algn="l"/>
            <a:r>
              <a:rPr sz="1400" b="0" i="0">
                <a:solidFill>
                  <a:srgbClr val="14324A"/>
                </a:solidFill>
                <a:latin typeface="Calibri"/>
              </a:rPr>
              <a:t>The 1,174.4 USD monthly figure is a list-price upper bound. It excludes retrieval fees and is not the owner's invoice.</a:t>
            </a:r>
          </a:p>
        </p:txBody>
      </p:sp>
      <p:cxnSp>
        <p:nvCxnSpPr>
          <p:cNvPr id="12" name="Connector 11"/>
          <p:cNvCxnSpPr/>
          <p:nvPr/>
        </p:nvCxnSpPr>
        <p:spPr>
          <a:xfrm>
            <a:off x="594360" y="4639437"/>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4749165"/>
            <a:ext cx="640080" cy="942975"/>
          </a:xfrm>
          <a:prstGeom prst="rect">
            <a:avLst/>
          </a:prstGeom>
          <a:noFill/>
        </p:spPr>
        <p:txBody>
          <a:bodyPr wrap="square" lIns="0" rIns="0" tIns="0" bIns="0" anchor="t">
            <a:spAutoFit/>
          </a:bodyPr>
          <a:lstStyle/>
          <a:p>
            <a:pPr algn="l"/>
            <a:r>
              <a:rPr sz="2600" b="0" i="0">
                <a:solidFill>
                  <a:srgbClr val="E8772E"/>
                </a:solidFill>
                <a:latin typeface="Courier New"/>
              </a:rPr>
              <a:t>04</a:t>
            </a:r>
          </a:p>
        </p:txBody>
      </p:sp>
      <p:sp>
        <p:nvSpPr>
          <p:cNvPr id="14" name="TextBox 13"/>
          <p:cNvSpPr txBox="1"/>
          <p:nvPr/>
        </p:nvSpPr>
        <p:spPr>
          <a:xfrm>
            <a:off x="1417320" y="4822317"/>
            <a:ext cx="10180015" cy="851535"/>
          </a:xfrm>
          <a:prstGeom prst="rect">
            <a:avLst/>
          </a:prstGeom>
          <a:noFill/>
        </p:spPr>
        <p:txBody>
          <a:bodyPr wrap="square" lIns="0" rIns="0" tIns="0" bIns="0" anchor="t">
            <a:spAutoFit/>
          </a:bodyPr>
          <a:lstStyle/>
          <a:p>
            <a:pPr algn="l"/>
            <a:r>
              <a:rPr sz="1400" b="0" i="0">
                <a:solidFill>
                  <a:srgbClr val="14324A"/>
                </a:solidFill>
                <a:latin typeface="Calibri"/>
              </a:rPr>
              <a:t>Audio and transcript readings are model readings, not human labels, and workbench overlap with the staged corpus is unmeasured.</a:t>
            </a:r>
          </a:p>
        </p:txBody>
      </p:sp>
      <p:cxnSp>
        <p:nvCxnSpPr>
          <p:cNvPr id="15" name="Connector 14"/>
          <p:cNvCxnSpPr/>
          <p:nvPr/>
        </p:nvCxnSpPr>
        <p:spPr>
          <a:xfrm>
            <a:off x="594360" y="5582412"/>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17" name="TextBox 16"/>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18" name="TextBox 17"/>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COVERAGE AND LIMITS</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What this pack covers, what it cannot say, and what would close each gap</a:t>
            </a:r>
          </a:p>
        </p:txBody>
      </p:sp>
      <p:sp>
        <p:nvSpPr>
          <p:cNvPr id="4" name="TextBox 3"/>
          <p:cNvSpPr txBox="1"/>
          <p:nvPr/>
        </p:nvSpPr>
        <p:spPr>
          <a:xfrm>
            <a:off x="594360" y="1920240"/>
            <a:ext cx="11002975" cy="822960"/>
          </a:xfrm>
          <a:prstGeom prst="rect">
            <a:avLst/>
          </a:prstGeom>
          <a:noFill/>
        </p:spPr>
        <p:txBody>
          <a:bodyPr wrap="square" lIns="0" rIns="0" tIns="0" bIns="0" anchor="t">
            <a:spAutoFit/>
          </a:bodyPr>
          <a:lstStyle/>
          <a:p>
            <a:pPr algn="l"/>
            <a:r>
              <a:rPr sz="1400" b="0" i="0">
                <a:solidFill>
                  <a:srgbClr val="14324A"/>
                </a:solidFill>
                <a:latin typeface="Calibri"/>
              </a:rPr>
              <a:t>COVERS</a:t>
            </a:r>
          </a:p>
          <a:p>
            <a:pPr algn="l"/>
            <a:r>
              <a:rPr sz="1400" b="0" i="0">
                <a:solidFill>
                  <a:srgbClr val="14324A"/>
                </a:solidFill>
                <a:latin typeface="Calibri"/>
              </a:rPr>
              <a:t>The admitted estate as measured by census eij-1b359b3cbd2e: 20 databases, 1,006 tables (351.3 GiB), the object store, the file shares, the staged language corpus read by both GPUs and the written-word databases read as aggregates. No row value, script or transcript text is in this pack.</a:t>
            </a:r>
          </a:p>
        </p:txBody>
      </p:sp>
      <p:sp>
        <p:nvSpPr>
          <p:cNvPr id="5" name="TextBox 4"/>
          <p:cNvSpPr txBox="1"/>
          <p:nvPr/>
        </p:nvSpPr>
        <p:spPr>
          <a:xfrm>
            <a:off x="594360" y="2834640"/>
            <a:ext cx="3545738" cy="274320"/>
          </a:xfrm>
          <a:prstGeom prst="rect">
            <a:avLst/>
          </a:prstGeom>
          <a:noFill/>
        </p:spPr>
        <p:txBody>
          <a:bodyPr wrap="square" lIns="0" rIns="0" tIns="0" bIns="0" anchor="t">
            <a:spAutoFit/>
          </a:bodyPr>
          <a:lstStyle/>
          <a:p>
            <a:pPr algn="l"/>
            <a:r>
              <a:rPr sz="1100" b="1" i="0">
                <a:solidFill>
                  <a:srgbClr val="70879A"/>
                </a:solidFill>
                <a:latin typeface="Calibri"/>
              </a:rPr>
              <a:t>CANNOT SAY</a:t>
            </a:r>
          </a:p>
        </p:txBody>
      </p:sp>
      <p:sp>
        <p:nvSpPr>
          <p:cNvPr id="6" name="TextBox 5"/>
          <p:cNvSpPr txBox="1"/>
          <p:nvPr/>
        </p:nvSpPr>
        <p:spPr>
          <a:xfrm>
            <a:off x="4322978" y="2834640"/>
            <a:ext cx="3545738" cy="274320"/>
          </a:xfrm>
          <a:prstGeom prst="rect">
            <a:avLst/>
          </a:prstGeom>
          <a:noFill/>
        </p:spPr>
        <p:txBody>
          <a:bodyPr wrap="square" lIns="0" rIns="0" tIns="0" bIns="0" anchor="t">
            <a:spAutoFit/>
          </a:bodyPr>
          <a:lstStyle/>
          <a:p>
            <a:pPr algn="l"/>
            <a:r>
              <a:rPr sz="1100" b="1" i="0">
                <a:solidFill>
                  <a:srgbClr val="70879A"/>
                </a:solidFill>
                <a:latin typeface="Calibri"/>
              </a:rPr>
              <a:t>WHY</a:t>
            </a:r>
          </a:p>
        </p:txBody>
      </p:sp>
      <p:sp>
        <p:nvSpPr>
          <p:cNvPr id="7" name="TextBox 6"/>
          <p:cNvSpPr txBox="1"/>
          <p:nvPr/>
        </p:nvSpPr>
        <p:spPr>
          <a:xfrm>
            <a:off x="8051596" y="2834640"/>
            <a:ext cx="3545738" cy="274320"/>
          </a:xfrm>
          <a:prstGeom prst="rect">
            <a:avLst/>
          </a:prstGeom>
          <a:noFill/>
        </p:spPr>
        <p:txBody>
          <a:bodyPr wrap="square" lIns="0" rIns="0" tIns="0" bIns="0" anchor="t">
            <a:spAutoFit/>
          </a:bodyPr>
          <a:lstStyle/>
          <a:p>
            <a:pPr algn="l"/>
            <a:r>
              <a:rPr sz="1100" b="1" i="0">
                <a:solidFill>
                  <a:srgbClr val="70879A"/>
                </a:solidFill>
                <a:latin typeface="Calibri"/>
              </a:rPr>
              <a:t>WHAT WOULD CLOSE IT</a:t>
            </a:r>
          </a:p>
        </p:txBody>
      </p:sp>
      <p:cxnSp>
        <p:nvCxnSpPr>
          <p:cNvPr id="8" name="Connector 7"/>
          <p:cNvCxnSpPr/>
          <p:nvPr/>
        </p:nvCxnSpPr>
        <p:spPr>
          <a:xfrm>
            <a:off x="594360" y="3127248"/>
            <a:ext cx="11002975" cy="0"/>
          </a:xfrm>
          <a:prstGeom prst="line">
            <a:avLst/>
          </a:prstGeom>
          <a:ln w="9525">
            <a:solidFill>
              <a:srgbClr val="14324A"/>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94360" y="3246120"/>
            <a:ext cx="11002975" cy="786384"/>
          </a:xfrm>
          <a:prstGeom prst="rect">
            <a:avLst/>
          </a:prstGeom>
          <a:pattFill>
            <a:fgClr>
              <a:srgbClr val="E8EEF3"/>
            </a:fgClr>
            <a:bgClr>
              <a:srgbClr val="FFFFFF"/>
            </a:bgClr>
          </a:patt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3319272"/>
            <a:ext cx="3399434" cy="658368"/>
          </a:xfrm>
          <a:prstGeom prst="rect">
            <a:avLst/>
          </a:prstGeom>
          <a:noFill/>
        </p:spPr>
        <p:txBody>
          <a:bodyPr wrap="square" lIns="0" rIns="0" tIns="0" bIns="0" anchor="t">
            <a:spAutoFit/>
          </a:bodyPr>
          <a:lstStyle/>
          <a:p>
            <a:pPr algn="l"/>
            <a:r>
              <a:rPr sz="1300" b="0" i="0">
                <a:solidFill>
                  <a:srgbClr val="14324A"/>
                </a:solidFill>
                <a:latin typeface="Calibri"/>
              </a:rPr>
              <a:t>Duplicate, damage, empty-field and PII ratios on sampled tables</a:t>
            </a:r>
          </a:p>
        </p:txBody>
      </p:sp>
      <p:sp>
        <p:nvSpPr>
          <p:cNvPr id="11" name="TextBox 10"/>
          <p:cNvSpPr txBox="1"/>
          <p:nvPr/>
        </p:nvSpPr>
        <p:spPr>
          <a:xfrm>
            <a:off x="4396130" y="3319272"/>
            <a:ext cx="3399434" cy="658368"/>
          </a:xfrm>
          <a:prstGeom prst="rect">
            <a:avLst/>
          </a:prstGeom>
          <a:noFill/>
        </p:spPr>
        <p:txBody>
          <a:bodyPr wrap="square" lIns="0" rIns="0" tIns="0" bIns="0" anchor="t">
            <a:spAutoFit/>
          </a:bodyPr>
          <a:lstStyle/>
          <a:p>
            <a:pPr algn="l"/>
            <a:r>
              <a:rPr sz="1300" b="0" i="0">
                <a:solidFill>
                  <a:srgbClr val="14324A"/>
                </a:solidFill>
                <a:latin typeface="Calibri"/>
              </a:rPr>
              <a:t>complete passes where the table allowed it, stratified samples elsewhere</a:t>
            </a:r>
          </a:p>
        </p:txBody>
      </p:sp>
      <p:sp>
        <p:nvSpPr>
          <p:cNvPr id="12" name="TextBox 11"/>
          <p:cNvSpPr txBox="1"/>
          <p:nvPr/>
        </p:nvSpPr>
        <p:spPr>
          <a:xfrm>
            <a:off x="8124748" y="3319272"/>
            <a:ext cx="3399434" cy="658368"/>
          </a:xfrm>
          <a:prstGeom prst="rect">
            <a:avLst/>
          </a:prstGeom>
          <a:noFill/>
        </p:spPr>
        <p:txBody>
          <a:bodyPr wrap="square" lIns="0" rIns="0" tIns="0" bIns="0" anchor="t">
            <a:spAutoFit/>
          </a:bodyPr>
          <a:lstStyle/>
          <a:p>
            <a:pPr algn="l"/>
            <a:r>
              <a:rPr sz="1300" b="0" i="0">
                <a:solidFill>
                  <a:srgbClr val="14324A"/>
                </a:solidFill>
                <a:latin typeface="Calibri"/>
              </a:rPr>
              <a:t>a complete-pass census on the sampled tables</a:t>
            </a:r>
          </a:p>
        </p:txBody>
      </p:sp>
      <p:sp>
        <p:nvSpPr>
          <p:cNvPr id="13" name="Rectangle 12"/>
          <p:cNvSpPr/>
          <p:nvPr/>
        </p:nvSpPr>
        <p:spPr>
          <a:xfrm>
            <a:off x="594360" y="4123944"/>
            <a:ext cx="11002975" cy="786384"/>
          </a:xfrm>
          <a:prstGeom prst="rect">
            <a:avLst/>
          </a:prstGeom>
          <a:pattFill>
            <a:fgClr>
              <a:srgbClr val="E8EEF3"/>
            </a:fgClr>
            <a:bgClr>
              <a:srgbClr val="FFFFFF"/>
            </a:bgClr>
          </a:patt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197096"/>
            <a:ext cx="3399434" cy="658368"/>
          </a:xfrm>
          <a:prstGeom prst="rect">
            <a:avLst/>
          </a:prstGeom>
          <a:noFill/>
        </p:spPr>
        <p:txBody>
          <a:bodyPr wrap="square" lIns="0" rIns="0" tIns="0" bIns="0" anchor="t">
            <a:spAutoFit/>
          </a:bodyPr>
          <a:lstStyle/>
          <a:p>
            <a:pPr algn="l"/>
            <a:r>
              <a:rPr sz="1300" b="0" i="0">
                <a:solidFill>
                  <a:srgbClr val="14324A"/>
                </a:solidFill>
                <a:latin typeface="Calibri"/>
              </a:rPr>
              <a:t>Semantic similarity between candidate datasets and the market</a:t>
            </a:r>
          </a:p>
        </p:txBody>
      </p:sp>
      <p:sp>
        <p:nvSpPr>
          <p:cNvPr id="15" name="TextBox 14"/>
          <p:cNvSpPr txBox="1"/>
          <p:nvPr/>
        </p:nvSpPr>
        <p:spPr>
          <a:xfrm>
            <a:off x="4396130" y="4197096"/>
            <a:ext cx="3399434" cy="658368"/>
          </a:xfrm>
          <a:prstGeom prst="rect">
            <a:avLst/>
          </a:prstGeom>
          <a:noFill/>
        </p:spPr>
        <p:txBody>
          <a:bodyPr wrap="square" lIns="0" rIns="0" tIns="0" bIns="0" anchor="t">
            <a:spAutoFit/>
          </a:bodyPr>
          <a:lstStyle/>
          <a:p>
            <a:pPr algn="l"/>
            <a:r>
              <a:rPr sz="1300" b="0" i="0">
                <a:solidFill>
                  <a:srgbClr val="14324A"/>
                </a:solidFill>
                <a:latin typeface="Calibri"/>
              </a:rPr>
              <a:t>not measured; candidates are dimensional readiness only</a:t>
            </a:r>
          </a:p>
        </p:txBody>
      </p:sp>
      <p:sp>
        <p:nvSpPr>
          <p:cNvPr id="16" name="TextBox 15"/>
          <p:cNvSpPr txBox="1"/>
          <p:nvPr/>
        </p:nvSpPr>
        <p:spPr>
          <a:xfrm>
            <a:off x="8124748" y="4197096"/>
            <a:ext cx="3399434" cy="658368"/>
          </a:xfrm>
          <a:prstGeom prst="rect">
            <a:avLst/>
          </a:prstGeom>
          <a:noFill/>
        </p:spPr>
        <p:txBody>
          <a:bodyPr wrap="square" lIns="0" rIns="0" tIns="0" bIns="0" anchor="t">
            <a:spAutoFit/>
          </a:bodyPr>
          <a:lstStyle/>
          <a:p>
            <a:pPr algn="l"/>
            <a:r>
              <a:rPr sz="1300" b="0" i="0">
                <a:solidFill>
                  <a:srgbClr val="14324A"/>
                </a:solidFill>
                <a:latin typeface="Calibri"/>
              </a:rPr>
              <a:t>a buyer-side review of each candidate against its intended use</a:t>
            </a:r>
          </a:p>
        </p:txBody>
      </p:sp>
      <p:sp>
        <p:nvSpPr>
          <p:cNvPr id="17" name="Rectangle 16"/>
          <p:cNvSpPr/>
          <p:nvPr/>
        </p:nvSpPr>
        <p:spPr>
          <a:xfrm>
            <a:off x="594360" y="5001768"/>
            <a:ext cx="11002975" cy="786384"/>
          </a:xfrm>
          <a:prstGeom prst="rect">
            <a:avLst/>
          </a:prstGeom>
          <a:pattFill>
            <a:fgClr>
              <a:srgbClr val="E8EEF3"/>
            </a:fgClr>
            <a:bgClr>
              <a:srgbClr val="FFFFFF"/>
            </a:bgClr>
          </a:patt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5074920"/>
            <a:ext cx="3399434" cy="658368"/>
          </a:xfrm>
          <a:prstGeom prst="rect">
            <a:avLst/>
          </a:prstGeom>
          <a:noFill/>
        </p:spPr>
        <p:txBody>
          <a:bodyPr wrap="square" lIns="0" rIns="0" tIns="0" bIns="0" anchor="t">
            <a:spAutoFit/>
          </a:bodyPr>
          <a:lstStyle/>
          <a:p>
            <a:pPr algn="l"/>
            <a:r>
              <a:rPr sz="1300" b="0" i="0">
                <a:solidFill>
                  <a:srgbClr val="14324A"/>
                </a:solidFill>
                <a:latin typeface="Calibri"/>
              </a:rPr>
              <a:t>Connection artists_app</a:t>
            </a:r>
          </a:p>
        </p:txBody>
      </p:sp>
      <p:sp>
        <p:nvSpPr>
          <p:cNvPr id="19" name="TextBox 18"/>
          <p:cNvSpPr txBox="1"/>
          <p:nvPr/>
        </p:nvSpPr>
        <p:spPr>
          <a:xfrm>
            <a:off x="4396130" y="5074920"/>
            <a:ext cx="3399434" cy="658368"/>
          </a:xfrm>
          <a:prstGeom prst="rect">
            <a:avLst/>
          </a:prstGeom>
          <a:noFill/>
        </p:spPr>
        <p:txBody>
          <a:bodyPr wrap="square" lIns="0" rIns="0" tIns="0" bIns="0" anchor="t">
            <a:spAutoFit/>
          </a:bodyPr>
          <a:lstStyle/>
          <a:p>
            <a:pPr algn="l"/>
            <a:r>
              <a:rPr sz="1300" b="0" i="0">
                <a:solidFill>
                  <a:srgbClr val="14324A"/>
                </a:solidFill>
                <a:latin typeface="Calibri"/>
              </a:rPr>
              <a:t>could not be read (MySQL GRANT pending)</a:t>
            </a:r>
          </a:p>
        </p:txBody>
      </p:sp>
      <p:sp>
        <p:nvSpPr>
          <p:cNvPr id="20" name="TextBox 19"/>
          <p:cNvSpPr txBox="1"/>
          <p:nvPr/>
        </p:nvSpPr>
        <p:spPr>
          <a:xfrm>
            <a:off x="8124748" y="5074920"/>
            <a:ext cx="3399434" cy="658368"/>
          </a:xfrm>
          <a:prstGeom prst="rect">
            <a:avLst/>
          </a:prstGeom>
          <a:noFill/>
        </p:spPr>
        <p:txBody>
          <a:bodyPr wrap="square" lIns="0" rIns="0" tIns="0" bIns="0" anchor="t">
            <a:spAutoFit/>
          </a:bodyPr>
          <a:lstStyle/>
          <a:p>
            <a:pPr algn="l"/>
            <a:r>
              <a:rPr sz="1300" b="0" i="0">
                <a:solidFill>
                  <a:srgbClr val="14324A"/>
                </a:solidFill>
                <a:latin typeface="Calibri"/>
              </a:rPr>
              <a:t>owner grants read access; re-census</a:t>
            </a:r>
          </a:p>
        </p:txBody>
      </p:sp>
      <p:sp>
        <p:nvSpPr>
          <p:cNvPr id="21" name="Rectangle 20"/>
          <p:cNvSpPr/>
          <p:nvPr/>
        </p:nvSpPr>
        <p:spPr>
          <a:xfrm>
            <a:off x="594360" y="5879592"/>
            <a:ext cx="11002975" cy="786384"/>
          </a:xfrm>
          <a:prstGeom prst="rect">
            <a:avLst/>
          </a:prstGeom>
          <a:pattFill>
            <a:fgClr>
              <a:srgbClr val="E8EEF3"/>
            </a:fgClr>
            <a:bgClr>
              <a:srgbClr val="FFFFFF"/>
            </a:bgClr>
          </a:patt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5952744"/>
            <a:ext cx="3399434" cy="658368"/>
          </a:xfrm>
          <a:prstGeom prst="rect">
            <a:avLst/>
          </a:prstGeom>
          <a:noFill/>
        </p:spPr>
        <p:txBody>
          <a:bodyPr wrap="square" lIns="0" rIns="0" tIns="0" bIns="0" anchor="t">
            <a:spAutoFit/>
          </a:bodyPr>
          <a:lstStyle/>
          <a:p>
            <a:pPr algn="l"/>
            <a:r>
              <a:rPr sz="1300" b="0" i="0">
                <a:solidFill>
                  <a:srgbClr val="14324A"/>
                </a:solidFill>
                <a:latin typeface="Calibri"/>
              </a:rPr>
              <a:t>NAS duplication</a:t>
            </a:r>
          </a:p>
        </p:txBody>
      </p:sp>
      <p:sp>
        <p:nvSpPr>
          <p:cNvPr id="23" name="TextBox 22"/>
          <p:cNvSpPr txBox="1"/>
          <p:nvPr/>
        </p:nvSpPr>
        <p:spPr>
          <a:xfrm>
            <a:off x="4396130" y="5952744"/>
            <a:ext cx="3399434" cy="658368"/>
          </a:xfrm>
          <a:prstGeom prst="rect">
            <a:avLst/>
          </a:prstGeom>
          <a:noFill/>
        </p:spPr>
        <p:txBody>
          <a:bodyPr wrap="square" lIns="0" rIns="0" tIns="0" bIns="0" anchor="t">
            <a:spAutoFit/>
          </a:bodyPr>
          <a:lstStyle/>
          <a:p>
            <a:pPr algn="l"/>
            <a:r>
              <a:rPr sz="1300" b="0" i="0">
                <a:solidFill>
                  <a:srgbClr val="14324A"/>
                </a:solidFill>
                <a:latin typeface="Calibri"/>
              </a:rPr>
              <a:t>the enumeration recorded sizes and dates, not content fingerprints</a:t>
            </a:r>
          </a:p>
        </p:txBody>
      </p:sp>
      <p:sp>
        <p:nvSpPr>
          <p:cNvPr id="24" name="TextBox 23"/>
          <p:cNvSpPr txBox="1"/>
          <p:nvPr/>
        </p:nvSpPr>
        <p:spPr>
          <a:xfrm>
            <a:off x="8124748" y="5952744"/>
            <a:ext cx="3399434" cy="658368"/>
          </a:xfrm>
          <a:prstGeom prst="rect">
            <a:avLst/>
          </a:prstGeom>
          <a:noFill/>
        </p:spPr>
        <p:txBody>
          <a:bodyPr wrap="square" lIns="0" rIns="0" tIns="0" bIns="0" anchor="t">
            <a:spAutoFit/>
          </a:bodyPr>
          <a:lstStyle/>
          <a:p>
            <a:pPr algn="l"/>
            <a:r>
              <a:rPr sz="1300" b="0" i="0">
                <a:solidFill>
                  <a:srgbClr val="14324A"/>
                </a:solidFill>
                <a:latin typeface="Calibri"/>
              </a:rPr>
              <a:t>a fingerprinting pass over the NAS shares</a:t>
            </a:r>
          </a:p>
        </p:txBody>
      </p:sp>
      <p:sp>
        <p:nvSpPr>
          <p:cNvPr id="25" name="Rectangle 24"/>
          <p:cNvSpPr/>
          <p:nvPr/>
        </p:nvSpPr>
        <p:spPr>
          <a:xfrm>
            <a:off x="594360" y="6757416"/>
            <a:ext cx="11002975" cy="786384"/>
          </a:xfrm>
          <a:prstGeom prst="rect">
            <a:avLst/>
          </a:prstGeom>
          <a:pattFill>
            <a:fgClr>
              <a:srgbClr val="E8EEF3"/>
            </a:fgClr>
            <a:bgClr>
              <a:srgbClr val="FFFFFF"/>
            </a:bgClr>
          </a:patt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830568"/>
            <a:ext cx="3399434" cy="658368"/>
          </a:xfrm>
          <a:prstGeom prst="rect">
            <a:avLst/>
          </a:prstGeom>
          <a:noFill/>
        </p:spPr>
        <p:txBody>
          <a:bodyPr wrap="square" lIns="0" rIns="0" tIns="0" bIns="0" anchor="t">
            <a:spAutoFit/>
          </a:bodyPr>
          <a:lstStyle/>
          <a:p>
            <a:pPr algn="l"/>
            <a:r>
              <a:rPr sz="1300" b="0" i="0">
                <a:solidFill>
                  <a:srgbClr val="14324A"/>
                </a:solidFill>
                <a:latin typeface="Calibri"/>
              </a:rPr>
              <a:t>40 of 106 OBS buckets</a:t>
            </a:r>
          </a:p>
        </p:txBody>
      </p:sp>
      <p:sp>
        <p:nvSpPr>
          <p:cNvPr id="27" name="TextBox 26"/>
          <p:cNvSpPr txBox="1"/>
          <p:nvPr/>
        </p:nvSpPr>
        <p:spPr>
          <a:xfrm>
            <a:off x="4396130" y="6830568"/>
            <a:ext cx="3399434" cy="658368"/>
          </a:xfrm>
          <a:prstGeom prst="rect">
            <a:avLst/>
          </a:prstGeom>
          <a:noFill/>
        </p:spPr>
        <p:txBody>
          <a:bodyPr wrap="square" lIns="0" rIns="0" tIns="0" bIns="0" anchor="t">
            <a:spAutoFit/>
          </a:bodyPr>
          <a:lstStyle/>
          <a:p>
            <a:pPr algn="l"/>
            <a:r>
              <a:rPr sz="1300" b="0" i="0">
                <a:solidFill>
                  <a:srgbClr val="14324A"/>
                </a:solidFill>
                <a:latin typeface="Calibri"/>
              </a:rPr>
              <a:t>unreachable (NoSuchBucket / client errors)</a:t>
            </a:r>
          </a:p>
        </p:txBody>
      </p:sp>
      <p:sp>
        <p:nvSpPr>
          <p:cNvPr id="28" name="TextBox 27"/>
          <p:cNvSpPr txBox="1"/>
          <p:nvPr/>
        </p:nvSpPr>
        <p:spPr>
          <a:xfrm>
            <a:off x="8124748" y="6830568"/>
            <a:ext cx="3399434" cy="658368"/>
          </a:xfrm>
          <a:prstGeom prst="rect">
            <a:avLst/>
          </a:prstGeom>
          <a:noFill/>
        </p:spPr>
        <p:txBody>
          <a:bodyPr wrap="square" lIns="0" rIns="0" tIns="0" bIns="0" anchor="t">
            <a:spAutoFit/>
          </a:bodyPr>
          <a:lstStyle/>
          <a:p>
            <a:pPr algn="l"/>
            <a:r>
              <a:rPr sz="1300" b="0" i="0">
                <a:solidFill>
                  <a:srgbClr val="14324A"/>
                </a:solidFill>
                <a:latin typeface="Calibri"/>
              </a:rPr>
              <a:t>bucket inventory reconciled with the provider</a:t>
            </a:r>
          </a:p>
        </p:txBody>
      </p:sp>
      <p:sp>
        <p:nvSpPr>
          <p:cNvPr id="29" name="Rectangle 28"/>
          <p:cNvSpPr/>
          <p:nvPr/>
        </p:nvSpPr>
        <p:spPr>
          <a:xfrm>
            <a:off x="594360" y="7635240"/>
            <a:ext cx="11002975" cy="786384"/>
          </a:xfrm>
          <a:prstGeom prst="rect">
            <a:avLst/>
          </a:prstGeom>
          <a:pattFill>
            <a:fgClr>
              <a:srgbClr val="E8EEF3"/>
            </a:fgClr>
            <a:bgClr>
              <a:srgbClr val="FFFFFF"/>
            </a:bgClr>
          </a:patt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7708392"/>
            <a:ext cx="3399434" cy="658368"/>
          </a:xfrm>
          <a:prstGeom prst="rect">
            <a:avLst/>
          </a:prstGeom>
          <a:noFill/>
        </p:spPr>
        <p:txBody>
          <a:bodyPr wrap="square" lIns="0" rIns="0" tIns="0" bIns="0" anchor="t">
            <a:spAutoFit/>
          </a:bodyPr>
          <a:lstStyle/>
          <a:p>
            <a:pPr algn="l"/>
            <a:r>
              <a:rPr sz="1300" b="0" i="0">
                <a:solidFill>
                  <a:srgbClr val="14324A"/>
                </a:solidFill>
                <a:latin typeface="Calibri"/>
              </a:rPr>
              <a:t>Language of each news script</a:t>
            </a:r>
          </a:p>
        </p:txBody>
      </p:sp>
      <p:sp>
        <p:nvSpPr>
          <p:cNvPr id="31" name="TextBox 30"/>
          <p:cNvSpPr txBox="1"/>
          <p:nvPr/>
        </p:nvSpPr>
        <p:spPr>
          <a:xfrm>
            <a:off x="4396130" y="7708392"/>
            <a:ext cx="3399434" cy="658368"/>
          </a:xfrm>
          <a:prstGeom prst="rect">
            <a:avLst/>
          </a:prstGeom>
          <a:noFill/>
        </p:spPr>
        <p:txBody>
          <a:bodyPr wrap="square" lIns="0" rIns="0" tIns="0" bIns="0" anchor="t">
            <a:spAutoFit/>
          </a:bodyPr>
          <a:lstStyle/>
          <a:p>
            <a:pPr algn="l"/>
            <a:r>
              <a:rPr sz="1300" b="0" i="0">
                <a:solidFill>
                  <a:srgbClr val="14324A"/>
                </a:solidFill>
                <a:latin typeface="Calibri"/>
              </a:rPr>
              <a:t>the scripts were counted and sized, not read; the language shown is the station's broadcast language from the estate's own table</a:t>
            </a:r>
          </a:p>
        </p:txBody>
      </p:sp>
      <p:sp>
        <p:nvSpPr>
          <p:cNvPr id="32" name="TextBox 31"/>
          <p:cNvSpPr txBox="1"/>
          <p:nvPr/>
        </p:nvSpPr>
        <p:spPr>
          <a:xfrm>
            <a:off x="8124748" y="7708392"/>
            <a:ext cx="3399434" cy="658368"/>
          </a:xfrm>
          <a:prstGeom prst="rect">
            <a:avLst/>
          </a:prstGeom>
          <a:noFill/>
        </p:spPr>
        <p:txBody>
          <a:bodyPr wrap="square" lIns="0" rIns="0" tIns="0" bIns="0" anchor="t">
            <a:spAutoFit/>
          </a:bodyPr>
          <a:lstStyle/>
          <a:p>
            <a:pPr algn="l"/>
            <a:r>
              <a:rPr sz="1300" b="0" i="0">
                <a:solidFill>
                  <a:srgbClr val="14324A"/>
                </a:solidFill>
                <a:latin typeface="Calibri"/>
              </a:rPr>
              <a:t>a text-model pass over the script column under the same aggregate-only seam</a:t>
            </a:r>
          </a:p>
        </p:txBody>
      </p:sp>
      <p:sp>
        <p:nvSpPr>
          <p:cNvPr id="33" name="Rectangle 32"/>
          <p:cNvSpPr/>
          <p:nvPr/>
        </p:nvSpPr>
        <p:spPr>
          <a:xfrm>
            <a:off x="594360" y="8513063"/>
            <a:ext cx="11002975" cy="786384"/>
          </a:xfrm>
          <a:prstGeom prst="rect">
            <a:avLst/>
          </a:prstGeom>
          <a:pattFill>
            <a:fgClr>
              <a:srgbClr val="E8EEF3"/>
            </a:fgClr>
            <a:bgClr>
              <a:srgbClr val="FFFFFF"/>
            </a:bgClr>
          </a:patt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512" y="8586215"/>
            <a:ext cx="3399434" cy="658368"/>
          </a:xfrm>
          <a:prstGeom prst="rect">
            <a:avLst/>
          </a:prstGeom>
          <a:noFill/>
        </p:spPr>
        <p:txBody>
          <a:bodyPr wrap="square" lIns="0" rIns="0" tIns="0" bIns="0" anchor="t">
            <a:spAutoFit/>
          </a:bodyPr>
          <a:lstStyle/>
          <a:p>
            <a:pPr algn="l"/>
            <a:r>
              <a:rPr sz="1300" b="0" i="0">
                <a:solidFill>
                  <a:srgbClr val="14324A"/>
                </a:solidFill>
                <a:latin typeface="Calibri"/>
              </a:rPr>
              <a:t>Overlap between the workbench recordings and the staged corpus</a:t>
            </a:r>
          </a:p>
        </p:txBody>
      </p:sp>
      <p:sp>
        <p:nvSpPr>
          <p:cNvPr id="35" name="TextBox 34"/>
          <p:cNvSpPr txBox="1"/>
          <p:nvPr/>
        </p:nvSpPr>
        <p:spPr>
          <a:xfrm>
            <a:off x="4396130" y="8586215"/>
            <a:ext cx="3399434" cy="658368"/>
          </a:xfrm>
          <a:prstGeom prst="rect">
            <a:avLst/>
          </a:prstGeom>
          <a:noFill/>
        </p:spPr>
        <p:txBody>
          <a:bodyPr wrap="square" lIns="0" rIns="0" tIns="0" bIns="0" anchor="t">
            <a:spAutoFit/>
          </a:bodyPr>
          <a:lstStyle/>
          <a:p>
            <a:pPr algn="l"/>
            <a:r>
              <a:rPr sz="1300" b="0" i="0">
                <a:solidFill>
                  <a:srgbClr val="14324A"/>
                </a:solidFill>
                <a:latin typeface="Calibri"/>
              </a:rPr>
              <a:t>both inventories were counted on their own; no file-level join was made</a:t>
            </a:r>
          </a:p>
        </p:txBody>
      </p:sp>
      <p:sp>
        <p:nvSpPr>
          <p:cNvPr id="36" name="TextBox 35"/>
          <p:cNvSpPr txBox="1"/>
          <p:nvPr/>
        </p:nvSpPr>
        <p:spPr>
          <a:xfrm>
            <a:off x="8124748" y="8586215"/>
            <a:ext cx="3399434" cy="658368"/>
          </a:xfrm>
          <a:prstGeom prst="rect">
            <a:avLst/>
          </a:prstGeom>
          <a:noFill/>
        </p:spPr>
        <p:txBody>
          <a:bodyPr wrap="square" lIns="0" rIns="0" tIns="0" bIns="0" anchor="t">
            <a:spAutoFit/>
          </a:bodyPr>
          <a:lstStyle/>
          <a:p>
            <a:pPr algn="l"/>
            <a:r>
              <a:rPr sz="1300" b="0" i="0">
                <a:solidFill>
                  <a:srgbClr val="14324A"/>
                </a:solidFill>
                <a:latin typeface="Calibri"/>
              </a:rPr>
              <a:t>a hash join of workbench file locations against the staged corpus paths</a:t>
            </a:r>
          </a:p>
        </p:txBody>
      </p:sp>
      <p:sp>
        <p:nvSpPr>
          <p:cNvPr id="37" name="TextBox 36"/>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38" name="TextBox 37"/>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39" name="TextBox 38"/>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411480"/>
            <a:ext cx="11002975" cy="376732"/>
          </a:xfrm>
          <a:prstGeom prst="rect">
            <a:avLst/>
          </a:prstGeom>
          <a:noFill/>
        </p:spPr>
        <p:txBody>
          <a:bodyPr wrap="square" lIns="0" rIns="0" tIns="0" bIns="0" anchor="t">
            <a:spAutoFit/>
          </a:bodyPr>
          <a:lstStyle/>
          <a:p>
            <a:pPr algn="l"/>
            <a:r>
              <a:rPr sz="1100" b="1" i="0">
                <a:solidFill>
                  <a:srgbClr val="70879A"/>
                </a:solidFill>
                <a:latin typeface="Calibri"/>
              </a:rPr>
              <a:t>APPENDIX</a:t>
            </a:r>
          </a:p>
        </p:txBody>
      </p:sp>
      <p:sp>
        <p:nvSpPr>
          <p:cNvPr id="3" name="TextBox 2"/>
          <p:cNvSpPr txBox="1"/>
          <p:nvPr/>
        </p:nvSpPr>
        <p:spPr>
          <a:xfrm>
            <a:off x="594360" y="789127"/>
            <a:ext cx="11002975" cy="1131112"/>
          </a:xfrm>
          <a:prstGeom prst="rect">
            <a:avLst/>
          </a:prstGeom>
          <a:noFill/>
        </p:spPr>
        <p:txBody>
          <a:bodyPr wrap="square" lIns="0" rIns="0" tIns="0" bIns="0" anchor="t">
            <a:spAutoFit/>
          </a:bodyPr>
          <a:lstStyle/>
          <a:p>
            <a:pPr algn="l"/>
            <a:r>
              <a:rPr sz="2600" b="0" i="0">
                <a:solidFill>
                  <a:srgbClr val="14324A"/>
                </a:solidFill>
                <a:latin typeface="Cambria"/>
              </a:rPr>
              <a:t>Exhibit index with receipts</a:t>
            </a:r>
          </a:p>
        </p:txBody>
      </p:sp>
      <p:sp>
        <p:nvSpPr>
          <p:cNvPr id="4" name="TextBox 3"/>
          <p:cNvSpPr txBox="1"/>
          <p:nvPr/>
        </p:nvSpPr>
        <p:spPr>
          <a:xfrm>
            <a:off x="594360" y="1920240"/>
            <a:ext cx="822960" cy="502920"/>
          </a:xfrm>
          <a:prstGeom prst="rect">
            <a:avLst/>
          </a:prstGeom>
          <a:noFill/>
        </p:spPr>
        <p:txBody>
          <a:bodyPr wrap="square" lIns="0" rIns="0" tIns="0" bIns="0" anchor="t">
            <a:spAutoFit/>
          </a:bodyPr>
          <a:lstStyle/>
          <a:p>
            <a:pPr algn="l"/>
            <a:r>
              <a:rPr sz="1400" b="1" i="0">
                <a:solidFill>
                  <a:srgbClr val="E8772E"/>
                </a:solidFill>
                <a:latin typeface="Courier New"/>
              </a:rPr>
              <a:t>R01</a:t>
            </a:r>
          </a:p>
        </p:txBody>
      </p:sp>
      <p:sp>
        <p:nvSpPr>
          <p:cNvPr id="5" name="TextBox 4"/>
          <p:cNvSpPr txBox="1"/>
          <p:nvPr/>
        </p:nvSpPr>
        <p:spPr>
          <a:xfrm>
            <a:off x="1508760" y="1920240"/>
            <a:ext cx="10088575" cy="502920"/>
          </a:xfrm>
          <a:prstGeom prst="rect">
            <a:avLst/>
          </a:prstGeom>
          <a:noFill/>
        </p:spPr>
        <p:txBody>
          <a:bodyPr wrap="square" lIns="0" rIns="0" tIns="0" bIns="0" anchor="t">
            <a:spAutoFit/>
          </a:bodyPr>
          <a:lstStyle/>
          <a:p>
            <a:pPr algn="l"/>
            <a:r>
              <a:rPr sz="1300" b="0" i="0">
                <a:solidFill>
                  <a:srgbClr val="14324A"/>
                </a:solidFill>
                <a:latin typeface="Calibri"/>
              </a:rPr>
              <a:t>Estate intelligence census eij-1b359b3cbd2e, digest-verified report (measured 2026-09-29), headline aggregates and per-database measures</a:t>
            </a:r>
          </a:p>
        </p:txBody>
      </p:sp>
      <p:cxnSp>
        <p:nvCxnSpPr>
          <p:cNvPr id="6" name="Connector 5"/>
          <p:cNvCxnSpPr/>
          <p:nvPr/>
        </p:nvCxnSpPr>
        <p:spPr>
          <a:xfrm>
            <a:off x="594360" y="244144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560320"/>
            <a:ext cx="822960" cy="502920"/>
          </a:xfrm>
          <a:prstGeom prst="rect">
            <a:avLst/>
          </a:prstGeom>
          <a:noFill/>
        </p:spPr>
        <p:txBody>
          <a:bodyPr wrap="square" lIns="0" rIns="0" tIns="0" bIns="0" anchor="t">
            <a:spAutoFit/>
          </a:bodyPr>
          <a:lstStyle/>
          <a:p>
            <a:pPr algn="l"/>
            <a:r>
              <a:rPr sz="1400" b="1" i="0">
                <a:solidFill>
                  <a:srgbClr val="E8772E"/>
                </a:solidFill>
                <a:latin typeface="Courier New"/>
              </a:rPr>
              <a:t>R02</a:t>
            </a:r>
          </a:p>
        </p:txBody>
      </p:sp>
      <p:sp>
        <p:nvSpPr>
          <p:cNvPr id="8" name="TextBox 7"/>
          <p:cNvSpPr txBox="1"/>
          <p:nvPr/>
        </p:nvSpPr>
        <p:spPr>
          <a:xfrm>
            <a:off x="1508760" y="2560320"/>
            <a:ext cx="10088575" cy="502920"/>
          </a:xfrm>
          <a:prstGeom prst="rect">
            <a:avLst/>
          </a:prstGeom>
          <a:noFill/>
        </p:spPr>
        <p:txBody>
          <a:bodyPr wrap="square" lIns="0" rIns="0" tIns="0" bIns="0" anchor="t">
            <a:spAutoFit/>
          </a:bodyPr>
          <a:lstStyle/>
          <a:p>
            <a:pPr algn="l"/>
            <a:r>
              <a:rPr sz="1300" b="0" i="0">
                <a:solidFill>
                  <a:srgbClr val="14324A"/>
                </a:solidFill>
                <a:latin typeface="Calibri"/>
              </a:rPr>
              <a:t>Estate intelligence census eij-1b359b3cbd2e, cost_strategies priced at reference list prices, not the owner's invoice: Huawei Cloud RDS for MySQL cloud SSD AF-Johannesburg 0.00015 USD/GB-hour x 730 h; OBS Standard 0.023 USD/GB-month</a:t>
            </a:r>
          </a:p>
        </p:txBody>
      </p:sp>
      <p:cxnSp>
        <p:nvCxnSpPr>
          <p:cNvPr id="9" name="Connector 8"/>
          <p:cNvCxnSpPr/>
          <p:nvPr/>
        </p:nvCxnSpPr>
        <p:spPr>
          <a:xfrm>
            <a:off x="594360" y="308152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94360" y="3200400"/>
            <a:ext cx="822960" cy="365760"/>
          </a:xfrm>
          <a:prstGeom prst="rect">
            <a:avLst/>
          </a:prstGeom>
          <a:noFill/>
        </p:spPr>
        <p:txBody>
          <a:bodyPr wrap="square" lIns="0" rIns="0" tIns="0" bIns="0" anchor="t">
            <a:spAutoFit/>
          </a:bodyPr>
          <a:lstStyle/>
          <a:p>
            <a:pPr algn="l"/>
            <a:r>
              <a:rPr sz="1400" b="1" i="0">
                <a:solidFill>
                  <a:srgbClr val="E8772E"/>
                </a:solidFill>
                <a:latin typeface="Courier New"/>
              </a:rPr>
              <a:t>R03</a:t>
            </a:r>
          </a:p>
        </p:txBody>
      </p:sp>
      <p:sp>
        <p:nvSpPr>
          <p:cNvPr id="11" name="TextBox 10"/>
          <p:cNvSpPr txBox="1"/>
          <p:nvPr/>
        </p:nvSpPr>
        <p:spPr>
          <a:xfrm>
            <a:off x="1508760" y="3200400"/>
            <a:ext cx="10088575" cy="365760"/>
          </a:xfrm>
          <a:prstGeom prst="rect">
            <a:avLst/>
          </a:prstGeom>
          <a:noFill/>
        </p:spPr>
        <p:txBody>
          <a:bodyPr wrap="square" lIns="0" rIns="0" tIns="0" bIns="0" anchor="t">
            <a:spAutoFit/>
          </a:bodyPr>
          <a:lstStyle/>
          <a:p>
            <a:pPr algn="l"/>
            <a:r>
              <a:rPr sz="1300" b="0" i="0">
                <a:solidFill>
                  <a:srgbClr val="14324A"/>
                </a:solidFill>
                <a:latin typeface="Calibri"/>
              </a:rPr>
              <a:t>Estate intelligence census eij-1b359b3cbd2e, data_products readiness scoring (dimensions, grades, blockers)</a:t>
            </a:r>
          </a:p>
        </p:txBody>
      </p:sp>
      <p:cxnSp>
        <p:nvCxnSpPr>
          <p:cNvPr id="12" name="Connector 11"/>
          <p:cNvCxnSpPr/>
          <p:nvPr/>
        </p:nvCxnSpPr>
        <p:spPr>
          <a:xfrm>
            <a:off x="594360" y="358444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3703320"/>
            <a:ext cx="822960" cy="365760"/>
          </a:xfrm>
          <a:prstGeom prst="rect">
            <a:avLst/>
          </a:prstGeom>
          <a:noFill/>
        </p:spPr>
        <p:txBody>
          <a:bodyPr wrap="square" lIns="0" rIns="0" tIns="0" bIns="0" anchor="t">
            <a:spAutoFit/>
          </a:bodyPr>
          <a:lstStyle/>
          <a:p>
            <a:pPr algn="l"/>
            <a:r>
              <a:rPr sz="1400" b="1" i="0">
                <a:solidFill>
                  <a:srgbClr val="E8772E"/>
                </a:solidFill>
                <a:latin typeface="Courier New"/>
              </a:rPr>
              <a:t>R04</a:t>
            </a:r>
          </a:p>
        </p:txBody>
      </p:sp>
      <p:sp>
        <p:nvSpPr>
          <p:cNvPr id="14" name="TextBox 13"/>
          <p:cNvSpPr txBox="1"/>
          <p:nvPr/>
        </p:nvSpPr>
        <p:spPr>
          <a:xfrm>
            <a:off x="1508760" y="3703320"/>
            <a:ext cx="10088575" cy="365760"/>
          </a:xfrm>
          <a:prstGeom prst="rect">
            <a:avLst/>
          </a:prstGeom>
          <a:noFill/>
        </p:spPr>
        <p:txBody>
          <a:bodyPr wrap="square" lIns="0" rIns="0" tIns="0" bIns="0" anchor="t">
            <a:spAutoFit/>
          </a:bodyPr>
          <a:lstStyle/>
          <a:p>
            <a:pPr algn="l"/>
            <a:r>
              <a:rPr sz="1300" b="0" i="0">
                <a:solidFill>
                  <a:srgbClr val="14324A"/>
                </a:solidFill>
                <a:latin typeface="Calibri"/>
              </a:rPr>
              <a:t>OBS bucket enumeration census run cr-f1415e395361 (22,975,591 objects, 130.3 TiB)</a:t>
            </a:r>
          </a:p>
        </p:txBody>
      </p:sp>
      <p:cxnSp>
        <p:nvCxnSpPr>
          <p:cNvPr id="15" name="Connector 14"/>
          <p:cNvCxnSpPr/>
          <p:nvPr/>
        </p:nvCxnSpPr>
        <p:spPr>
          <a:xfrm>
            <a:off x="594360" y="408736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4206240"/>
            <a:ext cx="822960" cy="365760"/>
          </a:xfrm>
          <a:prstGeom prst="rect">
            <a:avLst/>
          </a:prstGeom>
          <a:noFill/>
        </p:spPr>
        <p:txBody>
          <a:bodyPr wrap="square" lIns="0" rIns="0" tIns="0" bIns="0" anchor="t">
            <a:spAutoFit/>
          </a:bodyPr>
          <a:lstStyle/>
          <a:p>
            <a:pPr algn="l"/>
            <a:r>
              <a:rPr sz="1400" b="1" i="0">
                <a:solidFill>
                  <a:srgbClr val="E8772E"/>
                </a:solidFill>
                <a:latin typeface="Courier New"/>
              </a:rPr>
              <a:t>R05</a:t>
            </a:r>
          </a:p>
        </p:txBody>
      </p:sp>
      <p:sp>
        <p:nvSpPr>
          <p:cNvPr id="17" name="TextBox 16"/>
          <p:cNvSpPr txBox="1"/>
          <p:nvPr/>
        </p:nvSpPr>
        <p:spPr>
          <a:xfrm>
            <a:off x="1508760" y="4206240"/>
            <a:ext cx="10088575" cy="365760"/>
          </a:xfrm>
          <a:prstGeom prst="rect">
            <a:avLst/>
          </a:prstGeom>
          <a:noFill/>
        </p:spPr>
        <p:txBody>
          <a:bodyPr wrap="square" lIns="0" rIns="0" tIns="0" bIns="0" anchor="t">
            <a:spAutoFit/>
          </a:bodyPr>
          <a:lstStyle/>
          <a:p>
            <a:pPr algn="l"/>
            <a:r>
              <a:rPr sz="1300" b="0" i="0">
                <a:solidFill>
                  <a:srgbClr val="14324A"/>
                </a:solidFill>
                <a:latin typeface="Calibri"/>
              </a:rPr>
              <a:t>NAS share enumeration census run cr-cf4eef79995b (1,456,787 files, 43.6 TiB)</a:t>
            </a:r>
          </a:p>
        </p:txBody>
      </p:sp>
      <p:cxnSp>
        <p:nvCxnSpPr>
          <p:cNvPr id="18" name="Connector 17"/>
          <p:cNvCxnSpPr/>
          <p:nvPr/>
        </p:nvCxnSpPr>
        <p:spPr>
          <a:xfrm>
            <a:off x="594360" y="459028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94360" y="4709160"/>
            <a:ext cx="822960" cy="502920"/>
          </a:xfrm>
          <a:prstGeom prst="rect">
            <a:avLst/>
          </a:prstGeom>
          <a:noFill/>
        </p:spPr>
        <p:txBody>
          <a:bodyPr wrap="square" lIns="0" rIns="0" tIns="0" bIns="0" anchor="t">
            <a:spAutoFit/>
          </a:bodyPr>
          <a:lstStyle/>
          <a:p>
            <a:pPr algn="l"/>
            <a:r>
              <a:rPr sz="1400" b="1" i="0">
                <a:solidFill>
                  <a:srgbClr val="E8772E"/>
                </a:solidFill>
                <a:latin typeface="Courier New"/>
              </a:rPr>
              <a:t>R06</a:t>
            </a:r>
          </a:p>
        </p:txBody>
      </p:sp>
      <p:sp>
        <p:nvSpPr>
          <p:cNvPr id="20" name="TextBox 19"/>
          <p:cNvSpPr txBox="1"/>
          <p:nvPr/>
        </p:nvSpPr>
        <p:spPr>
          <a:xfrm>
            <a:off x="1508760" y="4709160"/>
            <a:ext cx="10088575" cy="502920"/>
          </a:xfrm>
          <a:prstGeom prst="rect">
            <a:avLst/>
          </a:prstGeom>
          <a:noFill/>
        </p:spPr>
        <p:txBody>
          <a:bodyPr wrap="square" lIns="0" rIns="0" tIns="0" bIns="0" anchor="t">
            <a:spAutoFit/>
          </a:bodyPr>
          <a:lstStyle/>
          <a:p>
            <a:pPr algn="l"/>
            <a:r>
              <a:rPr sz="1300" b="0" i="0">
                <a:solidFill>
                  <a:srgbClr val="14324A"/>
                </a:solidFill>
                <a:latin typeface="Calibri"/>
              </a:rPr>
              <a:t>Estate language reading m9j-9e8fcb46a809 on akki-vm (2 GPUs, 1.034 GPU-h): audio language model lcj-7128593897d4 sha256 5c1feb8497e8…, music detector m9j-686de001bfe7 sha256 0fea3eee0393…; model readings, not human labels</a:t>
            </a:r>
          </a:p>
        </p:txBody>
      </p:sp>
      <p:cxnSp>
        <p:nvCxnSpPr>
          <p:cNvPr id="21" name="Connector 20"/>
          <p:cNvCxnSpPr/>
          <p:nvPr/>
        </p:nvCxnSpPr>
        <p:spPr>
          <a:xfrm>
            <a:off x="594360" y="523036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5349240"/>
            <a:ext cx="822960" cy="502920"/>
          </a:xfrm>
          <a:prstGeom prst="rect">
            <a:avLst/>
          </a:prstGeom>
          <a:noFill/>
        </p:spPr>
        <p:txBody>
          <a:bodyPr wrap="square" lIns="0" rIns="0" tIns="0" bIns="0" anchor="t">
            <a:spAutoFit/>
          </a:bodyPr>
          <a:lstStyle/>
          <a:p>
            <a:pPr algn="l"/>
            <a:r>
              <a:rPr sz="1400" b="1" i="0">
                <a:solidFill>
                  <a:srgbClr val="E8772E"/>
                </a:solidFill>
                <a:latin typeface="Courier New"/>
              </a:rPr>
              <a:t>R07</a:t>
            </a:r>
          </a:p>
        </p:txBody>
      </p:sp>
      <p:sp>
        <p:nvSpPr>
          <p:cNvPr id="23" name="TextBox 22"/>
          <p:cNvSpPr txBox="1"/>
          <p:nvPr/>
        </p:nvSpPr>
        <p:spPr>
          <a:xfrm>
            <a:off x="1508760" y="5349240"/>
            <a:ext cx="10088575" cy="502920"/>
          </a:xfrm>
          <a:prstGeom prst="rect">
            <a:avLst/>
          </a:prstGeom>
          <a:noFill/>
        </p:spPr>
        <p:txBody>
          <a:bodyPr wrap="square" lIns="0" rIns="0" tIns="0" bIns="0" anchor="t">
            <a:spAutoFit/>
          </a:bodyPr>
          <a:lstStyle/>
          <a:p>
            <a:pPr algn="l"/>
            <a:r>
              <a:rPr sz="1300" b="0" i="0">
                <a:solidFill>
                  <a:srgbClr val="14324A"/>
                </a:solidFill>
                <a:latin typeface="Calibri"/>
              </a:rPr>
              <a:t>Served text language model m9j-74af7cef0a85 readings of the staged transcripts: jobs m9j-8cf6702f8718 (399 transcripts read, 3939 present)</a:t>
            </a:r>
          </a:p>
        </p:txBody>
      </p:sp>
      <p:cxnSp>
        <p:nvCxnSpPr>
          <p:cNvPr id="24" name="Connector 23"/>
          <p:cNvCxnSpPr/>
          <p:nvPr/>
        </p:nvCxnSpPr>
        <p:spPr>
          <a:xfrm>
            <a:off x="594360" y="5870448"/>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94360" y="5989320"/>
            <a:ext cx="822960" cy="905256"/>
          </a:xfrm>
          <a:prstGeom prst="rect">
            <a:avLst/>
          </a:prstGeom>
          <a:noFill/>
        </p:spPr>
        <p:txBody>
          <a:bodyPr wrap="square" lIns="0" rIns="0" tIns="0" bIns="0" anchor="t">
            <a:spAutoFit/>
          </a:bodyPr>
          <a:lstStyle/>
          <a:p>
            <a:pPr algn="l"/>
            <a:r>
              <a:rPr sz="1400" b="1" i="0">
                <a:solidFill>
                  <a:srgbClr val="E8772E"/>
                </a:solidFill>
                <a:latin typeface="Courier New"/>
              </a:rPr>
              <a:t>R08</a:t>
            </a:r>
          </a:p>
        </p:txBody>
      </p:sp>
      <p:sp>
        <p:nvSpPr>
          <p:cNvPr id="26" name="TextBox 25"/>
          <p:cNvSpPr txBox="1"/>
          <p:nvPr/>
        </p:nvSpPr>
        <p:spPr>
          <a:xfrm>
            <a:off x="1508760" y="5989320"/>
            <a:ext cx="10088575" cy="905256"/>
          </a:xfrm>
          <a:prstGeom prst="rect">
            <a:avLst/>
          </a:prstGeom>
          <a:noFill/>
        </p:spPr>
        <p:txBody>
          <a:bodyPr wrap="square" lIns="0" rIns="0" tIns="0" bIns="0" anchor="t">
            <a:spAutoFit/>
          </a:bodyPr>
          <a:lstStyle/>
          <a:p>
            <a:pPr algn="l"/>
            <a:r>
              <a:rPr sz="1300" b="0" i="0">
                <a:solidFill>
                  <a:srgbClr val="14324A"/>
                </a:solidFill>
                <a:latin typeface="Calibri"/>
              </a:rPr>
              <a:t>Aggregate-only database reading etx-81e10befe6e0: news_vault.stories (script, title, date, hour_id) → news_vault.hours (station_id, time, type_id) → news_vault.stations (name); news_vault.news (2022 bulletins); local.uploaded_files (language_id, audio_length, status) ← local.transcripts (file_id, start_time, end_time, transcript) ; local.folder_languages (Language, code, station)</a:t>
            </a:r>
          </a:p>
        </p:txBody>
      </p:sp>
      <p:cxnSp>
        <p:nvCxnSpPr>
          <p:cNvPr id="27" name="Connector 26"/>
          <p:cNvCxnSpPr/>
          <p:nvPr/>
        </p:nvCxnSpPr>
        <p:spPr>
          <a:xfrm>
            <a:off x="594360" y="6912864"/>
            <a:ext cx="11002975" cy="0"/>
          </a:xfrm>
          <a:prstGeom prst="line">
            <a:avLst/>
          </a:prstGeom>
          <a:ln w="9525">
            <a:solidFill>
              <a:srgbClr val="D3DCE4"/>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4360" y="6069787"/>
            <a:ext cx="5409590" cy="376732"/>
          </a:xfrm>
          <a:prstGeom prst="rect">
            <a:avLst/>
          </a:prstGeom>
          <a:noFill/>
        </p:spPr>
        <p:txBody>
          <a:bodyPr wrap="square" lIns="0" rIns="0" tIns="0" bIns="0" anchor="b">
            <a:spAutoFit/>
          </a:bodyPr>
          <a:lstStyle/>
          <a:p>
            <a:pPr algn="l"/>
            <a:r>
              <a:rPr sz="1000" b="0" i="0">
                <a:solidFill>
                  <a:srgbClr val="70879A"/>
                </a:solidFill>
                <a:latin typeface="Calibri"/>
              </a:rPr>
              <a:t>EI-eij-1b359b3cbd2e</a:t>
            </a:r>
          </a:p>
        </p:txBody>
      </p:sp>
      <p:sp>
        <p:nvSpPr>
          <p:cNvPr id="29" name="TextBox 28"/>
          <p:cNvSpPr txBox="1"/>
          <p:nvPr/>
        </p:nvSpPr>
        <p:spPr>
          <a:xfrm>
            <a:off x="6187744" y="6069787"/>
            <a:ext cx="4477816" cy="376732"/>
          </a:xfrm>
          <a:prstGeom prst="rect">
            <a:avLst/>
          </a:prstGeom>
          <a:noFill/>
        </p:spPr>
        <p:txBody>
          <a:bodyPr wrap="square" lIns="0" rIns="0" tIns="0" bIns="0" anchor="b">
            <a:spAutoFit/>
          </a:bodyPr>
          <a:lstStyle/>
          <a:p>
            <a:pPr algn="ctr"/>
            <a:r>
              <a:rPr sz="1000" b="0" i="0">
                <a:solidFill>
                  <a:srgbClr val="70879A"/>
                </a:solidFill>
                <a:latin typeface="Calibri"/>
              </a:rPr>
              <a:t>Tenant confidential</a:t>
            </a:r>
          </a:p>
        </p:txBody>
      </p:sp>
      <p:sp>
        <p:nvSpPr>
          <p:cNvPr id="30" name="TextBox 29"/>
          <p:cNvSpPr txBox="1"/>
          <p:nvPr/>
        </p:nvSpPr>
        <p:spPr>
          <a:xfrm>
            <a:off x="10848441" y="6069787"/>
            <a:ext cx="748893" cy="376732"/>
          </a:xfrm>
          <a:prstGeom prst="rect">
            <a:avLst/>
          </a:prstGeom>
          <a:noFill/>
        </p:spPr>
        <p:txBody>
          <a:bodyPr wrap="square" lIns="0" rIns="0" tIns="0" bIns="0" anchor="b">
            <a:spAutoFit/>
          </a:bodyPr>
          <a:lstStyle/>
          <a:p>
            <a:pPr algn="r"/>
            <a:r>
              <a:rPr sz="1000" b="0" i="0">
                <a:solidFill>
                  <a:srgbClr val="70879A"/>
                </a:solidFill>
                <a:latin typeface="Courier New"/>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RMS estate: what is held, what it costs, what to do first</dc:title>
  <dc:subject/>
  <dc:creator>doc-studio</dc:creator>
  <cp:keywords/>
  <dc:description>generated using python-pptx</dc:description>
  <cp:lastModifiedBy>doc-studio</cp:lastModifiedBy>
  <cp:revision>1</cp:revision>
  <dcterms:created xsi:type="dcterms:W3CDTF">2026-10-02T07:26:31Z</dcterms:created>
  <dcterms:modified xsi:type="dcterms:W3CDTF">2026-10-02T07:26:31Z</dcterms:modified>
  <cp:category/>
</cp:coreProperties>
</file>