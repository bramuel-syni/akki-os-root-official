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B8860B"/>
            </a:solidFill>
          </c:spPr>
          <c:cat>
            <c:strRef>
              <c:f>Sheet1!$A$2:$A$9</c:f>
              <c:strCache>
                <c:ptCount val="8"/>
                <c:pt idx="0">
                  <c:v>viusasa_staging (D)</c:v>
                </c:pt>
                <c:pt idx="1">
                  <c:v>razuna (D)</c:v>
                </c:pt>
                <c:pt idx="2">
                  <c:v>db_visitors (D)</c:v>
                </c:pt>
                <c:pt idx="3">
                  <c:v>kra_reports (D)</c:v>
                </c:pt>
                <c:pt idx="4">
                  <c:v>viupay_agent_staging (A)</c:v>
                </c:pt>
                <c:pt idx="5">
                  <c:v>news_vault (C)</c:v>
                </c:pt>
                <c:pt idx="6">
                  <c:v>local (D)</c:v>
                </c:pt>
                <c:pt idx="7">
                  <c:v>viutickets (B)</c:v>
                </c:pt>
              </c:strCache>
            </c:strRef>
          </c:cat>
          <c:val>
            <c:numRef>
              <c:f>Sheet1!$B$2:$B$9</c:f>
              <c:numCache>
                <c:formatCode>General</c:formatCode>
                <c:ptCount val="8"/>
                <c:pt idx="0">
                  <c:v>338.5</c:v>
                </c:pt>
                <c:pt idx="1">
                  <c:v>4.5</c:v>
                </c:pt>
                <c:pt idx="2">
                  <c:v>2.7</c:v>
                </c:pt>
                <c:pt idx="3">
                  <c:v>1.5</c:v>
                </c:pt>
                <c:pt idx="4">
                  <c:v>1.2</c:v>
                </c:pt>
                <c:pt idx="5">
                  <c:v>0.9</c:v>
                </c:pt>
                <c:pt idx="6">
                  <c:v>0.5</c:v>
                </c:pt>
                <c:pt idx="7">
                  <c:v>0.4</c:v>
                </c:pt>
              </c:numCache>
            </c:numRef>
          </c:val>
        </c:ser>
        <c:dLbls>
          <c:numFmt formatCode="#,##0.0" sourceLinked="0"/>
          <c:txPr>
            <a:bodyPr/>
            <a:lstStyle/>
            <a:p>
              <a:pPr>
                <a:defRPr sz="1100">
                  <a:solidFill>
                    <a:srgbClr val="1B1B1F"/>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ADADD"/>
            </a:solidFill>
          </a:ln>
        </c:spPr>
        <c:crossAx val="-2113994440"/>
        <c:crosses val="autoZero"/>
        <c:auto val="1"/>
        <c:lblAlgn val="ctr"/>
        <c:lblOffset val="100"/>
        <c:noMultiLvlLbl val="0"/>
      </c:catAx>
      <c:valAx>
        <c:axId val="-2113994440"/>
        <c:scaling/>
        <c:delete val="0"/>
        <c:axPos val="l"/>
        <c:majorGridlines>
          <c:spPr>
            <a:ln>
              <a:solidFill>
                <a:srgbClr val="DADADD"/>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6E6E73"/>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B8860B"/>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B1B1F"/>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ADADD"/>
            </a:solidFill>
          </a:ln>
        </c:spPr>
        <c:crossAx val="-2113994440"/>
        <c:crosses val="autoZero"/>
        <c:auto val="1"/>
        <c:lblAlgn val="ctr"/>
        <c:lblOffset val="100"/>
        <c:noMultiLvlLbl val="0"/>
      </c:catAx>
      <c:valAx>
        <c:axId val="-2113994440"/>
        <c:scaling/>
        <c:delete val="0"/>
        <c:axPos val="l"/>
        <c:majorGridlines>
          <c:spPr>
            <a:ln>
              <a:solidFill>
                <a:srgbClr val="DADADD"/>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6E6E73"/>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B8860B"/>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7839.5</c:v>
                </c:pt>
                <c:pt idx="2">
                  <c:v>54.1</c:v>
                </c:pt>
                <c:pt idx="3">
                  <c:v>14.0</c:v>
                </c:pt>
                <c:pt idx="4">
                  <c:v>1.2</c:v>
                </c:pt>
                <c:pt idx="5">
                  <c:v>0.1</c:v>
                </c:pt>
                <c:pt idx="6">
                  <c:v>0.0</c:v>
                </c:pt>
              </c:numCache>
            </c:numRef>
          </c:val>
        </c:ser>
        <c:dLbls>
          <c:numFmt formatCode="#,##0.0" sourceLinked="0"/>
          <c:txPr>
            <a:bodyPr/>
            <a:lstStyle/>
            <a:p>
              <a:pPr>
                <a:defRPr sz="1100">
                  <a:solidFill>
                    <a:srgbClr val="1B1B1F"/>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ADADD"/>
            </a:solidFill>
          </a:ln>
        </c:spPr>
        <c:crossAx val="-2113994440"/>
        <c:crosses val="autoZero"/>
        <c:auto val="1"/>
        <c:lblAlgn val="ctr"/>
        <c:lblOffset val="100"/>
        <c:noMultiLvlLbl val="0"/>
      </c:catAx>
      <c:valAx>
        <c:axId val="-2113994440"/>
        <c:scaling/>
        <c:delete val="0"/>
        <c:axPos val="l"/>
        <c:majorGridlines>
          <c:spPr>
            <a:ln>
              <a:solidFill>
                <a:srgbClr val="DADADD"/>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6E6E73"/>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B1B1F"/>
                </a:solidFill>
                <a:latin typeface="Century Schoolbook"/>
              </a:rPr>
              <a:t>Estate intelligence — eij-1b359b3cbd2e</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6E6E73"/>
                </a:solidFill>
                <a:latin typeface="Arial"/>
              </a:rPr>
              <a:t>Commission close · measured 2026-09-29</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6E6E73"/>
                </a:solidFill>
                <a:latin typeface="Arial"/>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The estate is large, repetitive in places and mostly personal; reclaimable bytes are known</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6E6E73"/>
                </a:solidFill>
                <a:latin typeface="Arial"/>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B1B1F"/>
                </a:solidFill>
                <a:latin typeface="Arial"/>
              </a:rPr>
              <a:t>351.3 GiB sit in 20 databases and 1006 tables. 259.3m rows are held; 71 table pairs duplicate each other.</a:t>
            </a:r>
          </a:p>
        </p:txBody>
      </p:sp>
      <p:cxnSp>
        <p:nvCxnSpPr>
          <p:cNvPr id="6" name="Connector 5"/>
          <p:cNvCxnSpPr/>
          <p:nvPr/>
        </p:nvCxnSpPr>
        <p:spPr>
          <a:xfrm>
            <a:off x="594360" y="2790063"/>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6E6E73"/>
                </a:solidFill>
                <a:latin typeface="Arial"/>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B1B1F"/>
                </a:solidFill>
                <a:latin typeface="Arial"/>
              </a:rPr>
              <a:t>Exact duplicates are 1.5% of rows; degraded rows 23.0%; empty required fields 81.7%. 71.8% of 1.0m sampled rows carry PII markers.</a:t>
            </a:r>
          </a:p>
        </p:txBody>
      </p:sp>
      <p:cxnSp>
        <p:nvCxnSpPr>
          <p:cNvPr id="9" name="Connector 8"/>
          <p:cNvCxnSpPr/>
          <p:nvPr/>
        </p:nvCxnSpPr>
        <p:spPr>
          <a:xfrm>
            <a:off x="594360" y="3733037"/>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6E6E73"/>
                </a:solidFill>
                <a:latin typeface="Arial"/>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B1B1F"/>
                </a:solidFill>
                <a:latin typeface="Arial"/>
              </a:rPr>
              <a:t>Which cost-reduction strategies and product candidates should the estate owner take forward?</a:t>
            </a:r>
          </a:p>
        </p:txBody>
      </p:sp>
      <p:cxnSp>
        <p:nvCxnSpPr>
          <p:cNvPr id="12" name="Connector 11"/>
          <p:cNvCxnSpPr/>
          <p:nvPr/>
        </p:nvCxnSpPr>
        <p:spPr>
          <a:xfrm>
            <a:off x="594360" y="4676013"/>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B8860B"/>
                </a:solidFill>
                <a:latin typeface="Arial"/>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B1B1F"/>
                </a:solidFill>
                <a:latin typeface="Arial"/>
              </a:rPr>
              <a:t>About 15.2 GiB (4.3% of database bytes) looks reclaimable in the databases before pricing. Priced strategies bound the monthly saving at 1,174.4 USD at reference list prices. Rights are declared at Connect, not measured by the census; every candidate is aggregate or de-identified. The decision is the estate owner's; this pack sets out the measured evidence.</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B8860B"/>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B1B1F"/>
                </a:solidFill>
                <a:latin typeface="Century Schoolbook"/>
              </a:rPr>
              <a:t>What the estate holds and how it is conditioned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WHERE THE BYTES ARE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The largest databases hold 99.7% of the estate's bytes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B8860B"/>
                </a:solidFill>
                <a:latin typeface="Arial"/>
              </a:rPr>
              <a:t>351.3 GiB sit in 20 databases and 1006 tables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6E6E73"/>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Exact duplicates are 1.5% of rows; degraded rows 23.0%; empty required fields 81.7%</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B8860B"/>
                </a:solidFill>
                <a:latin typeface="Arial"/>
              </a:rPr>
              <a:t>Measures cover 63.4% of tables; the remaining ratios are estimated from stratified samples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6E6E73"/>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PERSONAL DATA AND STALENESS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71.8% of 1.0m sampled rows carry PII markers</a:t>
            </a:r>
          </a:p>
        </p:txBody>
      </p:sp>
      <p:sp>
        <p:nvSpPr>
          <p:cNvPr id="4" name="TextBox 3"/>
          <p:cNvSpPr txBox="1"/>
          <p:nvPr/>
        </p:nvSpPr>
        <p:spPr>
          <a:xfrm>
            <a:off x="594360" y="1920240"/>
            <a:ext cx="640080" cy="1188720"/>
          </a:xfrm>
          <a:prstGeom prst="rect">
            <a:avLst/>
          </a:prstGeom>
          <a:noFill/>
        </p:spPr>
        <p:txBody>
          <a:bodyPr wrap="square" lIns="0" rIns="0" tIns="0" bIns="0" anchor="t">
            <a:spAutoFit/>
          </a:bodyPr>
          <a:lstStyle/>
          <a:p>
            <a:pPr algn="l"/>
            <a:r>
              <a:rPr sz="2600" b="0" i="0">
                <a:solidFill>
                  <a:srgbClr val="B8860B"/>
                </a:solidFill>
                <a:latin typeface="Courier New"/>
              </a:rPr>
              <a:t>01</a:t>
            </a:r>
          </a:p>
        </p:txBody>
      </p:sp>
      <p:sp>
        <p:nvSpPr>
          <p:cNvPr id="5" name="TextBox 4"/>
          <p:cNvSpPr txBox="1"/>
          <p:nvPr/>
        </p:nvSpPr>
        <p:spPr>
          <a:xfrm>
            <a:off x="1417320" y="1993392"/>
            <a:ext cx="10180015" cy="1097280"/>
          </a:xfrm>
          <a:prstGeom prst="rect">
            <a:avLst/>
          </a:prstGeom>
          <a:noFill/>
        </p:spPr>
        <p:txBody>
          <a:bodyPr wrap="square" lIns="0" rIns="0" tIns="0" bIns="0" anchor="t">
            <a:spAutoFit/>
          </a:bodyPr>
          <a:lstStyle/>
          <a:p>
            <a:pPr algn="l"/>
            <a:r>
              <a:rPr sz="1400" b="0" i="0">
                <a:solidFill>
                  <a:srgbClr val="1B1B1F"/>
                </a:solidFill>
                <a:latin typeface="Arial"/>
              </a:rPr>
              <a:t>15.4% of bytes have not been written for over a year; 368 tables are empty</a:t>
            </a:r>
          </a:p>
        </p:txBody>
      </p:sp>
      <p:cxnSp>
        <p:nvCxnSpPr>
          <p:cNvPr id="6" name="Connector 5"/>
          <p:cNvCxnSpPr/>
          <p:nvPr/>
        </p:nvCxnSpPr>
        <p:spPr>
          <a:xfrm>
            <a:off x="594360" y="2999232"/>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08960"/>
            <a:ext cx="640080" cy="1188720"/>
          </a:xfrm>
          <a:prstGeom prst="rect">
            <a:avLst/>
          </a:prstGeom>
          <a:noFill/>
        </p:spPr>
        <p:txBody>
          <a:bodyPr wrap="square" lIns="0" rIns="0" tIns="0" bIns="0" anchor="t">
            <a:spAutoFit/>
          </a:bodyPr>
          <a:lstStyle/>
          <a:p>
            <a:pPr algn="l"/>
            <a:r>
              <a:rPr sz="2600" b="0" i="0">
                <a:solidFill>
                  <a:srgbClr val="B8860B"/>
                </a:solidFill>
                <a:latin typeface="Courier New"/>
              </a:rPr>
              <a:t>02</a:t>
            </a:r>
          </a:p>
        </p:txBody>
      </p:sp>
      <p:sp>
        <p:nvSpPr>
          <p:cNvPr id="8" name="TextBox 7"/>
          <p:cNvSpPr txBox="1"/>
          <p:nvPr/>
        </p:nvSpPr>
        <p:spPr>
          <a:xfrm>
            <a:off x="1417320" y="3182112"/>
            <a:ext cx="10180015" cy="1097280"/>
          </a:xfrm>
          <a:prstGeom prst="rect">
            <a:avLst/>
          </a:prstGeom>
          <a:noFill/>
        </p:spPr>
        <p:txBody>
          <a:bodyPr wrap="square" lIns="0" rIns="0" tIns="0" bIns="0" anchor="t">
            <a:spAutoFit/>
          </a:bodyPr>
          <a:lstStyle/>
          <a:p>
            <a:pPr algn="l"/>
            <a:r>
              <a:rPr sz="1400" b="0" i="0">
                <a:solidFill>
                  <a:srgbClr val="1B1B1F"/>
                </a:solidFill>
                <a:latin typeface="Arial"/>
              </a:rPr>
              <a:t>Dead columns are 13.0% of measured columns</a:t>
            </a:r>
          </a:p>
        </p:txBody>
      </p:sp>
      <p:cxnSp>
        <p:nvCxnSpPr>
          <p:cNvPr id="9" name="Connector 8"/>
          <p:cNvCxnSpPr/>
          <p:nvPr/>
        </p:nvCxnSpPr>
        <p:spPr>
          <a:xfrm>
            <a:off x="594360" y="4187952"/>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297680"/>
            <a:ext cx="640080" cy="1188720"/>
          </a:xfrm>
          <a:prstGeom prst="rect">
            <a:avLst/>
          </a:prstGeom>
          <a:noFill/>
        </p:spPr>
        <p:txBody>
          <a:bodyPr wrap="square" lIns="0" rIns="0" tIns="0" bIns="0" anchor="t">
            <a:spAutoFit/>
          </a:bodyPr>
          <a:lstStyle/>
          <a:p>
            <a:pPr algn="l"/>
            <a:r>
              <a:rPr sz="2600" b="0" i="0">
                <a:solidFill>
                  <a:srgbClr val="B8860B"/>
                </a:solidFill>
                <a:latin typeface="Courier New"/>
              </a:rPr>
              <a:t>03</a:t>
            </a:r>
          </a:p>
        </p:txBody>
      </p:sp>
      <p:sp>
        <p:nvSpPr>
          <p:cNvPr id="11" name="TextBox 10"/>
          <p:cNvSpPr txBox="1"/>
          <p:nvPr/>
        </p:nvSpPr>
        <p:spPr>
          <a:xfrm>
            <a:off x="1417320" y="4370832"/>
            <a:ext cx="10180015" cy="1097280"/>
          </a:xfrm>
          <a:prstGeom prst="rect">
            <a:avLst/>
          </a:prstGeom>
          <a:noFill/>
        </p:spPr>
        <p:txBody>
          <a:bodyPr wrap="square" lIns="0" rIns="0" tIns="0" bIns="0" anchor="t">
            <a:spAutoFit/>
          </a:bodyPr>
          <a:lstStyle/>
          <a:p>
            <a:pPr algn="l"/>
            <a:r>
              <a:rPr sz="1400" b="0" i="0">
                <a:solidFill>
                  <a:srgbClr val="1B1B1F"/>
                </a:solidFill>
                <a:latin typeface="Arial"/>
              </a:rPr>
              <a:t>Rights are declared at Connect, not measured by the census; every candidate is aggregate or de-identified</a:t>
            </a:r>
          </a:p>
        </p:txBody>
      </p:sp>
      <p:cxnSp>
        <p:nvCxnSpPr>
          <p:cNvPr id="12" name="Connector 11"/>
          <p:cNvCxnSpPr/>
          <p:nvPr/>
        </p:nvCxnSpPr>
        <p:spPr>
          <a:xfrm>
            <a:off x="594360" y="5376672"/>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B8860B"/>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B1B1F"/>
                </a:solidFill>
                <a:latin typeface="Century Schoolbook"/>
              </a:rPr>
              <a:t>What it costs to keep, and what it could become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COST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Three strategies address 100.0% of the 50,799.8 GiB that all cost strategies reach</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B8860B"/>
                </a:solidFill>
                <a:latin typeface="Arial"/>
              </a:rPr>
              <a:t>Priced strategies bound the monthly saving at 1,174.4 USD at reference list prices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6E6E73"/>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STRATEGIES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Three costed strategies sit side by side; the estate owner chooses the order</a:t>
            </a:r>
          </a:p>
        </p:txBody>
      </p:sp>
      <p:graphicFrame>
        <p:nvGraphicFramePr>
          <p:cNvPr id="4" name="Table 3"/>
          <p:cNvGraphicFramePr>
            <a:graphicFrameLocks noGrp="1"/>
          </p:cNvGraphicFramePr>
          <p:nvPr/>
        </p:nvGraphicFramePr>
        <p:xfrm>
          <a:off x="594360" y="1920240"/>
          <a:ext cx="11002975" cy="18288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B1B1F"/>
                          </a:solidFill>
                          <a:latin typeface="Arial"/>
                        </a:rPr>
                        <a:t/>
                      </a:r>
                    </a:p>
                  </a:txBody>
                  <a:tcPr marL="73152" marR="73152">
                    <a:solidFill>
                      <a:srgbClr val="EFEFF1"/>
                    </a:solidFill>
                  </a:tcPr>
                </a:tc>
                <a:tc>
                  <a:txBody>
                    <a:bodyPr wrap="square"/>
                    <a:lstStyle/>
                    <a:p>
                      <a:pPr algn="l"/>
                      <a:r>
                        <a:rPr sz="1300" b="1">
                          <a:solidFill>
                            <a:srgbClr val="1B1B1F"/>
                          </a:solidFill>
                          <a:latin typeface="Arial"/>
                        </a:rPr>
                        <a:t>Move buckets not written for over a year to archive-class st</a:t>
                      </a:r>
                    </a:p>
                  </a:txBody>
                  <a:tcPr marL="73152" marR="73152">
                    <a:solidFill>
                      <a:srgbClr val="EFEFF1"/>
                    </a:solidFill>
                  </a:tcPr>
                </a:tc>
                <a:tc>
                  <a:txBody>
                    <a:bodyPr wrap="square"/>
                    <a:lstStyle/>
                    <a:p>
                      <a:pPr algn="l"/>
                      <a:r>
                        <a:rPr sz="1300" b="1">
                          <a:solidFill>
                            <a:srgbClr val="1B1B1F"/>
                          </a:solidFill>
                          <a:latin typeface="Arial"/>
                        </a:rPr>
                        <a:t>Reconcile duplicate objects across OBS buckets</a:t>
                      </a:r>
                    </a:p>
                  </a:txBody>
                  <a:tcPr marL="73152" marR="73152">
                    <a:solidFill>
                      <a:srgbClr val="EFEFF1"/>
                    </a:solidFill>
                  </a:tcPr>
                </a:tc>
                <a:tc>
                  <a:txBody>
                    <a:bodyPr wrap="square"/>
                    <a:lstStyle/>
                    <a:p>
                      <a:pPr algn="l"/>
                      <a:r>
                        <a:rPr sz="1300" b="1">
                          <a:solidFill>
                            <a:srgbClr val="1B1B1F"/>
                          </a:solidFill>
                          <a:latin typeface="Arial"/>
                        </a:rPr>
                        <a:t>Move tables not written for over a year to cold storage</a:t>
                      </a:r>
                    </a:p>
                  </a:txBody>
                  <a:tcPr marL="73152" marR="73152">
                    <a:solidFill>
                      <a:srgbClr val="EFEFF1"/>
                    </a:solidFill>
                  </a:tcPr>
                </a:tc>
              </a:tr>
              <a:tr h="457200">
                <a:tc>
                  <a:txBody>
                    <a:bodyPr wrap="square"/>
                    <a:lstStyle/>
                    <a:p>
                      <a:pPr algn="l"/>
                      <a:r>
                        <a:rPr sz="1300" b="0">
                          <a:solidFill>
                            <a:srgbClr val="6E6E73"/>
                          </a:solidFill>
                          <a:latin typeface="Arial"/>
                        </a:rPr>
                        <a:t>Bytes addressed (GiB)</a:t>
                      </a:r>
                    </a:p>
                  </a:txBody>
                  <a:tcPr marL="73152" marR="73152">
                    <a:solidFill>
                      <a:srgbClr val="FFFFFF"/>
                    </a:solidFill>
                  </a:tcPr>
                </a:tc>
                <a:tc>
                  <a:txBody>
                    <a:bodyPr wrap="square"/>
                    <a:lstStyle/>
                    <a:p>
                      <a:pPr algn="r"/>
                      <a:r>
                        <a:rPr sz="1300" b="0">
                          <a:solidFill>
                            <a:srgbClr val="1B1B1F"/>
                          </a:solidFill>
                          <a:latin typeface="Courier New"/>
                        </a:rPr>
                        <a:t>42,891.0</a:t>
                      </a:r>
                    </a:p>
                  </a:txBody>
                  <a:tcPr marL="73152" marR="73152">
                    <a:solidFill>
                      <a:srgbClr val="FFFFFF"/>
                    </a:solidFill>
                  </a:tcPr>
                </a:tc>
                <a:tc>
                  <a:txBody>
                    <a:bodyPr wrap="square"/>
                    <a:lstStyle/>
                    <a:p>
                      <a:pPr algn="r"/>
                      <a:r>
                        <a:rPr sz="1300" b="0">
                          <a:solidFill>
                            <a:srgbClr val="1B1B1F"/>
                          </a:solidFill>
                          <a:latin typeface="Courier New"/>
                        </a:rPr>
                        <a:t>7,839.5</a:t>
                      </a:r>
                    </a:p>
                  </a:txBody>
                  <a:tcPr marL="73152" marR="73152">
                    <a:solidFill>
                      <a:srgbClr val="FFFFFF"/>
                    </a:solidFill>
                  </a:tcPr>
                </a:tc>
                <a:tc>
                  <a:txBody>
                    <a:bodyPr wrap="square"/>
                    <a:lstStyle/>
                    <a:p>
                      <a:pPr algn="r"/>
                      <a:r>
                        <a:rPr sz="1300" b="0">
                          <a:solidFill>
                            <a:srgbClr val="1B1B1F"/>
                          </a:solidFill>
                          <a:latin typeface="Courier New"/>
                        </a:rPr>
                        <a:t>54.1</a:t>
                      </a:r>
                    </a:p>
                  </a:txBody>
                  <a:tcPr marL="73152" marR="73152">
                    <a:solidFill>
                      <a:srgbClr val="FFFFFF"/>
                    </a:solidFill>
                  </a:tcPr>
                </a:tc>
              </a:tr>
              <a:tr h="457200">
                <a:tc>
                  <a:txBody>
                    <a:bodyPr wrap="square"/>
                    <a:lstStyle/>
                    <a:p>
                      <a:pPr algn="l"/>
                      <a:r>
                        <a:rPr sz="1300" b="0">
                          <a:solidFill>
                            <a:srgbClr val="6E6E73"/>
                          </a:solidFill>
                          <a:latin typeface="Arial"/>
                        </a:rPr>
                        <a:t>Monthly saving (USD)</a:t>
                      </a:r>
                    </a:p>
                  </a:txBody>
                  <a:tcPr marL="73152" marR="73152">
                    <a:solidFill>
                      <a:srgbClr val="FFFFFF"/>
                    </a:solidFill>
                  </a:tcPr>
                </a:tc>
                <a:tc>
                  <a:txBody>
                    <a:bodyPr wrap="square"/>
                    <a:lstStyle/>
                    <a:p>
                      <a:pPr algn="r"/>
                      <a:r>
                        <a:rPr sz="1300" b="0">
                          <a:solidFill>
                            <a:srgbClr val="1B1B1F"/>
                          </a:solidFill>
                          <a:latin typeface="Courier New"/>
                        </a:rPr>
                        <a:t>986.5</a:t>
                      </a:r>
                    </a:p>
                  </a:txBody>
                  <a:tcPr marL="73152" marR="73152">
                    <a:solidFill>
                      <a:srgbClr val="FFFFFF"/>
                    </a:solidFill>
                  </a:tcPr>
                </a:tc>
                <a:tc>
                  <a:txBody>
                    <a:bodyPr wrap="square"/>
                    <a:lstStyle/>
                    <a:p>
                      <a:pPr algn="r"/>
                      <a:r>
                        <a:rPr sz="1300" b="0">
                          <a:solidFill>
                            <a:srgbClr val="1B1B1F"/>
                          </a:solidFill>
                          <a:latin typeface="Courier New"/>
                        </a:rPr>
                        <a:t>180.3</a:t>
                      </a:r>
                    </a:p>
                  </a:txBody>
                  <a:tcPr marL="73152" marR="73152">
                    <a:solidFill>
                      <a:srgbClr val="FFFFFF"/>
                    </a:solidFill>
                  </a:tcPr>
                </a:tc>
                <a:tc>
                  <a:txBody>
                    <a:bodyPr wrap="square"/>
                    <a:lstStyle/>
                    <a:p>
                      <a:pPr algn="r"/>
                      <a:r>
                        <a:rPr sz="1300" b="0">
                          <a:solidFill>
                            <a:srgbClr val="1B1B1F"/>
                          </a:solidFill>
                          <a:latin typeface="Courier New"/>
                        </a:rPr>
                        <a:t>5.9</a:t>
                      </a:r>
                    </a:p>
                  </a:txBody>
                  <a:tcPr marL="73152" marR="73152">
                    <a:solidFill>
                      <a:srgbClr val="FFFFFF"/>
                    </a:solidFill>
                  </a:tcPr>
                </a:tc>
              </a:tr>
              <a:tr h="457200">
                <a:tc>
                  <a:txBody>
                    <a:bodyPr wrap="square"/>
                    <a:lstStyle/>
                    <a:p>
                      <a:pPr algn="l"/>
                      <a:r>
                        <a:rPr sz="1300" b="0">
                          <a:solidFill>
                            <a:srgbClr val="6E6E73"/>
                          </a:solidFill>
                          <a:latin typeface="Arial"/>
                        </a:rPr>
                        <a:t>Share of bytes addressed</a:t>
                      </a:r>
                    </a:p>
                  </a:txBody>
                  <a:tcPr marL="73152" marR="73152">
                    <a:solidFill>
                      <a:srgbClr val="FFFFFF"/>
                    </a:solidFill>
                  </a:tcPr>
                </a:tc>
                <a:tc>
                  <a:txBody>
                    <a:bodyPr wrap="square"/>
                    <a:lstStyle/>
                    <a:p>
                      <a:pPr algn="r"/>
                      <a:r>
                        <a:rPr sz="1300" b="0">
                          <a:solidFill>
                            <a:srgbClr val="1B1B1F"/>
                          </a:solidFill>
                          <a:latin typeface="Courier New"/>
                        </a:rPr>
                        <a:t>84.4%</a:t>
                      </a:r>
                    </a:p>
                  </a:txBody>
                  <a:tcPr marL="73152" marR="73152">
                    <a:solidFill>
                      <a:srgbClr val="FFFFFF"/>
                    </a:solidFill>
                  </a:tcPr>
                </a:tc>
                <a:tc>
                  <a:txBody>
                    <a:bodyPr wrap="square"/>
                    <a:lstStyle/>
                    <a:p>
                      <a:pPr algn="r"/>
                      <a:r>
                        <a:rPr sz="1300" b="0">
                          <a:solidFill>
                            <a:srgbClr val="1B1B1F"/>
                          </a:solidFill>
                          <a:latin typeface="Courier New"/>
                        </a:rPr>
                        <a:t>15.4%</a:t>
                      </a:r>
                    </a:p>
                  </a:txBody>
                  <a:tcPr marL="73152" marR="73152">
                    <a:solidFill>
                      <a:srgbClr val="FFFFFF"/>
                    </a:solidFill>
                  </a:tcPr>
                </a:tc>
                <a:tc>
                  <a:txBody>
                    <a:bodyPr wrap="square"/>
                    <a:lstStyle/>
                    <a:p>
                      <a:pPr algn="r"/>
                      <a:r>
                        <a:rPr sz="1300" b="0">
                          <a:solidFill>
                            <a:srgbClr val="1B1B1F"/>
                          </a:solidFill>
                          <a:latin typeface="Courier New"/>
                        </a:rPr>
                        <a:t>0.1%</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B8860B"/>
                </a:solidFill>
                <a:latin typeface="Arial"/>
              </a:rPr>
              <a:t>About 15.2 GiB (4.3% of database bytes) looks reclaimable in the databases before pricing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6E6E73"/>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PRODUCTS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8 product candidates rank by rows, readiness and dimensions</a:t>
            </a:r>
          </a:p>
        </p:txBody>
      </p:sp>
      <p:sp>
        <p:nvSpPr>
          <p:cNvPr id="4" name="TextBox 3"/>
          <p:cNvSpPr txBox="1"/>
          <p:nvPr/>
        </p:nvSpPr>
        <p:spPr>
          <a:xfrm>
            <a:off x="594360" y="1920240"/>
            <a:ext cx="640080" cy="1188720"/>
          </a:xfrm>
          <a:prstGeom prst="rect">
            <a:avLst/>
          </a:prstGeom>
          <a:noFill/>
        </p:spPr>
        <p:txBody>
          <a:bodyPr wrap="square" lIns="0" rIns="0" tIns="0" bIns="0" anchor="t">
            <a:spAutoFit/>
          </a:bodyPr>
          <a:lstStyle/>
          <a:p>
            <a:pPr algn="l"/>
            <a:r>
              <a:rPr sz="2600" b="0" i="0">
                <a:solidFill>
                  <a:srgbClr val="B8860B"/>
                </a:solidFill>
                <a:latin typeface="Courier New"/>
              </a:rPr>
              <a:t>01</a:t>
            </a:r>
          </a:p>
        </p:txBody>
      </p:sp>
      <p:sp>
        <p:nvSpPr>
          <p:cNvPr id="5" name="TextBox 4"/>
          <p:cNvSpPr txBox="1"/>
          <p:nvPr/>
        </p:nvSpPr>
        <p:spPr>
          <a:xfrm>
            <a:off x="1417320" y="1993392"/>
            <a:ext cx="10180015" cy="1097280"/>
          </a:xfrm>
          <a:prstGeom prst="rect">
            <a:avLst/>
          </a:prstGeom>
          <a:noFill/>
        </p:spPr>
        <p:txBody>
          <a:bodyPr wrap="square" lIns="0" rIns="0" tIns="0" bIns="0" anchor="t">
            <a:spAutoFit/>
          </a:bodyPr>
          <a:lstStyle/>
          <a:p>
            <a:pPr algn="l"/>
            <a:r>
              <a:rPr sz="1400" b="0" i="0">
                <a:solidFill>
                  <a:srgbClr val="1B1B1F"/>
                </a:solidFill>
                <a:latin typeface="Arial"/>
              </a:rPr>
              <a:t>Reference and master-data licensing: grade C, 87 tables, 123,394,159 rows (est.); blockers: 62.0% of supporting tables carry PII markers: de-identify or aggregate before any release · use rights are declared at Connect, not measured: a release needs its own grant and purpose</a:t>
            </a:r>
          </a:p>
        </p:txBody>
      </p:sp>
      <p:cxnSp>
        <p:nvCxnSpPr>
          <p:cNvPr id="6" name="Connector 5"/>
          <p:cNvCxnSpPr/>
          <p:nvPr/>
        </p:nvCxnSpPr>
        <p:spPr>
          <a:xfrm>
            <a:off x="594360" y="2999232"/>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08960"/>
            <a:ext cx="640080" cy="1188720"/>
          </a:xfrm>
          <a:prstGeom prst="rect">
            <a:avLst/>
          </a:prstGeom>
          <a:noFill/>
        </p:spPr>
        <p:txBody>
          <a:bodyPr wrap="square" lIns="0" rIns="0" tIns="0" bIns="0" anchor="t">
            <a:spAutoFit/>
          </a:bodyPr>
          <a:lstStyle/>
          <a:p>
            <a:pPr algn="l"/>
            <a:r>
              <a:rPr sz="2600" b="0" i="0">
                <a:solidFill>
                  <a:srgbClr val="B8860B"/>
                </a:solidFill>
                <a:latin typeface="Courier New"/>
              </a:rPr>
              <a:t>02</a:t>
            </a:r>
          </a:p>
        </p:txBody>
      </p:sp>
      <p:sp>
        <p:nvSpPr>
          <p:cNvPr id="8" name="TextBox 7"/>
          <p:cNvSpPr txBox="1"/>
          <p:nvPr/>
        </p:nvSpPr>
        <p:spPr>
          <a:xfrm>
            <a:off x="1417320" y="3182112"/>
            <a:ext cx="10180015" cy="1097280"/>
          </a:xfrm>
          <a:prstGeom prst="rect">
            <a:avLst/>
          </a:prstGeom>
          <a:noFill/>
        </p:spPr>
        <p:txBody>
          <a:bodyPr wrap="square" lIns="0" rIns="0" tIns="0" bIns="0" anchor="t">
            <a:spAutoFit/>
          </a:bodyPr>
          <a:lstStyle/>
          <a:p>
            <a:pPr algn="l"/>
            <a:r>
              <a:rPr sz="1400" b="0" i="0">
                <a:solidFill>
                  <a:srgbClr val="1B1B1F"/>
                </a:solidFill>
                <a:latin typeface="Arial"/>
              </a:rPr>
              <a:t>Content catalogue, recommendation and licensing corpus: grade C, 98 tables, 157,855,990 rows (est.); blockers: 74.0% of supporting tables carry PII markers: de-identify or aggregate before any release · use rights are declared at Connect, not measured: a release needs its own grant and purpose</a:t>
            </a:r>
          </a:p>
        </p:txBody>
      </p:sp>
      <p:cxnSp>
        <p:nvCxnSpPr>
          <p:cNvPr id="9" name="Connector 8"/>
          <p:cNvCxnSpPr/>
          <p:nvPr/>
        </p:nvCxnSpPr>
        <p:spPr>
          <a:xfrm>
            <a:off x="594360" y="4187952"/>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297680"/>
            <a:ext cx="640080" cy="1188720"/>
          </a:xfrm>
          <a:prstGeom prst="rect">
            <a:avLst/>
          </a:prstGeom>
          <a:noFill/>
        </p:spPr>
        <p:txBody>
          <a:bodyPr wrap="square" lIns="0" rIns="0" tIns="0" bIns="0" anchor="t">
            <a:spAutoFit/>
          </a:bodyPr>
          <a:lstStyle/>
          <a:p>
            <a:pPr algn="l"/>
            <a:r>
              <a:rPr sz="2600" b="0" i="0">
                <a:solidFill>
                  <a:srgbClr val="B8860B"/>
                </a:solidFill>
                <a:latin typeface="Courier New"/>
              </a:rPr>
              <a:t>03</a:t>
            </a:r>
          </a:p>
        </p:txBody>
      </p:sp>
      <p:sp>
        <p:nvSpPr>
          <p:cNvPr id="11" name="TextBox 10"/>
          <p:cNvSpPr txBox="1"/>
          <p:nvPr/>
        </p:nvSpPr>
        <p:spPr>
          <a:xfrm>
            <a:off x="1417320" y="4370832"/>
            <a:ext cx="10180015" cy="1097280"/>
          </a:xfrm>
          <a:prstGeom prst="rect">
            <a:avLst/>
          </a:prstGeom>
          <a:noFill/>
        </p:spPr>
        <p:txBody>
          <a:bodyPr wrap="square" lIns="0" rIns="0" tIns="0" bIns="0" anchor="t">
            <a:spAutoFit/>
          </a:bodyPr>
          <a:lstStyle/>
          <a:p>
            <a:pPr algn="l"/>
            <a:r>
              <a:rPr sz="1400" b="0" i="0">
                <a:solidFill>
                  <a:srgbClr val="1B1B1F"/>
                </a:solidFill>
                <a:latin typeface="Arial"/>
              </a:rPr>
              <a:t>Channel / telco engagement analytics (USSD, SMS, app): grade C, 57 tables, 116,781,903 rows (est.); blockers: 79.0% of supporting tables carry PII markers: de-identify or aggregate before any release · use rights are declared at Connect, not measured: a release needs its own grant and purpose</a:t>
            </a:r>
          </a:p>
        </p:txBody>
      </p:sp>
      <p:cxnSp>
        <p:nvCxnSpPr>
          <p:cNvPr id="12" name="Connector 11"/>
          <p:cNvCxnSpPr/>
          <p:nvPr/>
        </p:nvCxnSpPr>
        <p:spPr>
          <a:xfrm>
            <a:off x="594360" y="5376672"/>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What this pack covers, what it cannot say, and what would close each gap</a:t>
            </a:r>
          </a:p>
        </p:txBody>
      </p:sp>
      <p:sp>
        <p:nvSpPr>
          <p:cNvPr id="4" name="TextBox 3"/>
          <p:cNvSpPr txBox="1"/>
          <p:nvPr/>
        </p:nvSpPr>
        <p:spPr>
          <a:xfrm>
            <a:off x="594360" y="1920240"/>
            <a:ext cx="11002975" cy="822960"/>
          </a:xfrm>
          <a:prstGeom prst="rect">
            <a:avLst/>
          </a:prstGeom>
          <a:noFill/>
        </p:spPr>
        <p:txBody>
          <a:bodyPr wrap="square" lIns="0" rIns="0" tIns="0" bIns="0" anchor="t">
            <a:spAutoFit/>
          </a:bodyPr>
          <a:lstStyle/>
          <a:p>
            <a:pPr algn="l"/>
            <a:r>
              <a:rPr sz="1400" b="0" i="0">
                <a:solidFill>
                  <a:srgbClr val="1B1B1F"/>
                </a:solidFill>
                <a:latin typeface="Arial"/>
              </a:rPr>
              <a:t>COVERS</a:t>
            </a:r>
          </a:p>
          <a:p>
            <a:pPr algn="l"/>
            <a:r>
              <a:rPr sz="1400" b="0" i="0">
                <a:solidFill>
                  <a:srgbClr val="1B1B1F"/>
                </a:solidFill>
                <a:latin typeface="Arial"/>
              </a:rPr>
              <a:t>20 databases, 1,006 tables and 351.3 GiB measured by census eij-1b359b3cbd2e; ratios are complete-pass where the table allowed it and stratified samples elsewhere. No row value is present in this pack.</a:t>
            </a:r>
          </a:p>
        </p:txBody>
      </p:sp>
      <p:sp>
        <p:nvSpPr>
          <p:cNvPr id="5" name="TextBox 4"/>
          <p:cNvSpPr txBox="1"/>
          <p:nvPr/>
        </p:nvSpPr>
        <p:spPr>
          <a:xfrm>
            <a:off x="594360" y="2834640"/>
            <a:ext cx="3545738" cy="274320"/>
          </a:xfrm>
          <a:prstGeom prst="rect">
            <a:avLst/>
          </a:prstGeom>
          <a:noFill/>
        </p:spPr>
        <p:txBody>
          <a:bodyPr wrap="square" lIns="0" rIns="0" tIns="0" bIns="0" anchor="t">
            <a:spAutoFit/>
          </a:bodyPr>
          <a:lstStyle/>
          <a:p>
            <a:pPr algn="l"/>
            <a:r>
              <a:rPr sz="1100" b="1" i="0">
                <a:solidFill>
                  <a:srgbClr val="6E6E73"/>
                </a:solidFill>
                <a:latin typeface="Arial"/>
              </a:rPr>
              <a:t>CANNOT SAY</a:t>
            </a:r>
          </a:p>
        </p:txBody>
      </p:sp>
      <p:sp>
        <p:nvSpPr>
          <p:cNvPr id="6" name="TextBox 5"/>
          <p:cNvSpPr txBox="1"/>
          <p:nvPr/>
        </p:nvSpPr>
        <p:spPr>
          <a:xfrm>
            <a:off x="4322978" y="2834640"/>
            <a:ext cx="3545738" cy="274320"/>
          </a:xfrm>
          <a:prstGeom prst="rect">
            <a:avLst/>
          </a:prstGeom>
          <a:noFill/>
        </p:spPr>
        <p:txBody>
          <a:bodyPr wrap="square" lIns="0" rIns="0" tIns="0" bIns="0" anchor="t">
            <a:spAutoFit/>
          </a:bodyPr>
          <a:lstStyle/>
          <a:p>
            <a:pPr algn="l"/>
            <a:r>
              <a:rPr sz="1100" b="1" i="0">
                <a:solidFill>
                  <a:srgbClr val="6E6E73"/>
                </a:solidFill>
                <a:latin typeface="Arial"/>
              </a:rPr>
              <a:t>WHY</a:t>
            </a:r>
          </a:p>
        </p:txBody>
      </p:sp>
      <p:sp>
        <p:nvSpPr>
          <p:cNvPr id="7" name="TextBox 6"/>
          <p:cNvSpPr txBox="1"/>
          <p:nvPr/>
        </p:nvSpPr>
        <p:spPr>
          <a:xfrm>
            <a:off x="8051596" y="2834640"/>
            <a:ext cx="3545738" cy="274320"/>
          </a:xfrm>
          <a:prstGeom prst="rect">
            <a:avLst/>
          </a:prstGeom>
          <a:noFill/>
        </p:spPr>
        <p:txBody>
          <a:bodyPr wrap="square" lIns="0" rIns="0" tIns="0" bIns="0" anchor="t">
            <a:spAutoFit/>
          </a:bodyPr>
          <a:lstStyle/>
          <a:p>
            <a:pPr algn="l"/>
            <a:r>
              <a:rPr sz="1100" b="1" i="0">
                <a:solidFill>
                  <a:srgbClr val="6E6E73"/>
                </a:solidFill>
                <a:latin typeface="Arial"/>
              </a:rPr>
              <a:t>WHAT WOULD CLOSE IT</a:t>
            </a:r>
          </a:p>
        </p:txBody>
      </p:sp>
      <p:cxnSp>
        <p:nvCxnSpPr>
          <p:cNvPr id="8" name="Connector 7"/>
          <p:cNvCxnSpPr/>
          <p:nvPr/>
        </p:nvCxnSpPr>
        <p:spPr>
          <a:xfrm>
            <a:off x="594360" y="3127248"/>
            <a:ext cx="11002975" cy="0"/>
          </a:xfrm>
          <a:prstGeom prst="line">
            <a:avLst/>
          </a:prstGeom>
          <a:ln w="9525">
            <a:solidFill>
              <a:srgbClr val="1B1B1F"/>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246120"/>
            <a:ext cx="11002975" cy="786384"/>
          </a:xfrm>
          <a:prstGeom prst="rect">
            <a:avLst/>
          </a:prstGeom>
          <a:pattFill>
            <a:fgClr>
              <a:srgbClr val="EFEF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19272"/>
            <a:ext cx="3399434" cy="658368"/>
          </a:xfrm>
          <a:prstGeom prst="rect">
            <a:avLst/>
          </a:prstGeom>
          <a:noFill/>
        </p:spPr>
        <p:txBody>
          <a:bodyPr wrap="square" lIns="0" rIns="0" tIns="0" bIns="0" anchor="t">
            <a:spAutoFit/>
          </a:bodyPr>
          <a:lstStyle/>
          <a:p>
            <a:pPr algn="l"/>
            <a:r>
              <a:rPr sz="1300" b="0" i="0">
                <a:solidFill>
                  <a:srgbClr val="1B1B1F"/>
                </a:solidFill>
                <a:latin typeface="Arial"/>
              </a:rPr>
              <a:t>Duplicate, damage, empty-field and PII ratios on sampled tables</a:t>
            </a:r>
          </a:p>
        </p:txBody>
      </p:sp>
      <p:sp>
        <p:nvSpPr>
          <p:cNvPr id="11" name="TextBox 10"/>
          <p:cNvSpPr txBox="1"/>
          <p:nvPr/>
        </p:nvSpPr>
        <p:spPr>
          <a:xfrm>
            <a:off x="4396130" y="3319272"/>
            <a:ext cx="3399434" cy="658368"/>
          </a:xfrm>
          <a:prstGeom prst="rect">
            <a:avLst/>
          </a:prstGeom>
          <a:noFill/>
        </p:spPr>
        <p:txBody>
          <a:bodyPr wrap="square" lIns="0" rIns="0" tIns="0" bIns="0" anchor="t">
            <a:spAutoFit/>
          </a:bodyPr>
          <a:lstStyle/>
          <a:p>
            <a:pPr algn="l"/>
            <a:r>
              <a:rPr sz="1300" b="0" i="0">
                <a:solidFill>
                  <a:srgbClr val="1B1B1F"/>
                </a:solidFill>
                <a:latin typeface="Arial"/>
              </a:rPr>
              <a:t>complete passes where the table allowed it, stratified samples elsewhere</a:t>
            </a:r>
          </a:p>
        </p:txBody>
      </p:sp>
      <p:sp>
        <p:nvSpPr>
          <p:cNvPr id="12" name="TextBox 11"/>
          <p:cNvSpPr txBox="1"/>
          <p:nvPr/>
        </p:nvSpPr>
        <p:spPr>
          <a:xfrm>
            <a:off x="8124748" y="3319272"/>
            <a:ext cx="3399434" cy="658368"/>
          </a:xfrm>
          <a:prstGeom prst="rect">
            <a:avLst/>
          </a:prstGeom>
          <a:noFill/>
        </p:spPr>
        <p:txBody>
          <a:bodyPr wrap="square" lIns="0" rIns="0" tIns="0" bIns="0" anchor="t">
            <a:spAutoFit/>
          </a:bodyPr>
          <a:lstStyle/>
          <a:p>
            <a:pPr algn="l"/>
            <a:r>
              <a:rPr sz="1300" b="0" i="0">
                <a:solidFill>
                  <a:srgbClr val="1B1B1F"/>
                </a:solidFill>
                <a:latin typeface="Arial"/>
              </a:rPr>
              <a:t>a complete-pass census on the sampled tables</a:t>
            </a:r>
          </a:p>
        </p:txBody>
      </p:sp>
      <p:sp>
        <p:nvSpPr>
          <p:cNvPr id="13" name="Rectangle 12"/>
          <p:cNvSpPr/>
          <p:nvPr/>
        </p:nvSpPr>
        <p:spPr>
          <a:xfrm>
            <a:off x="594360" y="4123944"/>
            <a:ext cx="11002975" cy="786384"/>
          </a:xfrm>
          <a:prstGeom prst="rect">
            <a:avLst/>
          </a:prstGeom>
          <a:pattFill>
            <a:fgClr>
              <a:srgbClr val="EFEF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3399434" cy="658368"/>
          </a:xfrm>
          <a:prstGeom prst="rect">
            <a:avLst/>
          </a:prstGeom>
          <a:noFill/>
        </p:spPr>
        <p:txBody>
          <a:bodyPr wrap="square" lIns="0" rIns="0" tIns="0" bIns="0" anchor="t">
            <a:spAutoFit/>
          </a:bodyPr>
          <a:lstStyle/>
          <a:p>
            <a:pPr algn="l"/>
            <a:r>
              <a:rPr sz="1300" b="0" i="0">
                <a:solidFill>
                  <a:srgbClr val="1B1B1F"/>
                </a:solidFill>
                <a:latin typeface="Arial"/>
              </a:rPr>
              <a:t>Rights, licences and semantic similarity</a:t>
            </a:r>
          </a:p>
        </p:txBody>
      </p:sp>
      <p:sp>
        <p:nvSpPr>
          <p:cNvPr id="15" name="TextBox 14"/>
          <p:cNvSpPr txBox="1"/>
          <p:nvPr/>
        </p:nvSpPr>
        <p:spPr>
          <a:xfrm>
            <a:off x="4396130" y="4197096"/>
            <a:ext cx="3399434" cy="658368"/>
          </a:xfrm>
          <a:prstGeom prst="rect">
            <a:avLst/>
          </a:prstGeom>
          <a:noFill/>
        </p:spPr>
        <p:txBody>
          <a:bodyPr wrap="square" lIns="0" rIns="0" tIns="0" bIns="0" anchor="t">
            <a:spAutoFit/>
          </a:bodyPr>
          <a:lstStyle/>
          <a:p>
            <a:pPr algn="l"/>
            <a:r>
              <a:rPr sz="1300" b="0" i="0">
                <a:solidFill>
                  <a:srgbClr val="1B1B1F"/>
                </a:solidFill>
                <a:latin typeface="Arial"/>
              </a:rPr>
              <a:t>not measured; candidates are dimensional readiness only</a:t>
            </a:r>
          </a:p>
        </p:txBody>
      </p:sp>
      <p:sp>
        <p:nvSpPr>
          <p:cNvPr id="16" name="TextBox 15"/>
          <p:cNvSpPr txBox="1"/>
          <p:nvPr/>
        </p:nvSpPr>
        <p:spPr>
          <a:xfrm>
            <a:off x="8124748" y="4197096"/>
            <a:ext cx="3399434" cy="658368"/>
          </a:xfrm>
          <a:prstGeom prst="rect">
            <a:avLst/>
          </a:prstGeom>
          <a:noFill/>
        </p:spPr>
        <p:txBody>
          <a:bodyPr wrap="square" lIns="0" rIns="0" tIns="0" bIns="0" anchor="t">
            <a:spAutoFit/>
          </a:bodyPr>
          <a:lstStyle/>
          <a:p>
            <a:pPr algn="l"/>
            <a:r>
              <a:rPr sz="1300" b="0" i="0">
                <a:solidFill>
                  <a:srgbClr val="1B1B1F"/>
                </a:solidFill>
                <a:latin typeface="Arial"/>
              </a:rPr>
              <a:t>rights declared at Connect and bound to each candidate</a:t>
            </a:r>
          </a:p>
        </p:txBody>
      </p:sp>
      <p:sp>
        <p:nvSpPr>
          <p:cNvPr id="17" name="Rectangle 16"/>
          <p:cNvSpPr/>
          <p:nvPr/>
        </p:nvSpPr>
        <p:spPr>
          <a:xfrm>
            <a:off x="594360" y="5001768"/>
            <a:ext cx="11002975" cy="786384"/>
          </a:xfrm>
          <a:prstGeom prst="rect">
            <a:avLst/>
          </a:prstGeom>
          <a:pattFill>
            <a:fgClr>
              <a:srgbClr val="EFEF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74920"/>
            <a:ext cx="3399434" cy="658368"/>
          </a:xfrm>
          <a:prstGeom prst="rect">
            <a:avLst/>
          </a:prstGeom>
          <a:noFill/>
        </p:spPr>
        <p:txBody>
          <a:bodyPr wrap="square" lIns="0" rIns="0" tIns="0" bIns="0" anchor="t">
            <a:spAutoFit/>
          </a:bodyPr>
          <a:lstStyle/>
          <a:p>
            <a:pPr algn="l"/>
            <a:r>
              <a:rPr sz="1300" b="0" i="0">
                <a:solidFill>
                  <a:srgbClr val="1B1B1F"/>
                </a:solidFill>
                <a:latin typeface="Arial"/>
              </a:rPr>
              <a:t>Connection artists_app</a:t>
            </a:r>
          </a:p>
        </p:txBody>
      </p:sp>
      <p:sp>
        <p:nvSpPr>
          <p:cNvPr id="19" name="TextBox 18"/>
          <p:cNvSpPr txBox="1"/>
          <p:nvPr/>
        </p:nvSpPr>
        <p:spPr>
          <a:xfrm>
            <a:off x="4396130" y="5074920"/>
            <a:ext cx="3399434" cy="658368"/>
          </a:xfrm>
          <a:prstGeom prst="rect">
            <a:avLst/>
          </a:prstGeom>
          <a:noFill/>
        </p:spPr>
        <p:txBody>
          <a:bodyPr wrap="square" lIns="0" rIns="0" tIns="0" bIns="0" anchor="t">
            <a:spAutoFit/>
          </a:bodyPr>
          <a:lstStyle/>
          <a:p>
            <a:pPr algn="l"/>
            <a:r>
              <a:rPr sz="1300" b="0" i="0">
                <a:solidFill>
                  <a:srgbClr val="1B1B1F"/>
                </a:solidFill>
                <a:latin typeface="Arial"/>
              </a:rPr>
              <a:t>could not be read (MySQL GRANT pending)</a:t>
            </a:r>
          </a:p>
        </p:txBody>
      </p:sp>
      <p:sp>
        <p:nvSpPr>
          <p:cNvPr id="20" name="TextBox 19"/>
          <p:cNvSpPr txBox="1"/>
          <p:nvPr/>
        </p:nvSpPr>
        <p:spPr>
          <a:xfrm>
            <a:off x="8124748" y="5074920"/>
            <a:ext cx="3399434" cy="658368"/>
          </a:xfrm>
          <a:prstGeom prst="rect">
            <a:avLst/>
          </a:prstGeom>
          <a:noFill/>
        </p:spPr>
        <p:txBody>
          <a:bodyPr wrap="square" lIns="0" rIns="0" tIns="0" bIns="0" anchor="t">
            <a:spAutoFit/>
          </a:bodyPr>
          <a:lstStyle/>
          <a:p>
            <a:pPr algn="l"/>
            <a:r>
              <a:rPr sz="1300" b="0" i="0">
                <a:solidFill>
                  <a:srgbClr val="1B1B1F"/>
                </a:solidFill>
                <a:latin typeface="Arial"/>
              </a:rPr>
              <a:t>owner grants read access; re-census</a:t>
            </a:r>
          </a:p>
        </p:txBody>
      </p:sp>
      <p:sp>
        <p:nvSpPr>
          <p:cNvPr id="21" name="Rectangle 20"/>
          <p:cNvSpPr/>
          <p:nvPr/>
        </p:nvSpPr>
        <p:spPr>
          <a:xfrm>
            <a:off x="594360" y="5879592"/>
            <a:ext cx="11002975" cy="786384"/>
          </a:xfrm>
          <a:prstGeom prst="rect">
            <a:avLst/>
          </a:prstGeom>
          <a:pattFill>
            <a:fgClr>
              <a:srgbClr val="EFEF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952744"/>
            <a:ext cx="3399434" cy="658368"/>
          </a:xfrm>
          <a:prstGeom prst="rect">
            <a:avLst/>
          </a:prstGeom>
          <a:noFill/>
        </p:spPr>
        <p:txBody>
          <a:bodyPr wrap="square" lIns="0" rIns="0" tIns="0" bIns="0" anchor="t">
            <a:spAutoFit/>
          </a:bodyPr>
          <a:lstStyle/>
          <a:p>
            <a:pPr algn="l"/>
            <a:r>
              <a:rPr sz="1300" b="0" i="0">
                <a:solidFill>
                  <a:srgbClr val="1B1B1F"/>
                </a:solidFill>
                <a:latin typeface="Arial"/>
              </a:rPr>
              <a:t>NAS duplication</a:t>
            </a:r>
          </a:p>
        </p:txBody>
      </p:sp>
      <p:sp>
        <p:nvSpPr>
          <p:cNvPr id="23" name="TextBox 22"/>
          <p:cNvSpPr txBox="1"/>
          <p:nvPr/>
        </p:nvSpPr>
        <p:spPr>
          <a:xfrm>
            <a:off x="4396130" y="5952744"/>
            <a:ext cx="3399434" cy="658368"/>
          </a:xfrm>
          <a:prstGeom prst="rect">
            <a:avLst/>
          </a:prstGeom>
          <a:noFill/>
        </p:spPr>
        <p:txBody>
          <a:bodyPr wrap="square" lIns="0" rIns="0" tIns="0" bIns="0" anchor="t">
            <a:spAutoFit/>
          </a:bodyPr>
          <a:lstStyle/>
          <a:p>
            <a:pPr algn="l"/>
            <a:r>
              <a:rPr sz="1300" b="0" i="0">
                <a:solidFill>
                  <a:srgbClr val="1B1B1F"/>
                </a:solidFill>
                <a:latin typeface="Arial"/>
              </a:rPr>
              <a:t>the enumeration recorded sizes and dates, not content fingerprints</a:t>
            </a:r>
          </a:p>
        </p:txBody>
      </p:sp>
      <p:sp>
        <p:nvSpPr>
          <p:cNvPr id="24" name="TextBox 23"/>
          <p:cNvSpPr txBox="1"/>
          <p:nvPr/>
        </p:nvSpPr>
        <p:spPr>
          <a:xfrm>
            <a:off x="8124748" y="5952744"/>
            <a:ext cx="3399434" cy="658368"/>
          </a:xfrm>
          <a:prstGeom prst="rect">
            <a:avLst/>
          </a:prstGeom>
          <a:noFill/>
        </p:spPr>
        <p:txBody>
          <a:bodyPr wrap="square" lIns="0" rIns="0" tIns="0" bIns="0" anchor="t">
            <a:spAutoFit/>
          </a:bodyPr>
          <a:lstStyle/>
          <a:p>
            <a:pPr algn="l"/>
            <a:r>
              <a:rPr sz="1300" b="0" i="0">
                <a:solidFill>
                  <a:srgbClr val="1B1B1F"/>
                </a:solidFill>
                <a:latin typeface="Arial"/>
              </a:rPr>
              <a:t>a fingerprinting pass over the NAS shares</a:t>
            </a:r>
          </a:p>
        </p:txBody>
      </p:sp>
      <p:sp>
        <p:nvSpPr>
          <p:cNvPr id="25" name="Rectangle 24"/>
          <p:cNvSpPr/>
          <p:nvPr/>
        </p:nvSpPr>
        <p:spPr>
          <a:xfrm>
            <a:off x="594360" y="6757416"/>
            <a:ext cx="11002975" cy="786384"/>
          </a:xfrm>
          <a:prstGeom prst="rect">
            <a:avLst/>
          </a:prstGeom>
          <a:pattFill>
            <a:fgClr>
              <a:srgbClr val="EFEF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6830568"/>
            <a:ext cx="3399434" cy="658368"/>
          </a:xfrm>
          <a:prstGeom prst="rect">
            <a:avLst/>
          </a:prstGeom>
          <a:noFill/>
        </p:spPr>
        <p:txBody>
          <a:bodyPr wrap="square" lIns="0" rIns="0" tIns="0" bIns="0" anchor="t">
            <a:spAutoFit/>
          </a:bodyPr>
          <a:lstStyle/>
          <a:p>
            <a:pPr algn="l"/>
            <a:r>
              <a:rPr sz="1300" b="0" i="0">
                <a:solidFill>
                  <a:srgbClr val="1B1B1F"/>
                </a:solidFill>
                <a:latin typeface="Arial"/>
              </a:rPr>
              <a:t>40 of 106 OBS buckets</a:t>
            </a:r>
          </a:p>
        </p:txBody>
      </p:sp>
      <p:sp>
        <p:nvSpPr>
          <p:cNvPr id="27" name="TextBox 26"/>
          <p:cNvSpPr txBox="1"/>
          <p:nvPr/>
        </p:nvSpPr>
        <p:spPr>
          <a:xfrm>
            <a:off x="4396130" y="6830568"/>
            <a:ext cx="3399434" cy="658368"/>
          </a:xfrm>
          <a:prstGeom prst="rect">
            <a:avLst/>
          </a:prstGeom>
          <a:noFill/>
        </p:spPr>
        <p:txBody>
          <a:bodyPr wrap="square" lIns="0" rIns="0" tIns="0" bIns="0" anchor="t">
            <a:spAutoFit/>
          </a:bodyPr>
          <a:lstStyle/>
          <a:p>
            <a:pPr algn="l"/>
            <a:r>
              <a:rPr sz="1300" b="0" i="0">
                <a:solidFill>
                  <a:srgbClr val="1B1B1F"/>
                </a:solidFill>
                <a:latin typeface="Arial"/>
              </a:rPr>
              <a:t>unreachable (NoSuchBucket / client errors)</a:t>
            </a:r>
          </a:p>
        </p:txBody>
      </p:sp>
      <p:sp>
        <p:nvSpPr>
          <p:cNvPr id="28" name="TextBox 27"/>
          <p:cNvSpPr txBox="1"/>
          <p:nvPr/>
        </p:nvSpPr>
        <p:spPr>
          <a:xfrm>
            <a:off x="8124748" y="6830568"/>
            <a:ext cx="3399434" cy="658368"/>
          </a:xfrm>
          <a:prstGeom prst="rect">
            <a:avLst/>
          </a:prstGeom>
          <a:noFill/>
        </p:spPr>
        <p:txBody>
          <a:bodyPr wrap="square" lIns="0" rIns="0" tIns="0" bIns="0" anchor="t">
            <a:spAutoFit/>
          </a:bodyPr>
          <a:lstStyle/>
          <a:p>
            <a:pPr algn="l"/>
            <a:r>
              <a:rPr sz="1300" b="0" i="0">
                <a:solidFill>
                  <a:srgbClr val="1B1B1F"/>
                </a:solidFill>
                <a:latin typeface="Arial"/>
              </a:rPr>
              <a:t>bucket inventory reconciled with the provider</a:t>
            </a:r>
          </a:p>
        </p:txBody>
      </p:sp>
      <p:sp>
        <p:nvSpPr>
          <p:cNvPr id="29" name="TextBox 2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30" name="TextBox 2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31" name="TextBox 3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6E6E73"/>
                </a:solidFill>
                <a:latin typeface="Arial"/>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B1B1F"/>
                </a:solidFill>
                <a:latin typeface="Century Schoolbook"/>
              </a:rPr>
              <a:t>Exhibit index with receipts</a:t>
            </a:r>
          </a:p>
        </p:txBody>
      </p:sp>
      <p:sp>
        <p:nvSpPr>
          <p:cNvPr id="4" name="TextBox 3"/>
          <p:cNvSpPr txBox="1"/>
          <p:nvPr/>
        </p:nvSpPr>
        <p:spPr>
          <a:xfrm>
            <a:off x="594360" y="1920240"/>
            <a:ext cx="822960" cy="365760"/>
          </a:xfrm>
          <a:prstGeom prst="rect">
            <a:avLst/>
          </a:prstGeom>
          <a:noFill/>
        </p:spPr>
        <p:txBody>
          <a:bodyPr wrap="square" lIns="0" rIns="0" tIns="0" bIns="0" anchor="t">
            <a:spAutoFit/>
          </a:bodyPr>
          <a:lstStyle/>
          <a:p>
            <a:pPr algn="l"/>
            <a:r>
              <a:rPr sz="1400" b="1" i="0">
                <a:solidFill>
                  <a:srgbClr val="B8860B"/>
                </a:solidFill>
                <a:latin typeface="Courier New"/>
              </a:rPr>
              <a:t>R01</a:t>
            </a:r>
          </a:p>
        </p:txBody>
      </p:sp>
      <p:sp>
        <p:nvSpPr>
          <p:cNvPr id="5" name="TextBox 4"/>
          <p:cNvSpPr txBox="1"/>
          <p:nvPr/>
        </p:nvSpPr>
        <p:spPr>
          <a:xfrm>
            <a:off x="1508760" y="1920240"/>
            <a:ext cx="10088575" cy="365760"/>
          </a:xfrm>
          <a:prstGeom prst="rect">
            <a:avLst/>
          </a:prstGeom>
          <a:noFill/>
        </p:spPr>
        <p:txBody>
          <a:bodyPr wrap="square" lIns="0" rIns="0" tIns="0" bIns="0" anchor="t">
            <a:spAutoFit/>
          </a:bodyPr>
          <a:lstStyle/>
          <a:p>
            <a:pPr algn="l"/>
            <a:r>
              <a:rPr sz="1300" b="0" i="0">
                <a:solidFill>
                  <a:srgbClr val="1B1B1F"/>
                </a:solidFill>
                <a:latin typeface="Arial"/>
              </a:rPr>
              <a:t>Estate intelligence census eij-1b359b3cbd2e, digest-verified report (measured 2026-09-29), headline aggregates and per-database measures</a:t>
            </a:r>
          </a:p>
        </p:txBody>
      </p:sp>
      <p:cxnSp>
        <p:nvCxnSpPr>
          <p:cNvPr id="6" name="Connector 5"/>
          <p:cNvCxnSpPr/>
          <p:nvPr/>
        </p:nvCxnSpPr>
        <p:spPr>
          <a:xfrm>
            <a:off x="594360" y="2304288"/>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423160"/>
            <a:ext cx="822960" cy="365760"/>
          </a:xfrm>
          <a:prstGeom prst="rect">
            <a:avLst/>
          </a:prstGeom>
          <a:noFill/>
        </p:spPr>
        <p:txBody>
          <a:bodyPr wrap="square" lIns="0" rIns="0" tIns="0" bIns="0" anchor="t">
            <a:spAutoFit/>
          </a:bodyPr>
          <a:lstStyle/>
          <a:p>
            <a:pPr algn="l"/>
            <a:r>
              <a:rPr sz="1400" b="1" i="0">
                <a:solidFill>
                  <a:srgbClr val="B8860B"/>
                </a:solidFill>
                <a:latin typeface="Courier New"/>
              </a:rPr>
              <a:t>R02</a:t>
            </a:r>
          </a:p>
        </p:txBody>
      </p:sp>
      <p:sp>
        <p:nvSpPr>
          <p:cNvPr id="8" name="TextBox 7"/>
          <p:cNvSpPr txBox="1"/>
          <p:nvPr/>
        </p:nvSpPr>
        <p:spPr>
          <a:xfrm>
            <a:off x="1508760" y="2423160"/>
            <a:ext cx="10088575" cy="365760"/>
          </a:xfrm>
          <a:prstGeom prst="rect">
            <a:avLst/>
          </a:prstGeom>
          <a:noFill/>
        </p:spPr>
        <p:txBody>
          <a:bodyPr wrap="square" lIns="0" rIns="0" tIns="0" bIns="0" anchor="t">
            <a:spAutoFit/>
          </a:bodyPr>
          <a:lstStyle/>
          <a:p>
            <a:pPr algn="l"/>
            <a:r>
              <a:rPr sz="1300" b="0" i="0">
                <a:solidFill>
                  <a:srgbClr val="1B1B1F"/>
                </a:solidFill>
                <a:latin typeface="Arial"/>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2807208"/>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2926080"/>
            <a:ext cx="822960" cy="365760"/>
          </a:xfrm>
          <a:prstGeom prst="rect">
            <a:avLst/>
          </a:prstGeom>
          <a:noFill/>
        </p:spPr>
        <p:txBody>
          <a:bodyPr wrap="square" lIns="0" rIns="0" tIns="0" bIns="0" anchor="t">
            <a:spAutoFit/>
          </a:bodyPr>
          <a:lstStyle/>
          <a:p>
            <a:pPr algn="l"/>
            <a:r>
              <a:rPr sz="1400" b="1" i="0">
                <a:solidFill>
                  <a:srgbClr val="B8860B"/>
                </a:solidFill>
                <a:latin typeface="Courier New"/>
              </a:rPr>
              <a:t>R03</a:t>
            </a:r>
          </a:p>
        </p:txBody>
      </p:sp>
      <p:sp>
        <p:nvSpPr>
          <p:cNvPr id="11" name="TextBox 10"/>
          <p:cNvSpPr txBox="1"/>
          <p:nvPr/>
        </p:nvSpPr>
        <p:spPr>
          <a:xfrm>
            <a:off x="1508760" y="2926080"/>
            <a:ext cx="10088575" cy="365760"/>
          </a:xfrm>
          <a:prstGeom prst="rect">
            <a:avLst/>
          </a:prstGeom>
          <a:noFill/>
        </p:spPr>
        <p:txBody>
          <a:bodyPr wrap="square" lIns="0" rIns="0" tIns="0" bIns="0" anchor="t">
            <a:spAutoFit/>
          </a:bodyPr>
          <a:lstStyle/>
          <a:p>
            <a:pPr algn="l"/>
            <a:r>
              <a:rPr sz="1300" b="0" i="0">
                <a:solidFill>
                  <a:srgbClr val="1B1B1F"/>
                </a:solidFill>
                <a:latin typeface="Arial"/>
              </a:rPr>
              <a:t>Estate intelligence census eij-1b359b3cbd2e, data_products readiness scoring (dimensions, grades, blockers)</a:t>
            </a:r>
          </a:p>
        </p:txBody>
      </p:sp>
      <p:cxnSp>
        <p:nvCxnSpPr>
          <p:cNvPr id="12" name="Connector 11"/>
          <p:cNvCxnSpPr/>
          <p:nvPr/>
        </p:nvCxnSpPr>
        <p:spPr>
          <a:xfrm>
            <a:off x="594360" y="3310128"/>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429000"/>
            <a:ext cx="822960" cy="365760"/>
          </a:xfrm>
          <a:prstGeom prst="rect">
            <a:avLst/>
          </a:prstGeom>
          <a:noFill/>
        </p:spPr>
        <p:txBody>
          <a:bodyPr wrap="square" lIns="0" rIns="0" tIns="0" bIns="0" anchor="t">
            <a:spAutoFit/>
          </a:bodyPr>
          <a:lstStyle/>
          <a:p>
            <a:pPr algn="l"/>
            <a:r>
              <a:rPr sz="1400" b="1" i="0">
                <a:solidFill>
                  <a:srgbClr val="B8860B"/>
                </a:solidFill>
                <a:latin typeface="Courier New"/>
              </a:rPr>
              <a:t>R04</a:t>
            </a:r>
          </a:p>
        </p:txBody>
      </p:sp>
      <p:sp>
        <p:nvSpPr>
          <p:cNvPr id="14" name="TextBox 13"/>
          <p:cNvSpPr txBox="1"/>
          <p:nvPr/>
        </p:nvSpPr>
        <p:spPr>
          <a:xfrm>
            <a:off x="1508760" y="3429000"/>
            <a:ext cx="10088575" cy="365760"/>
          </a:xfrm>
          <a:prstGeom prst="rect">
            <a:avLst/>
          </a:prstGeom>
          <a:noFill/>
        </p:spPr>
        <p:txBody>
          <a:bodyPr wrap="square" lIns="0" rIns="0" tIns="0" bIns="0" anchor="t">
            <a:spAutoFit/>
          </a:bodyPr>
          <a:lstStyle/>
          <a:p>
            <a:pPr algn="l"/>
            <a:r>
              <a:rPr sz="1300" b="0" i="0">
                <a:solidFill>
                  <a:srgbClr val="1B1B1F"/>
                </a:solidFill>
                <a:latin typeface="Arial"/>
              </a:rPr>
              <a:t>OBS bucket enumeration census run cr-f1415e395361 (22,975,591 objects, 130.3 TiB)</a:t>
            </a:r>
          </a:p>
        </p:txBody>
      </p:sp>
      <p:cxnSp>
        <p:nvCxnSpPr>
          <p:cNvPr id="15" name="Connector 14"/>
          <p:cNvCxnSpPr/>
          <p:nvPr/>
        </p:nvCxnSpPr>
        <p:spPr>
          <a:xfrm>
            <a:off x="594360" y="3813048"/>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3931920"/>
            <a:ext cx="822960" cy="365760"/>
          </a:xfrm>
          <a:prstGeom prst="rect">
            <a:avLst/>
          </a:prstGeom>
          <a:noFill/>
        </p:spPr>
        <p:txBody>
          <a:bodyPr wrap="square" lIns="0" rIns="0" tIns="0" bIns="0" anchor="t">
            <a:spAutoFit/>
          </a:bodyPr>
          <a:lstStyle/>
          <a:p>
            <a:pPr algn="l"/>
            <a:r>
              <a:rPr sz="1400" b="1" i="0">
                <a:solidFill>
                  <a:srgbClr val="B8860B"/>
                </a:solidFill>
                <a:latin typeface="Courier New"/>
              </a:rPr>
              <a:t>R05</a:t>
            </a:r>
          </a:p>
        </p:txBody>
      </p:sp>
      <p:sp>
        <p:nvSpPr>
          <p:cNvPr id="17" name="TextBox 16"/>
          <p:cNvSpPr txBox="1"/>
          <p:nvPr/>
        </p:nvSpPr>
        <p:spPr>
          <a:xfrm>
            <a:off x="1508760" y="3931920"/>
            <a:ext cx="10088575" cy="365760"/>
          </a:xfrm>
          <a:prstGeom prst="rect">
            <a:avLst/>
          </a:prstGeom>
          <a:noFill/>
        </p:spPr>
        <p:txBody>
          <a:bodyPr wrap="square" lIns="0" rIns="0" tIns="0" bIns="0" anchor="t">
            <a:spAutoFit/>
          </a:bodyPr>
          <a:lstStyle/>
          <a:p>
            <a:pPr algn="l"/>
            <a:r>
              <a:rPr sz="1300" b="0" i="0">
                <a:solidFill>
                  <a:srgbClr val="1B1B1F"/>
                </a:solidFill>
                <a:latin typeface="Arial"/>
              </a:rPr>
              <a:t>NAS share enumeration census run cr-cf4eef79995b (1,456,787 files, 43.6 TiB)</a:t>
            </a:r>
          </a:p>
        </p:txBody>
      </p:sp>
      <p:cxnSp>
        <p:nvCxnSpPr>
          <p:cNvPr id="18" name="Connector 17"/>
          <p:cNvCxnSpPr/>
          <p:nvPr/>
        </p:nvCxnSpPr>
        <p:spPr>
          <a:xfrm>
            <a:off x="594360" y="4315968"/>
            <a:ext cx="11002975" cy="0"/>
          </a:xfrm>
          <a:prstGeom prst="line">
            <a:avLst/>
          </a:prstGeom>
          <a:ln w="9525">
            <a:solidFill>
              <a:srgbClr val="DADA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6E6E73"/>
                </a:solidFill>
                <a:latin typeface="Arial"/>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6E6E73"/>
                </a:solidFill>
                <a:latin typeface="Arial"/>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6E6E73"/>
                </a:solidFill>
                <a:latin typeface="Courier New"/>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Estate intelligence — eij-1b359b3cbd2e</dc:title>
  <dc:subject/>
  <dc:creator>doc-studio</dc:creator>
  <cp:keywords/>
  <dc:description>generated using python-pptx</dc:description>
  <cp:lastModifiedBy>doc-studio</cp:lastModifiedBy>
  <cp:revision>1</cp:revision>
  <dcterms:created xsi:type="dcterms:W3CDTF">2026-10-01T06:57:00Z</dcterms:created>
  <dcterms:modified xsi:type="dcterms:W3CDTF">2026-10-01T06:57:00Z</dcterms:modified>
  <cp:category/>
</cp:coreProperties>
</file>