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Sheet1!$A$2:$A$6</c:f>
              <c:strCache>
                <c:ptCount val="5"/>
                <c:pt idx="0">
                  <c:v>read and judged</c:v>
                </c:pt>
                <c:pt idx="1">
                  <c:v>hours measured on headers; content forecast</c:v>
                </c:pt>
                <c:pt idx="2">
                  <c:v>readable, not yet sampled (forecast)</c:v>
                </c:pt>
                <c:pt idx="3">
                  <c:v>key refused (forecast)</c:v>
                </c:pt>
                <c:pt idx="4">
                  <c:v>archive class (forecast)</c:v>
                </c:pt>
              </c:strCache>
            </c:strRef>
          </c:cat>
          <c:val>
            <c:numRef>
              <c:f>Sheet1!$B$2:$B$6</c:f>
              <c:numCache>
                <c:formatCode>General</c:formatCode>
                <c:ptCount val="5"/>
                <c:pt idx="0">
                  <c:v>42454.4</c:v>
                </c:pt>
                <c:pt idx="1">
                  <c:v>1712.2</c:v>
                </c:pt>
                <c:pt idx="2">
                  <c:v>86601.1</c:v>
                </c:pt>
                <c:pt idx="3">
                  <c:v>367222.7</c:v>
                </c:pt>
                <c:pt idx="4">
                  <c:v>2.1</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Sheet1!$A$2:$A$11</c:f>
              <c:strCache>
                <c:ptCount val="10"/>
                <c:pt idx="0">
                  <c:v>2024offairrecs (refused)</c:v>
                </c:pt>
                <c:pt idx="1">
                  <c:v>na7p43do (refused)</c:v>
                </c:pt>
                <c:pt idx="2">
                  <c:v>na7p4oco (refused)</c:v>
                </c:pt>
                <c:pt idx="3">
                  <c:v>na7p43js (refused)</c:v>
                </c:pt>
                <c:pt idx="4">
                  <c:v>rmsbroadcast</c:v>
                </c:pt>
                <c:pt idx="5">
                  <c:v>music-bucket-rms</c:v>
                </c:pt>
                <c:pt idx="6">
                  <c:v>citizen-digital-cms-files</c:v>
                </c:pt>
                <c:pt idx="7">
                  <c:v>channel02</c:v>
                </c:pt>
                <c:pt idx="8">
                  <c:v>na7p42yg (refused)</c:v>
                </c:pt>
                <c:pt idx="9">
                  <c:v>na7p42xw (refused)</c:v>
                </c:pt>
              </c:strCache>
            </c:strRef>
          </c:cat>
          <c:val>
            <c:numRef>
              <c:f>Sheet1!$B$2:$B$11</c:f>
              <c:numCache>
                <c:formatCode>General</c:formatCode>
                <c:ptCount val="10"/>
                <c:pt idx="0">
                  <c:v>251976.0</c:v>
                </c:pt>
                <c:pt idx="1">
                  <c:v>31401.6</c:v>
                </c:pt>
                <c:pt idx="2">
                  <c:v>27524.4</c:v>
                </c:pt>
                <c:pt idx="3">
                  <c:v>19368.9</c:v>
                </c:pt>
                <c:pt idx="4">
                  <c:v>18983.2</c:v>
                </c:pt>
                <c:pt idx="5">
                  <c:v>12851.8</c:v>
                </c:pt>
                <c:pt idx="6">
                  <c:v>5978.8</c:v>
                </c:pt>
                <c:pt idx="7">
                  <c:v>5890.6</c:v>
                </c:pt>
                <c:pt idx="8">
                  <c:v>5727.4</c:v>
                </c:pt>
                <c:pt idx="9">
                  <c:v>5546.5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Kalenjin</c:v>
                </c:pt>
                <c:pt idx="4">
                  <c:v>Dholuo (Luo)</c:v>
                </c:pt>
                <c:pt idx="5">
                  <c:v>Wanga (Luhya)</c:v>
                </c:pt>
                <c:pt idx="6">
                  <c:v>Kikamba (Kamba)</c:v>
                </c:pt>
              </c:strCache>
            </c:strRef>
          </c:cat>
          <c:val>
            <c:numRef>
              <c:f>Sheet1!$B$2:$B$8</c:f>
              <c:numCache>
                <c:formatCode>General</c:formatCode>
                <c:ptCount val="7"/>
                <c:pt idx="0">
                  <c:v>38788.1</c:v>
                </c:pt>
                <c:pt idx="1">
                  <c:v>32002.9</c:v>
                </c:pt>
                <c:pt idx="2">
                  <c:v>16729.3</c:v>
                </c:pt>
                <c:pt idx="3">
                  <c:v>16171.4</c:v>
                </c:pt>
                <c:pt idx="4">
                  <c:v>15729.1</c:v>
                </c:pt>
                <c:pt idx="5">
                  <c:v>13326.0</c:v>
                </c:pt>
                <c:pt idx="6">
                  <c:v>10533.6</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43.92</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Files</c:v>
                </c:pt>
              </c:strCache>
            </c:strRef>
          </c:tx>
          <c:spPr>
            <a:solidFill>
              <a:srgbClr val="C8102E"/>
            </a:solidFill>
          </c:spPr>
          <c:cat>
            <c:strRef>
              <c:f>Sheet1!$A$2:$A$4</c:f>
              <c:strCache>
                <c:ptCount val="3"/>
                <c:pt idx="0">
                  <c:v>Readable</c:v>
                </c:pt>
                <c:pt idx="1">
                  <c:v>Key refused (403)</c:v>
                </c:pt>
                <c:pt idx="2">
                  <c:v>Archive class, restore needed</c:v>
                </c:pt>
              </c:strCache>
            </c:strRef>
          </c:cat>
          <c:val>
            <c:numRef>
              <c:f>Sheet1!$B$2:$B$4</c:f>
              <c:numCache>
                <c:formatCode>General</c:formatCode>
                <c:ptCount val="3"/>
                <c:pt idx="0">
                  <c:v>427507</c:v>
                </c:pt>
                <c:pt idx="1">
                  <c:v>4173042</c:v>
                </c:pt>
                <c:pt idx="2">
                  <c:v>584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hours, speech and what to decide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Whole-estate forecast, strongest assets, preparation and the decisions in order</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of media; 73.4% sits behind access limits</a:t>
            </a:r>
          </a:p>
        </p:txBody>
      </p:sp>
      <p:sp>
        <p:nvSpPr>
          <p:cNvPr id="4" name="TextBox 3"/>
          <p:cNvSpPr txBox="1"/>
          <p:nvPr/>
        </p:nvSpPr>
        <p:spPr>
          <a:xfrm>
            <a:off x="594360" y="1920240"/>
            <a:ext cx="1463040" cy="797432"/>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797432"/>
          </a:xfrm>
          <a:prstGeom prst="rect">
            <a:avLst/>
          </a:prstGeom>
          <a:noFill/>
        </p:spPr>
        <p:txBody>
          <a:bodyPr wrap="square" lIns="0" rIns="0" tIns="0" bIns="0" anchor="t">
            <a:spAutoFit/>
          </a:bodyPr>
          <a:lstStyle/>
          <a:p>
            <a:pPr algn="l"/>
            <a:r>
              <a:rPr sz="1400" b="0" i="0">
                <a:solidFill>
                  <a:srgbClr val="1F2A44"/>
                </a:solidFill>
                <a:latin typeface="Calibri"/>
              </a:rPr>
              <a:t>RMS holds 175.0 TiB across databases, an object store and file shares. Scaling what the census read in each folder to every listed folder, the estate most likely holds 500,290.3 hours of media: 190,196.8 hours of speech and 341,566.0 hours of music, estimated separately.</a:t>
            </a:r>
          </a:p>
        </p:txBody>
      </p:sp>
      <p:cxnSp>
        <p:nvCxnSpPr>
          <p:cNvPr id="6" name="Connector 5"/>
          <p:cNvCxnSpPr/>
          <p:nvPr/>
        </p:nvCxnSpPr>
        <p:spPr>
          <a:xfrm>
            <a:off x="594360" y="278168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54833"/>
            <a:ext cx="1463040" cy="584072"/>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54833"/>
            <a:ext cx="9357055" cy="584072"/>
          </a:xfrm>
          <a:prstGeom prst="rect">
            <a:avLst/>
          </a:prstGeom>
          <a:noFill/>
        </p:spPr>
        <p:txBody>
          <a:bodyPr wrap="square" lIns="0" rIns="0" tIns="0" bIns="0" anchor="t">
            <a:spAutoFit/>
          </a:bodyPr>
          <a:lstStyle/>
          <a:p>
            <a:pPr algn="l"/>
            <a:r>
              <a:rPr sz="1400" b="0" i="0">
                <a:solidFill>
                  <a:srgbClr val="1F2A44"/>
                </a:solidFill>
                <a:latin typeface="Calibri"/>
              </a:rPr>
              <a:t>Only 8.5% of the forecast hours rest on files read and judged, and 73.4% sit in buckets the census key cannot read. The ninety-five per cent forecast interval spans 212,923.5 hours, 42.6% of the forecast, and excludes model error.</a:t>
            </a:r>
          </a:p>
        </p:txBody>
      </p:sp>
      <p:cxnSp>
        <p:nvCxnSpPr>
          <p:cNvPr id="9" name="Connector 8"/>
          <p:cNvCxnSpPr/>
          <p:nvPr/>
        </p:nvCxnSpPr>
        <p:spPr>
          <a:xfrm>
            <a:off x="594360" y="350291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576066"/>
            <a:ext cx="1463040" cy="404240"/>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576066"/>
            <a:ext cx="9357055" cy="404240"/>
          </a:xfrm>
          <a:prstGeom prst="rect">
            <a:avLst/>
          </a:prstGeom>
          <a:noFill/>
        </p:spPr>
        <p:txBody>
          <a:bodyPr wrap="square" lIns="0" rIns="0" tIns="0" bIns="0" anchor="t">
            <a:spAutoFit/>
          </a:bodyPr>
          <a:lstStyle/>
          <a:p>
            <a:pPr algn="l"/>
            <a:r>
              <a:rPr sz="1400" b="0" i="0">
                <a:solidFill>
                  <a:srgbClr val="1F2A44"/>
                </a:solidFill>
                <a:latin typeface="Calibri"/>
              </a:rPr>
              <a:t>What does the estate hold, where does its value sit, and what should management decide first?</a:t>
            </a:r>
          </a:p>
        </p:txBody>
      </p:sp>
      <p:cxnSp>
        <p:nvCxnSpPr>
          <p:cNvPr id="12" name="Connector 11"/>
          <p:cNvCxnSpPr/>
          <p:nvPr/>
        </p:nvCxnSpPr>
        <p:spPr>
          <a:xfrm>
            <a:off x="594360" y="4044315"/>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17467"/>
            <a:ext cx="1463040" cy="1437513"/>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117467"/>
            <a:ext cx="9357055" cy="1437513"/>
          </a:xfrm>
          <a:prstGeom prst="rect">
            <a:avLst/>
          </a:prstGeom>
          <a:noFill/>
        </p:spPr>
        <p:txBody>
          <a:bodyPr wrap="square" lIns="0" rIns="0" tIns="0" bIns="0" anchor="t">
            <a:spAutoFit/>
          </a:bodyPr>
          <a:lstStyle/>
          <a:p>
            <a:pPr algn="l"/>
            <a:r>
              <a:rPr sz="1400" b="0" i="0">
                <a:solidFill>
                  <a:srgbClr val="1F2A44"/>
                </a:solidFill>
                <a:latin typeface="Calibri"/>
              </a:rPr>
              <a:t>RMS holds a large multilingual speech and text archive. The whole-estate forecast is 500,290.3 hours of media, with 190,196.8 hours of speech and 341,566.0 hours of music, each with its ninety-five per cent forecast interval in the tables beside. Kiswahili (38,788.1 speech hours), Gikuyu (32,002.9) and Ekegusii (16,729.3) lead. One bucket the key cannot read carries 251,976.0 forecast hours, 50.4% of the estate. The first decision is an object-read grant for the census key, which turns that exposure into measurement. Archive tiering and duplicate reconciliation follow once repriced; a speech-and-text pilot is the earning path to scope.</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the whole estate holds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BASIS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Only 8.5% of the forecast hours rest on files read and judged; the rest is forecast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measured directly (42,454.4) anchor the estimate; every other basis names one step that converts it from forecast into measurement.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 OF HOURS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refused bucket carries 251,976.0 forecast hours, 50.4% of the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 single access grant is the highest-value preparation step, and that bucket's forecast is also the largest single source of uncertainty.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190,196.8 of speech and 341,566.0 of music</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Most likely holding: 500,290.3 hours. The ninety-five per cent forecast interval spans 212,923.5 hours, 42.6% of the forecast.</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is 38.0% of hours and music 68.3%; these are separate estimators, not an exact split.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Measured bytes are firm at 175.0 TiB; only 8.5% of forecast hours rest on files read and judged.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73.4% of forecast hours sit in buckets the census key cannot read.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 estate by evidence basis — how much is measured and how much is forecast</a:t>
            </a:r>
          </a:p>
        </p:txBody>
      </p:sp>
      <p:graphicFrame>
        <p:nvGraphicFramePr>
          <p:cNvPr id="4" name="Table 3"/>
          <p:cNvGraphicFramePr>
            <a:graphicFrameLocks noGrp="1"/>
          </p:cNvGraphicFramePr>
          <p:nvPr/>
        </p:nvGraphicFramePr>
        <p:xfrm>
          <a:off x="594360" y="1920240"/>
          <a:ext cx="11002972" cy="2852928"/>
        </p:xfrm>
        <a:graphic>
          <a:graphicData uri="http://schemas.openxmlformats.org/drawingml/2006/table">
            <a:tbl>
              <a:tblPr firstRow="1" bandRow="1">
                <a:tableStyleId>{5C22544A-7EE6-4342-B048-85BDC9FD1C3A}</a:tableStyleId>
              </a:tblPr>
              <a:tblGrid>
                <a:gridCol w="2870341"/>
                <a:gridCol w="956780"/>
                <a:gridCol w="956780"/>
                <a:gridCol w="1708536"/>
                <a:gridCol w="1708536"/>
                <a:gridCol w="2801999"/>
              </a:tblGrid>
              <a:tr h="475488">
                <a:tc>
                  <a:txBody>
                    <a:bodyPr wrap="square"/>
                    <a:lstStyle/>
                    <a:p>
                      <a:pPr algn="l"/>
                      <a:r>
                        <a:rPr sz="1200" b="1">
                          <a:solidFill>
                            <a:srgbClr val="1F2A44"/>
                          </a:solidFill>
                          <a:latin typeface="Calibri"/>
                        </a:rPr>
                        <a:t>Evidence basis</a:t>
                      </a:r>
                    </a:p>
                  </a:txBody>
                  <a:tcPr marL="54864" marR="54864" marT="27432" marB="27432">
                    <a:solidFill>
                      <a:srgbClr val="E9ECF1"/>
                    </a:solidFill>
                  </a:tcPr>
                </a:tc>
                <a:tc>
                  <a:txBody>
                    <a:bodyPr wrap="square"/>
                    <a:lstStyle/>
                    <a:p>
                      <a:pPr algn="l"/>
                      <a:r>
                        <a:rPr sz="1200" b="1">
                          <a:solidFill>
                            <a:srgbClr val="1F2A44"/>
                          </a:solidFill>
                          <a:latin typeface="Calibri"/>
                        </a:rPr>
                        <a:t>Folder strata</a:t>
                      </a:r>
                    </a:p>
                  </a:txBody>
                  <a:tcPr marL="54864" marR="54864" marT="27432" marB="27432">
                    <a:solidFill>
                      <a:srgbClr val="E9ECF1"/>
                    </a:solidFill>
                  </a:tcPr>
                </a:tc>
                <a:tc>
                  <a:txBody>
                    <a:bodyPr wrap="square"/>
                    <a:lstStyle/>
                    <a:p>
                      <a:pPr algn="l"/>
                      <a:r>
                        <a:rPr sz="1200" b="1">
                          <a:solidFill>
                            <a:srgbClr val="1F2A44"/>
                          </a:solidFill>
                          <a:latin typeface="Calibri"/>
                        </a:rPr>
                        <a:t>Media files</a:t>
                      </a:r>
                    </a:p>
                  </a:txBody>
                  <a:tcPr marL="54864" marR="54864" marT="27432" marB="27432">
                    <a:solidFill>
                      <a:srgbClr val="E9ECF1"/>
                    </a:solidFill>
                  </a:tcPr>
                </a:tc>
                <a:tc>
                  <a:txBody>
                    <a:bodyPr wrap="square"/>
                    <a:lstStyle/>
                    <a:p>
                      <a:pPr algn="l"/>
                      <a:r>
                        <a:rPr sz="1200" b="1">
                          <a:solidFill>
                            <a:srgbClr val="1F2A44"/>
                          </a:solidFill>
                          <a:latin typeface="Calibri"/>
                        </a:rPr>
                        <a:t>Hours (95 %)</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c>
                  <a:txBody>
                    <a:bodyPr wrap="square"/>
                    <a:lstStyle/>
                    <a:p>
                      <a:pPr algn="l"/>
                      <a:r>
                        <a:rPr sz="1200" b="1">
                          <a:solidFill>
                            <a:srgbClr val="1F2A44"/>
                          </a:solidFill>
                          <a:latin typeface="Calibri"/>
                        </a:rPr>
                        <a:t>What converts it into measurement</a:t>
                      </a:r>
                    </a:p>
                  </a:txBody>
                  <a:tcPr marL="54864" marR="54864" marT="27432" marB="27432">
                    <a:solidFill>
                      <a:srgbClr val="E9ECF1"/>
                    </a:solidFill>
                  </a:tcPr>
                </a:tc>
              </a:tr>
              <a:tr h="475488">
                <a:tc>
                  <a:txBody>
                    <a:bodyPr wrap="square"/>
                    <a:lstStyle/>
                    <a:p>
                      <a:pPr algn="l"/>
                      <a:r>
                        <a:rPr sz="1200" b="0">
                          <a:solidFill>
                            <a:srgbClr val="1F2A44"/>
                          </a:solidFill>
                          <a:latin typeface="Calibri"/>
                        </a:rPr>
                        <a:t>read and judged</a:t>
                      </a:r>
                    </a:p>
                  </a:txBody>
                  <a:tcPr marL="54864" marR="54864" marT="27432" marB="27432">
                    <a:solidFill>
                      <a:srgbClr val="FFFFFF"/>
                    </a:solidFill>
                  </a:tcPr>
                </a:tc>
                <a:tc>
                  <a:txBody>
                    <a:bodyPr wrap="square"/>
                    <a:lstStyle/>
                    <a:p>
                      <a:pPr algn="l"/>
                      <a:r>
                        <a:rPr sz="1200" b="0">
                          <a:solidFill>
                            <a:srgbClr val="1F2A44"/>
                          </a:solidFill>
                          <a:latin typeface="Calibri"/>
                        </a:rPr>
                        <a:t>242</a:t>
                      </a:r>
                    </a:p>
                  </a:txBody>
                  <a:tcPr marL="54864" marR="54864" marT="27432" marB="27432">
                    <a:solidFill>
                      <a:srgbClr val="FFFFFF"/>
                    </a:solidFill>
                  </a:tcPr>
                </a:tc>
                <a:tc>
                  <a:txBody>
                    <a:bodyPr wrap="square"/>
                    <a:lstStyle/>
                    <a:p>
                      <a:pPr algn="r"/>
                      <a:r>
                        <a:rPr sz="1200" b="0">
                          <a:solidFill>
                            <a:srgbClr val="1F2A44"/>
                          </a:solidFill>
                          <a:latin typeface="Courier New"/>
                        </a:rPr>
                        <a:t>432,850</a:t>
                      </a:r>
                    </a:p>
                  </a:txBody>
                  <a:tcPr marL="54864" marR="54864" marT="27432" marB="27432">
                    <a:solidFill>
                      <a:srgbClr val="FFFFFF"/>
                    </a:solidFill>
                  </a:tcPr>
                </a:tc>
                <a:tc>
                  <a:txBody>
                    <a:bodyPr wrap="square"/>
                    <a:lstStyle/>
                    <a:p>
                      <a:pPr algn="r"/>
                      <a:r>
                        <a:rPr sz="1200" b="0">
                          <a:solidFill>
                            <a:srgbClr val="1F2A44"/>
                          </a:solidFill>
                          <a:latin typeface="Courier New"/>
                        </a:rPr>
                        <a:t>42,454 (42,272–42,634)</a:t>
                      </a:r>
                    </a:p>
                  </a:txBody>
                  <a:tcPr marL="54864" marR="54864" marT="27432" marB="27432">
                    <a:solidFill>
                      <a:srgbClr val="FFFFFF"/>
                    </a:solidFill>
                  </a:tcPr>
                </a:tc>
                <a:tc>
                  <a:txBody>
                    <a:bodyPr wrap="square"/>
                    <a:lstStyle/>
                    <a:p>
                      <a:pPr algn="r"/>
                      <a:r>
                        <a:rPr sz="1200" b="0">
                          <a:solidFill>
                            <a:srgbClr val="1F2A44"/>
                          </a:solidFill>
                          <a:latin typeface="Courier New"/>
                        </a:rPr>
                        <a:t>23,349 (22,862–23,879)</a:t>
                      </a:r>
                    </a:p>
                  </a:txBody>
                  <a:tcPr marL="54864" marR="54864" marT="27432" marB="27432">
                    <a:solidFill>
                      <a:srgbClr val="FFFFFF"/>
                    </a:solidFill>
                  </a:tcPr>
                </a:tc>
                <a:tc>
                  <a:txBody>
                    <a:bodyPr wrap="square"/>
                    <a:lstStyle/>
                    <a:p>
                      <a:pPr algn="r"/>
                      <a:r>
                        <a:rPr sz="1200" b="0">
                          <a:solidFill>
                            <a:srgbClr val="1F2A44"/>
                          </a:solidFill>
                          <a:latin typeface="Courier New"/>
                        </a:rPr>
                        <a:t>nothing — measured</a:t>
                      </a:r>
                    </a:p>
                  </a:txBody>
                  <a:tcPr marL="54864" marR="54864" marT="27432" marB="27432">
                    <a:solidFill>
                      <a:srgbClr val="FFFFFF"/>
                    </a:solidFill>
                  </a:tcPr>
                </a:tc>
              </a:tr>
              <a:tr h="475488">
                <a:tc>
                  <a:txBody>
                    <a:bodyPr wrap="square"/>
                    <a:lstStyle/>
                    <a:p>
                      <a:pPr algn="l"/>
                      <a:r>
                        <a:rPr sz="1200" b="0">
                          <a:solidFill>
                            <a:srgbClr val="1F2A44"/>
                          </a:solidFill>
                          <a:latin typeface="Calibri"/>
                        </a:rPr>
                        <a:t>hours measured on headers; content forecast</a:t>
                      </a:r>
                    </a:p>
                  </a:txBody>
                  <a:tcPr marL="54864" marR="54864" marT="27432" marB="27432">
                    <a:solidFill>
                      <a:srgbClr val="FFFFFF"/>
                    </a:solidFill>
                  </a:tcPr>
                </a:tc>
                <a:tc>
                  <a:txBody>
                    <a:bodyPr wrap="square"/>
                    <a:lstStyle/>
                    <a:p>
                      <a:pPr algn="l"/>
                      <a:r>
                        <a:rPr sz="1200" b="0">
                          <a:solidFill>
                            <a:srgbClr val="1F2A44"/>
                          </a:solidFill>
                          <a:latin typeface="Calibri"/>
                        </a:rPr>
                        <a:t>72</a:t>
                      </a:r>
                    </a:p>
                  </a:txBody>
                  <a:tcPr marL="54864" marR="54864" marT="27432" marB="27432">
                    <a:solidFill>
                      <a:srgbClr val="FFFFFF"/>
                    </a:solidFill>
                  </a:tcPr>
                </a:tc>
                <a:tc>
                  <a:txBody>
                    <a:bodyPr wrap="square"/>
                    <a:lstStyle/>
                    <a:p>
                      <a:pPr algn="r"/>
                      <a:r>
                        <a:rPr sz="1200" b="0">
                          <a:solidFill>
                            <a:srgbClr val="1F2A44"/>
                          </a:solidFill>
                          <a:latin typeface="Courier New"/>
                        </a:rPr>
                        <a:t>10,277</a:t>
                      </a:r>
                    </a:p>
                  </a:txBody>
                  <a:tcPr marL="54864" marR="54864" marT="27432" marB="27432">
                    <a:solidFill>
                      <a:srgbClr val="FFFFFF"/>
                    </a:solidFill>
                  </a:tcPr>
                </a:tc>
                <a:tc>
                  <a:txBody>
                    <a:bodyPr wrap="square"/>
                    <a:lstStyle/>
                    <a:p>
                      <a:pPr algn="r"/>
                      <a:r>
                        <a:rPr sz="1200" b="0">
                          <a:solidFill>
                            <a:srgbClr val="1F2A44"/>
                          </a:solidFill>
                          <a:latin typeface="Courier New"/>
                        </a:rPr>
                        <a:t>1,712 (1,712–1,712)</a:t>
                      </a:r>
                    </a:p>
                  </a:txBody>
                  <a:tcPr marL="54864" marR="54864" marT="27432" marB="27432">
                    <a:solidFill>
                      <a:srgbClr val="FFFFFF"/>
                    </a:solidFill>
                  </a:tcPr>
                </a:tc>
                <a:tc>
                  <a:txBody>
                    <a:bodyPr wrap="square"/>
                    <a:lstStyle/>
                    <a:p>
                      <a:pPr algn="r"/>
                      <a:r>
                        <a:rPr sz="1200" b="0">
                          <a:solidFill>
                            <a:srgbClr val="1F2A44"/>
                          </a:solidFill>
                          <a:latin typeface="Courier New"/>
                        </a:rPr>
                        <a:t>1,250 (1,159–1,325)</a:t>
                      </a:r>
                    </a:p>
                  </a:txBody>
                  <a:tcPr marL="54864" marR="54864" marT="27432" marB="27432">
                    <a:solidFill>
                      <a:srgbClr val="FFFFFF"/>
                    </a:solidFill>
                  </a:tcPr>
                </a:tc>
                <a:tc>
                  <a:txBody>
                    <a:bodyPr wrap="square"/>
                    <a:lstStyle/>
                    <a:p>
                      <a:pPr algn="r"/>
                      <a:r>
                        <a:rPr sz="1200" b="0">
                          <a:solidFill>
                            <a:srgbClr val="1F2A44"/>
                          </a:solidFill>
                          <a:latin typeface="Courier New"/>
                        </a:rPr>
                        <a:t>finish the planned folder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readable, not yet sampled (forecast)</a:t>
                      </a:r>
                    </a:p>
                  </a:txBody>
                  <a:tcPr marL="54864" marR="54864" marT="27432" marB="27432">
                    <a:solidFill>
                      <a:srgbClr val="FFFFFF"/>
                    </a:solidFill>
                  </a:tcPr>
                </a:tc>
                <a:tc>
                  <a:txBody>
                    <a:bodyPr wrap="square"/>
                    <a:lstStyle/>
                    <a:p>
                      <a:pPr algn="l"/>
                      <a:r>
                        <a:rPr sz="1200" b="0">
                          <a:solidFill>
                            <a:srgbClr val="1F2A44"/>
                          </a:solidFill>
                          <a:latin typeface="Calibri"/>
                        </a:rPr>
                        <a:t>193</a:t>
                      </a:r>
                    </a:p>
                  </a:txBody>
                  <a:tcPr marL="54864" marR="54864" marT="27432" marB="27432">
                    <a:solidFill>
                      <a:srgbClr val="FFFFFF"/>
                    </a:solidFill>
                  </a:tcPr>
                </a:tc>
                <a:tc>
                  <a:txBody>
                    <a:bodyPr wrap="square"/>
                    <a:lstStyle/>
                    <a:p>
                      <a:pPr algn="r"/>
                      <a:r>
                        <a:rPr sz="1200" b="0">
                          <a:solidFill>
                            <a:srgbClr val="1F2A44"/>
                          </a:solidFill>
                          <a:latin typeface="Courier New"/>
                        </a:rPr>
                        <a:t>1,209,266</a:t>
                      </a:r>
                    </a:p>
                  </a:txBody>
                  <a:tcPr marL="54864" marR="54864" marT="27432" marB="27432">
                    <a:solidFill>
                      <a:srgbClr val="FFFFFF"/>
                    </a:solidFill>
                  </a:tcPr>
                </a:tc>
                <a:tc>
                  <a:txBody>
                    <a:bodyPr wrap="square"/>
                    <a:lstStyle/>
                    <a:p>
                      <a:pPr algn="r"/>
                      <a:r>
                        <a:rPr sz="1200" b="0">
                          <a:solidFill>
                            <a:srgbClr val="1F2A44"/>
                          </a:solidFill>
                          <a:latin typeface="Courier New"/>
                        </a:rPr>
                        <a:t>86,601 (60,888–119,832)</a:t>
                      </a:r>
                    </a:p>
                  </a:txBody>
                  <a:tcPr marL="54864" marR="54864" marT="27432" marB="27432">
                    <a:solidFill>
                      <a:srgbClr val="FFFFFF"/>
                    </a:solidFill>
                  </a:tcPr>
                </a:tc>
                <a:tc>
                  <a:txBody>
                    <a:bodyPr wrap="square"/>
                    <a:lstStyle/>
                    <a:p>
                      <a:pPr algn="r"/>
                      <a:r>
                        <a:rPr sz="1200" b="0">
                          <a:solidFill>
                            <a:srgbClr val="1F2A44"/>
                          </a:solidFill>
                          <a:latin typeface="Courier New"/>
                        </a:rPr>
                        <a:t>25,874 (16,951–37,803)</a:t>
                      </a:r>
                    </a:p>
                  </a:txBody>
                  <a:tcPr marL="54864" marR="54864" marT="27432" marB="27432">
                    <a:solidFill>
                      <a:srgbClr val="FFFFFF"/>
                    </a:solidFill>
                  </a:tcPr>
                </a:tc>
                <a:tc>
                  <a:txBody>
                    <a:bodyPr wrap="square"/>
                    <a:lstStyle/>
                    <a:p>
                      <a:pPr algn="r"/>
                      <a:r>
                        <a:rPr sz="1200" b="0">
                          <a:solidFill>
                            <a:srgbClr val="1F2A44"/>
                          </a:solidFill>
                          <a:latin typeface="Courier New"/>
                        </a:rPr>
                        <a:t>the running listing, probes and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key refused (forecast)</a:t>
                      </a:r>
                    </a:p>
                  </a:txBody>
                  <a:tcPr marL="54864" marR="54864" marT="27432" marB="27432">
                    <a:solidFill>
                      <a:srgbClr val="FFFFFF"/>
                    </a:solidFill>
                  </a:tcPr>
                </a:tc>
                <a:tc>
                  <a:txBody>
                    <a:bodyPr wrap="square"/>
                    <a:lstStyle/>
                    <a:p>
                      <a:pPr algn="l"/>
                      <a:r>
                        <a:rPr sz="1200" b="0">
                          <a:solidFill>
                            <a:srgbClr val="1F2A44"/>
                          </a:solidFill>
                          <a:latin typeface="Calibri"/>
                        </a:rPr>
                        <a:t>825</a:t>
                      </a:r>
                    </a:p>
                  </a:txBody>
                  <a:tcPr marL="54864" marR="54864" marT="27432" marB="27432">
                    <a:solidFill>
                      <a:srgbClr val="FFFFFF"/>
                    </a:solidFill>
                  </a:tcPr>
                </a:tc>
                <a:tc>
                  <a:txBody>
                    <a:bodyPr wrap="square"/>
                    <a:lstStyle/>
                    <a:p>
                      <a:pPr algn="r"/>
                      <a:r>
                        <a:rPr sz="1200" b="0">
                          <a:solidFill>
                            <a:srgbClr val="1F2A44"/>
                          </a:solidFill>
                          <a:latin typeface="Courier New"/>
                        </a:rPr>
                        <a:t>4,172,989</a:t>
                      </a:r>
                    </a:p>
                  </a:txBody>
                  <a:tcPr marL="54864" marR="54864" marT="27432" marB="27432">
                    <a:solidFill>
                      <a:srgbClr val="FFFFFF"/>
                    </a:solidFill>
                  </a:tcPr>
                </a:tc>
                <a:tc>
                  <a:txBody>
                    <a:bodyPr wrap="square"/>
                    <a:lstStyle/>
                    <a:p>
                      <a:pPr algn="r"/>
                      <a:r>
                        <a:rPr sz="1200" b="0">
                          <a:solidFill>
                            <a:srgbClr val="1F2A44"/>
                          </a:solidFill>
                          <a:latin typeface="Courier New"/>
                        </a:rPr>
                        <a:t>367,223 (284,577–492,168)</a:t>
                      </a:r>
                    </a:p>
                  </a:txBody>
                  <a:tcPr marL="54864" marR="54864" marT="27432" marB="27432">
                    <a:solidFill>
                      <a:srgbClr val="FFFFFF"/>
                    </a:solidFill>
                  </a:tcPr>
                </a:tc>
                <a:tc>
                  <a:txBody>
                    <a:bodyPr wrap="square"/>
                    <a:lstStyle/>
                    <a:p>
                      <a:pPr algn="r"/>
                      <a:r>
                        <a:rPr sz="1200" b="0">
                          <a:solidFill>
                            <a:srgbClr val="1F2A44"/>
                          </a:solidFill>
                          <a:latin typeface="Courier New"/>
                        </a:rPr>
                        <a:t>139,340 (103,925–194,851)</a:t>
                      </a:r>
                    </a:p>
                  </a:txBody>
                  <a:tcPr marL="54864" marR="54864" marT="27432" marB="27432">
                    <a:solidFill>
                      <a:srgbClr val="FFFFFF"/>
                    </a:solidFill>
                  </a:tcPr>
                </a:tc>
                <a:tc>
                  <a:txBody>
                    <a:bodyPr wrap="square"/>
                    <a:lstStyle/>
                    <a:p>
                      <a:pPr algn="r"/>
                      <a:r>
                        <a:rPr sz="1200" b="0">
                          <a:solidFill>
                            <a:srgbClr val="1F2A44"/>
                          </a:solidFill>
                          <a:latin typeface="Courier New"/>
                        </a:rPr>
                        <a:t>one object-read grant to the census key</a:t>
                      </a:r>
                    </a:p>
                  </a:txBody>
                  <a:tcPr marL="54864" marR="54864" marT="27432" marB="27432">
                    <a:solidFill>
                      <a:srgbClr val="FFFFFF"/>
                    </a:solidFill>
                  </a:tcPr>
                </a:tc>
              </a:tr>
              <a:tr h="475488">
                <a:tc>
                  <a:txBody>
                    <a:bodyPr wrap="square"/>
                    <a:lstStyle/>
                    <a:p>
                      <a:pPr algn="l"/>
                      <a:r>
                        <a:rPr sz="1200" b="0">
                          <a:solidFill>
                            <a:srgbClr val="1F2A44"/>
                          </a:solidFill>
                          <a:latin typeface="Calibri"/>
                        </a:rPr>
                        <a:t>archive class (forecast)</a:t>
                      </a:r>
                    </a:p>
                  </a:txBody>
                  <a:tcPr marL="54864" marR="54864" marT="27432" marB="27432">
                    <a:solidFill>
                      <a:srgbClr val="FFFFFF"/>
                    </a:solidFill>
                  </a:tcPr>
                </a:tc>
                <a:tc>
                  <a:txBody>
                    <a:bodyPr wrap="square"/>
                    <a:lstStyle/>
                    <a:p>
                      <a:pPr algn="l"/>
                      <a:r>
                        <a:rPr sz="1200" b="0">
                          <a:solidFill>
                            <a:srgbClr val="1F2A44"/>
                          </a:solidFill>
                          <a:latin typeface="Calibri"/>
                        </a:rPr>
                        <a:t>2</a:t>
                      </a:r>
                    </a:p>
                  </a:txBody>
                  <a:tcPr marL="54864" marR="54864" marT="27432" marB="27432">
                    <a:solidFill>
                      <a:srgbClr val="FFFFFF"/>
                    </a:solidFill>
                  </a:tcPr>
                </a:tc>
                <a:tc>
                  <a:txBody>
                    <a:bodyPr wrap="square"/>
                    <a:lstStyle/>
                    <a:p>
                      <a:pPr algn="r"/>
                      <a:r>
                        <a:rPr sz="1200" b="0">
                          <a:solidFill>
                            <a:srgbClr val="1F2A44"/>
                          </a:solidFill>
                          <a:latin typeface="Courier New"/>
                        </a:rPr>
                        <a:t>584</a:t>
                      </a:r>
                    </a:p>
                  </a:txBody>
                  <a:tcPr marL="54864" marR="54864" marT="27432" marB="27432">
                    <a:solidFill>
                      <a:srgbClr val="FFFFFF"/>
                    </a:solidFill>
                  </a:tcPr>
                </a:tc>
                <a:tc>
                  <a:txBody>
                    <a:bodyPr wrap="square"/>
                    <a:lstStyle/>
                    <a:p>
                      <a:pPr algn="r"/>
                      <a:r>
                        <a:rPr sz="1200" b="0">
                          <a:solidFill>
                            <a:srgbClr val="1F2A44"/>
                          </a:solidFill>
                          <a:latin typeface="Courier New"/>
                        </a:rPr>
                        <a:t>2 (1–9)</a:t>
                      </a:r>
                    </a:p>
                  </a:txBody>
                  <a:tcPr marL="54864" marR="54864" marT="27432" marB="27432">
                    <a:solidFill>
                      <a:srgbClr val="FFFFFF"/>
                    </a:solidFill>
                  </a:tcPr>
                </a:tc>
                <a:tc>
                  <a:txBody>
                    <a:bodyPr wrap="square"/>
                    <a:lstStyle/>
                    <a:p>
                      <a:pPr algn="r"/>
                      <a:r>
                        <a:rPr sz="1200" b="0">
                          <a:solidFill>
                            <a:srgbClr val="1F2A44"/>
                          </a:solidFill>
                          <a:latin typeface="Courier New"/>
                        </a:rPr>
                        <a:t>1 (0–7)</a:t>
                      </a:r>
                    </a:p>
                  </a:txBody>
                  <a:tcPr marL="54864" marR="54864" marT="27432" marB="27432">
                    <a:solidFill>
                      <a:srgbClr val="FFFFFF"/>
                    </a:solidFill>
                  </a:tcPr>
                </a:tc>
                <a:tc>
                  <a:txBody>
                    <a:bodyPr wrap="square"/>
                    <a:lstStyle/>
                    <a:p>
                      <a:pPr algn="r"/>
                      <a:r>
                        <a:rPr sz="1200" b="0">
                          <a:solidFill>
                            <a:srgbClr val="1F2A44"/>
                          </a:solidFill>
                          <a:latin typeface="Courier New"/>
                        </a:rPr>
                        <a:t>an owner decision to restore sample files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Read-and-judged strata are measured; everything else is forecast from them.</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61488"/>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251,976 (174,935–366,723)</a:t>
                      </a:r>
                    </a:p>
                  </a:txBody>
                  <a:tcPr marL="54864" marR="54864" marT="27432" marB="27432">
                    <a:solidFill>
                      <a:srgbClr val="FFFFFF"/>
                    </a:solidFill>
                  </a:tcPr>
                </a:tc>
                <a:tc>
                  <a:txBody>
                    <a:bodyPr wrap="square"/>
                    <a:lstStyle/>
                    <a:p>
                      <a:pPr algn="r"/>
                      <a:r>
                        <a:rPr sz="1100" b="0">
                          <a:solidFill>
                            <a:srgbClr val="1F2A44"/>
                          </a:solidFill>
                          <a:latin typeface="Courier New"/>
                        </a:rPr>
                        <a:t>71,405 (43,767–117,603)</a:t>
                      </a:r>
                    </a:p>
                  </a:txBody>
                  <a:tcPr marL="54864" marR="54864" marT="27432" marB="27432">
                    <a:solidFill>
                      <a:srgbClr val="FFFFFF"/>
                    </a:solidFill>
                  </a:tcPr>
                </a:tc>
                <a:tc>
                  <a:txBody>
                    <a:bodyPr wrap="square"/>
                    <a:lstStyle/>
                    <a:p>
                      <a:pPr algn="r"/>
                      <a:r>
                        <a:rPr sz="1100" b="0">
                          <a:solidFill>
                            <a:srgbClr val="1F2A44"/>
                          </a:solidFill>
                          <a:latin typeface="Courier New"/>
                        </a:rPr>
                        <a:t>Kiswahili 15,692 h; Gikuyu (Kikuyu) 11,442 h; Kalenjin 6,552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31,402 (27,438–86,272)</a:t>
                      </a:r>
                    </a:p>
                  </a:txBody>
                  <a:tcPr marL="54864" marR="54864" marT="27432" marB="27432">
                    <a:solidFill>
                      <a:srgbClr val="FFFFFF"/>
                    </a:solidFill>
                  </a:tcPr>
                </a:tc>
                <a:tc>
                  <a:txBody>
                    <a:bodyPr wrap="square"/>
                    <a:lstStyle/>
                    <a:p>
                      <a:pPr algn="r"/>
                      <a:r>
                        <a:rPr sz="1100" b="0">
                          <a:solidFill>
                            <a:srgbClr val="1F2A44"/>
                          </a:solidFill>
                          <a:latin typeface="Courier New"/>
                        </a:rPr>
                        <a:t>22,428 (10,318–60,184)</a:t>
                      </a:r>
                    </a:p>
                  </a:txBody>
                  <a:tcPr marL="54864" marR="54864" marT="27432" marB="27432">
                    <a:solidFill>
                      <a:srgbClr val="FFFFFF"/>
                    </a:solidFill>
                  </a:tcPr>
                </a:tc>
                <a:tc>
                  <a:txBody>
                    <a:bodyPr wrap="square"/>
                    <a:lstStyle/>
                    <a:p>
                      <a:pPr algn="r"/>
                      <a:r>
                        <a:rPr sz="1100" b="0">
                          <a:solidFill>
                            <a:srgbClr val="1F2A44"/>
                          </a:solidFill>
                          <a:latin typeface="Courier New"/>
                        </a:rPr>
                        <a:t>Gikuyu (Kikuyu) 4,211 h; Kiswahili 3,472 h; Ekegusii (Kisii) 2,339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27,524 (24,787–57,290)</a:t>
                      </a:r>
                    </a:p>
                  </a:txBody>
                  <a:tcPr marL="54864" marR="54864" marT="27432" marB="27432">
                    <a:solidFill>
                      <a:srgbClr val="FFFFFF"/>
                    </a:solidFill>
                  </a:tcPr>
                </a:tc>
                <a:tc>
                  <a:txBody>
                    <a:bodyPr wrap="square"/>
                    <a:lstStyle/>
                    <a:p>
                      <a:pPr algn="r"/>
                      <a:r>
                        <a:rPr sz="1100" b="0">
                          <a:solidFill>
                            <a:srgbClr val="1F2A44"/>
                          </a:solidFill>
                          <a:latin typeface="Courier New"/>
                        </a:rPr>
                        <a:t>19,151 (11,769–38,181)</a:t>
                      </a:r>
                    </a:p>
                  </a:txBody>
                  <a:tcPr marL="54864" marR="54864" marT="27432" marB="27432">
                    <a:solidFill>
                      <a:srgbClr val="FFFFFF"/>
                    </a:solidFill>
                  </a:tcPr>
                </a:tc>
                <a:tc>
                  <a:txBody>
                    <a:bodyPr wrap="square"/>
                    <a:lstStyle/>
                    <a:p>
                      <a:pPr algn="r"/>
                      <a:r>
                        <a:rPr sz="1100" b="0">
                          <a:solidFill>
                            <a:srgbClr val="1F2A44"/>
                          </a:solidFill>
                          <a:latin typeface="Courier New"/>
                        </a:rPr>
                        <a:t>Gikuyu (Kikuyu) 3,556 h; Kiswahili 2,909 h; Wanga (Luhya) 2,130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19,369 (17,271–41,908)</a:t>
                      </a:r>
                    </a:p>
                  </a:txBody>
                  <a:tcPr marL="54864" marR="54864" marT="27432" marB="27432">
                    <a:solidFill>
                      <a:srgbClr val="FFFFFF"/>
                    </a:solidFill>
                  </a:tcPr>
                </a:tc>
                <a:tc>
                  <a:txBody>
                    <a:bodyPr wrap="square"/>
                    <a:lstStyle/>
                    <a:p>
                      <a:pPr algn="r"/>
                      <a:r>
                        <a:rPr sz="1100" b="0">
                          <a:solidFill>
                            <a:srgbClr val="1F2A44"/>
                          </a:solidFill>
                          <a:latin typeface="Courier New"/>
                        </a:rPr>
                        <a:t>13,856 (8,162–29,268)</a:t>
                      </a:r>
                    </a:p>
                  </a:txBody>
                  <a:tcPr marL="54864" marR="54864" marT="27432" marB="27432">
                    <a:solidFill>
                      <a:srgbClr val="FFFFFF"/>
                    </a:solidFill>
                  </a:tcPr>
                </a:tc>
                <a:tc>
                  <a:txBody>
                    <a:bodyPr wrap="square"/>
                    <a:lstStyle/>
                    <a:p>
                      <a:pPr algn="r"/>
                      <a:r>
                        <a:rPr sz="1100" b="0">
                          <a:solidFill>
                            <a:srgbClr val="1F2A44"/>
                          </a:solidFill>
                          <a:latin typeface="Courier New"/>
                        </a:rPr>
                        <a:t>Gikuyu (Kikuyu) 2,598 h; Kiswahili 2,221 h; Wanga (Luhya) 1,418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03576"/>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 (18,951–19,017)</a:t>
                      </a:r>
                    </a:p>
                  </a:txBody>
                  <a:tcPr marL="54864" marR="54864" marT="27432" marB="27432">
                    <a:solidFill>
                      <a:srgbClr val="FFFFFF"/>
                    </a:solidFill>
                  </a:tcPr>
                </a:tc>
                <a:tc>
                  <a:txBody>
                    <a:bodyPr wrap="square"/>
                    <a:lstStyle/>
                    <a:p>
                      <a:pPr algn="r"/>
                      <a:r>
                        <a:rPr sz="1100" b="0">
                          <a:solidFill>
                            <a:srgbClr val="1F2A44"/>
                          </a:solidFill>
                          <a:latin typeface="Courier New"/>
                        </a:rPr>
                        <a:t>13,926 (13,454–14,416)</a:t>
                      </a:r>
                    </a:p>
                  </a:txBody>
                  <a:tcPr marL="54864" marR="54864" marT="27432" marB="27432">
                    <a:solidFill>
                      <a:srgbClr val="FFFFFF"/>
                    </a:solidFill>
                  </a:tcPr>
                </a:tc>
                <a:tc>
                  <a:txBody>
                    <a:bodyPr wrap="square"/>
                    <a:lstStyle/>
                    <a:p>
                      <a:pPr algn="r"/>
                      <a:r>
                        <a:rPr sz="1100" b="0">
                          <a:solidFill>
                            <a:srgbClr val="1F2A44"/>
                          </a:solidFill>
                          <a:latin typeface="Courier New"/>
                        </a:rPr>
                        <a:t>Gikuyu (Kikuyu) 2,471 h; Kiswahili 2,192 h; Ekegusii (Kisii) 1,966 h</a:t>
                      </a:r>
                    </a:p>
                  </a:txBody>
                  <a:tcPr marL="54864" marR="54864" marT="27432" marB="27432">
                    <a:solidFill>
                      <a:srgbClr val="FFFFFF"/>
                    </a:solidFill>
                  </a:tcPr>
                </a:tc>
              </a:tr>
              <a:tr h="44500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12,852 (12,676–13,027)</a:t>
                      </a:r>
                    </a:p>
                  </a:txBody>
                  <a:tcPr marL="54864" marR="54864" marT="27432" marB="27432">
                    <a:solidFill>
                      <a:srgbClr val="FFFFFF"/>
                    </a:solidFill>
                  </a:tcPr>
                </a:tc>
                <a:tc>
                  <a:txBody>
                    <a:bodyPr wrap="square"/>
                    <a:lstStyle/>
                    <a:p>
                      <a:pPr algn="r"/>
                      <a:r>
                        <a:rPr sz="1100" b="0">
                          <a:solidFill>
                            <a:srgbClr val="1F2A44"/>
                          </a:solidFill>
                          <a:latin typeface="Courier New"/>
                        </a:rPr>
                        <a:t>2,103 (2,036–2,168)</a:t>
                      </a:r>
                    </a:p>
                  </a:txBody>
                  <a:tcPr marL="54864" marR="54864" marT="27432" marB="27432">
                    <a:solidFill>
                      <a:srgbClr val="FFFFFF"/>
                    </a:solidFill>
                  </a:tcPr>
                </a:tc>
                <a:tc>
                  <a:txBody>
                    <a:bodyPr wrap="square"/>
                    <a:lstStyle/>
                    <a:p>
                      <a:pPr algn="r"/>
                      <a:r>
                        <a:rPr sz="1100" b="0">
                          <a:solidFill>
                            <a:srgbClr val="1F2A44"/>
                          </a:solidFill>
                          <a:latin typeface="Courier New"/>
                        </a:rPr>
                        <a:t>Kiswahili 391 h; Gikuyu (Kikuyu) 375 h; Kalenjin 277 h</a:t>
                      </a:r>
                    </a:p>
                  </a:txBody>
                  <a:tcPr marL="54864" marR="54864" marT="27432" marB="27432">
                    <a:solidFill>
                      <a:srgbClr val="FFFFFF"/>
                    </a:solidFill>
                  </a:tcPr>
                </a:tc>
              </a:tr>
              <a:tr h="445008">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5,979 (5,957–6,001)</a:t>
                      </a:r>
                    </a:p>
                  </a:txBody>
                  <a:tcPr marL="54864" marR="54864" marT="27432" marB="27432">
                    <a:solidFill>
                      <a:srgbClr val="FFFFFF"/>
                    </a:solidFill>
                  </a:tcPr>
                </a:tc>
                <a:tc>
                  <a:txBody>
                    <a:bodyPr wrap="square"/>
                    <a:lstStyle/>
                    <a:p>
                      <a:pPr algn="r"/>
                      <a:r>
                        <a:rPr sz="1100" b="0">
                          <a:solidFill>
                            <a:srgbClr val="1F2A44"/>
                          </a:solidFill>
                          <a:latin typeface="Courier New"/>
                        </a:rPr>
                        <a:t>4,701 (4,564–4,841)</a:t>
                      </a:r>
                    </a:p>
                  </a:txBody>
                  <a:tcPr marL="54864" marR="54864" marT="27432" marB="27432">
                    <a:solidFill>
                      <a:srgbClr val="FFFFFF"/>
                    </a:solidFill>
                  </a:tcPr>
                </a:tc>
                <a:tc>
                  <a:txBody>
                    <a:bodyPr wrap="square"/>
                    <a:lstStyle/>
                    <a:p>
                      <a:pPr algn="r"/>
                      <a:r>
                        <a:rPr sz="1100" b="0">
                          <a:solidFill>
                            <a:srgbClr val="1F2A44"/>
                          </a:solidFill>
                          <a:latin typeface="Courier New"/>
                        </a:rPr>
                        <a:t>Wanga (Luhya) 1,097 h; Gikuyu (Kikuyu) 1,051 h; Kiswahili 654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36,267</a:t>
                      </a:r>
                    </a:p>
                  </a:txBody>
                  <a:tcPr marL="54864" marR="54864" marT="27432" marB="27432">
                    <a:solidFill>
                      <a:srgbClr val="FFFFFF"/>
                    </a:solidFill>
                  </a:tcPr>
                </a:tc>
                <a:tc>
                  <a:txBody>
                    <a:bodyPr wrap="square"/>
                    <a:lstStyle/>
                    <a:p>
                      <a:pPr algn="r"/>
                      <a:r>
                        <a:rPr sz="1100" b="0">
                          <a:solidFill>
                            <a:srgbClr val="1F2A44"/>
                          </a:solidFill>
                          <a:latin typeface="Courier New"/>
                        </a:rPr>
                        <a:t>5,891 (5,072–6,870)</a:t>
                      </a:r>
                    </a:p>
                  </a:txBody>
                  <a:tcPr marL="54864" marR="54864" marT="27432" marB="27432">
                    <a:solidFill>
                      <a:srgbClr val="FFFFFF"/>
                    </a:solidFill>
                  </a:tcPr>
                </a:tc>
                <a:tc>
                  <a:txBody>
                    <a:bodyPr wrap="square"/>
                    <a:lstStyle/>
                    <a:p>
                      <a:pPr algn="r"/>
                      <a:r>
                        <a:rPr sz="1100" b="0">
                          <a:solidFill>
                            <a:srgbClr val="1F2A44"/>
                          </a:solidFill>
                          <a:latin typeface="Courier New"/>
                        </a:rPr>
                        <a:t>1,759 (1,404–2,209)</a:t>
                      </a:r>
                    </a:p>
                  </a:txBody>
                  <a:tcPr marL="54864" marR="54864" marT="27432" marB="27432">
                    <a:solidFill>
                      <a:srgbClr val="FFFFFF"/>
                    </a:solidFill>
                  </a:tcPr>
                </a:tc>
                <a:tc>
                  <a:txBody>
                    <a:bodyPr wrap="square"/>
                    <a:lstStyle/>
                    <a:p>
                      <a:pPr algn="r"/>
                      <a:r>
                        <a:rPr sz="1100" b="0">
                          <a:solidFill>
                            <a:srgbClr val="1F2A44"/>
                          </a:solidFill>
                          <a:latin typeface="Courier New"/>
                        </a:rPr>
                        <a:t>Kiswahili 392 h; Gikuyu (Kikuyu) 284 h; Kalenjin 160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5,727 (3,393–8,887)</a:t>
                      </a:r>
                    </a:p>
                  </a:txBody>
                  <a:tcPr marL="54864" marR="54864" marT="27432" marB="27432">
                    <a:solidFill>
                      <a:srgbClr val="FFFFFF"/>
                    </a:solidFill>
                  </a:tcPr>
                </a:tc>
                <a:tc>
                  <a:txBody>
                    <a:bodyPr wrap="square"/>
                    <a:lstStyle/>
                    <a:p>
                      <a:pPr algn="r"/>
                      <a:r>
                        <a:rPr sz="1100" b="0">
                          <a:solidFill>
                            <a:srgbClr val="1F2A44"/>
                          </a:solidFill>
                          <a:latin typeface="Courier New"/>
                        </a:rPr>
                        <a:t>1,512 (1,007–3,706)</a:t>
                      </a:r>
                    </a:p>
                  </a:txBody>
                  <a:tcPr marL="54864" marR="54864" marT="27432" marB="27432">
                    <a:solidFill>
                      <a:srgbClr val="FFFFFF"/>
                    </a:solidFill>
                  </a:tcPr>
                </a:tc>
                <a:tc>
                  <a:txBody>
                    <a:bodyPr wrap="square"/>
                    <a:lstStyle/>
                    <a:p>
                      <a:pPr algn="r"/>
                      <a:r>
                        <a:rPr sz="1100" b="0">
                          <a:solidFill>
                            <a:srgbClr val="1F2A44"/>
                          </a:solidFill>
                          <a:latin typeface="Courier New"/>
                        </a:rPr>
                        <a:t>Kiswahili 300 h; Gikuyu (Kikuyu) 249 h; Kalenjin 149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5,546 (2,898–10,210)</a:t>
                      </a:r>
                    </a:p>
                  </a:txBody>
                  <a:tcPr marL="54864" marR="54864" marT="27432" marB="27432">
                    <a:solidFill>
                      <a:srgbClr val="FFFFFF"/>
                    </a:solidFill>
                  </a:tcPr>
                </a:tc>
                <a:tc>
                  <a:txBody>
                    <a:bodyPr wrap="square"/>
                    <a:lstStyle/>
                    <a:p>
                      <a:pPr algn="r"/>
                      <a:r>
                        <a:rPr sz="1100" b="0">
                          <a:solidFill>
                            <a:srgbClr val="1F2A44"/>
                          </a:solidFill>
                          <a:latin typeface="Courier New"/>
                        </a:rPr>
                        <a:t>1,438 (968–3,703)</a:t>
                      </a:r>
                    </a:p>
                  </a:txBody>
                  <a:tcPr marL="54864" marR="54864" marT="27432" marB="27432">
                    <a:solidFill>
                      <a:srgbClr val="FFFFFF"/>
                    </a:solidFill>
                  </a:tcPr>
                </a:tc>
                <a:tc>
                  <a:txBody>
                    <a:bodyPr wrap="square"/>
                    <a:lstStyle/>
                    <a:p>
                      <a:pPr algn="r"/>
                      <a:r>
                        <a:rPr sz="1100" b="0">
                          <a:solidFill>
                            <a:srgbClr val="1F2A44"/>
                          </a:solidFill>
                          <a:latin typeface="Courier New"/>
                        </a:rPr>
                        <a:t>Kiswahili 275 h; Gikuyu (Kikuyu) 238 h; Kalenjin 145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Channel13</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part measured, part forecast</a:t>
                      </a:r>
                    </a:p>
                  </a:txBody>
                  <a:tcPr marL="54864" marR="54864" marT="27432" marB="27432">
                    <a:solidFill>
                      <a:srgbClr val="FFFFFF"/>
                    </a:solidFill>
                  </a:tcPr>
                </a:tc>
                <a:tc>
                  <a:txBody>
                    <a:bodyPr wrap="square"/>
                    <a:lstStyle/>
                    <a:p>
                      <a:pPr algn="r"/>
                      <a:r>
                        <a:rPr sz="1100" b="0">
                          <a:solidFill>
                            <a:srgbClr val="1F2A44"/>
                          </a:solidFill>
                          <a:latin typeface="Courier New"/>
                        </a:rPr>
                        <a:t>27,246</a:t>
                      </a:r>
                    </a:p>
                  </a:txBody>
                  <a:tcPr marL="54864" marR="54864" marT="27432" marB="27432">
                    <a:solidFill>
                      <a:srgbClr val="FFFFFF"/>
                    </a:solidFill>
                  </a:tcPr>
                </a:tc>
                <a:tc>
                  <a:txBody>
                    <a:bodyPr wrap="square"/>
                    <a:lstStyle/>
                    <a:p>
                      <a:pPr algn="r"/>
                      <a:r>
                        <a:rPr sz="1100" b="0">
                          <a:solidFill>
                            <a:srgbClr val="1F2A44"/>
                          </a:solidFill>
                          <a:latin typeface="Courier New"/>
                        </a:rPr>
                        <a:t>5,414 (4,810–16,009)</a:t>
                      </a:r>
                    </a:p>
                  </a:txBody>
                  <a:tcPr marL="54864" marR="54864" marT="27432" marB="27432">
                    <a:solidFill>
                      <a:srgbClr val="FFFFFF"/>
                    </a:solidFill>
                  </a:tcPr>
                </a:tc>
                <a:tc>
                  <a:txBody>
                    <a:bodyPr wrap="square"/>
                    <a:lstStyle/>
                    <a:p>
                      <a:pPr algn="r"/>
                      <a:r>
                        <a:rPr sz="1100" b="0">
                          <a:solidFill>
                            <a:srgbClr val="1F2A44"/>
                          </a:solidFill>
                          <a:latin typeface="Courier New"/>
                        </a:rPr>
                        <a:t>3,877 (2,034–10,368)</a:t>
                      </a:r>
                    </a:p>
                  </a:txBody>
                  <a:tcPr marL="54864" marR="54864" marT="27432" marB="27432">
                    <a:solidFill>
                      <a:srgbClr val="FFFFFF"/>
                    </a:solidFill>
                  </a:tcPr>
                </a:tc>
                <a:tc>
                  <a:txBody>
                    <a:bodyPr wrap="square"/>
                    <a:lstStyle/>
                    <a:p>
                      <a:pPr algn="r"/>
                      <a:r>
                        <a:rPr sz="1100" b="0">
                          <a:solidFill>
                            <a:srgbClr val="1F2A44"/>
                          </a:solidFill>
                          <a:latin typeface="Courier New"/>
                        </a:rPr>
                        <a:t>Kiswahili 832 h; Gikuyu (Kikuyu) 661 h; Ekegusii (Kisii) 340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99,547</a:t>
                      </a:r>
                    </a:p>
                  </a:txBody>
                  <a:tcPr marL="54864" marR="54864" marT="27432" marB="27432">
                    <a:solidFill>
                      <a:srgbClr val="FFFFFF"/>
                    </a:solidFill>
                  </a:tcPr>
                </a:tc>
                <a:tc>
                  <a:txBody>
                    <a:bodyPr wrap="square"/>
                    <a:lstStyle/>
                    <a:p>
                      <a:pPr algn="r"/>
                      <a:r>
                        <a:rPr sz="1100" b="0">
                          <a:solidFill>
                            <a:srgbClr val="1F2A44"/>
                          </a:solidFill>
                          <a:latin typeface="Courier New"/>
                        </a:rPr>
                        <a:t>5,369 (1,214–17,145)</a:t>
                      </a:r>
                    </a:p>
                  </a:txBody>
                  <a:tcPr marL="54864" marR="54864" marT="27432" marB="27432">
                    <a:solidFill>
                      <a:srgbClr val="FFFFFF"/>
                    </a:solidFill>
                  </a:tcPr>
                </a:tc>
                <a:tc>
                  <a:txBody>
                    <a:bodyPr wrap="square"/>
                    <a:lstStyle/>
                    <a:p>
                      <a:pPr algn="r"/>
                      <a:r>
                        <a:rPr sz="1100" b="0">
                          <a:solidFill>
                            <a:srgbClr val="1F2A44"/>
                          </a:solidFill>
                          <a:latin typeface="Courier New"/>
                        </a:rPr>
                        <a:t>1,287 (410–5,312)</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210 h; Kalenjin 137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96,648</a:t>
                      </a:r>
                    </a:p>
                  </a:txBody>
                  <a:tcPr marL="54864" marR="54864" marT="27432" marB="27432">
                    <a:solidFill>
                      <a:srgbClr val="FFFFFF"/>
                    </a:solidFill>
                  </a:tcPr>
                </a:tc>
                <a:tc>
                  <a:txBody>
                    <a:bodyPr wrap="square"/>
                    <a:lstStyle/>
                    <a:p>
                      <a:pPr algn="r"/>
                      <a:r>
                        <a:rPr sz="1100" b="0">
                          <a:solidFill>
                            <a:srgbClr val="1F2A44"/>
                          </a:solidFill>
                          <a:latin typeface="Courier New"/>
                        </a:rPr>
                        <a:t>5,313 (1,167–16,593)</a:t>
                      </a:r>
                    </a:p>
                  </a:txBody>
                  <a:tcPr marL="54864" marR="54864" marT="27432" marB="27432">
                    <a:solidFill>
                      <a:srgbClr val="FFFFFF"/>
                    </a:solidFill>
                  </a:tcPr>
                </a:tc>
                <a:tc>
                  <a:txBody>
                    <a:bodyPr wrap="square"/>
                    <a:lstStyle/>
                    <a:p>
                      <a:pPr algn="r"/>
                      <a:r>
                        <a:rPr sz="1100" b="0">
                          <a:solidFill>
                            <a:srgbClr val="1F2A44"/>
                          </a:solidFill>
                          <a:latin typeface="Courier New"/>
                        </a:rPr>
                        <a:t>1,264 (398–5,156)</a:t>
                      </a:r>
                    </a:p>
                  </a:txBody>
                  <a:tcPr marL="54864" marR="54864" marT="27432" marB="27432">
                    <a:solidFill>
                      <a:srgbClr val="FFFFFF"/>
                    </a:solidFill>
                  </a:tcPr>
                </a:tc>
                <a:tc>
                  <a:txBody>
                    <a:bodyPr wrap="square"/>
                    <a:lstStyle/>
                    <a:p>
                      <a:pPr algn="r"/>
                      <a:r>
                        <a:rPr sz="1100" b="0">
                          <a:solidFill>
                            <a:srgbClr val="1F2A44"/>
                          </a:solidFill>
                          <a:latin typeface="Courier New"/>
                        </a:rPr>
                        <a:t>Gikuyu (Kikuyu) 205 h; Kiswahili 201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96,641</a:t>
                      </a:r>
                    </a:p>
                  </a:txBody>
                  <a:tcPr marL="54864" marR="54864" marT="27432" marB="27432">
                    <a:solidFill>
                      <a:srgbClr val="FFFFFF"/>
                    </a:solidFill>
                  </a:tcPr>
                </a:tc>
                <a:tc>
                  <a:txBody>
                    <a:bodyPr wrap="square"/>
                    <a:lstStyle/>
                    <a:p>
                      <a:pPr algn="r"/>
                      <a:r>
                        <a:rPr sz="1100" b="0">
                          <a:solidFill>
                            <a:srgbClr val="1F2A44"/>
                          </a:solidFill>
                          <a:latin typeface="Courier New"/>
                        </a:rPr>
                        <a:t>5,299 (1,176–16,594)</a:t>
                      </a:r>
                    </a:p>
                  </a:txBody>
                  <a:tcPr marL="54864" marR="54864" marT="27432" marB="27432">
                    <a:solidFill>
                      <a:srgbClr val="FFFFFF"/>
                    </a:solidFill>
                  </a:tcPr>
                </a:tc>
                <a:tc>
                  <a:txBody>
                    <a:bodyPr wrap="square"/>
                    <a:lstStyle/>
                    <a:p>
                      <a:pPr algn="r"/>
                      <a:r>
                        <a:rPr sz="1100" b="0">
                          <a:solidFill>
                            <a:srgbClr val="1F2A44"/>
                          </a:solidFill>
                          <a:latin typeface="Courier New"/>
                        </a:rPr>
                        <a:t>1,276 (398–5,157)</a:t>
                      </a:r>
                    </a:p>
                  </a:txBody>
                  <a:tcPr marL="54864" marR="54864" marT="27432" marB="27432">
                    <a:solidFill>
                      <a:srgbClr val="FFFFFF"/>
                    </a:solidFill>
                  </a:tcPr>
                </a:tc>
                <a:tc>
                  <a:txBody>
                    <a:bodyPr wrap="square"/>
                    <a:lstStyle/>
                    <a:p>
                      <a:pPr algn="r"/>
                      <a:r>
                        <a:rPr sz="1100" b="0">
                          <a:solidFill>
                            <a:srgbClr val="1F2A44"/>
                          </a:solidFill>
                          <a:latin typeface="Courier New"/>
                        </a:rPr>
                        <a:t>Gikuyu (Kikuyu) 210 h; Kiswahili 204 h; Kalenjin 134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96,596</a:t>
                      </a:r>
                    </a:p>
                  </a:txBody>
                  <a:tcPr marL="54864" marR="54864" marT="27432" marB="27432">
                    <a:solidFill>
                      <a:srgbClr val="FFFFFF"/>
                    </a:solidFill>
                  </a:tcPr>
                </a:tc>
                <a:tc>
                  <a:txBody>
                    <a:bodyPr wrap="square"/>
                    <a:lstStyle/>
                    <a:p>
                      <a:pPr algn="r"/>
                      <a:r>
                        <a:rPr sz="1100" b="0">
                          <a:solidFill>
                            <a:srgbClr val="1F2A44"/>
                          </a:solidFill>
                          <a:latin typeface="Courier New"/>
                        </a:rPr>
                        <a:t>5,270 (1,171–16,599)</a:t>
                      </a:r>
                    </a:p>
                  </a:txBody>
                  <a:tcPr marL="54864" marR="54864" marT="27432" marB="27432">
                    <a:solidFill>
                      <a:srgbClr val="FFFFFF"/>
                    </a:solidFill>
                  </a:tcPr>
                </a:tc>
                <a:tc>
                  <a:txBody>
                    <a:bodyPr wrap="square"/>
                    <a:lstStyle/>
                    <a:p>
                      <a:pPr algn="r"/>
                      <a:r>
                        <a:rPr sz="1100" b="0">
                          <a:solidFill>
                            <a:srgbClr val="1F2A44"/>
                          </a:solidFill>
                          <a:latin typeface="Courier New"/>
                        </a:rPr>
                        <a:t>1,291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205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channel08</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96,382</a:t>
                      </a:r>
                    </a:p>
                  </a:txBody>
                  <a:tcPr marL="54864" marR="54864" marT="27432" marB="27432">
                    <a:solidFill>
                      <a:srgbClr val="FFFFFF"/>
                    </a:solidFill>
                  </a:tcPr>
                </a:tc>
                <a:tc>
                  <a:txBody>
                    <a:bodyPr wrap="square"/>
                    <a:lstStyle/>
                    <a:p>
                      <a:pPr algn="r"/>
                      <a:r>
                        <a:rPr sz="1100" b="0">
                          <a:solidFill>
                            <a:srgbClr val="1F2A44"/>
                          </a:solidFill>
                          <a:latin typeface="Courier New"/>
                        </a:rPr>
                        <a:t>5,262 (1,162–16,580)</a:t>
                      </a:r>
                    </a:p>
                  </a:txBody>
                  <a:tcPr marL="54864" marR="54864" marT="27432" marB="27432">
                    <a:solidFill>
                      <a:srgbClr val="FFFFFF"/>
                    </a:solidFill>
                  </a:tcPr>
                </a:tc>
                <a:tc>
                  <a:txBody>
                    <a:bodyPr wrap="square"/>
                    <a:lstStyle/>
                    <a:p>
                      <a:pPr algn="r"/>
                      <a:r>
                        <a:rPr sz="1100" b="0">
                          <a:solidFill>
                            <a:srgbClr val="1F2A44"/>
                          </a:solidFill>
                          <a:latin typeface="Courier New"/>
                        </a:rPr>
                        <a:t>1,281 (397–5,142)</a:t>
                      </a:r>
                    </a:p>
                  </a:txBody>
                  <a:tcPr marL="54864" marR="54864" marT="27432" marB="27432">
                    <a:solidFill>
                      <a:srgbClr val="FFFFFF"/>
                    </a:solidFill>
                  </a:tcPr>
                </a:tc>
                <a:tc>
                  <a:txBody>
                    <a:bodyPr wrap="square"/>
                    <a:lstStyle/>
                    <a:p>
                      <a:pPr algn="r"/>
                      <a:r>
                        <a:rPr sz="1100" b="0">
                          <a:solidFill>
                            <a:srgbClr val="1F2A44"/>
                          </a:solidFill>
                          <a:latin typeface="Courier New"/>
                        </a:rPr>
                        <a:t>Gikuyu (Kikuyu) 214 h; Kiswahili 204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Channel10</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96,271</a:t>
                      </a:r>
                    </a:p>
                  </a:txBody>
                  <a:tcPr marL="54864" marR="54864" marT="27432" marB="27432">
                    <a:solidFill>
                      <a:srgbClr val="FFFFFF"/>
                    </a:solidFill>
                  </a:tcPr>
                </a:tc>
                <a:tc>
                  <a:txBody>
                    <a:bodyPr wrap="square"/>
                    <a:lstStyle/>
                    <a:p>
                      <a:pPr algn="r"/>
                      <a:r>
                        <a:rPr sz="1100" b="0">
                          <a:solidFill>
                            <a:srgbClr val="1F2A44"/>
                          </a:solidFill>
                          <a:latin typeface="Courier New"/>
                        </a:rPr>
                        <a:t>5,260 (1,154–16,559)</a:t>
                      </a:r>
                    </a:p>
                  </a:txBody>
                  <a:tcPr marL="54864" marR="54864" marT="27432" marB="27432">
                    <a:solidFill>
                      <a:srgbClr val="FFFFFF"/>
                    </a:solidFill>
                  </a:tcPr>
                </a:tc>
                <a:tc>
                  <a:txBody>
                    <a:bodyPr wrap="square"/>
                    <a:lstStyle/>
                    <a:p>
                      <a:pPr algn="r"/>
                      <a:r>
                        <a:rPr sz="1100" b="0">
                          <a:solidFill>
                            <a:srgbClr val="1F2A44"/>
                          </a:solidFill>
                          <a:latin typeface="Courier New"/>
                        </a:rPr>
                        <a:t>1,247 (396–5,137)</a:t>
                      </a:r>
                    </a:p>
                  </a:txBody>
                  <a:tcPr marL="54864" marR="54864" marT="27432" marB="27432">
                    <a:solidFill>
                      <a:srgbClr val="FFFFFF"/>
                    </a:solidFill>
                  </a:tcPr>
                </a:tc>
                <a:tc>
                  <a:txBody>
                    <a:bodyPr wrap="square"/>
                    <a:lstStyle/>
                    <a:p>
                      <a:pPr algn="r"/>
                      <a:r>
                        <a:rPr sz="1100" b="0">
                          <a:solidFill>
                            <a:srgbClr val="1F2A44"/>
                          </a:solidFill>
                          <a:latin typeface="Courier New"/>
                        </a:rPr>
                        <a:t>Kiswahili 203 h; Gikuyu (Kikuyu) 202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96,610</a:t>
                      </a:r>
                    </a:p>
                  </a:txBody>
                  <a:tcPr marL="54864" marR="54864" marT="27432" marB="27432">
                    <a:solidFill>
                      <a:srgbClr val="FFFFFF"/>
                    </a:solidFill>
                  </a:tcPr>
                </a:tc>
                <a:tc>
                  <a:txBody>
                    <a:bodyPr wrap="square"/>
                    <a:lstStyle/>
                    <a:p>
                      <a:pPr algn="r"/>
                      <a:r>
                        <a:rPr sz="1100" b="0">
                          <a:solidFill>
                            <a:srgbClr val="1F2A44"/>
                          </a:solidFill>
                          <a:latin typeface="Courier New"/>
                        </a:rPr>
                        <a:t>5,248 (1,164–16,596)</a:t>
                      </a:r>
                    </a:p>
                  </a:txBody>
                  <a:tcPr marL="54864" marR="54864" marT="27432" marB="27432">
                    <a:solidFill>
                      <a:srgbClr val="FFFFFF"/>
                    </a:solidFill>
                  </a:tcPr>
                </a:tc>
                <a:tc>
                  <a:txBody>
                    <a:bodyPr wrap="square"/>
                    <a:lstStyle/>
                    <a:p>
                      <a:pPr algn="r"/>
                      <a:r>
                        <a:rPr sz="1100" b="0">
                          <a:solidFill>
                            <a:srgbClr val="1F2A44"/>
                          </a:solidFill>
                          <a:latin typeface="Courier New"/>
                        </a:rPr>
                        <a:t>1,292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204 h; Kalenjin 132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The strongest assets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LANGUAGES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leads whole-estate speech at 38,788.1 hours, with Gikuyu next at 32,002.9</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Seven languages carry forecast speech; the ranking is a model forecast, not a human-certified language inventory.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CORPUS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staged corpus holds 529.5 hours across 8 language folders; 421.4 are speech</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narrow, fully read sample is the place to calibrate the models, not a substitute for the estate-wide ranking.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STRONGEST ASSETS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Gikuyu and Ekegusii lead speech; news scripts add a large text asset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Forecast speech hours: Kiswahili 38,788.1, Gikuyu 32,002.9, Ekegusii 16,729.3, Kalenjin 16,171.4; further languages and intervals are in the tables.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161,898.5 speech hours and the file shares 27,735.3.</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News archive: 248841 live scripts from 13 stations; characters of script text, in millions: 189.3m. The language shown is the station's broadcast language.</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in 13 languages, a separate inventory, not added to the others.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Record/channel02 · 2025</a:t>
                      </a:r>
                    </a:p>
                  </a:txBody>
                  <a:tcPr marL="54864" marR="54864" marT="27432" marB="27432">
                    <a:solidFill>
                      <a:srgbClr val="FFFFFF"/>
                    </a:solidFill>
                  </a:tcPr>
                </a:tc>
                <a:tc>
                  <a:txBody>
                    <a:bodyPr wrap="square"/>
                    <a:lstStyle/>
                    <a:p>
                      <a:pPr algn="r"/>
                      <a:r>
                        <a:rPr sz="1100" b="0">
                          <a:solidFill>
                            <a:srgbClr val="1F2A44"/>
                          </a:solidFill>
                          <a:latin typeface="Courier New"/>
                        </a:rPr>
                        <a:t>192,634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30,545 (4,539–132,574)</a:t>
                      </a:r>
                    </a:p>
                  </a:txBody>
                  <a:tcPr marL="54864" marR="54864" marT="27432" marB="27432">
                    <a:solidFill>
                      <a:srgbClr val="FFFFFF"/>
                    </a:solidFill>
                  </a:tcPr>
                </a:tc>
                <a:tc>
                  <a:txBody>
                    <a:bodyPr wrap="square"/>
                    <a:lstStyle/>
                    <a:p>
                      <a:pPr algn="r"/>
                      <a:r>
                        <a:rPr sz="1100" b="0">
                          <a:solidFill>
                            <a:srgbClr val="1F2A44"/>
                          </a:solidFill>
                          <a:latin typeface="Courier New"/>
                        </a:rPr>
                        <a:t>5,390 (1,795–37,163)</a:t>
                      </a:r>
                    </a:p>
                  </a:txBody>
                  <a:tcPr marL="54864" marR="54864" marT="27432" marB="27432">
                    <a:solidFill>
                      <a:srgbClr val="FFFFFF"/>
                    </a:solidFill>
                  </a:tcPr>
                </a:tc>
                <a:tc>
                  <a:txBody>
                    <a:bodyPr wrap="square"/>
                    <a:lstStyle/>
                    <a:p>
                      <a:pPr algn="r"/>
                      <a:r>
                        <a:rPr sz="1100" b="0">
                          <a:solidFill>
                            <a:srgbClr val="1F2A44"/>
                          </a:solidFill>
                          <a:latin typeface="Courier New"/>
                        </a:rPr>
                        <a:t>Kiswahili 900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Record/channel01 · 2025</a:t>
                      </a:r>
                    </a:p>
                  </a:txBody>
                  <a:tcPr marL="54864" marR="54864" marT="27432" marB="27432">
                    <a:solidFill>
                      <a:srgbClr val="FFFFFF"/>
                    </a:solidFill>
                  </a:tcPr>
                </a:tc>
                <a:tc>
                  <a:txBody>
                    <a:bodyPr wrap="square"/>
                    <a:lstStyle/>
                    <a:p>
                      <a:pPr algn="r"/>
                      <a:r>
                        <a:rPr sz="1100" b="0">
                          <a:solidFill>
                            <a:srgbClr val="1F2A44"/>
                          </a:solidFill>
                          <a:latin typeface="Courier New"/>
                        </a:rPr>
                        <a:t>150,206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23,841 (3,543–103,478)</a:t>
                      </a:r>
                    </a:p>
                  </a:txBody>
                  <a:tcPr marL="54864" marR="54864" marT="27432" marB="27432">
                    <a:solidFill>
                      <a:srgbClr val="FFFFFF"/>
                    </a:solidFill>
                  </a:tcPr>
                </a:tc>
                <a:tc>
                  <a:txBody>
                    <a:bodyPr wrap="square"/>
                    <a:lstStyle/>
                    <a:p>
                      <a:pPr algn="r"/>
                      <a:r>
                        <a:rPr sz="1100" b="0">
                          <a:solidFill>
                            <a:srgbClr val="1F2A44"/>
                          </a:solidFill>
                          <a:latin typeface="Courier New"/>
                        </a:rPr>
                        <a:t>4,207 (1,740–29,007)</a:t>
                      </a:r>
                    </a:p>
                  </a:txBody>
                  <a:tcPr marL="54864" marR="54864" marT="27432" marB="27432">
                    <a:solidFill>
                      <a:srgbClr val="FFFFFF"/>
                    </a:solidFill>
                  </a:tcPr>
                </a:tc>
                <a:tc>
                  <a:txBody>
                    <a:bodyPr wrap="square"/>
                    <a:lstStyle/>
                    <a:p>
                      <a:pPr algn="r"/>
                      <a:r>
                        <a:rPr sz="1100" b="0">
                          <a:solidFill>
                            <a:srgbClr val="1F2A44"/>
                          </a:solidFill>
                          <a:latin typeface="Courier New"/>
                        </a:rPr>
                        <a:t>Kiswahili 703 h</a:t>
                      </a:r>
                    </a:p>
                  </a:txBody>
                  <a:tcPr marL="54864" marR="54864" marT="27432" marB="27432">
                    <a:solidFill>
                      <a:srgbClr val="FFFFFF"/>
                    </a:solidFill>
                  </a:tcPr>
                </a:tc>
              </a:tr>
              <a:tr h="44500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read and judged</a:t>
                      </a:r>
                    </a:p>
                  </a:txBody>
                  <a:tcPr marL="54864" marR="54864" marT="27432" marB="27432">
                    <a:solidFill>
                      <a:srgbClr val="FFFFFF"/>
                    </a:solidFill>
                  </a:tcPr>
                </a:tc>
                <a:tc>
                  <a:txBody>
                    <a:bodyPr wrap="square"/>
                    <a:lstStyle/>
                    <a:p>
                      <a:pPr algn="r"/>
                      <a:r>
                        <a:rPr sz="1100" b="0">
                          <a:solidFill>
                            <a:srgbClr val="1F2A44"/>
                          </a:solidFill>
                          <a:latin typeface="Courier New"/>
                        </a:rPr>
                        <a:t>18,218 (18,218–18,218)</a:t>
                      </a:r>
                    </a:p>
                  </a:txBody>
                  <a:tcPr marL="54864" marR="54864" marT="27432" marB="27432">
                    <a:solidFill>
                      <a:srgbClr val="FFFFFF"/>
                    </a:solidFill>
                  </a:tcPr>
                </a:tc>
                <a:tc>
                  <a:txBody>
                    <a:bodyPr wrap="square"/>
                    <a:lstStyle/>
                    <a:p>
                      <a:pPr algn="r"/>
                      <a:r>
                        <a:rPr sz="1100" b="0">
                          <a:solidFill>
                            <a:srgbClr val="1F2A44"/>
                          </a:solidFill>
                          <a:latin typeface="Courier New"/>
                        </a:rPr>
                        <a:t>13,151 (12,692–13,636)</a:t>
                      </a:r>
                    </a:p>
                  </a:txBody>
                  <a:tcPr marL="54864" marR="54864" marT="27432" marB="27432">
                    <a:solidFill>
                      <a:srgbClr val="FFFFFF"/>
                    </a:solidFill>
                  </a:tcPr>
                </a:tc>
                <a:tc>
                  <a:txBody>
                    <a:bodyPr wrap="square"/>
                    <a:lstStyle/>
                    <a:p>
                      <a:pPr algn="r"/>
                      <a:r>
                        <a:rPr sz="1100" b="0">
                          <a:solidFill>
                            <a:srgbClr val="1F2A44"/>
                          </a:solidFill>
                          <a:latin typeface="Courier New"/>
                        </a:rPr>
                        <a:t>Gikuyu (Kikuyu) 2,353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Record/channel16 · 2025</a:t>
                      </a:r>
                    </a:p>
                  </a:txBody>
                  <a:tcPr marL="54864" marR="54864" marT="27432" marB="27432">
                    <a:solidFill>
                      <a:srgbClr val="FFFFFF"/>
                    </a:solidFill>
                  </a:tcPr>
                </a:tc>
                <a:tc>
                  <a:txBody>
                    <a:bodyPr wrap="square"/>
                    <a:lstStyle/>
                    <a:p>
                      <a:pPr algn="r"/>
                      <a:r>
                        <a:rPr sz="1100" b="0">
                          <a:solidFill>
                            <a:srgbClr val="1F2A44"/>
                          </a:solidFill>
                          <a:latin typeface="Courier New"/>
                        </a:rPr>
                        <a:t>98,705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15,605 (2,319–67,731)</a:t>
                      </a:r>
                    </a:p>
                  </a:txBody>
                  <a:tcPr marL="54864" marR="54864" marT="27432" marB="27432">
                    <a:solidFill>
                      <a:srgbClr val="FFFFFF"/>
                    </a:solidFill>
                  </a:tcPr>
                </a:tc>
                <a:tc>
                  <a:txBody>
                    <a:bodyPr wrap="square"/>
                    <a:lstStyle/>
                    <a:p>
                      <a:pPr algn="r"/>
                      <a:r>
                        <a:rPr sz="1100" b="0">
                          <a:solidFill>
                            <a:srgbClr val="1F2A44"/>
                          </a:solidFill>
                          <a:latin typeface="Courier New"/>
                        </a:rPr>
                        <a:t>2,840 (782–18,986)</a:t>
                      </a:r>
                    </a:p>
                  </a:txBody>
                  <a:tcPr marL="54864" marR="54864" marT="27432" marB="27432">
                    <a:solidFill>
                      <a:srgbClr val="FFFFFF"/>
                    </a:solidFill>
                  </a:tcPr>
                </a:tc>
                <a:tc>
                  <a:txBody>
                    <a:bodyPr wrap="square"/>
                    <a:lstStyle/>
                    <a:p>
                      <a:pPr algn="r"/>
                      <a:r>
                        <a:rPr sz="1100" b="0">
                          <a:solidFill>
                            <a:srgbClr val="1F2A44"/>
                          </a:solidFill>
                          <a:latin typeface="Courier New"/>
                        </a:rPr>
                        <a:t>Kiswahili 460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imported/INOORO/BACKUP/D · audio</a:t>
                      </a:r>
                    </a:p>
                  </a:txBody>
                  <a:tcPr marL="54864" marR="54864" marT="27432" marB="27432">
                    <a:solidFill>
                      <a:srgbClr val="FFFFFF"/>
                    </a:solidFill>
                  </a:tcPr>
                </a:tc>
                <a:tc>
                  <a:txBody>
                    <a:bodyPr wrap="square"/>
                    <a:lstStyle/>
                    <a:p>
                      <a:pPr algn="r"/>
                      <a:r>
                        <a:rPr sz="1100" b="0">
                          <a:solidFill>
                            <a:srgbClr val="1F2A44"/>
                          </a:solidFill>
                          <a:latin typeface="Courier New"/>
                        </a:rPr>
                        <a:t>191,240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13,633 (10,547–68,621)</a:t>
                      </a:r>
                    </a:p>
                  </a:txBody>
                  <a:tcPr marL="54864" marR="54864" marT="27432" marB="27432">
                    <a:solidFill>
                      <a:srgbClr val="FFFFFF"/>
                    </a:solidFill>
                  </a:tcPr>
                </a:tc>
                <a:tc>
                  <a:txBody>
                    <a:bodyPr wrap="square"/>
                    <a:lstStyle/>
                    <a:p>
                      <a:pPr algn="r"/>
                      <a:r>
                        <a:rPr sz="1100" b="0">
                          <a:solidFill>
                            <a:srgbClr val="1F2A44"/>
                          </a:solidFill>
                          <a:latin typeface="Courier New"/>
                        </a:rPr>
                        <a:t>9,845 (635–48,744)</a:t>
                      </a:r>
                    </a:p>
                  </a:txBody>
                  <a:tcPr marL="54864" marR="54864" marT="27432" marB="27432">
                    <a:solidFill>
                      <a:srgbClr val="FFFFFF"/>
                    </a:solidFill>
                  </a:tcPr>
                </a:tc>
                <a:tc>
                  <a:txBody>
                    <a:bodyPr wrap="square"/>
                    <a:lstStyle/>
                    <a:p>
                      <a:pPr algn="r"/>
                      <a:r>
                        <a:rPr sz="1100" b="0">
                          <a:solidFill>
                            <a:srgbClr val="1F2A44"/>
                          </a:solidFill>
                          <a:latin typeface="Courier New"/>
                        </a:rPr>
                        <a:t>Gikuyu (Kikuyu) 1,762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Record/Channel15 · 2025</a:t>
                      </a:r>
                    </a:p>
                  </a:txBody>
                  <a:tcPr marL="54864" marR="54864" marT="27432" marB="27432">
                    <a:solidFill>
                      <a:srgbClr val="FFFFFF"/>
                    </a:solidFill>
                  </a:tcPr>
                </a:tc>
                <a:tc>
                  <a:txBody>
                    <a:bodyPr wrap="square"/>
                    <a:lstStyle/>
                    <a:p>
                      <a:pPr algn="r"/>
                      <a:r>
                        <a:rPr sz="1100" b="0">
                          <a:solidFill>
                            <a:srgbClr val="1F2A44"/>
                          </a:solidFill>
                          <a:latin typeface="Courier New"/>
                        </a:rPr>
                        <a:t>192,397</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10,300 (1,258–36,742)</a:t>
                      </a:r>
                    </a:p>
                  </a:txBody>
                  <a:tcPr marL="54864" marR="54864" marT="27432" marB="27432">
                    <a:solidFill>
                      <a:srgbClr val="FFFFFF"/>
                    </a:solidFill>
                  </a:tcPr>
                </a:tc>
                <a:tc>
                  <a:txBody>
                    <a:bodyPr wrap="square"/>
                    <a:lstStyle/>
                    <a:p>
                      <a:pPr algn="r"/>
                      <a:r>
                        <a:rPr sz="1100" b="0">
                          <a:solidFill>
                            <a:srgbClr val="1F2A44"/>
                          </a:solidFill>
                          <a:latin typeface="Courier New"/>
                        </a:rPr>
                        <a:t>2,206 (773–10,300)</a:t>
                      </a:r>
                    </a:p>
                  </a:txBody>
                  <a:tcPr marL="54864" marR="54864" marT="27432" marB="27432">
                    <a:solidFill>
                      <a:srgbClr val="FFFFFF"/>
                    </a:solidFill>
                  </a:tcPr>
                </a:tc>
                <a:tc>
                  <a:txBody>
                    <a:bodyPr wrap="square"/>
                    <a:lstStyle/>
                    <a:p>
                      <a:pPr algn="r"/>
                      <a:r>
                        <a:rPr sz="1100" b="0">
                          <a:solidFill>
                            <a:srgbClr val="1F2A44"/>
                          </a:solidFill>
                          <a:latin typeface="Courier New"/>
                        </a:rPr>
                        <a:t>Kiswahili 407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Record/channel03 · 2025</a:t>
                      </a:r>
                    </a:p>
                  </a:txBody>
                  <a:tcPr marL="54864" marR="54864" marT="27432" marB="27432">
                    <a:solidFill>
                      <a:srgbClr val="FFFFFF"/>
                    </a:solidFill>
                  </a:tcPr>
                </a:tc>
                <a:tc>
                  <a:txBody>
                    <a:bodyPr wrap="square"/>
                    <a:lstStyle/>
                    <a:p>
                      <a:pPr algn="r"/>
                      <a:r>
                        <a:rPr sz="1100" b="0">
                          <a:solidFill>
                            <a:srgbClr val="1F2A44"/>
                          </a:solidFill>
                          <a:latin typeface="Courier New"/>
                        </a:rPr>
                        <a:t>192,721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10,234 (1,250–36,507)</a:t>
                      </a:r>
                    </a:p>
                  </a:txBody>
                  <a:tcPr marL="54864" marR="54864" marT="27432" marB="27432">
                    <a:solidFill>
                      <a:srgbClr val="FFFFFF"/>
                    </a:solidFill>
                  </a:tcPr>
                </a:tc>
                <a:tc>
                  <a:txBody>
                    <a:bodyPr wrap="square"/>
                    <a:lstStyle/>
                    <a:p>
                      <a:pPr algn="r"/>
                      <a:r>
                        <a:rPr sz="1100" b="0">
                          <a:solidFill>
                            <a:srgbClr val="1F2A44"/>
                          </a:solidFill>
                          <a:latin typeface="Courier New"/>
                        </a:rPr>
                        <a:t>2,240 (768–10,234)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Record/Channel11 · 2025</a:t>
                      </a:r>
                    </a:p>
                  </a:txBody>
                  <a:tcPr marL="54864" marR="54864" marT="27432" marB="27432">
                    <a:solidFill>
                      <a:srgbClr val="FFFFFF"/>
                    </a:solidFill>
                  </a:tcPr>
                </a:tc>
                <a:tc>
                  <a:txBody>
                    <a:bodyPr wrap="square"/>
                    <a:lstStyle/>
                    <a:p>
                      <a:pPr algn="r"/>
                      <a:r>
                        <a:rPr sz="1100" b="0">
                          <a:solidFill>
                            <a:srgbClr val="1F2A44"/>
                          </a:solidFill>
                          <a:latin typeface="Courier New"/>
                        </a:rPr>
                        <a:t>192,243</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(1,249–36,474)</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376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Record/Channel10 · 2025</a:t>
                      </a:r>
                    </a:p>
                  </a:txBody>
                  <a:tcPr marL="54864" marR="54864" marT="27432" marB="27432">
                    <a:solidFill>
                      <a:srgbClr val="FFFFFF"/>
                    </a:solidFill>
                  </a:tcPr>
                </a:tc>
                <a:tc>
                  <a:txBody>
                    <a:bodyPr wrap="square"/>
                    <a:lstStyle/>
                    <a:p>
                      <a:pPr algn="r"/>
                      <a:r>
                        <a:rPr sz="1100" b="0">
                          <a:solidFill>
                            <a:srgbClr val="1F2A44"/>
                          </a:solidFill>
                          <a:latin typeface="Courier New"/>
                        </a:rPr>
                        <a:t>192,385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(1,249–36,472)</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670048"/>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Record/channel04 · 2025</a:t>
                      </a:r>
                    </a:p>
                  </a:txBody>
                  <a:tcPr marL="54864" marR="54864" marT="27432" marB="27432">
                    <a:solidFill>
                      <a:srgbClr val="FFFFFF"/>
                    </a:solidFill>
                  </a:tcPr>
                </a:tc>
                <a:tc>
                  <a:txBody>
                    <a:bodyPr wrap="square"/>
                    <a:lstStyle/>
                    <a:p>
                      <a:pPr algn="r"/>
                      <a:r>
                        <a:rPr sz="1100" b="0">
                          <a:solidFill>
                            <a:srgbClr val="1F2A44"/>
                          </a:solidFill>
                          <a:latin typeface="Courier New"/>
                        </a:rPr>
                        <a:t>192,414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10,223 (1,249–36,470)</a:t>
                      </a:r>
                    </a:p>
                  </a:txBody>
                  <a:tcPr marL="54864" marR="54864" marT="27432" marB="27432">
                    <a:solidFill>
                      <a:srgbClr val="FFFFFF"/>
                    </a:solidFill>
                  </a:tcPr>
                </a:tc>
                <a:tc>
                  <a:txBody>
                    <a:bodyPr wrap="square"/>
                    <a:lstStyle/>
                    <a:p>
                      <a:pPr algn="r"/>
                      <a:r>
                        <a:rPr sz="1100" b="0">
                          <a:solidFill>
                            <a:srgbClr val="1F2A44"/>
                          </a:solidFill>
                          <a:latin typeface="Courier New"/>
                        </a:rPr>
                        <a:t>2,162 (768–10,223)</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Record/Channel12 · 2025</a:t>
                      </a:r>
                    </a:p>
                  </a:txBody>
                  <a:tcPr marL="54864" marR="54864" marT="27432" marB="27432">
                    <a:solidFill>
                      <a:srgbClr val="FFFFFF"/>
                    </a:solidFill>
                  </a:tcPr>
                </a:tc>
                <a:tc>
                  <a:txBody>
                    <a:bodyPr wrap="square"/>
                    <a:lstStyle/>
                    <a:p>
                      <a:pPr algn="r"/>
                      <a:r>
                        <a:rPr sz="1100" b="0">
                          <a:solidFill>
                            <a:srgbClr val="1F2A44"/>
                          </a:solidFill>
                          <a:latin typeface="Courier New"/>
                        </a:rPr>
                        <a:t>192,220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10,215 (1,248–36,441)</a:t>
                      </a:r>
                    </a:p>
                  </a:txBody>
                  <a:tcPr marL="54864" marR="54864" marT="27432" marB="27432">
                    <a:solidFill>
                      <a:srgbClr val="FFFFFF"/>
                    </a:solidFill>
                  </a:tcPr>
                </a:tc>
                <a:tc>
                  <a:txBody>
                    <a:bodyPr wrap="square"/>
                    <a:lstStyle/>
                    <a:p>
                      <a:pPr algn="r"/>
                      <a:r>
                        <a:rPr sz="1100" b="0">
                          <a:solidFill>
                            <a:srgbClr val="1F2A44"/>
                          </a:solidFill>
                          <a:latin typeface="Courier New"/>
                        </a:rPr>
                        <a:t>2,160 (742–10,215)</a:t>
                      </a:r>
                    </a:p>
                  </a:txBody>
                  <a:tcPr marL="54864" marR="54864" marT="27432" marB="27432">
                    <a:solidFill>
                      <a:srgbClr val="FFFFFF"/>
                    </a:solidFill>
                  </a:tcPr>
                </a:tc>
                <a:tc>
                  <a:txBody>
                    <a:bodyPr wrap="square"/>
                    <a:lstStyle/>
                    <a:p>
                      <a:pPr algn="r"/>
                      <a:r>
                        <a:rPr sz="1100" b="0">
                          <a:solidFill>
                            <a:srgbClr val="1F2A44"/>
                          </a:solidFill>
                          <a:latin typeface="Courier New"/>
                        </a:rPr>
                        <a:t>Kiswahili 402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Record/Channel14 · 2025</a:t>
                      </a:r>
                    </a:p>
                  </a:txBody>
                  <a:tcPr marL="54864" marR="54864" marT="27432" marB="27432">
                    <a:solidFill>
                      <a:srgbClr val="FFFFFF"/>
                    </a:solidFill>
                  </a:tcPr>
                </a:tc>
                <a:tc>
                  <a:txBody>
                    <a:bodyPr wrap="square"/>
                    <a:lstStyle/>
                    <a:p>
                      <a:pPr algn="r"/>
                      <a:r>
                        <a:rPr sz="1100" b="0">
                          <a:solidFill>
                            <a:srgbClr val="1F2A44"/>
                          </a:solidFill>
                          <a:latin typeface="Courier New"/>
                        </a:rPr>
                        <a:t>192,311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10,212 (1,247–36,429)</a:t>
                      </a:r>
                    </a:p>
                  </a:txBody>
                  <a:tcPr marL="54864" marR="54864" marT="27432" marB="27432">
                    <a:solidFill>
                      <a:srgbClr val="FFFFFF"/>
                    </a:solidFill>
                  </a:tcPr>
                </a:tc>
                <a:tc>
                  <a:txBody>
                    <a:bodyPr wrap="square"/>
                    <a:lstStyle/>
                    <a:p>
                      <a:pPr algn="r"/>
                      <a:r>
                        <a:rPr sz="1100" b="0">
                          <a:solidFill>
                            <a:srgbClr val="1F2A44"/>
                          </a:solidFill>
                          <a:latin typeface="Courier New"/>
                        </a:rPr>
                        <a:t>2,187 (767–10,212)</a:t>
                      </a:r>
                    </a:p>
                  </a:txBody>
                  <a:tcPr marL="54864" marR="54864" marT="27432" marB="27432">
                    <a:solidFill>
                      <a:srgbClr val="FFFFFF"/>
                    </a:solidFill>
                  </a:tcPr>
                </a:tc>
                <a:tc>
                  <a:txBody>
                    <a:bodyPr wrap="square"/>
                    <a:lstStyle/>
                    <a:p>
                      <a:pPr algn="r"/>
                      <a:r>
                        <a:rPr sz="1100" b="0">
                          <a:solidFill>
                            <a:srgbClr val="1F2A44"/>
                          </a:solidFill>
                          <a:latin typeface="Courier New"/>
                        </a:rPr>
                        <a:t>Kiswahili 403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Record/Channel09 · 2025</a:t>
                      </a:r>
                    </a:p>
                  </a:txBody>
                  <a:tcPr marL="54864" marR="54864" marT="27432" marB="27432">
                    <a:solidFill>
                      <a:srgbClr val="FFFFFF"/>
                    </a:solidFill>
                  </a:tcPr>
                </a:tc>
                <a:tc>
                  <a:txBody>
                    <a:bodyPr wrap="square"/>
                    <a:lstStyle/>
                    <a:p>
                      <a:pPr algn="r"/>
                      <a:r>
                        <a:rPr sz="1100" b="0">
                          <a:solidFill>
                            <a:srgbClr val="1F2A44"/>
                          </a:solidFill>
                          <a:latin typeface="Courier New"/>
                        </a:rPr>
                        <a:t>191,556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10,172 (1,242–36,285)</a:t>
                      </a:r>
                    </a:p>
                  </a:txBody>
                  <a:tcPr marL="54864" marR="54864" marT="27432" marB="27432">
                    <a:solidFill>
                      <a:srgbClr val="FFFFFF"/>
                    </a:solidFill>
                  </a:tcPr>
                </a:tc>
                <a:tc>
                  <a:txBody>
                    <a:bodyPr wrap="square"/>
                    <a:lstStyle/>
                    <a:p>
                      <a:pPr algn="r"/>
                      <a:r>
                        <a:rPr sz="1100" b="0">
                          <a:solidFill>
                            <a:srgbClr val="1F2A44"/>
                          </a:solidFill>
                          <a:latin typeface="Courier New"/>
                        </a:rPr>
                        <a:t>2,151 (764–10,172)</a:t>
                      </a:r>
                    </a:p>
                  </a:txBody>
                  <a:tcPr marL="54864" marR="54864" marT="27432" marB="27432">
                    <a:solidFill>
                      <a:srgbClr val="FFFFFF"/>
                    </a:solidFill>
                  </a:tcPr>
                </a:tc>
                <a:tc>
                  <a:txBody>
                    <a:bodyPr wrap="square"/>
                    <a:lstStyle/>
                    <a:p>
                      <a:pPr algn="r"/>
                      <a:r>
                        <a:rPr sz="1100" b="0">
                          <a:solidFill>
                            <a:srgbClr val="1F2A44"/>
                          </a:solidFill>
                          <a:latin typeface="Courier New"/>
                        </a:rPr>
                        <a:t>Kiswahili 400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Record/channel05 · 2025</a:t>
                      </a:r>
                    </a:p>
                  </a:txBody>
                  <a:tcPr marL="54864" marR="54864" marT="27432" marB="27432">
                    <a:solidFill>
                      <a:srgbClr val="FFFFFF"/>
                    </a:solidFill>
                  </a:tcPr>
                </a:tc>
                <a:tc>
                  <a:txBody>
                    <a:bodyPr wrap="square"/>
                    <a:lstStyle/>
                    <a:p>
                      <a:pPr algn="r"/>
                      <a:r>
                        <a:rPr sz="1100" b="0">
                          <a:solidFill>
                            <a:srgbClr val="1F2A44"/>
                          </a:solidFill>
                          <a:latin typeface="Courier New"/>
                        </a:rPr>
                        <a:t>182,000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9,661 (1,180–34,465)</a:t>
                      </a:r>
                    </a:p>
                  </a:txBody>
                  <a:tcPr marL="54864" marR="54864" marT="27432" marB="27432">
                    <a:solidFill>
                      <a:srgbClr val="FFFFFF"/>
                    </a:solidFill>
                  </a:tcPr>
                </a:tc>
                <a:tc>
                  <a:txBody>
                    <a:bodyPr wrap="square"/>
                    <a:lstStyle/>
                    <a:p>
                      <a:pPr algn="r"/>
                      <a:r>
                        <a:rPr sz="1100" b="0">
                          <a:solidFill>
                            <a:srgbClr val="1F2A44"/>
                          </a:solidFill>
                          <a:latin typeface="Courier New"/>
                        </a:rPr>
                        <a:t>2,043 (725–9,661)</a:t>
                      </a:r>
                    </a:p>
                  </a:txBody>
                  <a:tcPr marL="54864" marR="54864" marT="27432" marB="27432">
                    <a:solidFill>
                      <a:srgbClr val="FFFFFF"/>
                    </a:solidFill>
                  </a:tcPr>
                </a:tc>
                <a:tc>
                  <a:txBody>
                    <a:bodyPr wrap="square"/>
                    <a:lstStyle/>
                    <a:p>
                      <a:pPr algn="r"/>
                      <a:r>
                        <a:rPr sz="1100" b="0">
                          <a:solidFill>
                            <a:srgbClr val="1F2A44"/>
                          </a:solidFill>
                          <a:latin typeface="Courier New"/>
                        </a:rPr>
                        <a:t>Kiswahili 382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225040"/>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Record/Channel13 · 2025 · video</a:t>
                      </a:r>
                    </a:p>
                  </a:txBody>
                  <a:tcPr marL="54864" marR="54864" marT="27432" marB="27432">
                    <a:solidFill>
                      <a:srgbClr val="FFFFFF"/>
                    </a:solidFill>
                  </a:tcPr>
                </a:tc>
                <a:tc>
                  <a:txBody>
                    <a:bodyPr wrap="square"/>
                    <a:lstStyle/>
                    <a:p>
                      <a:pPr algn="r"/>
                      <a:r>
                        <a:rPr sz="1100" b="0">
                          <a:solidFill>
                            <a:srgbClr val="1F2A44"/>
                          </a:solidFill>
                          <a:latin typeface="Courier New"/>
                        </a:rPr>
                        <a:t>174,070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9,239 (1,129–32,960)</a:t>
                      </a:r>
                    </a:p>
                  </a:txBody>
                  <a:tcPr marL="54864" marR="54864" marT="27432" marB="27432">
                    <a:solidFill>
                      <a:srgbClr val="FFFFFF"/>
                    </a:solidFill>
                  </a:tcPr>
                </a:tc>
                <a:tc>
                  <a:txBody>
                    <a:bodyPr wrap="square"/>
                    <a:lstStyle/>
                    <a:p>
                      <a:pPr algn="r"/>
                      <a:r>
                        <a:rPr sz="1100" b="0">
                          <a:solidFill>
                            <a:srgbClr val="1F2A44"/>
                          </a:solidFill>
                          <a:latin typeface="Courier New"/>
                        </a:rPr>
                        <a:t>1,979 (694–9,239)</a:t>
                      </a:r>
                    </a:p>
                  </a:txBody>
                  <a:tcPr marL="54864" marR="54864" marT="27432" marB="27432">
                    <a:solidFill>
                      <a:srgbClr val="FFFFFF"/>
                    </a:solidFill>
                  </a:tcPr>
                </a:tc>
                <a:tc>
                  <a:txBody>
                    <a:bodyPr wrap="square"/>
                    <a:lstStyle/>
                    <a:p>
                      <a:pPr algn="r"/>
                      <a:r>
                        <a:rPr sz="1100" b="0">
                          <a:solidFill>
                            <a:srgbClr val="1F2A44"/>
                          </a:solidFill>
                          <a:latin typeface="Courier New"/>
                        </a:rPr>
                        <a:t>Kiswahili 365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Record/channel06 · 2025</a:t>
                      </a:r>
                    </a:p>
                  </a:txBody>
                  <a:tcPr marL="54864" marR="54864" marT="27432" marB="27432">
                    <a:solidFill>
                      <a:srgbClr val="FFFFFF"/>
                    </a:solidFill>
                  </a:tcPr>
                </a:tc>
                <a:tc>
                  <a:txBody>
                    <a:bodyPr wrap="square"/>
                    <a:lstStyle/>
                    <a:p>
                      <a:pPr algn="r"/>
                      <a:r>
                        <a:rPr sz="1100" b="0">
                          <a:solidFill>
                            <a:srgbClr val="1F2A44"/>
                          </a:solidFill>
                          <a:latin typeface="Courier New"/>
                        </a:rPr>
                        <a:t>164,872</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8,755 (1,069–31,231)</a:t>
                      </a:r>
                    </a:p>
                  </a:txBody>
                  <a:tcPr marL="54864" marR="54864" marT="27432" marB="27432">
                    <a:solidFill>
                      <a:srgbClr val="FFFFFF"/>
                    </a:solidFill>
                  </a:tcPr>
                </a:tc>
                <a:tc>
                  <a:txBody>
                    <a:bodyPr wrap="square"/>
                    <a:lstStyle/>
                    <a:p>
                      <a:pPr algn="r"/>
                      <a:r>
                        <a:rPr sz="1100" b="0">
                          <a:solidFill>
                            <a:srgbClr val="1F2A44"/>
                          </a:solidFill>
                          <a:latin typeface="Courier New"/>
                        </a:rPr>
                        <a:t>1,875 (657–8,755)</a:t>
                      </a:r>
                    </a:p>
                  </a:txBody>
                  <a:tcPr marL="54864" marR="54864" marT="27432" marB="27432">
                    <a:solidFill>
                      <a:srgbClr val="FFFFFF"/>
                    </a:solidFill>
                  </a:tcPr>
                </a:tc>
                <a:tc>
                  <a:txBody>
                    <a:bodyPr wrap="square"/>
                    <a:lstStyle/>
                    <a:p>
                      <a:pPr algn="r"/>
                      <a:r>
                        <a:rPr sz="1100" b="0">
                          <a:solidFill>
                            <a:srgbClr val="1F2A44"/>
                          </a:solidFill>
                          <a:latin typeface="Courier New"/>
                        </a:rPr>
                        <a:t>Kiswahili 346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imported/WIMWARO/BACKUP/F · audio</a:t>
                      </a:r>
                    </a:p>
                  </a:txBody>
                  <a:tcPr marL="54864" marR="54864" marT="27432" marB="27432">
                    <a:solidFill>
                      <a:srgbClr val="FFFFFF"/>
                    </a:solidFill>
                  </a:tcPr>
                </a:tc>
                <a:tc>
                  <a:txBody>
                    <a:bodyPr wrap="square"/>
                    <a:lstStyle/>
                    <a:p>
                      <a:pPr algn="r"/>
                      <a:r>
                        <a:rPr sz="1100" b="0">
                          <a:solidFill>
                            <a:srgbClr val="1F2A44"/>
                          </a:solidFill>
                          <a:latin typeface="Courier New"/>
                        </a:rPr>
                        <a:t>85,476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7,567 (5,854–38,087)</a:t>
                      </a:r>
                    </a:p>
                  </a:txBody>
                  <a:tcPr marL="54864" marR="54864" marT="27432" marB="27432">
                    <a:solidFill>
                      <a:srgbClr val="FFFFFF"/>
                    </a:solidFill>
                  </a:tcPr>
                </a:tc>
                <a:tc>
                  <a:txBody>
                    <a:bodyPr wrap="square"/>
                    <a:lstStyle/>
                    <a:p>
                      <a:pPr algn="r"/>
                      <a:r>
                        <a:rPr sz="1100" b="0">
                          <a:solidFill>
                            <a:srgbClr val="1F2A44"/>
                          </a:solidFill>
                          <a:latin typeface="Courier New"/>
                        </a:rPr>
                        <a:t>5,464 (352–24,211)</a:t>
                      </a:r>
                    </a:p>
                  </a:txBody>
                  <a:tcPr marL="54864" marR="54864" marT="27432" marB="27432">
                    <a:solidFill>
                      <a:srgbClr val="FFFFFF"/>
                    </a:solidFill>
                  </a:tcPr>
                </a:tc>
                <a:tc>
                  <a:txBody>
                    <a:bodyPr wrap="square"/>
                    <a:lstStyle/>
                    <a:p>
                      <a:pPr algn="r"/>
                      <a:r>
                        <a:rPr sz="1100" b="0">
                          <a:solidFill>
                            <a:srgbClr val="1F2A44"/>
                          </a:solidFill>
                          <a:latin typeface="Courier New"/>
                        </a:rPr>
                        <a:t>Gikuyu (Kikuyu) 978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imported/VUUKA/BACKUP/E · audio</a:t>
                      </a:r>
                    </a:p>
                  </a:txBody>
                  <a:tcPr marL="54864" marR="54864" marT="27432" marB="27432">
                    <a:solidFill>
                      <a:srgbClr val="FFFFFF"/>
                    </a:solidFill>
                  </a:tcPr>
                </a:tc>
                <a:tc>
                  <a:txBody>
                    <a:bodyPr wrap="square"/>
                    <a:lstStyle/>
                    <a:p>
                      <a:pPr algn="r"/>
                      <a:r>
                        <a:rPr sz="1100" b="0">
                          <a:solidFill>
                            <a:srgbClr val="1F2A44"/>
                          </a:solidFill>
                          <a:latin typeface="Courier New"/>
                        </a:rPr>
                        <a:t>71,696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6,524 (5,047–32,838)</a:t>
                      </a:r>
                    </a:p>
                  </a:txBody>
                  <a:tcPr marL="54864" marR="54864" marT="27432" marB="27432">
                    <a:solidFill>
                      <a:srgbClr val="FFFFFF"/>
                    </a:solidFill>
                  </a:tcPr>
                </a:tc>
                <a:tc>
                  <a:txBody>
                    <a:bodyPr wrap="square"/>
                    <a:lstStyle/>
                    <a:p>
                      <a:pPr algn="r"/>
                      <a:r>
                        <a:rPr sz="1100" b="0">
                          <a:solidFill>
                            <a:srgbClr val="1F2A44"/>
                          </a:solidFill>
                          <a:latin typeface="Courier New"/>
                        </a:rPr>
                        <a:t>4,711 (304–22,621)</a:t>
                      </a:r>
                    </a:p>
                  </a:txBody>
                  <a:tcPr marL="54864" marR="54864" marT="27432" marB="27432">
                    <a:solidFill>
                      <a:srgbClr val="FFFFFF"/>
                    </a:solidFill>
                  </a:tcPr>
                </a:tc>
                <a:tc>
                  <a:txBody>
                    <a:bodyPr wrap="square"/>
                    <a:lstStyle/>
                    <a:p>
                      <a:pPr algn="r"/>
                      <a:r>
                        <a:rPr sz="1100" b="0">
                          <a:solidFill>
                            <a:srgbClr val="1F2A44"/>
                          </a:solidFill>
                          <a:latin typeface="Courier New"/>
                        </a:rPr>
                        <a:t>Gikuyu (Kikuyu) 843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798064"/>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4,333.6 (3,938.1–4,729.2)</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3,650.2 (3,390.3–3,910.1)</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2,729.9 (2,443.0–3,016.8)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2,702.4 (2,449.1–2,955.7)</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2,182.8 (1,634.8–2,730.8)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1,762.5 (1,543.9–1,981.0)</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960.5 (861.6–1,059.4)</a:t>
                      </a:r>
                    </a:p>
                  </a:txBody>
                  <a:tcPr marL="54864" marR="54864" marT="27432" marB="27432">
                    <a:solidFill>
                      <a:srgbClr val="FFFFFF"/>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265.4 (256.5–274.3)</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621792"/>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136.2 (124.0–148.4)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10896">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10896">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10896">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10896">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10896">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10896">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value concentrates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largest bucket holds 86.7 TiB, 66.3% of the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Every other bucket is small beside it, so byte concentration should be tackled starting with the dominant bucket.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hold nearly all of the 175.0 TiB; databases are 0.2% of it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Housekeeping effort belongs on the media stores, since databases are negligible in bytes though not in personal-data preparation.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Value concentrates in one refused bucket and the media stores, not the databases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Largest bucket: 251,976.0 forecast hours, 50.4% of the estate, 86.7 TiB, 66.3% of object-store bytes; reads refused.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Object store 130.8 TiB, file shares 43.9 TiB, databases 0.3 TiB (0.2% of the estate).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is not written for over a year (32.0% of the object store); 7.7 TiB are duplicate candidates, not safe-deletion quantities.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is unmeasured: sizes and dates were recorded, not content fingerprints.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45059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78028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916</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2999229"/>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47548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841247">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688336"/>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212848"/>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Preparation that turns forecast into measurement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ACCESS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sit in buckets the key cannot read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Access and restore decisions, not new analysis, convert the largest forecast block; refused, unreadable and restore-required buckets are three distinct problems.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rows need bounded repair: 81.7% carry empty required-looking fields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These findings direct preparation work on measured and sampled rows; they do not describe the media content and do not reopen rights.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PREPARATION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Five pieces of work convert forecast into measurement and make the estate usable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Grant object-read access on 15 refused buckets; the buckets the key cannot read hold 367,222.7 forecast hours.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Decide a restore, with its fee, for 2 archive-class buckets; reconcile the 40 unreachable buckets with the provider.</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Finish the existing samples: 86,601.1 forecast hours sit in readable folders not yet sampled.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Check model readings with human samples; de-identify or aggregate product inputs, as 71.8% of sampled rows carry personal-data markers.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79222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47548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65836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273,981</a:t>
                      </a:r>
                    </a:p>
                  </a:txBody>
                  <a:tcPr marL="54864" marR="54864" marT="27432" marB="27432">
                    <a:solidFill>
                      <a:srgbClr val="FFFFFF"/>
                    </a:solidFill>
                  </a:tcPr>
                </a:tc>
                <a:tc>
                  <a:txBody>
                    <a:bodyPr wrap="square"/>
                    <a:lstStyle/>
                    <a:p>
                      <a:pPr algn="l"/>
                      <a:r>
                        <a:rPr sz="1200" b="0">
                          <a:solidFill>
                            <a:srgbClr val="1F2A44"/>
                          </a:solidFill>
                          <a:latin typeface="Calibri"/>
                        </a:rPr>
                        <a:t>32,239 / 32,349</a:t>
                      </a:r>
                    </a:p>
                  </a:txBody>
                  <a:tcPr marL="54864" marR="54864" marT="27432" marB="27432">
                    <a:solidFill>
                      <a:srgbClr val="FFFFFF"/>
                    </a:solidFill>
                  </a:tcPr>
                </a:tc>
                <a:tc>
                  <a:txBody>
                    <a:bodyPr wrap="square"/>
                    <a:lstStyle/>
                    <a:p>
                      <a:pPr algn="l"/>
                      <a:r>
                        <a:rPr sz="1200" b="0">
                          <a:solidFill>
                            <a:srgbClr val="1F2A44"/>
                          </a:solidFill>
                          <a:latin typeface="Calibri"/>
                        </a:rPr>
                        <a:t>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65836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1,224,886</a:t>
                      </a:r>
                    </a:p>
                  </a:txBody>
                  <a:tcPr marL="54864" marR="54864" marT="27432" marB="27432">
                    <a:solidFill>
                      <a:srgbClr val="FFFFFF"/>
                    </a:solidFill>
                  </a:tcPr>
                </a:tc>
                <a:tc>
                  <a:txBody>
                    <a:bodyPr wrap="square"/>
                    <a:lstStyle/>
                    <a:p>
                      <a:pPr algn="l"/>
                      <a:r>
                        <a:rPr sz="1200" b="0">
                          <a:solidFill>
                            <a:srgbClr val="1F2A44"/>
                          </a:solidFill>
                          <a:latin typeface="Calibri"/>
                        </a:rPr>
                        <a:t>8,670</a:t>
                      </a:r>
                    </a:p>
                  </a:txBody>
                  <a:tcPr marL="54864" marR="54864" marT="27432" marB="27432">
                    <a:solidFill>
                      <a:srgbClr val="FFFFFF"/>
                    </a:solidFill>
                  </a:tcPr>
                </a:tc>
                <a:tc>
                  <a:txBody>
                    <a:bodyPr wrap="square"/>
                    <a:lstStyle/>
                    <a:p>
                      <a:pPr algn="l"/>
                      <a:r>
                        <a:rPr sz="1200" b="0">
                          <a:solidFill>
                            <a:srgbClr val="1F2A44"/>
                          </a:solidFill>
                          <a:latin typeface="Calibri"/>
                        </a:rPr>
                        <a:t>519 / 15,413</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How the forecast was built — the donor folders by media kind</a:t>
            </a:r>
          </a:p>
        </p:txBody>
      </p:sp>
      <p:graphicFrame>
        <p:nvGraphicFramePr>
          <p:cNvPr id="4" name="Table 3"/>
          <p:cNvGraphicFramePr>
            <a:graphicFrameLocks noGrp="1"/>
          </p:cNvGraphicFramePr>
          <p:nvPr/>
        </p:nvGraphicFramePr>
        <p:xfrm>
          <a:off x="594360" y="1920240"/>
          <a:ext cx="11002973" cy="932688"/>
        </p:xfrm>
        <a:graphic>
          <a:graphicData uri="http://schemas.openxmlformats.org/drawingml/2006/table">
            <a:tbl>
              <a:tblPr firstRow="1" bandRow="1">
                <a:tableStyleId>{5C22544A-7EE6-4342-B048-85BDC9FD1C3A}</a:tableStyleId>
              </a:tblPr>
              <a:tblGrid>
                <a:gridCol w="1540416"/>
                <a:gridCol w="1540416"/>
                <a:gridCol w="1540416"/>
                <a:gridCol w="3300892"/>
                <a:gridCol w="3080833"/>
              </a:tblGrid>
              <a:tr h="310896">
                <a:tc>
                  <a:txBody>
                    <a:bodyPr wrap="square"/>
                    <a:lstStyle/>
                    <a:p>
                      <a:pPr algn="l"/>
                      <a:r>
                        <a:rPr sz="1200" b="1">
                          <a:solidFill>
                            <a:srgbClr val="1F2A44"/>
                          </a:solidFill>
                          <a:latin typeface="Calibri"/>
                        </a:rPr>
                        <a:t>Media kind</a:t>
                      </a:r>
                    </a:p>
                  </a:txBody>
                  <a:tcPr marL="54864" marR="54864" marT="27432" marB="27432">
                    <a:solidFill>
                      <a:srgbClr val="E9ECF1"/>
                    </a:solidFill>
                  </a:tcPr>
                </a:tc>
                <a:tc>
                  <a:txBody>
                    <a:bodyPr wrap="square"/>
                    <a:lstStyle/>
                    <a:p>
                      <a:pPr algn="l"/>
                      <a:r>
                        <a:rPr sz="1200" b="1">
                          <a:solidFill>
                            <a:srgbClr val="1F2A44"/>
                          </a:solidFill>
                          <a:latin typeface="Calibri"/>
                        </a:rPr>
                        <a:t>Donor strata</a:t>
                      </a:r>
                    </a:p>
                  </a:txBody>
                  <a:tcPr marL="54864" marR="54864" marT="27432" marB="27432">
                    <a:solidFill>
                      <a:srgbClr val="E9ECF1"/>
                    </a:solidFill>
                  </a:tcPr>
                </a:tc>
                <a:tc>
                  <a:txBody>
                    <a:bodyPr wrap="square"/>
                    <a:lstStyle/>
                    <a:p>
                      <a:pPr algn="l"/>
                      <a:r>
                        <a:rPr sz="1200" b="1">
                          <a:solidFill>
                            <a:srgbClr val="1F2A44"/>
                          </a:solidFill>
                          <a:latin typeface="Calibri"/>
                        </a:rPr>
                        <a:t>Donor files</a:t>
                      </a:r>
                    </a:p>
                  </a:txBody>
                  <a:tcPr marL="54864" marR="54864" marT="27432" marB="27432">
                    <a:solidFill>
                      <a:srgbClr val="E9ECF1"/>
                    </a:solidFill>
                  </a:tcPr>
                </a:tc>
                <a:tc>
                  <a:txBody>
                    <a:bodyPr wrap="square"/>
                    <a:lstStyle/>
                    <a:p>
                      <a:pPr algn="l"/>
                      <a:r>
                        <a:rPr sz="1200" b="1">
                          <a:solidFill>
                            <a:srgbClr val="1F2A44"/>
                          </a:solidFill>
                          <a:latin typeface="Calibri"/>
                        </a:rPr>
                        <a:t>Seconds per MB (10th–90th pct)</a:t>
                      </a:r>
                    </a:p>
                  </a:txBody>
                  <a:tcPr marL="54864" marR="54864" marT="27432" marB="27432">
                    <a:solidFill>
                      <a:srgbClr val="E9ECF1"/>
                    </a:solidFill>
                  </a:tcPr>
                </a:tc>
                <a:tc>
                  <a:txBody>
                    <a:bodyPr wrap="square"/>
                    <a:lstStyle/>
                    <a:p>
                      <a:pPr algn="l"/>
                      <a:r>
                        <a:rPr sz="1200" b="1">
                          <a:solidFill>
                            <a:srgbClr val="1F2A44"/>
                          </a:solidFill>
                          <a:latin typeface="Calibri"/>
                        </a:rPr>
                        <a:t>Speech share (10th–90th pct)</a:t>
                      </a:r>
                    </a:p>
                  </a:txBody>
                  <a:tcPr marL="54864" marR="54864" marT="27432" marB="27432">
                    <a:solidFill>
                      <a:srgbClr val="E9ECF1"/>
                    </a:solidFill>
                  </a:tcPr>
                </a:tc>
              </a:tr>
              <a:tr h="310896">
                <a:tc>
                  <a:txBody>
                    <a:bodyPr wrap="square"/>
                    <a:lstStyle/>
                    <a:p>
                      <a:pPr algn="l"/>
                      <a:r>
                        <a:rPr sz="1200" b="0">
                          <a:solidFill>
                            <a:srgbClr val="1F2A44"/>
                          </a:solidFill>
                          <a:latin typeface="Calibri"/>
                        </a:rPr>
                        <a:t>audio</a:t>
                      </a:r>
                    </a:p>
                  </a:txBody>
                  <a:tcPr marL="54864" marR="54864" marT="27432" marB="27432">
                    <a:solidFill>
                      <a:srgbClr val="FFFFFF"/>
                    </a:solidFill>
                  </a:tcPr>
                </a:tc>
                <a:tc>
                  <a:txBody>
                    <a:bodyPr wrap="square"/>
                    <a:lstStyle/>
                    <a:p>
                      <a:pPr algn="r"/>
                      <a:r>
                        <a:rPr sz="1200" b="0">
                          <a:solidFill>
                            <a:srgbClr val="1F2A44"/>
                          </a:solidFill>
                          <a:latin typeface="Courier New"/>
                        </a:rPr>
                        <a:t>54</a:t>
                      </a:r>
                    </a:p>
                  </a:txBody>
                  <a:tcPr marL="54864" marR="54864" marT="27432" marB="27432">
                    <a:solidFill>
                      <a:srgbClr val="FFFFFF"/>
                    </a:solidFill>
                  </a:tcPr>
                </a:tc>
                <a:tc>
                  <a:txBody>
                    <a:bodyPr wrap="square"/>
                    <a:lstStyle/>
                    <a:p>
                      <a:pPr algn="r"/>
                      <a:r>
                        <a:rPr sz="1200" b="0">
                          <a:solidFill>
                            <a:srgbClr val="1F2A44"/>
                          </a:solidFill>
                          <a:latin typeface="Courier New"/>
                        </a:rPr>
                        <a:t>239,732</a:t>
                      </a:r>
                    </a:p>
                  </a:txBody>
                  <a:tcPr marL="54864" marR="54864" marT="27432" marB="27432">
                    <a:solidFill>
                      <a:srgbClr val="FFFFFF"/>
                    </a:solidFill>
                  </a:tcPr>
                </a:tc>
                <a:tc>
                  <a:txBody>
                    <a:bodyPr wrap="square"/>
                    <a:lstStyle/>
                    <a:p>
                      <a:pPr algn="r"/>
                      <a:r>
                        <a:rPr sz="1200" b="0">
                          <a:solidFill>
                            <a:srgbClr val="1F2A44"/>
                          </a:solidFill>
                          <a:latin typeface="Courier New"/>
                        </a:rPr>
                        <a:t>5.67–249.97</a:t>
                      </a:r>
                    </a:p>
                  </a:txBody>
                  <a:tcPr marL="54864" marR="54864" marT="27432" marB="27432">
                    <a:solidFill>
                      <a:srgbClr val="FFFFFF"/>
                    </a:solidFill>
                  </a:tcPr>
                </a:tc>
                <a:tc>
                  <a:txBody>
                    <a:bodyPr wrap="square"/>
                    <a:lstStyle/>
                    <a:p>
                      <a:pPr algn="r"/>
                      <a:r>
                        <a:rPr sz="1200" b="0">
                          <a:solidFill>
                            <a:srgbClr val="1F2A44"/>
                          </a:solidFill>
                          <a:latin typeface="Courier New"/>
                        </a:rPr>
                        <a:t>12.4%–88.8%</a:t>
                      </a:r>
                    </a:p>
                  </a:txBody>
                  <a:tcPr marL="54864" marR="54864" marT="27432" marB="27432">
                    <a:solidFill>
                      <a:srgbClr val="FFFFFF"/>
                    </a:solidFill>
                  </a:tcPr>
                </a:tc>
              </a:tr>
              <a:tr h="310896">
                <a:tc>
                  <a:txBody>
                    <a:bodyPr wrap="square"/>
                    <a:lstStyle/>
                    <a:p>
                      <a:pPr algn="l"/>
                      <a:r>
                        <a:rPr sz="1200" b="0">
                          <a:solidFill>
                            <a:srgbClr val="1F2A44"/>
                          </a:solidFill>
                          <a:latin typeface="Calibri"/>
                        </a:rPr>
                        <a:t>video</a:t>
                      </a:r>
                    </a:p>
                  </a:txBody>
                  <a:tcPr marL="54864" marR="54864" marT="27432" marB="27432">
                    <a:solidFill>
                      <a:srgbClr val="FFFFFF"/>
                    </a:solidFill>
                  </a:tcPr>
                </a:tc>
                <a:tc>
                  <a:txBody>
                    <a:bodyPr wrap="square"/>
                    <a:lstStyle/>
                    <a:p>
                      <a:pPr algn="r"/>
                      <a:r>
                        <a:rPr sz="1200" b="0">
                          <a:solidFill>
                            <a:srgbClr val="1F2A44"/>
                          </a:solidFill>
                          <a:latin typeface="Courier New"/>
                        </a:rPr>
                        <a:t>157</a:t>
                      </a:r>
                    </a:p>
                  </a:txBody>
                  <a:tcPr marL="54864" marR="54864" marT="27432" marB="27432">
                    <a:solidFill>
                      <a:srgbClr val="FFFFFF"/>
                    </a:solidFill>
                  </a:tcPr>
                </a:tc>
                <a:tc>
                  <a:txBody>
                    <a:bodyPr wrap="square"/>
                    <a:lstStyle/>
                    <a:p>
                      <a:pPr algn="r"/>
                      <a:r>
                        <a:rPr sz="1200" b="0">
                          <a:solidFill>
                            <a:srgbClr val="1F2A44"/>
                          </a:solidFill>
                          <a:latin typeface="Courier New"/>
                        </a:rPr>
                        <a:t>189,356</a:t>
                      </a:r>
                    </a:p>
                  </a:txBody>
                  <a:tcPr marL="54864" marR="54864" marT="27432" marB="27432">
                    <a:solidFill>
                      <a:srgbClr val="FFFFFF"/>
                    </a:solidFill>
                  </a:tcPr>
                </a:tc>
                <a:tc>
                  <a:txBody>
                    <a:bodyPr wrap="square"/>
                    <a:lstStyle/>
                    <a:p>
                      <a:pPr algn="r"/>
                      <a:r>
                        <a:rPr sz="1200" b="0">
                          <a:solidFill>
                            <a:srgbClr val="1F2A44"/>
                          </a:solidFill>
                          <a:latin typeface="Courier New"/>
                        </a:rPr>
                        <a:t>2.09–16.54</a:t>
                      </a:r>
                    </a:p>
                  </a:txBody>
                  <a:tcPr marL="54864" marR="54864" marT="27432" marB="27432">
                    <a:solidFill>
                      <a:srgbClr val="FFFFFF"/>
                    </a:solidFill>
                  </a:tcPr>
                </a:tc>
                <a:tc>
                  <a:txBody>
                    <a:bodyPr wrap="square"/>
                    <a:lstStyle/>
                    <a:p>
                      <a:pPr algn="r"/>
                      <a:r>
                        <a:rPr sz="1200" b="0">
                          <a:solidFill>
                            <a:srgbClr val="1F2A44"/>
                          </a:solidFill>
                          <a:latin typeface="Courier New"/>
                        </a:rPr>
                        <a:t>7.5%–81.1%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2,000 seeded simulations over 1,334 folder strata.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Paths that earn or save money first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SAVINGS SCALE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addresses the largest share of reclaimable bytes; the rest are small</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Prioritise tiering and duplicate candidates first; strategy totals overlap and measure bytes addressed, not bytes deleted or net savings.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EARN AND SAVE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duplicate reconciliation and table tiering differ sharply in scale</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Monthly figures are upper bounds at legacy full-Standard reference prices; reprice eligible bytes and retrieval costs before treating any as expected saving.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82.03</a:t>
                      </a:r>
                    </a:p>
                  </a:txBody>
                  <a:tcPr marL="54864" marR="54864" marT="27432" marB="27432">
                    <a:solidFill>
                      <a:srgbClr val="FFFFFF"/>
                    </a:solidFill>
                  </a:tcPr>
                </a:tc>
                <a:tc>
                  <a:txBody>
                    <a:bodyPr wrap="square"/>
                    <a:lstStyle/>
                    <a:p>
                      <a:pPr algn="r"/>
                      <a:r>
                        <a:rPr sz="1100" b="0">
                          <a:solidFill>
                            <a:srgbClr val="1F2A44"/>
                          </a:solidFill>
                          <a:latin typeface="Courier New"/>
                        </a:rPr>
                        <a:t>94.6%</a:t>
                      </a:r>
                    </a:p>
                  </a:txBody>
                  <a:tcPr marL="54864" marR="54864" marT="27432" marB="27432">
                    <a:solidFill>
                      <a:srgbClr val="FFFFFF"/>
                    </a:solidFill>
                  </a:tcPr>
                </a:tc>
                <a:tc>
                  <a:txBody>
                    <a:bodyPr wrap="square"/>
                    <a:lstStyle/>
                    <a:p>
                      <a:pPr algn="r"/>
                      <a:r>
                        <a:rPr sz="1100" b="0">
                          <a:solidFill>
                            <a:srgbClr val="1F2A44"/>
                          </a:solidFill>
                          <a:latin typeface="Courier New"/>
                        </a:rPr>
                        <a:t>GLACIER 2,961,741, STANDARD 233,004</a:t>
                      </a:r>
                    </a:p>
                  </a:txBody>
                  <a:tcPr marL="54864" marR="54864" marT="27432" marB="27432">
                    <a:solidFill>
                      <a:srgbClr val="FFFFFF"/>
                    </a:solidFill>
                  </a:tcPr>
                </a:tc>
              </a:tr>
              <a:tr h="310896">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152,801</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484,480</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307,998</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15,377</a:t>
                      </a:r>
                    </a:p>
                  </a:txBody>
                  <a:tcPr marL="54864" marR="54864" marT="27432" marB="27432">
                    <a:solidFill>
                      <a:srgbClr val="FFFFFF"/>
                    </a:solidFill>
                  </a:tcPr>
                </a:tc>
              </a:tr>
              <a:tr h="310896">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15,885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13,965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25,088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28,059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management is asked to decide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Management is asked to decide access first, then pilot, tiering, duplicates and rollout</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Approve an object-read grant; it rests on 500,290.3, 73.4% and 367,222.7.</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Decide a restore of 2 archive-class buckets with its retrieval fee.</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Select one speech-and-text pilot, name its owner, and de-identify database inputs.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Validate tiering on 41.9 TiB of cold bytes and hash-confirm 7.7 TiB of duplicate candidates before any move or deletion.</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Set an evidence gate before rollout; nothing here has been executed.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780288">
                <a:tc>
                  <a:txBody>
                    <a:bodyPr wrap="square"/>
                    <a:lstStyle/>
                    <a:p>
                      <a:pPr algn="l"/>
                      <a:r>
                        <a:rPr sz="1100" b="0">
                          <a:solidFill>
                            <a:srgbClr val="1F2A44"/>
                          </a:solidFill>
                          <a:latin typeface="Calibri"/>
                        </a:rPr>
                        <a:t>D0</a:t>
                      </a:r>
                    </a:p>
                  </a:txBody>
                  <a:tcPr marL="54864" marR="54864" marT="27432" marB="27432">
                    <a:solidFill>
                      <a:srgbClr val="FFFFFF"/>
                    </a:solidFill>
                  </a:tcPr>
                </a:tc>
                <a:tc>
                  <a:txBody>
                    <a:bodyPr wrap="square"/>
                    <a:lstStyle/>
                    <a:p>
                      <a:pPr algn="l"/>
                      <a:r>
                        <a:rPr sz="1100" b="0">
                          <a:solidFill>
                            <a:srgbClr val="1F2A44"/>
                          </a:solidFill>
                          <a:latin typeface="Calibri"/>
                        </a:rPr>
                        <a:t>Adopt the whole-estate forecast as the planning baseline for hours, speech and languages</a:t>
                      </a:r>
                    </a:p>
                  </a:txBody>
                  <a:tcPr marL="54864" marR="54864" marT="27432" marB="27432">
                    <a:solidFill>
                      <a:srgbClr val="FFFFFF"/>
                    </a:solidFill>
                  </a:tcPr>
                </a:tc>
                <a:tc>
                  <a:txBody>
                    <a:bodyPr wrap="square"/>
                    <a:lstStyle/>
                    <a:p>
                      <a:pPr algn="l"/>
                      <a:r>
                        <a:rPr sz="1100" b="0">
                          <a:solidFill>
                            <a:srgbClr val="1F2A44"/>
                          </a:solidFill>
                          <a:latin typeface="Calibri"/>
                        </a:rPr>
                        <a:t>every listed folder of the object store and the file shares (1,334 strata; 500,290 h, 95 % 412,531–625,455 h)</a:t>
                      </a:r>
                    </a:p>
                  </a:txBody>
                  <a:tcPr marL="54864" marR="54864" marT="27432" marB="27432">
                    <a:solidFill>
                      <a:srgbClr val="FFFFFF"/>
                    </a:solidFill>
                  </a:tcPr>
                </a:tc>
                <a:tc>
                  <a:txBody>
                    <a:bodyPr wrap="square"/>
                    <a:lstStyle/>
                    <a:p>
                      <a:pPr algn="l"/>
                      <a:r>
                        <a:rPr sz="1100" b="0">
                          <a:solidFill>
                            <a:srgbClr val="1F2A44"/>
                          </a:solidFill>
                          <a:latin typeface="Calibri"/>
                        </a:rPr>
                        <a:t>forecast replaced by measurement bucket by bucket; no data moves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cloud account owner</a:t>
                      </a:r>
                    </a:p>
                  </a:txBody>
                  <a:tcPr marL="54864" marR="54864" marT="27432" marB="27432">
                    <a:solidFill>
                      <a:srgbClr val="FFFFFF"/>
                    </a:solidFill>
                  </a:tcPr>
                </a:tc>
                <a:tc>
                  <a:txBody>
                    <a:bodyPr wrap="square"/>
                    <a:lstStyle/>
                    <a:p>
                      <a:pPr algn="l"/>
                      <a:r>
                        <a:rPr sz="1100" b="0">
                          <a:solidFill>
                            <a:srgbClr val="1F2A44"/>
                          </a:solidFill>
                          <a:latin typeface="Calibri"/>
                        </a:rPr>
                        <a:t>one defensible number for the estate today, narrowing every census run</a:t>
                      </a:r>
                    </a:p>
                  </a:txBody>
                  <a:tcPr marL="54864" marR="54864" marT="27432" marB="27432">
                    <a:solidFill>
                      <a:srgbClr val="FFFFFF"/>
                    </a:solidFill>
                  </a:tcPr>
                </a:tc>
              </a:tr>
              <a:tr h="947928">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1871472"/>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r h="947928">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1283208">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923544"/>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181051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841247">
                <a:tc>
                  <a:txBody>
                    <a:bodyPr wrap="square"/>
                    <a:lstStyle/>
                    <a:p>
                      <a:pPr algn="l"/>
                      <a:r>
                        <a:rPr sz="1200" b="0">
                          <a:solidFill>
                            <a:srgbClr val="1F2A44"/>
                          </a:solidFill>
                          <a:latin typeface="Calibri"/>
                        </a:rPr>
                        <a:t>D9</a:t>
                      </a:r>
                    </a:p>
                  </a:txBody>
                  <a:tcPr marL="54864" marR="54864" marT="27432" marB="27432">
                    <a:solidFill>
                      <a:srgbClr val="FFFFFF"/>
                    </a:solidFill>
                  </a:tcPr>
                </a:tc>
                <a:tc>
                  <a:txBody>
                    <a:bodyPr wrap="square"/>
                    <a:lstStyle/>
                    <a:p>
                      <a:pPr algn="l"/>
                      <a:r>
                        <a:rPr sz="12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2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2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2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200" b="0">
                          <a:solidFill>
                            <a:srgbClr val="1F2A44"/>
                          </a:solidFill>
                          <a:latin typeface="Calibri"/>
                        </a:rPr>
                        <a:t>a licensable, evidenced inventory of non-English speech and text</a:t>
                      </a:r>
                    </a:p>
                  </a:txBody>
                  <a:tcPr marL="54864" marR="54864" marT="27432" marB="27432">
                    <a:solidFill>
                      <a:srgbClr val="FFFFFF"/>
                    </a:solidFill>
                  </a:tcPr>
                </a:tc>
              </a:tr>
              <a:tr h="65836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254203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1572767">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r h="65836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2334768"/>
        </p:xfrm>
        <a:graphic>
          <a:graphicData uri="http://schemas.openxmlformats.org/drawingml/2006/table">
            <a:tbl>
              <a:tblPr firstRow="1" bandRow="1">
                <a:tableStyleId>{5C22544A-7EE6-4342-B048-85BDC9FD1C3A}</a:tableStyleId>
              </a:tblPr>
              <a:tblGrid>
                <a:gridCol w="1770593"/>
                <a:gridCol w="2150006"/>
                <a:gridCol w="1770593"/>
                <a:gridCol w="5311781"/>
              </a:tblGrid>
              <a:tr h="310896">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50596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50596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50596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50596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FIRST ACTIONS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Grant access first, then measure and validate, and only then move or delete</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Grant the census key read access on refused buckets, largest first (251,976.0); owner: cloud administrator.</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Finish samples of readable folders (86,601.1) and shares (16); owner: data lead.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Commission human checks of model readings, declined windows (10.7%) included; owner: product lead.</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Reprice tiering (986.5 USD upper bound); hash-confirm 7.7 TiB of duplicates first.</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Scope a pilot from the leading languages; owner: commercial lead.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CANNOT YET BE SAID</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forecast is bounded by donor representativeness, model error and unsampled folders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Only 8.5% of 500,290.3 forecast hours is measured; refused buckets may differ from donors. An access grant closes this.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music and language figures are model readings; stratified human checks would calibrate them.</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Savings are unverified: class metadata is partial and restore costs unpriced; repricing closes this.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script language and buyer demand are unmeasured; fingerprinting, a text pass and buyer review close them.</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Whole-estate forecast</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What the entire estate most likely holds, found by scaling what the census read in each folder up to that folder's full population and adding every folder together — the part that could not be read included, each one standing in for a readable folder of the same kind and file size.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Monte Carlo simulation</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estate was added up thousands of times, each time letting every uncertain folder take a different plausible value. The middle result is the forecast; the range that holds 95 % of the results is the forecast interval.</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Donor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A folder the census read and judged that stands in for a folder it could not read: same media kind, similar file size. Its seconds per megabyte, speech share and language mix are borrowed, so the forecast is only as representative as its donors.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662940"/>
          </a:xfrm>
          <a:prstGeom prst="rect">
            <a:avLst/>
          </a:prstGeom>
          <a:noFill/>
        </p:spPr>
        <p:txBody>
          <a:bodyPr wrap="square" lIns="0" rIns="0" tIns="0" bIns="0" anchor="t">
            <a:spAutoFit/>
          </a:bodyPr>
          <a:lstStyle/>
          <a:p>
            <a:pPr algn="l"/>
            <a:r>
              <a:rPr sz="1400" b="1" i="0">
                <a:solidFill>
                  <a:srgbClr val="C8102E"/>
                </a:solidFill>
                <a:latin typeface="Calibri"/>
              </a:rPr>
              <a:t>Forecast versus measured</a:t>
            </a:r>
          </a:p>
        </p:txBody>
      </p:sp>
      <p:sp>
        <p:nvSpPr>
          <p:cNvPr id="5" name="TextBox 4"/>
          <p:cNvSpPr txBox="1"/>
          <p:nvPr/>
        </p:nvSpPr>
        <p:spPr>
          <a:xfrm>
            <a:off x="3154680" y="1975104"/>
            <a:ext cx="8442655" cy="662940"/>
          </a:xfrm>
          <a:prstGeom prst="rect">
            <a:avLst/>
          </a:prstGeom>
          <a:noFill/>
        </p:spPr>
        <p:txBody>
          <a:bodyPr wrap="square" lIns="0" rIns="0" tIns="0" bIns="0" anchor="t">
            <a:spAutoFit/>
          </a:bodyPr>
          <a:lstStyle/>
          <a:p>
            <a:pPr algn="l"/>
            <a:r>
              <a:rPr sz="1300" b="0" i="0">
                <a:solidFill>
                  <a:srgbClr val="1F2A44"/>
                </a:solidFill>
                <a:latin typeface="Calibri"/>
              </a:rPr>
              <a:t>Measured rows come from files actually read and judged, with a sampling interval. Forecast rows are borrowed from donors and carry a wider interval. Every table says which is which; an access grant or a finished sample turns a forecast row into a measured one.</a:t>
            </a:r>
          </a:p>
        </p:txBody>
      </p:sp>
      <p:cxnSp>
        <p:nvCxnSpPr>
          <p:cNvPr id="6" name="Connector 5"/>
          <p:cNvCxnSpPr/>
          <p:nvPr/>
        </p:nvCxnSpPr>
        <p:spPr>
          <a:xfrm>
            <a:off x="594360" y="26014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729484"/>
            <a:ext cx="2377440" cy="66294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8" name="TextBox 7"/>
          <p:cNvSpPr txBox="1"/>
          <p:nvPr/>
        </p:nvSpPr>
        <p:spPr>
          <a:xfrm>
            <a:off x="3154680" y="2729484"/>
            <a:ext cx="8442655" cy="66294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9" name="Connector 8"/>
          <p:cNvCxnSpPr/>
          <p:nvPr/>
        </p:nvCxnSpPr>
        <p:spPr>
          <a:xfrm>
            <a:off x="594360" y="33558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83864"/>
            <a:ext cx="2377440" cy="66294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1" name="TextBox 10"/>
          <p:cNvSpPr txBox="1"/>
          <p:nvPr/>
        </p:nvSpPr>
        <p:spPr>
          <a:xfrm>
            <a:off x="3154680" y="3483864"/>
            <a:ext cx="8442655" cy="66294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2" name="Connector 11"/>
          <p:cNvCxnSpPr/>
          <p:nvPr/>
        </p:nvCxnSpPr>
        <p:spPr>
          <a:xfrm>
            <a:off x="594360" y="41102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238243"/>
            <a:ext cx="2377440" cy="66294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14" name="TextBox 13"/>
          <p:cNvSpPr txBox="1"/>
          <p:nvPr/>
        </p:nvSpPr>
        <p:spPr>
          <a:xfrm>
            <a:off x="3154680" y="4238243"/>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15" name="Connector 14"/>
          <p:cNvCxnSpPr/>
          <p:nvPr/>
        </p:nvCxnSpPr>
        <p:spPr>
          <a:xfrm>
            <a:off x="594360" y="486460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92624"/>
            <a:ext cx="2377440" cy="66294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17" name="TextBox 16"/>
          <p:cNvSpPr txBox="1"/>
          <p:nvPr/>
        </p:nvSpPr>
        <p:spPr>
          <a:xfrm>
            <a:off x="3154680" y="4992624"/>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18" name="Connector 17"/>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A completed high-confidence content census of every readable folder</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Header probing and planned samples are incomplete; current estimates cover only strata with usable evidence, not unsampled folders or inaccessible stores</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complete the existing per-folder samples; prioritise high-volume and wide-interval strata; report read failures and coverage before combining totals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quantities</a:t>
            </a:r>
          </a:p>
        </p:txBody>
      </p:sp>
      <p:sp>
        <p:nvSpPr>
          <p:cNvPr id="11" name="TextBox 10"/>
          <p:cNvSpPr txBox="1"/>
          <p:nvPr/>
        </p:nvSpPr>
        <p:spPr>
          <a:xfrm>
            <a:off x="4396130"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Sampling intervals quantify random sampling uncertainty only; model errors, nonresponse and duration-estimation bias are not included. Separate estimators need not sum to the header total</a:t>
            </a:r>
          </a:p>
        </p:txBody>
      </p:sp>
      <p:sp>
        <p:nvSpPr>
          <p:cNvPr id="12" name="TextBox 11"/>
          <p:cNvSpPr txBox="1"/>
          <p:nvPr/>
        </p:nvSpPr>
        <p:spPr>
          <a:xfrm>
            <a:off x="8124748"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independent stratified human checks including abstentions and low-confidence cases; calibrate model errors and reconcile header versus decoded durations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net tiering savings</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only a subset; historic full-Standard-price scenarios are not updated invoice savings and omit retrieval and restore costs</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collect class metadata and read demand per bucket, then reprice only confirmed eligible Standard bytes using actual storage, retrieval and restore tariffs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Hours, speech, music and languages in the 15 buckets that refuse object reads (4,173,042 media files, 120.71 TiB)</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the census key lists them but every HEAD and GET returns 403 AccessDenied</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an IAM or bucket-policy grant of obs:object:GetObject to the census key; the census re-probes every run and resumes by itself</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That refused buckets hold the same kind of content as the readable folders that stand in for them</a:t>
            </a:r>
          </a:p>
        </p:txBody>
      </p:sp>
      <p:sp>
        <p:nvSpPr>
          <p:cNvPr id="11" name="TextBox 10"/>
          <p:cNvSpPr txBox="1"/>
          <p:nvPr/>
        </p:nvSpPr>
        <p:spPr>
          <a:xfrm>
            <a:off x="4396130"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the forecast borrows seconds-per-megabyte, speech share and language mix from readable folders of the same media kind and file size; a refused bucket of a different nature would sit outside the interval</a:t>
            </a:r>
          </a:p>
        </p:txBody>
      </p:sp>
      <p:sp>
        <p:nvSpPr>
          <p:cNvPr id="12" name="TextBox 11"/>
          <p:cNvSpPr txBox="1"/>
          <p:nvPr/>
        </p:nvSpPr>
        <p:spPr>
          <a:xfrm>
            <a:off x="8124748"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the object-read grant: the census then measures those buckets and the forecast rows become measured rows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3368"/>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762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649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6496"/>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905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941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9416"/>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934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1233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12336"/>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(1,470,663 files, 43.9 TiB)</a:t>
            </a:r>
          </a:p>
        </p:txBody>
      </p:sp>
      <p:cxnSp>
        <p:nvCxnSpPr>
          <p:cNvPr id="18" name="Connector 17"/>
          <p:cNvCxnSpPr/>
          <p:nvPr/>
        </p:nvCxnSpPr>
        <p:spPr>
          <a:xfrm>
            <a:off x="594360" y="459638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15256"/>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15256"/>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95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8" name="TextBox 7"/>
          <p:cNvSpPr txBox="1"/>
          <p:nvPr/>
        </p:nvSpPr>
        <p:spPr>
          <a:xfrm>
            <a:off x="1508760" y="2563368"/>
            <a:ext cx="10088575" cy="704087"/>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9" name="Connector 8"/>
          <p:cNvCxnSpPr/>
          <p:nvPr/>
        </p:nvCxnSpPr>
        <p:spPr>
          <a:xfrm>
            <a:off x="594360" y="32857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04616"/>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11" name="TextBox 10"/>
          <p:cNvSpPr txBox="1"/>
          <p:nvPr/>
        </p:nvSpPr>
        <p:spPr>
          <a:xfrm>
            <a:off x="1508760" y="3404616"/>
            <a:ext cx="10088575" cy="704087"/>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12" name="Connector 11"/>
          <p:cNvCxnSpPr/>
          <p:nvPr/>
        </p:nvCxnSpPr>
        <p:spPr>
          <a:xfrm>
            <a:off x="594360" y="41269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1496568"/>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5" name="TextBox 4"/>
          <p:cNvSpPr txBox="1"/>
          <p:nvPr/>
        </p:nvSpPr>
        <p:spPr>
          <a:xfrm>
            <a:off x="1508760" y="1920240"/>
            <a:ext cx="10088575" cy="1496568"/>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2026-10-03T02:33:28.832346+00:00; NAS 2026-10-03T02:33:24.807604+00:00; receipts cr-9bc59057d47c, cr-aa33fffba60e, cr-bbf71c8d905a, cr-cb0e66bd3e24,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6" name="Connector 5"/>
          <p:cNvCxnSpPr/>
          <p:nvPr/>
        </p:nvCxnSpPr>
        <p:spPr>
          <a:xfrm>
            <a:off x="594360" y="34350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553968"/>
            <a:ext cx="822960" cy="1694688"/>
          </a:xfrm>
          <a:prstGeom prst="rect">
            <a:avLst/>
          </a:prstGeom>
          <a:noFill/>
        </p:spPr>
        <p:txBody>
          <a:bodyPr wrap="square" lIns="0" rIns="0" tIns="0" bIns="0" anchor="t">
            <a:spAutoFit/>
          </a:bodyPr>
          <a:lstStyle/>
          <a:p>
            <a:pPr algn="l"/>
            <a:r>
              <a:rPr sz="1400" b="1" i="0">
                <a:solidFill>
                  <a:srgbClr val="C8102E"/>
                </a:solidFill>
                <a:latin typeface="Courier New"/>
              </a:rPr>
              <a:t>R11</a:t>
            </a:r>
          </a:p>
        </p:txBody>
      </p:sp>
      <p:sp>
        <p:nvSpPr>
          <p:cNvPr id="8" name="TextBox 7"/>
          <p:cNvSpPr txBox="1"/>
          <p:nvPr/>
        </p:nvSpPr>
        <p:spPr>
          <a:xfrm>
            <a:off x="1508760" y="3553968"/>
            <a:ext cx="10088575" cy="1694688"/>
          </a:xfrm>
          <a:prstGeom prst="rect">
            <a:avLst/>
          </a:prstGeom>
          <a:noFill/>
        </p:spPr>
        <p:txBody>
          <a:bodyPr wrap="square" lIns="0" rIns="0" tIns="0" bIns="0" anchor="t">
            <a:spAutoFit/>
          </a:bodyPr>
          <a:lstStyle/>
          <a:p>
            <a:pPr algn="l"/>
            <a:r>
              <a:rPr sz="1300" b="0" i="0">
                <a:solidFill>
                  <a:srgbClr val="1F2A44"/>
                </a:solidFill>
                <a:latin typeface="Calibri"/>
              </a:rPr>
              <a:t>Whole-estate Monte Carlo forecast over the retained content-census receipts (cr-bbf71c8d905a, cr-cb0e66bd3e24, cr-cf4eef79995b, cr-f1415e395361): 2,000 seeded simulations over 1,334 folder strata. Measured strata: normal draws around the census estimator and its standard error. Forecast strata: in each simulation a donor folder of the same media kind is drawn — every readable bucket is one witness (bucket weight ∝ √ of its files), its folders share that weight by file count, and a Gaussian kernel on log mean file size (σ = 1.0, widened until at least 3 donors carry weight) favours donors whose files look like the target's; hours = bytes × the donor's seconds per megabyte; speech, music and language hours = hours × the donor's shares. Strata are summed in every simulation; est is the median, lo–hi the 2.5th–97.5th percentiles. Intervals carry sampling and between-folder variation, not model error or the chance that refused buckets differ in kind from every readable one.</a:t>
            </a:r>
          </a:p>
        </p:txBody>
      </p:sp>
      <p:cxnSp>
        <p:nvCxnSpPr>
          <p:cNvPr id="9" name="Connector 8"/>
          <p:cNvCxnSpPr/>
          <p:nvPr/>
        </p:nvCxnSpPr>
        <p:spPr>
          <a:xfrm>
            <a:off x="594360" y="52669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1" name="TextBox 10"/>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2" name="TextBox 11"/>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hours, speech and what to decide</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