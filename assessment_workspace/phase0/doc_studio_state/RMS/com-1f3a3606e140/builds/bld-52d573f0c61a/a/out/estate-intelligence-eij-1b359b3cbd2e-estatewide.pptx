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Sheet8.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Sheet9.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Sheet10.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Sheet1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TiB</c:v>
                </c:pt>
              </c:strCache>
            </c:strRef>
          </c:tx>
          <c:spPr>
            <a:solidFill>
              <a:srgbClr val="C8102E"/>
            </a:solidFill>
          </c:spPr>
          <c:cat>
            <c:strRef>
              <c:f>Sheet1!$A$2:$A$4</c:f>
              <c:strCache>
                <c:ptCount val="3"/>
                <c:pt idx="0">
                  <c:v>Databases</c:v>
                </c:pt>
                <c:pt idx="1">
                  <c:v>Object store (OBS)</c:v>
                </c:pt>
                <c:pt idx="2">
                  <c:v>File shares (NAS)</c:v>
                </c:pt>
              </c:strCache>
            </c:strRef>
          </c:cat>
          <c:val>
            <c:numRef>
              <c:f>Sheet1!$B$2:$B$4</c:f>
              <c:numCache>
                <c:formatCode>General</c:formatCode>
                <c:ptCount val="3"/>
                <c:pt idx="0">
                  <c:v>0.34</c:v>
                </c:pt>
                <c:pt idx="1">
                  <c:v>130.75</c:v>
                </c:pt>
                <c:pt idx="2">
                  <c:v>43.88</c:v>
                </c:pt>
              </c:numCache>
            </c:numRef>
          </c:val>
        </c:ser>
        <c:dLbls>
          <c:numFmt formatCode="#,##0.0" sourceLinked="0"/>
          <c:txPr>
            <a:bodyPr/>
            <a:lstStyle/>
            <a:p>
              <a:pPr>
                <a:defRPr sz="1100">
                  <a:solidFill>
                    <a:srgbClr val="1F2A44"/>
                  </a:solidFill>
                  <a:latin typeface="Courier New"/>
                </a:defRPr>
              </a:pPr>
            </a:p>
          </c:txPr>
          <c:dLblPos val="outEnd"/>
          <c:showLegendKey val="0"/>
          <c:showVal val="1"/>
          <c:showCatName val="0"/>
          <c:showSerName val="0"/>
          <c:showPercent val="0"/>
          <c:showBubbleSize val="0"/>
          <c:showLeaderLines val="1"/>
        </c:dLbls>
        <c:gapWidth val="80"/>
        <c:axId val="-2068027336"/>
        <c:axId val="-2113994440"/>
      </c:barChart>
      <c:catAx>
        <c:axId val="-2068027336"/>
        <c:scaling>
          <c:orientation val="minMax"/>
        </c:scaling>
        <c:delete val="0"/>
        <c:axPos val="b"/>
        <c:majorTickMark val="out"/>
        <c:minorTickMark val="none"/>
        <c:tickLblPos val="nextTo"/>
        <c:spPr>
          <a:ln>
            <a:solidFill>
              <a:srgbClr val="D5DAE3"/>
            </a:solidFill>
          </a:ln>
        </c:spPr>
        <c:crossAx val="-2113994440"/>
        <c:crosses val="autoZero"/>
        <c:auto val="1"/>
        <c:lblAlgn val="ctr"/>
        <c:lblOffset val="100"/>
        <c:noMultiLvlLbl val="0"/>
      </c:catAx>
      <c:valAx>
        <c:axId val="-2113994440"/>
        <c:scaling/>
        <c:delete val="0"/>
        <c:axPos val="l"/>
        <c:majorGridlines>
          <c:spPr>
            <a:ln>
              <a:solidFill>
                <a:srgbClr val="D5DAE3"/>
              </a:solidFill>
            </a:ln>
          </c:spPr>
        </c:majorGridlines>
        <c:numFmt formatCode="#,##0.0" sourceLinked="0"/>
        <c:majorTickMark val="out"/>
        <c:minorTickMark val="none"/>
        <c:tickLblPos val="nextTo"/>
        <c:spPr>
          <a:ln>
            <a:noFill/>
          </a:ln>
        </c:spPr>
        <c:txPr>
          <a:bodyPr/>
          <a:lstStyle/>
          <a:p>
            <a:pPr>
              <a:defRPr>
                <a:latin typeface="Courier New"/>
              </a:defRPr>
            </a:pPr>
          </a:p>
        </c:txPr>
        <c:crossAx val="-2068027336"/>
        <c:crosses val="autoZero"/>
      </c:valAx>
    </c:plotArea>
    <c:dispBlanksAs val="gap"/>
  </c:chart>
  <c:txPr>
    <a:bodyPr/>
    <a:lstStyle/>
    <a:p>
      <a:pPr>
        <a:defRPr sz="1100">
          <a:solidFill>
            <a:srgbClr val="8A94A6"/>
          </a:solidFill>
          <a:latin typeface="Calibri"/>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TiB</c:v>
                </c:pt>
              </c:strCache>
            </c:strRef>
          </c:tx>
          <c:spPr>
            <a:solidFill>
              <a:srgbClr val="C8102E"/>
            </a:solidFill>
          </c:spPr>
          <c:cat>
            <c:strRef>
              <c:f>Sheet1!$A$2:$A$9</c:f>
              <c:strCache>
                <c:ptCount val="8"/>
                <c:pt idx="0">
                  <c:v>2024offairrecs</c:v>
                </c:pt>
                <c:pt idx="1">
                  <c:v>music-bucket-rms (cold)</c:v>
                </c:pt>
                <c:pt idx="2">
                  <c:v>na7p43do (cold)</c:v>
                </c:pt>
                <c:pt idx="3">
                  <c:v>na7p43js (cold)</c:v>
                </c:pt>
                <c:pt idx="4">
                  <c:v>na7p434j (cold)</c:v>
                </c:pt>
                <c:pt idx="5">
                  <c:v>na7p41hj (cold)</c:v>
                </c:pt>
                <c:pt idx="6">
                  <c:v>na7p42xe (cold)</c:v>
                </c:pt>
                <c:pt idx="7">
                  <c:v>na7p42xw (cold)</c:v>
                </c:pt>
              </c:strCache>
            </c:strRef>
          </c:cat>
          <c:val>
            <c:numRef>
              <c:f>Sheet1!$B$2:$B$9</c:f>
              <c:numCache>
                <c:formatCode>General</c:formatCode>
                <c:ptCount val="8"/>
                <c:pt idx="0">
                  <c:v>86.74</c:v>
                </c:pt>
                <c:pt idx="1">
                  <c:v>4.93</c:v>
                </c:pt>
                <c:pt idx="2">
                  <c:v>4.1</c:v>
                </c:pt>
                <c:pt idx="3">
                  <c:v>3.57</c:v>
                </c:pt>
                <c:pt idx="4">
                  <c:v>3.5</c:v>
                </c:pt>
                <c:pt idx="5">
                  <c:v>3.48</c:v>
                </c:pt>
                <c:pt idx="6">
                  <c:v>3.44</c:v>
                </c:pt>
                <c:pt idx="7">
                  <c:v>3.4</c:v>
                </c:pt>
              </c:numCache>
            </c:numRef>
          </c:val>
        </c:ser>
        <c:dLbls>
          <c:numFmt formatCode="#,##0.0" sourceLinked="0"/>
          <c:txPr>
            <a:bodyPr/>
            <a:lstStyle/>
            <a:p>
              <a:pPr>
                <a:defRPr sz="1100">
                  <a:solidFill>
                    <a:srgbClr val="1F2A44"/>
                  </a:solidFill>
                  <a:latin typeface="Courier New"/>
                </a:defRPr>
              </a:pPr>
            </a:p>
          </c:txPr>
          <c:dLblPos val="outEnd"/>
          <c:showLegendKey val="0"/>
          <c:showVal val="1"/>
          <c:showCatName val="0"/>
          <c:showSerName val="0"/>
          <c:showPercent val="0"/>
          <c:showBubbleSize val="0"/>
          <c:showLeaderLines val="1"/>
        </c:dLbls>
        <c:gapWidth val="80"/>
        <c:axId val="-2068027336"/>
        <c:axId val="-2113994440"/>
      </c:barChart>
      <c:catAx>
        <c:axId val="-2068027336"/>
        <c:scaling>
          <c:orientation val="minMax"/>
        </c:scaling>
        <c:delete val="0"/>
        <c:axPos val="b"/>
        <c:majorTickMark val="out"/>
        <c:minorTickMark val="none"/>
        <c:tickLblPos val="nextTo"/>
        <c:spPr>
          <a:ln>
            <a:solidFill>
              <a:srgbClr val="D5DAE3"/>
            </a:solidFill>
          </a:ln>
        </c:spPr>
        <c:crossAx val="-2113994440"/>
        <c:crosses val="autoZero"/>
        <c:auto val="1"/>
        <c:lblAlgn val="ctr"/>
        <c:lblOffset val="100"/>
        <c:noMultiLvlLbl val="0"/>
      </c:catAx>
      <c:valAx>
        <c:axId val="-2113994440"/>
        <c:scaling/>
        <c:delete val="0"/>
        <c:axPos val="l"/>
        <c:majorGridlines>
          <c:spPr>
            <a:ln>
              <a:solidFill>
                <a:srgbClr val="D5DAE3"/>
              </a:solidFill>
            </a:ln>
          </c:spPr>
        </c:majorGridlines>
        <c:numFmt formatCode="#,##0.0" sourceLinked="0"/>
        <c:majorTickMark val="out"/>
        <c:minorTickMark val="none"/>
        <c:tickLblPos val="nextTo"/>
        <c:spPr>
          <a:ln>
            <a:noFill/>
          </a:ln>
        </c:spPr>
        <c:txPr>
          <a:bodyPr/>
          <a:lstStyle/>
          <a:p>
            <a:pPr>
              <a:defRPr>
                <a:latin typeface="Courier New"/>
              </a:defRPr>
            </a:pPr>
          </a:p>
        </c:txPr>
        <c:crossAx val="-2068027336"/>
        <c:crosses val="autoZero"/>
      </c:valAx>
    </c:plotArea>
    <c:dispBlanksAs val="gap"/>
  </c:chart>
  <c:txPr>
    <a:bodyPr/>
    <a:lstStyle/>
    <a:p>
      <a:pPr>
        <a:defRPr sz="1100">
          <a:solidFill>
            <a:srgbClr val="8A94A6"/>
          </a:solidFill>
          <a:latin typeface="Calibri"/>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GiB</c:v>
                </c:pt>
              </c:strCache>
            </c:strRef>
          </c:tx>
          <c:spPr>
            <a:solidFill>
              <a:srgbClr val="C8102E"/>
            </a:solidFill>
          </c:spPr>
          <c:cat>
            <c:strRef>
              <c:f>Sheet1!$A$2:$A$8</c:f>
              <c:strCache>
                <c:ptCount val="7"/>
                <c:pt idx="0">
                  <c:v>Move buckets not written for over a year</c:v>
                </c:pt>
                <c:pt idx="1">
                  <c:v>Reconcile duplicate objects across OBS b</c:v>
                </c:pt>
                <c:pt idx="2">
                  <c:v>Move tables not written for over a year </c:v>
                </c:pt>
                <c:pt idx="3">
                  <c:v>Remove redundant (prefix-covered) indexe</c:v>
                </c:pt>
                <c:pt idx="4">
                  <c:v>De-duplicate exact repeated rows inside </c:v>
                </c:pt>
                <c:pt idx="5">
                  <c:v>Consolidate duplicate and staging copies</c:v>
                </c:pt>
                <c:pt idx="6">
                  <c:v>Drop or archive empty tables</c:v>
                </c:pt>
              </c:strCache>
            </c:strRef>
          </c:cat>
          <c:val>
            <c:numRef>
              <c:f>Sheet1!$B$2:$B$8</c:f>
              <c:numCache>
                <c:formatCode>General</c:formatCode>
                <c:ptCount val="7"/>
                <c:pt idx="0">
                  <c:v>42891.0</c:v>
                </c:pt>
                <c:pt idx="1">
                  <c:v>7840.5</c:v>
                </c:pt>
                <c:pt idx="2">
                  <c:v>54.1</c:v>
                </c:pt>
                <c:pt idx="3">
                  <c:v>14.0</c:v>
                </c:pt>
                <c:pt idx="4">
                  <c:v>1.2</c:v>
                </c:pt>
                <c:pt idx="5">
                  <c:v>0.1</c:v>
                </c:pt>
                <c:pt idx="6">
                  <c:v>0.0</c:v>
                </c:pt>
              </c:numCache>
            </c:numRef>
          </c:val>
        </c:ser>
        <c:dLbls>
          <c:numFmt formatCode="#,##0.0" sourceLinked="0"/>
          <c:txPr>
            <a:bodyPr/>
            <a:lstStyle/>
            <a:p>
              <a:pPr>
                <a:defRPr sz="1100">
                  <a:solidFill>
                    <a:srgbClr val="1F2A44"/>
                  </a:solidFill>
                  <a:latin typeface="Courier New"/>
                </a:defRPr>
              </a:pPr>
            </a:p>
          </c:txPr>
          <c:dLblPos val="outEnd"/>
          <c:showLegendKey val="0"/>
          <c:showVal val="1"/>
          <c:showCatName val="0"/>
          <c:showSerName val="0"/>
          <c:showPercent val="0"/>
          <c:showBubbleSize val="0"/>
          <c:showLeaderLines val="1"/>
        </c:dLbls>
        <c:gapWidth val="80"/>
        <c:axId val="-2068027336"/>
        <c:axId val="-2113994440"/>
      </c:barChart>
      <c:catAx>
        <c:axId val="-2068027336"/>
        <c:scaling>
          <c:orientation val="minMax"/>
        </c:scaling>
        <c:delete val="0"/>
        <c:axPos val="b"/>
        <c:majorTickMark val="out"/>
        <c:minorTickMark val="none"/>
        <c:tickLblPos val="nextTo"/>
        <c:spPr>
          <a:ln>
            <a:solidFill>
              <a:srgbClr val="D5DAE3"/>
            </a:solidFill>
          </a:ln>
        </c:spPr>
        <c:crossAx val="-2113994440"/>
        <c:crosses val="autoZero"/>
        <c:auto val="1"/>
        <c:lblAlgn val="ctr"/>
        <c:lblOffset val="100"/>
        <c:noMultiLvlLbl val="0"/>
      </c:catAx>
      <c:valAx>
        <c:axId val="-2113994440"/>
        <c:scaling/>
        <c:delete val="0"/>
        <c:axPos val="l"/>
        <c:majorGridlines>
          <c:spPr>
            <a:ln>
              <a:solidFill>
                <a:srgbClr val="D5DAE3"/>
              </a:solidFill>
            </a:ln>
          </c:spPr>
        </c:majorGridlines>
        <c:numFmt formatCode="#,##0.0" sourceLinked="0"/>
        <c:majorTickMark val="out"/>
        <c:minorTickMark val="none"/>
        <c:tickLblPos val="nextTo"/>
        <c:spPr>
          <a:ln>
            <a:noFill/>
          </a:ln>
        </c:spPr>
        <c:txPr>
          <a:bodyPr/>
          <a:lstStyle/>
          <a:p>
            <a:pPr>
              <a:defRPr>
                <a:latin typeface="Courier New"/>
              </a:defRPr>
            </a:pPr>
          </a:p>
        </c:txPr>
        <c:crossAx val="-2068027336"/>
        <c:crosses val="autoZero"/>
      </c:valAx>
    </c:plotArea>
    <c:dispBlanksAs val="gap"/>
  </c:chart>
  <c:txPr>
    <a:bodyPr/>
    <a:lstStyle/>
    <a:p>
      <a:pPr>
        <a:defRPr sz="1100">
          <a:solidFill>
            <a:srgbClr val="8A94A6"/>
          </a:solidFill>
          <a:latin typeface="Calibri"/>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Share</c:v>
                </c:pt>
              </c:strCache>
            </c:strRef>
          </c:tx>
          <c:spPr>
            <a:solidFill>
              <a:srgbClr val="C8102E"/>
            </a:solidFill>
          </c:spPr>
          <c:cat>
            <c:strRef>
              <c:f>Sheet1!$A$2:$A$6</c:f>
              <c:strCache>
                <c:ptCount val="5"/>
                <c:pt idx="0">
                  <c:v>Exact duplicates</c:v>
                </c:pt>
                <c:pt idx="1">
                  <c:v>Degraded</c:v>
                </c:pt>
                <c:pt idx="2">
                  <c:v>Empty required fields</c:v>
                </c:pt>
                <c:pt idx="3">
                  <c:v>PII markers (sampled)</c:v>
                </c:pt>
                <c:pt idx="4">
                  <c:v>Stale bytes</c:v>
                </c:pt>
              </c:strCache>
            </c:strRef>
          </c:cat>
          <c:val>
            <c:numRef>
              <c:f>Sheet1!$B$2:$B$6</c:f>
              <c:numCache>
                <c:formatCode>General</c:formatCode>
                <c:ptCount val="5"/>
                <c:pt idx="0">
                  <c:v>0.015</c:v>
                </c:pt>
                <c:pt idx="1">
                  <c:v>0.23</c:v>
                </c:pt>
                <c:pt idx="2">
                  <c:v>0.817</c:v>
                </c:pt>
                <c:pt idx="3">
                  <c:v>0.718</c:v>
                </c:pt>
                <c:pt idx="4">
                  <c:v>0.154</c:v>
                </c:pt>
              </c:numCache>
            </c:numRef>
          </c:val>
        </c:ser>
        <c:dLbls>
          <c:numFmt formatCode="0.0%" sourceLinked="0"/>
          <c:txPr>
            <a:bodyPr/>
            <a:lstStyle/>
            <a:p>
              <a:pPr>
                <a:defRPr sz="1100">
                  <a:solidFill>
                    <a:srgbClr val="1F2A44"/>
                  </a:solidFill>
                  <a:latin typeface="Courier New"/>
                </a:defRPr>
              </a:pPr>
            </a:p>
          </c:txPr>
          <c:dLblPos val="outEnd"/>
          <c:showLegendKey val="0"/>
          <c:showVal val="1"/>
          <c:showCatName val="0"/>
          <c:showSerName val="0"/>
          <c:showPercent val="0"/>
          <c:showBubbleSize val="0"/>
          <c:showLeaderLines val="1"/>
        </c:dLbls>
        <c:gapWidth val="80"/>
        <c:axId val="-2068027336"/>
        <c:axId val="-2113994440"/>
      </c:barChart>
      <c:catAx>
        <c:axId val="-2068027336"/>
        <c:scaling>
          <c:orientation val="minMax"/>
        </c:scaling>
        <c:delete val="0"/>
        <c:axPos val="b"/>
        <c:majorTickMark val="out"/>
        <c:minorTickMark val="none"/>
        <c:tickLblPos val="nextTo"/>
        <c:spPr>
          <a:ln>
            <a:solidFill>
              <a:srgbClr val="D5DAE3"/>
            </a:solidFill>
          </a:ln>
        </c:spPr>
        <c:crossAx val="-2113994440"/>
        <c:crosses val="autoZero"/>
        <c:auto val="1"/>
        <c:lblAlgn val="ctr"/>
        <c:lblOffset val="100"/>
        <c:noMultiLvlLbl val="0"/>
      </c:catAx>
      <c:valAx>
        <c:axId val="-2113994440"/>
        <c:scaling/>
        <c:delete val="0"/>
        <c:axPos val="l"/>
        <c:majorGridlines>
          <c:spPr>
            <a:ln>
              <a:solidFill>
                <a:srgbClr val="D5DAE3"/>
              </a:solidFill>
            </a:ln>
          </c:spPr>
        </c:majorGridlines>
        <c:numFmt formatCode="0.0%" sourceLinked="0"/>
        <c:majorTickMark val="out"/>
        <c:minorTickMark val="none"/>
        <c:tickLblPos val="nextTo"/>
        <c:spPr>
          <a:ln>
            <a:noFill/>
          </a:ln>
        </c:spPr>
        <c:txPr>
          <a:bodyPr/>
          <a:lstStyle/>
          <a:p>
            <a:pPr>
              <a:defRPr>
                <a:latin typeface="Courier New"/>
              </a:defRPr>
            </a:pPr>
          </a:p>
        </c:txPr>
        <c:crossAx val="-2068027336"/>
        <c:crosses val="autoZero"/>
      </c:valAx>
    </c:plotArea>
    <c:dispBlanksAs val="gap"/>
  </c:chart>
  <c:txPr>
    <a:bodyPr/>
    <a:lstStyle/>
    <a:p>
      <a:pPr>
        <a:defRPr sz="1100">
          <a:solidFill>
            <a:srgbClr val="8A94A6"/>
          </a:solidFill>
          <a:latin typeface="Calibri"/>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GiB</c:v>
                </c:pt>
              </c:strCache>
            </c:strRef>
          </c:tx>
          <c:spPr>
            <a:solidFill>
              <a:srgbClr val="C8102E"/>
            </a:solidFill>
          </c:spPr>
          <c:cat>
            <c:strRef>
              <c:f>Sheet1!$A$2:$A$9</c:f>
              <c:strCache>
                <c:ptCount val="8"/>
                <c:pt idx="0">
                  <c:v>viusasa_staging (D)</c:v>
                </c:pt>
                <c:pt idx="1">
                  <c:v>razuna (D)</c:v>
                </c:pt>
                <c:pt idx="2">
                  <c:v>db_visitors (D)</c:v>
                </c:pt>
                <c:pt idx="3">
                  <c:v>kra_reports (D)</c:v>
                </c:pt>
                <c:pt idx="4">
                  <c:v>viupay_agent_staging (A)</c:v>
                </c:pt>
                <c:pt idx="5">
                  <c:v>news_vault (C)</c:v>
                </c:pt>
                <c:pt idx="6">
                  <c:v>local (D)</c:v>
                </c:pt>
                <c:pt idx="7">
                  <c:v>viutickets (B)</c:v>
                </c:pt>
              </c:strCache>
            </c:strRef>
          </c:cat>
          <c:val>
            <c:numRef>
              <c:f>Sheet1!$B$2:$B$9</c:f>
              <c:numCache>
                <c:formatCode>General</c:formatCode>
                <c:ptCount val="8"/>
                <c:pt idx="0">
                  <c:v>338.5</c:v>
                </c:pt>
                <c:pt idx="1">
                  <c:v>4.5</c:v>
                </c:pt>
                <c:pt idx="2">
                  <c:v>2.7</c:v>
                </c:pt>
                <c:pt idx="3">
                  <c:v>1.5</c:v>
                </c:pt>
                <c:pt idx="4">
                  <c:v>1.2</c:v>
                </c:pt>
                <c:pt idx="5">
                  <c:v>0.9</c:v>
                </c:pt>
                <c:pt idx="6">
                  <c:v>0.5</c:v>
                </c:pt>
                <c:pt idx="7">
                  <c:v>0.4</c:v>
                </c:pt>
              </c:numCache>
            </c:numRef>
          </c:val>
        </c:ser>
        <c:dLbls>
          <c:numFmt formatCode="#,##0.0" sourceLinked="0"/>
          <c:txPr>
            <a:bodyPr/>
            <a:lstStyle/>
            <a:p>
              <a:pPr>
                <a:defRPr sz="1100">
                  <a:solidFill>
                    <a:srgbClr val="1F2A44"/>
                  </a:solidFill>
                  <a:latin typeface="Courier New"/>
                </a:defRPr>
              </a:pPr>
            </a:p>
          </c:txPr>
          <c:dLblPos val="outEnd"/>
          <c:showLegendKey val="0"/>
          <c:showVal val="1"/>
          <c:showCatName val="0"/>
          <c:showSerName val="0"/>
          <c:showPercent val="0"/>
          <c:showBubbleSize val="0"/>
          <c:showLeaderLines val="1"/>
        </c:dLbls>
        <c:gapWidth val="80"/>
        <c:axId val="-2068027336"/>
        <c:axId val="-2113994440"/>
      </c:barChart>
      <c:catAx>
        <c:axId val="-2068027336"/>
        <c:scaling>
          <c:orientation val="minMax"/>
        </c:scaling>
        <c:delete val="0"/>
        <c:axPos val="b"/>
        <c:majorTickMark val="out"/>
        <c:minorTickMark val="none"/>
        <c:tickLblPos val="nextTo"/>
        <c:spPr>
          <a:ln>
            <a:solidFill>
              <a:srgbClr val="D5DAE3"/>
            </a:solidFill>
          </a:ln>
        </c:spPr>
        <c:crossAx val="-2113994440"/>
        <c:crosses val="autoZero"/>
        <c:auto val="1"/>
        <c:lblAlgn val="ctr"/>
        <c:lblOffset val="100"/>
        <c:noMultiLvlLbl val="0"/>
      </c:catAx>
      <c:valAx>
        <c:axId val="-2113994440"/>
        <c:scaling/>
        <c:delete val="0"/>
        <c:axPos val="l"/>
        <c:majorGridlines>
          <c:spPr>
            <a:ln>
              <a:solidFill>
                <a:srgbClr val="D5DAE3"/>
              </a:solidFill>
            </a:ln>
          </c:spPr>
        </c:majorGridlines>
        <c:numFmt formatCode="#,##0.0" sourceLinked="0"/>
        <c:majorTickMark val="out"/>
        <c:minorTickMark val="none"/>
        <c:tickLblPos val="nextTo"/>
        <c:spPr>
          <a:ln>
            <a:noFill/>
          </a:ln>
        </c:spPr>
        <c:txPr>
          <a:bodyPr/>
          <a:lstStyle/>
          <a:p>
            <a:pPr>
              <a:defRPr>
                <a:latin typeface="Courier New"/>
              </a:defRPr>
            </a:pPr>
          </a:p>
        </c:txPr>
        <c:crossAx val="-2068027336"/>
        <c:crosses val="autoZero"/>
      </c:valAx>
    </c:plotArea>
    <c:dispBlanksAs val="gap"/>
  </c:chart>
  <c:txPr>
    <a:bodyPr/>
    <a:lstStyle/>
    <a:p>
      <a:pPr>
        <a:defRPr sz="1100">
          <a:solidFill>
            <a:srgbClr val="8A94A6"/>
          </a:solidFill>
          <a:latin typeface="Calibri"/>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Hours</c:v>
                </c:pt>
              </c:strCache>
            </c:strRef>
          </c:tx>
          <c:spPr>
            <a:solidFill>
              <a:srgbClr val="C8102E"/>
            </a:solidFill>
          </c:spPr>
          <c:cat>
            <c:strRef>
              <c:f>Sheet1!$A$2:$A$9</c:f>
              <c:strCache>
                <c:ptCount val="8"/>
                <c:pt idx="0">
                  <c:v>Ekegusii (Kisii)</c:v>
                </c:pt>
                <c:pt idx="1">
                  <c:v>Kalenjin</c:v>
                </c:pt>
                <c:pt idx="2">
                  <c:v>Kiswahili</c:v>
                </c:pt>
                <c:pt idx="3">
                  <c:v>Kikamba (Kamba)</c:v>
                </c:pt>
                <c:pt idx="4">
                  <c:v>Gikuyu (Kikuyu)</c:v>
                </c:pt>
                <c:pt idx="5">
                  <c:v>Dholuo (Luo)</c:v>
                </c:pt>
                <c:pt idx="6">
                  <c:v>Wanga (Luhya)</c:v>
                </c:pt>
                <c:pt idx="7">
                  <c:v>Bukusu (Luhya)</c:v>
                </c:pt>
              </c:strCache>
            </c:strRef>
          </c:cat>
          <c:val>
            <c:numRef>
              <c:f>Sheet1!$B$2:$B$9</c:f>
              <c:numCache>
                <c:formatCode>General</c:formatCode>
                <c:ptCount val="8"/>
                <c:pt idx="0">
                  <c:v>76.7</c:v>
                </c:pt>
                <c:pt idx="1">
                  <c:v>73.2</c:v>
                </c:pt>
                <c:pt idx="2">
                  <c:v>78.5</c:v>
                </c:pt>
                <c:pt idx="3">
                  <c:v>67.8</c:v>
                </c:pt>
                <c:pt idx="4">
                  <c:v>65.9</c:v>
                </c:pt>
                <c:pt idx="5">
                  <c:v>51.7</c:v>
                </c:pt>
                <c:pt idx="6">
                  <c:v>6.8</c:v>
                </c:pt>
                <c:pt idx="7">
                  <c:v>0.7</c:v>
                </c:pt>
              </c:numCache>
            </c:numRef>
          </c:val>
        </c:ser>
        <c:dLbls>
          <c:numFmt formatCode="#,##0.0" sourceLinked="0"/>
          <c:txPr>
            <a:bodyPr/>
            <a:lstStyle/>
            <a:p>
              <a:pPr>
                <a:defRPr sz="1100">
                  <a:solidFill>
                    <a:srgbClr val="1F2A44"/>
                  </a:solidFill>
                  <a:latin typeface="Courier New"/>
                </a:defRPr>
              </a:pPr>
            </a:p>
          </c:txPr>
          <c:dLblPos val="outEnd"/>
          <c:showLegendKey val="0"/>
          <c:showVal val="1"/>
          <c:showCatName val="0"/>
          <c:showSerName val="0"/>
          <c:showPercent val="0"/>
          <c:showBubbleSize val="0"/>
          <c:showLeaderLines val="1"/>
        </c:dLbls>
        <c:gapWidth val="80"/>
        <c:axId val="-2068027336"/>
        <c:axId val="-2113994440"/>
      </c:barChart>
      <c:catAx>
        <c:axId val="-2068027336"/>
        <c:scaling>
          <c:orientation val="minMax"/>
        </c:scaling>
        <c:delete val="0"/>
        <c:axPos val="b"/>
        <c:majorTickMark val="out"/>
        <c:minorTickMark val="none"/>
        <c:tickLblPos val="nextTo"/>
        <c:spPr>
          <a:ln>
            <a:solidFill>
              <a:srgbClr val="D5DAE3"/>
            </a:solidFill>
          </a:ln>
        </c:spPr>
        <c:crossAx val="-2113994440"/>
        <c:crosses val="autoZero"/>
        <c:auto val="1"/>
        <c:lblAlgn val="ctr"/>
        <c:lblOffset val="100"/>
        <c:noMultiLvlLbl val="0"/>
      </c:catAx>
      <c:valAx>
        <c:axId val="-2113994440"/>
        <c:scaling/>
        <c:delete val="0"/>
        <c:axPos val="l"/>
        <c:majorGridlines>
          <c:spPr>
            <a:ln>
              <a:solidFill>
                <a:srgbClr val="D5DAE3"/>
              </a:solidFill>
            </a:ln>
          </c:spPr>
        </c:majorGridlines>
        <c:numFmt formatCode="#,##0.0" sourceLinked="0"/>
        <c:majorTickMark val="out"/>
        <c:minorTickMark val="none"/>
        <c:tickLblPos val="nextTo"/>
        <c:spPr>
          <a:ln>
            <a:noFill/>
          </a:ln>
        </c:spPr>
        <c:txPr>
          <a:bodyPr/>
          <a:lstStyle/>
          <a:p>
            <a:pPr>
              <a:defRPr>
                <a:latin typeface="Courier New"/>
              </a:defRPr>
            </a:pPr>
          </a:p>
        </c:txPr>
        <c:crossAx val="-2068027336"/>
        <c:crosses val="autoZero"/>
      </c:valAx>
    </c:plotArea>
    <c:dispBlanksAs val="gap"/>
  </c:chart>
  <c:txPr>
    <a:bodyPr/>
    <a:lstStyle/>
    <a:p>
      <a:pPr>
        <a:defRPr sz="1100">
          <a:solidFill>
            <a:srgbClr val="8A94A6"/>
          </a:solidFill>
          <a:latin typeface="Calibri"/>
        </a:defRPr>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Share</c:v>
                </c:pt>
              </c:strCache>
            </c:strRef>
          </c:tx>
          <c:spPr>
            <a:solidFill>
              <a:srgbClr val="C8102E"/>
            </a:solidFill>
          </c:spPr>
          <c:cat>
            <c:strRef>
              <c:f>Sheet1!$A$2:$A$9</c:f>
              <c:strCache>
                <c:ptCount val="8"/>
                <c:pt idx="0">
                  <c:v>Ekegusii (Kisii)</c:v>
                </c:pt>
                <c:pt idx="1">
                  <c:v>Kalenjin</c:v>
                </c:pt>
                <c:pt idx="2">
                  <c:v>Kiswahili</c:v>
                </c:pt>
                <c:pt idx="3">
                  <c:v>Kikamba (Kamba)</c:v>
                </c:pt>
                <c:pt idx="4">
                  <c:v>Gikuyu (Kikuyu)</c:v>
                </c:pt>
                <c:pt idx="5">
                  <c:v>Dholuo (Luo)</c:v>
                </c:pt>
                <c:pt idx="6">
                  <c:v>Wanga (Luhya)</c:v>
                </c:pt>
                <c:pt idx="7">
                  <c:v>Bukusu (Luhya)</c:v>
                </c:pt>
              </c:strCache>
            </c:strRef>
          </c:cat>
          <c:val>
            <c:numRef>
              <c:f>Sheet1!$B$2:$B$9</c:f>
              <c:numCache>
                <c:formatCode>General</c:formatCode>
                <c:ptCount val="8"/>
                <c:pt idx="0">
                  <c:v>0.8609</c:v>
                </c:pt>
                <c:pt idx="1">
                  <c:v>0.8991</c:v>
                </c:pt>
                <c:pt idx="2">
                  <c:v>0.7869</c:v>
                </c:pt>
                <c:pt idx="3">
                  <c:v>0.7092</c:v>
                </c:pt>
                <c:pt idx="4">
                  <c:v>0.7981</c:v>
                </c:pt>
                <c:pt idx="5">
                  <c:v>0.8949</c:v>
                </c:pt>
                <c:pt idx="6">
                  <c:v>0.8867</c:v>
                </c:pt>
                <c:pt idx="7">
                  <c:v>0</c:v>
                </c:pt>
              </c:numCache>
            </c:numRef>
          </c:val>
        </c:ser>
        <c:dLbls>
          <c:numFmt formatCode="0.0%" sourceLinked="0"/>
          <c:txPr>
            <a:bodyPr/>
            <a:lstStyle/>
            <a:p>
              <a:pPr>
                <a:defRPr sz="1100">
                  <a:solidFill>
                    <a:srgbClr val="1F2A44"/>
                  </a:solidFill>
                  <a:latin typeface="Courier New"/>
                </a:defRPr>
              </a:pPr>
            </a:p>
          </c:txPr>
          <c:dLblPos val="outEnd"/>
          <c:showLegendKey val="0"/>
          <c:showVal val="1"/>
          <c:showCatName val="0"/>
          <c:showSerName val="0"/>
          <c:showPercent val="0"/>
          <c:showBubbleSize val="0"/>
          <c:showLeaderLines val="1"/>
        </c:dLbls>
        <c:gapWidth val="80"/>
        <c:axId val="-2068027336"/>
        <c:axId val="-2113994440"/>
      </c:barChart>
      <c:catAx>
        <c:axId val="-2068027336"/>
        <c:scaling>
          <c:orientation val="minMax"/>
        </c:scaling>
        <c:delete val="0"/>
        <c:axPos val="b"/>
        <c:majorTickMark val="out"/>
        <c:minorTickMark val="none"/>
        <c:tickLblPos val="nextTo"/>
        <c:spPr>
          <a:ln>
            <a:solidFill>
              <a:srgbClr val="D5DAE3"/>
            </a:solidFill>
          </a:ln>
        </c:spPr>
        <c:crossAx val="-2113994440"/>
        <c:crosses val="autoZero"/>
        <c:auto val="1"/>
        <c:lblAlgn val="ctr"/>
        <c:lblOffset val="100"/>
        <c:noMultiLvlLbl val="0"/>
      </c:catAx>
      <c:valAx>
        <c:axId val="-2113994440"/>
        <c:scaling/>
        <c:delete val="0"/>
        <c:axPos val="l"/>
        <c:majorGridlines>
          <c:spPr>
            <a:ln>
              <a:solidFill>
                <a:srgbClr val="D5DAE3"/>
              </a:solidFill>
            </a:ln>
          </c:spPr>
        </c:majorGridlines>
        <c:numFmt formatCode="0.0%" sourceLinked="0"/>
        <c:majorTickMark val="out"/>
        <c:minorTickMark val="none"/>
        <c:tickLblPos val="nextTo"/>
        <c:spPr>
          <a:ln>
            <a:noFill/>
          </a:ln>
        </c:spPr>
        <c:txPr>
          <a:bodyPr/>
          <a:lstStyle/>
          <a:p>
            <a:pPr>
              <a:defRPr>
                <a:latin typeface="Courier New"/>
              </a:defRPr>
            </a:pPr>
          </a:p>
        </c:txPr>
        <c:crossAx val="-2068027336"/>
        <c:crosses val="autoZero"/>
      </c:valAx>
    </c:plotArea>
    <c:dispBlanksAs val="gap"/>
  </c:chart>
  <c:txPr>
    <a:bodyPr/>
    <a:lstStyle/>
    <a:p>
      <a:pPr>
        <a:defRPr sz="1100">
          <a:solidFill>
            <a:srgbClr val="8A94A6"/>
          </a:solidFill>
          <a:latin typeface="Calibri"/>
        </a:defRPr>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Scripts</c:v>
                </c:pt>
              </c:strCache>
            </c:strRef>
          </c:tx>
          <c:spPr>
            <a:solidFill>
              <a:srgbClr val="C8102E"/>
            </a:solidFill>
          </c:spPr>
          <c:cat>
            <c:strRef>
              <c:f>Sheet1!$A$2:$A$14</c:f>
              <c:strCache>
                <c:ptCount val="13"/>
                <c:pt idx="0">
                  <c:v>Muuga FM · Meru</c:v>
                </c:pt>
                <c:pt idx="1">
                  <c:v>Radio Citizen · Kiswahili</c:v>
                </c:pt>
                <c:pt idx="2">
                  <c:v>Chamgei · Kalenjin</c:v>
                </c:pt>
                <c:pt idx="3">
                  <c:v>Mulembe FM · Luhya</c:v>
                </c:pt>
                <c:pt idx="4">
                  <c:v>Wimwaro FM · Embu</c:v>
                </c:pt>
                <c:pt idx="5">
                  <c:v>Hot 96 · English</c:v>
                </c:pt>
                <c:pt idx="6">
                  <c:v>Egesa · Kisii</c:v>
                </c:pt>
                <c:pt idx="7">
                  <c:v>Musyi FM · Akamba</c:v>
                </c:pt>
                <c:pt idx="8">
                  <c:v>Sulwe FM · Bukusu</c:v>
                </c:pt>
                <c:pt idx="9">
                  <c:v>Bahari FM · Kiswahili</c:v>
                </c:pt>
                <c:pt idx="10">
                  <c:v>Inooro FM · Kikuyu</c:v>
                </c:pt>
                <c:pt idx="11">
                  <c:v>Vuuka · Maragoli</c:v>
                </c:pt>
                <c:pt idx="12">
                  <c:v>Ramogi FM · Luo</c:v>
                </c:pt>
              </c:strCache>
            </c:strRef>
          </c:cat>
          <c:val>
            <c:numRef>
              <c:f>Sheet1!$B$2:$B$14</c:f>
              <c:numCache>
                <c:formatCode>General</c:formatCode>
                <c:ptCount val="13"/>
                <c:pt idx="0">
                  <c:v>27467</c:v>
                </c:pt>
                <c:pt idx="1">
                  <c:v>27240</c:v>
                </c:pt>
                <c:pt idx="2">
                  <c:v>26787</c:v>
                </c:pt>
                <c:pt idx="3">
                  <c:v>22191</c:v>
                </c:pt>
                <c:pt idx="4">
                  <c:v>19664</c:v>
                </c:pt>
                <c:pt idx="5">
                  <c:v>18136</c:v>
                </c:pt>
                <c:pt idx="6">
                  <c:v>17606</c:v>
                </c:pt>
                <c:pt idx="7">
                  <c:v>17581</c:v>
                </c:pt>
                <c:pt idx="8">
                  <c:v>16749</c:v>
                </c:pt>
                <c:pt idx="9">
                  <c:v>16177</c:v>
                </c:pt>
                <c:pt idx="10">
                  <c:v>15376</c:v>
                </c:pt>
                <c:pt idx="11">
                  <c:v>15336</c:v>
                </c:pt>
                <c:pt idx="12">
                  <c:v>8013</c:v>
                </c:pt>
              </c:numCache>
            </c:numRef>
          </c:val>
        </c:ser>
        <c:dLbls>
          <c:numFmt formatCode="#,##0.0" sourceLinked="0"/>
          <c:txPr>
            <a:bodyPr/>
            <a:lstStyle/>
            <a:p>
              <a:pPr>
                <a:defRPr sz="1100">
                  <a:solidFill>
                    <a:srgbClr val="1F2A44"/>
                  </a:solidFill>
                  <a:latin typeface="Courier New"/>
                </a:defRPr>
              </a:pPr>
            </a:p>
          </c:txPr>
          <c:dLblPos val="outEnd"/>
          <c:showLegendKey val="0"/>
          <c:showVal val="1"/>
          <c:showCatName val="0"/>
          <c:showSerName val="0"/>
          <c:showPercent val="0"/>
          <c:showBubbleSize val="0"/>
          <c:showLeaderLines val="1"/>
        </c:dLbls>
        <c:gapWidth val="80"/>
        <c:axId val="-2068027336"/>
        <c:axId val="-2113994440"/>
      </c:barChart>
      <c:catAx>
        <c:axId val="-2068027336"/>
        <c:scaling>
          <c:orientation val="minMax"/>
        </c:scaling>
        <c:delete val="0"/>
        <c:axPos val="b"/>
        <c:majorTickMark val="out"/>
        <c:minorTickMark val="none"/>
        <c:tickLblPos val="nextTo"/>
        <c:spPr>
          <a:ln>
            <a:solidFill>
              <a:srgbClr val="D5DAE3"/>
            </a:solidFill>
          </a:ln>
        </c:spPr>
        <c:crossAx val="-2113994440"/>
        <c:crosses val="autoZero"/>
        <c:auto val="1"/>
        <c:lblAlgn val="ctr"/>
        <c:lblOffset val="100"/>
        <c:noMultiLvlLbl val="0"/>
      </c:catAx>
      <c:valAx>
        <c:axId val="-2113994440"/>
        <c:scaling/>
        <c:delete val="0"/>
        <c:axPos val="l"/>
        <c:majorGridlines>
          <c:spPr>
            <a:ln>
              <a:solidFill>
                <a:srgbClr val="D5DAE3"/>
              </a:solidFill>
            </a:ln>
          </c:spPr>
        </c:majorGridlines>
        <c:numFmt formatCode="#,##0.0" sourceLinked="0"/>
        <c:majorTickMark val="out"/>
        <c:minorTickMark val="none"/>
        <c:tickLblPos val="nextTo"/>
        <c:spPr>
          <a:ln>
            <a:noFill/>
          </a:ln>
        </c:spPr>
        <c:txPr>
          <a:bodyPr/>
          <a:lstStyle/>
          <a:p>
            <a:pPr>
              <a:defRPr>
                <a:latin typeface="Courier New"/>
              </a:defRPr>
            </a:pPr>
          </a:p>
        </c:txPr>
        <c:crossAx val="-2068027336"/>
        <c:crosses val="autoZero"/>
      </c:valAx>
    </c:plotArea>
    <c:dispBlanksAs val="gap"/>
  </c:chart>
  <c:txPr>
    <a:bodyPr/>
    <a:lstStyle/>
    <a:p>
      <a:pPr>
        <a:defRPr sz="1100">
          <a:solidFill>
            <a:srgbClr val="8A94A6"/>
          </a:solidFill>
          <a:latin typeface="Calibri"/>
        </a:defRPr>
      </a:pPr>
      <a:endParaRPr lang="en-US"/>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Hours</c:v>
                </c:pt>
              </c:strCache>
            </c:strRef>
          </c:tx>
          <c:spPr>
            <a:solidFill>
              <a:srgbClr val="C8102E"/>
            </a:solidFill>
          </c:spPr>
          <c:cat>
            <c:strRef>
              <c:f>Sheet1!$A$2:$A$14</c:f>
              <c:strCache>
                <c:ptCount val="13"/>
                <c:pt idx="0">
                  <c:v>Muuga FM</c:v>
                </c:pt>
                <c:pt idx="1">
                  <c:v>Radio Citizen</c:v>
                </c:pt>
                <c:pt idx="2">
                  <c:v>Chamgei</c:v>
                </c:pt>
                <c:pt idx="3">
                  <c:v>Mulembe FM</c:v>
                </c:pt>
                <c:pt idx="4">
                  <c:v>Wimwaro FM</c:v>
                </c:pt>
                <c:pt idx="5">
                  <c:v>Hot 96</c:v>
                </c:pt>
                <c:pt idx="6">
                  <c:v>Egesa</c:v>
                </c:pt>
                <c:pt idx="7">
                  <c:v>Musyi FM</c:v>
                </c:pt>
                <c:pt idx="8">
                  <c:v>Sulwe FM</c:v>
                </c:pt>
                <c:pt idx="9">
                  <c:v>Bahari FM</c:v>
                </c:pt>
                <c:pt idx="10">
                  <c:v>Inooro FM</c:v>
                </c:pt>
                <c:pt idx="11">
                  <c:v>Vuuka</c:v>
                </c:pt>
                <c:pt idx="12">
                  <c:v>Ramogi FM</c:v>
                </c:pt>
              </c:strCache>
            </c:strRef>
          </c:cat>
          <c:val>
            <c:numRef>
              <c:f>Sheet1!$B$2:$B$14</c:f>
              <c:numCache>
                <c:formatCode>General</c:formatCode>
                <c:ptCount val="13"/>
                <c:pt idx="0">
                  <c:v>17.98</c:v>
                </c:pt>
                <c:pt idx="1">
                  <c:v>18.18</c:v>
                </c:pt>
                <c:pt idx="2">
                  <c:v>18.75</c:v>
                </c:pt>
                <c:pt idx="3">
                  <c:v>15.0</c:v>
                </c:pt>
                <c:pt idx="4">
                  <c:v>15.76</c:v>
                </c:pt>
                <c:pt idx="5">
                  <c:v>15.08</c:v>
                </c:pt>
                <c:pt idx="6">
                  <c:v>11.3</c:v>
                </c:pt>
                <c:pt idx="7">
                  <c:v>17.69</c:v>
                </c:pt>
                <c:pt idx="8">
                  <c:v>11.95</c:v>
                </c:pt>
                <c:pt idx="9">
                  <c:v>16.8</c:v>
                </c:pt>
                <c:pt idx="10">
                  <c:v>15.03</c:v>
                </c:pt>
                <c:pt idx="11">
                  <c:v>14.51</c:v>
                </c:pt>
                <c:pt idx="12">
                  <c:v>6.98</c:v>
                </c:pt>
              </c:numCache>
            </c:numRef>
          </c:val>
        </c:ser>
        <c:dLbls>
          <c:numFmt formatCode="#,##0.0" sourceLinked="0"/>
          <c:txPr>
            <a:bodyPr/>
            <a:lstStyle/>
            <a:p>
              <a:pPr>
                <a:defRPr sz="1100">
                  <a:solidFill>
                    <a:srgbClr val="1F2A44"/>
                  </a:solidFill>
                  <a:latin typeface="Courier New"/>
                </a:defRPr>
              </a:pPr>
            </a:p>
          </c:txPr>
          <c:dLblPos val="outEnd"/>
          <c:showLegendKey val="0"/>
          <c:showVal val="1"/>
          <c:showCatName val="0"/>
          <c:showSerName val="0"/>
          <c:showPercent val="0"/>
          <c:showBubbleSize val="0"/>
          <c:showLeaderLines val="1"/>
        </c:dLbls>
        <c:gapWidth val="80"/>
        <c:axId val="-2068027336"/>
        <c:axId val="-2113994440"/>
      </c:barChart>
      <c:catAx>
        <c:axId val="-2068027336"/>
        <c:scaling>
          <c:orientation val="minMax"/>
        </c:scaling>
        <c:delete val="0"/>
        <c:axPos val="b"/>
        <c:majorTickMark val="out"/>
        <c:minorTickMark val="none"/>
        <c:tickLblPos val="nextTo"/>
        <c:spPr>
          <a:ln>
            <a:solidFill>
              <a:srgbClr val="D5DAE3"/>
            </a:solidFill>
          </a:ln>
        </c:spPr>
        <c:crossAx val="-2113994440"/>
        <c:crosses val="autoZero"/>
        <c:auto val="1"/>
        <c:lblAlgn val="ctr"/>
        <c:lblOffset val="100"/>
        <c:noMultiLvlLbl val="0"/>
      </c:catAx>
      <c:valAx>
        <c:axId val="-2113994440"/>
        <c:scaling/>
        <c:delete val="0"/>
        <c:axPos val="l"/>
        <c:majorGridlines>
          <c:spPr>
            <a:ln>
              <a:solidFill>
                <a:srgbClr val="D5DAE3"/>
              </a:solidFill>
            </a:ln>
          </c:spPr>
        </c:majorGridlines>
        <c:numFmt formatCode="#,##0.0" sourceLinked="0"/>
        <c:majorTickMark val="out"/>
        <c:minorTickMark val="none"/>
        <c:tickLblPos val="nextTo"/>
        <c:spPr>
          <a:ln>
            <a:noFill/>
          </a:ln>
        </c:spPr>
        <c:txPr>
          <a:bodyPr/>
          <a:lstStyle/>
          <a:p>
            <a:pPr>
              <a:defRPr>
                <a:latin typeface="Courier New"/>
              </a:defRPr>
            </a:pPr>
          </a:p>
        </c:txPr>
        <c:crossAx val="-2068027336"/>
        <c:crosses val="autoZero"/>
      </c:valAx>
    </c:plotArea>
    <c:dispBlanksAs val="gap"/>
  </c:chart>
  <c:txPr>
    <a:bodyPr/>
    <a:lstStyle/>
    <a:p>
      <a:pPr>
        <a:defRPr sz="1100">
          <a:solidFill>
            <a:srgbClr val="8A94A6"/>
          </a:solidFill>
          <a:latin typeface="Calibri"/>
        </a:defRPr>
      </a:pPr>
      <a:endParaRPr lang="en-US"/>
    </a:p>
  </c:tx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Hours</c:v>
                </c:pt>
              </c:strCache>
            </c:strRef>
          </c:tx>
          <c:spPr>
            <a:solidFill>
              <a:srgbClr val="C8102E"/>
            </a:solidFill>
          </c:spPr>
          <c:cat>
            <c:strRef>
              <c:f>Sheet1!$A$2:$A$9</c:f>
              <c:strCache>
                <c:ptCount val="8"/>
                <c:pt idx="0">
                  <c:v>rmsbroadcast</c:v>
                </c:pt>
                <c:pt idx="1">
                  <c:v>music-bucket-rms</c:v>
                </c:pt>
                <c:pt idx="2">
                  <c:v>citizen-digital-cms-files</c:v>
                </c:pt>
                <c:pt idx="3">
                  <c:v>news-vault</c:v>
                </c:pt>
                <c:pt idx="4">
                  <c:v>chamgei-backup</c:v>
                </c:pt>
                <c:pt idx="5">
                  <c:v>google-transcripts</c:v>
                </c:pt>
                <c:pt idx="6">
                  <c:v>drivesdata.royalmedia</c:v>
                </c:pt>
                <c:pt idx="7">
                  <c:v>datauploadroyalmedia.co.ke</c:v>
                </c:pt>
              </c:strCache>
            </c:strRef>
          </c:cat>
          <c:val>
            <c:numRef>
              <c:f>Sheet1!$B$2:$B$9</c:f>
              <c:numCache>
                <c:formatCode>General</c:formatCode>
                <c:ptCount val="8"/>
                <c:pt idx="0">
                  <c:v>18983.2</c:v>
                </c:pt>
                <c:pt idx="1">
                  <c:v>12392.8</c:v>
                </c:pt>
                <c:pt idx="2">
                  <c:v>5978.6</c:v>
                </c:pt>
                <c:pt idx="3">
                  <c:v>1551.2</c:v>
                </c:pt>
                <c:pt idx="4">
                  <c:v>1475.7</c:v>
                </c:pt>
                <c:pt idx="5">
                  <c:v>530.3</c:v>
                </c:pt>
                <c:pt idx="6">
                  <c:v>138.5</c:v>
                </c:pt>
                <c:pt idx="7">
                  <c:v>13.7</c:v>
                </c:pt>
              </c:numCache>
            </c:numRef>
          </c:val>
        </c:ser>
        <c:dLbls>
          <c:numFmt formatCode="#,##0.0" sourceLinked="0"/>
          <c:txPr>
            <a:bodyPr/>
            <a:lstStyle/>
            <a:p>
              <a:pPr>
                <a:defRPr sz="1100">
                  <a:solidFill>
                    <a:srgbClr val="1F2A44"/>
                  </a:solidFill>
                  <a:latin typeface="Courier New"/>
                </a:defRPr>
              </a:pPr>
            </a:p>
          </c:txPr>
          <c:dLblPos val="outEnd"/>
          <c:showLegendKey val="0"/>
          <c:showVal val="1"/>
          <c:showCatName val="0"/>
          <c:showSerName val="0"/>
          <c:showPercent val="0"/>
          <c:showBubbleSize val="0"/>
          <c:showLeaderLines val="1"/>
        </c:dLbls>
        <c:gapWidth val="80"/>
        <c:axId val="-2068027336"/>
        <c:axId val="-2113994440"/>
      </c:barChart>
      <c:catAx>
        <c:axId val="-2068027336"/>
        <c:scaling>
          <c:orientation val="minMax"/>
        </c:scaling>
        <c:delete val="0"/>
        <c:axPos val="b"/>
        <c:majorTickMark val="out"/>
        <c:minorTickMark val="none"/>
        <c:tickLblPos val="nextTo"/>
        <c:spPr>
          <a:ln>
            <a:solidFill>
              <a:srgbClr val="D5DAE3"/>
            </a:solidFill>
          </a:ln>
        </c:spPr>
        <c:crossAx val="-2113994440"/>
        <c:crosses val="autoZero"/>
        <c:auto val="1"/>
        <c:lblAlgn val="ctr"/>
        <c:lblOffset val="100"/>
        <c:noMultiLvlLbl val="0"/>
      </c:catAx>
      <c:valAx>
        <c:axId val="-2113994440"/>
        <c:scaling/>
        <c:delete val="0"/>
        <c:axPos val="l"/>
        <c:majorGridlines>
          <c:spPr>
            <a:ln>
              <a:solidFill>
                <a:srgbClr val="D5DAE3"/>
              </a:solidFill>
            </a:ln>
          </c:spPr>
        </c:majorGridlines>
        <c:numFmt formatCode="#,##0.0" sourceLinked="0"/>
        <c:majorTickMark val="out"/>
        <c:minorTickMark val="none"/>
        <c:tickLblPos val="nextTo"/>
        <c:spPr>
          <a:ln>
            <a:noFill/>
          </a:ln>
        </c:spPr>
        <c:txPr>
          <a:bodyPr/>
          <a:lstStyle/>
          <a:p>
            <a:pPr>
              <a:defRPr>
                <a:latin typeface="Courier New"/>
              </a:defRPr>
            </a:pPr>
          </a:p>
        </c:txPr>
        <c:crossAx val="-2068027336"/>
        <c:crosses val="autoZero"/>
      </c:valAx>
    </c:plotArea>
    <c:dispBlanksAs val="gap"/>
  </c:chart>
  <c:txPr>
    <a:bodyPr/>
    <a:lstStyle/>
    <a:p>
      <a:pPr>
        <a:defRPr sz="1100">
          <a:solidFill>
            <a:srgbClr val="8A94A6"/>
          </a:solidFill>
          <a:latin typeface="Calibri"/>
        </a:defRPr>
      </a:pPr>
      <a:endParaRPr lang="en-US"/>
    </a:p>
  </c:tx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Hours</c:v>
                </c:pt>
              </c:strCache>
            </c:strRef>
          </c:tx>
          <c:spPr>
            <a:solidFill>
              <a:srgbClr val="C8102E"/>
            </a:solidFill>
          </c:spPr>
          <c:cat>
            <c:strRef>
              <c:f>Sheet1!$A$2:$A$8</c:f>
              <c:strCache>
                <c:ptCount val="7"/>
                <c:pt idx="0">
                  <c:v>Kiswahili</c:v>
                </c:pt>
                <c:pt idx="1">
                  <c:v>Gikuyu (Kikuyu)</c:v>
                </c:pt>
                <c:pt idx="2">
                  <c:v>Ekegusii (Kisii)</c:v>
                </c:pt>
                <c:pt idx="3">
                  <c:v>Wanga (Luhya)</c:v>
                </c:pt>
                <c:pt idx="4">
                  <c:v>Kalenjin</c:v>
                </c:pt>
                <c:pt idx="5">
                  <c:v>Dholuo (Luo)</c:v>
                </c:pt>
                <c:pt idx="6">
                  <c:v>Kikamba (Kamba)</c:v>
                </c:pt>
              </c:strCache>
            </c:strRef>
          </c:cat>
          <c:val>
            <c:numRef>
              <c:f>Sheet1!$B$2:$B$8</c:f>
              <c:numCache>
                <c:formatCode>General</c:formatCode>
                <c:ptCount val="7"/>
                <c:pt idx="0">
                  <c:v>4387.0</c:v>
                </c:pt>
                <c:pt idx="1">
                  <c:v>4374.0</c:v>
                </c:pt>
                <c:pt idx="2">
                  <c:v>2704.2</c:v>
                </c:pt>
                <c:pt idx="3">
                  <c:v>2691.8</c:v>
                </c:pt>
                <c:pt idx="4">
                  <c:v>2186.8</c:v>
                </c:pt>
                <c:pt idx="5">
                  <c:v>1897.2</c:v>
                </c:pt>
                <c:pt idx="6">
                  <c:v>1351.5</c:v>
                </c:pt>
              </c:numCache>
            </c:numRef>
          </c:val>
        </c:ser>
        <c:dLbls>
          <c:numFmt formatCode="#,##0.0" sourceLinked="0"/>
          <c:txPr>
            <a:bodyPr/>
            <a:lstStyle/>
            <a:p>
              <a:pPr>
                <a:defRPr sz="1100">
                  <a:solidFill>
                    <a:srgbClr val="1F2A44"/>
                  </a:solidFill>
                  <a:latin typeface="Courier New"/>
                </a:defRPr>
              </a:pPr>
            </a:p>
          </c:txPr>
          <c:dLblPos val="outEnd"/>
          <c:showLegendKey val="0"/>
          <c:showVal val="1"/>
          <c:showCatName val="0"/>
          <c:showSerName val="0"/>
          <c:showPercent val="0"/>
          <c:showBubbleSize val="0"/>
          <c:showLeaderLines val="1"/>
        </c:dLbls>
        <c:gapWidth val="80"/>
        <c:axId val="-2068027336"/>
        <c:axId val="-2113994440"/>
      </c:barChart>
      <c:catAx>
        <c:axId val="-2068027336"/>
        <c:scaling>
          <c:orientation val="minMax"/>
        </c:scaling>
        <c:delete val="0"/>
        <c:axPos val="b"/>
        <c:majorTickMark val="out"/>
        <c:minorTickMark val="none"/>
        <c:tickLblPos val="nextTo"/>
        <c:spPr>
          <a:ln>
            <a:solidFill>
              <a:srgbClr val="D5DAE3"/>
            </a:solidFill>
          </a:ln>
        </c:spPr>
        <c:crossAx val="-2113994440"/>
        <c:crosses val="autoZero"/>
        <c:auto val="1"/>
        <c:lblAlgn val="ctr"/>
        <c:lblOffset val="100"/>
        <c:noMultiLvlLbl val="0"/>
      </c:catAx>
      <c:valAx>
        <c:axId val="-2113994440"/>
        <c:scaling/>
        <c:delete val="0"/>
        <c:axPos val="l"/>
        <c:majorGridlines>
          <c:spPr>
            <a:ln>
              <a:solidFill>
                <a:srgbClr val="D5DAE3"/>
              </a:solidFill>
            </a:ln>
          </c:spPr>
        </c:majorGridlines>
        <c:numFmt formatCode="#,##0.0" sourceLinked="0"/>
        <c:majorTickMark val="out"/>
        <c:minorTickMark val="none"/>
        <c:tickLblPos val="nextTo"/>
        <c:spPr>
          <a:ln>
            <a:noFill/>
          </a:ln>
        </c:spPr>
        <c:txPr>
          <a:bodyPr/>
          <a:lstStyle/>
          <a:p>
            <a:pPr>
              <a:defRPr>
                <a:latin typeface="Courier New"/>
              </a:defRPr>
            </a:pPr>
          </a:p>
        </c:txPr>
        <c:crossAx val="-2068027336"/>
        <c:crosses val="autoZero"/>
      </c:valAx>
    </c:plotArea>
    <c:dispBlanksAs val="gap"/>
  </c:chart>
  <c:txPr>
    <a:bodyPr/>
    <a:lstStyle/>
    <a:p>
      <a:pPr>
        <a:defRPr sz="1100">
          <a:solidFill>
            <a:srgbClr val="8A94A6"/>
          </a:solidFill>
          <a:latin typeface="Calibri"/>
        </a:defRPr>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8.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9.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0.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674620"/>
            <a:ext cx="7274052" cy="1508760"/>
          </a:xfrm>
          <a:prstGeom prst="rect">
            <a:avLst/>
          </a:prstGeom>
          <a:noFill/>
        </p:spPr>
        <p:txBody>
          <a:bodyPr wrap="square" lIns="0" rIns="0" tIns="0" bIns="0" anchor="b">
            <a:spAutoFit/>
          </a:bodyPr>
          <a:lstStyle/>
          <a:p>
            <a:pPr algn="l"/>
            <a:r>
              <a:rPr sz="4000" b="0" i="0">
                <a:solidFill>
                  <a:srgbClr val="1F2A44"/>
                </a:solidFill>
                <a:latin typeface="Cambria"/>
              </a:rPr>
              <a:t>RMS estate baseline: held, costed, and what to do first</a:t>
            </a:r>
          </a:p>
        </p:txBody>
      </p:sp>
      <p:sp>
        <p:nvSpPr>
          <p:cNvPr id="3" name="TextBox 2"/>
          <p:cNvSpPr txBox="1"/>
          <p:nvPr/>
        </p:nvSpPr>
        <p:spPr>
          <a:xfrm>
            <a:off x="594360" y="4183380"/>
            <a:ext cx="7274052" cy="754380"/>
          </a:xfrm>
          <a:prstGeom prst="rect">
            <a:avLst/>
          </a:prstGeom>
          <a:noFill/>
        </p:spPr>
        <p:txBody>
          <a:bodyPr wrap="square" lIns="0" rIns="0" tIns="0" bIns="0" anchor="t">
            <a:spAutoFit/>
          </a:bodyPr>
          <a:lstStyle/>
          <a:p>
            <a:pPr algn="l"/>
            <a:r>
              <a:rPr sz="1800" b="0" i="0">
                <a:solidFill>
                  <a:srgbClr val="8A94A6"/>
                </a:solidFill>
                <a:latin typeface="Calibri"/>
              </a:rPr>
              <a:t>Interim accessible-estate baseline, October 2026: findings, cost levers, first products</a:t>
            </a:r>
          </a:p>
        </p:txBody>
      </p:sp>
      <p:sp>
        <p:nvSpPr>
          <p:cNvPr id="4" name="TextBox 3"/>
          <p:cNvSpPr txBox="1"/>
          <p:nvPr/>
        </p:nvSpPr>
        <p:spPr>
          <a:xfrm>
            <a:off x="594360" y="5314492"/>
            <a:ext cx="5409590" cy="376732"/>
          </a:xfrm>
          <a:prstGeom prst="rect">
            <a:avLst/>
          </a:prstGeom>
          <a:noFill/>
        </p:spPr>
        <p:txBody>
          <a:bodyPr wrap="square" lIns="0" rIns="0" tIns="0" bIns="0" anchor="t">
            <a:spAutoFit/>
          </a:bodyPr>
          <a:lstStyle/>
          <a:p>
            <a:pPr algn="l"/>
            <a:r>
              <a:rPr sz="1000" b="0" i="0">
                <a:solidFill>
                  <a:srgbClr val="8A94A6"/>
                </a:solidFill>
                <a:latin typeface="Calibri"/>
              </a:rPr>
              <a:t>RMS  ·  Tenant confidential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EXECUTIVE SUMMARY</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The estate holds 175.0 TiB, mostly object and file stores; savings are not yet verified</a:t>
            </a:r>
          </a:p>
        </p:txBody>
      </p:sp>
      <p:sp>
        <p:nvSpPr>
          <p:cNvPr id="4" name="TextBox 3"/>
          <p:cNvSpPr txBox="1"/>
          <p:nvPr/>
        </p:nvSpPr>
        <p:spPr>
          <a:xfrm>
            <a:off x="594360" y="1920240"/>
            <a:ext cx="1463040" cy="805815"/>
          </a:xfrm>
          <a:prstGeom prst="rect">
            <a:avLst/>
          </a:prstGeom>
          <a:noFill/>
        </p:spPr>
        <p:txBody>
          <a:bodyPr wrap="square" lIns="0" rIns="0" tIns="0" bIns="0" anchor="t">
            <a:spAutoFit/>
          </a:bodyPr>
          <a:lstStyle/>
          <a:p>
            <a:pPr algn="l"/>
            <a:r>
              <a:rPr sz="1100" b="1" i="0">
                <a:solidFill>
                  <a:srgbClr val="8A94A6"/>
                </a:solidFill>
                <a:latin typeface="Calibri"/>
              </a:rPr>
              <a:t>SITUATION</a:t>
            </a:r>
          </a:p>
        </p:txBody>
      </p:sp>
      <p:sp>
        <p:nvSpPr>
          <p:cNvPr id="5" name="TextBox 4"/>
          <p:cNvSpPr txBox="1"/>
          <p:nvPr/>
        </p:nvSpPr>
        <p:spPr>
          <a:xfrm>
            <a:off x="2240280" y="1920240"/>
            <a:ext cx="9357055" cy="805815"/>
          </a:xfrm>
          <a:prstGeom prst="rect">
            <a:avLst/>
          </a:prstGeom>
          <a:noFill/>
        </p:spPr>
        <p:txBody>
          <a:bodyPr wrap="square" lIns="0" rIns="0" tIns="0" bIns="0" anchor="t">
            <a:spAutoFit/>
          </a:bodyPr>
          <a:lstStyle/>
          <a:p>
            <a:pPr algn="l"/>
            <a:r>
              <a:rPr sz="1400" b="0" i="0">
                <a:solidFill>
                  <a:srgbClr val="1F2A44"/>
                </a:solidFill>
                <a:latin typeface="Calibri"/>
              </a:rPr>
              <a:t>RMS holds 175.0 TiB across its databases, object store and file shares: 130.8 TiB in 106 object-store buckets, 43.9 TiB in file shares and 0.3 TiB in 20 databases holding 1006 tables. The owner has declared every right to use the data established, so rights are settled and gate nothing here.</a:t>
            </a:r>
          </a:p>
        </p:txBody>
      </p:sp>
      <p:cxnSp>
        <p:nvCxnSpPr>
          <p:cNvPr id="6" name="Connector 5"/>
          <p:cNvCxnSpPr/>
          <p:nvPr/>
        </p:nvCxnSpPr>
        <p:spPr>
          <a:xfrm>
            <a:off x="594360" y="2790063"/>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2863215"/>
            <a:ext cx="1463040" cy="805815"/>
          </a:xfrm>
          <a:prstGeom prst="rect">
            <a:avLst/>
          </a:prstGeom>
          <a:noFill/>
        </p:spPr>
        <p:txBody>
          <a:bodyPr wrap="square" lIns="0" rIns="0" tIns="0" bIns="0" anchor="t">
            <a:spAutoFit/>
          </a:bodyPr>
          <a:lstStyle/>
          <a:p>
            <a:pPr algn="l"/>
            <a:r>
              <a:rPr sz="1100" b="1" i="0">
                <a:solidFill>
                  <a:srgbClr val="8A94A6"/>
                </a:solidFill>
                <a:latin typeface="Calibri"/>
              </a:rPr>
              <a:t>COMPLICATION</a:t>
            </a:r>
          </a:p>
        </p:txBody>
      </p:sp>
      <p:sp>
        <p:nvSpPr>
          <p:cNvPr id="8" name="TextBox 7"/>
          <p:cNvSpPr txBox="1"/>
          <p:nvPr/>
        </p:nvSpPr>
        <p:spPr>
          <a:xfrm>
            <a:off x="2240280" y="2863215"/>
            <a:ext cx="9357055" cy="805815"/>
          </a:xfrm>
          <a:prstGeom prst="rect">
            <a:avLst/>
          </a:prstGeom>
          <a:noFill/>
        </p:spPr>
        <p:txBody>
          <a:bodyPr wrap="square" lIns="0" rIns="0" tIns="0" bIns="0" anchor="t">
            <a:spAutoFit/>
          </a:bodyPr>
          <a:lstStyle/>
          <a:p>
            <a:pPr algn="l"/>
            <a:r>
              <a:rPr sz="1400" b="0" i="0">
                <a:solidFill>
                  <a:srgbClr val="1F2A44"/>
                </a:solidFill>
                <a:latin typeface="Calibri"/>
              </a:rPr>
              <a:t>This is an interim baseline, not a finished census. Only 638 of 1006 tables were measured, and the census key cannot read 90.7% of listed object-store media files. No invoice-backed carrying cost exists; there is only a legacy full-Standard scenario of 1,174.4 USD a month, which is not verified net savings.</a:t>
            </a:r>
          </a:p>
        </p:txBody>
      </p:sp>
      <p:cxnSp>
        <p:nvCxnSpPr>
          <p:cNvPr id="9" name="Connector 8"/>
          <p:cNvCxnSpPr/>
          <p:nvPr/>
        </p:nvCxnSpPr>
        <p:spPr>
          <a:xfrm>
            <a:off x="594360" y="3733037"/>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94360" y="3806189"/>
            <a:ext cx="1463040" cy="805815"/>
          </a:xfrm>
          <a:prstGeom prst="rect">
            <a:avLst/>
          </a:prstGeom>
          <a:noFill/>
        </p:spPr>
        <p:txBody>
          <a:bodyPr wrap="square" lIns="0" rIns="0" tIns="0" bIns="0" anchor="t">
            <a:spAutoFit/>
          </a:bodyPr>
          <a:lstStyle/>
          <a:p>
            <a:pPr algn="l"/>
            <a:r>
              <a:rPr sz="1100" b="1" i="0">
                <a:solidFill>
                  <a:srgbClr val="8A94A6"/>
                </a:solidFill>
                <a:latin typeface="Calibri"/>
              </a:rPr>
              <a:t>QUESTION</a:t>
            </a:r>
          </a:p>
        </p:txBody>
      </p:sp>
      <p:sp>
        <p:nvSpPr>
          <p:cNvPr id="11" name="TextBox 10"/>
          <p:cNvSpPr txBox="1"/>
          <p:nvPr/>
        </p:nvSpPr>
        <p:spPr>
          <a:xfrm>
            <a:off x="2240280" y="3806189"/>
            <a:ext cx="9357055" cy="805815"/>
          </a:xfrm>
          <a:prstGeom prst="rect">
            <a:avLst/>
          </a:prstGeom>
          <a:noFill/>
        </p:spPr>
        <p:txBody>
          <a:bodyPr wrap="square" lIns="0" rIns="0" tIns="0" bIns="0" anchor="t">
            <a:spAutoFit/>
          </a:bodyPr>
          <a:lstStyle/>
          <a:p>
            <a:pPr algn="l"/>
            <a:r>
              <a:rPr sz="1400" b="0" i="0">
                <a:solidFill>
                  <a:srgbClr val="1F2A44"/>
                </a:solidFill>
                <a:latin typeface="Calibri"/>
              </a:rPr>
              <a:t>What should the owner do first to cut cost, prepare the data and stand up the first products?</a:t>
            </a:r>
          </a:p>
        </p:txBody>
      </p:sp>
      <p:cxnSp>
        <p:nvCxnSpPr>
          <p:cNvPr id="12" name="Connector 11"/>
          <p:cNvCxnSpPr/>
          <p:nvPr/>
        </p:nvCxnSpPr>
        <p:spPr>
          <a:xfrm>
            <a:off x="594360" y="4676013"/>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594360" y="4749165"/>
            <a:ext cx="1463040" cy="805815"/>
          </a:xfrm>
          <a:prstGeom prst="rect">
            <a:avLst/>
          </a:prstGeom>
          <a:noFill/>
        </p:spPr>
        <p:txBody>
          <a:bodyPr wrap="square" lIns="0" rIns="0" tIns="0" bIns="0" anchor="t">
            <a:spAutoFit/>
          </a:bodyPr>
          <a:lstStyle/>
          <a:p>
            <a:pPr algn="l"/>
            <a:r>
              <a:rPr sz="1100" b="1" i="0">
                <a:solidFill>
                  <a:srgbClr val="C8102E"/>
                </a:solidFill>
                <a:latin typeface="Calibri"/>
              </a:rPr>
              <a:t>ANSWER</a:t>
            </a:r>
          </a:p>
        </p:txBody>
      </p:sp>
      <p:sp>
        <p:nvSpPr>
          <p:cNvPr id="14" name="TextBox 13"/>
          <p:cNvSpPr txBox="1"/>
          <p:nvPr/>
        </p:nvSpPr>
        <p:spPr>
          <a:xfrm>
            <a:off x="2240280" y="4749165"/>
            <a:ext cx="9357055" cy="805815"/>
          </a:xfrm>
          <a:prstGeom prst="rect">
            <a:avLst/>
          </a:prstGeom>
          <a:noFill/>
        </p:spPr>
        <p:txBody>
          <a:bodyPr wrap="square" lIns="0" rIns="0" tIns="0" bIns="0" anchor="t">
            <a:spAutoFit/>
          </a:bodyPr>
          <a:lstStyle/>
          <a:p>
            <a:pPr algn="l"/>
            <a:r>
              <a:rPr sz="1400" b="0" i="0">
                <a:solidFill>
                  <a:srgbClr val="1F2A44"/>
                </a:solidFill>
                <a:latin typeface="Calibri"/>
              </a:rPr>
              <a:t>Close the access and inventory gaps first. Then test the idle-bucket archive move against storage class, read demand and real tariffs. Then prepare three bounded product pilots, with de-identification or aggregation as a preparation step. Databases offer only 15.2 GiB of reclaim, 4.3% of database bytes.</a:t>
            </a:r>
          </a:p>
        </p:txBody>
      </p:sp>
      <p:sp>
        <p:nvSpPr>
          <p:cNvPr id="15" name="TextBox 14"/>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16" name="TextBox 15"/>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17" name="TextBox 16"/>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PLAIN ENGLISH</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What the terms in this pack mean</a:t>
            </a:r>
          </a:p>
        </p:txBody>
      </p:sp>
      <p:sp>
        <p:nvSpPr>
          <p:cNvPr id="4" name="TextBox 3"/>
          <p:cNvSpPr txBox="1"/>
          <p:nvPr/>
        </p:nvSpPr>
        <p:spPr>
          <a:xfrm>
            <a:off x="594360" y="1975104"/>
            <a:ext cx="2377440" cy="537210"/>
          </a:xfrm>
          <a:prstGeom prst="rect">
            <a:avLst/>
          </a:prstGeom>
          <a:noFill/>
        </p:spPr>
        <p:txBody>
          <a:bodyPr wrap="square" lIns="0" rIns="0" tIns="0" bIns="0" anchor="t">
            <a:spAutoFit/>
          </a:bodyPr>
          <a:lstStyle/>
          <a:p>
            <a:pPr algn="l"/>
            <a:r>
              <a:rPr sz="1400" b="1" i="0">
                <a:solidFill>
                  <a:srgbClr val="C8102E"/>
                </a:solidFill>
                <a:latin typeface="Calibri"/>
              </a:rPr>
              <a:t>Reclaimable</a:t>
            </a:r>
          </a:p>
        </p:txBody>
      </p:sp>
      <p:sp>
        <p:nvSpPr>
          <p:cNvPr id="5" name="TextBox 4"/>
          <p:cNvSpPr txBox="1"/>
          <p:nvPr/>
        </p:nvSpPr>
        <p:spPr>
          <a:xfrm>
            <a:off x="3154680" y="1975104"/>
            <a:ext cx="8442655" cy="537210"/>
          </a:xfrm>
          <a:prstGeom prst="rect">
            <a:avLst/>
          </a:prstGeom>
          <a:noFill/>
        </p:spPr>
        <p:txBody>
          <a:bodyPr wrap="square" lIns="0" rIns="0" tIns="0" bIns="0" anchor="t">
            <a:spAutoFit/>
          </a:bodyPr>
          <a:lstStyle/>
          <a:p>
            <a:pPr algn="l"/>
            <a:r>
              <a:rPr sz="1300" b="0" i="0">
                <a:solidFill>
                  <a:srgbClr val="1F2A44"/>
                </a:solidFill>
                <a:latin typeface="Calibri"/>
              </a:rPr>
              <a:t>Space that could be removed or stored more cheaply once the check named beside it has been done. It is not space already freed, and it is not a guaranteed saving — the monthly figures are upper bounds at list prices.</a:t>
            </a:r>
          </a:p>
        </p:txBody>
      </p:sp>
      <p:cxnSp>
        <p:nvCxnSpPr>
          <p:cNvPr id="6" name="Connector 5"/>
          <p:cNvCxnSpPr/>
          <p:nvPr/>
        </p:nvCxnSpPr>
        <p:spPr>
          <a:xfrm>
            <a:off x="594360" y="2475738"/>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2603754"/>
            <a:ext cx="2377440" cy="537210"/>
          </a:xfrm>
          <a:prstGeom prst="rect">
            <a:avLst/>
          </a:prstGeom>
          <a:noFill/>
        </p:spPr>
        <p:txBody>
          <a:bodyPr wrap="square" lIns="0" rIns="0" tIns="0" bIns="0" anchor="t">
            <a:spAutoFit/>
          </a:bodyPr>
          <a:lstStyle/>
          <a:p>
            <a:pPr algn="l"/>
            <a:r>
              <a:rPr sz="1400" b="1" i="0">
                <a:solidFill>
                  <a:srgbClr val="C8102E"/>
                </a:solidFill>
                <a:latin typeface="Calibri"/>
              </a:rPr>
              <a:t>Cold (not written for over a year)</a:t>
            </a:r>
          </a:p>
        </p:txBody>
      </p:sp>
      <p:sp>
        <p:nvSpPr>
          <p:cNvPr id="8" name="TextBox 7"/>
          <p:cNvSpPr txBox="1"/>
          <p:nvPr/>
        </p:nvSpPr>
        <p:spPr>
          <a:xfrm>
            <a:off x="3154680" y="2603754"/>
            <a:ext cx="8442655" cy="537210"/>
          </a:xfrm>
          <a:prstGeom prst="rect">
            <a:avLst/>
          </a:prstGeom>
          <a:noFill/>
        </p:spPr>
        <p:txBody>
          <a:bodyPr wrap="square" lIns="0" rIns="0" tIns="0" bIns="0" anchor="t">
            <a:spAutoFit/>
          </a:bodyPr>
          <a:lstStyle/>
          <a:p>
            <a:pPr algn="l"/>
            <a:r>
              <a:rPr sz="1300" b="0" i="0">
                <a:solidFill>
                  <a:srgbClr val="1F2A44"/>
                </a:solidFill>
                <a:latin typeface="Calibri"/>
              </a:rPr>
              <a:t>Nothing new has been written to that bucket or table for more than a year, judged by the newest write date we could see. It says nothing about whether anyone still reads it — that was not measured.</a:t>
            </a:r>
          </a:p>
        </p:txBody>
      </p:sp>
      <p:cxnSp>
        <p:nvCxnSpPr>
          <p:cNvPr id="9" name="Connector 8"/>
          <p:cNvCxnSpPr/>
          <p:nvPr/>
        </p:nvCxnSpPr>
        <p:spPr>
          <a:xfrm>
            <a:off x="594360" y="3104388"/>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94360" y="3232404"/>
            <a:ext cx="2377440" cy="537210"/>
          </a:xfrm>
          <a:prstGeom prst="rect">
            <a:avLst/>
          </a:prstGeom>
          <a:noFill/>
        </p:spPr>
        <p:txBody>
          <a:bodyPr wrap="square" lIns="0" rIns="0" tIns="0" bIns="0" anchor="t">
            <a:spAutoFit/>
          </a:bodyPr>
          <a:lstStyle/>
          <a:p>
            <a:pPr algn="l"/>
            <a:r>
              <a:rPr sz="1400" b="1" i="0">
                <a:solidFill>
                  <a:srgbClr val="C8102E"/>
                </a:solidFill>
                <a:latin typeface="Calibri"/>
              </a:rPr>
              <a:t>Duplicate candidate</a:t>
            </a:r>
          </a:p>
        </p:txBody>
      </p:sp>
      <p:sp>
        <p:nvSpPr>
          <p:cNvPr id="11" name="TextBox 10"/>
          <p:cNvSpPr txBox="1"/>
          <p:nvPr/>
        </p:nvSpPr>
        <p:spPr>
          <a:xfrm>
            <a:off x="3154680" y="3232404"/>
            <a:ext cx="8442655" cy="537210"/>
          </a:xfrm>
          <a:prstGeom prst="rect">
            <a:avLst/>
          </a:prstGeom>
          <a:noFill/>
        </p:spPr>
        <p:txBody>
          <a:bodyPr wrap="square" lIns="0" rIns="0" tIns="0" bIns="0" anchor="t">
            <a:spAutoFit/>
          </a:bodyPr>
          <a:lstStyle/>
          <a:p>
            <a:pPr algn="l"/>
            <a:r>
              <a:rPr sz="1300" b="0" i="0">
                <a:solidFill>
                  <a:srgbClr val="1F2A44"/>
                </a:solidFill>
                <a:latin typeface="Calibri"/>
              </a:rPr>
              <a:t>Two objects whose size and storage fingerprint (ETag) match inside the same store. For large uploads that fingerprint is not a content hash, so a candidate must be confirmed by hashing before any copy is removed.</a:t>
            </a:r>
          </a:p>
        </p:txBody>
      </p:sp>
      <p:cxnSp>
        <p:nvCxnSpPr>
          <p:cNvPr id="12" name="Connector 11"/>
          <p:cNvCxnSpPr/>
          <p:nvPr/>
        </p:nvCxnSpPr>
        <p:spPr>
          <a:xfrm>
            <a:off x="594360" y="3733037"/>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594360" y="3861053"/>
            <a:ext cx="2377440" cy="537210"/>
          </a:xfrm>
          <a:prstGeom prst="rect">
            <a:avLst/>
          </a:prstGeom>
          <a:noFill/>
        </p:spPr>
        <p:txBody>
          <a:bodyPr wrap="square" lIns="0" rIns="0" tIns="0" bIns="0" anchor="t">
            <a:spAutoFit/>
          </a:bodyPr>
          <a:lstStyle/>
          <a:p>
            <a:pPr algn="l"/>
            <a:r>
              <a:rPr sz="1400" b="1" i="0">
                <a:solidFill>
                  <a:srgbClr val="C8102E"/>
                </a:solidFill>
                <a:latin typeface="Calibri"/>
              </a:rPr>
              <a:t>Exact duplicate rows</a:t>
            </a:r>
          </a:p>
        </p:txBody>
      </p:sp>
      <p:sp>
        <p:nvSpPr>
          <p:cNvPr id="14" name="TextBox 13"/>
          <p:cNvSpPr txBox="1"/>
          <p:nvPr/>
        </p:nvSpPr>
        <p:spPr>
          <a:xfrm>
            <a:off x="3154680" y="3861053"/>
            <a:ext cx="8442655" cy="537210"/>
          </a:xfrm>
          <a:prstGeom prst="rect">
            <a:avLst/>
          </a:prstGeom>
          <a:noFill/>
        </p:spPr>
        <p:txBody>
          <a:bodyPr wrap="square" lIns="0" rIns="0" tIns="0" bIns="0" anchor="t">
            <a:spAutoFit/>
          </a:bodyPr>
          <a:lstStyle/>
          <a:p>
            <a:pPr algn="l"/>
            <a:r>
              <a:rPr sz="1300" b="0" i="0">
                <a:solidFill>
                  <a:srgbClr val="1F2A44"/>
                </a:solidFill>
                <a:latin typeface="Calibri"/>
              </a:rPr>
              <a:t>Database rows that are identical in every measured column. 'Normalised' duplicates also match after trimming spaces and case.</a:t>
            </a:r>
          </a:p>
        </p:txBody>
      </p:sp>
      <p:cxnSp>
        <p:nvCxnSpPr>
          <p:cNvPr id="15" name="Connector 14"/>
          <p:cNvCxnSpPr/>
          <p:nvPr/>
        </p:nvCxnSpPr>
        <p:spPr>
          <a:xfrm>
            <a:off x="594360" y="4361688"/>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94360" y="4489703"/>
            <a:ext cx="2377440" cy="537210"/>
          </a:xfrm>
          <a:prstGeom prst="rect">
            <a:avLst/>
          </a:prstGeom>
          <a:noFill/>
        </p:spPr>
        <p:txBody>
          <a:bodyPr wrap="square" lIns="0" rIns="0" tIns="0" bIns="0" anchor="t">
            <a:spAutoFit/>
          </a:bodyPr>
          <a:lstStyle/>
          <a:p>
            <a:pPr algn="l"/>
            <a:r>
              <a:rPr sz="1400" b="1" i="0">
                <a:solidFill>
                  <a:srgbClr val="C8102E"/>
                </a:solidFill>
                <a:latin typeface="Calibri"/>
              </a:rPr>
              <a:t>Degraded row</a:t>
            </a:r>
          </a:p>
        </p:txBody>
      </p:sp>
      <p:sp>
        <p:nvSpPr>
          <p:cNvPr id="17" name="TextBox 16"/>
          <p:cNvSpPr txBox="1"/>
          <p:nvPr/>
        </p:nvSpPr>
        <p:spPr>
          <a:xfrm>
            <a:off x="3154680" y="4489703"/>
            <a:ext cx="8442655" cy="537210"/>
          </a:xfrm>
          <a:prstGeom prst="rect">
            <a:avLst/>
          </a:prstGeom>
          <a:noFill/>
        </p:spPr>
        <p:txBody>
          <a:bodyPr wrap="square" lIns="0" rIns="0" tIns="0" bIns="0" anchor="t">
            <a:spAutoFit/>
          </a:bodyPr>
          <a:lstStyle/>
          <a:p>
            <a:pPr algn="l"/>
            <a:r>
              <a:rPr sz="1300" b="0" i="0">
                <a:solidFill>
                  <a:srgbClr val="1F2A44"/>
                </a:solidFill>
                <a:latin typeface="Calibri"/>
              </a:rPr>
              <a:t>A row whose worst column shows damage: text cut short, a placeholder such as 'N/A' or 'test', an invalid format, stray whitespace or garbled characters.</a:t>
            </a:r>
          </a:p>
        </p:txBody>
      </p:sp>
      <p:cxnSp>
        <p:nvCxnSpPr>
          <p:cNvPr id="18" name="Connector 17"/>
          <p:cNvCxnSpPr/>
          <p:nvPr/>
        </p:nvCxnSpPr>
        <p:spPr>
          <a:xfrm>
            <a:off x="594360" y="4990338"/>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594360" y="5118353"/>
            <a:ext cx="2377440" cy="537210"/>
          </a:xfrm>
          <a:prstGeom prst="rect">
            <a:avLst/>
          </a:prstGeom>
          <a:noFill/>
        </p:spPr>
        <p:txBody>
          <a:bodyPr wrap="square" lIns="0" rIns="0" tIns="0" bIns="0" anchor="t">
            <a:spAutoFit/>
          </a:bodyPr>
          <a:lstStyle/>
          <a:p>
            <a:pPr algn="l"/>
            <a:r>
              <a:rPr sz="1400" b="1" i="0">
                <a:solidFill>
                  <a:srgbClr val="C8102E"/>
                </a:solidFill>
                <a:latin typeface="Calibri"/>
              </a:rPr>
              <a:t>Empty required-looking fields</a:t>
            </a:r>
          </a:p>
        </p:txBody>
      </p:sp>
      <p:sp>
        <p:nvSpPr>
          <p:cNvPr id="20" name="TextBox 19"/>
          <p:cNvSpPr txBox="1"/>
          <p:nvPr/>
        </p:nvSpPr>
        <p:spPr>
          <a:xfrm>
            <a:off x="3154680" y="5118353"/>
            <a:ext cx="8442655" cy="537210"/>
          </a:xfrm>
          <a:prstGeom prst="rect">
            <a:avLst/>
          </a:prstGeom>
          <a:noFill/>
        </p:spPr>
        <p:txBody>
          <a:bodyPr wrap="square" lIns="0" rIns="0" tIns="0" bIns="0" anchor="t">
            <a:spAutoFit/>
          </a:bodyPr>
          <a:lstStyle/>
          <a:p>
            <a:pPr algn="l"/>
            <a:r>
              <a:rPr sz="1300" b="0" i="0">
                <a:solidFill>
                  <a:srgbClr val="1F2A44"/>
                </a:solidFill>
                <a:latin typeface="Calibri"/>
              </a:rPr>
              <a:t>Blank values in columns whose name or pattern suggests they should always be filled (for example an identifier or a date). The database may not formally require them; the census flags them so an owner can decide.</a:t>
            </a:r>
          </a:p>
        </p:txBody>
      </p:sp>
      <p:cxnSp>
        <p:nvCxnSpPr>
          <p:cNvPr id="21" name="Connector 20"/>
          <p:cNvCxnSpPr/>
          <p:nvPr/>
        </p:nvCxnSpPr>
        <p:spPr>
          <a:xfrm>
            <a:off x="594360" y="5618988"/>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23" name="TextBox 22"/>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24" name="TextBox 23"/>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PLAIN ENGLISH</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What the terms in this pack mean</a:t>
            </a:r>
          </a:p>
        </p:txBody>
      </p:sp>
      <p:sp>
        <p:nvSpPr>
          <p:cNvPr id="4" name="TextBox 3"/>
          <p:cNvSpPr txBox="1"/>
          <p:nvPr/>
        </p:nvSpPr>
        <p:spPr>
          <a:xfrm>
            <a:off x="594360" y="1975104"/>
            <a:ext cx="2377440" cy="537210"/>
          </a:xfrm>
          <a:prstGeom prst="rect">
            <a:avLst/>
          </a:prstGeom>
          <a:noFill/>
        </p:spPr>
        <p:txBody>
          <a:bodyPr wrap="square" lIns="0" rIns="0" tIns="0" bIns="0" anchor="t">
            <a:spAutoFit/>
          </a:bodyPr>
          <a:lstStyle/>
          <a:p>
            <a:pPr algn="l"/>
            <a:r>
              <a:rPr sz="1400" b="1" i="0">
                <a:solidFill>
                  <a:srgbClr val="C8102E"/>
                </a:solidFill>
                <a:latin typeface="Calibri"/>
              </a:rPr>
              <a:t>Dead column</a:t>
            </a:r>
          </a:p>
        </p:txBody>
      </p:sp>
      <p:sp>
        <p:nvSpPr>
          <p:cNvPr id="5" name="TextBox 4"/>
          <p:cNvSpPr txBox="1"/>
          <p:nvPr/>
        </p:nvSpPr>
        <p:spPr>
          <a:xfrm>
            <a:off x="3154680" y="1975104"/>
            <a:ext cx="8442655" cy="537210"/>
          </a:xfrm>
          <a:prstGeom prst="rect">
            <a:avLst/>
          </a:prstGeom>
          <a:noFill/>
        </p:spPr>
        <p:txBody>
          <a:bodyPr wrap="square" lIns="0" rIns="0" tIns="0" bIns="0" anchor="t">
            <a:spAutoFit/>
          </a:bodyPr>
          <a:lstStyle/>
          <a:p>
            <a:pPr algn="l"/>
            <a:r>
              <a:rPr sz="1300" b="0" i="0">
                <a:solidFill>
                  <a:srgbClr val="1F2A44"/>
                </a:solidFill>
                <a:latin typeface="Calibri"/>
              </a:rPr>
              <a:t>A column that is empty on practically every row: schema carried without data.</a:t>
            </a:r>
          </a:p>
        </p:txBody>
      </p:sp>
      <p:cxnSp>
        <p:nvCxnSpPr>
          <p:cNvPr id="6" name="Connector 5"/>
          <p:cNvCxnSpPr/>
          <p:nvPr/>
        </p:nvCxnSpPr>
        <p:spPr>
          <a:xfrm>
            <a:off x="594360" y="2475738"/>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2603754"/>
            <a:ext cx="2377440" cy="537210"/>
          </a:xfrm>
          <a:prstGeom prst="rect">
            <a:avLst/>
          </a:prstGeom>
          <a:noFill/>
        </p:spPr>
        <p:txBody>
          <a:bodyPr wrap="square" lIns="0" rIns="0" tIns="0" bIns="0" anchor="t">
            <a:spAutoFit/>
          </a:bodyPr>
          <a:lstStyle/>
          <a:p>
            <a:pPr algn="l"/>
            <a:r>
              <a:rPr sz="1400" b="1" i="0">
                <a:solidFill>
                  <a:srgbClr val="C8102E"/>
                </a:solidFill>
                <a:latin typeface="Calibri"/>
              </a:rPr>
              <a:t>Personal-data marker</a:t>
            </a:r>
          </a:p>
        </p:txBody>
      </p:sp>
      <p:sp>
        <p:nvSpPr>
          <p:cNvPr id="8" name="TextBox 7"/>
          <p:cNvSpPr txBox="1"/>
          <p:nvPr/>
        </p:nvSpPr>
        <p:spPr>
          <a:xfrm>
            <a:off x="3154680" y="2603754"/>
            <a:ext cx="8442655" cy="537210"/>
          </a:xfrm>
          <a:prstGeom prst="rect">
            <a:avLst/>
          </a:prstGeom>
          <a:noFill/>
        </p:spPr>
        <p:txBody>
          <a:bodyPr wrap="square" lIns="0" rIns="0" tIns="0" bIns="0" anchor="t">
            <a:spAutoFit/>
          </a:bodyPr>
          <a:lstStyle/>
          <a:p>
            <a:pPr algn="l"/>
            <a:r>
              <a:rPr sz="1300" b="0" i="0">
                <a:solidFill>
                  <a:srgbClr val="1F2A44"/>
                </a:solidFill>
                <a:latin typeface="Calibri"/>
              </a:rPr>
              <a:t>A sampled value that looks like an email, phone number, national ID or similar. It is a condition of the data, not a judgement about rights — the owner has declared all rights established.</a:t>
            </a:r>
          </a:p>
        </p:txBody>
      </p:sp>
      <p:cxnSp>
        <p:nvCxnSpPr>
          <p:cNvPr id="9" name="Connector 8"/>
          <p:cNvCxnSpPr/>
          <p:nvPr/>
        </p:nvCxnSpPr>
        <p:spPr>
          <a:xfrm>
            <a:off x="594360" y="3104388"/>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94360" y="3232404"/>
            <a:ext cx="2377440" cy="537210"/>
          </a:xfrm>
          <a:prstGeom prst="rect">
            <a:avLst/>
          </a:prstGeom>
          <a:noFill/>
        </p:spPr>
        <p:txBody>
          <a:bodyPr wrap="square" lIns="0" rIns="0" tIns="0" bIns="0" anchor="t">
            <a:spAutoFit/>
          </a:bodyPr>
          <a:lstStyle/>
          <a:p>
            <a:pPr algn="l"/>
            <a:r>
              <a:rPr sz="1400" b="1" i="0">
                <a:solidFill>
                  <a:srgbClr val="C8102E"/>
                </a:solidFill>
                <a:latin typeface="Calibri"/>
              </a:rPr>
              <a:t>Archive-class storage</a:t>
            </a:r>
          </a:p>
        </p:txBody>
      </p:sp>
      <p:sp>
        <p:nvSpPr>
          <p:cNvPr id="11" name="TextBox 10"/>
          <p:cNvSpPr txBox="1"/>
          <p:nvPr/>
        </p:nvSpPr>
        <p:spPr>
          <a:xfrm>
            <a:off x="3154680" y="3232404"/>
            <a:ext cx="8442655" cy="537210"/>
          </a:xfrm>
          <a:prstGeom prst="rect">
            <a:avLst/>
          </a:prstGeom>
          <a:noFill/>
        </p:spPr>
        <p:txBody>
          <a:bodyPr wrap="square" lIns="0" rIns="0" tIns="0" bIns="0" anchor="t">
            <a:spAutoFit/>
          </a:bodyPr>
          <a:lstStyle/>
          <a:p>
            <a:pPr algn="l"/>
            <a:r>
              <a:rPr sz="1300" b="0" i="0">
                <a:solidFill>
                  <a:srgbClr val="1F2A44"/>
                </a:solidFill>
                <a:latin typeface="Calibri"/>
              </a:rPr>
              <a:t>A cheaper storage tier for data that is kept but rarely opened. Retrieval is slower and carries its own fee, which is why the saving is stated as an upper bound.</a:t>
            </a:r>
          </a:p>
        </p:txBody>
      </p:sp>
      <p:cxnSp>
        <p:nvCxnSpPr>
          <p:cNvPr id="12" name="Connector 11"/>
          <p:cNvCxnSpPr/>
          <p:nvPr/>
        </p:nvCxnSpPr>
        <p:spPr>
          <a:xfrm>
            <a:off x="594360" y="3733037"/>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594360" y="3861053"/>
            <a:ext cx="2377440" cy="537210"/>
          </a:xfrm>
          <a:prstGeom prst="rect">
            <a:avLst/>
          </a:prstGeom>
          <a:noFill/>
        </p:spPr>
        <p:txBody>
          <a:bodyPr wrap="square" lIns="0" rIns="0" tIns="0" bIns="0" anchor="t">
            <a:spAutoFit/>
          </a:bodyPr>
          <a:lstStyle/>
          <a:p>
            <a:pPr algn="l"/>
            <a:r>
              <a:rPr sz="1400" b="1" i="0">
                <a:solidFill>
                  <a:srgbClr val="C8102E"/>
                </a:solidFill>
                <a:latin typeface="Calibri"/>
              </a:rPr>
              <a:t>Proposed destination</a:t>
            </a:r>
          </a:p>
        </p:txBody>
      </p:sp>
      <p:sp>
        <p:nvSpPr>
          <p:cNvPr id="14" name="TextBox 13"/>
          <p:cNvSpPr txBox="1"/>
          <p:nvPr/>
        </p:nvSpPr>
        <p:spPr>
          <a:xfrm>
            <a:off x="3154680" y="3861053"/>
            <a:ext cx="8442655" cy="537210"/>
          </a:xfrm>
          <a:prstGeom prst="rect">
            <a:avLst/>
          </a:prstGeom>
          <a:noFill/>
        </p:spPr>
        <p:txBody>
          <a:bodyPr wrap="square" lIns="0" rIns="0" tIns="0" bIns="0" anchor="t">
            <a:spAutoFit/>
          </a:bodyPr>
          <a:lstStyle/>
          <a:p>
            <a:pPr algn="l"/>
            <a:r>
              <a:rPr sz="1300" b="0" i="0">
                <a:solidFill>
                  <a:srgbClr val="1F2A44"/>
                </a:solidFill>
                <a:latin typeface="Calibri"/>
              </a:rPr>
              <a:t>Where this pack suggests data should live or how it should be tiered. Every destination here is a proposal for the executive to approve; this pack moved and deleted nothing.</a:t>
            </a:r>
          </a:p>
        </p:txBody>
      </p:sp>
      <p:cxnSp>
        <p:nvCxnSpPr>
          <p:cNvPr id="15" name="Connector 14"/>
          <p:cNvCxnSpPr/>
          <p:nvPr/>
        </p:nvCxnSpPr>
        <p:spPr>
          <a:xfrm>
            <a:off x="594360" y="4361688"/>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94360" y="4489703"/>
            <a:ext cx="2377440" cy="537210"/>
          </a:xfrm>
          <a:prstGeom prst="rect">
            <a:avLst/>
          </a:prstGeom>
          <a:noFill/>
        </p:spPr>
        <p:txBody>
          <a:bodyPr wrap="square" lIns="0" rIns="0" tIns="0" bIns="0" anchor="t">
            <a:spAutoFit/>
          </a:bodyPr>
          <a:lstStyle/>
          <a:p>
            <a:pPr algn="l"/>
            <a:r>
              <a:rPr sz="1400" b="1" i="0">
                <a:solidFill>
                  <a:srgbClr val="C8102E"/>
                </a:solidFill>
                <a:latin typeface="Calibri"/>
              </a:rPr>
              <a:t>Speech hours (estimate)</a:t>
            </a:r>
          </a:p>
        </p:txBody>
      </p:sp>
      <p:sp>
        <p:nvSpPr>
          <p:cNvPr id="17" name="TextBox 16"/>
          <p:cNvSpPr txBox="1"/>
          <p:nvPr/>
        </p:nvSpPr>
        <p:spPr>
          <a:xfrm>
            <a:off x="3154680" y="4489703"/>
            <a:ext cx="8442655" cy="537210"/>
          </a:xfrm>
          <a:prstGeom prst="rect">
            <a:avLst/>
          </a:prstGeom>
          <a:noFill/>
        </p:spPr>
        <p:txBody>
          <a:bodyPr wrap="square" lIns="0" rIns="0" tIns="0" bIns="0" anchor="t">
            <a:spAutoFit/>
          </a:bodyPr>
          <a:lstStyle/>
          <a:p>
            <a:pPr algn="l"/>
            <a:r>
              <a:rPr sz="1300" b="0" i="0">
                <a:solidFill>
                  <a:srgbClr val="1F2A44"/>
                </a:solidFill>
                <a:latin typeface="Calibri"/>
              </a:rPr>
              <a:t>Recorded hours multiplied by the share of two-second windows the admitted music detector did not call music. Silence is set aside first.</a:t>
            </a:r>
          </a:p>
        </p:txBody>
      </p:sp>
      <p:cxnSp>
        <p:nvCxnSpPr>
          <p:cNvPr id="18" name="Connector 17"/>
          <p:cNvCxnSpPr/>
          <p:nvPr/>
        </p:nvCxnSpPr>
        <p:spPr>
          <a:xfrm>
            <a:off x="594360" y="4990338"/>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594360" y="5118353"/>
            <a:ext cx="2377440" cy="537210"/>
          </a:xfrm>
          <a:prstGeom prst="rect">
            <a:avLst/>
          </a:prstGeom>
          <a:noFill/>
        </p:spPr>
        <p:txBody>
          <a:bodyPr wrap="square" lIns="0" rIns="0" tIns="0" bIns="0" anchor="t">
            <a:spAutoFit/>
          </a:bodyPr>
          <a:lstStyle/>
          <a:p>
            <a:pPr algn="l"/>
            <a:r>
              <a:rPr sz="1400" b="1" i="0">
                <a:solidFill>
                  <a:srgbClr val="C8102E"/>
                </a:solidFill>
                <a:latin typeface="Calibri"/>
              </a:rPr>
              <a:t>Agrees with folder</a:t>
            </a:r>
          </a:p>
        </p:txBody>
      </p:sp>
      <p:sp>
        <p:nvSpPr>
          <p:cNvPr id="20" name="TextBox 19"/>
          <p:cNvSpPr txBox="1"/>
          <p:nvPr/>
        </p:nvSpPr>
        <p:spPr>
          <a:xfrm>
            <a:off x="3154680" y="5118353"/>
            <a:ext cx="8442655" cy="537210"/>
          </a:xfrm>
          <a:prstGeom prst="rect">
            <a:avLst/>
          </a:prstGeom>
          <a:noFill/>
        </p:spPr>
        <p:txBody>
          <a:bodyPr wrap="square" lIns="0" rIns="0" tIns="0" bIns="0" anchor="t">
            <a:spAutoFit/>
          </a:bodyPr>
          <a:lstStyle/>
          <a:p>
            <a:pPr algn="l"/>
            <a:r>
              <a:rPr sz="1300" b="0" i="0">
                <a:solidFill>
                  <a:srgbClr val="1F2A44"/>
                </a:solidFill>
                <a:latin typeface="Calibri"/>
              </a:rPr>
              <a:t>The share of labelled windows (or transcript passages) where the model's language label matched the folder the recording was filed under. It is a model reading, not a human verification.</a:t>
            </a:r>
          </a:p>
        </p:txBody>
      </p:sp>
      <p:cxnSp>
        <p:nvCxnSpPr>
          <p:cNvPr id="21" name="Connector 20"/>
          <p:cNvCxnSpPr/>
          <p:nvPr/>
        </p:nvCxnSpPr>
        <p:spPr>
          <a:xfrm>
            <a:off x="594360" y="5618988"/>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23" name="TextBox 22"/>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24" name="TextBox 23"/>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PLAIN ENGLISH</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What the terms in this pack mean</a:t>
            </a:r>
          </a:p>
        </p:txBody>
      </p:sp>
      <p:sp>
        <p:nvSpPr>
          <p:cNvPr id="4" name="TextBox 3"/>
          <p:cNvSpPr txBox="1"/>
          <p:nvPr/>
        </p:nvSpPr>
        <p:spPr>
          <a:xfrm>
            <a:off x="594360" y="1975104"/>
            <a:ext cx="2377440" cy="537210"/>
          </a:xfrm>
          <a:prstGeom prst="rect">
            <a:avLst/>
          </a:prstGeom>
          <a:noFill/>
        </p:spPr>
        <p:txBody>
          <a:bodyPr wrap="square" lIns="0" rIns="0" tIns="0" bIns="0" anchor="t">
            <a:spAutoFit/>
          </a:bodyPr>
          <a:lstStyle/>
          <a:p>
            <a:pPr algn="l"/>
            <a:r>
              <a:rPr sz="1400" b="1" i="0">
                <a:solidFill>
                  <a:srgbClr val="C8102E"/>
                </a:solidFill>
                <a:latin typeface="Calibri"/>
              </a:rPr>
              <a:t>Declined to label</a:t>
            </a:r>
          </a:p>
        </p:txBody>
      </p:sp>
      <p:sp>
        <p:nvSpPr>
          <p:cNvPr id="5" name="TextBox 4"/>
          <p:cNvSpPr txBox="1"/>
          <p:nvPr/>
        </p:nvSpPr>
        <p:spPr>
          <a:xfrm>
            <a:off x="3154680" y="1975104"/>
            <a:ext cx="8442655" cy="537210"/>
          </a:xfrm>
          <a:prstGeom prst="rect">
            <a:avLst/>
          </a:prstGeom>
          <a:noFill/>
        </p:spPr>
        <p:txBody>
          <a:bodyPr wrap="square" lIns="0" rIns="0" tIns="0" bIns="0" anchor="t">
            <a:spAutoFit/>
          </a:bodyPr>
          <a:lstStyle/>
          <a:p>
            <a:pPr algn="l"/>
            <a:r>
              <a:rPr sz="1300" b="0" i="0">
                <a:solidFill>
                  <a:srgbClr val="1F2A44"/>
                </a:solidFill>
                <a:latin typeface="Calibri"/>
              </a:rPr>
              <a:t>Windows where the language model's confidence fell below its threshold, so it gave no language rather than guess.</a:t>
            </a:r>
          </a:p>
        </p:txBody>
      </p:sp>
      <p:cxnSp>
        <p:nvCxnSpPr>
          <p:cNvPr id="6" name="Connector 5"/>
          <p:cNvCxnSpPr/>
          <p:nvPr/>
        </p:nvCxnSpPr>
        <p:spPr>
          <a:xfrm>
            <a:off x="594360" y="2475738"/>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2603754"/>
            <a:ext cx="2377440" cy="537210"/>
          </a:xfrm>
          <a:prstGeom prst="rect">
            <a:avLst/>
          </a:prstGeom>
          <a:noFill/>
        </p:spPr>
        <p:txBody>
          <a:bodyPr wrap="square" lIns="0" rIns="0" tIns="0" bIns="0" anchor="t">
            <a:spAutoFit/>
          </a:bodyPr>
          <a:lstStyle/>
          <a:p>
            <a:pPr algn="l"/>
            <a:r>
              <a:rPr sz="1400" b="1" i="0">
                <a:solidFill>
                  <a:srgbClr val="C8102E"/>
                </a:solidFill>
                <a:latin typeface="Calibri"/>
              </a:rPr>
              <a:t>Scripted day / bulletin hour</a:t>
            </a:r>
          </a:p>
        </p:txBody>
      </p:sp>
      <p:sp>
        <p:nvSpPr>
          <p:cNvPr id="8" name="TextBox 7"/>
          <p:cNvSpPr txBox="1"/>
          <p:nvPr/>
        </p:nvSpPr>
        <p:spPr>
          <a:xfrm>
            <a:off x="3154680" y="2603754"/>
            <a:ext cx="8442655" cy="537210"/>
          </a:xfrm>
          <a:prstGeom prst="rect">
            <a:avLst/>
          </a:prstGeom>
          <a:noFill/>
        </p:spPr>
        <p:txBody>
          <a:bodyPr wrap="square" lIns="0" rIns="0" tIns="0" bIns="0" anchor="t">
            <a:spAutoFit/>
          </a:bodyPr>
          <a:lstStyle/>
          <a:p>
            <a:pPr algn="l"/>
            <a:r>
              <a:rPr sz="1300" b="0" i="0">
                <a:solidFill>
                  <a:srgbClr val="1F2A44"/>
                </a:solidFill>
                <a:latin typeface="Calibri"/>
              </a:rPr>
              <a:t>A calendar date on which a station has at least one news script in the archive, and the distinct hour slots scripted that day. The archive does not carry a script for every hour of every day; the tables show exactly which days and hours it does.</a:t>
            </a:r>
          </a:p>
        </p:txBody>
      </p:sp>
      <p:cxnSp>
        <p:nvCxnSpPr>
          <p:cNvPr id="9" name="Connector 8"/>
          <p:cNvCxnSpPr/>
          <p:nvPr/>
        </p:nvCxnSpPr>
        <p:spPr>
          <a:xfrm>
            <a:off x="594360" y="3104388"/>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94360" y="3232404"/>
            <a:ext cx="2377440" cy="537210"/>
          </a:xfrm>
          <a:prstGeom prst="rect">
            <a:avLst/>
          </a:prstGeom>
          <a:noFill/>
        </p:spPr>
        <p:txBody>
          <a:bodyPr wrap="square" lIns="0" rIns="0" tIns="0" bIns="0" anchor="t">
            <a:spAutoFit/>
          </a:bodyPr>
          <a:lstStyle/>
          <a:p>
            <a:pPr algn="l"/>
            <a:r>
              <a:rPr sz="1400" b="1" i="0">
                <a:solidFill>
                  <a:srgbClr val="C8102E"/>
                </a:solidFill>
                <a:latin typeface="Calibri"/>
              </a:rPr>
              <a:t>Receipt</a:t>
            </a:r>
          </a:p>
        </p:txBody>
      </p:sp>
      <p:sp>
        <p:nvSpPr>
          <p:cNvPr id="11" name="TextBox 10"/>
          <p:cNvSpPr txBox="1"/>
          <p:nvPr/>
        </p:nvSpPr>
        <p:spPr>
          <a:xfrm>
            <a:off x="3154680" y="3232404"/>
            <a:ext cx="8442655" cy="537210"/>
          </a:xfrm>
          <a:prstGeom prst="rect">
            <a:avLst/>
          </a:prstGeom>
          <a:noFill/>
        </p:spPr>
        <p:txBody>
          <a:bodyPr wrap="square" lIns="0" rIns="0" tIns="0" bIns="0" anchor="t">
            <a:spAutoFit/>
          </a:bodyPr>
          <a:lstStyle/>
          <a:p>
            <a:pPr algn="l"/>
            <a:r>
              <a:rPr sz="1300" b="0" i="0">
                <a:solidFill>
                  <a:srgbClr val="1F2A44"/>
                </a:solidFill>
                <a:latin typeface="Calibri"/>
              </a:rPr>
              <a:t>The retained Akki record (census run, GPU job or database reading) that every figure in this pack is traced to. The appendix lists them; the workbook carries the row-level evidence.</a:t>
            </a:r>
          </a:p>
        </p:txBody>
      </p:sp>
      <p:cxnSp>
        <p:nvCxnSpPr>
          <p:cNvPr id="12" name="Connector 11"/>
          <p:cNvCxnSpPr/>
          <p:nvPr/>
        </p:nvCxnSpPr>
        <p:spPr>
          <a:xfrm>
            <a:off x="594360" y="3733037"/>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594360" y="3861053"/>
            <a:ext cx="2377440" cy="537210"/>
          </a:xfrm>
          <a:prstGeom prst="rect">
            <a:avLst/>
          </a:prstGeom>
          <a:noFill/>
        </p:spPr>
        <p:txBody>
          <a:bodyPr wrap="square" lIns="0" rIns="0" tIns="0" bIns="0" anchor="t">
            <a:spAutoFit/>
          </a:bodyPr>
          <a:lstStyle/>
          <a:p>
            <a:pPr algn="l"/>
            <a:r>
              <a:rPr sz="1400" b="1" i="0">
                <a:solidFill>
                  <a:srgbClr val="C8102E"/>
                </a:solidFill>
                <a:latin typeface="Calibri"/>
              </a:rPr>
              <a:t>Header-measured hours</a:t>
            </a:r>
          </a:p>
        </p:txBody>
      </p:sp>
      <p:sp>
        <p:nvSpPr>
          <p:cNvPr id="14" name="TextBox 13"/>
          <p:cNvSpPr txBox="1"/>
          <p:nvPr/>
        </p:nvSpPr>
        <p:spPr>
          <a:xfrm>
            <a:off x="3154680" y="3861053"/>
            <a:ext cx="8442655" cy="537210"/>
          </a:xfrm>
          <a:prstGeom prst="rect">
            <a:avLst/>
          </a:prstGeom>
          <a:noFill/>
        </p:spPr>
        <p:txBody>
          <a:bodyPr wrap="square" lIns="0" rIns="0" tIns="0" bIns="0" anchor="t">
            <a:spAutoFit/>
          </a:bodyPr>
          <a:lstStyle/>
          <a:p>
            <a:pPr algn="l"/>
            <a:r>
              <a:rPr sz="1300" b="0" i="0">
                <a:solidFill>
                  <a:srgbClr val="1F2A44"/>
                </a:solidFill>
                <a:latin typeface="Calibri"/>
              </a:rPr>
              <a:t>A duration estimate based on available file headers and per-folder extrapolation for unprobed files. Probing is incomplete; some durations themselves use bitrate estimates. This is not an exact count of decoded estate hours.</a:t>
            </a:r>
          </a:p>
        </p:txBody>
      </p:sp>
      <p:cxnSp>
        <p:nvCxnSpPr>
          <p:cNvPr id="15" name="Connector 14"/>
          <p:cNvCxnSpPr/>
          <p:nvPr/>
        </p:nvCxnSpPr>
        <p:spPr>
          <a:xfrm>
            <a:off x="594360" y="4361688"/>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94360" y="4489703"/>
            <a:ext cx="2377440" cy="537210"/>
          </a:xfrm>
          <a:prstGeom prst="rect">
            <a:avLst/>
          </a:prstGeom>
          <a:noFill/>
        </p:spPr>
        <p:txBody>
          <a:bodyPr wrap="square" lIns="0" rIns="0" tIns="0" bIns="0" anchor="t">
            <a:spAutoFit/>
          </a:bodyPr>
          <a:lstStyle/>
          <a:p>
            <a:pPr algn="l"/>
            <a:r>
              <a:rPr sz="1400" b="1" i="0">
                <a:solidFill>
                  <a:srgbClr val="C8102E"/>
                </a:solidFill>
                <a:latin typeface="Calibri"/>
              </a:rPr>
              <a:t>95 % interval</a:t>
            </a:r>
          </a:p>
        </p:txBody>
      </p:sp>
      <p:sp>
        <p:nvSpPr>
          <p:cNvPr id="17" name="TextBox 16"/>
          <p:cNvSpPr txBox="1"/>
          <p:nvPr/>
        </p:nvSpPr>
        <p:spPr>
          <a:xfrm>
            <a:off x="3154680" y="4489703"/>
            <a:ext cx="8442655" cy="537210"/>
          </a:xfrm>
          <a:prstGeom prst="rect">
            <a:avLst/>
          </a:prstGeom>
          <a:noFill/>
        </p:spPr>
        <p:txBody>
          <a:bodyPr wrap="square" lIns="0" rIns="0" tIns="0" bIns="0" anchor="t">
            <a:spAutoFit/>
          </a:bodyPr>
          <a:lstStyle/>
          <a:p>
            <a:pPr algn="l"/>
            <a:r>
              <a:rPr sz="1300" b="0" i="0">
                <a:solidFill>
                  <a:srgbClr val="1F2A44"/>
                </a:solidFill>
                <a:latin typeface="Calibri"/>
              </a:rPr>
              <a:t>A sampling-uncertainty range produced by a method intended to cover its target in 95 % of repeated samples under its assumptions. It does not cover model error, failed reads, unmeasured folders or inaccessible content. Whole-folder reads remove sampling error, not measurement or classification error.</a:t>
            </a:r>
          </a:p>
        </p:txBody>
      </p:sp>
      <p:cxnSp>
        <p:nvCxnSpPr>
          <p:cNvPr id="18" name="Connector 17"/>
          <p:cNvCxnSpPr/>
          <p:nvPr/>
        </p:nvCxnSpPr>
        <p:spPr>
          <a:xfrm>
            <a:off x="594360" y="4990338"/>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594360" y="5118353"/>
            <a:ext cx="2377440" cy="537210"/>
          </a:xfrm>
          <a:prstGeom prst="rect">
            <a:avLst/>
          </a:prstGeom>
          <a:noFill/>
        </p:spPr>
        <p:txBody>
          <a:bodyPr wrap="square" lIns="0" rIns="0" tIns="0" bIns="0" anchor="t">
            <a:spAutoFit/>
          </a:bodyPr>
          <a:lstStyle/>
          <a:p>
            <a:pPr algn="l"/>
            <a:r>
              <a:rPr sz="1400" b="1" i="0">
                <a:solidFill>
                  <a:srgbClr val="C8102E"/>
                </a:solidFill>
                <a:latin typeface="Calibri"/>
              </a:rPr>
              <a:t>Key refused (403)</a:t>
            </a:r>
          </a:p>
        </p:txBody>
      </p:sp>
      <p:sp>
        <p:nvSpPr>
          <p:cNvPr id="20" name="TextBox 19"/>
          <p:cNvSpPr txBox="1"/>
          <p:nvPr/>
        </p:nvSpPr>
        <p:spPr>
          <a:xfrm>
            <a:off x="3154680" y="5118353"/>
            <a:ext cx="8442655" cy="537210"/>
          </a:xfrm>
          <a:prstGeom prst="rect">
            <a:avLst/>
          </a:prstGeom>
          <a:noFill/>
        </p:spPr>
        <p:txBody>
          <a:bodyPr wrap="square" lIns="0" rIns="0" tIns="0" bIns="0" anchor="t">
            <a:spAutoFit/>
          </a:bodyPr>
          <a:lstStyle/>
          <a:p>
            <a:pPr algn="l"/>
            <a:r>
              <a:rPr sz="1300" b="0" i="0">
                <a:solidFill>
                  <a:srgbClr val="1F2A44"/>
                </a:solidFill>
                <a:latin typeface="Calibri"/>
              </a:rPr>
              <a:t>The census key can list the bucket but is refused when it tries to read any object. Those files are counted but nothing about their content is estimated. The fix is an access grant on the owner's cloud account, not a change to the census.</a:t>
            </a:r>
          </a:p>
        </p:txBody>
      </p:sp>
      <p:cxnSp>
        <p:nvCxnSpPr>
          <p:cNvPr id="21" name="Connector 20"/>
          <p:cNvCxnSpPr/>
          <p:nvPr/>
        </p:nvCxnSpPr>
        <p:spPr>
          <a:xfrm>
            <a:off x="594360" y="5618988"/>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23" name="TextBox 22"/>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24" name="TextBox 23"/>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PLAIN ENGLISH</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What the terms in this pack mean</a:t>
            </a:r>
          </a:p>
        </p:txBody>
      </p:sp>
      <p:sp>
        <p:nvSpPr>
          <p:cNvPr id="4" name="TextBox 3"/>
          <p:cNvSpPr txBox="1"/>
          <p:nvPr/>
        </p:nvSpPr>
        <p:spPr>
          <a:xfrm>
            <a:off x="594360" y="1975104"/>
            <a:ext cx="2377440" cy="1097280"/>
          </a:xfrm>
          <a:prstGeom prst="rect">
            <a:avLst/>
          </a:prstGeom>
          <a:noFill/>
        </p:spPr>
        <p:txBody>
          <a:bodyPr wrap="square" lIns="0" rIns="0" tIns="0" bIns="0" anchor="t">
            <a:spAutoFit/>
          </a:bodyPr>
          <a:lstStyle/>
          <a:p>
            <a:pPr algn="l"/>
            <a:r>
              <a:rPr sz="1400" b="1" i="0">
                <a:solidFill>
                  <a:srgbClr val="C8102E"/>
                </a:solidFill>
                <a:latin typeface="Calibri"/>
              </a:rPr>
              <a:t>Archive class</a:t>
            </a:r>
          </a:p>
        </p:txBody>
      </p:sp>
      <p:sp>
        <p:nvSpPr>
          <p:cNvPr id="5" name="TextBox 4"/>
          <p:cNvSpPr txBox="1"/>
          <p:nvPr/>
        </p:nvSpPr>
        <p:spPr>
          <a:xfrm>
            <a:off x="3154680" y="1975104"/>
            <a:ext cx="8442655" cy="1097280"/>
          </a:xfrm>
          <a:prstGeom prst="rect">
            <a:avLst/>
          </a:prstGeom>
          <a:noFill/>
        </p:spPr>
        <p:txBody>
          <a:bodyPr wrap="square" lIns="0" rIns="0" tIns="0" bIns="0" anchor="t">
            <a:spAutoFit/>
          </a:bodyPr>
          <a:lstStyle/>
          <a:p>
            <a:pPr algn="l"/>
            <a:r>
              <a:rPr sz="1300" b="0" i="0">
                <a:solidFill>
                  <a:srgbClr val="1F2A44"/>
                </a:solidFill>
                <a:latin typeface="Calibri"/>
              </a:rPr>
              <a:t>The cheapest storage tier. Some buckets allow direct reads of Archive objects for a retrieval fee; others answer 'restore required', and a restore must be ordered and paid for before anything can be read.</a:t>
            </a:r>
          </a:p>
        </p:txBody>
      </p:sp>
      <p:cxnSp>
        <p:nvCxnSpPr>
          <p:cNvPr id="6" name="Connector 5"/>
          <p:cNvCxnSpPr/>
          <p:nvPr/>
        </p:nvCxnSpPr>
        <p:spPr>
          <a:xfrm>
            <a:off x="594360" y="3035808"/>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1920240"/>
            <a:ext cx="2613355" cy="1885492"/>
          </a:xfrm>
          <a:prstGeom prst="rect">
            <a:avLst/>
          </a:prstGeom>
          <a:noFill/>
        </p:spPr>
        <p:txBody>
          <a:bodyPr wrap="square" lIns="0" rIns="0" tIns="0" bIns="0" anchor="ctr">
            <a:spAutoFit/>
          </a:bodyPr>
          <a:lstStyle/>
          <a:p>
            <a:pPr algn="l"/>
            <a:r>
              <a:rPr sz="9600" b="0" i="0">
                <a:solidFill>
                  <a:srgbClr val="C8102E"/>
                </a:solidFill>
                <a:latin typeface="Courier New"/>
              </a:rPr>
              <a:t>01</a:t>
            </a:r>
          </a:p>
        </p:txBody>
      </p:sp>
      <p:sp>
        <p:nvSpPr>
          <p:cNvPr id="3" name="TextBox 2"/>
          <p:cNvSpPr txBox="1"/>
          <p:nvPr/>
        </p:nvSpPr>
        <p:spPr>
          <a:xfrm>
            <a:off x="3390595" y="2297887"/>
            <a:ext cx="8206740" cy="1508760"/>
          </a:xfrm>
          <a:prstGeom prst="rect">
            <a:avLst/>
          </a:prstGeom>
          <a:noFill/>
        </p:spPr>
        <p:txBody>
          <a:bodyPr wrap="square" lIns="0" rIns="0" tIns="0" bIns="0" anchor="ctr">
            <a:spAutoFit/>
          </a:bodyPr>
          <a:lstStyle/>
          <a:p>
            <a:pPr algn="l"/>
            <a:r>
              <a:rPr sz="3200" b="0" i="0">
                <a:solidFill>
                  <a:srgbClr val="1F2A44"/>
                </a:solidFill>
                <a:latin typeface="Cambria"/>
              </a:rPr>
              <a:t>Where the estate's bytes sit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ESTATE BY STORE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Object store and file shares hold almost all of the 175.0 TiB estate</a:t>
            </a:r>
          </a:p>
        </p:txBody>
      </p:sp>
      <p:graphicFrame>
        <p:nvGraphicFramePr>
          <p:cNvPr id="4" name="Chart 3"/>
          <p:cNvGraphicFramePr>
            <a:graphicFrameLocks noGrp="1"/>
          </p:cNvGraphicFramePr>
          <p:nvPr/>
        </p:nvGraphicFramePr>
        <p:xfrm>
          <a:off x="594360" y="1920240"/>
          <a:ext cx="11002975" cy="3394252"/>
        </p:xfrm>
        <a:graphic>
          <a:graphicData uri="http://schemas.openxmlformats.org/drawingml/2006/chart">
            <c:chart xmlns:c="http://schemas.openxmlformats.org/drawingml/2006/chart" r:id="rId2"/>
          </a:graphicData>
        </a:graphic>
      </p:graphicFrame>
      <p:sp>
        <p:nvSpPr>
          <p:cNvPr id="5" name="TextBox 4"/>
          <p:cNvSpPr txBox="1"/>
          <p:nvPr/>
        </p:nvSpPr>
        <p:spPr>
          <a:xfrm>
            <a:off x="594360" y="5314492"/>
            <a:ext cx="8206740" cy="376732"/>
          </a:xfrm>
          <a:prstGeom prst="rect">
            <a:avLst/>
          </a:prstGeom>
          <a:noFill/>
        </p:spPr>
        <p:txBody>
          <a:bodyPr wrap="square" lIns="0" rIns="0" tIns="0" bIns="0" anchor="b">
            <a:spAutoFit/>
          </a:bodyPr>
          <a:lstStyle/>
          <a:p>
            <a:pPr algn="l"/>
            <a:r>
              <a:rPr sz="1400" b="0" i="1">
                <a:solidFill>
                  <a:srgbClr val="C8102E"/>
                </a:solidFill>
                <a:latin typeface="Calibri"/>
              </a:rPr>
              <a:t>Cost and preparation effort belongs in the buckets and shares; databases are only 0.2% of the estate.</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[measured]  Receipt R01: Estate intelligence census eij-1b359b3cbd2e, digest-verified report (measured 2026-09-29), headline aggregates and per-database measures</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OBJECT-STORE CONCENTRATION</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One bucket holds 86.7 TiB, 66.3% of the whole object store</a:t>
            </a:r>
          </a:p>
        </p:txBody>
      </p:sp>
      <p:graphicFrame>
        <p:nvGraphicFramePr>
          <p:cNvPr id="4" name="Chart 3"/>
          <p:cNvGraphicFramePr>
            <a:graphicFrameLocks noGrp="1"/>
          </p:cNvGraphicFramePr>
          <p:nvPr/>
        </p:nvGraphicFramePr>
        <p:xfrm>
          <a:off x="594360" y="1920240"/>
          <a:ext cx="11002975" cy="3394252"/>
        </p:xfrm>
        <a:graphic>
          <a:graphicData uri="http://schemas.openxmlformats.org/drawingml/2006/chart">
            <c:chart xmlns:c="http://schemas.openxmlformats.org/drawingml/2006/chart" r:id="rId2"/>
          </a:graphicData>
        </a:graphic>
      </p:graphicFrame>
      <p:sp>
        <p:nvSpPr>
          <p:cNvPr id="5" name="TextBox 4"/>
          <p:cNvSpPr txBox="1"/>
          <p:nvPr/>
        </p:nvSpPr>
        <p:spPr>
          <a:xfrm>
            <a:off x="594360" y="5314492"/>
            <a:ext cx="8206740" cy="376732"/>
          </a:xfrm>
          <a:prstGeom prst="rect">
            <a:avLst/>
          </a:prstGeom>
          <a:noFill/>
        </p:spPr>
        <p:txBody>
          <a:bodyPr wrap="square" lIns="0" rIns="0" tIns="0" bIns="0" anchor="b">
            <a:spAutoFit/>
          </a:bodyPr>
          <a:lstStyle/>
          <a:p>
            <a:pPr algn="l"/>
            <a:r>
              <a:rPr sz="1400" b="0" i="1">
                <a:solidFill>
                  <a:srgbClr val="C8102E"/>
                </a:solidFill>
                <a:latin typeface="Calibri"/>
              </a:rPr>
              <a:t>Evidence gathering should start with the largest buckets, but size alone does not show a bucket is idle, readable or safe to delete.</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[measured]  Receipt R04: OBS bucket enumeration census run cr-f1415e395361 (22,997,353 objects, 130.8 TiB)</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WHOLE ESTATE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Object store and file shares hold nearly all of the 175.0 TiB estate</a:t>
            </a:r>
          </a:p>
        </p:txBody>
      </p:sp>
      <p:sp>
        <p:nvSpPr>
          <p:cNvPr id="4" name="TextBox 3"/>
          <p:cNvSpPr txBox="1"/>
          <p:nvPr/>
        </p:nvSpPr>
        <p:spPr>
          <a:xfrm>
            <a:off x="594360" y="1920240"/>
            <a:ext cx="640080" cy="942975"/>
          </a:xfrm>
          <a:prstGeom prst="rect">
            <a:avLst/>
          </a:prstGeom>
          <a:noFill/>
        </p:spPr>
        <p:txBody>
          <a:bodyPr wrap="square" lIns="0" rIns="0" tIns="0" bIns="0" anchor="t">
            <a:spAutoFit/>
          </a:bodyPr>
          <a:lstStyle/>
          <a:p>
            <a:pPr algn="l"/>
            <a:r>
              <a:rPr sz="2600" b="0" i="0">
                <a:solidFill>
                  <a:srgbClr val="C8102E"/>
                </a:solidFill>
                <a:latin typeface="Courier New"/>
              </a:rPr>
              <a:t>01</a:t>
            </a:r>
          </a:p>
        </p:txBody>
      </p:sp>
      <p:sp>
        <p:nvSpPr>
          <p:cNvPr id="5" name="TextBox 4"/>
          <p:cNvSpPr txBox="1"/>
          <p:nvPr/>
        </p:nvSpPr>
        <p:spPr>
          <a:xfrm>
            <a:off x="1417320" y="1993392"/>
            <a:ext cx="10180015" cy="851535"/>
          </a:xfrm>
          <a:prstGeom prst="rect">
            <a:avLst/>
          </a:prstGeom>
          <a:noFill/>
        </p:spPr>
        <p:txBody>
          <a:bodyPr wrap="square" lIns="0" rIns="0" tIns="0" bIns="0" anchor="t">
            <a:spAutoFit/>
          </a:bodyPr>
          <a:lstStyle/>
          <a:p>
            <a:pPr algn="l"/>
            <a:r>
              <a:rPr sz="1400" b="0" i="0">
                <a:solidFill>
                  <a:srgbClr val="1F2A44"/>
                </a:solidFill>
                <a:latin typeface="Calibri"/>
              </a:rPr>
              <a:t>The estate holds 175.0 TiB across databases, object store and file shares. These are listed or measured bytes, not content that has been read.</a:t>
            </a:r>
          </a:p>
        </p:txBody>
      </p:sp>
      <p:cxnSp>
        <p:nvCxnSpPr>
          <p:cNvPr id="6" name="Connector 5"/>
          <p:cNvCxnSpPr/>
          <p:nvPr/>
        </p:nvCxnSpPr>
        <p:spPr>
          <a:xfrm>
            <a:off x="594360" y="2753487"/>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2863215"/>
            <a:ext cx="640080" cy="942975"/>
          </a:xfrm>
          <a:prstGeom prst="rect">
            <a:avLst/>
          </a:prstGeom>
          <a:noFill/>
        </p:spPr>
        <p:txBody>
          <a:bodyPr wrap="square" lIns="0" rIns="0" tIns="0" bIns="0" anchor="t">
            <a:spAutoFit/>
          </a:bodyPr>
          <a:lstStyle/>
          <a:p>
            <a:pPr algn="l"/>
            <a:r>
              <a:rPr sz="2600" b="0" i="0">
                <a:solidFill>
                  <a:srgbClr val="C8102E"/>
                </a:solidFill>
                <a:latin typeface="Courier New"/>
              </a:rPr>
              <a:t>02</a:t>
            </a:r>
          </a:p>
        </p:txBody>
      </p:sp>
      <p:sp>
        <p:nvSpPr>
          <p:cNvPr id="8" name="TextBox 7"/>
          <p:cNvSpPr txBox="1"/>
          <p:nvPr/>
        </p:nvSpPr>
        <p:spPr>
          <a:xfrm>
            <a:off x="1417320" y="2936367"/>
            <a:ext cx="10180015" cy="851535"/>
          </a:xfrm>
          <a:prstGeom prst="rect">
            <a:avLst/>
          </a:prstGeom>
          <a:noFill/>
        </p:spPr>
        <p:txBody>
          <a:bodyPr wrap="square" lIns="0" rIns="0" tIns="0" bIns="0" anchor="t">
            <a:spAutoFit/>
          </a:bodyPr>
          <a:lstStyle/>
          <a:p>
            <a:pPr algn="l"/>
            <a:r>
              <a:rPr sz="1400" b="0" i="0">
                <a:solidFill>
                  <a:srgbClr val="1F2A44"/>
                </a:solidFill>
                <a:latin typeface="Calibri"/>
              </a:rPr>
              <a:t>The object store holds 130.8 TiB, 74.7% of the estate, in 106 buckets and 23.0m objects.</a:t>
            </a:r>
          </a:p>
        </p:txBody>
      </p:sp>
      <p:cxnSp>
        <p:nvCxnSpPr>
          <p:cNvPr id="9" name="Connector 8"/>
          <p:cNvCxnSpPr/>
          <p:nvPr/>
        </p:nvCxnSpPr>
        <p:spPr>
          <a:xfrm>
            <a:off x="594360" y="3696461"/>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94360" y="3806189"/>
            <a:ext cx="640080" cy="942975"/>
          </a:xfrm>
          <a:prstGeom prst="rect">
            <a:avLst/>
          </a:prstGeom>
          <a:noFill/>
        </p:spPr>
        <p:txBody>
          <a:bodyPr wrap="square" lIns="0" rIns="0" tIns="0" bIns="0" anchor="t">
            <a:spAutoFit/>
          </a:bodyPr>
          <a:lstStyle/>
          <a:p>
            <a:pPr algn="l"/>
            <a:r>
              <a:rPr sz="2600" b="0" i="0">
                <a:solidFill>
                  <a:srgbClr val="C8102E"/>
                </a:solidFill>
                <a:latin typeface="Courier New"/>
              </a:rPr>
              <a:t>03</a:t>
            </a:r>
          </a:p>
        </p:txBody>
      </p:sp>
      <p:sp>
        <p:nvSpPr>
          <p:cNvPr id="11" name="TextBox 10"/>
          <p:cNvSpPr txBox="1"/>
          <p:nvPr/>
        </p:nvSpPr>
        <p:spPr>
          <a:xfrm>
            <a:off x="1417320" y="3879341"/>
            <a:ext cx="10180015" cy="851535"/>
          </a:xfrm>
          <a:prstGeom prst="rect">
            <a:avLst/>
          </a:prstGeom>
          <a:noFill/>
        </p:spPr>
        <p:txBody>
          <a:bodyPr wrap="square" lIns="0" rIns="0" tIns="0" bIns="0" anchor="t">
            <a:spAutoFit/>
          </a:bodyPr>
          <a:lstStyle/>
          <a:p>
            <a:pPr algn="l"/>
            <a:r>
              <a:rPr sz="1400" b="0" i="0">
                <a:solidFill>
                  <a:srgbClr val="1F2A44"/>
                </a:solidFill>
                <a:latin typeface="Calibri"/>
              </a:rPr>
              <a:t>File shares hold 43.9 TiB, 25.1% of the estate, in 16 shares and 1.5m files; duplication across shares is not yet measured.</a:t>
            </a:r>
          </a:p>
        </p:txBody>
      </p:sp>
      <p:cxnSp>
        <p:nvCxnSpPr>
          <p:cNvPr id="12" name="Connector 11"/>
          <p:cNvCxnSpPr/>
          <p:nvPr/>
        </p:nvCxnSpPr>
        <p:spPr>
          <a:xfrm>
            <a:off x="594360" y="4639437"/>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594360" y="4749165"/>
            <a:ext cx="640080" cy="942975"/>
          </a:xfrm>
          <a:prstGeom prst="rect">
            <a:avLst/>
          </a:prstGeom>
          <a:noFill/>
        </p:spPr>
        <p:txBody>
          <a:bodyPr wrap="square" lIns="0" rIns="0" tIns="0" bIns="0" anchor="t">
            <a:spAutoFit/>
          </a:bodyPr>
          <a:lstStyle/>
          <a:p>
            <a:pPr algn="l"/>
            <a:r>
              <a:rPr sz="2600" b="0" i="0">
                <a:solidFill>
                  <a:srgbClr val="C8102E"/>
                </a:solidFill>
                <a:latin typeface="Courier New"/>
              </a:rPr>
              <a:t>04</a:t>
            </a:r>
          </a:p>
        </p:txBody>
      </p:sp>
      <p:sp>
        <p:nvSpPr>
          <p:cNvPr id="14" name="TextBox 13"/>
          <p:cNvSpPr txBox="1"/>
          <p:nvPr/>
        </p:nvSpPr>
        <p:spPr>
          <a:xfrm>
            <a:off x="1417320" y="4822317"/>
            <a:ext cx="10180015" cy="851535"/>
          </a:xfrm>
          <a:prstGeom prst="rect">
            <a:avLst/>
          </a:prstGeom>
          <a:noFill/>
        </p:spPr>
        <p:txBody>
          <a:bodyPr wrap="square" lIns="0" rIns="0" tIns="0" bIns="0" anchor="t">
            <a:spAutoFit/>
          </a:bodyPr>
          <a:lstStyle/>
          <a:p>
            <a:pPr algn="l"/>
            <a:r>
              <a:rPr sz="1400" b="0" i="0">
                <a:solidFill>
                  <a:srgbClr val="1F2A44"/>
                </a:solidFill>
                <a:latin typeface="Calibri"/>
              </a:rPr>
              <a:t>Databases hold 0.3 TiB, 0.2% of the estate; their importance lies in condition and product preparation, not storage cost.</a:t>
            </a:r>
          </a:p>
        </p:txBody>
      </p:sp>
      <p:cxnSp>
        <p:nvCxnSpPr>
          <p:cNvPr id="15" name="Connector 14"/>
          <p:cNvCxnSpPr/>
          <p:nvPr/>
        </p:nvCxnSpPr>
        <p:spPr>
          <a:xfrm>
            <a:off x="594360" y="5582412"/>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17" name="TextBox 16"/>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18" name="TextBox 17"/>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1920240"/>
            <a:ext cx="2613355" cy="1885492"/>
          </a:xfrm>
          <a:prstGeom prst="rect">
            <a:avLst/>
          </a:prstGeom>
          <a:noFill/>
        </p:spPr>
        <p:txBody>
          <a:bodyPr wrap="square" lIns="0" rIns="0" tIns="0" bIns="0" anchor="ctr">
            <a:spAutoFit/>
          </a:bodyPr>
          <a:lstStyle/>
          <a:p>
            <a:pPr algn="l"/>
            <a:r>
              <a:rPr sz="9600" b="0" i="0">
                <a:solidFill>
                  <a:srgbClr val="C8102E"/>
                </a:solidFill>
                <a:latin typeface="Courier New"/>
              </a:rPr>
              <a:t>02</a:t>
            </a:r>
          </a:p>
        </p:txBody>
      </p:sp>
      <p:sp>
        <p:nvSpPr>
          <p:cNvPr id="3" name="TextBox 2"/>
          <p:cNvSpPr txBox="1"/>
          <p:nvPr/>
        </p:nvSpPr>
        <p:spPr>
          <a:xfrm>
            <a:off x="3390595" y="2297887"/>
            <a:ext cx="8206740" cy="1508760"/>
          </a:xfrm>
          <a:prstGeom prst="rect">
            <a:avLst/>
          </a:prstGeom>
          <a:noFill/>
        </p:spPr>
        <p:txBody>
          <a:bodyPr wrap="square" lIns="0" rIns="0" tIns="0" bIns="0" anchor="ctr">
            <a:spAutoFit/>
          </a:bodyPr>
          <a:lstStyle/>
          <a:p>
            <a:pPr algn="l"/>
            <a:r>
              <a:rPr sz="3200" b="0" i="0">
                <a:solidFill>
                  <a:srgbClr val="1F2A44"/>
                </a:solidFill>
                <a:latin typeface="Cambria"/>
              </a:rPr>
              <a:t>What is under review</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REVIEW REGISTER</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41.9 TiB of the object store is cold, and 7.7 TiB are duplicate candidates</a:t>
            </a:r>
          </a:p>
        </p:txBody>
      </p:sp>
      <p:sp>
        <p:nvSpPr>
          <p:cNvPr id="4" name="TextBox 3"/>
          <p:cNvSpPr txBox="1"/>
          <p:nvPr/>
        </p:nvSpPr>
        <p:spPr>
          <a:xfrm>
            <a:off x="594360" y="1920240"/>
            <a:ext cx="640080" cy="942975"/>
          </a:xfrm>
          <a:prstGeom prst="rect">
            <a:avLst/>
          </a:prstGeom>
          <a:noFill/>
        </p:spPr>
        <p:txBody>
          <a:bodyPr wrap="square" lIns="0" rIns="0" tIns="0" bIns="0" anchor="t">
            <a:spAutoFit/>
          </a:bodyPr>
          <a:lstStyle/>
          <a:p>
            <a:pPr algn="l"/>
            <a:r>
              <a:rPr sz="2600" b="0" i="0">
                <a:solidFill>
                  <a:srgbClr val="C8102E"/>
                </a:solidFill>
                <a:latin typeface="Courier New"/>
              </a:rPr>
              <a:t>01</a:t>
            </a:r>
          </a:p>
        </p:txBody>
      </p:sp>
      <p:sp>
        <p:nvSpPr>
          <p:cNvPr id="5" name="TextBox 4"/>
          <p:cNvSpPr txBox="1"/>
          <p:nvPr/>
        </p:nvSpPr>
        <p:spPr>
          <a:xfrm>
            <a:off x="1417320" y="1993392"/>
            <a:ext cx="10180015" cy="851535"/>
          </a:xfrm>
          <a:prstGeom prst="rect">
            <a:avLst/>
          </a:prstGeom>
          <a:noFill/>
        </p:spPr>
        <p:txBody>
          <a:bodyPr wrap="square" lIns="0" rIns="0" tIns="0" bIns="0" anchor="t">
            <a:spAutoFit/>
          </a:bodyPr>
          <a:lstStyle/>
          <a:p>
            <a:pPr algn="l"/>
            <a:r>
              <a:rPr sz="1400" b="0" i="0">
                <a:solidFill>
                  <a:srgbClr val="1F2A44"/>
                </a:solidFill>
                <a:latin typeface="Calibri"/>
              </a:rPr>
              <a:t>41.9 TiB has not been written for over a year, across 43 buckets; the table of buckets under review gives each proposed destination.</a:t>
            </a:r>
          </a:p>
        </p:txBody>
      </p:sp>
      <p:cxnSp>
        <p:nvCxnSpPr>
          <p:cNvPr id="6" name="Connector 5"/>
          <p:cNvCxnSpPr/>
          <p:nvPr/>
        </p:nvCxnSpPr>
        <p:spPr>
          <a:xfrm>
            <a:off x="594360" y="2753487"/>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2863215"/>
            <a:ext cx="640080" cy="942975"/>
          </a:xfrm>
          <a:prstGeom prst="rect">
            <a:avLst/>
          </a:prstGeom>
          <a:noFill/>
        </p:spPr>
        <p:txBody>
          <a:bodyPr wrap="square" lIns="0" rIns="0" tIns="0" bIns="0" anchor="t">
            <a:spAutoFit/>
          </a:bodyPr>
          <a:lstStyle/>
          <a:p>
            <a:pPr algn="l"/>
            <a:r>
              <a:rPr sz="2600" b="0" i="0">
                <a:solidFill>
                  <a:srgbClr val="C8102E"/>
                </a:solidFill>
                <a:latin typeface="Courier New"/>
              </a:rPr>
              <a:t>02</a:t>
            </a:r>
          </a:p>
        </p:txBody>
      </p:sp>
      <p:sp>
        <p:nvSpPr>
          <p:cNvPr id="8" name="TextBox 7"/>
          <p:cNvSpPr txBox="1"/>
          <p:nvPr/>
        </p:nvSpPr>
        <p:spPr>
          <a:xfrm>
            <a:off x="1417320" y="2936367"/>
            <a:ext cx="10180015" cy="851535"/>
          </a:xfrm>
          <a:prstGeom prst="rect">
            <a:avLst/>
          </a:prstGeom>
          <a:noFill/>
        </p:spPr>
        <p:txBody>
          <a:bodyPr wrap="square" lIns="0" rIns="0" tIns="0" bIns="0" anchor="t">
            <a:spAutoFit/>
          </a:bodyPr>
          <a:lstStyle/>
          <a:p>
            <a:pPr algn="l"/>
            <a:r>
              <a:rPr sz="1400" b="0" i="0">
                <a:solidFill>
                  <a:srgbClr val="1F2A44"/>
                </a:solidFill>
                <a:latin typeface="Calibri"/>
              </a:rPr>
              <a:t>7.7 TiB are size-and-name duplicate candidates, not content-hash confirmed; hash them before removing any copy.</a:t>
            </a:r>
          </a:p>
        </p:txBody>
      </p:sp>
      <p:cxnSp>
        <p:nvCxnSpPr>
          <p:cNvPr id="9" name="Connector 8"/>
          <p:cNvCxnSpPr/>
          <p:nvPr/>
        </p:nvCxnSpPr>
        <p:spPr>
          <a:xfrm>
            <a:off x="594360" y="3696461"/>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94360" y="3806189"/>
            <a:ext cx="640080" cy="942975"/>
          </a:xfrm>
          <a:prstGeom prst="rect">
            <a:avLst/>
          </a:prstGeom>
          <a:noFill/>
        </p:spPr>
        <p:txBody>
          <a:bodyPr wrap="square" lIns="0" rIns="0" tIns="0" bIns="0" anchor="t">
            <a:spAutoFit/>
          </a:bodyPr>
          <a:lstStyle/>
          <a:p>
            <a:pPr algn="l"/>
            <a:r>
              <a:rPr sz="2600" b="0" i="0">
                <a:solidFill>
                  <a:srgbClr val="C8102E"/>
                </a:solidFill>
                <a:latin typeface="Courier New"/>
              </a:rPr>
              <a:t>03</a:t>
            </a:r>
          </a:p>
        </p:txBody>
      </p:sp>
      <p:sp>
        <p:nvSpPr>
          <p:cNvPr id="11" name="TextBox 10"/>
          <p:cNvSpPr txBox="1"/>
          <p:nvPr/>
        </p:nvSpPr>
        <p:spPr>
          <a:xfrm>
            <a:off x="1417320" y="3879341"/>
            <a:ext cx="10180015" cy="851535"/>
          </a:xfrm>
          <a:prstGeom prst="rect">
            <a:avLst/>
          </a:prstGeom>
          <a:noFill/>
        </p:spPr>
        <p:txBody>
          <a:bodyPr wrap="square" lIns="0" rIns="0" tIns="0" bIns="0" anchor="t">
            <a:spAutoFit/>
          </a:bodyPr>
          <a:lstStyle/>
          <a:p>
            <a:pPr algn="l"/>
            <a:r>
              <a:rPr sz="1400" b="0" i="0">
                <a:solidFill>
                  <a:srgbClr val="1F2A44"/>
                </a:solidFill>
                <a:latin typeface="Calibri"/>
              </a:rPr>
              <a:t>40 of 106 buckets returned errors when listed and need reconciling with the provider.</a:t>
            </a:r>
          </a:p>
        </p:txBody>
      </p:sp>
      <p:cxnSp>
        <p:nvCxnSpPr>
          <p:cNvPr id="12" name="Connector 11"/>
          <p:cNvCxnSpPr/>
          <p:nvPr/>
        </p:nvCxnSpPr>
        <p:spPr>
          <a:xfrm>
            <a:off x="594360" y="4639437"/>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594360" y="4749165"/>
            <a:ext cx="640080" cy="942975"/>
          </a:xfrm>
          <a:prstGeom prst="rect">
            <a:avLst/>
          </a:prstGeom>
          <a:noFill/>
        </p:spPr>
        <p:txBody>
          <a:bodyPr wrap="square" lIns="0" rIns="0" tIns="0" bIns="0" anchor="t">
            <a:spAutoFit/>
          </a:bodyPr>
          <a:lstStyle/>
          <a:p>
            <a:pPr algn="l"/>
            <a:r>
              <a:rPr sz="2600" b="0" i="0">
                <a:solidFill>
                  <a:srgbClr val="C8102E"/>
                </a:solidFill>
                <a:latin typeface="Courier New"/>
              </a:rPr>
              <a:t>04</a:t>
            </a:r>
          </a:p>
        </p:txBody>
      </p:sp>
      <p:sp>
        <p:nvSpPr>
          <p:cNvPr id="14" name="TextBox 13"/>
          <p:cNvSpPr txBox="1"/>
          <p:nvPr/>
        </p:nvSpPr>
        <p:spPr>
          <a:xfrm>
            <a:off x="1417320" y="4822317"/>
            <a:ext cx="10180015" cy="851535"/>
          </a:xfrm>
          <a:prstGeom prst="rect">
            <a:avLst/>
          </a:prstGeom>
          <a:noFill/>
        </p:spPr>
        <p:txBody>
          <a:bodyPr wrap="square" lIns="0" rIns="0" tIns="0" bIns="0" anchor="t">
            <a:spAutoFit/>
          </a:bodyPr>
          <a:lstStyle/>
          <a:p>
            <a:pPr algn="l"/>
            <a:r>
              <a:rPr sz="1400" b="0" i="0">
                <a:solidFill>
                  <a:srgbClr val="1F2A44"/>
                </a:solidFill>
                <a:latin typeface="Calibri"/>
              </a:rPr>
              <a:t>File-share duplication is unmeasured. Every destination is a proposal; nothing has been moved or deleted.</a:t>
            </a:r>
          </a:p>
        </p:txBody>
      </p:sp>
      <p:cxnSp>
        <p:nvCxnSpPr>
          <p:cNvPr id="15" name="Connector 14"/>
          <p:cNvCxnSpPr/>
          <p:nvPr/>
        </p:nvCxnSpPr>
        <p:spPr>
          <a:xfrm>
            <a:off x="594360" y="5582412"/>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17" name="TextBox 16"/>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18" name="TextBox 17"/>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EVIDENCE BY NAME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Exact object-store buckets under review (largest first)</a:t>
            </a:r>
          </a:p>
        </p:txBody>
      </p:sp>
      <p:graphicFrame>
        <p:nvGraphicFramePr>
          <p:cNvPr id="4" name="Table 3"/>
          <p:cNvGraphicFramePr>
            <a:graphicFrameLocks noGrp="1"/>
          </p:cNvGraphicFramePr>
          <p:nvPr/>
        </p:nvGraphicFramePr>
        <p:xfrm>
          <a:off x="594360" y="1920240"/>
          <a:ext cx="11002973" cy="3017520"/>
        </p:xfrm>
        <a:graphic>
          <a:graphicData uri="http://schemas.openxmlformats.org/drawingml/2006/table">
            <a:tbl>
              <a:tblPr firstRow="1" bandRow="1">
                <a:tableStyleId>{5C22544A-7EE6-4342-B048-85BDC9FD1C3A}</a:tableStyleId>
              </a:tblPr>
              <a:tblGrid>
                <a:gridCol w="1086713"/>
                <a:gridCol w="950874"/>
                <a:gridCol w="950874"/>
                <a:gridCol w="950874"/>
                <a:gridCol w="1358392"/>
                <a:gridCol w="2852623"/>
                <a:gridCol w="2852623"/>
              </a:tblGrid>
              <a:tr h="301752">
                <a:tc>
                  <a:txBody>
                    <a:bodyPr wrap="square"/>
                    <a:lstStyle/>
                    <a:p>
                      <a:pPr algn="l"/>
                      <a:r>
                        <a:rPr sz="1100" b="1">
                          <a:solidFill>
                            <a:srgbClr val="1F2A44"/>
                          </a:solidFill>
                          <a:latin typeface="Calibri"/>
                        </a:rPr>
                        <a:t>Bucket</a:t>
                      </a:r>
                    </a:p>
                  </a:txBody>
                  <a:tcPr marL="54864" marR="54864" marT="27432" marB="27432">
                    <a:solidFill>
                      <a:srgbClr val="E9ECF1"/>
                    </a:solidFill>
                  </a:tcPr>
                </a:tc>
                <a:tc>
                  <a:txBody>
                    <a:bodyPr wrap="square"/>
                    <a:lstStyle/>
                    <a:p>
                      <a:pPr algn="l"/>
                      <a:r>
                        <a:rPr sz="1100" b="1">
                          <a:solidFill>
                            <a:srgbClr val="1F2A44"/>
                          </a:solidFill>
                          <a:latin typeface="Calibri"/>
                        </a:rPr>
                        <a:t>Held (TiB)</a:t>
                      </a:r>
                    </a:p>
                  </a:txBody>
                  <a:tcPr marL="54864" marR="54864" marT="27432" marB="27432">
                    <a:solidFill>
                      <a:srgbClr val="E9ECF1"/>
                    </a:solidFill>
                  </a:tcPr>
                </a:tc>
                <a:tc>
                  <a:txBody>
                    <a:bodyPr wrap="square"/>
                    <a:lstStyle/>
                    <a:p>
                      <a:pPr algn="l"/>
                      <a:r>
                        <a:rPr sz="1100" b="1">
                          <a:solidFill>
                            <a:srgbClr val="1F2A44"/>
                          </a:solidFill>
                          <a:latin typeface="Calibri"/>
                        </a:rPr>
                        <a:t>Last write</a:t>
                      </a:r>
                    </a:p>
                  </a:txBody>
                  <a:tcPr marL="54864" marR="54864" marT="27432" marB="27432">
                    <a:solidFill>
                      <a:srgbClr val="E9ECF1"/>
                    </a:solidFill>
                  </a:tcPr>
                </a:tc>
                <a:tc>
                  <a:txBody>
                    <a:bodyPr wrap="square"/>
                    <a:lstStyle/>
                    <a:p>
                      <a:pPr algn="l"/>
                      <a:r>
                        <a:rPr sz="1100" b="1">
                          <a:solidFill>
                            <a:srgbClr val="1F2A44"/>
                          </a:solidFill>
                          <a:latin typeface="Calibri"/>
                        </a:rPr>
                        <a:t>Idle days</a:t>
                      </a:r>
                    </a:p>
                  </a:txBody>
                  <a:tcPr marL="54864" marR="54864" marT="27432" marB="27432">
                    <a:solidFill>
                      <a:srgbClr val="E9ECF1"/>
                    </a:solidFill>
                  </a:tcPr>
                </a:tc>
                <a:tc>
                  <a:txBody>
                    <a:bodyPr wrap="square"/>
                    <a:lstStyle/>
                    <a:p>
                      <a:pPr algn="l"/>
                      <a:r>
                        <a:rPr sz="1100" b="1">
                          <a:solidFill>
                            <a:srgbClr val="1F2A44"/>
                          </a:solidFill>
                          <a:latin typeface="Calibri"/>
                        </a:rPr>
                        <a:t>Duplicate candidates</a:t>
                      </a:r>
                    </a:p>
                  </a:txBody>
                  <a:tcPr marL="54864" marR="54864" marT="27432" marB="27432">
                    <a:solidFill>
                      <a:srgbClr val="E9ECF1"/>
                    </a:solidFill>
                  </a:tcPr>
                </a:tc>
                <a:tc>
                  <a:txBody>
                    <a:bodyPr wrap="square"/>
                    <a:lstStyle/>
                    <a:p>
                      <a:pPr algn="l"/>
                      <a:r>
                        <a:rPr sz="1100" b="1">
                          <a:solidFill>
                            <a:srgbClr val="1F2A44"/>
                          </a:solidFill>
                          <a:latin typeface="Calibri"/>
                        </a:rPr>
                        <a:t>Classification</a:t>
                      </a:r>
                    </a:p>
                  </a:txBody>
                  <a:tcPr marL="54864" marR="54864" marT="27432" marB="27432">
                    <a:solidFill>
                      <a:srgbClr val="E9ECF1"/>
                    </a:solidFill>
                  </a:tcPr>
                </a:tc>
                <a:tc>
                  <a:txBody>
                    <a:bodyPr wrap="square"/>
                    <a:lstStyle/>
                    <a:p>
                      <a:pPr algn="l"/>
                      <a:r>
                        <a:rPr sz="1100" b="1">
                          <a:solidFill>
                            <a:srgbClr val="1F2A44"/>
                          </a:solidFill>
                          <a:latin typeface="Calibri"/>
                        </a:rPr>
                        <a:t>Proposed action</a:t>
                      </a:r>
                    </a:p>
                  </a:txBody>
                  <a:tcPr marL="54864" marR="54864" marT="27432" marB="27432">
                    <a:solidFill>
                      <a:srgbClr val="E9ECF1"/>
                    </a:solidFill>
                  </a:tcPr>
                </a:tc>
              </a:tr>
              <a:tr h="301752">
                <a:tc>
                  <a:txBody>
                    <a:bodyPr wrap="square"/>
                    <a:lstStyle/>
                    <a:p>
                      <a:pPr algn="l"/>
                      <a:r>
                        <a:rPr sz="1100" b="0">
                          <a:solidFill>
                            <a:srgbClr val="1F2A44"/>
                          </a:solidFill>
                          <a:latin typeface="Calibri"/>
                        </a:rPr>
                        <a:t>2024offairrecs</a:t>
                      </a:r>
                    </a:p>
                  </a:txBody>
                  <a:tcPr marL="54864" marR="54864" marT="27432" marB="27432">
                    <a:solidFill>
                      <a:srgbClr val="FFFFFF"/>
                    </a:solidFill>
                  </a:tcPr>
                </a:tc>
                <a:tc>
                  <a:txBody>
                    <a:bodyPr wrap="square"/>
                    <a:lstStyle/>
                    <a:p>
                      <a:pPr algn="r"/>
                      <a:r>
                        <a:rPr sz="1100" b="0">
                          <a:solidFill>
                            <a:srgbClr val="1F2A44"/>
                          </a:solidFill>
                          <a:latin typeface="Courier New"/>
                        </a:rPr>
                        <a:t>86.74</a:t>
                      </a:r>
                    </a:p>
                  </a:txBody>
                  <a:tcPr marL="54864" marR="54864" marT="27432" marB="27432">
                    <a:solidFill>
                      <a:srgbClr val="FFFFFF"/>
                    </a:solidFill>
                  </a:tcPr>
                </a:tc>
                <a:tc>
                  <a:txBody>
                    <a:bodyPr wrap="square"/>
                    <a:lstStyle/>
                    <a:p>
                      <a:pPr algn="r"/>
                      <a:r>
                        <a:rPr sz="1100" b="0">
                          <a:solidFill>
                            <a:srgbClr val="1F2A44"/>
                          </a:solidFill>
                          <a:latin typeface="Courier New"/>
                        </a:rPr>
                        <a:t>2026-10-02</a:t>
                      </a:r>
                    </a:p>
                  </a:txBody>
                  <a:tcPr marL="54864" marR="54864" marT="27432" marB="27432">
                    <a:solidFill>
                      <a:srgbClr val="FFFFFF"/>
                    </a:solidFill>
                  </a:tcPr>
                </a:tc>
                <a:tc>
                  <a:txBody>
                    <a:bodyPr wrap="square"/>
                    <a:lstStyle/>
                    <a:p>
                      <a:pPr algn="r"/>
                      <a:r>
                        <a:rPr sz="1100" b="0">
                          <a:solidFill>
                            <a:srgbClr val="1F2A44"/>
                          </a:solidFill>
                          <a:latin typeface="Courier New"/>
                        </a:rPr>
                        <a:t>0</a:t>
                      </a:r>
                    </a:p>
                  </a:txBody>
                  <a:tcPr marL="54864" marR="54864" marT="27432" marB="27432">
                    <a:solidFill>
                      <a:srgbClr val="FFFFFF"/>
                    </a:solidFill>
                  </a:tcPr>
                </a:tc>
                <a:tc>
                  <a:txBody>
                    <a:bodyPr wrap="square"/>
                    <a:lstStyle/>
                    <a:p>
                      <a:pPr algn="r"/>
                      <a:r>
                        <a:rPr sz="1100" b="0">
                          <a:solidFill>
                            <a:srgbClr val="1F2A44"/>
                          </a:solidFill>
                          <a:latin typeface="Courier New"/>
                        </a:rPr>
                        <a:t>16,634</a:t>
                      </a:r>
                    </a:p>
                  </a:txBody>
                  <a:tcPr marL="54864" marR="54864" marT="27432" marB="27432">
                    <a:solidFill>
                      <a:srgbClr val="FFFFFF"/>
                    </a:solidFill>
                  </a:tcPr>
                </a:tc>
                <a:tc>
                  <a:txBody>
                    <a:bodyPr wrap="square"/>
                    <a:lstStyle/>
                    <a:p>
                      <a:pPr algn="r"/>
                      <a:r>
                        <a:rPr sz="1100" b="0">
                          <a:solidFill>
                            <a:srgbClr val="1F2A44"/>
                          </a:solidFill>
                          <a:latin typeface="Courier New"/>
                        </a:rPr>
                        <a:t>active — keep hot; heavy duplicate candidates</a:t>
                      </a:r>
                    </a:p>
                  </a:txBody>
                  <a:tcPr marL="54864" marR="54864" marT="27432" marB="27432">
                    <a:solidFill>
                      <a:srgbClr val="FFFFFF"/>
                    </a:solidFill>
                  </a:tcPr>
                </a:tc>
                <a:tc>
                  <a:txBody>
                    <a:bodyPr wrap="square"/>
                    <a:lstStyle/>
                    <a:p>
                      <a:pPr algn="r"/>
                      <a:r>
                        <a:rPr sz="1100" b="0">
                          <a:solidFill>
                            <a:srgbClr val="1F2A44"/>
                          </a:solidFill>
                          <a:latin typeface="Courier New"/>
                        </a:rPr>
                        <a:t>hash-confirm duplicate candidates, keep one copy</a:t>
                      </a:r>
                    </a:p>
                  </a:txBody>
                  <a:tcPr marL="54864" marR="54864" marT="27432" marB="27432">
                    <a:solidFill>
                      <a:srgbClr val="FFFFFF"/>
                    </a:solidFill>
                  </a:tcPr>
                </a:tc>
              </a:tr>
              <a:tr h="301752">
                <a:tc>
                  <a:txBody>
                    <a:bodyPr wrap="square"/>
                    <a:lstStyle/>
                    <a:p>
                      <a:pPr algn="l"/>
                      <a:r>
                        <a:rPr sz="1100" b="0">
                          <a:solidFill>
                            <a:srgbClr val="1F2A44"/>
                          </a:solidFill>
                          <a:latin typeface="Calibri"/>
                        </a:rPr>
                        <a:t>music-bucket-rms</a:t>
                      </a:r>
                    </a:p>
                  </a:txBody>
                  <a:tcPr marL="54864" marR="54864" marT="27432" marB="27432">
                    <a:solidFill>
                      <a:srgbClr val="FFFFFF"/>
                    </a:solidFill>
                  </a:tcPr>
                </a:tc>
                <a:tc>
                  <a:txBody>
                    <a:bodyPr wrap="square"/>
                    <a:lstStyle/>
                    <a:p>
                      <a:pPr algn="r"/>
                      <a:r>
                        <a:rPr sz="1100" b="0">
                          <a:solidFill>
                            <a:srgbClr val="1F2A44"/>
                          </a:solidFill>
                          <a:latin typeface="Courier New"/>
                        </a:rPr>
                        <a:t>4.93</a:t>
                      </a:r>
                    </a:p>
                  </a:txBody>
                  <a:tcPr marL="54864" marR="54864" marT="27432" marB="27432">
                    <a:solidFill>
                      <a:srgbClr val="FFFFFF"/>
                    </a:solidFill>
                  </a:tcPr>
                </a:tc>
                <a:tc>
                  <a:txBody>
                    <a:bodyPr wrap="square"/>
                    <a:lstStyle/>
                    <a:p>
                      <a:pPr algn="r"/>
                      <a:r>
                        <a:rPr sz="1100" b="0">
                          <a:solidFill>
                            <a:srgbClr val="1F2A44"/>
                          </a:solidFill>
                          <a:latin typeface="Courier New"/>
                        </a:rPr>
                        <a:t>2024-03-26</a:t>
                      </a:r>
                    </a:p>
                  </a:txBody>
                  <a:tcPr marL="54864" marR="54864" marT="27432" marB="27432">
                    <a:solidFill>
                      <a:srgbClr val="FFFFFF"/>
                    </a:solidFill>
                  </a:tcPr>
                </a:tc>
                <a:tc>
                  <a:txBody>
                    <a:bodyPr wrap="square"/>
                    <a:lstStyle/>
                    <a:p>
                      <a:pPr algn="r"/>
                      <a:r>
                        <a:rPr sz="1100" b="0">
                          <a:solidFill>
                            <a:srgbClr val="1F2A44"/>
                          </a:solidFill>
                          <a:latin typeface="Courier New"/>
                        </a:rPr>
                        <a:t>920</a:t>
                      </a:r>
                    </a:p>
                  </a:txBody>
                  <a:tcPr marL="54864" marR="54864" marT="27432" marB="27432">
                    <a:solidFill>
                      <a:srgbClr val="FFFFFF"/>
                    </a:solidFill>
                  </a:tcPr>
                </a:tc>
                <a:tc>
                  <a:txBody>
                    <a:bodyPr wrap="square"/>
                    <a:lstStyle/>
                    <a:p>
                      <a:pPr algn="r"/>
                      <a:r>
                        <a:rPr sz="1100" b="0">
                          <a:solidFill>
                            <a:srgbClr val="1F2A44"/>
                          </a:solidFill>
                          <a:latin typeface="Courier New"/>
                        </a:rPr>
                        <a:t>14,696</a:t>
                      </a:r>
                    </a:p>
                  </a:txBody>
                  <a:tcPr marL="54864" marR="54864" marT="27432" marB="27432">
                    <a:solidFill>
                      <a:srgbClr val="FFFFFF"/>
                    </a:solidFill>
                  </a:tcPr>
                </a:tc>
                <a:tc>
                  <a:txBody>
                    <a:bodyPr wrap="square"/>
                    <a:lstStyle/>
                    <a:p>
                      <a:pPr algn="r"/>
                      <a:r>
                        <a:rPr sz="1100" b="0">
                          <a:solidFill>
                            <a:srgbClr val="1F2A44"/>
                          </a:solidFill>
                          <a:latin typeface="Courier New"/>
                        </a:rPr>
                        <a:t>cold — archive candidate; heavy duplicate candidates</a:t>
                      </a:r>
                    </a:p>
                  </a:txBody>
                  <a:tcPr marL="54864" marR="54864" marT="27432" marB="27432">
                    <a:solidFill>
                      <a:srgbClr val="FFFFFF"/>
                    </a:solidFill>
                  </a:tcPr>
                </a:tc>
                <a:tc>
                  <a:txBody>
                    <a:bodyPr wrap="square"/>
                    <a:lstStyle/>
                    <a:p>
                      <a:pPr algn="r"/>
                      <a:r>
                        <a:rPr sz="1100" b="0">
                          <a:solidFill>
                            <a:srgbClr val="1F2A44"/>
                          </a:solidFill>
                          <a:latin typeface="Courier New"/>
                        </a:rPr>
                        <a:t>verify storage class and read demand; tier only confirmed Standard bytes, never already Archive bytes</a:t>
                      </a:r>
                    </a:p>
                  </a:txBody>
                  <a:tcPr marL="54864" marR="54864" marT="27432" marB="27432">
                    <a:solidFill>
                      <a:srgbClr val="FFFFFF"/>
                    </a:solidFill>
                  </a:tcPr>
                </a:tc>
              </a:tr>
              <a:tr h="301752">
                <a:tc>
                  <a:txBody>
                    <a:bodyPr wrap="square"/>
                    <a:lstStyle/>
                    <a:p>
                      <a:pPr algn="l"/>
                      <a:r>
                        <a:rPr sz="1100" b="0">
                          <a:solidFill>
                            <a:srgbClr val="1F2A44"/>
                          </a:solidFill>
                          <a:latin typeface="Calibri"/>
                        </a:rPr>
                        <a:t>na7p43do</a:t>
                      </a:r>
                    </a:p>
                  </a:txBody>
                  <a:tcPr marL="54864" marR="54864" marT="27432" marB="27432">
                    <a:solidFill>
                      <a:srgbClr val="FFFFFF"/>
                    </a:solidFill>
                  </a:tcPr>
                </a:tc>
                <a:tc>
                  <a:txBody>
                    <a:bodyPr wrap="square"/>
                    <a:lstStyle/>
                    <a:p>
                      <a:pPr algn="r"/>
                      <a:r>
                        <a:rPr sz="1100" b="0">
                          <a:solidFill>
                            <a:srgbClr val="1F2A44"/>
                          </a:solidFill>
                          <a:latin typeface="Courier New"/>
                        </a:rPr>
                        <a:t>4.1</a:t>
                      </a:r>
                    </a:p>
                  </a:txBody>
                  <a:tcPr marL="54864" marR="54864" marT="27432" marB="27432">
                    <a:solidFill>
                      <a:srgbClr val="FFFFFF"/>
                    </a:solidFill>
                  </a:tcPr>
                </a:tc>
                <a:tc>
                  <a:txBody>
                    <a:bodyPr wrap="square"/>
                    <a:lstStyle/>
                    <a:p>
                      <a:pPr algn="r"/>
                      <a:r>
                        <a:rPr sz="1100" b="0">
                          <a:solidFill>
                            <a:srgbClr val="1F2A44"/>
                          </a:solidFill>
                          <a:latin typeface="Courier New"/>
                        </a:rPr>
                        <a:t>2024-04-04</a:t>
                      </a:r>
                    </a:p>
                  </a:txBody>
                  <a:tcPr marL="54864" marR="54864" marT="27432" marB="27432">
                    <a:solidFill>
                      <a:srgbClr val="FFFFFF"/>
                    </a:solidFill>
                  </a:tcPr>
                </a:tc>
                <a:tc>
                  <a:txBody>
                    <a:bodyPr wrap="square"/>
                    <a:lstStyle/>
                    <a:p>
                      <a:pPr algn="r"/>
                      <a:r>
                        <a:rPr sz="1100" b="0">
                          <a:solidFill>
                            <a:srgbClr val="1F2A44"/>
                          </a:solidFill>
                          <a:latin typeface="Courier New"/>
                        </a:rPr>
                        <a:t>911</a:t>
                      </a:r>
                    </a:p>
                  </a:txBody>
                  <a:tcPr marL="54864" marR="54864" marT="27432" marB="27432">
                    <a:solidFill>
                      <a:srgbClr val="FFFFFF"/>
                    </a:solidFill>
                  </a:tcPr>
                </a:tc>
                <a:tc>
                  <a:txBody>
                    <a:bodyPr wrap="square"/>
                    <a:lstStyle/>
                    <a:p>
                      <a:pPr algn="r"/>
                      <a:r>
                        <a:rPr sz="1100" b="0">
                          <a:solidFill>
                            <a:srgbClr val="1F2A44"/>
                          </a:solidFill>
                          <a:latin typeface="Courier New"/>
                        </a:rPr>
                        <a:t>197,528</a:t>
                      </a:r>
                    </a:p>
                  </a:txBody>
                  <a:tcPr marL="54864" marR="54864" marT="27432" marB="27432">
                    <a:solidFill>
                      <a:srgbClr val="FFFFFF"/>
                    </a:solidFill>
                  </a:tcPr>
                </a:tc>
                <a:tc>
                  <a:txBody>
                    <a:bodyPr wrap="square"/>
                    <a:lstStyle/>
                    <a:p>
                      <a:pPr algn="r"/>
                      <a:r>
                        <a:rPr sz="1100" b="0">
                          <a:solidFill>
                            <a:srgbClr val="1F2A44"/>
                          </a:solidFill>
                          <a:latin typeface="Courier New"/>
                        </a:rPr>
                        <a:t>cold — archive candidate; heavy duplicate candidates</a:t>
                      </a:r>
                    </a:p>
                  </a:txBody>
                  <a:tcPr marL="54864" marR="54864" marT="27432" marB="27432">
                    <a:solidFill>
                      <a:srgbClr val="FFFFFF"/>
                    </a:solidFill>
                  </a:tcPr>
                </a:tc>
                <a:tc>
                  <a:txBody>
                    <a:bodyPr wrap="square"/>
                    <a:lstStyle/>
                    <a:p>
                      <a:pPr algn="r"/>
                      <a:r>
                        <a:rPr sz="1100" b="0">
                          <a:solidFill>
                            <a:srgbClr val="1F2A44"/>
                          </a:solidFill>
                          <a:latin typeface="Courier New"/>
                        </a:rPr>
                        <a:t>verify storage class and read demand; tier only confirmed Standard bytes, never already Archive bytes</a:t>
                      </a:r>
                    </a:p>
                  </a:txBody>
                  <a:tcPr marL="54864" marR="54864" marT="27432" marB="27432">
                    <a:solidFill>
                      <a:srgbClr val="FFFFFF"/>
                    </a:solidFill>
                  </a:tcPr>
                </a:tc>
              </a:tr>
              <a:tr h="301752">
                <a:tc>
                  <a:txBody>
                    <a:bodyPr wrap="square"/>
                    <a:lstStyle/>
                    <a:p>
                      <a:pPr algn="l"/>
                      <a:r>
                        <a:rPr sz="1100" b="0">
                          <a:solidFill>
                            <a:srgbClr val="1F2A44"/>
                          </a:solidFill>
                          <a:latin typeface="Calibri"/>
                        </a:rPr>
                        <a:t>na7p43js</a:t>
                      </a:r>
                    </a:p>
                  </a:txBody>
                  <a:tcPr marL="54864" marR="54864" marT="27432" marB="27432">
                    <a:solidFill>
                      <a:srgbClr val="FFFFFF"/>
                    </a:solidFill>
                  </a:tcPr>
                </a:tc>
                <a:tc>
                  <a:txBody>
                    <a:bodyPr wrap="square"/>
                    <a:lstStyle/>
                    <a:p>
                      <a:pPr algn="r"/>
                      <a:r>
                        <a:rPr sz="1100" b="0">
                          <a:solidFill>
                            <a:srgbClr val="1F2A44"/>
                          </a:solidFill>
                          <a:latin typeface="Courier New"/>
                        </a:rPr>
                        <a:t>3.57</a:t>
                      </a:r>
                    </a:p>
                  </a:txBody>
                  <a:tcPr marL="54864" marR="54864" marT="27432" marB="27432">
                    <a:solidFill>
                      <a:srgbClr val="FFFFFF"/>
                    </a:solidFill>
                  </a:tcPr>
                </a:tc>
                <a:tc>
                  <a:txBody>
                    <a:bodyPr wrap="square"/>
                    <a:lstStyle/>
                    <a:p>
                      <a:pPr algn="r"/>
                      <a:r>
                        <a:rPr sz="1100" b="0">
                          <a:solidFill>
                            <a:srgbClr val="1F2A44"/>
                          </a:solidFill>
                          <a:latin typeface="Courier New"/>
                        </a:rPr>
                        <a:t>2024-04-02</a:t>
                      </a:r>
                    </a:p>
                  </a:txBody>
                  <a:tcPr marL="54864" marR="54864" marT="27432" marB="27432">
                    <a:solidFill>
                      <a:srgbClr val="FFFFFF"/>
                    </a:solidFill>
                  </a:tcPr>
                </a:tc>
                <a:tc>
                  <a:txBody>
                    <a:bodyPr wrap="square"/>
                    <a:lstStyle/>
                    <a:p>
                      <a:pPr algn="r"/>
                      <a:r>
                        <a:rPr sz="1100" b="0">
                          <a:solidFill>
                            <a:srgbClr val="1F2A44"/>
                          </a:solidFill>
                          <a:latin typeface="Courier New"/>
                        </a:rPr>
                        <a:t>913</a:t>
                      </a:r>
                    </a:p>
                  </a:txBody>
                  <a:tcPr marL="54864" marR="54864" marT="27432" marB="27432">
                    <a:solidFill>
                      <a:srgbClr val="FFFFFF"/>
                    </a:solidFill>
                  </a:tcPr>
                </a:tc>
                <a:tc>
                  <a:txBody>
                    <a:bodyPr wrap="square"/>
                    <a:lstStyle/>
                    <a:p>
                      <a:pPr algn="r"/>
                      <a:r>
                        <a:rPr sz="1100" b="0">
                          <a:solidFill>
                            <a:srgbClr val="1F2A44"/>
                          </a:solidFill>
                          <a:latin typeface="Courier New"/>
                        </a:rPr>
                        <a:t>27,187</a:t>
                      </a:r>
                    </a:p>
                  </a:txBody>
                  <a:tcPr marL="54864" marR="54864" marT="27432" marB="27432">
                    <a:solidFill>
                      <a:srgbClr val="FFFFFF"/>
                    </a:solidFill>
                  </a:tcPr>
                </a:tc>
                <a:tc>
                  <a:txBody>
                    <a:bodyPr wrap="square"/>
                    <a:lstStyle/>
                    <a:p>
                      <a:pPr algn="r"/>
                      <a:r>
                        <a:rPr sz="1100" b="0">
                          <a:solidFill>
                            <a:srgbClr val="1F2A44"/>
                          </a:solidFill>
                          <a:latin typeface="Courier New"/>
                        </a:rPr>
                        <a:t>cold — archive candidate; heavy duplicate candidates</a:t>
                      </a:r>
                    </a:p>
                  </a:txBody>
                  <a:tcPr marL="54864" marR="54864" marT="27432" marB="27432">
                    <a:solidFill>
                      <a:srgbClr val="FFFFFF"/>
                    </a:solidFill>
                  </a:tcPr>
                </a:tc>
                <a:tc>
                  <a:txBody>
                    <a:bodyPr wrap="square"/>
                    <a:lstStyle/>
                    <a:p>
                      <a:pPr algn="r"/>
                      <a:r>
                        <a:rPr sz="1100" b="0">
                          <a:solidFill>
                            <a:srgbClr val="1F2A44"/>
                          </a:solidFill>
                          <a:latin typeface="Courier New"/>
                        </a:rPr>
                        <a:t>verify storage class and read demand; tier only confirmed Standard bytes, never already Archive bytes</a:t>
                      </a:r>
                    </a:p>
                  </a:txBody>
                  <a:tcPr marL="54864" marR="54864" marT="27432" marB="27432">
                    <a:solidFill>
                      <a:srgbClr val="FFFFFF"/>
                    </a:solidFill>
                  </a:tcPr>
                </a:tc>
              </a:tr>
              <a:tr h="301752">
                <a:tc>
                  <a:txBody>
                    <a:bodyPr wrap="square"/>
                    <a:lstStyle/>
                    <a:p>
                      <a:pPr algn="l"/>
                      <a:r>
                        <a:rPr sz="1100" b="0">
                          <a:solidFill>
                            <a:srgbClr val="1F2A44"/>
                          </a:solidFill>
                          <a:latin typeface="Calibri"/>
                        </a:rPr>
                        <a:t>na7p434j</a:t>
                      </a:r>
                    </a:p>
                  </a:txBody>
                  <a:tcPr marL="54864" marR="54864" marT="27432" marB="27432">
                    <a:solidFill>
                      <a:srgbClr val="FFFFFF"/>
                    </a:solidFill>
                  </a:tcPr>
                </a:tc>
                <a:tc>
                  <a:txBody>
                    <a:bodyPr wrap="square"/>
                    <a:lstStyle/>
                    <a:p>
                      <a:pPr algn="r"/>
                      <a:r>
                        <a:rPr sz="1100" b="0">
                          <a:solidFill>
                            <a:srgbClr val="1F2A44"/>
                          </a:solidFill>
                          <a:latin typeface="Courier New"/>
                        </a:rPr>
                        <a:t>3.5</a:t>
                      </a:r>
                    </a:p>
                  </a:txBody>
                  <a:tcPr marL="54864" marR="54864" marT="27432" marB="27432">
                    <a:solidFill>
                      <a:srgbClr val="FFFFFF"/>
                    </a:solidFill>
                  </a:tcPr>
                </a:tc>
                <a:tc>
                  <a:txBody>
                    <a:bodyPr wrap="square"/>
                    <a:lstStyle/>
                    <a:p>
                      <a:pPr algn="r"/>
                      <a:r>
                        <a:rPr sz="1100" b="0">
                          <a:solidFill>
                            <a:srgbClr val="1F2A44"/>
                          </a:solidFill>
                          <a:latin typeface="Courier New"/>
                        </a:rPr>
                        <a:t>2024-04-04</a:t>
                      </a:r>
                    </a:p>
                  </a:txBody>
                  <a:tcPr marL="54864" marR="54864" marT="27432" marB="27432">
                    <a:solidFill>
                      <a:srgbClr val="FFFFFF"/>
                    </a:solidFill>
                  </a:tcPr>
                </a:tc>
                <a:tc>
                  <a:txBody>
                    <a:bodyPr wrap="square"/>
                    <a:lstStyle/>
                    <a:p>
                      <a:pPr algn="r"/>
                      <a:r>
                        <a:rPr sz="1100" b="0">
                          <a:solidFill>
                            <a:srgbClr val="1F2A44"/>
                          </a:solidFill>
                          <a:latin typeface="Courier New"/>
                        </a:rPr>
                        <a:t>912</a:t>
                      </a:r>
                    </a:p>
                  </a:txBody>
                  <a:tcPr marL="54864" marR="54864" marT="27432" marB="27432">
                    <a:solidFill>
                      <a:srgbClr val="FFFFFF"/>
                    </a:solidFill>
                  </a:tcPr>
                </a:tc>
                <a:tc>
                  <a:txBody>
                    <a:bodyPr wrap="square"/>
                    <a:lstStyle/>
                    <a:p>
                      <a:pPr algn="r"/>
                      <a:r>
                        <a:rPr sz="1100" b="0">
                          <a:solidFill>
                            <a:srgbClr val="1F2A44"/>
                          </a:solidFill>
                          <a:latin typeface="Courier New"/>
                        </a:rPr>
                        <a:t>2,890</a:t>
                      </a:r>
                    </a:p>
                  </a:txBody>
                  <a:tcPr marL="54864" marR="54864" marT="27432" marB="27432">
                    <a:solidFill>
                      <a:srgbClr val="FFFFFF"/>
                    </a:solidFill>
                  </a:tcPr>
                </a:tc>
                <a:tc>
                  <a:txBody>
                    <a:bodyPr wrap="square"/>
                    <a:lstStyle/>
                    <a:p>
                      <a:pPr algn="r"/>
                      <a:r>
                        <a:rPr sz="1100" b="0">
                          <a:solidFill>
                            <a:srgbClr val="1F2A44"/>
                          </a:solidFill>
                          <a:latin typeface="Courier New"/>
                        </a:rPr>
                        <a:t>cold — archive candidate</a:t>
                      </a:r>
                    </a:p>
                  </a:txBody>
                  <a:tcPr marL="54864" marR="54864" marT="27432" marB="27432">
                    <a:solidFill>
                      <a:srgbClr val="FFFFFF"/>
                    </a:solidFill>
                  </a:tcPr>
                </a:tc>
                <a:tc>
                  <a:txBody>
                    <a:bodyPr wrap="square"/>
                    <a:lstStyle/>
                    <a:p>
                      <a:pPr algn="r"/>
                      <a:r>
                        <a:rPr sz="1100" b="0">
                          <a:solidFill>
                            <a:srgbClr val="1F2A44"/>
                          </a:solidFill>
                          <a:latin typeface="Courier New"/>
                        </a:rPr>
                        <a:t>verify storage class and read demand; tier only confirmed Standard bytes, never already Archive bytes</a:t>
                      </a:r>
                    </a:p>
                  </a:txBody>
                  <a:tcPr marL="54864" marR="54864" marT="27432" marB="27432">
                    <a:solidFill>
                      <a:srgbClr val="FFFFFF"/>
                    </a:solidFill>
                  </a:tcPr>
                </a:tc>
              </a:tr>
              <a:tr h="301752">
                <a:tc>
                  <a:txBody>
                    <a:bodyPr wrap="square"/>
                    <a:lstStyle/>
                    <a:p>
                      <a:pPr algn="l"/>
                      <a:r>
                        <a:rPr sz="1100" b="0">
                          <a:solidFill>
                            <a:srgbClr val="1F2A44"/>
                          </a:solidFill>
                          <a:latin typeface="Calibri"/>
                        </a:rPr>
                        <a:t>na7p41hj</a:t>
                      </a:r>
                    </a:p>
                  </a:txBody>
                  <a:tcPr marL="54864" marR="54864" marT="27432" marB="27432">
                    <a:solidFill>
                      <a:srgbClr val="FFFFFF"/>
                    </a:solidFill>
                  </a:tcPr>
                </a:tc>
                <a:tc>
                  <a:txBody>
                    <a:bodyPr wrap="square"/>
                    <a:lstStyle/>
                    <a:p>
                      <a:pPr algn="r"/>
                      <a:r>
                        <a:rPr sz="1100" b="0">
                          <a:solidFill>
                            <a:srgbClr val="1F2A44"/>
                          </a:solidFill>
                          <a:latin typeface="Courier New"/>
                        </a:rPr>
                        <a:t>3.48</a:t>
                      </a:r>
                    </a:p>
                  </a:txBody>
                  <a:tcPr marL="54864" marR="54864" marT="27432" marB="27432">
                    <a:solidFill>
                      <a:srgbClr val="FFFFFF"/>
                    </a:solidFill>
                  </a:tcPr>
                </a:tc>
                <a:tc>
                  <a:txBody>
                    <a:bodyPr wrap="square"/>
                    <a:lstStyle/>
                    <a:p>
                      <a:pPr algn="r"/>
                      <a:r>
                        <a:rPr sz="1100" b="0">
                          <a:solidFill>
                            <a:srgbClr val="1F2A44"/>
                          </a:solidFill>
                          <a:latin typeface="Courier New"/>
                        </a:rPr>
                        <a:t>2024-03-27</a:t>
                      </a:r>
                    </a:p>
                  </a:txBody>
                  <a:tcPr marL="54864" marR="54864" marT="27432" marB="27432">
                    <a:solidFill>
                      <a:srgbClr val="FFFFFF"/>
                    </a:solidFill>
                  </a:tcPr>
                </a:tc>
                <a:tc>
                  <a:txBody>
                    <a:bodyPr wrap="square"/>
                    <a:lstStyle/>
                    <a:p>
                      <a:pPr algn="r"/>
                      <a:r>
                        <a:rPr sz="1100" b="0">
                          <a:solidFill>
                            <a:srgbClr val="1F2A44"/>
                          </a:solidFill>
                          <a:latin typeface="Courier New"/>
                        </a:rPr>
                        <a:t>919</a:t>
                      </a:r>
                    </a:p>
                  </a:txBody>
                  <a:tcPr marL="54864" marR="54864" marT="27432" marB="27432">
                    <a:solidFill>
                      <a:srgbClr val="FFFFFF"/>
                    </a:solidFill>
                  </a:tcPr>
                </a:tc>
                <a:tc>
                  <a:txBody>
                    <a:bodyPr wrap="square"/>
                    <a:lstStyle/>
                    <a:p>
                      <a:pPr algn="r"/>
                      <a:r>
                        <a:rPr sz="1100" b="0">
                          <a:solidFill>
                            <a:srgbClr val="1F2A44"/>
                          </a:solidFill>
                          <a:latin typeface="Courier New"/>
                        </a:rPr>
                        <a:t>1,852</a:t>
                      </a:r>
                    </a:p>
                  </a:txBody>
                  <a:tcPr marL="54864" marR="54864" marT="27432" marB="27432">
                    <a:solidFill>
                      <a:srgbClr val="FFFFFF"/>
                    </a:solidFill>
                  </a:tcPr>
                </a:tc>
                <a:tc>
                  <a:txBody>
                    <a:bodyPr wrap="square"/>
                    <a:lstStyle/>
                    <a:p>
                      <a:pPr algn="r"/>
                      <a:r>
                        <a:rPr sz="1100" b="0">
                          <a:solidFill>
                            <a:srgbClr val="1F2A44"/>
                          </a:solidFill>
                          <a:latin typeface="Courier New"/>
                        </a:rPr>
                        <a:t>cold — archive candidate</a:t>
                      </a:r>
                    </a:p>
                  </a:txBody>
                  <a:tcPr marL="54864" marR="54864" marT="27432" marB="27432">
                    <a:solidFill>
                      <a:srgbClr val="FFFFFF"/>
                    </a:solidFill>
                  </a:tcPr>
                </a:tc>
                <a:tc>
                  <a:txBody>
                    <a:bodyPr wrap="square"/>
                    <a:lstStyle/>
                    <a:p>
                      <a:pPr algn="r"/>
                      <a:r>
                        <a:rPr sz="1100" b="0">
                          <a:solidFill>
                            <a:srgbClr val="1F2A44"/>
                          </a:solidFill>
                          <a:latin typeface="Courier New"/>
                        </a:rPr>
                        <a:t>verify storage class and read demand; tier only confirmed Standard bytes, never already Archive bytes</a:t>
                      </a:r>
                    </a:p>
                  </a:txBody>
                  <a:tcPr marL="54864" marR="54864" marT="27432" marB="27432">
                    <a:solidFill>
                      <a:srgbClr val="FFFFFF"/>
                    </a:solidFill>
                  </a:tcPr>
                </a:tc>
              </a:tr>
              <a:tr h="301752">
                <a:tc>
                  <a:txBody>
                    <a:bodyPr wrap="square"/>
                    <a:lstStyle/>
                    <a:p>
                      <a:pPr algn="l"/>
                      <a:r>
                        <a:rPr sz="1100" b="0">
                          <a:solidFill>
                            <a:srgbClr val="1F2A44"/>
                          </a:solidFill>
                          <a:latin typeface="Calibri"/>
                        </a:rPr>
                        <a:t>na7p42xe</a:t>
                      </a:r>
                    </a:p>
                  </a:txBody>
                  <a:tcPr marL="54864" marR="54864" marT="27432" marB="27432">
                    <a:solidFill>
                      <a:srgbClr val="FFFFFF"/>
                    </a:solidFill>
                  </a:tcPr>
                </a:tc>
                <a:tc>
                  <a:txBody>
                    <a:bodyPr wrap="square"/>
                    <a:lstStyle/>
                    <a:p>
                      <a:pPr algn="r"/>
                      <a:r>
                        <a:rPr sz="1100" b="0">
                          <a:solidFill>
                            <a:srgbClr val="1F2A44"/>
                          </a:solidFill>
                          <a:latin typeface="Courier New"/>
                        </a:rPr>
                        <a:t>3.44</a:t>
                      </a:r>
                    </a:p>
                  </a:txBody>
                  <a:tcPr marL="54864" marR="54864" marT="27432" marB="27432">
                    <a:solidFill>
                      <a:srgbClr val="FFFFFF"/>
                    </a:solidFill>
                  </a:tcPr>
                </a:tc>
                <a:tc>
                  <a:txBody>
                    <a:bodyPr wrap="square"/>
                    <a:lstStyle/>
                    <a:p>
                      <a:pPr algn="r"/>
                      <a:r>
                        <a:rPr sz="1100" b="0">
                          <a:solidFill>
                            <a:srgbClr val="1F2A44"/>
                          </a:solidFill>
                          <a:latin typeface="Courier New"/>
                        </a:rPr>
                        <a:t>2024-04-04</a:t>
                      </a:r>
                    </a:p>
                  </a:txBody>
                  <a:tcPr marL="54864" marR="54864" marT="27432" marB="27432">
                    <a:solidFill>
                      <a:srgbClr val="FFFFFF"/>
                    </a:solidFill>
                  </a:tcPr>
                </a:tc>
                <a:tc>
                  <a:txBody>
                    <a:bodyPr wrap="square"/>
                    <a:lstStyle/>
                    <a:p>
                      <a:pPr algn="r"/>
                      <a:r>
                        <a:rPr sz="1100" b="0">
                          <a:solidFill>
                            <a:srgbClr val="1F2A44"/>
                          </a:solidFill>
                          <a:latin typeface="Courier New"/>
                        </a:rPr>
                        <a:t>911</a:t>
                      </a:r>
                    </a:p>
                  </a:txBody>
                  <a:tcPr marL="54864" marR="54864" marT="27432" marB="27432">
                    <a:solidFill>
                      <a:srgbClr val="FFFFFF"/>
                    </a:solidFill>
                  </a:tcPr>
                </a:tc>
                <a:tc>
                  <a:txBody>
                    <a:bodyPr wrap="square"/>
                    <a:lstStyle/>
                    <a:p>
                      <a:pPr algn="r"/>
                      <a:r>
                        <a:rPr sz="1100" b="0">
                          <a:solidFill>
                            <a:srgbClr val="1F2A44"/>
                          </a:solidFill>
                          <a:latin typeface="Courier New"/>
                        </a:rPr>
                        <a:t>1,120</a:t>
                      </a:r>
                    </a:p>
                  </a:txBody>
                  <a:tcPr marL="54864" marR="54864" marT="27432" marB="27432">
                    <a:solidFill>
                      <a:srgbClr val="FFFFFF"/>
                    </a:solidFill>
                  </a:tcPr>
                </a:tc>
                <a:tc>
                  <a:txBody>
                    <a:bodyPr wrap="square"/>
                    <a:lstStyle/>
                    <a:p>
                      <a:pPr algn="r"/>
                      <a:r>
                        <a:rPr sz="1100" b="0">
                          <a:solidFill>
                            <a:srgbClr val="1F2A44"/>
                          </a:solidFill>
                          <a:latin typeface="Courier New"/>
                        </a:rPr>
                        <a:t>cold — archive candidate</a:t>
                      </a:r>
                    </a:p>
                  </a:txBody>
                  <a:tcPr marL="54864" marR="54864" marT="27432" marB="27432">
                    <a:solidFill>
                      <a:srgbClr val="FFFFFF"/>
                    </a:solidFill>
                  </a:tcPr>
                </a:tc>
                <a:tc>
                  <a:txBody>
                    <a:bodyPr wrap="square"/>
                    <a:lstStyle/>
                    <a:p>
                      <a:pPr algn="r"/>
                      <a:r>
                        <a:rPr sz="1100" b="0">
                          <a:solidFill>
                            <a:srgbClr val="1F2A44"/>
                          </a:solidFill>
                          <a:latin typeface="Courier New"/>
                        </a:rPr>
                        <a:t>verify storage class and read demand; tier only confirmed Standard bytes, never already Archive bytes</a:t>
                      </a:r>
                    </a:p>
                  </a:txBody>
                  <a:tcPr marL="54864" marR="54864" marT="27432" marB="27432">
                    <a:solidFill>
                      <a:srgbClr val="FFFFFF"/>
                    </a:solidFill>
                  </a:tcPr>
                </a:tc>
              </a:tr>
              <a:tr h="301752">
                <a:tc>
                  <a:txBody>
                    <a:bodyPr wrap="square"/>
                    <a:lstStyle/>
                    <a:p>
                      <a:pPr algn="l"/>
                      <a:r>
                        <a:rPr sz="1100" b="0">
                          <a:solidFill>
                            <a:srgbClr val="1F2A44"/>
                          </a:solidFill>
                          <a:latin typeface="Calibri"/>
                        </a:rPr>
                        <a:t>na7p42xw</a:t>
                      </a:r>
                    </a:p>
                  </a:txBody>
                  <a:tcPr marL="54864" marR="54864" marT="27432" marB="27432">
                    <a:solidFill>
                      <a:srgbClr val="FFFFFF"/>
                    </a:solidFill>
                  </a:tcPr>
                </a:tc>
                <a:tc>
                  <a:txBody>
                    <a:bodyPr wrap="square"/>
                    <a:lstStyle/>
                    <a:p>
                      <a:pPr algn="r"/>
                      <a:r>
                        <a:rPr sz="1100" b="0">
                          <a:solidFill>
                            <a:srgbClr val="1F2A44"/>
                          </a:solidFill>
                          <a:latin typeface="Courier New"/>
                        </a:rPr>
                        <a:t>3.4</a:t>
                      </a:r>
                    </a:p>
                  </a:txBody>
                  <a:tcPr marL="54864" marR="54864" marT="27432" marB="27432">
                    <a:solidFill>
                      <a:srgbClr val="FFFFFF"/>
                    </a:solidFill>
                  </a:tcPr>
                </a:tc>
                <a:tc>
                  <a:txBody>
                    <a:bodyPr wrap="square"/>
                    <a:lstStyle/>
                    <a:p>
                      <a:pPr algn="r"/>
                      <a:r>
                        <a:rPr sz="1100" b="0">
                          <a:solidFill>
                            <a:srgbClr val="1F2A44"/>
                          </a:solidFill>
                          <a:latin typeface="Courier New"/>
                        </a:rPr>
                        <a:t>2024-03-31</a:t>
                      </a:r>
                    </a:p>
                  </a:txBody>
                  <a:tcPr marL="54864" marR="54864" marT="27432" marB="27432">
                    <a:solidFill>
                      <a:srgbClr val="FFFFFF"/>
                    </a:solidFill>
                  </a:tcPr>
                </a:tc>
                <a:tc>
                  <a:txBody>
                    <a:bodyPr wrap="square"/>
                    <a:lstStyle/>
                    <a:p>
                      <a:pPr algn="r"/>
                      <a:r>
                        <a:rPr sz="1100" b="0">
                          <a:solidFill>
                            <a:srgbClr val="1F2A44"/>
                          </a:solidFill>
                          <a:latin typeface="Courier New"/>
                        </a:rPr>
                        <a:t>915</a:t>
                      </a:r>
                    </a:p>
                  </a:txBody>
                  <a:tcPr marL="54864" marR="54864" marT="27432" marB="27432">
                    <a:solidFill>
                      <a:srgbClr val="FFFFFF"/>
                    </a:solidFill>
                  </a:tcPr>
                </a:tc>
                <a:tc>
                  <a:txBody>
                    <a:bodyPr wrap="square"/>
                    <a:lstStyle/>
                    <a:p>
                      <a:pPr algn="r"/>
                      <a:r>
                        <a:rPr sz="1100" b="0">
                          <a:solidFill>
                            <a:srgbClr val="1F2A44"/>
                          </a:solidFill>
                          <a:latin typeface="Courier New"/>
                        </a:rPr>
                        <a:t>2,391</a:t>
                      </a:r>
                    </a:p>
                  </a:txBody>
                  <a:tcPr marL="54864" marR="54864" marT="27432" marB="27432">
                    <a:solidFill>
                      <a:srgbClr val="FFFFFF"/>
                    </a:solidFill>
                  </a:tcPr>
                </a:tc>
                <a:tc>
                  <a:txBody>
                    <a:bodyPr wrap="square"/>
                    <a:lstStyle/>
                    <a:p>
                      <a:pPr algn="r"/>
                      <a:r>
                        <a:rPr sz="1100" b="0">
                          <a:solidFill>
                            <a:srgbClr val="1F2A44"/>
                          </a:solidFill>
                          <a:latin typeface="Courier New"/>
                        </a:rPr>
                        <a:t>cold — archive candidate</a:t>
                      </a:r>
                    </a:p>
                  </a:txBody>
                  <a:tcPr marL="54864" marR="54864" marT="27432" marB="27432">
                    <a:solidFill>
                      <a:srgbClr val="FFFFFF"/>
                    </a:solidFill>
                  </a:tcPr>
                </a:tc>
                <a:tc>
                  <a:txBody>
                    <a:bodyPr wrap="square"/>
                    <a:lstStyle/>
                    <a:p>
                      <a:pPr algn="r"/>
                      <a:r>
                        <a:rPr sz="1100" b="0">
                          <a:solidFill>
                            <a:srgbClr val="1F2A44"/>
                          </a:solidFill>
                          <a:latin typeface="Courier New"/>
                        </a:rPr>
                        <a:t>verify storage class and read demand; tier only confirmed Standard bytes, never already Archive bytes</a:t>
                      </a:r>
                    </a:p>
                  </a:txBody>
                  <a:tcPr marL="54864" marR="54864" marT="27432" marB="27432">
                    <a:solidFill>
                      <a:srgbClr val="FFFFFF"/>
                    </a:solidFill>
                  </a:tcPr>
                </a:tc>
              </a:tr>
              <a:tr h="301752">
                <a:tc>
                  <a:txBody>
                    <a:bodyPr wrap="square"/>
                    <a:lstStyle/>
                    <a:p>
                      <a:pPr algn="l"/>
                      <a:r>
                        <a:rPr sz="1100" b="0">
                          <a:solidFill>
                            <a:srgbClr val="1F2A44"/>
                          </a:solidFill>
                          <a:latin typeface="Calibri"/>
                        </a:rPr>
                        <a:t>na7p42yg</a:t>
                      </a:r>
                    </a:p>
                  </a:txBody>
                  <a:tcPr marL="54864" marR="54864" marT="27432" marB="27432">
                    <a:solidFill>
                      <a:srgbClr val="FFFFFF"/>
                    </a:solidFill>
                  </a:tcPr>
                </a:tc>
                <a:tc>
                  <a:txBody>
                    <a:bodyPr wrap="square"/>
                    <a:lstStyle/>
                    <a:p>
                      <a:pPr algn="r"/>
                      <a:r>
                        <a:rPr sz="1100" b="0">
                          <a:solidFill>
                            <a:srgbClr val="1F2A44"/>
                          </a:solidFill>
                          <a:latin typeface="Courier New"/>
                        </a:rPr>
                        <a:t>3.28</a:t>
                      </a:r>
                    </a:p>
                  </a:txBody>
                  <a:tcPr marL="54864" marR="54864" marT="27432" marB="27432">
                    <a:solidFill>
                      <a:srgbClr val="FFFFFF"/>
                    </a:solidFill>
                  </a:tcPr>
                </a:tc>
                <a:tc>
                  <a:txBody>
                    <a:bodyPr wrap="square"/>
                    <a:lstStyle/>
                    <a:p>
                      <a:pPr algn="r"/>
                      <a:r>
                        <a:rPr sz="1100" b="0">
                          <a:solidFill>
                            <a:srgbClr val="1F2A44"/>
                          </a:solidFill>
                          <a:latin typeface="Courier New"/>
                        </a:rPr>
                        <a:t>2024-03-31</a:t>
                      </a:r>
                    </a:p>
                  </a:txBody>
                  <a:tcPr marL="54864" marR="54864" marT="27432" marB="27432">
                    <a:solidFill>
                      <a:srgbClr val="FFFFFF"/>
                    </a:solidFill>
                  </a:tcPr>
                </a:tc>
                <a:tc>
                  <a:txBody>
                    <a:bodyPr wrap="square"/>
                    <a:lstStyle/>
                    <a:p>
                      <a:pPr algn="r"/>
                      <a:r>
                        <a:rPr sz="1100" b="0">
                          <a:solidFill>
                            <a:srgbClr val="1F2A44"/>
                          </a:solidFill>
                          <a:latin typeface="Courier New"/>
                        </a:rPr>
                        <a:t>915</a:t>
                      </a:r>
                    </a:p>
                  </a:txBody>
                  <a:tcPr marL="54864" marR="54864" marT="27432" marB="27432">
                    <a:solidFill>
                      <a:srgbClr val="FFFFFF"/>
                    </a:solidFill>
                  </a:tcPr>
                </a:tc>
                <a:tc>
                  <a:txBody>
                    <a:bodyPr wrap="square"/>
                    <a:lstStyle/>
                    <a:p>
                      <a:pPr algn="r"/>
                      <a:r>
                        <a:rPr sz="1100" b="0">
                          <a:solidFill>
                            <a:srgbClr val="1F2A44"/>
                          </a:solidFill>
                          <a:latin typeface="Courier New"/>
                        </a:rPr>
                        <a:t>4,197</a:t>
                      </a:r>
                    </a:p>
                  </a:txBody>
                  <a:tcPr marL="54864" marR="54864" marT="27432" marB="27432">
                    <a:solidFill>
                      <a:srgbClr val="FFFFFF"/>
                    </a:solidFill>
                  </a:tcPr>
                </a:tc>
                <a:tc>
                  <a:txBody>
                    <a:bodyPr wrap="square"/>
                    <a:lstStyle/>
                    <a:p>
                      <a:pPr algn="r"/>
                      <a:r>
                        <a:rPr sz="1100" b="0">
                          <a:solidFill>
                            <a:srgbClr val="1F2A44"/>
                          </a:solidFill>
                          <a:latin typeface="Courier New"/>
                        </a:rPr>
                        <a:t>cold — archive candidate</a:t>
                      </a:r>
                    </a:p>
                  </a:txBody>
                  <a:tcPr marL="54864" marR="54864" marT="27432" marB="27432">
                    <a:solidFill>
                      <a:srgbClr val="FFFFFF"/>
                    </a:solidFill>
                  </a:tcPr>
                </a:tc>
                <a:tc>
                  <a:txBody>
                    <a:bodyPr wrap="square"/>
                    <a:lstStyle/>
                    <a:p>
                      <a:pPr algn="r"/>
                      <a:r>
                        <a:rPr sz="1100" b="0">
                          <a:solidFill>
                            <a:srgbClr val="1F2A44"/>
                          </a:solidFill>
                          <a:latin typeface="Courier New"/>
                        </a:rPr>
                        <a:t>verify storage class and read demand; tier only confirmed Standard bytes, never already Archive bytes</a:t>
                      </a:r>
                    </a:p>
                  </a:txBody>
                  <a:tcPr marL="54864" marR="54864" marT="27432" marB="2743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C8102E"/>
                </a:solidFill>
                <a:latin typeface="Calibri"/>
              </a:rPr>
              <a:t>Every bucket named here was enumerated object by object; the classification follows from its last write date and its duplicate-candidate count.</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[measured]  Receipt R04: OBS bucket enumeration census run cr-f1415e395361 (22,997,353 objects, 130.8 TiB)</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EVIDENCE BY NAME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Exact object-store buckets under review (largest first)</a:t>
            </a:r>
          </a:p>
        </p:txBody>
      </p:sp>
      <p:graphicFrame>
        <p:nvGraphicFramePr>
          <p:cNvPr id="4" name="Table 3"/>
          <p:cNvGraphicFramePr>
            <a:graphicFrameLocks noGrp="1"/>
          </p:cNvGraphicFramePr>
          <p:nvPr/>
        </p:nvGraphicFramePr>
        <p:xfrm>
          <a:off x="594360" y="1920240"/>
          <a:ext cx="11002971" cy="1536192"/>
        </p:xfrm>
        <a:graphic>
          <a:graphicData uri="http://schemas.openxmlformats.org/drawingml/2006/table">
            <a:tbl>
              <a:tblPr firstRow="1" bandRow="1">
                <a:tableStyleId>{5C22544A-7EE6-4342-B048-85BDC9FD1C3A}</a:tableStyleId>
              </a:tblPr>
              <a:tblGrid>
                <a:gridCol w="962760"/>
                <a:gridCol w="962760"/>
                <a:gridCol w="962760"/>
                <a:gridCol w="962760"/>
                <a:gridCol w="1375371"/>
                <a:gridCol w="2888280"/>
                <a:gridCol w="2888280"/>
              </a:tblGrid>
              <a:tr h="384048">
                <a:tc>
                  <a:txBody>
                    <a:bodyPr wrap="square"/>
                    <a:lstStyle/>
                    <a:p>
                      <a:pPr algn="l"/>
                      <a:r>
                        <a:rPr sz="1200" b="1">
                          <a:solidFill>
                            <a:srgbClr val="1F2A44"/>
                          </a:solidFill>
                          <a:latin typeface="Calibri"/>
                        </a:rPr>
                        <a:t>Bucket</a:t>
                      </a:r>
                    </a:p>
                  </a:txBody>
                  <a:tcPr marL="54864" marR="54864" marT="27432" marB="27432">
                    <a:solidFill>
                      <a:srgbClr val="E9ECF1"/>
                    </a:solidFill>
                  </a:tcPr>
                </a:tc>
                <a:tc>
                  <a:txBody>
                    <a:bodyPr wrap="square"/>
                    <a:lstStyle/>
                    <a:p>
                      <a:pPr algn="l"/>
                      <a:r>
                        <a:rPr sz="1200" b="1">
                          <a:solidFill>
                            <a:srgbClr val="1F2A44"/>
                          </a:solidFill>
                          <a:latin typeface="Calibri"/>
                        </a:rPr>
                        <a:t>Held (TiB)</a:t>
                      </a:r>
                    </a:p>
                  </a:txBody>
                  <a:tcPr marL="54864" marR="54864" marT="27432" marB="27432">
                    <a:solidFill>
                      <a:srgbClr val="E9ECF1"/>
                    </a:solidFill>
                  </a:tcPr>
                </a:tc>
                <a:tc>
                  <a:txBody>
                    <a:bodyPr wrap="square"/>
                    <a:lstStyle/>
                    <a:p>
                      <a:pPr algn="l"/>
                      <a:r>
                        <a:rPr sz="1200" b="1">
                          <a:solidFill>
                            <a:srgbClr val="1F2A44"/>
                          </a:solidFill>
                          <a:latin typeface="Calibri"/>
                        </a:rPr>
                        <a:t>Last write</a:t>
                      </a:r>
                    </a:p>
                  </a:txBody>
                  <a:tcPr marL="54864" marR="54864" marT="27432" marB="27432">
                    <a:solidFill>
                      <a:srgbClr val="E9ECF1"/>
                    </a:solidFill>
                  </a:tcPr>
                </a:tc>
                <a:tc>
                  <a:txBody>
                    <a:bodyPr wrap="square"/>
                    <a:lstStyle/>
                    <a:p>
                      <a:pPr algn="l"/>
                      <a:r>
                        <a:rPr sz="1200" b="1">
                          <a:solidFill>
                            <a:srgbClr val="1F2A44"/>
                          </a:solidFill>
                          <a:latin typeface="Calibri"/>
                        </a:rPr>
                        <a:t>Idle days</a:t>
                      </a:r>
                    </a:p>
                  </a:txBody>
                  <a:tcPr marL="54864" marR="54864" marT="27432" marB="27432">
                    <a:solidFill>
                      <a:srgbClr val="E9ECF1"/>
                    </a:solidFill>
                  </a:tcPr>
                </a:tc>
                <a:tc>
                  <a:txBody>
                    <a:bodyPr wrap="square"/>
                    <a:lstStyle/>
                    <a:p>
                      <a:pPr algn="l"/>
                      <a:r>
                        <a:rPr sz="1200" b="1">
                          <a:solidFill>
                            <a:srgbClr val="1F2A44"/>
                          </a:solidFill>
                          <a:latin typeface="Calibri"/>
                        </a:rPr>
                        <a:t>Duplicate candidates</a:t>
                      </a:r>
                    </a:p>
                  </a:txBody>
                  <a:tcPr marL="54864" marR="54864" marT="27432" marB="27432">
                    <a:solidFill>
                      <a:srgbClr val="E9ECF1"/>
                    </a:solidFill>
                  </a:tcPr>
                </a:tc>
                <a:tc>
                  <a:txBody>
                    <a:bodyPr wrap="square"/>
                    <a:lstStyle/>
                    <a:p>
                      <a:pPr algn="l"/>
                      <a:r>
                        <a:rPr sz="1200" b="1">
                          <a:solidFill>
                            <a:srgbClr val="1F2A44"/>
                          </a:solidFill>
                          <a:latin typeface="Calibri"/>
                        </a:rPr>
                        <a:t>Classification</a:t>
                      </a:r>
                    </a:p>
                  </a:txBody>
                  <a:tcPr marL="54864" marR="54864" marT="27432" marB="27432">
                    <a:solidFill>
                      <a:srgbClr val="E9ECF1"/>
                    </a:solidFill>
                  </a:tcPr>
                </a:tc>
                <a:tc>
                  <a:txBody>
                    <a:bodyPr wrap="square"/>
                    <a:lstStyle/>
                    <a:p>
                      <a:pPr algn="l"/>
                      <a:r>
                        <a:rPr sz="1200" b="1">
                          <a:solidFill>
                            <a:srgbClr val="1F2A44"/>
                          </a:solidFill>
                          <a:latin typeface="Calibri"/>
                        </a:rPr>
                        <a:t>Proposed action</a:t>
                      </a:r>
                    </a:p>
                  </a:txBody>
                  <a:tcPr marL="54864" marR="54864" marT="27432" marB="27432">
                    <a:solidFill>
                      <a:srgbClr val="E9ECF1"/>
                    </a:solidFill>
                  </a:tcPr>
                </a:tc>
              </a:tr>
              <a:tr h="384048">
                <a:tc>
                  <a:txBody>
                    <a:bodyPr wrap="square"/>
                    <a:lstStyle/>
                    <a:p>
                      <a:pPr algn="l"/>
                      <a:r>
                        <a:rPr sz="1200" b="0">
                          <a:solidFill>
                            <a:srgbClr val="1F2A44"/>
                          </a:solidFill>
                          <a:latin typeface="Calibri"/>
                        </a:rPr>
                        <a:t>na7p43d3</a:t>
                      </a:r>
                    </a:p>
                  </a:txBody>
                  <a:tcPr marL="54864" marR="54864" marT="27432" marB="27432">
                    <a:solidFill>
                      <a:srgbClr val="FFFFFF"/>
                    </a:solidFill>
                  </a:tcPr>
                </a:tc>
                <a:tc>
                  <a:txBody>
                    <a:bodyPr wrap="square"/>
                    <a:lstStyle/>
                    <a:p>
                      <a:pPr algn="r"/>
                      <a:r>
                        <a:rPr sz="1200" b="0">
                          <a:solidFill>
                            <a:srgbClr val="1F2A44"/>
                          </a:solidFill>
                          <a:latin typeface="Courier New"/>
                        </a:rPr>
                        <a:t>2.9</a:t>
                      </a:r>
                    </a:p>
                  </a:txBody>
                  <a:tcPr marL="54864" marR="54864" marT="27432" marB="27432">
                    <a:solidFill>
                      <a:srgbClr val="FFFFFF"/>
                    </a:solidFill>
                  </a:tcPr>
                </a:tc>
                <a:tc>
                  <a:txBody>
                    <a:bodyPr wrap="square"/>
                    <a:lstStyle/>
                    <a:p>
                      <a:pPr algn="r"/>
                      <a:r>
                        <a:rPr sz="1200" b="0">
                          <a:solidFill>
                            <a:srgbClr val="1F2A44"/>
                          </a:solidFill>
                          <a:latin typeface="Courier New"/>
                        </a:rPr>
                        <a:t>2024-03-30</a:t>
                      </a:r>
                    </a:p>
                  </a:txBody>
                  <a:tcPr marL="54864" marR="54864" marT="27432" marB="27432">
                    <a:solidFill>
                      <a:srgbClr val="FFFFFF"/>
                    </a:solidFill>
                  </a:tcPr>
                </a:tc>
                <a:tc>
                  <a:txBody>
                    <a:bodyPr wrap="square"/>
                    <a:lstStyle/>
                    <a:p>
                      <a:pPr algn="r"/>
                      <a:r>
                        <a:rPr sz="1200" b="0">
                          <a:solidFill>
                            <a:srgbClr val="1F2A44"/>
                          </a:solidFill>
                          <a:latin typeface="Courier New"/>
                        </a:rPr>
                        <a:t>916</a:t>
                      </a:r>
                    </a:p>
                  </a:txBody>
                  <a:tcPr marL="54864" marR="54864" marT="27432" marB="27432">
                    <a:solidFill>
                      <a:srgbClr val="FFFFFF"/>
                    </a:solidFill>
                  </a:tcPr>
                </a:tc>
                <a:tc>
                  <a:txBody>
                    <a:bodyPr wrap="square"/>
                    <a:lstStyle/>
                    <a:p>
                      <a:pPr algn="r"/>
                      <a:r>
                        <a:rPr sz="1200" b="0">
                          <a:solidFill>
                            <a:srgbClr val="1F2A44"/>
                          </a:solidFill>
                          <a:latin typeface="Courier New"/>
                        </a:rPr>
                        <a:t>1,395</a:t>
                      </a:r>
                    </a:p>
                  </a:txBody>
                  <a:tcPr marL="54864" marR="54864" marT="27432" marB="27432">
                    <a:solidFill>
                      <a:srgbClr val="FFFFFF"/>
                    </a:solidFill>
                  </a:tcPr>
                </a:tc>
                <a:tc>
                  <a:txBody>
                    <a:bodyPr wrap="square"/>
                    <a:lstStyle/>
                    <a:p>
                      <a:pPr algn="r"/>
                      <a:r>
                        <a:rPr sz="1200" b="0">
                          <a:solidFill>
                            <a:srgbClr val="1F2A44"/>
                          </a:solidFill>
                          <a:latin typeface="Courier New"/>
                        </a:rPr>
                        <a:t>cold — archive candidate</a:t>
                      </a:r>
                    </a:p>
                  </a:txBody>
                  <a:tcPr marL="54864" marR="54864" marT="27432" marB="27432">
                    <a:solidFill>
                      <a:srgbClr val="FFFFFF"/>
                    </a:solidFill>
                  </a:tcPr>
                </a:tc>
                <a:tc>
                  <a:txBody>
                    <a:bodyPr wrap="square"/>
                    <a:lstStyle/>
                    <a:p>
                      <a:pPr algn="r"/>
                      <a:r>
                        <a:rPr sz="1200" b="0">
                          <a:solidFill>
                            <a:srgbClr val="1F2A44"/>
                          </a:solidFill>
                          <a:latin typeface="Courier New"/>
                        </a:rPr>
                        <a:t>verify storage class and read demand; tier only confirmed Standard bytes, never already Archive bytes</a:t>
                      </a:r>
                    </a:p>
                  </a:txBody>
                  <a:tcPr marL="54864" marR="54864" marT="27432" marB="27432">
                    <a:solidFill>
                      <a:srgbClr val="FFFFFF"/>
                    </a:solidFill>
                  </a:tcPr>
                </a:tc>
              </a:tr>
              <a:tr h="384048">
                <a:tc>
                  <a:txBody>
                    <a:bodyPr wrap="square"/>
                    <a:lstStyle/>
                    <a:p>
                      <a:pPr algn="l"/>
                      <a:r>
                        <a:rPr sz="1200" b="0">
                          <a:solidFill>
                            <a:srgbClr val="1F2A44"/>
                          </a:solidFill>
                          <a:latin typeface="Calibri"/>
                        </a:rPr>
                        <a:t>na7p4oco</a:t>
                      </a:r>
                    </a:p>
                  </a:txBody>
                  <a:tcPr marL="54864" marR="54864" marT="27432" marB="27432">
                    <a:solidFill>
                      <a:srgbClr val="FFFFFF"/>
                    </a:solidFill>
                  </a:tcPr>
                </a:tc>
                <a:tc>
                  <a:txBody>
                    <a:bodyPr wrap="square"/>
                    <a:lstStyle/>
                    <a:p>
                      <a:pPr algn="r"/>
                      <a:r>
                        <a:rPr sz="1200" b="0">
                          <a:solidFill>
                            <a:srgbClr val="1F2A44"/>
                          </a:solidFill>
                          <a:latin typeface="Courier New"/>
                        </a:rPr>
                        <a:t>2.86</a:t>
                      </a:r>
                    </a:p>
                  </a:txBody>
                  <a:tcPr marL="54864" marR="54864" marT="27432" marB="27432">
                    <a:solidFill>
                      <a:srgbClr val="FFFFFF"/>
                    </a:solidFill>
                  </a:tcPr>
                </a:tc>
                <a:tc>
                  <a:txBody>
                    <a:bodyPr wrap="square"/>
                    <a:lstStyle/>
                    <a:p>
                      <a:pPr algn="r"/>
                      <a:r>
                        <a:rPr sz="1200" b="0">
                          <a:solidFill>
                            <a:srgbClr val="1F2A44"/>
                          </a:solidFill>
                          <a:latin typeface="Courier New"/>
                        </a:rPr>
                        <a:t>2024-04-03</a:t>
                      </a:r>
                    </a:p>
                  </a:txBody>
                  <a:tcPr marL="54864" marR="54864" marT="27432" marB="27432">
                    <a:solidFill>
                      <a:srgbClr val="FFFFFF"/>
                    </a:solidFill>
                  </a:tcPr>
                </a:tc>
                <a:tc>
                  <a:txBody>
                    <a:bodyPr wrap="square"/>
                    <a:lstStyle/>
                    <a:p>
                      <a:pPr algn="r"/>
                      <a:r>
                        <a:rPr sz="1200" b="0">
                          <a:solidFill>
                            <a:srgbClr val="1F2A44"/>
                          </a:solidFill>
                          <a:latin typeface="Courier New"/>
                        </a:rPr>
                        <a:t>912</a:t>
                      </a:r>
                    </a:p>
                  </a:txBody>
                  <a:tcPr marL="54864" marR="54864" marT="27432" marB="27432">
                    <a:solidFill>
                      <a:srgbClr val="FFFFFF"/>
                    </a:solidFill>
                  </a:tcPr>
                </a:tc>
                <a:tc>
                  <a:txBody>
                    <a:bodyPr wrap="square"/>
                    <a:lstStyle/>
                    <a:p>
                      <a:pPr algn="r"/>
                      <a:r>
                        <a:rPr sz="1200" b="0">
                          <a:solidFill>
                            <a:srgbClr val="1F2A44"/>
                          </a:solidFill>
                          <a:latin typeface="Courier New"/>
                        </a:rPr>
                        <a:t>166,328</a:t>
                      </a:r>
                    </a:p>
                  </a:txBody>
                  <a:tcPr marL="54864" marR="54864" marT="27432" marB="27432">
                    <a:solidFill>
                      <a:srgbClr val="FFFFFF"/>
                    </a:solidFill>
                  </a:tcPr>
                </a:tc>
                <a:tc>
                  <a:txBody>
                    <a:bodyPr wrap="square"/>
                    <a:lstStyle/>
                    <a:p>
                      <a:pPr algn="r"/>
                      <a:r>
                        <a:rPr sz="1200" b="0">
                          <a:solidFill>
                            <a:srgbClr val="1F2A44"/>
                          </a:solidFill>
                          <a:latin typeface="Courier New"/>
                        </a:rPr>
                        <a:t>cold — archive candidate; heavy duplicate candidates</a:t>
                      </a:r>
                    </a:p>
                  </a:txBody>
                  <a:tcPr marL="54864" marR="54864" marT="27432" marB="27432">
                    <a:solidFill>
                      <a:srgbClr val="FFFFFF"/>
                    </a:solidFill>
                  </a:tcPr>
                </a:tc>
                <a:tc>
                  <a:txBody>
                    <a:bodyPr wrap="square"/>
                    <a:lstStyle/>
                    <a:p>
                      <a:pPr algn="r"/>
                      <a:r>
                        <a:rPr sz="1200" b="0">
                          <a:solidFill>
                            <a:srgbClr val="1F2A44"/>
                          </a:solidFill>
                          <a:latin typeface="Courier New"/>
                        </a:rPr>
                        <a:t>verify storage class and read demand; tier only confirmed Standard bytes, never already Archive bytes</a:t>
                      </a:r>
                    </a:p>
                  </a:txBody>
                  <a:tcPr marL="54864" marR="54864" marT="27432" marB="27432">
                    <a:solidFill>
                      <a:srgbClr val="FFFFFF"/>
                    </a:solidFill>
                  </a:tcPr>
                </a:tc>
              </a:tr>
              <a:tr h="384048">
                <a:tc>
                  <a:txBody>
                    <a:bodyPr wrap="square"/>
                    <a:lstStyle/>
                    <a:p>
                      <a:pPr algn="l"/>
                      <a:r>
                        <a:rPr sz="1200" b="0">
                          <a:solidFill>
                            <a:srgbClr val="1F2A44"/>
                          </a:solidFill>
                          <a:latin typeface="Calibri"/>
                        </a:rPr>
                        <a:t>rmsbroadcast</a:t>
                      </a:r>
                    </a:p>
                  </a:txBody>
                  <a:tcPr marL="54864" marR="54864" marT="27432" marB="27432">
                    <a:solidFill>
                      <a:srgbClr val="FFFFFF"/>
                    </a:solidFill>
                  </a:tcPr>
                </a:tc>
                <a:tc>
                  <a:txBody>
                    <a:bodyPr wrap="square"/>
                    <a:lstStyle/>
                    <a:p>
                      <a:pPr algn="r"/>
                      <a:r>
                        <a:rPr sz="1200" b="0">
                          <a:solidFill>
                            <a:srgbClr val="1F2A44"/>
                          </a:solidFill>
                          <a:latin typeface="Courier New"/>
                        </a:rPr>
                        <a:t>1.49</a:t>
                      </a:r>
                    </a:p>
                  </a:txBody>
                  <a:tcPr marL="54864" marR="54864" marT="27432" marB="27432">
                    <a:solidFill>
                      <a:srgbClr val="FFFFFF"/>
                    </a:solidFill>
                  </a:tcPr>
                </a:tc>
                <a:tc>
                  <a:txBody>
                    <a:bodyPr wrap="square"/>
                    <a:lstStyle/>
                    <a:p>
                      <a:pPr algn="r"/>
                      <a:r>
                        <a:rPr sz="1200" b="0">
                          <a:solidFill>
                            <a:srgbClr val="1F2A44"/>
                          </a:solidFill>
                          <a:latin typeface="Courier New"/>
                        </a:rPr>
                        <a:t>2024-03-24</a:t>
                      </a:r>
                    </a:p>
                  </a:txBody>
                  <a:tcPr marL="54864" marR="54864" marT="27432" marB="27432">
                    <a:solidFill>
                      <a:srgbClr val="FFFFFF"/>
                    </a:solidFill>
                  </a:tcPr>
                </a:tc>
                <a:tc>
                  <a:txBody>
                    <a:bodyPr wrap="square"/>
                    <a:lstStyle/>
                    <a:p>
                      <a:pPr algn="r"/>
                      <a:r>
                        <a:rPr sz="1200" b="0">
                          <a:solidFill>
                            <a:srgbClr val="1F2A44"/>
                          </a:solidFill>
                          <a:latin typeface="Courier New"/>
                        </a:rPr>
                        <a:t>922</a:t>
                      </a:r>
                    </a:p>
                  </a:txBody>
                  <a:tcPr marL="54864" marR="54864" marT="27432" marB="27432">
                    <a:solidFill>
                      <a:srgbClr val="FFFFFF"/>
                    </a:solidFill>
                  </a:tcPr>
                </a:tc>
                <a:tc>
                  <a:txBody>
                    <a:bodyPr wrap="square"/>
                    <a:lstStyle/>
                    <a:p>
                      <a:pPr algn="r"/>
                      <a:r>
                        <a:rPr sz="1200" b="0">
                          <a:solidFill>
                            <a:srgbClr val="1F2A44"/>
                          </a:solidFill>
                          <a:latin typeface="Courier New"/>
                        </a:rPr>
                        <a:t>5,060</a:t>
                      </a:r>
                    </a:p>
                  </a:txBody>
                  <a:tcPr marL="54864" marR="54864" marT="27432" marB="27432">
                    <a:solidFill>
                      <a:srgbClr val="FFFFFF"/>
                    </a:solidFill>
                  </a:tcPr>
                </a:tc>
                <a:tc>
                  <a:txBody>
                    <a:bodyPr wrap="square"/>
                    <a:lstStyle/>
                    <a:p>
                      <a:pPr algn="r"/>
                      <a:r>
                        <a:rPr sz="1200" b="0">
                          <a:solidFill>
                            <a:srgbClr val="1F2A44"/>
                          </a:solidFill>
                          <a:latin typeface="Courier New"/>
                        </a:rPr>
                        <a:t>cold — archive candidate</a:t>
                      </a:r>
                    </a:p>
                  </a:txBody>
                  <a:tcPr marL="54864" marR="54864" marT="27432" marB="27432">
                    <a:solidFill>
                      <a:srgbClr val="FFFFFF"/>
                    </a:solidFill>
                  </a:tcPr>
                </a:tc>
                <a:tc>
                  <a:txBody>
                    <a:bodyPr wrap="square"/>
                    <a:lstStyle/>
                    <a:p>
                      <a:pPr algn="r"/>
                      <a:r>
                        <a:rPr sz="1200" b="0">
                          <a:solidFill>
                            <a:srgbClr val="1F2A44"/>
                          </a:solidFill>
                          <a:latin typeface="Courier New"/>
                        </a:rPr>
                        <a:t>verify storage class and read demand; tier only confirmed Standard bytes, never already Archive bytes</a:t>
                      </a:r>
                    </a:p>
                  </a:txBody>
                  <a:tcPr marL="54864" marR="54864" marT="27432" marB="2743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C8102E"/>
                </a:solidFill>
                <a:latin typeface="Calibri"/>
              </a:rPr>
              <a:t>Every bucket named here was enumerated object by object; the classification follows from its last write date and its duplicate-candidate count.</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[measured]  Receipt R04: OBS bucket enumeration census run cr-f1415e395361 (22,997,353 objects, 130.8 TiB)</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EVIDENCE BY NAME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Exact database tables under review, by finding</a:t>
            </a:r>
          </a:p>
        </p:txBody>
      </p:sp>
      <p:graphicFrame>
        <p:nvGraphicFramePr>
          <p:cNvPr id="4" name="Table 3"/>
          <p:cNvGraphicFramePr>
            <a:graphicFrameLocks noGrp="1"/>
          </p:cNvGraphicFramePr>
          <p:nvPr/>
        </p:nvGraphicFramePr>
        <p:xfrm>
          <a:off x="594360" y="1920240"/>
          <a:ext cx="11002973" cy="3017520"/>
        </p:xfrm>
        <a:graphic>
          <a:graphicData uri="http://schemas.openxmlformats.org/drawingml/2006/table">
            <a:tbl>
              <a:tblPr firstRow="1" bandRow="1">
                <a:tableStyleId>{5C22544A-7EE6-4342-B048-85BDC9FD1C3A}</a:tableStyleId>
              </a:tblPr>
              <a:tblGrid>
                <a:gridCol w="3300892"/>
                <a:gridCol w="2357780"/>
                <a:gridCol w="2043409"/>
                <a:gridCol w="3300892"/>
              </a:tblGrid>
              <a:tr h="301752">
                <a:tc>
                  <a:txBody>
                    <a:bodyPr wrap="square"/>
                    <a:lstStyle/>
                    <a:p>
                      <a:pPr algn="l"/>
                      <a:r>
                        <a:rPr sz="1200" b="1">
                          <a:solidFill>
                            <a:srgbClr val="1F2A44"/>
                          </a:solidFill>
                          <a:latin typeface="Calibri"/>
                        </a:rPr>
                        <a:t>Table (database.table)</a:t>
                      </a:r>
                    </a:p>
                  </a:txBody>
                  <a:tcPr marL="54864" marR="54864" marT="27432" marB="27432">
                    <a:solidFill>
                      <a:srgbClr val="E9ECF1"/>
                    </a:solidFill>
                  </a:tcPr>
                </a:tc>
                <a:tc>
                  <a:txBody>
                    <a:bodyPr wrap="square"/>
                    <a:lstStyle/>
                    <a:p>
                      <a:pPr algn="l"/>
                      <a:r>
                        <a:rPr sz="1200" b="1">
                          <a:solidFill>
                            <a:srgbClr val="1F2A44"/>
                          </a:solidFill>
                          <a:latin typeface="Calibri"/>
                        </a:rPr>
                        <a:t>Finding</a:t>
                      </a:r>
                    </a:p>
                  </a:txBody>
                  <a:tcPr marL="54864" marR="54864" marT="27432" marB="27432">
                    <a:solidFill>
                      <a:srgbClr val="E9ECF1"/>
                    </a:solidFill>
                  </a:tcPr>
                </a:tc>
                <a:tc>
                  <a:txBody>
                    <a:bodyPr wrap="square"/>
                    <a:lstStyle/>
                    <a:p>
                      <a:pPr algn="l"/>
                      <a:r>
                        <a:rPr sz="1200" b="1">
                          <a:solidFill>
                            <a:srgbClr val="1F2A44"/>
                          </a:solidFill>
                          <a:latin typeface="Calibri"/>
                        </a:rPr>
                        <a:t>Measured detail</a:t>
                      </a:r>
                    </a:p>
                  </a:txBody>
                  <a:tcPr marL="54864" marR="54864" marT="27432" marB="27432">
                    <a:solidFill>
                      <a:srgbClr val="E9ECF1"/>
                    </a:solidFill>
                  </a:tcPr>
                </a:tc>
                <a:tc>
                  <a:txBody>
                    <a:bodyPr wrap="square"/>
                    <a:lstStyle/>
                    <a:p>
                      <a:pPr algn="l"/>
                      <a:r>
                        <a:rPr sz="1200" b="1">
                          <a:solidFill>
                            <a:srgbClr val="1F2A44"/>
                          </a:solidFill>
                          <a:latin typeface="Calibri"/>
                        </a:rPr>
                        <a:t>Proposed action</a:t>
                      </a:r>
                    </a:p>
                  </a:txBody>
                  <a:tcPr marL="54864" marR="54864" marT="27432" marB="27432">
                    <a:solidFill>
                      <a:srgbClr val="E9ECF1"/>
                    </a:solidFill>
                  </a:tcPr>
                </a:tc>
              </a:tr>
              <a:tr h="301752">
                <a:tc>
                  <a:txBody>
                    <a:bodyPr wrap="square"/>
                    <a:lstStyle/>
                    <a:p>
                      <a:pPr algn="l"/>
                      <a:r>
                        <a:rPr sz="1200" b="0">
                          <a:solidFill>
                            <a:srgbClr val="1F2A44"/>
                          </a:solidFill>
                          <a:latin typeface="Calibri"/>
                        </a:rPr>
                        <a:t>viusasa_staging.audits</a:t>
                      </a:r>
                    </a:p>
                  </a:txBody>
                  <a:tcPr marL="54864" marR="54864" marT="27432" marB="27432">
                    <a:solidFill>
                      <a:srgbClr val="FFFFFF"/>
                    </a:solidFill>
                  </a:tcPr>
                </a:tc>
                <a:tc>
                  <a:txBody>
                    <a:bodyPr wrap="square"/>
                    <a:lstStyle/>
                    <a:p>
                      <a:pPr algn="l"/>
                      <a:r>
                        <a:rPr sz="1200" b="0">
                          <a:solidFill>
                            <a:srgbClr val="1F2A44"/>
                          </a:solidFill>
                          <a:latin typeface="Calibri"/>
                        </a:rPr>
                        <a:t>not written for over a year</a:t>
                      </a:r>
                    </a:p>
                  </a:txBody>
                  <a:tcPr marL="54864" marR="54864" marT="27432" marB="27432">
                    <a:solidFill>
                      <a:srgbClr val="FFFFFF"/>
                    </a:solidFill>
                  </a:tcPr>
                </a:tc>
                <a:tc>
                  <a:txBody>
                    <a:bodyPr wrap="square"/>
                    <a:lstStyle/>
                    <a:p>
                      <a:pPr algn="l"/>
                      <a:r>
                        <a:rPr sz="1200" b="0">
                          <a:solidFill>
                            <a:srgbClr val="1F2A44"/>
                          </a:solidFill>
                          <a:latin typeface="Calibri"/>
                        </a:rPr>
                        <a:t>666 days · 18.6 GiB</a:t>
                      </a:r>
                    </a:p>
                  </a:txBody>
                  <a:tcPr marL="54864" marR="54864" marT="27432" marB="27432">
                    <a:solidFill>
                      <a:srgbClr val="FFFFFF"/>
                    </a:solidFill>
                  </a:tcPr>
                </a:tc>
                <a:tc>
                  <a:txBody>
                    <a:bodyPr wrap="square"/>
                    <a:lstStyle/>
                    <a:p>
                      <a:pPr algn="l"/>
                      <a:r>
                        <a:rPr sz="1200" b="0">
                          <a:solidFill>
                            <a:srgbClr val="1F2A44"/>
                          </a:solidFill>
                          <a:latin typeface="Calibri"/>
                        </a:rPr>
                        <a:t>export to compressed object storage with a schema stub (proposed); restore on demand</a:t>
                      </a:r>
                    </a:p>
                  </a:txBody>
                  <a:tcPr marL="54864" marR="54864" marT="27432" marB="27432">
                    <a:solidFill>
                      <a:srgbClr val="FFFFFF"/>
                    </a:solidFill>
                  </a:tcPr>
                </a:tc>
              </a:tr>
              <a:tr h="301752">
                <a:tc>
                  <a:txBody>
                    <a:bodyPr wrap="square"/>
                    <a:lstStyle/>
                    <a:p>
                      <a:pPr algn="l"/>
                      <a:r>
                        <a:rPr sz="1200" b="0">
                          <a:solidFill>
                            <a:srgbClr val="1F2A44"/>
                          </a:solidFill>
                          <a:latin typeface="Calibri"/>
                        </a:rPr>
                        <a:t>viusasa_staging.master_payments</a:t>
                      </a:r>
                    </a:p>
                  </a:txBody>
                  <a:tcPr marL="54864" marR="54864" marT="27432" marB="27432">
                    <a:solidFill>
                      <a:srgbClr val="FFFFFF"/>
                    </a:solidFill>
                  </a:tcPr>
                </a:tc>
                <a:tc>
                  <a:txBody>
                    <a:bodyPr wrap="square"/>
                    <a:lstStyle/>
                    <a:p>
                      <a:pPr algn="l"/>
                      <a:r>
                        <a:rPr sz="1200" b="0">
                          <a:solidFill>
                            <a:srgbClr val="1F2A44"/>
                          </a:solidFill>
                          <a:latin typeface="Calibri"/>
                        </a:rPr>
                        <a:t>not written for over a year</a:t>
                      </a:r>
                    </a:p>
                  </a:txBody>
                  <a:tcPr marL="54864" marR="54864" marT="27432" marB="27432">
                    <a:solidFill>
                      <a:srgbClr val="FFFFFF"/>
                    </a:solidFill>
                  </a:tcPr>
                </a:tc>
                <a:tc>
                  <a:txBody>
                    <a:bodyPr wrap="square"/>
                    <a:lstStyle/>
                    <a:p>
                      <a:pPr algn="l"/>
                      <a:r>
                        <a:rPr sz="1200" b="0">
                          <a:solidFill>
                            <a:srgbClr val="1F2A44"/>
                          </a:solidFill>
                          <a:latin typeface="Calibri"/>
                        </a:rPr>
                        <a:t>438 days · 4.2 GiB</a:t>
                      </a:r>
                    </a:p>
                  </a:txBody>
                  <a:tcPr marL="54864" marR="54864" marT="27432" marB="27432">
                    <a:solidFill>
                      <a:srgbClr val="FFFFFF"/>
                    </a:solidFill>
                  </a:tcPr>
                </a:tc>
                <a:tc>
                  <a:txBody>
                    <a:bodyPr wrap="square"/>
                    <a:lstStyle/>
                    <a:p>
                      <a:pPr algn="l"/>
                      <a:r>
                        <a:rPr sz="1200" b="0">
                          <a:solidFill>
                            <a:srgbClr val="1F2A44"/>
                          </a:solidFill>
                          <a:latin typeface="Calibri"/>
                        </a:rPr>
                        <a:t>export to compressed object storage with a schema stub (proposed); restore on demand</a:t>
                      </a:r>
                    </a:p>
                  </a:txBody>
                  <a:tcPr marL="54864" marR="54864" marT="27432" marB="27432">
                    <a:solidFill>
                      <a:srgbClr val="FFFFFF"/>
                    </a:solidFill>
                  </a:tcPr>
                </a:tc>
              </a:tr>
              <a:tr h="301752">
                <a:tc>
                  <a:txBody>
                    <a:bodyPr wrap="square"/>
                    <a:lstStyle/>
                    <a:p>
                      <a:pPr algn="l"/>
                      <a:r>
                        <a:rPr sz="1200" b="0">
                          <a:solidFill>
                            <a:srgbClr val="1F2A44"/>
                          </a:solidFill>
                          <a:latin typeface="Calibri"/>
                        </a:rPr>
                        <a:t>razuna.raz1_videos</a:t>
                      </a:r>
                    </a:p>
                  </a:txBody>
                  <a:tcPr marL="54864" marR="54864" marT="27432" marB="27432">
                    <a:solidFill>
                      <a:srgbClr val="FFFFFF"/>
                    </a:solidFill>
                  </a:tcPr>
                </a:tc>
                <a:tc>
                  <a:txBody>
                    <a:bodyPr wrap="square"/>
                    <a:lstStyle/>
                    <a:p>
                      <a:pPr algn="l"/>
                      <a:r>
                        <a:rPr sz="1200" b="0">
                          <a:solidFill>
                            <a:srgbClr val="1F2A44"/>
                          </a:solidFill>
                          <a:latin typeface="Calibri"/>
                        </a:rPr>
                        <a:t>not written for over a year</a:t>
                      </a:r>
                    </a:p>
                  </a:txBody>
                  <a:tcPr marL="54864" marR="54864" marT="27432" marB="27432">
                    <a:solidFill>
                      <a:srgbClr val="FFFFFF"/>
                    </a:solidFill>
                  </a:tcPr>
                </a:tc>
                <a:tc>
                  <a:txBody>
                    <a:bodyPr wrap="square"/>
                    <a:lstStyle/>
                    <a:p>
                      <a:pPr algn="l"/>
                      <a:r>
                        <a:rPr sz="1200" b="0">
                          <a:solidFill>
                            <a:srgbClr val="1F2A44"/>
                          </a:solidFill>
                          <a:latin typeface="Calibri"/>
                        </a:rPr>
                        <a:t>1341 days · 3.0 GiB</a:t>
                      </a:r>
                    </a:p>
                  </a:txBody>
                  <a:tcPr marL="54864" marR="54864" marT="27432" marB="27432">
                    <a:solidFill>
                      <a:srgbClr val="FFFFFF"/>
                    </a:solidFill>
                  </a:tcPr>
                </a:tc>
                <a:tc>
                  <a:txBody>
                    <a:bodyPr wrap="square"/>
                    <a:lstStyle/>
                    <a:p>
                      <a:pPr algn="l"/>
                      <a:r>
                        <a:rPr sz="1200" b="0">
                          <a:solidFill>
                            <a:srgbClr val="1F2A44"/>
                          </a:solidFill>
                          <a:latin typeface="Calibri"/>
                        </a:rPr>
                        <a:t>export to compressed object storage with a schema stub (proposed); restore on demand</a:t>
                      </a:r>
                    </a:p>
                  </a:txBody>
                  <a:tcPr marL="54864" marR="54864" marT="27432" marB="27432">
                    <a:solidFill>
                      <a:srgbClr val="FFFFFF"/>
                    </a:solidFill>
                  </a:tcPr>
                </a:tc>
              </a:tr>
              <a:tr h="301752">
                <a:tc>
                  <a:txBody>
                    <a:bodyPr wrap="square"/>
                    <a:lstStyle/>
                    <a:p>
                      <a:pPr algn="l"/>
                      <a:r>
                        <a:rPr sz="1200" b="0">
                          <a:solidFill>
                            <a:srgbClr val="1F2A44"/>
                          </a:solidFill>
                          <a:latin typeface="Calibri"/>
                        </a:rPr>
                        <a:t>viusasa_staging.payment_requests</a:t>
                      </a:r>
                    </a:p>
                  </a:txBody>
                  <a:tcPr marL="54864" marR="54864" marT="27432" marB="27432">
                    <a:solidFill>
                      <a:srgbClr val="FFFFFF"/>
                    </a:solidFill>
                  </a:tcPr>
                </a:tc>
                <a:tc>
                  <a:txBody>
                    <a:bodyPr wrap="square"/>
                    <a:lstStyle/>
                    <a:p>
                      <a:pPr algn="l"/>
                      <a:r>
                        <a:rPr sz="1200" b="0">
                          <a:solidFill>
                            <a:srgbClr val="1F2A44"/>
                          </a:solidFill>
                          <a:latin typeface="Calibri"/>
                        </a:rPr>
                        <a:t>not written for over a year</a:t>
                      </a:r>
                    </a:p>
                  </a:txBody>
                  <a:tcPr marL="54864" marR="54864" marT="27432" marB="27432">
                    <a:solidFill>
                      <a:srgbClr val="FFFFFF"/>
                    </a:solidFill>
                  </a:tcPr>
                </a:tc>
                <a:tc>
                  <a:txBody>
                    <a:bodyPr wrap="square"/>
                    <a:lstStyle/>
                    <a:p>
                      <a:pPr algn="l"/>
                      <a:r>
                        <a:rPr sz="1200" b="0">
                          <a:solidFill>
                            <a:srgbClr val="1F2A44"/>
                          </a:solidFill>
                          <a:latin typeface="Calibri"/>
                        </a:rPr>
                        <a:t>664 days · 2.8 GiB</a:t>
                      </a:r>
                    </a:p>
                  </a:txBody>
                  <a:tcPr marL="54864" marR="54864" marT="27432" marB="27432">
                    <a:solidFill>
                      <a:srgbClr val="FFFFFF"/>
                    </a:solidFill>
                  </a:tcPr>
                </a:tc>
                <a:tc>
                  <a:txBody>
                    <a:bodyPr wrap="square"/>
                    <a:lstStyle/>
                    <a:p>
                      <a:pPr algn="l"/>
                      <a:r>
                        <a:rPr sz="1200" b="0">
                          <a:solidFill>
                            <a:srgbClr val="1F2A44"/>
                          </a:solidFill>
                          <a:latin typeface="Calibri"/>
                        </a:rPr>
                        <a:t>export to compressed object storage with a schema stub (proposed); restore on demand</a:t>
                      </a:r>
                    </a:p>
                  </a:txBody>
                  <a:tcPr marL="54864" marR="54864" marT="27432" marB="27432">
                    <a:solidFill>
                      <a:srgbClr val="FFFFFF"/>
                    </a:solidFill>
                  </a:tcPr>
                </a:tc>
              </a:tr>
              <a:tr h="301752">
                <a:tc>
                  <a:txBody>
                    <a:bodyPr wrap="square"/>
                    <a:lstStyle/>
                    <a:p>
                      <a:pPr algn="l"/>
                      <a:r>
                        <a:rPr sz="1200" b="0">
                          <a:solidFill>
                            <a:srgbClr val="1F2A44"/>
                          </a:solidFill>
                          <a:latin typeface="Calibri"/>
                        </a:rPr>
                        <a:t>viusasa_staging.sms</a:t>
                      </a:r>
                    </a:p>
                  </a:txBody>
                  <a:tcPr marL="54864" marR="54864" marT="27432" marB="27432">
                    <a:solidFill>
                      <a:srgbClr val="FFFFFF"/>
                    </a:solidFill>
                  </a:tcPr>
                </a:tc>
                <a:tc>
                  <a:txBody>
                    <a:bodyPr wrap="square"/>
                    <a:lstStyle/>
                    <a:p>
                      <a:pPr algn="l"/>
                      <a:r>
                        <a:rPr sz="1200" b="0">
                          <a:solidFill>
                            <a:srgbClr val="1F2A44"/>
                          </a:solidFill>
                          <a:latin typeface="Calibri"/>
                        </a:rPr>
                        <a:t>not written for over a year</a:t>
                      </a:r>
                    </a:p>
                  </a:txBody>
                  <a:tcPr marL="54864" marR="54864" marT="27432" marB="27432">
                    <a:solidFill>
                      <a:srgbClr val="FFFFFF"/>
                    </a:solidFill>
                  </a:tcPr>
                </a:tc>
                <a:tc>
                  <a:txBody>
                    <a:bodyPr wrap="square"/>
                    <a:lstStyle/>
                    <a:p>
                      <a:pPr algn="l"/>
                      <a:r>
                        <a:rPr sz="1200" b="0">
                          <a:solidFill>
                            <a:srgbClr val="1F2A44"/>
                          </a:solidFill>
                          <a:latin typeface="Calibri"/>
                        </a:rPr>
                        <a:t>583 days · 2.7 GiB</a:t>
                      </a:r>
                    </a:p>
                  </a:txBody>
                  <a:tcPr marL="54864" marR="54864" marT="27432" marB="27432">
                    <a:solidFill>
                      <a:srgbClr val="FFFFFF"/>
                    </a:solidFill>
                  </a:tcPr>
                </a:tc>
                <a:tc>
                  <a:txBody>
                    <a:bodyPr wrap="square"/>
                    <a:lstStyle/>
                    <a:p>
                      <a:pPr algn="l"/>
                      <a:r>
                        <a:rPr sz="1200" b="0">
                          <a:solidFill>
                            <a:srgbClr val="1F2A44"/>
                          </a:solidFill>
                          <a:latin typeface="Calibri"/>
                        </a:rPr>
                        <a:t>export to compressed object storage with a schema stub (proposed); restore on demand</a:t>
                      </a:r>
                    </a:p>
                  </a:txBody>
                  <a:tcPr marL="54864" marR="54864" marT="27432" marB="27432">
                    <a:solidFill>
                      <a:srgbClr val="FFFFFF"/>
                    </a:solidFill>
                  </a:tcPr>
                </a:tc>
              </a:tr>
              <a:tr h="301752">
                <a:tc>
                  <a:txBody>
                    <a:bodyPr wrap="square"/>
                    <a:lstStyle/>
                    <a:p>
                      <a:pPr algn="l"/>
                      <a:r>
                        <a:rPr sz="1200" b="0">
                          <a:solidFill>
                            <a:srgbClr val="1F2A44"/>
                          </a:solidFill>
                          <a:latin typeface="Calibri"/>
                        </a:rPr>
                        <a:t>viusasa_staging.mpesa_stk_requests</a:t>
                      </a:r>
                    </a:p>
                  </a:txBody>
                  <a:tcPr marL="54864" marR="54864" marT="27432" marB="27432">
                    <a:solidFill>
                      <a:srgbClr val="FFFFFF"/>
                    </a:solidFill>
                  </a:tcPr>
                </a:tc>
                <a:tc>
                  <a:txBody>
                    <a:bodyPr wrap="square"/>
                    <a:lstStyle/>
                    <a:p>
                      <a:pPr algn="l"/>
                      <a:r>
                        <a:rPr sz="1200" b="0">
                          <a:solidFill>
                            <a:srgbClr val="1F2A44"/>
                          </a:solidFill>
                          <a:latin typeface="Calibri"/>
                        </a:rPr>
                        <a:t>not written for over a year</a:t>
                      </a:r>
                    </a:p>
                  </a:txBody>
                  <a:tcPr marL="54864" marR="54864" marT="27432" marB="27432">
                    <a:solidFill>
                      <a:srgbClr val="FFFFFF"/>
                    </a:solidFill>
                  </a:tcPr>
                </a:tc>
                <a:tc>
                  <a:txBody>
                    <a:bodyPr wrap="square"/>
                    <a:lstStyle/>
                    <a:p>
                      <a:pPr algn="l"/>
                      <a:r>
                        <a:rPr sz="1200" b="0">
                          <a:solidFill>
                            <a:srgbClr val="1F2A44"/>
                          </a:solidFill>
                          <a:latin typeface="Calibri"/>
                        </a:rPr>
                        <a:t>724 days · 1.4 GiB</a:t>
                      </a:r>
                    </a:p>
                  </a:txBody>
                  <a:tcPr marL="54864" marR="54864" marT="27432" marB="27432">
                    <a:solidFill>
                      <a:srgbClr val="FFFFFF"/>
                    </a:solidFill>
                  </a:tcPr>
                </a:tc>
                <a:tc>
                  <a:txBody>
                    <a:bodyPr wrap="square"/>
                    <a:lstStyle/>
                    <a:p>
                      <a:pPr algn="l"/>
                      <a:r>
                        <a:rPr sz="1200" b="0">
                          <a:solidFill>
                            <a:srgbClr val="1F2A44"/>
                          </a:solidFill>
                          <a:latin typeface="Calibri"/>
                        </a:rPr>
                        <a:t>export to compressed object storage with a schema stub (proposed); restore on demand</a:t>
                      </a:r>
                    </a:p>
                  </a:txBody>
                  <a:tcPr marL="54864" marR="54864" marT="27432" marB="27432">
                    <a:solidFill>
                      <a:srgbClr val="FFFFFF"/>
                    </a:solidFill>
                  </a:tcPr>
                </a:tc>
              </a:tr>
              <a:tr h="301752">
                <a:tc>
                  <a:txBody>
                    <a:bodyPr wrap="square"/>
                    <a:lstStyle/>
                    <a:p>
                      <a:pPr algn="l"/>
                      <a:r>
                        <a:rPr sz="1200" b="0">
                          <a:solidFill>
                            <a:srgbClr val="1F2A44"/>
                          </a:solidFill>
                          <a:latin typeface="Calibri"/>
                        </a:rPr>
                        <a:t>viusasa_staging.search_lookups</a:t>
                      </a:r>
                    </a:p>
                  </a:txBody>
                  <a:tcPr marL="54864" marR="54864" marT="27432" marB="27432">
                    <a:solidFill>
                      <a:srgbClr val="FFFFFF"/>
                    </a:solidFill>
                  </a:tcPr>
                </a:tc>
                <a:tc>
                  <a:txBody>
                    <a:bodyPr wrap="square"/>
                    <a:lstStyle/>
                    <a:p>
                      <a:pPr algn="l"/>
                      <a:r>
                        <a:rPr sz="1200" b="0">
                          <a:solidFill>
                            <a:srgbClr val="1F2A44"/>
                          </a:solidFill>
                          <a:latin typeface="Calibri"/>
                        </a:rPr>
                        <a:t>repeated rows inside the table</a:t>
                      </a:r>
                    </a:p>
                  </a:txBody>
                  <a:tcPr marL="54864" marR="54864" marT="27432" marB="27432">
                    <a:solidFill>
                      <a:srgbClr val="FFFFFF"/>
                    </a:solidFill>
                  </a:tcPr>
                </a:tc>
                <a:tc>
                  <a:txBody>
                    <a:bodyPr wrap="square"/>
                    <a:lstStyle/>
                    <a:p>
                      <a:pPr algn="l"/>
                      <a:r>
                        <a:rPr sz="1200" b="0">
                          <a:solidFill>
                            <a:srgbClr val="1F2A44"/>
                          </a:solidFill>
                          <a:latin typeface="Calibri"/>
                        </a:rPr>
                        <a:t>5.9% repeated · 8.7 GiB</a:t>
                      </a:r>
                    </a:p>
                  </a:txBody>
                  <a:tcPr marL="54864" marR="54864" marT="27432" marB="27432">
                    <a:solidFill>
                      <a:srgbClr val="FFFFFF"/>
                    </a:solidFill>
                  </a:tcPr>
                </a:tc>
                <a:tc>
                  <a:txBody>
                    <a:bodyPr wrap="square"/>
                    <a:lstStyle/>
                    <a:p>
                      <a:pPr algn="l"/>
                      <a:r>
                        <a:rPr sz="1200" b="0">
                          <a:solidFill>
                            <a:srgbClr val="1F2A44"/>
                          </a:solidFill>
                          <a:latin typeface="Calibri"/>
                        </a:rPr>
                        <a:t>de-duplicate in place after a keyed comparison; keep the newest row</a:t>
                      </a:r>
                    </a:p>
                  </a:txBody>
                  <a:tcPr marL="54864" marR="54864" marT="27432" marB="27432">
                    <a:solidFill>
                      <a:srgbClr val="FFFFFF"/>
                    </a:solidFill>
                  </a:tcPr>
                </a:tc>
              </a:tr>
              <a:tr h="301752">
                <a:tc>
                  <a:txBody>
                    <a:bodyPr wrap="square"/>
                    <a:lstStyle/>
                    <a:p>
                      <a:pPr algn="l"/>
                      <a:r>
                        <a:rPr sz="1200" b="0">
                          <a:solidFill>
                            <a:srgbClr val="1F2A44"/>
                          </a:solidFill>
                          <a:latin typeface="Calibri"/>
                        </a:rPr>
                        <a:t>viusasa_staging.playback_qualified_streams</a:t>
                      </a:r>
                    </a:p>
                  </a:txBody>
                  <a:tcPr marL="54864" marR="54864" marT="27432" marB="27432">
                    <a:solidFill>
                      <a:srgbClr val="FFFFFF"/>
                    </a:solidFill>
                  </a:tcPr>
                </a:tc>
                <a:tc>
                  <a:txBody>
                    <a:bodyPr wrap="square"/>
                    <a:lstStyle/>
                    <a:p>
                      <a:pPr algn="l"/>
                      <a:r>
                        <a:rPr sz="1200" b="0">
                          <a:solidFill>
                            <a:srgbClr val="1F2A44"/>
                          </a:solidFill>
                          <a:latin typeface="Calibri"/>
                        </a:rPr>
                        <a:t>repeated rows inside the table</a:t>
                      </a:r>
                    </a:p>
                  </a:txBody>
                  <a:tcPr marL="54864" marR="54864" marT="27432" marB="27432">
                    <a:solidFill>
                      <a:srgbClr val="FFFFFF"/>
                    </a:solidFill>
                  </a:tcPr>
                </a:tc>
                <a:tc>
                  <a:txBody>
                    <a:bodyPr wrap="square"/>
                    <a:lstStyle/>
                    <a:p>
                      <a:pPr algn="l"/>
                      <a:r>
                        <a:rPr sz="1200" b="0">
                          <a:solidFill>
                            <a:srgbClr val="1F2A44"/>
                          </a:solidFill>
                          <a:latin typeface="Calibri"/>
                        </a:rPr>
                        <a:t>5.1% repeated · 4.6 GiB</a:t>
                      </a:r>
                    </a:p>
                  </a:txBody>
                  <a:tcPr marL="54864" marR="54864" marT="27432" marB="27432">
                    <a:solidFill>
                      <a:srgbClr val="FFFFFF"/>
                    </a:solidFill>
                  </a:tcPr>
                </a:tc>
                <a:tc>
                  <a:txBody>
                    <a:bodyPr wrap="square"/>
                    <a:lstStyle/>
                    <a:p>
                      <a:pPr algn="l"/>
                      <a:r>
                        <a:rPr sz="1200" b="0">
                          <a:solidFill>
                            <a:srgbClr val="1F2A44"/>
                          </a:solidFill>
                          <a:latin typeface="Calibri"/>
                        </a:rPr>
                        <a:t>de-duplicate in place after a keyed comparison; keep the newest row</a:t>
                      </a:r>
                    </a:p>
                  </a:txBody>
                  <a:tcPr marL="54864" marR="54864" marT="27432" marB="27432">
                    <a:solidFill>
                      <a:srgbClr val="FFFFFF"/>
                    </a:solidFill>
                  </a:tcPr>
                </a:tc>
              </a:tr>
              <a:tr h="301752">
                <a:tc>
                  <a:txBody>
                    <a:bodyPr wrap="square"/>
                    <a:lstStyle/>
                    <a:p>
                      <a:pPr algn="l"/>
                      <a:r>
                        <a:rPr sz="1200" b="0">
                          <a:solidFill>
                            <a:srgbClr val="1F2A44"/>
                          </a:solidFill>
                          <a:latin typeface="Calibri"/>
                        </a:rPr>
                        <a:t>viusasa_staging.episode_views</a:t>
                      </a:r>
                    </a:p>
                  </a:txBody>
                  <a:tcPr marL="54864" marR="54864" marT="27432" marB="27432">
                    <a:solidFill>
                      <a:srgbClr val="FFFFFF"/>
                    </a:solidFill>
                  </a:tcPr>
                </a:tc>
                <a:tc>
                  <a:txBody>
                    <a:bodyPr wrap="square"/>
                    <a:lstStyle/>
                    <a:p>
                      <a:pPr algn="l"/>
                      <a:r>
                        <a:rPr sz="1200" b="0">
                          <a:solidFill>
                            <a:srgbClr val="1F2A44"/>
                          </a:solidFill>
                          <a:latin typeface="Calibri"/>
                        </a:rPr>
                        <a:t>repeated rows inside the table</a:t>
                      </a:r>
                    </a:p>
                  </a:txBody>
                  <a:tcPr marL="54864" marR="54864" marT="27432" marB="27432">
                    <a:solidFill>
                      <a:srgbClr val="FFFFFF"/>
                    </a:solidFill>
                  </a:tcPr>
                </a:tc>
                <a:tc>
                  <a:txBody>
                    <a:bodyPr wrap="square"/>
                    <a:lstStyle/>
                    <a:p>
                      <a:pPr algn="l"/>
                      <a:r>
                        <a:rPr sz="1200" b="0">
                          <a:solidFill>
                            <a:srgbClr val="1F2A44"/>
                          </a:solidFill>
                          <a:latin typeface="Calibri"/>
                        </a:rPr>
                        <a:t>22.0% repeated · 764.0 MiB</a:t>
                      </a:r>
                    </a:p>
                  </a:txBody>
                  <a:tcPr marL="54864" marR="54864" marT="27432" marB="27432">
                    <a:solidFill>
                      <a:srgbClr val="FFFFFF"/>
                    </a:solidFill>
                  </a:tcPr>
                </a:tc>
                <a:tc>
                  <a:txBody>
                    <a:bodyPr wrap="square"/>
                    <a:lstStyle/>
                    <a:p>
                      <a:pPr algn="l"/>
                      <a:r>
                        <a:rPr sz="1200" b="0">
                          <a:solidFill>
                            <a:srgbClr val="1F2A44"/>
                          </a:solidFill>
                          <a:latin typeface="Calibri"/>
                        </a:rPr>
                        <a:t>de-duplicate in place after a keyed comparison; keep the newest row</a:t>
                      </a:r>
                    </a:p>
                  </a:txBody>
                  <a:tcPr marL="54864" marR="54864" marT="27432" marB="2743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C8102E"/>
                </a:solidFill>
                <a:latin typeface="Calibri"/>
              </a:rPr>
              <a:t>Each row names a table the census measured and the finding that puts it on the list; the bytes column is the strategy total the table belongs to, not the table alone.</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[measured]  Receipt R02: Estate intelligence census eij-1b359b3cbd2e, cost_strategies priced at reference list prices, not the owner's invoice: Huawei Cloud RDS for MySQL cloud SSD AF-Johannesburg 0.00015 USD/GB-hour x 730 h; OBS Standard 0.023 USD/GB-month</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EVIDENCE BY NAME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Exact database tables under review, by finding</a:t>
            </a:r>
          </a:p>
        </p:txBody>
      </p:sp>
      <p:graphicFrame>
        <p:nvGraphicFramePr>
          <p:cNvPr id="4" name="Table 3"/>
          <p:cNvGraphicFramePr>
            <a:graphicFrameLocks noGrp="1"/>
          </p:cNvGraphicFramePr>
          <p:nvPr/>
        </p:nvGraphicFramePr>
        <p:xfrm>
          <a:off x="594360" y="1920240"/>
          <a:ext cx="11002972" cy="3017520"/>
        </p:xfrm>
        <a:graphic>
          <a:graphicData uri="http://schemas.openxmlformats.org/drawingml/2006/table">
            <a:tbl>
              <a:tblPr firstRow="1" bandRow="1">
                <a:tableStyleId>{5C22544A-7EE6-4342-B048-85BDC9FD1C3A}</a:tableStyleId>
              </a:tblPr>
              <a:tblGrid>
                <a:gridCol w="3040295"/>
                <a:gridCol w="3040295"/>
                <a:gridCol w="1882087"/>
                <a:gridCol w="3040295"/>
              </a:tblGrid>
              <a:tr h="301752">
                <a:tc>
                  <a:txBody>
                    <a:bodyPr wrap="square"/>
                    <a:lstStyle/>
                    <a:p>
                      <a:pPr algn="l"/>
                      <a:r>
                        <a:rPr sz="1200" b="1">
                          <a:solidFill>
                            <a:srgbClr val="1F2A44"/>
                          </a:solidFill>
                          <a:latin typeface="Calibri"/>
                        </a:rPr>
                        <a:t>Table (database.table)</a:t>
                      </a:r>
                    </a:p>
                  </a:txBody>
                  <a:tcPr marL="54864" marR="54864" marT="27432" marB="27432">
                    <a:solidFill>
                      <a:srgbClr val="E9ECF1"/>
                    </a:solidFill>
                  </a:tcPr>
                </a:tc>
                <a:tc>
                  <a:txBody>
                    <a:bodyPr wrap="square"/>
                    <a:lstStyle/>
                    <a:p>
                      <a:pPr algn="l"/>
                      <a:r>
                        <a:rPr sz="1200" b="1">
                          <a:solidFill>
                            <a:srgbClr val="1F2A44"/>
                          </a:solidFill>
                          <a:latin typeface="Calibri"/>
                        </a:rPr>
                        <a:t>Finding</a:t>
                      </a:r>
                    </a:p>
                  </a:txBody>
                  <a:tcPr marL="54864" marR="54864" marT="27432" marB="27432">
                    <a:solidFill>
                      <a:srgbClr val="E9ECF1"/>
                    </a:solidFill>
                  </a:tcPr>
                </a:tc>
                <a:tc>
                  <a:txBody>
                    <a:bodyPr wrap="square"/>
                    <a:lstStyle/>
                    <a:p>
                      <a:pPr algn="l"/>
                      <a:r>
                        <a:rPr sz="1200" b="1">
                          <a:solidFill>
                            <a:srgbClr val="1F2A44"/>
                          </a:solidFill>
                          <a:latin typeface="Calibri"/>
                        </a:rPr>
                        <a:t>Measured detail</a:t>
                      </a:r>
                    </a:p>
                  </a:txBody>
                  <a:tcPr marL="54864" marR="54864" marT="27432" marB="27432">
                    <a:solidFill>
                      <a:srgbClr val="E9ECF1"/>
                    </a:solidFill>
                  </a:tcPr>
                </a:tc>
                <a:tc>
                  <a:txBody>
                    <a:bodyPr wrap="square"/>
                    <a:lstStyle/>
                    <a:p>
                      <a:pPr algn="l"/>
                      <a:r>
                        <a:rPr sz="1200" b="1">
                          <a:solidFill>
                            <a:srgbClr val="1F2A44"/>
                          </a:solidFill>
                          <a:latin typeface="Calibri"/>
                        </a:rPr>
                        <a:t>Proposed action</a:t>
                      </a:r>
                    </a:p>
                  </a:txBody>
                  <a:tcPr marL="54864" marR="54864" marT="27432" marB="27432">
                    <a:solidFill>
                      <a:srgbClr val="E9ECF1"/>
                    </a:solidFill>
                  </a:tcPr>
                </a:tc>
              </a:tr>
              <a:tr h="301752">
                <a:tc>
                  <a:txBody>
                    <a:bodyPr wrap="square"/>
                    <a:lstStyle/>
                    <a:p>
                      <a:pPr algn="l"/>
                      <a:r>
                        <a:rPr sz="1200" b="0">
                          <a:solidFill>
                            <a:srgbClr val="1F2A44"/>
                          </a:solidFill>
                          <a:latin typeface="Calibri"/>
                        </a:rPr>
                        <a:t>kra_reports.external_credit_notes</a:t>
                      </a:r>
                    </a:p>
                  </a:txBody>
                  <a:tcPr marL="54864" marR="54864" marT="27432" marB="27432">
                    <a:solidFill>
                      <a:srgbClr val="FFFFFF"/>
                    </a:solidFill>
                  </a:tcPr>
                </a:tc>
                <a:tc>
                  <a:txBody>
                    <a:bodyPr wrap="square"/>
                    <a:lstStyle/>
                    <a:p>
                      <a:pPr algn="l"/>
                      <a:r>
                        <a:rPr sz="1200" b="0">
                          <a:solidFill>
                            <a:srgbClr val="1F2A44"/>
                          </a:solidFill>
                          <a:latin typeface="Calibri"/>
                        </a:rPr>
                        <a:t>repeated rows inside the table</a:t>
                      </a:r>
                    </a:p>
                  </a:txBody>
                  <a:tcPr marL="54864" marR="54864" marT="27432" marB="27432">
                    <a:solidFill>
                      <a:srgbClr val="FFFFFF"/>
                    </a:solidFill>
                  </a:tcPr>
                </a:tc>
                <a:tc>
                  <a:txBody>
                    <a:bodyPr wrap="square"/>
                    <a:lstStyle/>
                    <a:p>
                      <a:pPr algn="l"/>
                      <a:r>
                        <a:rPr sz="1200" b="0">
                          <a:solidFill>
                            <a:srgbClr val="1F2A44"/>
                          </a:solidFill>
                          <a:latin typeface="Calibri"/>
                        </a:rPr>
                        <a:t>25.0% repeated · 277.8 MiB</a:t>
                      </a:r>
                    </a:p>
                  </a:txBody>
                  <a:tcPr marL="54864" marR="54864" marT="27432" marB="27432">
                    <a:solidFill>
                      <a:srgbClr val="FFFFFF"/>
                    </a:solidFill>
                  </a:tcPr>
                </a:tc>
                <a:tc>
                  <a:txBody>
                    <a:bodyPr wrap="square"/>
                    <a:lstStyle/>
                    <a:p>
                      <a:pPr algn="l"/>
                      <a:r>
                        <a:rPr sz="1200" b="0">
                          <a:solidFill>
                            <a:srgbClr val="1F2A44"/>
                          </a:solidFill>
                          <a:latin typeface="Calibri"/>
                        </a:rPr>
                        <a:t>de-duplicate in place after a keyed comparison; keep the newest row</a:t>
                      </a:r>
                    </a:p>
                  </a:txBody>
                  <a:tcPr marL="54864" marR="54864" marT="27432" marB="27432">
                    <a:solidFill>
                      <a:srgbClr val="FFFFFF"/>
                    </a:solidFill>
                  </a:tcPr>
                </a:tc>
              </a:tr>
              <a:tr h="301752">
                <a:tc>
                  <a:txBody>
                    <a:bodyPr wrap="square"/>
                    <a:lstStyle/>
                    <a:p>
                      <a:pPr algn="l"/>
                      <a:r>
                        <a:rPr sz="1200" b="0">
                          <a:solidFill>
                            <a:srgbClr val="1F2A44"/>
                          </a:solidFill>
                          <a:latin typeface="Calibri"/>
                        </a:rPr>
                        <a:t>viusasa_staging.new_episode_views</a:t>
                      </a:r>
                    </a:p>
                  </a:txBody>
                  <a:tcPr marL="54864" marR="54864" marT="27432" marB="27432">
                    <a:solidFill>
                      <a:srgbClr val="FFFFFF"/>
                    </a:solidFill>
                  </a:tcPr>
                </a:tc>
                <a:tc>
                  <a:txBody>
                    <a:bodyPr wrap="square"/>
                    <a:lstStyle/>
                    <a:p>
                      <a:pPr algn="l"/>
                      <a:r>
                        <a:rPr sz="1200" b="0">
                          <a:solidFill>
                            <a:srgbClr val="1F2A44"/>
                          </a:solidFill>
                          <a:latin typeface="Calibri"/>
                        </a:rPr>
                        <a:t>repeated rows inside the table</a:t>
                      </a:r>
                    </a:p>
                  </a:txBody>
                  <a:tcPr marL="54864" marR="54864" marT="27432" marB="27432">
                    <a:solidFill>
                      <a:srgbClr val="FFFFFF"/>
                    </a:solidFill>
                  </a:tcPr>
                </a:tc>
                <a:tc>
                  <a:txBody>
                    <a:bodyPr wrap="square"/>
                    <a:lstStyle/>
                    <a:p>
                      <a:pPr algn="l"/>
                      <a:r>
                        <a:rPr sz="1200" b="0">
                          <a:solidFill>
                            <a:srgbClr val="1F2A44"/>
                          </a:solidFill>
                          <a:latin typeface="Calibri"/>
                        </a:rPr>
                        <a:t>66.1% repeated · 98.7 MiB</a:t>
                      </a:r>
                    </a:p>
                  </a:txBody>
                  <a:tcPr marL="54864" marR="54864" marT="27432" marB="27432">
                    <a:solidFill>
                      <a:srgbClr val="FFFFFF"/>
                    </a:solidFill>
                  </a:tcPr>
                </a:tc>
                <a:tc>
                  <a:txBody>
                    <a:bodyPr wrap="square"/>
                    <a:lstStyle/>
                    <a:p>
                      <a:pPr algn="l"/>
                      <a:r>
                        <a:rPr sz="1200" b="0">
                          <a:solidFill>
                            <a:srgbClr val="1F2A44"/>
                          </a:solidFill>
                          <a:latin typeface="Calibri"/>
                        </a:rPr>
                        <a:t>de-duplicate in place after a keyed comparison; keep the newest row</a:t>
                      </a:r>
                    </a:p>
                  </a:txBody>
                  <a:tcPr marL="54864" marR="54864" marT="27432" marB="27432">
                    <a:solidFill>
                      <a:srgbClr val="FFFFFF"/>
                    </a:solidFill>
                  </a:tcPr>
                </a:tc>
              </a:tr>
              <a:tr h="301752">
                <a:tc>
                  <a:txBody>
                    <a:bodyPr wrap="square"/>
                    <a:lstStyle/>
                    <a:p>
                      <a:pPr algn="l"/>
                      <a:r>
                        <a:rPr sz="1200" b="0">
                          <a:solidFill>
                            <a:srgbClr val="1F2A44"/>
                          </a:solidFill>
                          <a:latin typeface="Calibri"/>
                        </a:rPr>
                        <a:t>viusasa_staging.ussd_hits</a:t>
                      </a:r>
                    </a:p>
                  </a:txBody>
                  <a:tcPr marL="54864" marR="54864" marT="27432" marB="27432">
                    <a:solidFill>
                      <a:srgbClr val="FFFFFF"/>
                    </a:solidFill>
                  </a:tcPr>
                </a:tc>
                <a:tc>
                  <a:txBody>
                    <a:bodyPr wrap="square"/>
                    <a:lstStyle/>
                    <a:p>
                      <a:pPr algn="l"/>
                      <a:r>
                        <a:rPr sz="1200" b="0">
                          <a:solidFill>
                            <a:srgbClr val="1F2A44"/>
                          </a:solidFill>
                          <a:latin typeface="Calibri"/>
                        </a:rPr>
                        <a:t>repeated rows inside the table</a:t>
                      </a:r>
                    </a:p>
                  </a:txBody>
                  <a:tcPr marL="54864" marR="54864" marT="27432" marB="27432">
                    <a:solidFill>
                      <a:srgbClr val="FFFFFF"/>
                    </a:solidFill>
                  </a:tcPr>
                </a:tc>
                <a:tc>
                  <a:txBody>
                    <a:bodyPr wrap="square"/>
                    <a:lstStyle/>
                    <a:p>
                      <a:pPr algn="l"/>
                      <a:r>
                        <a:rPr sz="1200" b="0">
                          <a:solidFill>
                            <a:srgbClr val="1F2A44"/>
                          </a:solidFill>
                          <a:latin typeface="Calibri"/>
                        </a:rPr>
                        <a:t>8.5% repeated · 573.0 MiB</a:t>
                      </a:r>
                    </a:p>
                  </a:txBody>
                  <a:tcPr marL="54864" marR="54864" marT="27432" marB="27432">
                    <a:solidFill>
                      <a:srgbClr val="FFFFFF"/>
                    </a:solidFill>
                  </a:tcPr>
                </a:tc>
                <a:tc>
                  <a:txBody>
                    <a:bodyPr wrap="square"/>
                    <a:lstStyle/>
                    <a:p>
                      <a:pPr algn="l"/>
                      <a:r>
                        <a:rPr sz="1200" b="0">
                          <a:solidFill>
                            <a:srgbClr val="1F2A44"/>
                          </a:solidFill>
                          <a:latin typeface="Calibri"/>
                        </a:rPr>
                        <a:t>de-duplicate in place after a keyed comparison; keep the newest row</a:t>
                      </a:r>
                    </a:p>
                  </a:txBody>
                  <a:tcPr marL="54864" marR="54864" marT="27432" marB="27432">
                    <a:solidFill>
                      <a:srgbClr val="FFFFFF"/>
                    </a:solidFill>
                  </a:tcPr>
                </a:tc>
              </a:tr>
              <a:tr h="301752">
                <a:tc>
                  <a:txBody>
                    <a:bodyPr wrap="square"/>
                    <a:lstStyle/>
                    <a:p>
                      <a:pPr algn="l"/>
                      <a:r>
                        <a:rPr sz="1200" b="0">
                          <a:solidFill>
                            <a:srgbClr val="1F2A44"/>
                          </a:solidFill>
                          <a:latin typeface="Calibri"/>
                        </a:rPr>
                        <a:t>iebc_forms/viupay.failed_jobs ↔ viupay/viupay.failed_jobs</a:t>
                      </a:r>
                    </a:p>
                  </a:txBody>
                  <a:tcPr marL="54864" marR="54864" marT="27432" marB="27432">
                    <a:solidFill>
                      <a:srgbClr val="FFFFFF"/>
                    </a:solidFill>
                  </a:tcPr>
                </a:tc>
                <a:tc>
                  <a:txBody>
                    <a:bodyPr wrap="square"/>
                    <a:lstStyle/>
                    <a:p>
                      <a:pPr algn="l"/>
                      <a:r>
                        <a:rPr sz="1200" b="0">
                          <a:solidFill>
                            <a:srgbClr val="1F2A44"/>
                          </a:solidFill>
                          <a:latin typeface="Calibri"/>
                        </a:rPr>
                        <a:t>two copies of the same table across connections</a:t>
                      </a:r>
                    </a:p>
                  </a:txBody>
                  <a:tcPr marL="54864" marR="54864" marT="27432" marB="27432">
                    <a:solidFill>
                      <a:srgbClr val="FFFFFF"/>
                    </a:solidFill>
                  </a:tcPr>
                </a:tc>
                <a:tc>
                  <a:txBody>
                    <a:bodyPr wrap="square"/>
                    <a:lstStyle/>
                    <a:p>
                      <a:pPr algn="l"/>
                      <a:r>
                        <a:rPr sz="1200" b="0">
                          <a:solidFill>
                            <a:srgbClr val="1F2A44"/>
                          </a:solidFill>
                          <a:latin typeface="Calibri"/>
                        </a:rPr>
                        <a:t>overlap 78.0% · 31.6 MiB</a:t>
                      </a:r>
                    </a:p>
                  </a:txBody>
                  <a:tcPr marL="54864" marR="54864" marT="27432" marB="27432">
                    <a:solidFill>
                      <a:srgbClr val="FFFFFF"/>
                    </a:solidFill>
                  </a:tcPr>
                </a:tc>
                <a:tc>
                  <a:txBody>
                    <a:bodyPr wrap="square"/>
                    <a:lstStyle/>
                    <a:p>
                      <a:pPr algn="l"/>
                      <a:r>
                        <a:rPr sz="1200" b="0">
                          <a:solidFill>
                            <a:srgbClr val="1F2A44"/>
                          </a:solidFill>
                          <a:latin typeface="Calibri"/>
                        </a:rPr>
                        <a:t>name one authoritative copy; retire or redirect the other</a:t>
                      </a:r>
                    </a:p>
                  </a:txBody>
                  <a:tcPr marL="54864" marR="54864" marT="27432" marB="27432">
                    <a:solidFill>
                      <a:srgbClr val="FFFFFF"/>
                    </a:solidFill>
                  </a:tcPr>
                </a:tc>
              </a:tr>
              <a:tr h="301752">
                <a:tc>
                  <a:txBody>
                    <a:bodyPr wrap="square"/>
                    <a:lstStyle/>
                    <a:p>
                      <a:pPr algn="l"/>
                      <a:r>
                        <a:rPr sz="1200" b="0">
                          <a:solidFill>
                            <a:srgbClr val="1F2A44"/>
                          </a:solidFill>
                          <a:latin typeface="Calibri"/>
                        </a:rPr>
                        <a:t>iebc_forms/viutickets.movies ↔ viupay/viutickets.movies</a:t>
                      </a:r>
                    </a:p>
                  </a:txBody>
                  <a:tcPr marL="54864" marR="54864" marT="27432" marB="27432">
                    <a:solidFill>
                      <a:srgbClr val="FFFFFF"/>
                    </a:solidFill>
                  </a:tcPr>
                </a:tc>
                <a:tc>
                  <a:txBody>
                    <a:bodyPr wrap="square"/>
                    <a:lstStyle/>
                    <a:p>
                      <a:pPr algn="l"/>
                      <a:r>
                        <a:rPr sz="1200" b="0">
                          <a:solidFill>
                            <a:srgbClr val="1F2A44"/>
                          </a:solidFill>
                          <a:latin typeface="Calibri"/>
                        </a:rPr>
                        <a:t>two copies of the same table across connections</a:t>
                      </a:r>
                    </a:p>
                  </a:txBody>
                  <a:tcPr marL="54864" marR="54864" marT="27432" marB="27432">
                    <a:solidFill>
                      <a:srgbClr val="FFFFFF"/>
                    </a:solidFill>
                  </a:tcPr>
                </a:tc>
                <a:tc>
                  <a:txBody>
                    <a:bodyPr wrap="square"/>
                    <a:lstStyle/>
                    <a:p>
                      <a:pPr algn="l"/>
                      <a:r>
                        <a:rPr sz="1200" b="0">
                          <a:solidFill>
                            <a:srgbClr val="1F2A44"/>
                          </a:solidFill>
                          <a:latin typeface="Calibri"/>
                        </a:rPr>
                        <a:t>overlap 84.0% · 6.5 MiB</a:t>
                      </a:r>
                    </a:p>
                  </a:txBody>
                  <a:tcPr marL="54864" marR="54864" marT="27432" marB="27432">
                    <a:solidFill>
                      <a:srgbClr val="FFFFFF"/>
                    </a:solidFill>
                  </a:tcPr>
                </a:tc>
                <a:tc>
                  <a:txBody>
                    <a:bodyPr wrap="square"/>
                    <a:lstStyle/>
                    <a:p>
                      <a:pPr algn="l"/>
                      <a:r>
                        <a:rPr sz="1200" b="0">
                          <a:solidFill>
                            <a:srgbClr val="1F2A44"/>
                          </a:solidFill>
                          <a:latin typeface="Calibri"/>
                        </a:rPr>
                        <a:t>name one authoritative copy; retire or redirect the other</a:t>
                      </a:r>
                    </a:p>
                  </a:txBody>
                  <a:tcPr marL="54864" marR="54864" marT="27432" marB="27432">
                    <a:solidFill>
                      <a:srgbClr val="FFFFFF"/>
                    </a:solidFill>
                  </a:tcPr>
                </a:tc>
              </a:tr>
              <a:tr h="301752">
                <a:tc>
                  <a:txBody>
                    <a:bodyPr wrap="square"/>
                    <a:lstStyle/>
                    <a:p>
                      <a:pPr algn="l"/>
                      <a:r>
                        <a:rPr sz="1200" b="0">
                          <a:solidFill>
                            <a:srgbClr val="1F2A44"/>
                          </a:solidFill>
                          <a:latin typeface="Calibri"/>
                        </a:rPr>
                        <a:t>iebc_forms/viutickets.ussd_hits ↔ viupay/viutickets.ussd_hits</a:t>
                      </a:r>
                    </a:p>
                  </a:txBody>
                  <a:tcPr marL="54864" marR="54864" marT="27432" marB="27432">
                    <a:solidFill>
                      <a:srgbClr val="FFFFFF"/>
                    </a:solidFill>
                  </a:tcPr>
                </a:tc>
                <a:tc>
                  <a:txBody>
                    <a:bodyPr wrap="square"/>
                    <a:lstStyle/>
                    <a:p>
                      <a:pPr algn="l"/>
                      <a:r>
                        <a:rPr sz="1200" b="0">
                          <a:solidFill>
                            <a:srgbClr val="1F2A44"/>
                          </a:solidFill>
                          <a:latin typeface="Calibri"/>
                        </a:rPr>
                        <a:t>two copies of the same table across connections</a:t>
                      </a:r>
                    </a:p>
                  </a:txBody>
                  <a:tcPr marL="54864" marR="54864" marT="27432" marB="27432">
                    <a:solidFill>
                      <a:srgbClr val="FFFFFF"/>
                    </a:solidFill>
                  </a:tcPr>
                </a:tc>
                <a:tc>
                  <a:txBody>
                    <a:bodyPr wrap="square"/>
                    <a:lstStyle/>
                    <a:p>
                      <a:pPr algn="l"/>
                      <a:r>
                        <a:rPr sz="1200" b="0">
                          <a:solidFill>
                            <a:srgbClr val="1F2A44"/>
                          </a:solidFill>
                          <a:latin typeface="Calibri"/>
                        </a:rPr>
                        <a:t>overlap 100.0% · 6.5 MiB</a:t>
                      </a:r>
                    </a:p>
                  </a:txBody>
                  <a:tcPr marL="54864" marR="54864" marT="27432" marB="27432">
                    <a:solidFill>
                      <a:srgbClr val="FFFFFF"/>
                    </a:solidFill>
                  </a:tcPr>
                </a:tc>
                <a:tc>
                  <a:txBody>
                    <a:bodyPr wrap="square"/>
                    <a:lstStyle/>
                    <a:p>
                      <a:pPr algn="l"/>
                      <a:r>
                        <a:rPr sz="1200" b="0">
                          <a:solidFill>
                            <a:srgbClr val="1F2A44"/>
                          </a:solidFill>
                          <a:latin typeface="Calibri"/>
                        </a:rPr>
                        <a:t>name one authoritative copy; retire or redirect the other</a:t>
                      </a:r>
                    </a:p>
                  </a:txBody>
                  <a:tcPr marL="54864" marR="54864" marT="27432" marB="27432">
                    <a:solidFill>
                      <a:srgbClr val="FFFFFF"/>
                    </a:solidFill>
                  </a:tcPr>
                </a:tc>
              </a:tr>
              <a:tr h="301752">
                <a:tc>
                  <a:txBody>
                    <a:bodyPr wrap="square"/>
                    <a:lstStyle/>
                    <a:p>
                      <a:pPr algn="l"/>
                      <a:r>
                        <a:rPr sz="1200" b="0">
                          <a:solidFill>
                            <a:srgbClr val="1F2A44"/>
                          </a:solidFill>
                          <a:latin typeface="Calibri"/>
                        </a:rPr>
                        <a:t>iebc_forms/viutickets.payment_processings ↔ viupay/viutickets.payment_processings</a:t>
                      </a:r>
                    </a:p>
                  </a:txBody>
                  <a:tcPr marL="54864" marR="54864" marT="27432" marB="27432">
                    <a:solidFill>
                      <a:srgbClr val="FFFFFF"/>
                    </a:solidFill>
                  </a:tcPr>
                </a:tc>
                <a:tc>
                  <a:txBody>
                    <a:bodyPr wrap="square"/>
                    <a:lstStyle/>
                    <a:p>
                      <a:pPr algn="l"/>
                      <a:r>
                        <a:rPr sz="1200" b="0">
                          <a:solidFill>
                            <a:srgbClr val="1F2A44"/>
                          </a:solidFill>
                          <a:latin typeface="Calibri"/>
                        </a:rPr>
                        <a:t>two copies of the same table across connections</a:t>
                      </a:r>
                    </a:p>
                  </a:txBody>
                  <a:tcPr marL="54864" marR="54864" marT="27432" marB="27432">
                    <a:solidFill>
                      <a:srgbClr val="FFFFFF"/>
                    </a:solidFill>
                  </a:tcPr>
                </a:tc>
                <a:tc>
                  <a:txBody>
                    <a:bodyPr wrap="square"/>
                    <a:lstStyle/>
                    <a:p>
                      <a:pPr algn="l"/>
                      <a:r>
                        <a:rPr sz="1200" b="0">
                          <a:solidFill>
                            <a:srgbClr val="1F2A44"/>
                          </a:solidFill>
                          <a:latin typeface="Calibri"/>
                        </a:rPr>
                        <a:t>overlap 65.0% · 4.5 MiB</a:t>
                      </a:r>
                    </a:p>
                  </a:txBody>
                  <a:tcPr marL="54864" marR="54864" marT="27432" marB="27432">
                    <a:solidFill>
                      <a:srgbClr val="FFFFFF"/>
                    </a:solidFill>
                  </a:tcPr>
                </a:tc>
                <a:tc>
                  <a:txBody>
                    <a:bodyPr wrap="square"/>
                    <a:lstStyle/>
                    <a:p>
                      <a:pPr algn="l"/>
                      <a:r>
                        <a:rPr sz="1200" b="0">
                          <a:solidFill>
                            <a:srgbClr val="1F2A44"/>
                          </a:solidFill>
                          <a:latin typeface="Calibri"/>
                        </a:rPr>
                        <a:t>name one authoritative copy; retire or redirect the other</a:t>
                      </a:r>
                    </a:p>
                  </a:txBody>
                  <a:tcPr marL="54864" marR="54864" marT="27432" marB="27432">
                    <a:solidFill>
                      <a:srgbClr val="FFFFFF"/>
                    </a:solidFill>
                  </a:tcPr>
                </a:tc>
              </a:tr>
              <a:tr h="301752">
                <a:tc>
                  <a:txBody>
                    <a:bodyPr wrap="square"/>
                    <a:lstStyle/>
                    <a:p>
                      <a:pPr algn="l"/>
                      <a:r>
                        <a:rPr sz="1200" b="0">
                          <a:solidFill>
                            <a:srgbClr val="1F2A44"/>
                          </a:solidFill>
                          <a:latin typeface="Calibri"/>
                        </a:rPr>
                        <a:t>iebc_forms/viupay.payment_requests ↔ viupay/viupay.payment_requests</a:t>
                      </a:r>
                    </a:p>
                  </a:txBody>
                  <a:tcPr marL="54864" marR="54864" marT="27432" marB="27432">
                    <a:solidFill>
                      <a:srgbClr val="FFFFFF"/>
                    </a:solidFill>
                  </a:tcPr>
                </a:tc>
                <a:tc>
                  <a:txBody>
                    <a:bodyPr wrap="square"/>
                    <a:lstStyle/>
                    <a:p>
                      <a:pPr algn="l"/>
                      <a:r>
                        <a:rPr sz="1200" b="0">
                          <a:solidFill>
                            <a:srgbClr val="1F2A44"/>
                          </a:solidFill>
                          <a:latin typeface="Calibri"/>
                        </a:rPr>
                        <a:t>two copies of the same table across connections</a:t>
                      </a:r>
                    </a:p>
                  </a:txBody>
                  <a:tcPr marL="54864" marR="54864" marT="27432" marB="27432">
                    <a:solidFill>
                      <a:srgbClr val="FFFFFF"/>
                    </a:solidFill>
                  </a:tcPr>
                </a:tc>
                <a:tc>
                  <a:txBody>
                    <a:bodyPr wrap="square"/>
                    <a:lstStyle/>
                    <a:p>
                      <a:pPr algn="l"/>
                      <a:r>
                        <a:rPr sz="1200" b="0">
                          <a:solidFill>
                            <a:srgbClr val="1F2A44"/>
                          </a:solidFill>
                          <a:latin typeface="Calibri"/>
                        </a:rPr>
                        <a:t>overlap 50.0% · 3.5 MiB</a:t>
                      </a:r>
                    </a:p>
                  </a:txBody>
                  <a:tcPr marL="54864" marR="54864" marT="27432" marB="27432">
                    <a:solidFill>
                      <a:srgbClr val="FFFFFF"/>
                    </a:solidFill>
                  </a:tcPr>
                </a:tc>
                <a:tc>
                  <a:txBody>
                    <a:bodyPr wrap="square"/>
                    <a:lstStyle/>
                    <a:p>
                      <a:pPr algn="l"/>
                      <a:r>
                        <a:rPr sz="1200" b="0">
                          <a:solidFill>
                            <a:srgbClr val="1F2A44"/>
                          </a:solidFill>
                          <a:latin typeface="Calibri"/>
                        </a:rPr>
                        <a:t>name one authoritative copy; retire or redirect the other</a:t>
                      </a:r>
                    </a:p>
                  </a:txBody>
                  <a:tcPr marL="54864" marR="54864" marT="27432" marB="27432">
                    <a:solidFill>
                      <a:srgbClr val="FFFFFF"/>
                    </a:solidFill>
                  </a:tcPr>
                </a:tc>
              </a:tr>
              <a:tr h="301752">
                <a:tc>
                  <a:txBody>
                    <a:bodyPr wrap="square"/>
                    <a:lstStyle/>
                    <a:p>
                      <a:pPr algn="l"/>
                      <a:r>
                        <a:rPr sz="1200" b="0">
                          <a:solidFill>
                            <a:srgbClr val="1F2A44"/>
                          </a:solidFill>
                          <a:latin typeface="Calibri"/>
                        </a:rPr>
                        <a:t>iebc_forms/viutickets.movie_shows ↔ viupay/viutickets.movie_shows</a:t>
                      </a:r>
                    </a:p>
                  </a:txBody>
                  <a:tcPr marL="54864" marR="54864" marT="27432" marB="27432">
                    <a:solidFill>
                      <a:srgbClr val="FFFFFF"/>
                    </a:solidFill>
                  </a:tcPr>
                </a:tc>
                <a:tc>
                  <a:txBody>
                    <a:bodyPr wrap="square"/>
                    <a:lstStyle/>
                    <a:p>
                      <a:pPr algn="l"/>
                      <a:r>
                        <a:rPr sz="1200" b="0">
                          <a:solidFill>
                            <a:srgbClr val="1F2A44"/>
                          </a:solidFill>
                          <a:latin typeface="Calibri"/>
                        </a:rPr>
                        <a:t>two copies of the same table across connections</a:t>
                      </a:r>
                    </a:p>
                  </a:txBody>
                  <a:tcPr marL="54864" marR="54864" marT="27432" marB="27432">
                    <a:solidFill>
                      <a:srgbClr val="FFFFFF"/>
                    </a:solidFill>
                  </a:tcPr>
                </a:tc>
                <a:tc>
                  <a:txBody>
                    <a:bodyPr wrap="square"/>
                    <a:lstStyle/>
                    <a:p>
                      <a:pPr algn="l"/>
                      <a:r>
                        <a:rPr sz="1200" b="0">
                          <a:solidFill>
                            <a:srgbClr val="1F2A44"/>
                          </a:solidFill>
                          <a:latin typeface="Calibri"/>
                        </a:rPr>
                        <a:t>overlap 80.0% · 3.5 MiB</a:t>
                      </a:r>
                    </a:p>
                  </a:txBody>
                  <a:tcPr marL="54864" marR="54864" marT="27432" marB="27432">
                    <a:solidFill>
                      <a:srgbClr val="FFFFFF"/>
                    </a:solidFill>
                  </a:tcPr>
                </a:tc>
                <a:tc>
                  <a:txBody>
                    <a:bodyPr wrap="square"/>
                    <a:lstStyle/>
                    <a:p>
                      <a:pPr algn="l"/>
                      <a:r>
                        <a:rPr sz="1200" b="0">
                          <a:solidFill>
                            <a:srgbClr val="1F2A44"/>
                          </a:solidFill>
                          <a:latin typeface="Calibri"/>
                        </a:rPr>
                        <a:t>name one authoritative copy; retire or redirect the other</a:t>
                      </a:r>
                    </a:p>
                  </a:txBody>
                  <a:tcPr marL="54864" marR="54864" marT="27432" marB="2743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C8102E"/>
                </a:solidFill>
                <a:latin typeface="Calibri"/>
              </a:rPr>
              <a:t>Each row names a table the census measured and the finding that puts it on the list; the bytes column is the strategy total the table belongs to, not the table alone.</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[measured]  Receipt R02: Estate intelligence census eij-1b359b3cbd2e, cost_strategies priced at reference list prices, not the owner's invoice: Huawei Cloud RDS for MySQL cloud SSD AF-Johannesburg 0.00015 USD/GB-hour x 730 h; OBS Standard 0.023 USD/GB-month</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EVIDENCE BY NAME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Exact file shares (NAS) enumerated</a:t>
            </a:r>
          </a:p>
        </p:txBody>
      </p:sp>
      <p:graphicFrame>
        <p:nvGraphicFramePr>
          <p:cNvPr id="4" name="Table 3"/>
          <p:cNvGraphicFramePr>
            <a:graphicFrameLocks noGrp="1"/>
          </p:cNvGraphicFramePr>
          <p:nvPr/>
        </p:nvGraphicFramePr>
        <p:xfrm>
          <a:off x="594360" y="1920240"/>
          <a:ext cx="11002972" cy="3017520"/>
        </p:xfrm>
        <a:graphic>
          <a:graphicData uri="http://schemas.openxmlformats.org/drawingml/2006/table">
            <a:tbl>
              <a:tblPr firstRow="1" bandRow="1">
                <a:tableStyleId>{5C22544A-7EE6-4342-B048-85BDC9FD1C3A}</a:tableStyleId>
              </a:tblPr>
              <a:tblGrid>
                <a:gridCol w="1108213"/>
                <a:gridCol w="1108213"/>
                <a:gridCol w="1108213"/>
                <a:gridCol w="1108213"/>
                <a:gridCol w="1108213"/>
                <a:gridCol w="2137268"/>
                <a:gridCol w="3324639"/>
              </a:tblGrid>
              <a:tr h="301752">
                <a:tc>
                  <a:txBody>
                    <a:bodyPr wrap="square"/>
                    <a:lstStyle/>
                    <a:p>
                      <a:pPr algn="l"/>
                      <a:r>
                        <a:rPr sz="1100" b="1">
                          <a:solidFill>
                            <a:srgbClr val="1F2A44"/>
                          </a:solidFill>
                          <a:latin typeface="Calibri"/>
                        </a:rPr>
                        <a:t>Share</a:t>
                      </a:r>
                    </a:p>
                  </a:txBody>
                  <a:tcPr marL="54864" marR="54864" marT="27432" marB="27432">
                    <a:solidFill>
                      <a:srgbClr val="E9ECF1"/>
                    </a:solidFill>
                  </a:tcPr>
                </a:tc>
                <a:tc>
                  <a:txBody>
                    <a:bodyPr wrap="square"/>
                    <a:lstStyle/>
                    <a:p>
                      <a:pPr algn="l"/>
                      <a:r>
                        <a:rPr sz="1100" b="1">
                          <a:solidFill>
                            <a:srgbClr val="1F2A44"/>
                          </a:solidFill>
                          <a:latin typeface="Calibri"/>
                        </a:rPr>
                        <a:t>Enumeration</a:t>
                      </a:r>
                    </a:p>
                  </a:txBody>
                  <a:tcPr marL="54864" marR="54864" marT="27432" marB="27432">
                    <a:solidFill>
                      <a:srgbClr val="E9ECF1"/>
                    </a:solidFill>
                  </a:tcPr>
                </a:tc>
                <a:tc>
                  <a:txBody>
                    <a:bodyPr wrap="square"/>
                    <a:lstStyle/>
                    <a:p>
                      <a:pPr algn="l"/>
                      <a:r>
                        <a:rPr sz="1100" b="1">
                          <a:solidFill>
                            <a:srgbClr val="1F2A44"/>
                          </a:solidFill>
                          <a:latin typeface="Calibri"/>
                        </a:rPr>
                        <a:t>Held (TiB)</a:t>
                      </a:r>
                    </a:p>
                  </a:txBody>
                  <a:tcPr marL="54864" marR="54864" marT="27432" marB="27432">
                    <a:solidFill>
                      <a:srgbClr val="E9ECF1"/>
                    </a:solidFill>
                  </a:tcPr>
                </a:tc>
                <a:tc>
                  <a:txBody>
                    <a:bodyPr wrap="square"/>
                    <a:lstStyle/>
                    <a:p>
                      <a:pPr algn="l"/>
                      <a:r>
                        <a:rPr sz="1100" b="1">
                          <a:solidFill>
                            <a:srgbClr val="1F2A44"/>
                          </a:solidFill>
                          <a:latin typeface="Calibri"/>
                        </a:rPr>
                        <a:t>Files</a:t>
                      </a:r>
                    </a:p>
                  </a:txBody>
                  <a:tcPr marL="54864" marR="54864" marT="27432" marB="27432">
                    <a:solidFill>
                      <a:srgbClr val="E9ECF1"/>
                    </a:solidFill>
                  </a:tcPr>
                </a:tc>
                <a:tc>
                  <a:txBody>
                    <a:bodyPr wrap="square"/>
                    <a:lstStyle/>
                    <a:p>
                      <a:pPr algn="l"/>
                      <a:r>
                        <a:rPr sz="1100" b="1">
                          <a:solidFill>
                            <a:srgbClr val="1F2A44"/>
                          </a:solidFill>
                          <a:latin typeface="Calibri"/>
                        </a:rPr>
                        <a:t>Last write</a:t>
                      </a:r>
                    </a:p>
                  </a:txBody>
                  <a:tcPr marL="54864" marR="54864" marT="27432" marB="27432">
                    <a:solidFill>
                      <a:srgbClr val="E9ECF1"/>
                    </a:solidFill>
                  </a:tcPr>
                </a:tc>
                <a:tc>
                  <a:txBody>
                    <a:bodyPr wrap="square"/>
                    <a:lstStyle/>
                    <a:p>
                      <a:pPr algn="l"/>
                      <a:r>
                        <a:rPr sz="1100" b="1">
                          <a:solidFill>
                            <a:srgbClr val="1F2A44"/>
                          </a:solidFill>
                          <a:latin typeface="Calibri"/>
                        </a:rPr>
                        <a:t>Main formats</a:t>
                      </a:r>
                    </a:p>
                  </a:txBody>
                  <a:tcPr marL="54864" marR="54864" marT="27432" marB="27432">
                    <a:solidFill>
                      <a:srgbClr val="E9ECF1"/>
                    </a:solidFill>
                  </a:tcPr>
                </a:tc>
                <a:tc>
                  <a:txBody>
                    <a:bodyPr wrap="square"/>
                    <a:lstStyle/>
                    <a:p>
                      <a:pPr algn="l"/>
                      <a:r>
                        <a:rPr sz="1100" b="1">
                          <a:solidFill>
                            <a:srgbClr val="1F2A44"/>
                          </a:solidFill>
                          <a:latin typeface="Calibri"/>
                        </a:rPr>
                        <a:t>Proposed action</a:t>
                      </a:r>
                    </a:p>
                  </a:txBody>
                  <a:tcPr marL="54864" marR="54864" marT="27432" marB="27432">
                    <a:solidFill>
                      <a:srgbClr val="E9ECF1"/>
                    </a:solidFill>
                  </a:tcPr>
                </a:tc>
              </a:tr>
              <a:tr h="301752">
                <a:tc>
                  <a:txBody>
                    <a:bodyPr wrap="square"/>
                    <a:lstStyle/>
                    <a:p>
                      <a:pPr algn="l"/>
                      <a:r>
                        <a:rPr sz="1100" b="0">
                          <a:solidFill>
                            <a:srgbClr val="1F2A44"/>
                          </a:solidFill>
                          <a:latin typeface="Calibri"/>
                        </a:rPr>
                        <a:t>channel01</a:t>
                      </a:r>
                    </a:p>
                  </a:txBody>
                  <a:tcPr marL="54864" marR="54864" marT="27432" marB="27432">
                    <a:solidFill>
                      <a:srgbClr val="FFFFFF"/>
                    </a:solidFill>
                  </a:tcPr>
                </a:tc>
                <a:tc>
                  <a:txBody>
                    <a:bodyPr wrap="square"/>
                    <a:lstStyle/>
                    <a:p>
                      <a:pPr algn="l"/>
                      <a:r>
                        <a:rPr sz="1100" b="0">
                          <a:solidFill>
                            <a:srgbClr val="1F2A44"/>
                          </a:solidFill>
                          <a:latin typeface="Calibri"/>
                        </a:rPr>
                        <a:t>complete</a:t>
                      </a:r>
                    </a:p>
                  </a:txBody>
                  <a:tcPr marL="54864" marR="54864" marT="27432" marB="27432">
                    <a:solidFill>
                      <a:srgbClr val="FFFFFF"/>
                    </a:solidFill>
                  </a:tcPr>
                </a:tc>
                <a:tc>
                  <a:txBody>
                    <a:bodyPr wrap="square"/>
                    <a:lstStyle/>
                    <a:p>
                      <a:pPr algn="r"/>
                      <a:r>
                        <a:rPr sz="1100" b="0">
                          <a:solidFill>
                            <a:srgbClr val="1F2A44"/>
                          </a:solidFill>
                          <a:latin typeface="Courier New"/>
                        </a:rPr>
                        <a:t>6.87</a:t>
                      </a:r>
                    </a:p>
                  </a:txBody>
                  <a:tcPr marL="54864" marR="54864" marT="27432" marB="27432">
                    <a:solidFill>
                      <a:srgbClr val="FFFFFF"/>
                    </a:solidFill>
                  </a:tcPr>
                </a:tc>
                <a:tc>
                  <a:txBody>
                    <a:bodyPr wrap="square"/>
                    <a:lstStyle/>
                    <a:p>
                      <a:pPr algn="r"/>
                      <a:r>
                        <a:rPr sz="1100" b="0">
                          <a:solidFill>
                            <a:srgbClr val="1F2A44"/>
                          </a:solidFill>
                          <a:latin typeface="Courier New"/>
                        </a:rPr>
                        <a:t>95,122</a:t>
                      </a:r>
                    </a:p>
                  </a:txBody>
                  <a:tcPr marL="54864" marR="54864" marT="27432" marB="27432">
                    <a:solidFill>
                      <a:srgbClr val="FFFFFF"/>
                    </a:solidFill>
                  </a:tcPr>
                </a:tc>
                <a:tc>
                  <a:txBody>
                    <a:bodyPr wrap="square"/>
                    <a:lstStyle/>
                    <a:p>
                      <a:pPr algn="r"/>
                      <a:r>
                        <a:rPr sz="1100" b="0">
                          <a:solidFill>
                            <a:srgbClr val="1F2A44"/>
                          </a:solidFill>
                          <a:latin typeface="Courier New"/>
                        </a:rPr>
                        <a:t>2026-09-29</a:t>
                      </a:r>
                    </a:p>
                  </a:txBody>
                  <a:tcPr marL="54864" marR="54864" marT="27432" marB="27432">
                    <a:solidFill>
                      <a:srgbClr val="FFFFFF"/>
                    </a:solidFill>
                  </a:tcPr>
                </a:tc>
                <a:tc>
                  <a:txBody>
                    <a:bodyPr wrap="square"/>
                    <a:lstStyle/>
                    <a:p>
                      <a:pPr algn="r"/>
                      <a:r>
                        <a:rPr sz="1100" b="0">
                          <a:solidFill>
                            <a:srgbClr val="1F2A44"/>
                          </a:solidFill>
                          <a:latin typeface="Courier New"/>
                        </a:rPr>
                        <a:t>.mp4 95,108, .rmd 6, .mpt 3</a:t>
                      </a:r>
                    </a:p>
                  </a:txBody>
                  <a:tcPr marL="54864" marR="54864" marT="27432" marB="27432">
                    <a:solidFill>
                      <a:srgbClr val="FFFFFF"/>
                    </a:solidFill>
                  </a:tcPr>
                </a:tc>
                <a:tc>
                  <a:txBody>
                    <a:bodyPr wrap="square"/>
                    <a:lstStyle/>
                    <a:p>
                      <a:pPr algn="r"/>
                      <a:r>
                        <a:rPr sz="1100" b="0">
                          <a:solidFill>
                            <a:srgbClr val="1F2A44"/>
                          </a:solidFill>
                          <a:latin typeface="Courier New"/>
                        </a:rPr>
                        <a:t>fingerprint pass to measure duplication; then tier by channel</a:t>
                      </a:r>
                    </a:p>
                  </a:txBody>
                  <a:tcPr marL="54864" marR="54864" marT="27432" marB="27432">
                    <a:solidFill>
                      <a:srgbClr val="FFFFFF"/>
                    </a:solidFill>
                  </a:tcPr>
                </a:tc>
              </a:tr>
              <a:tr h="301752">
                <a:tc>
                  <a:txBody>
                    <a:bodyPr wrap="square"/>
                    <a:lstStyle/>
                    <a:p>
                      <a:pPr algn="l"/>
                      <a:r>
                        <a:rPr sz="1100" b="0">
                          <a:solidFill>
                            <a:srgbClr val="1F2A44"/>
                          </a:solidFill>
                          <a:latin typeface="Calibri"/>
                        </a:rPr>
                        <a:t>channel02</a:t>
                      </a:r>
                    </a:p>
                  </a:txBody>
                  <a:tcPr marL="54864" marR="54864" marT="27432" marB="27432">
                    <a:solidFill>
                      <a:srgbClr val="FFFFFF"/>
                    </a:solidFill>
                  </a:tcPr>
                </a:tc>
                <a:tc>
                  <a:txBody>
                    <a:bodyPr wrap="square"/>
                    <a:lstStyle/>
                    <a:p>
                      <a:pPr algn="l"/>
                      <a:r>
                        <a:rPr sz="1100" b="0">
                          <a:solidFill>
                            <a:srgbClr val="1F2A44"/>
                          </a:solidFill>
                          <a:latin typeface="Calibri"/>
                        </a:rPr>
                        <a:t>complete</a:t>
                      </a:r>
                    </a:p>
                  </a:txBody>
                  <a:tcPr marL="54864" marR="54864" marT="27432" marB="27432">
                    <a:solidFill>
                      <a:srgbClr val="FFFFFF"/>
                    </a:solidFill>
                  </a:tcPr>
                </a:tc>
                <a:tc>
                  <a:txBody>
                    <a:bodyPr wrap="square"/>
                    <a:lstStyle/>
                    <a:p>
                      <a:pPr algn="r"/>
                      <a:r>
                        <a:rPr sz="1100" b="0">
                          <a:solidFill>
                            <a:srgbClr val="1F2A44"/>
                          </a:solidFill>
                          <a:latin typeface="Courier New"/>
                        </a:rPr>
                        <a:t>6.87</a:t>
                      </a:r>
                    </a:p>
                  </a:txBody>
                  <a:tcPr marL="54864" marR="54864" marT="27432" marB="27432">
                    <a:solidFill>
                      <a:srgbClr val="FFFFFF"/>
                    </a:solidFill>
                  </a:tcPr>
                </a:tc>
                <a:tc>
                  <a:txBody>
                    <a:bodyPr wrap="square"/>
                    <a:lstStyle/>
                    <a:p>
                      <a:pPr algn="r"/>
                      <a:r>
                        <a:rPr sz="1100" b="0">
                          <a:solidFill>
                            <a:srgbClr val="1F2A44"/>
                          </a:solidFill>
                          <a:latin typeface="Courier New"/>
                        </a:rPr>
                        <a:t>95,134</a:t>
                      </a:r>
                    </a:p>
                  </a:txBody>
                  <a:tcPr marL="54864" marR="54864" marT="27432" marB="27432">
                    <a:solidFill>
                      <a:srgbClr val="FFFFFF"/>
                    </a:solidFill>
                  </a:tcPr>
                </a:tc>
                <a:tc>
                  <a:txBody>
                    <a:bodyPr wrap="square"/>
                    <a:lstStyle/>
                    <a:p>
                      <a:pPr algn="r"/>
                      <a:r>
                        <a:rPr sz="1100" b="0">
                          <a:solidFill>
                            <a:srgbClr val="1F2A44"/>
                          </a:solidFill>
                          <a:latin typeface="Courier New"/>
                        </a:rPr>
                        <a:t>2026-09-29</a:t>
                      </a:r>
                    </a:p>
                  </a:txBody>
                  <a:tcPr marL="54864" marR="54864" marT="27432" marB="27432">
                    <a:solidFill>
                      <a:srgbClr val="FFFFFF"/>
                    </a:solidFill>
                  </a:tcPr>
                </a:tc>
                <a:tc>
                  <a:txBody>
                    <a:bodyPr wrap="square"/>
                    <a:lstStyle/>
                    <a:p>
                      <a:pPr algn="r"/>
                      <a:r>
                        <a:rPr sz="1100" b="0">
                          <a:solidFill>
                            <a:srgbClr val="1F2A44"/>
                          </a:solidFill>
                          <a:latin typeface="Courier New"/>
                        </a:rPr>
                        <a:t>.mp4 95,129, .db 1, .jpg 1</a:t>
                      </a:r>
                    </a:p>
                  </a:txBody>
                  <a:tcPr marL="54864" marR="54864" marT="27432" marB="27432">
                    <a:solidFill>
                      <a:srgbClr val="FFFFFF"/>
                    </a:solidFill>
                  </a:tcPr>
                </a:tc>
                <a:tc>
                  <a:txBody>
                    <a:bodyPr wrap="square"/>
                    <a:lstStyle/>
                    <a:p>
                      <a:pPr algn="r"/>
                      <a:r>
                        <a:rPr sz="1100" b="0">
                          <a:solidFill>
                            <a:srgbClr val="1F2A44"/>
                          </a:solidFill>
                          <a:latin typeface="Courier New"/>
                        </a:rPr>
                        <a:t>fingerprint pass to measure duplication; then tier by channel</a:t>
                      </a:r>
                    </a:p>
                  </a:txBody>
                  <a:tcPr marL="54864" marR="54864" marT="27432" marB="27432">
                    <a:solidFill>
                      <a:srgbClr val="FFFFFF"/>
                    </a:solidFill>
                  </a:tcPr>
                </a:tc>
              </a:tr>
              <a:tr h="301752">
                <a:tc>
                  <a:txBody>
                    <a:bodyPr wrap="square"/>
                    <a:lstStyle/>
                    <a:p>
                      <a:pPr algn="l"/>
                      <a:r>
                        <a:rPr sz="1100" b="0">
                          <a:solidFill>
                            <a:srgbClr val="1F2A44"/>
                          </a:solidFill>
                          <a:latin typeface="Calibri"/>
                        </a:rPr>
                        <a:t>channel16</a:t>
                      </a:r>
                    </a:p>
                  </a:txBody>
                  <a:tcPr marL="54864" marR="54864" marT="27432" marB="27432">
                    <a:solidFill>
                      <a:srgbClr val="FFFFFF"/>
                    </a:solidFill>
                  </a:tcPr>
                </a:tc>
                <a:tc>
                  <a:txBody>
                    <a:bodyPr wrap="square"/>
                    <a:lstStyle/>
                    <a:p>
                      <a:pPr algn="l"/>
                      <a:r>
                        <a:rPr sz="1100" b="0">
                          <a:solidFill>
                            <a:srgbClr val="1F2A44"/>
                          </a:solidFill>
                          <a:latin typeface="Calibri"/>
                        </a:rPr>
                        <a:t>complete</a:t>
                      </a:r>
                    </a:p>
                  </a:txBody>
                  <a:tcPr marL="54864" marR="54864" marT="27432" marB="27432">
                    <a:solidFill>
                      <a:srgbClr val="FFFFFF"/>
                    </a:solidFill>
                  </a:tcPr>
                </a:tc>
                <a:tc>
                  <a:txBody>
                    <a:bodyPr wrap="square"/>
                    <a:lstStyle/>
                    <a:p>
                      <a:pPr algn="r"/>
                      <a:r>
                        <a:rPr sz="1100" b="0">
                          <a:solidFill>
                            <a:srgbClr val="1F2A44"/>
                          </a:solidFill>
                          <a:latin typeface="Courier New"/>
                        </a:rPr>
                        <a:t>6.81</a:t>
                      </a:r>
                    </a:p>
                  </a:txBody>
                  <a:tcPr marL="54864" marR="54864" marT="27432" marB="27432">
                    <a:solidFill>
                      <a:srgbClr val="FFFFFF"/>
                    </a:solidFill>
                  </a:tcPr>
                </a:tc>
                <a:tc>
                  <a:txBody>
                    <a:bodyPr wrap="square"/>
                    <a:lstStyle/>
                    <a:p>
                      <a:pPr algn="r"/>
                      <a:r>
                        <a:rPr sz="1100" b="0">
                          <a:solidFill>
                            <a:srgbClr val="1F2A44"/>
                          </a:solidFill>
                          <a:latin typeface="Courier New"/>
                        </a:rPr>
                        <a:t>94,597</a:t>
                      </a:r>
                    </a:p>
                  </a:txBody>
                  <a:tcPr marL="54864" marR="54864" marT="27432" marB="27432">
                    <a:solidFill>
                      <a:srgbClr val="FFFFFF"/>
                    </a:solidFill>
                  </a:tcPr>
                </a:tc>
                <a:tc>
                  <a:txBody>
                    <a:bodyPr wrap="square"/>
                    <a:lstStyle/>
                    <a:p>
                      <a:pPr algn="r"/>
                      <a:r>
                        <a:rPr sz="1100" b="0">
                          <a:solidFill>
                            <a:srgbClr val="1F2A44"/>
                          </a:solidFill>
                          <a:latin typeface="Courier New"/>
                        </a:rPr>
                        <a:t>2026-09-29</a:t>
                      </a:r>
                    </a:p>
                  </a:txBody>
                  <a:tcPr marL="54864" marR="54864" marT="27432" marB="27432">
                    <a:solidFill>
                      <a:srgbClr val="FFFFFF"/>
                    </a:solidFill>
                  </a:tcPr>
                </a:tc>
                <a:tc>
                  <a:txBody>
                    <a:bodyPr wrap="square"/>
                    <a:lstStyle/>
                    <a:p>
                      <a:pPr algn="r"/>
                      <a:r>
                        <a:rPr sz="1100" b="0">
                          <a:solidFill>
                            <a:srgbClr val="1F2A44"/>
                          </a:solidFill>
                          <a:latin typeface="Courier New"/>
                        </a:rPr>
                        <a:t>.mp4 94,592, .db 1, .jpg 1</a:t>
                      </a:r>
                    </a:p>
                  </a:txBody>
                  <a:tcPr marL="54864" marR="54864" marT="27432" marB="27432">
                    <a:solidFill>
                      <a:srgbClr val="FFFFFF"/>
                    </a:solidFill>
                  </a:tcPr>
                </a:tc>
                <a:tc>
                  <a:txBody>
                    <a:bodyPr wrap="square"/>
                    <a:lstStyle/>
                    <a:p>
                      <a:pPr algn="r"/>
                      <a:r>
                        <a:rPr sz="1100" b="0">
                          <a:solidFill>
                            <a:srgbClr val="1F2A44"/>
                          </a:solidFill>
                          <a:latin typeface="Courier New"/>
                        </a:rPr>
                        <a:t>fingerprint pass to measure duplication; then tier by channel</a:t>
                      </a:r>
                    </a:p>
                  </a:txBody>
                  <a:tcPr marL="54864" marR="54864" marT="27432" marB="27432">
                    <a:solidFill>
                      <a:srgbClr val="FFFFFF"/>
                    </a:solidFill>
                  </a:tcPr>
                </a:tc>
              </a:tr>
              <a:tr h="301752">
                <a:tc>
                  <a:txBody>
                    <a:bodyPr wrap="square"/>
                    <a:lstStyle/>
                    <a:p>
                      <a:pPr algn="l"/>
                      <a:r>
                        <a:rPr sz="1100" b="0">
                          <a:solidFill>
                            <a:srgbClr val="1F2A44"/>
                          </a:solidFill>
                          <a:latin typeface="Calibri"/>
                        </a:rPr>
                        <a:t>Channel15</a:t>
                      </a:r>
                    </a:p>
                  </a:txBody>
                  <a:tcPr marL="54864" marR="54864" marT="27432" marB="27432">
                    <a:solidFill>
                      <a:srgbClr val="FFFFFF"/>
                    </a:solidFill>
                  </a:tcPr>
                </a:tc>
                <a:tc>
                  <a:txBody>
                    <a:bodyPr wrap="square"/>
                    <a:lstStyle/>
                    <a:p>
                      <a:pPr algn="l"/>
                      <a:r>
                        <a:rPr sz="1100" b="0">
                          <a:solidFill>
                            <a:srgbClr val="1F2A44"/>
                          </a:solidFill>
                          <a:latin typeface="Calibri"/>
                        </a:rPr>
                        <a:t>partial</a:t>
                      </a:r>
                    </a:p>
                  </a:txBody>
                  <a:tcPr marL="54864" marR="54864" marT="27432" marB="27432">
                    <a:solidFill>
                      <a:srgbClr val="FFFFFF"/>
                    </a:solidFill>
                  </a:tcPr>
                </a:tc>
                <a:tc>
                  <a:txBody>
                    <a:bodyPr wrap="square"/>
                    <a:lstStyle/>
                    <a:p>
                      <a:pPr algn="r"/>
                      <a:r>
                        <a:rPr sz="1100" b="0">
                          <a:solidFill>
                            <a:srgbClr val="1F2A44"/>
                          </a:solidFill>
                          <a:latin typeface="Courier New"/>
                        </a:rPr>
                        <a:t>1.93</a:t>
                      </a:r>
                    </a:p>
                  </a:txBody>
                  <a:tcPr marL="54864" marR="54864" marT="27432" marB="27432">
                    <a:solidFill>
                      <a:srgbClr val="FFFFFF"/>
                    </a:solidFill>
                  </a:tcPr>
                </a:tc>
                <a:tc>
                  <a:txBody>
                    <a:bodyPr wrap="square"/>
                    <a:lstStyle/>
                    <a:p>
                      <a:pPr algn="r"/>
                      <a:r>
                        <a:rPr sz="1100" b="0">
                          <a:solidFill>
                            <a:srgbClr val="1F2A44"/>
                          </a:solidFill>
                          <a:latin typeface="Courier New"/>
                        </a:rPr>
                        <a:t>96,675</a:t>
                      </a:r>
                    </a:p>
                  </a:txBody>
                  <a:tcPr marL="54864" marR="54864" marT="27432" marB="27432">
                    <a:solidFill>
                      <a:srgbClr val="FFFFFF"/>
                    </a:solidFill>
                  </a:tcPr>
                </a:tc>
                <a:tc>
                  <a:txBody>
                    <a:bodyPr wrap="square"/>
                    <a:lstStyle/>
                    <a:p>
                      <a:pPr algn="r"/>
                      <a:r>
                        <a:rPr sz="1100" b="0">
                          <a:solidFill>
                            <a:srgbClr val="1F2A44"/>
                          </a:solidFill>
                          <a:latin typeface="Courier New"/>
                        </a:rPr>
                        <a:t>2026-10-02</a:t>
                      </a:r>
                    </a:p>
                  </a:txBody>
                  <a:tcPr marL="54864" marR="54864" marT="27432" marB="27432">
                    <a:solidFill>
                      <a:srgbClr val="FFFFFF"/>
                    </a:solidFill>
                  </a:tcPr>
                </a:tc>
                <a:tc>
                  <a:txBody>
                    <a:bodyPr wrap="square"/>
                    <a:lstStyle/>
                    <a:p>
                      <a:pPr algn="r"/>
                      <a:r>
                        <a:rPr sz="1100" b="0">
                          <a:solidFill>
                            <a:srgbClr val="1F2A44"/>
                          </a:solidFill>
                          <a:latin typeface="Courier New"/>
                        </a:rPr>
                        <a:t>.mp4 96,667, .rmd 3, .db 1</a:t>
                      </a:r>
                    </a:p>
                  </a:txBody>
                  <a:tcPr marL="54864" marR="54864" marT="27432" marB="27432">
                    <a:solidFill>
                      <a:srgbClr val="FFFFFF"/>
                    </a:solidFill>
                  </a:tcPr>
                </a:tc>
                <a:tc>
                  <a:txBody>
                    <a:bodyPr wrap="square"/>
                    <a:lstStyle/>
                    <a:p>
                      <a:pPr algn="r"/>
                      <a:r>
                        <a:rPr sz="1100" b="0">
                          <a:solidFill>
                            <a:srgbClr val="1F2A44"/>
                          </a:solidFill>
                          <a:latin typeface="Courier New"/>
                        </a:rPr>
                        <a:t>fingerprint pass to measure duplication; then tier by channel</a:t>
                      </a:r>
                    </a:p>
                  </a:txBody>
                  <a:tcPr marL="54864" marR="54864" marT="27432" marB="27432">
                    <a:solidFill>
                      <a:srgbClr val="FFFFFF"/>
                    </a:solidFill>
                  </a:tcPr>
                </a:tc>
              </a:tr>
              <a:tr h="301752">
                <a:tc>
                  <a:txBody>
                    <a:bodyPr wrap="square"/>
                    <a:lstStyle/>
                    <a:p>
                      <a:pPr algn="l"/>
                      <a:r>
                        <a:rPr sz="1100" b="0">
                          <a:solidFill>
                            <a:srgbClr val="1F2A44"/>
                          </a:solidFill>
                          <a:latin typeface="Calibri"/>
                        </a:rPr>
                        <a:t>Channel14</a:t>
                      </a:r>
                    </a:p>
                  </a:txBody>
                  <a:tcPr marL="54864" marR="54864" marT="27432" marB="27432">
                    <a:solidFill>
                      <a:srgbClr val="FFFFFF"/>
                    </a:solidFill>
                  </a:tcPr>
                </a:tc>
                <a:tc>
                  <a:txBody>
                    <a:bodyPr wrap="square"/>
                    <a:lstStyle/>
                    <a:p>
                      <a:pPr algn="l"/>
                      <a:r>
                        <a:rPr sz="1100" b="0">
                          <a:solidFill>
                            <a:srgbClr val="1F2A44"/>
                          </a:solidFill>
                          <a:latin typeface="Calibri"/>
                        </a:rPr>
                        <a:t>partial</a:t>
                      </a:r>
                    </a:p>
                  </a:txBody>
                  <a:tcPr marL="54864" marR="54864" marT="27432" marB="27432">
                    <a:solidFill>
                      <a:srgbClr val="FFFFFF"/>
                    </a:solidFill>
                  </a:tcPr>
                </a:tc>
                <a:tc>
                  <a:txBody>
                    <a:bodyPr wrap="square"/>
                    <a:lstStyle/>
                    <a:p>
                      <a:pPr algn="r"/>
                      <a:r>
                        <a:rPr sz="1100" b="0">
                          <a:solidFill>
                            <a:srgbClr val="1F2A44"/>
                          </a:solidFill>
                          <a:latin typeface="Courier New"/>
                        </a:rPr>
                        <a:t>1.93</a:t>
                      </a:r>
                    </a:p>
                  </a:txBody>
                  <a:tcPr marL="54864" marR="54864" marT="27432" marB="27432">
                    <a:solidFill>
                      <a:srgbClr val="FFFFFF"/>
                    </a:solidFill>
                  </a:tcPr>
                </a:tc>
                <a:tc>
                  <a:txBody>
                    <a:bodyPr wrap="square"/>
                    <a:lstStyle/>
                    <a:p>
                      <a:pPr algn="r"/>
                      <a:r>
                        <a:rPr sz="1100" b="0">
                          <a:solidFill>
                            <a:srgbClr val="1F2A44"/>
                          </a:solidFill>
                          <a:latin typeface="Courier New"/>
                        </a:rPr>
                        <a:t>96,660</a:t>
                      </a:r>
                    </a:p>
                  </a:txBody>
                  <a:tcPr marL="54864" marR="54864" marT="27432" marB="27432">
                    <a:solidFill>
                      <a:srgbClr val="FFFFFF"/>
                    </a:solidFill>
                  </a:tcPr>
                </a:tc>
                <a:tc>
                  <a:txBody>
                    <a:bodyPr wrap="square"/>
                    <a:lstStyle/>
                    <a:p>
                      <a:pPr algn="r"/>
                      <a:r>
                        <a:rPr sz="1100" b="0">
                          <a:solidFill>
                            <a:srgbClr val="1F2A44"/>
                          </a:solidFill>
                          <a:latin typeface="Courier New"/>
                        </a:rPr>
                        <a:t>2026-10-02</a:t>
                      </a:r>
                    </a:p>
                  </a:txBody>
                  <a:tcPr marL="54864" marR="54864" marT="27432" marB="27432">
                    <a:solidFill>
                      <a:srgbClr val="FFFFFF"/>
                    </a:solidFill>
                  </a:tcPr>
                </a:tc>
                <a:tc>
                  <a:txBody>
                    <a:bodyPr wrap="square"/>
                    <a:lstStyle/>
                    <a:p>
                      <a:pPr algn="r"/>
                      <a:r>
                        <a:rPr sz="1100" b="0">
                          <a:solidFill>
                            <a:srgbClr val="1F2A44"/>
                          </a:solidFill>
                          <a:latin typeface="Courier New"/>
                        </a:rPr>
                        <a:t>.mp4 96,654, .rmd 2, .db 1</a:t>
                      </a:r>
                    </a:p>
                  </a:txBody>
                  <a:tcPr marL="54864" marR="54864" marT="27432" marB="27432">
                    <a:solidFill>
                      <a:srgbClr val="FFFFFF"/>
                    </a:solidFill>
                  </a:tcPr>
                </a:tc>
                <a:tc>
                  <a:txBody>
                    <a:bodyPr wrap="square"/>
                    <a:lstStyle/>
                    <a:p>
                      <a:pPr algn="r"/>
                      <a:r>
                        <a:rPr sz="1100" b="0">
                          <a:solidFill>
                            <a:srgbClr val="1F2A44"/>
                          </a:solidFill>
                          <a:latin typeface="Courier New"/>
                        </a:rPr>
                        <a:t>fingerprint pass to measure duplication; then tier by channel</a:t>
                      </a:r>
                    </a:p>
                  </a:txBody>
                  <a:tcPr marL="54864" marR="54864" marT="27432" marB="27432">
                    <a:solidFill>
                      <a:srgbClr val="FFFFFF"/>
                    </a:solidFill>
                  </a:tcPr>
                </a:tc>
              </a:tr>
              <a:tr h="301752">
                <a:tc>
                  <a:txBody>
                    <a:bodyPr wrap="square"/>
                    <a:lstStyle/>
                    <a:p>
                      <a:pPr algn="l"/>
                      <a:r>
                        <a:rPr sz="1100" b="0">
                          <a:solidFill>
                            <a:srgbClr val="1F2A44"/>
                          </a:solidFill>
                          <a:latin typeface="Calibri"/>
                        </a:rPr>
                        <a:t>Channel11</a:t>
                      </a:r>
                    </a:p>
                  </a:txBody>
                  <a:tcPr marL="54864" marR="54864" marT="27432" marB="27432">
                    <a:solidFill>
                      <a:srgbClr val="FFFFFF"/>
                    </a:solidFill>
                  </a:tcPr>
                </a:tc>
                <a:tc>
                  <a:txBody>
                    <a:bodyPr wrap="square"/>
                    <a:lstStyle/>
                    <a:p>
                      <a:pPr algn="l"/>
                      <a:r>
                        <a:rPr sz="1100" b="0">
                          <a:solidFill>
                            <a:srgbClr val="1F2A44"/>
                          </a:solidFill>
                          <a:latin typeface="Calibri"/>
                        </a:rPr>
                        <a:t>partial</a:t>
                      </a:r>
                    </a:p>
                  </a:txBody>
                  <a:tcPr marL="54864" marR="54864" marT="27432" marB="27432">
                    <a:solidFill>
                      <a:srgbClr val="FFFFFF"/>
                    </a:solidFill>
                  </a:tcPr>
                </a:tc>
                <a:tc>
                  <a:txBody>
                    <a:bodyPr wrap="square"/>
                    <a:lstStyle/>
                    <a:p>
                      <a:pPr algn="r"/>
                      <a:r>
                        <a:rPr sz="1100" b="0">
                          <a:solidFill>
                            <a:srgbClr val="1F2A44"/>
                          </a:solidFill>
                          <a:latin typeface="Courier New"/>
                        </a:rPr>
                        <a:t>1.93</a:t>
                      </a:r>
                    </a:p>
                  </a:txBody>
                  <a:tcPr marL="54864" marR="54864" marT="27432" marB="27432">
                    <a:solidFill>
                      <a:srgbClr val="FFFFFF"/>
                    </a:solidFill>
                  </a:tcPr>
                </a:tc>
                <a:tc>
                  <a:txBody>
                    <a:bodyPr wrap="square"/>
                    <a:lstStyle/>
                    <a:p>
                      <a:pPr algn="r"/>
                      <a:r>
                        <a:rPr sz="1100" b="0">
                          <a:solidFill>
                            <a:srgbClr val="1F2A44"/>
                          </a:solidFill>
                          <a:latin typeface="Courier New"/>
                        </a:rPr>
                        <a:t>96,651</a:t>
                      </a:r>
                    </a:p>
                  </a:txBody>
                  <a:tcPr marL="54864" marR="54864" marT="27432" marB="27432">
                    <a:solidFill>
                      <a:srgbClr val="FFFFFF"/>
                    </a:solidFill>
                  </a:tcPr>
                </a:tc>
                <a:tc>
                  <a:txBody>
                    <a:bodyPr wrap="square"/>
                    <a:lstStyle/>
                    <a:p>
                      <a:pPr algn="r"/>
                      <a:r>
                        <a:rPr sz="1100" b="0">
                          <a:solidFill>
                            <a:srgbClr val="1F2A44"/>
                          </a:solidFill>
                          <a:latin typeface="Courier New"/>
                        </a:rPr>
                        <a:t>2026-10-02</a:t>
                      </a:r>
                    </a:p>
                  </a:txBody>
                  <a:tcPr marL="54864" marR="54864" marT="27432" marB="27432">
                    <a:solidFill>
                      <a:srgbClr val="FFFFFF"/>
                    </a:solidFill>
                  </a:tcPr>
                </a:tc>
                <a:tc>
                  <a:txBody>
                    <a:bodyPr wrap="square"/>
                    <a:lstStyle/>
                    <a:p>
                      <a:pPr algn="r"/>
                      <a:r>
                        <a:rPr sz="1100" b="0">
                          <a:solidFill>
                            <a:srgbClr val="1F2A44"/>
                          </a:solidFill>
                          <a:latin typeface="Courier New"/>
                        </a:rPr>
                        <a:t>.mp4 96,641, .rmd 6, .db 1</a:t>
                      </a:r>
                    </a:p>
                  </a:txBody>
                  <a:tcPr marL="54864" marR="54864" marT="27432" marB="27432">
                    <a:solidFill>
                      <a:srgbClr val="FFFFFF"/>
                    </a:solidFill>
                  </a:tcPr>
                </a:tc>
                <a:tc>
                  <a:txBody>
                    <a:bodyPr wrap="square"/>
                    <a:lstStyle/>
                    <a:p>
                      <a:pPr algn="r"/>
                      <a:r>
                        <a:rPr sz="1100" b="0">
                          <a:solidFill>
                            <a:srgbClr val="1F2A44"/>
                          </a:solidFill>
                          <a:latin typeface="Courier New"/>
                        </a:rPr>
                        <a:t>fingerprint pass to measure duplication; then tier by channel</a:t>
                      </a:r>
                    </a:p>
                  </a:txBody>
                  <a:tcPr marL="54864" marR="54864" marT="27432" marB="27432">
                    <a:solidFill>
                      <a:srgbClr val="FFFFFF"/>
                    </a:solidFill>
                  </a:tcPr>
                </a:tc>
              </a:tr>
              <a:tr h="301752">
                <a:tc>
                  <a:txBody>
                    <a:bodyPr wrap="square"/>
                    <a:lstStyle/>
                    <a:p>
                      <a:pPr algn="l"/>
                      <a:r>
                        <a:rPr sz="1100" b="0">
                          <a:solidFill>
                            <a:srgbClr val="1F2A44"/>
                          </a:solidFill>
                          <a:latin typeface="Calibri"/>
                        </a:rPr>
                        <a:t>Channel12</a:t>
                      </a:r>
                    </a:p>
                  </a:txBody>
                  <a:tcPr marL="54864" marR="54864" marT="27432" marB="27432">
                    <a:solidFill>
                      <a:srgbClr val="FFFFFF"/>
                    </a:solidFill>
                  </a:tcPr>
                </a:tc>
                <a:tc>
                  <a:txBody>
                    <a:bodyPr wrap="square"/>
                    <a:lstStyle/>
                    <a:p>
                      <a:pPr algn="l"/>
                      <a:r>
                        <a:rPr sz="1100" b="0">
                          <a:solidFill>
                            <a:srgbClr val="1F2A44"/>
                          </a:solidFill>
                          <a:latin typeface="Calibri"/>
                        </a:rPr>
                        <a:t>partial</a:t>
                      </a:r>
                    </a:p>
                  </a:txBody>
                  <a:tcPr marL="54864" marR="54864" marT="27432" marB="27432">
                    <a:solidFill>
                      <a:srgbClr val="FFFFFF"/>
                    </a:solidFill>
                  </a:tcPr>
                </a:tc>
                <a:tc>
                  <a:txBody>
                    <a:bodyPr wrap="square"/>
                    <a:lstStyle/>
                    <a:p>
                      <a:pPr algn="r"/>
                      <a:r>
                        <a:rPr sz="1100" b="0">
                          <a:solidFill>
                            <a:srgbClr val="1F2A44"/>
                          </a:solidFill>
                          <a:latin typeface="Courier New"/>
                        </a:rPr>
                        <a:t>1.93</a:t>
                      </a:r>
                    </a:p>
                  </a:txBody>
                  <a:tcPr marL="54864" marR="54864" marT="27432" marB="27432">
                    <a:solidFill>
                      <a:srgbClr val="FFFFFF"/>
                    </a:solidFill>
                  </a:tcPr>
                </a:tc>
                <a:tc>
                  <a:txBody>
                    <a:bodyPr wrap="square"/>
                    <a:lstStyle/>
                    <a:p>
                      <a:pPr algn="r"/>
                      <a:r>
                        <a:rPr sz="1100" b="0">
                          <a:solidFill>
                            <a:srgbClr val="1F2A44"/>
                          </a:solidFill>
                          <a:latin typeface="Courier New"/>
                        </a:rPr>
                        <a:t>96,658</a:t>
                      </a:r>
                    </a:p>
                  </a:txBody>
                  <a:tcPr marL="54864" marR="54864" marT="27432" marB="27432">
                    <a:solidFill>
                      <a:srgbClr val="FFFFFF"/>
                    </a:solidFill>
                  </a:tcPr>
                </a:tc>
                <a:tc>
                  <a:txBody>
                    <a:bodyPr wrap="square"/>
                    <a:lstStyle/>
                    <a:p>
                      <a:pPr algn="r"/>
                      <a:r>
                        <a:rPr sz="1100" b="0">
                          <a:solidFill>
                            <a:srgbClr val="1F2A44"/>
                          </a:solidFill>
                          <a:latin typeface="Courier New"/>
                        </a:rPr>
                        <a:t>2026-10-02</a:t>
                      </a:r>
                    </a:p>
                  </a:txBody>
                  <a:tcPr marL="54864" marR="54864" marT="27432" marB="27432">
                    <a:solidFill>
                      <a:srgbClr val="FFFFFF"/>
                    </a:solidFill>
                  </a:tcPr>
                </a:tc>
                <a:tc>
                  <a:txBody>
                    <a:bodyPr wrap="square"/>
                    <a:lstStyle/>
                    <a:p>
                      <a:pPr algn="r"/>
                      <a:r>
                        <a:rPr sz="1100" b="0">
                          <a:solidFill>
                            <a:srgbClr val="1F2A44"/>
                          </a:solidFill>
                          <a:latin typeface="Courier New"/>
                        </a:rPr>
                        <a:t>.mp4 96,648, .rmd 6, .db 1</a:t>
                      </a:r>
                    </a:p>
                  </a:txBody>
                  <a:tcPr marL="54864" marR="54864" marT="27432" marB="27432">
                    <a:solidFill>
                      <a:srgbClr val="FFFFFF"/>
                    </a:solidFill>
                  </a:tcPr>
                </a:tc>
                <a:tc>
                  <a:txBody>
                    <a:bodyPr wrap="square"/>
                    <a:lstStyle/>
                    <a:p>
                      <a:pPr algn="r"/>
                      <a:r>
                        <a:rPr sz="1100" b="0">
                          <a:solidFill>
                            <a:srgbClr val="1F2A44"/>
                          </a:solidFill>
                          <a:latin typeface="Courier New"/>
                        </a:rPr>
                        <a:t>fingerprint pass to measure duplication; then tier by channel</a:t>
                      </a:r>
                    </a:p>
                  </a:txBody>
                  <a:tcPr marL="54864" marR="54864" marT="27432" marB="27432">
                    <a:solidFill>
                      <a:srgbClr val="FFFFFF"/>
                    </a:solidFill>
                  </a:tcPr>
                </a:tc>
              </a:tr>
              <a:tr h="301752">
                <a:tc>
                  <a:txBody>
                    <a:bodyPr wrap="square"/>
                    <a:lstStyle/>
                    <a:p>
                      <a:pPr algn="l"/>
                      <a:r>
                        <a:rPr sz="1100" b="0">
                          <a:solidFill>
                            <a:srgbClr val="1F2A44"/>
                          </a:solidFill>
                          <a:latin typeface="Calibri"/>
                        </a:rPr>
                        <a:t>channel06</a:t>
                      </a:r>
                    </a:p>
                  </a:txBody>
                  <a:tcPr marL="54864" marR="54864" marT="27432" marB="27432">
                    <a:solidFill>
                      <a:srgbClr val="FFFFFF"/>
                    </a:solidFill>
                  </a:tcPr>
                </a:tc>
                <a:tc>
                  <a:txBody>
                    <a:bodyPr wrap="square"/>
                    <a:lstStyle/>
                    <a:p>
                      <a:pPr algn="l"/>
                      <a:r>
                        <a:rPr sz="1100" b="0">
                          <a:solidFill>
                            <a:srgbClr val="1F2A44"/>
                          </a:solidFill>
                          <a:latin typeface="Calibri"/>
                        </a:rPr>
                        <a:t>partial</a:t>
                      </a:r>
                    </a:p>
                  </a:txBody>
                  <a:tcPr marL="54864" marR="54864" marT="27432" marB="27432">
                    <a:solidFill>
                      <a:srgbClr val="FFFFFF"/>
                    </a:solidFill>
                  </a:tcPr>
                </a:tc>
                <a:tc>
                  <a:txBody>
                    <a:bodyPr wrap="square"/>
                    <a:lstStyle/>
                    <a:p>
                      <a:pPr algn="r"/>
                      <a:r>
                        <a:rPr sz="1100" b="0">
                          <a:solidFill>
                            <a:srgbClr val="1F2A44"/>
                          </a:solidFill>
                          <a:latin typeface="Courier New"/>
                        </a:rPr>
                        <a:t>1.93</a:t>
                      </a:r>
                    </a:p>
                  </a:txBody>
                  <a:tcPr marL="54864" marR="54864" marT="27432" marB="27432">
                    <a:solidFill>
                      <a:srgbClr val="FFFFFF"/>
                    </a:solidFill>
                  </a:tcPr>
                </a:tc>
                <a:tc>
                  <a:txBody>
                    <a:bodyPr wrap="square"/>
                    <a:lstStyle/>
                    <a:p>
                      <a:pPr algn="r"/>
                      <a:r>
                        <a:rPr sz="1100" b="0">
                          <a:solidFill>
                            <a:srgbClr val="1F2A44"/>
                          </a:solidFill>
                          <a:latin typeface="Courier New"/>
                        </a:rPr>
                        <a:t>96,614</a:t>
                      </a:r>
                    </a:p>
                  </a:txBody>
                  <a:tcPr marL="54864" marR="54864" marT="27432" marB="27432">
                    <a:solidFill>
                      <a:srgbClr val="FFFFFF"/>
                    </a:solidFill>
                  </a:tcPr>
                </a:tc>
                <a:tc>
                  <a:txBody>
                    <a:bodyPr wrap="square"/>
                    <a:lstStyle/>
                    <a:p>
                      <a:pPr algn="r"/>
                      <a:r>
                        <a:rPr sz="1100" b="0">
                          <a:solidFill>
                            <a:srgbClr val="1F2A44"/>
                          </a:solidFill>
                          <a:latin typeface="Courier New"/>
                        </a:rPr>
                        <a:t>2026-10-02</a:t>
                      </a:r>
                    </a:p>
                  </a:txBody>
                  <a:tcPr marL="54864" marR="54864" marT="27432" marB="27432">
                    <a:solidFill>
                      <a:srgbClr val="FFFFFF"/>
                    </a:solidFill>
                  </a:tcPr>
                </a:tc>
                <a:tc>
                  <a:txBody>
                    <a:bodyPr wrap="square"/>
                    <a:lstStyle/>
                    <a:p>
                      <a:pPr algn="r"/>
                      <a:r>
                        <a:rPr sz="1100" b="0">
                          <a:solidFill>
                            <a:srgbClr val="1F2A44"/>
                          </a:solidFill>
                          <a:latin typeface="Courier New"/>
                        </a:rPr>
                        <a:t>.mp4 96,610, .db 1, .jpg 1</a:t>
                      </a:r>
                    </a:p>
                  </a:txBody>
                  <a:tcPr marL="54864" marR="54864" marT="27432" marB="27432">
                    <a:solidFill>
                      <a:srgbClr val="FFFFFF"/>
                    </a:solidFill>
                  </a:tcPr>
                </a:tc>
                <a:tc>
                  <a:txBody>
                    <a:bodyPr wrap="square"/>
                    <a:lstStyle/>
                    <a:p>
                      <a:pPr algn="r"/>
                      <a:r>
                        <a:rPr sz="1100" b="0">
                          <a:solidFill>
                            <a:srgbClr val="1F2A44"/>
                          </a:solidFill>
                          <a:latin typeface="Courier New"/>
                        </a:rPr>
                        <a:t>fingerprint pass to measure duplication; then tier by channel</a:t>
                      </a:r>
                    </a:p>
                  </a:txBody>
                  <a:tcPr marL="54864" marR="54864" marT="27432" marB="27432">
                    <a:solidFill>
                      <a:srgbClr val="FFFFFF"/>
                    </a:solidFill>
                  </a:tcPr>
                </a:tc>
              </a:tr>
              <a:tr h="301752">
                <a:tc>
                  <a:txBody>
                    <a:bodyPr wrap="square"/>
                    <a:lstStyle/>
                    <a:p>
                      <a:pPr algn="l"/>
                      <a:r>
                        <a:rPr sz="1100" b="0">
                          <a:solidFill>
                            <a:srgbClr val="1F2A44"/>
                          </a:solidFill>
                          <a:latin typeface="Calibri"/>
                        </a:rPr>
                        <a:t>channel07</a:t>
                      </a:r>
                    </a:p>
                  </a:txBody>
                  <a:tcPr marL="54864" marR="54864" marT="27432" marB="27432">
                    <a:solidFill>
                      <a:srgbClr val="FFFFFF"/>
                    </a:solidFill>
                  </a:tcPr>
                </a:tc>
                <a:tc>
                  <a:txBody>
                    <a:bodyPr wrap="square"/>
                    <a:lstStyle/>
                    <a:p>
                      <a:pPr algn="l"/>
                      <a:r>
                        <a:rPr sz="1100" b="0">
                          <a:solidFill>
                            <a:srgbClr val="1F2A44"/>
                          </a:solidFill>
                          <a:latin typeface="Calibri"/>
                        </a:rPr>
                        <a:t>partial</a:t>
                      </a:r>
                    </a:p>
                  </a:txBody>
                  <a:tcPr marL="54864" marR="54864" marT="27432" marB="27432">
                    <a:solidFill>
                      <a:srgbClr val="FFFFFF"/>
                    </a:solidFill>
                  </a:tcPr>
                </a:tc>
                <a:tc>
                  <a:txBody>
                    <a:bodyPr wrap="square"/>
                    <a:lstStyle/>
                    <a:p>
                      <a:pPr algn="r"/>
                      <a:r>
                        <a:rPr sz="1100" b="0">
                          <a:solidFill>
                            <a:srgbClr val="1F2A44"/>
                          </a:solidFill>
                          <a:latin typeface="Courier New"/>
                        </a:rPr>
                        <a:t>1.93</a:t>
                      </a:r>
                    </a:p>
                  </a:txBody>
                  <a:tcPr marL="54864" marR="54864" marT="27432" marB="27432">
                    <a:solidFill>
                      <a:srgbClr val="FFFFFF"/>
                    </a:solidFill>
                  </a:tcPr>
                </a:tc>
                <a:tc>
                  <a:txBody>
                    <a:bodyPr wrap="square"/>
                    <a:lstStyle/>
                    <a:p>
                      <a:pPr algn="r"/>
                      <a:r>
                        <a:rPr sz="1100" b="0">
                          <a:solidFill>
                            <a:srgbClr val="1F2A44"/>
                          </a:solidFill>
                          <a:latin typeface="Courier New"/>
                        </a:rPr>
                        <a:t>96,606</a:t>
                      </a:r>
                    </a:p>
                  </a:txBody>
                  <a:tcPr marL="54864" marR="54864" marT="27432" marB="27432">
                    <a:solidFill>
                      <a:srgbClr val="FFFFFF"/>
                    </a:solidFill>
                  </a:tcPr>
                </a:tc>
                <a:tc>
                  <a:txBody>
                    <a:bodyPr wrap="square"/>
                    <a:lstStyle/>
                    <a:p>
                      <a:pPr algn="r"/>
                      <a:r>
                        <a:rPr sz="1100" b="0">
                          <a:solidFill>
                            <a:srgbClr val="1F2A44"/>
                          </a:solidFill>
                          <a:latin typeface="Courier New"/>
                        </a:rPr>
                        <a:t>2026-10-02</a:t>
                      </a:r>
                    </a:p>
                  </a:txBody>
                  <a:tcPr marL="54864" marR="54864" marT="27432" marB="27432">
                    <a:solidFill>
                      <a:srgbClr val="FFFFFF"/>
                    </a:solidFill>
                  </a:tcPr>
                </a:tc>
                <a:tc>
                  <a:txBody>
                    <a:bodyPr wrap="square"/>
                    <a:lstStyle/>
                    <a:p>
                      <a:pPr algn="r"/>
                      <a:r>
                        <a:rPr sz="1100" b="0">
                          <a:solidFill>
                            <a:srgbClr val="1F2A44"/>
                          </a:solidFill>
                          <a:latin typeface="Courier New"/>
                        </a:rPr>
                        <a:t>.mp4 96,602, .db 1, .jpg 1</a:t>
                      </a:r>
                    </a:p>
                  </a:txBody>
                  <a:tcPr marL="54864" marR="54864" marT="27432" marB="27432">
                    <a:solidFill>
                      <a:srgbClr val="FFFFFF"/>
                    </a:solidFill>
                  </a:tcPr>
                </a:tc>
                <a:tc>
                  <a:txBody>
                    <a:bodyPr wrap="square"/>
                    <a:lstStyle/>
                    <a:p>
                      <a:pPr algn="r"/>
                      <a:r>
                        <a:rPr sz="1100" b="0">
                          <a:solidFill>
                            <a:srgbClr val="1F2A44"/>
                          </a:solidFill>
                          <a:latin typeface="Courier New"/>
                        </a:rPr>
                        <a:t>fingerprint pass to measure duplication; then tier by channel</a:t>
                      </a:r>
                    </a:p>
                  </a:txBody>
                  <a:tcPr marL="54864" marR="54864" marT="27432" marB="2743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C8102E"/>
                </a:solidFill>
                <a:latin typeface="Calibri"/>
              </a:rPr>
              <a:t>Sizes and dates were recorded; content fingerprints were not, so duplication across the channel shares is not yet measured.</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[measured]  Receipt R05: NAS share enumeration census run cr-cf4eef79995b (1,468,510 files, 43.9 TiB)</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EVIDENCE BY NAME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Exact file shares (NAS) enumerated</a:t>
            </a:r>
          </a:p>
        </p:txBody>
      </p:sp>
      <p:graphicFrame>
        <p:nvGraphicFramePr>
          <p:cNvPr id="4" name="Table 3"/>
          <p:cNvGraphicFramePr>
            <a:graphicFrameLocks noGrp="1"/>
          </p:cNvGraphicFramePr>
          <p:nvPr/>
        </p:nvGraphicFramePr>
        <p:xfrm>
          <a:off x="594360" y="1920240"/>
          <a:ext cx="11002970" cy="1536192"/>
        </p:xfrm>
        <a:graphic>
          <a:graphicData uri="http://schemas.openxmlformats.org/drawingml/2006/table">
            <a:tbl>
              <a:tblPr firstRow="1" bandRow="1">
                <a:tableStyleId>{5C22544A-7EE6-4342-B048-85BDC9FD1C3A}</a:tableStyleId>
              </a:tblPr>
              <a:tblGrid>
                <a:gridCol w="1116243"/>
                <a:gridCol w="1116243"/>
                <a:gridCol w="1116243"/>
                <a:gridCol w="1116243"/>
                <a:gridCol w="1116243"/>
                <a:gridCol w="2073024"/>
                <a:gridCol w="3348731"/>
              </a:tblGrid>
              <a:tr h="384048">
                <a:tc>
                  <a:txBody>
                    <a:bodyPr wrap="square"/>
                    <a:lstStyle/>
                    <a:p>
                      <a:pPr algn="l"/>
                      <a:r>
                        <a:rPr sz="1200" b="1">
                          <a:solidFill>
                            <a:srgbClr val="1F2A44"/>
                          </a:solidFill>
                          <a:latin typeface="Calibri"/>
                        </a:rPr>
                        <a:t>Share</a:t>
                      </a:r>
                    </a:p>
                  </a:txBody>
                  <a:tcPr marL="54864" marR="54864" marT="27432" marB="27432">
                    <a:solidFill>
                      <a:srgbClr val="E9ECF1"/>
                    </a:solidFill>
                  </a:tcPr>
                </a:tc>
                <a:tc>
                  <a:txBody>
                    <a:bodyPr wrap="square"/>
                    <a:lstStyle/>
                    <a:p>
                      <a:pPr algn="l"/>
                      <a:r>
                        <a:rPr sz="1200" b="1">
                          <a:solidFill>
                            <a:srgbClr val="1F2A44"/>
                          </a:solidFill>
                          <a:latin typeface="Calibri"/>
                        </a:rPr>
                        <a:t>Enumeration</a:t>
                      </a:r>
                    </a:p>
                  </a:txBody>
                  <a:tcPr marL="54864" marR="54864" marT="27432" marB="27432">
                    <a:solidFill>
                      <a:srgbClr val="E9ECF1"/>
                    </a:solidFill>
                  </a:tcPr>
                </a:tc>
                <a:tc>
                  <a:txBody>
                    <a:bodyPr wrap="square"/>
                    <a:lstStyle/>
                    <a:p>
                      <a:pPr algn="l"/>
                      <a:r>
                        <a:rPr sz="1200" b="1">
                          <a:solidFill>
                            <a:srgbClr val="1F2A44"/>
                          </a:solidFill>
                          <a:latin typeface="Calibri"/>
                        </a:rPr>
                        <a:t>Held (TiB)</a:t>
                      </a:r>
                    </a:p>
                  </a:txBody>
                  <a:tcPr marL="54864" marR="54864" marT="27432" marB="27432">
                    <a:solidFill>
                      <a:srgbClr val="E9ECF1"/>
                    </a:solidFill>
                  </a:tcPr>
                </a:tc>
                <a:tc>
                  <a:txBody>
                    <a:bodyPr wrap="square"/>
                    <a:lstStyle/>
                    <a:p>
                      <a:pPr algn="l"/>
                      <a:r>
                        <a:rPr sz="1200" b="1">
                          <a:solidFill>
                            <a:srgbClr val="1F2A44"/>
                          </a:solidFill>
                          <a:latin typeface="Calibri"/>
                        </a:rPr>
                        <a:t>Files</a:t>
                      </a:r>
                    </a:p>
                  </a:txBody>
                  <a:tcPr marL="54864" marR="54864" marT="27432" marB="27432">
                    <a:solidFill>
                      <a:srgbClr val="E9ECF1"/>
                    </a:solidFill>
                  </a:tcPr>
                </a:tc>
                <a:tc>
                  <a:txBody>
                    <a:bodyPr wrap="square"/>
                    <a:lstStyle/>
                    <a:p>
                      <a:pPr algn="l"/>
                      <a:r>
                        <a:rPr sz="1200" b="1">
                          <a:solidFill>
                            <a:srgbClr val="1F2A44"/>
                          </a:solidFill>
                          <a:latin typeface="Calibri"/>
                        </a:rPr>
                        <a:t>Last write</a:t>
                      </a:r>
                    </a:p>
                  </a:txBody>
                  <a:tcPr marL="54864" marR="54864" marT="27432" marB="27432">
                    <a:solidFill>
                      <a:srgbClr val="E9ECF1"/>
                    </a:solidFill>
                  </a:tcPr>
                </a:tc>
                <a:tc>
                  <a:txBody>
                    <a:bodyPr wrap="square"/>
                    <a:lstStyle/>
                    <a:p>
                      <a:pPr algn="l"/>
                      <a:r>
                        <a:rPr sz="1200" b="1">
                          <a:solidFill>
                            <a:srgbClr val="1F2A44"/>
                          </a:solidFill>
                          <a:latin typeface="Calibri"/>
                        </a:rPr>
                        <a:t>Main formats</a:t>
                      </a:r>
                    </a:p>
                  </a:txBody>
                  <a:tcPr marL="54864" marR="54864" marT="27432" marB="27432">
                    <a:solidFill>
                      <a:srgbClr val="E9ECF1"/>
                    </a:solidFill>
                  </a:tcPr>
                </a:tc>
                <a:tc>
                  <a:txBody>
                    <a:bodyPr wrap="square"/>
                    <a:lstStyle/>
                    <a:p>
                      <a:pPr algn="l"/>
                      <a:r>
                        <a:rPr sz="1200" b="1">
                          <a:solidFill>
                            <a:srgbClr val="1F2A44"/>
                          </a:solidFill>
                          <a:latin typeface="Calibri"/>
                        </a:rPr>
                        <a:t>Proposed action</a:t>
                      </a:r>
                    </a:p>
                  </a:txBody>
                  <a:tcPr marL="54864" marR="54864" marT="27432" marB="27432">
                    <a:solidFill>
                      <a:srgbClr val="E9ECF1"/>
                    </a:solidFill>
                  </a:tcPr>
                </a:tc>
              </a:tr>
              <a:tr h="384048">
                <a:tc>
                  <a:txBody>
                    <a:bodyPr wrap="square"/>
                    <a:lstStyle/>
                    <a:p>
                      <a:pPr algn="l"/>
                      <a:r>
                        <a:rPr sz="1200" b="0">
                          <a:solidFill>
                            <a:srgbClr val="1F2A44"/>
                          </a:solidFill>
                          <a:latin typeface="Calibri"/>
                        </a:rPr>
                        <a:t>channel05</a:t>
                      </a:r>
                    </a:p>
                  </a:txBody>
                  <a:tcPr marL="54864" marR="54864" marT="27432" marB="27432">
                    <a:solidFill>
                      <a:srgbClr val="FFFFFF"/>
                    </a:solidFill>
                  </a:tcPr>
                </a:tc>
                <a:tc>
                  <a:txBody>
                    <a:bodyPr wrap="square"/>
                    <a:lstStyle/>
                    <a:p>
                      <a:pPr algn="l"/>
                      <a:r>
                        <a:rPr sz="1200" b="0">
                          <a:solidFill>
                            <a:srgbClr val="1F2A44"/>
                          </a:solidFill>
                          <a:latin typeface="Calibri"/>
                        </a:rPr>
                        <a:t>partial</a:t>
                      </a:r>
                    </a:p>
                  </a:txBody>
                  <a:tcPr marL="54864" marR="54864" marT="27432" marB="27432">
                    <a:solidFill>
                      <a:srgbClr val="FFFFFF"/>
                    </a:solidFill>
                  </a:tcPr>
                </a:tc>
                <a:tc>
                  <a:txBody>
                    <a:bodyPr wrap="square"/>
                    <a:lstStyle/>
                    <a:p>
                      <a:pPr algn="r"/>
                      <a:r>
                        <a:rPr sz="1200" b="0">
                          <a:solidFill>
                            <a:srgbClr val="1F2A44"/>
                          </a:solidFill>
                          <a:latin typeface="Courier New"/>
                        </a:rPr>
                        <a:t>1.93</a:t>
                      </a:r>
                    </a:p>
                  </a:txBody>
                  <a:tcPr marL="54864" marR="54864" marT="27432" marB="27432">
                    <a:solidFill>
                      <a:srgbClr val="FFFFFF"/>
                    </a:solidFill>
                  </a:tcPr>
                </a:tc>
                <a:tc>
                  <a:txBody>
                    <a:bodyPr wrap="square"/>
                    <a:lstStyle/>
                    <a:p>
                      <a:pPr algn="r"/>
                      <a:r>
                        <a:rPr sz="1200" b="0">
                          <a:solidFill>
                            <a:srgbClr val="1F2A44"/>
                          </a:solidFill>
                          <a:latin typeface="Courier New"/>
                        </a:rPr>
                        <a:t>96,600</a:t>
                      </a:r>
                    </a:p>
                  </a:txBody>
                  <a:tcPr marL="54864" marR="54864" marT="27432" marB="27432">
                    <a:solidFill>
                      <a:srgbClr val="FFFFFF"/>
                    </a:solidFill>
                  </a:tcPr>
                </a:tc>
                <a:tc>
                  <a:txBody>
                    <a:bodyPr wrap="square"/>
                    <a:lstStyle/>
                    <a:p>
                      <a:pPr algn="r"/>
                      <a:r>
                        <a:rPr sz="1200" b="0">
                          <a:solidFill>
                            <a:srgbClr val="1F2A44"/>
                          </a:solidFill>
                          <a:latin typeface="Courier New"/>
                        </a:rPr>
                        <a:t>2026-10-02</a:t>
                      </a:r>
                    </a:p>
                  </a:txBody>
                  <a:tcPr marL="54864" marR="54864" marT="27432" marB="27432">
                    <a:solidFill>
                      <a:srgbClr val="FFFFFF"/>
                    </a:solidFill>
                  </a:tcPr>
                </a:tc>
                <a:tc>
                  <a:txBody>
                    <a:bodyPr wrap="square"/>
                    <a:lstStyle/>
                    <a:p>
                      <a:pPr algn="r"/>
                      <a:r>
                        <a:rPr sz="1200" b="0">
                          <a:solidFill>
                            <a:srgbClr val="1F2A44"/>
                          </a:solidFill>
                          <a:latin typeface="Courier New"/>
                        </a:rPr>
                        <a:t>.mp4 96,596, .db 1, .jpg 1</a:t>
                      </a:r>
                    </a:p>
                  </a:txBody>
                  <a:tcPr marL="54864" marR="54864" marT="27432" marB="27432">
                    <a:solidFill>
                      <a:srgbClr val="FFFFFF"/>
                    </a:solidFill>
                  </a:tcPr>
                </a:tc>
                <a:tc>
                  <a:txBody>
                    <a:bodyPr wrap="square"/>
                    <a:lstStyle/>
                    <a:p>
                      <a:pPr algn="r"/>
                      <a:r>
                        <a:rPr sz="1200" b="0">
                          <a:solidFill>
                            <a:srgbClr val="1F2A44"/>
                          </a:solidFill>
                          <a:latin typeface="Courier New"/>
                        </a:rPr>
                        <a:t>fingerprint pass to measure duplication; then tier by channel</a:t>
                      </a:r>
                    </a:p>
                  </a:txBody>
                  <a:tcPr marL="54864" marR="54864" marT="27432" marB="27432">
                    <a:solidFill>
                      <a:srgbClr val="FFFFFF"/>
                    </a:solidFill>
                  </a:tcPr>
                </a:tc>
              </a:tr>
              <a:tr h="384048">
                <a:tc>
                  <a:txBody>
                    <a:bodyPr wrap="square"/>
                    <a:lstStyle/>
                    <a:p>
                      <a:pPr algn="l"/>
                      <a:r>
                        <a:rPr sz="1200" b="0">
                          <a:solidFill>
                            <a:srgbClr val="1F2A44"/>
                          </a:solidFill>
                          <a:latin typeface="Calibri"/>
                        </a:rPr>
                        <a:t>channel04</a:t>
                      </a:r>
                    </a:p>
                  </a:txBody>
                  <a:tcPr marL="54864" marR="54864" marT="27432" marB="27432">
                    <a:solidFill>
                      <a:srgbClr val="FFFFFF"/>
                    </a:solidFill>
                  </a:tcPr>
                </a:tc>
                <a:tc>
                  <a:txBody>
                    <a:bodyPr wrap="square"/>
                    <a:lstStyle/>
                    <a:p>
                      <a:pPr algn="l"/>
                      <a:r>
                        <a:rPr sz="1200" b="0">
                          <a:solidFill>
                            <a:srgbClr val="1F2A44"/>
                          </a:solidFill>
                          <a:latin typeface="Calibri"/>
                        </a:rPr>
                        <a:t>partial</a:t>
                      </a:r>
                    </a:p>
                  </a:txBody>
                  <a:tcPr marL="54864" marR="54864" marT="27432" marB="27432">
                    <a:solidFill>
                      <a:srgbClr val="FFFFFF"/>
                    </a:solidFill>
                  </a:tcPr>
                </a:tc>
                <a:tc>
                  <a:txBody>
                    <a:bodyPr wrap="square"/>
                    <a:lstStyle/>
                    <a:p>
                      <a:pPr algn="r"/>
                      <a:r>
                        <a:rPr sz="1200" b="0">
                          <a:solidFill>
                            <a:srgbClr val="1F2A44"/>
                          </a:solidFill>
                          <a:latin typeface="Courier New"/>
                        </a:rPr>
                        <a:t>1.93</a:t>
                      </a:r>
                    </a:p>
                  </a:txBody>
                  <a:tcPr marL="54864" marR="54864" marT="27432" marB="27432">
                    <a:solidFill>
                      <a:srgbClr val="FFFFFF"/>
                    </a:solidFill>
                  </a:tcPr>
                </a:tc>
                <a:tc>
                  <a:txBody>
                    <a:bodyPr wrap="square"/>
                    <a:lstStyle/>
                    <a:p>
                      <a:pPr algn="r"/>
                      <a:r>
                        <a:rPr sz="1200" b="0">
                          <a:solidFill>
                            <a:srgbClr val="1F2A44"/>
                          </a:solidFill>
                          <a:latin typeface="Courier New"/>
                        </a:rPr>
                        <a:t>96,584</a:t>
                      </a:r>
                    </a:p>
                  </a:txBody>
                  <a:tcPr marL="54864" marR="54864" marT="27432" marB="27432">
                    <a:solidFill>
                      <a:srgbClr val="FFFFFF"/>
                    </a:solidFill>
                  </a:tcPr>
                </a:tc>
                <a:tc>
                  <a:txBody>
                    <a:bodyPr wrap="square"/>
                    <a:lstStyle/>
                    <a:p>
                      <a:pPr algn="r"/>
                      <a:r>
                        <a:rPr sz="1200" b="0">
                          <a:solidFill>
                            <a:srgbClr val="1F2A44"/>
                          </a:solidFill>
                          <a:latin typeface="Courier New"/>
                        </a:rPr>
                        <a:t>2026-10-02</a:t>
                      </a:r>
                    </a:p>
                  </a:txBody>
                  <a:tcPr marL="54864" marR="54864" marT="27432" marB="27432">
                    <a:solidFill>
                      <a:srgbClr val="FFFFFF"/>
                    </a:solidFill>
                  </a:tcPr>
                </a:tc>
                <a:tc>
                  <a:txBody>
                    <a:bodyPr wrap="square"/>
                    <a:lstStyle/>
                    <a:p>
                      <a:pPr algn="r"/>
                      <a:r>
                        <a:rPr sz="1200" b="0">
                          <a:solidFill>
                            <a:srgbClr val="1F2A44"/>
                          </a:solidFill>
                          <a:latin typeface="Courier New"/>
                        </a:rPr>
                        <a:t>.mp4 96,579, .db 1, .jpg 1</a:t>
                      </a:r>
                    </a:p>
                  </a:txBody>
                  <a:tcPr marL="54864" marR="54864" marT="27432" marB="27432">
                    <a:solidFill>
                      <a:srgbClr val="FFFFFF"/>
                    </a:solidFill>
                  </a:tcPr>
                </a:tc>
                <a:tc>
                  <a:txBody>
                    <a:bodyPr wrap="square"/>
                    <a:lstStyle/>
                    <a:p>
                      <a:pPr algn="r"/>
                      <a:r>
                        <a:rPr sz="1200" b="0">
                          <a:solidFill>
                            <a:srgbClr val="1F2A44"/>
                          </a:solidFill>
                          <a:latin typeface="Courier New"/>
                        </a:rPr>
                        <a:t>fingerprint pass to measure duplication; then tier by channel</a:t>
                      </a:r>
                    </a:p>
                  </a:txBody>
                  <a:tcPr marL="54864" marR="54864" marT="27432" marB="27432">
                    <a:solidFill>
                      <a:srgbClr val="FFFFFF"/>
                    </a:solidFill>
                  </a:tcPr>
                </a:tc>
              </a:tr>
              <a:tr h="384048">
                <a:tc>
                  <a:txBody>
                    <a:bodyPr wrap="square"/>
                    <a:lstStyle/>
                    <a:p>
                      <a:pPr algn="l"/>
                      <a:r>
                        <a:rPr sz="1200" b="0">
                          <a:solidFill>
                            <a:srgbClr val="1F2A44"/>
                          </a:solidFill>
                          <a:latin typeface="Calibri"/>
                        </a:rPr>
                        <a:t>channel03</a:t>
                      </a:r>
                    </a:p>
                  </a:txBody>
                  <a:tcPr marL="54864" marR="54864" marT="27432" marB="27432">
                    <a:solidFill>
                      <a:srgbClr val="FFFFFF"/>
                    </a:solidFill>
                  </a:tcPr>
                </a:tc>
                <a:tc>
                  <a:txBody>
                    <a:bodyPr wrap="square"/>
                    <a:lstStyle/>
                    <a:p>
                      <a:pPr algn="l"/>
                      <a:r>
                        <a:rPr sz="1200" b="0">
                          <a:solidFill>
                            <a:srgbClr val="1F2A44"/>
                          </a:solidFill>
                          <a:latin typeface="Calibri"/>
                        </a:rPr>
                        <a:t>partial</a:t>
                      </a:r>
                    </a:p>
                  </a:txBody>
                  <a:tcPr marL="54864" marR="54864" marT="27432" marB="27432">
                    <a:solidFill>
                      <a:srgbClr val="FFFFFF"/>
                    </a:solidFill>
                  </a:tcPr>
                </a:tc>
                <a:tc>
                  <a:txBody>
                    <a:bodyPr wrap="square"/>
                    <a:lstStyle/>
                    <a:p>
                      <a:pPr algn="r"/>
                      <a:r>
                        <a:rPr sz="1200" b="0">
                          <a:solidFill>
                            <a:srgbClr val="1F2A44"/>
                          </a:solidFill>
                          <a:latin typeface="Courier New"/>
                        </a:rPr>
                        <a:t>1.93</a:t>
                      </a:r>
                    </a:p>
                  </a:txBody>
                  <a:tcPr marL="54864" marR="54864" marT="27432" marB="27432">
                    <a:solidFill>
                      <a:srgbClr val="FFFFFF"/>
                    </a:solidFill>
                  </a:tcPr>
                </a:tc>
                <a:tc>
                  <a:txBody>
                    <a:bodyPr wrap="square"/>
                    <a:lstStyle/>
                    <a:p>
                      <a:pPr algn="r"/>
                      <a:r>
                        <a:rPr sz="1200" b="0">
                          <a:solidFill>
                            <a:srgbClr val="1F2A44"/>
                          </a:solidFill>
                          <a:latin typeface="Courier New"/>
                        </a:rPr>
                        <a:t>96,538</a:t>
                      </a:r>
                    </a:p>
                  </a:txBody>
                  <a:tcPr marL="54864" marR="54864" marT="27432" marB="27432">
                    <a:solidFill>
                      <a:srgbClr val="FFFFFF"/>
                    </a:solidFill>
                  </a:tcPr>
                </a:tc>
                <a:tc>
                  <a:txBody>
                    <a:bodyPr wrap="square"/>
                    <a:lstStyle/>
                    <a:p>
                      <a:pPr algn="r"/>
                      <a:r>
                        <a:rPr sz="1200" b="0">
                          <a:solidFill>
                            <a:srgbClr val="1F2A44"/>
                          </a:solidFill>
                          <a:latin typeface="Courier New"/>
                        </a:rPr>
                        <a:t>2026-10-03</a:t>
                      </a:r>
                    </a:p>
                  </a:txBody>
                  <a:tcPr marL="54864" marR="54864" marT="27432" marB="27432">
                    <a:solidFill>
                      <a:srgbClr val="FFFFFF"/>
                    </a:solidFill>
                  </a:tcPr>
                </a:tc>
                <a:tc>
                  <a:txBody>
                    <a:bodyPr wrap="square"/>
                    <a:lstStyle/>
                    <a:p>
                      <a:pPr algn="r"/>
                      <a:r>
                        <a:rPr sz="1200" b="0">
                          <a:solidFill>
                            <a:srgbClr val="1F2A44"/>
                          </a:solidFill>
                          <a:latin typeface="Courier New"/>
                        </a:rPr>
                        <a:t>.mp4 96,534, .db 1, .jpg 1</a:t>
                      </a:r>
                    </a:p>
                  </a:txBody>
                  <a:tcPr marL="54864" marR="54864" marT="27432" marB="27432">
                    <a:solidFill>
                      <a:srgbClr val="FFFFFF"/>
                    </a:solidFill>
                  </a:tcPr>
                </a:tc>
                <a:tc>
                  <a:txBody>
                    <a:bodyPr wrap="square"/>
                    <a:lstStyle/>
                    <a:p>
                      <a:pPr algn="r"/>
                      <a:r>
                        <a:rPr sz="1200" b="0">
                          <a:solidFill>
                            <a:srgbClr val="1F2A44"/>
                          </a:solidFill>
                          <a:latin typeface="Courier New"/>
                        </a:rPr>
                        <a:t>fingerprint pass to measure duplication; then tier by channel</a:t>
                      </a:r>
                    </a:p>
                  </a:txBody>
                  <a:tcPr marL="54864" marR="54864" marT="27432" marB="2743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C8102E"/>
                </a:solidFill>
                <a:latin typeface="Calibri"/>
              </a:rPr>
              <a:t>Sizes and dates were recorded; content fingerprints were not, so duplication across the channel shares is not yet measured.</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[measured]  Receipt R05: NAS share enumeration census run cr-cf4eef79995b (1,468,510 files, 43.9 TiB)</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EVIDENCE BY NAME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Object-store buckets that could not be read</a:t>
            </a:r>
          </a:p>
        </p:txBody>
      </p:sp>
      <p:graphicFrame>
        <p:nvGraphicFramePr>
          <p:cNvPr id="4" name="Table 3"/>
          <p:cNvGraphicFramePr>
            <a:graphicFrameLocks noGrp="1"/>
          </p:cNvGraphicFramePr>
          <p:nvPr/>
        </p:nvGraphicFramePr>
        <p:xfrm>
          <a:off x="594360" y="1920240"/>
          <a:ext cx="11002973" cy="3017520"/>
        </p:xfrm>
        <a:graphic>
          <a:graphicData uri="http://schemas.openxmlformats.org/drawingml/2006/table">
            <a:tbl>
              <a:tblPr firstRow="1" bandRow="1">
                <a:tableStyleId>{5C22544A-7EE6-4342-B048-85BDC9FD1C3A}</a:tableStyleId>
              </a:tblPr>
              <a:tblGrid>
                <a:gridCol w="2895519"/>
                <a:gridCol w="2026863"/>
                <a:gridCol w="6080591"/>
              </a:tblGrid>
              <a:tr h="301752">
                <a:tc>
                  <a:txBody>
                    <a:bodyPr wrap="square"/>
                    <a:lstStyle/>
                    <a:p>
                      <a:pPr algn="l"/>
                      <a:r>
                        <a:rPr sz="1200" b="1">
                          <a:solidFill>
                            <a:srgbClr val="1F2A44"/>
                          </a:solidFill>
                          <a:latin typeface="Calibri"/>
                        </a:rPr>
                        <a:t>Bucket</a:t>
                      </a:r>
                    </a:p>
                  </a:txBody>
                  <a:tcPr marL="54864" marR="54864" marT="27432" marB="27432">
                    <a:solidFill>
                      <a:srgbClr val="E9ECF1"/>
                    </a:solidFill>
                  </a:tcPr>
                </a:tc>
                <a:tc>
                  <a:txBody>
                    <a:bodyPr wrap="square"/>
                    <a:lstStyle/>
                    <a:p>
                      <a:pPr algn="l"/>
                      <a:r>
                        <a:rPr sz="1200" b="1">
                          <a:solidFill>
                            <a:srgbClr val="1F2A44"/>
                          </a:solidFill>
                          <a:latin typeface="Calibri"/>
                        </a:rPr>
                        <a:t>Error returned</a:t>
                      </a:r>
                    </a:p>
                  </a:txBody>
                  <a:tcPr marL="54864" marR="54864" marT="27432" marB="27432">
                    <a:solidFill>
                      <a:srgbClr val="E9ECF1"/>
                    </a:solidFill>
                  </a:tcPr>
                </a:tc>
                <a:tc>
                  <a:txBody>
                    <a:bodyPr wrap="square"/>
                    <a:lstStyle/>
                    <a:p>
                      <a:pPr algn="l"/>
                      <a:r>
                        <a:rPr sz="1200" b="1">
                          <a:solidFill>
                            <a:srgbClr val="1F2A44"/>
                          </a:solidFill>
                          <a:latin typeface="Calibri"/>
                        </a:rPr>
                        <a:t>Proposed action</a:t>
                      </a:r>
                    </a:p>
                  </a:txBody>
                  <a:tcPr marL="54864" marR="54864" marT="27432" marB="27432">
                    <a:solidFill>
                      <a:srgbClr val="E9ECF1"/>
                    </a:solidFill>
                  </a:tcPr>
                </a:tc>
              </a:tr>
              <a:tr h="301752">
                <a:tc>
                  <a:txBody>
                    <a:bodyPr wrap="square"/>
                    <a:lstStyle/>
                    <a:p>
                      <a:pPr algn="l"/>
                      <a:r>
                        <a:rPr sz="1200" b="0">
                          <a:solidFill>
                            <a:srgbClr val="1F2A44"/>
                          </a:solidFill>
                          <a:latin typeface="Calibri"/>
                        </a:rPr>
                        <a:t>apr252017</a:t>
                      </a:r>
                    </a:p>
                  </a:txBody>
                  <a:tcPr marL="54864" marR="54864" marT="27432" marB="27432">
                    <a:solidFill>
                      <a:srgbClr val="FFFFFF"/>
                    </a:solidFill>
                  </a:tcPr>
                </a:tc>
                <a:tc>
                  <a:txBody>
                    <a:bodyPr wrap="square"/>
                    <a:lstStyle/>
                    <a:p>
                      <a:pPr algn="l"/>
                      <a:r>
                        <a:rPr sz="1200" b="0">
                          <a:solidFill>
                            <a:srgbClr val="1F2A44"/>
                          </a:solidFill>
                          <a:latin typeface="Calibri"/>
                        </a:rPr>
                        <a:t>NoSuchBucket</a:t>
                      </a:r>
                    </a:p>
                  </a:txBody>
                  <a:tcPr marL="54864" marR="54864" marT="27432" marB="27432">
                    <a:solidFill>
                      <a:srgbClr val="FFFFFF"/>
                    </a:solidFill>
                  </a:tcPr>
                </a:tc>
                <a:tc>
                  <a:txBody>
                    <a:bodyPr wrap="square"/>
                    <a:lstStyle/>
                    <a:p>
                      <a:pPr algn="l"/>
                      <a:r>
                        <a:rPr sz="1200" b="0">
                          <a:solidFill>
                            <a:srgbClr val="1F2A44"/>
                          </a:solidFill>
                          <a:latin typeface="Calibri"/>
                        </a:rPr>
                        <a:t>reconcile with provider; remove from inventory if gone</a:t>
                      </a:r>
                    </a:p>
                  </a:txBody>
                  <a:tcPr marL="54864" marR="54864" marT="27432" marB="27432">
                    <a:solidFill>
                      <a:srgbClr val="FFFFFF"/>
                    </a:solidFill>
                  </a:tcPr>
                </a:tc>
              </a:tr>
              <a:tr h="301752">
                <a:tc>
                  <a:txBody>
                    <a:bodyPr wrap="square"/>
                    <a:lstStyle/>
                    <a:p>
                      <a:pPr algn="l"/>
                      <a:r>
                        <a:rPr sz="1200" b="0">
                          <a:solidFill>
                            <a:srgbClr val="1F2A44"/>
                          </a:solidFill>
                          <a:latin typeface="Calibri"/>
                        </a:rPr>
                        <a:t>citizen-vod</a:t>
                      </a:r>
                    </a:p>
                  </a:txBody>
                  <a:tcPr marL="54864" marR="54864" marT="27432" marB="27432">
                    <a:solidFill>
                      <a:srgbClr val="FFFFFF"/>
                    </a:solidFill>
                  </a:tcPr>
                </a:tc>
                <a:tc>
                  <a:txBody>
                    <a:bodyPr wrap="square"/>
                    <a:lstStyle/>
                    <a:p>
                      <a:pPr algn="l"/>
                      <a:r>
                        <a:rPr sz="1200" b="0">
                          <a:solidFill>
                            <a:srgbClr val="1F2A44"/>
                          </a:solidFill>
                          <a:latin typeface="Calibri"/>
                        </a:rPr>
                        <a:t>NoSuchBucket</a:t>
                      </a:r>
                    </a:p>
                  </a:txBody>
                  <a:tcPr marL="54864" marR="54864" marT="27432" marB="27432">
                    <a:solidFill>
                      <a:srgbClr val="FFFFFF"/>
                    </a:solidFill>
                  </a:tcPr>
                </a:tc>
                <a:tc>
                  <a:txBody>
                    <a:bodyPr wrap="square"/>
                    <a:lstStyle/>
                    <a:p>
                      <a:pPr algn="l"/>
                      <a:r>
                        <a:rPr sz="1200" b="0">
                          <a:solidFill>
                            <a:srgbClr val="1F2A44"/>
                          </a:solidFill>
                          <a:latin typeface="Calibri"/>
                        </a:rPr>
                        <a:t>reconcile with provider; remove from inventory if gone</a:t>
                      </a:r>
                    </a:p>
                  </a:txBody>
                  <a:tcPr marL="54864" marR="54864" marT="27432" marB="27432">
                    <a:solidFill>
                      <a:srgbClr val="FFFFFF"/>
                    </a:solidFill>
                  </a:tcPr>
                </a:tc>
              </a:tr>
              <a:tr h="301752">
                <a:tc>
                  <a:txBody>
                    <a:bodyPr wrap="square"/>
                    <a:lstStyle/>
                    <a:p>
                      <a:pPr algn="l"/>
                      <a:r>
                        <a:rPr sz="1200" b="0">
                          <a:solidFill>
                            <a:srgbClr val="1F2A44"/>
                          </a:solidFill>
                          <a:latin typeface="Calibri"/>
                        </a:rPr>
                        <a:t>elections</a:t>
                      </a:r>
                    </a:p>
                  </a:txBody>
                  <a:tcPr marL="54864" marR="54864" marT="27432" marB="27432">
                    <a:solidFill>
                      <a:srgbClr val="FFFFFF"/>
                    </a:solidFill>
                  </a:tcPr>
                </a:tc>
                <a:tc>
                  <a:txBody>
                    <a:bodyPr wrap="square"/>
                    <a:lstStyle/>
                    <a:p>
                      <a:pPr algn="l"/>
                      <a:r>
                        <a:rPr sz="1200" b="0">
                          <a:solidFill>
                            <a:srgbClr val="1F2A44"/>
                          </a:solidFill>
                          <a:latin typeface="Calibri"/>
                        </a:rPr>
                        <a:t>ClientError</a:t>
                      </a:r>
                    </a:p>
                  </a:txBody>
                  <a:tcPr marL="54864" marR="54864" marT="27432" marB="27432">
                    <a:solidFill>
                      <a:srgbClr val="FFFFFF"/>
                    </a:solidFill>
                  </a:tcPr>
                </a:tc>
                <a:tc>
                  <a:txBody>
                    <a:bodyPr wrap="square"/>
                    <a:lstStyle/>
                    <a:p>
                      <a:pPr algn="l"/>
                      <a:r>
                        <a:rPr sz="1200" b="0">
                          <a:solidFill>
                            <a:srgbClr val="1F2A44"/>
                          </a:solidFill>
                          <a:latin typeface="Calibri"/>
                        </a:rPr>
                        <a:t>reconcile with provider; remove from inventory if gone</a:t>
                      </a:r>
                    </a:p>
                  </a:txBody>
                  <a:tcPr marL="54864" marR="54864" marT="27432" marB="27432">
                    <a:solidFill>
                      <a:srgbClr val="FFFFFF"/>
                    </a:solidFill>
                  </a:tcPr>
                </a:tc>
              </a:tr>
              <a:tr h="301752">
                <a:tc>
                  <a:txBody>
                    <a:bodyPr wrap="square"/>
                    <a:lstStyle/>
                    <a:p>
                      <a:pPr algn="l"/>
                      <a:r>
                        <a:rPr sz="1200" b="0">
                          <a:solidFill>
                            <a:srgbClr val="1F2A44"/>
                          </a:solidFill>
                          <a:latin typeface="Calibri"/>
                        </a:rPr>
                        <a:t>feb272017</a:t>
                      </a:r>
                    </a:p>
                  </a:txBody>
                  <a:tcPr marL="54864" marR="54864" marT="27432" marB="27432">
                    <a:solidFill>
                      <a:srgbClr val="FFFFFF"/>
                    </a:solidFill>
                  </a:tcPr>
                </a:tc>
                <a:tc>
                  <a:txBody>
                    <a:bodyPr wrap="square"/>
                    <a:lstStyle/>
                    <a:p>
                      <a:pPr algn="l"/>
                      <a:r>
                        <a:rPr sz="1200" b="0">
                          <a:solidFill>
                            <a:srgbClr val="1F2A44"/>
                          </a:solidFill>
                          <a:latin typeface="Calibri"/>
                        </a:rPr>
                        <a:t>NoSuchBucket</a:t>
                      </a:r>
                    </a:p>
                  </a:txBody>
                  <a:tcPr marL="54864" marR="54864" marT="27432" marB="27432">
                    <a:solidFill>
                      <a:srgbClr val="FFFFFF"/>
                    </a:solidFill>
                  </a:tcPr>
                </a:tc>
                <a:tc>
                  <a:txBody>
                    <a:bodyPr wrap="square"/>
                    <a:lstStyle/>
                    <a:p>
                      <a:pPr algn="l"/>
                      <a:r>
                        <a:rPr sz="1200" b="0">
                          <a:solidFill>
                            <a:srgbClr val="1F2A44"/>
                          </a:solidFill>
                          <a:latin typeface="Calibri"/>
                        </a:rPr>
                        <a:t>reconcile with provider; remove from inventory if gone</a:t>
                      </a:r>
                    </a:p>
                  </a:txBody>
                  <a:tcPr marL="54864" marR="54864" marT="27432" marB="27432">
                    <a:solidFill>
                      <a:srgbClr val="FFFFFF"/>
                    </a:solidFill>
                  </a:tcPr>
                </a:tc>
              </a:tr>
              <a:tr h="301752">
                <a:tc>
                  <a:txBody>
                    <a:bodyPr wrap="square"/>
                    <a:lstStyle/>
                    <a:p>
                      <a:pPr algn="l"/>
                      <a:r>
                        <a:rPr sz="1200" b="0">
                          <a:solidFill>
                            <a:srgbClr val="1F2A44"/>
                          </a:solidFill>
                          <a:latin typeface="Calibri"/>
                        </a:rPr>
                        <a:t>instore-radio-items</a:t>
                      </a:r>
                    </a:p>
                  </a:txBody>
                  <a:tcPr marL="54864" marR="54864" marT="27432" marB="27432">
                    <a:solidFill>
                      <a:srgbClr val="FFFFFF"/>
                    </a:solidFill>
                  </a:tcPr>
                </a:tc>
                <a:tc>
                  <a:txBody>
                    <a:bodyPr wrap="square"/>
                    <a:lstStyle/>
                    <a:p>
                      <a:pPr algn="l"/>
                      <a:r>
                        <a:rPr sz="1200" b="0">
                          <a:solidFill>
                            <a:srgbClr val="1F2A44"/>
                          </a:solidFill>
                          <a:latin typeface="Calibri"/>
                        </a:rPr>
                        <a:t>ClientError</a:t>
                      </a:r>
                    </a:p>
                  </a:txBody>
                  <a:tcPr marL="54864" marR="54864" marT="27432" marB="27432">
                    <a:solidFill>
                      <a:srgbClr val="FFFFFF"/>
                    </a:solidFill>
                  </a:tcPr>
                </a:tc>
                <a:tc>
                  <a:txBody>
                    <a:bodyPr wrap="square"/>
                    <a:lstStyle/>
                    <a:p>
                      <a:pPr algn="l"/>
                      <a:r>
                        <a:rPr sz="1200" b="0">
                          <a:solidFill>
                            <a:srgbClr val="1F2A44"/>
                          </a:solidFill>
                          <a:latin typeface="Calibri"/>
                        </a:rPr>
                        <a:t>reconcile with provider; remove from inventory if gone</a:t>
                      </a:r>
                    </a:p>
                  </a:txBody>
                  <a:tcPr marL="54864" marR="54864" marT="27432" marB="27432">
                    <a:solidFill>
                      <a:srgbClr val="FFFFFF"/>
                    </a:solidFill>
                  </a:tcPr>
                </a:tc>
              </a:tr>
              <a:tr h="301752">
                <a:tc>
                  <a:txBody>
                    <a:bodyPr wrap="square"/>
                    <a:lstStyle/>
                    <a:p>
                      <a:pPr algn="l"/>
                      <a:r>
                        <a:rPr sz="1200" b="0">
                          <a:solidFill>
                            <a:srgbClr val="1F2A44"/>
                          </a:solidFill>
                          <a:latin typeface="Calibri"/>
                        </a:rPr>
                        <a:t>iso-rms-storage</a:t>
                      </a:r>
                    </a:p>
                  </a:txBody>
                  <a:tcPr marL="54864" marR="54864" marT="27432" marB="27432">
                    <a:solidFill>
                      <a:srgbClr val="FFFFFF"/>
                    </a:solidFill>
                  </a:tcPr>
                </a:tc>
                <a:tc>
                  <a:txBody>
                    <a:bodyPr wrap="square"/>
                    <a:lstStyle/>
                    <a:p>
                      <a:pPr algn="l"/>
                      <a:r>
                        <a:rPr sz="1200" b="0">
                          <a:solidFill>
                            <a:srgbClr val="1F2A44"/>
                          </a:solidFill>
                          <a:latin typeface="Calibri"/>
                        </a:rPr>
                        <a:t>NoSuchBucket</a:t>
                      </a:r>
                    </a:p>
                  </a:txBody>
                  <a:tcPr marL="54864" marR="54864" marT="27432" marB="27432">
                    <a:solidFill>
                      <a:srgbClr val="FFFFFF"/>
                    </a:solidFill>
                  </a:tcPr>
                </a:tc>
                <a:tc>
                  <a:txBody>
                    <a:bodyPr wrap="square"/>
                    <a:lstStyle/>
                    <a:p>
                      <a:pPr algn="l"/>
                      <a:r>
                        <a:rPr sz="1200" b="0">
                          <a:solidFill>
                            <a:srgbClr val="1F2A44"/>
                          </a:solidFill>
                          <a:latin typeface="Calibri"/>
                        </a:rPr>
                        <a:t>reconcile with provider; remove from inventory if gone</a:t>
                      </a:r>
                    </a:p>
                  </a:txBody>
                  <a:tcPr marL="54864" marR="54864" marT="27432" marB="27432">
                    <a:solidFill>
                      <a:srgbClr val="FFFFFF"/>
                    </a:solidFill>
                  </a:tcPr>
                </a:tc>
              </a:tr>
              <a:tr h="301752">
                <a:tc>
                  <a:txBody>
                    <a:bodyPr wrap="square"/>
                    <a:lstStyle/>
                    <a:p>
                      <a:pPr algn="l"/>
                      <a:r>
                        <a:rPr sz="1200" b="0">
                          <a:solidFill>
                            <a:srgbClr val="1F2A44"/>
                          </a:solidFill>
                          <a:latin typeface="Calibri"/>
                        </a:rPr>
                        <a:t>librarydirectupload2</a:t>
                      </a:r>
                    </a:p>
                  </a:txBody>
                  <a:tcPr marL="54864" marR="54864" marT="27432" marB="27432">
                    <a:solidFill>
                      <a:srgbClr val="FFFFFF"/>
                    </a:solidFill>
                  </a:tcPr>
                </a:tc>
                <a:tc>
                  <a:txBody>
                    <a:bodyPr wrap="square"/>
                    <a:lstStyle/>
                    <a:p>
                      <a:pPr algn="l"/>
                      <a:r>
                        <a:rPr sz="1200" b="0">
                          <a:solidFill>
                            <a:srgbClr val="1F2A44"/>
                          </a:solidFill>
                          <a:latin typeface="Calibri"/>
                        </a:rPr>
                        <a:t>NoSuchBucket</a:t>
                      </a:r>
                    </a:p>
                  </a:txBody>
                  <a:tcPr marL="54864" marR="54864" marT="27432" marB="27432">
                    <a:solidFill>
                      <a:srgbClr val="FFFFFF"/>
                    </a:solidFill>
                  </a:tcPr>
                </a:tc>
                <a:tc>
                  <a:txBody>
                    <a:bodyPr wrap="square"/>
                    <a:lstStyle/>
                    <a:p>
                      <a:pPr algn="l"/>
                      <a:r>
                        <a:rPr sz="1200" b="0">
                          <a:solidFill>
                            <a:srgbClr val="1F2A44"/>
                          </a:solidFill>
                          <a:latin typeface="Calibri"/>
                        </a:rPr>
                        <a:t>reconcile with provider; remove from inventory if gone</a:t>
                      </a:r>
                    </a:p>
                  </a:txBody>
                  <a:tcPr marL="54864" marR="54864" marT="27432" marB="27432">
                    <a:solidFill>
                      <a:srgbClr val="FFFFFF"/>
                    </a:solidFill>
                  </a:tcPr>
                </a:tc>
              </a:tr>
              <a:tr h="301752">
                <a:tc>
                  <a:txBody>
                    <a:bodyPr wrap="square"/>
                    <a:lstStyle/>
                    <a:p>
                      <a:pPr algn="l"/>
                      <a:r>
                        <a:rPr sz="1200" b="0">
                          <a:solidFill>
                            <a:srgbClr val="1F2A44"/>
                          </a:solidFill>
                          <a:latin typeface="Calibri"/>
                        </a:rPr>
                        <a:t>na7p4100</a:t>
                      </a:r>
                    </a:p>
                  </a:txBody>
                  <a:tcPr marL="54864" marR="54864" marT="27432" marB="27432">
                    <a:solidFill>
                      <a:srgbClr val="FFFFFF"/>
                    </a:solidFill>
                  </a:tcPr>
                </a:tc>
                <a:tc>
                  <a:txBody>
                    <a:bodyPr wrap="square"/>
                    <a:lstStyle/>
                    <a:p>
                      <a:pPr algn="l"/>
                      <a:r>
                        <a:rPr sz="1200" b="0">
                          <a:solidFill>
                            <a:srgbClr val="1F2A44"/>
                          </a:solidFill>
                          <a:latin typeface="Calibri"/>
                        </a:rPr>
                        <a:t>NoSuchBucket</a:t>
                      </a:r>
                    </a:p>
                  </a:txBody>
                  <a:tcPr marL="54864" marR="54864" marT="27432" marB="27432">
                    <a:solidFill>
                      <a:srgbClr val="FFFFFF"/>
                    </a:solidFill>
                  </a:tcPr>
                </a:tc>
                <a:tc>
                  <a:txBody>
                    <a:bodyPr wrap="square"/>
                    <a:lstStyle/>
                    <a:p>
                      <a:pPr algn="l"/>
                      <a:r>
                        <a:rPr sz="1200" b="0">
                          <a:solidFill>
                            <a:srgbClr val="1F2A44"/>
                          </a:solidFill>
                          <a:latin typeface="Calibri"/>
                        </a:rPr>
                        <a:t>reconcile with provider; remove from inventory if gone</a:t>
                      </a:r>
                    </a:p>
                  </a:txBody>
                  <a:tcPr marL="54864" marR="54864" marT="27432" marB="27432">
                    <a:solidFill>
                      <a:srgbClr val="FFFFFF"/>
                    </a:solidFill>
                  </a:tcPr>
                </a:tc>
              </a:tr>
              <a:tr h="301752">
                <a:tc>
                  <a:txBody>
                    <a:bodyPr wrap="square"/>
                    <a:lstStyle/>
                    <a:p>
                      <a:pPr algn="l"/>
                      <a:r>
                        <a:rPr sz="1200" b="0">
                          <a:solidFill>
                            <a:srgbClr val="1F2A44"/>
                          </a:solidFill>
                          <a:latin typeface="Calibri"/>
                        </a:rPr>
                        <a:t>na7p410c</a:t>
                      </a:r>
                    </a:p>
                  </a:txBody>
                  <a:tcPr marL="54864" marR="54864" marT="27432" marB="27432">
                    <a:solidFill>
                      <a:srgbClr val="FFFFFF"/>
                    </a:solidFill>
                  </a:tcPr>
                </a:tc>
                <a:tc>
                  <a:txBody>
                    <a:bodyPr wrap="square"/>
                    <a:lstStyle/>
                    <a:p>
                      <a:pPr algn="l"/>
                      <a:r>
                        <a:rPr sz="1200" b="0">
                          <a:solidFill>
                            <a:srgbClr val="1F2A44"/>
                          </a:solidFill>
                          <a:latin typeface="Calibri"/>
                        </a:rPr>
                        <a:t>NoSuchBucket</a:t>
                      </a:r>
                    </a:p>
                  </a:txBody>
                  <a:tcPr marL="54864" marR="54864" marT="27432" marB="27432">
                    <a:solidFill>
                      <a:srgbClr val="FFFFFF"/>
                    </a:solidFill>
                  </a:tcPr>
                </a:tc>
                <a:tc>
                  <a:txBody>
                    <a:bodyPr wrap="square"/>
                    <a:lstStyle/>
                    <a:p>
                      <a:pPr algn="l"/>
                      <a:r>
                        <a:rPr sz="1200" b="0">
                          <a:solidFill>
                            <a:srgbClr val="1F2A44"/>
                          </a:solidFill>
                          <a:latin typeface="Calibri"/>
                        </a:rPr>
                        <a:t>reconcile with provider; remove from inventory if gone</a:t>
                      </a:r>
                    </a:p>
                  </a:txBody>
                  <a:tcPr marL="54864" marR="54864" marT="27432" marB="2743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C8102E"/>
                </a:solidFill>
                <a:latin typeface="Calibri"/>
              </a:rPr>
              <a:t>These names are in the bucket inventory but returned an error when listed; each needs reconciling with the provider — deleted, renamed or access withdrawn.</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[measured]  Receipt R04: OBS bucket enumeration census run cr-f1415e395361 (22,997,353 objects, 130.8 TiB)</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EVIDENCE BY NAME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Object-store buckets that could not be read</a:t>
            </a:r>
          </a:p>
        </p:txBody>
      </p:sp>
      <p:graphicFrame>
        <p:nvGraphicFramePr>
          <p:cNvPr id="4" name="Table 3"/>
          <p:cNvGraphicFramePr>
            <a:graphicFrameLocks noGrp="1"/>
          </p:cNvGraphicFramePr>
          <p:nvPr/>
        </p:nvGraphicFramePr>
        <p:xfrm>
          <a:off x="594360" y="1920240"/>
          <a:ext cx="11002975" cy="3017520"/>
        </p:xfrm>
        <a:graphic>
          <a:graphicData uri="http://schemas.openxmlformats.org/drawingml/2006/table">
            <a:tbl>
              <a:tblPr firstRow="1" bandRow="1">
                <a:tableStyleId>{5C22544A-7EE6-4342-B048-85BDC9FD1C3A}</a:tableStyleId>
              </a:tblPr>
              <a:tblGrid>
                <a:gridCol w="2200595"/>
                <a:gridCol w="2200595"/>
                <a:gridCol w="6601785"/>
              </a:tblGrid>
              <a:tr h="301752">
                <a:tc>
                  <a:txBody>
                    <a:bodyPr wrap="square"/>
                    <a:lstStyle/>
                    <a:p>
                      <a:pPr algn="l"/>
                      <a:r>
                        <a:rPr sz="1200" b="1">
                          <a:solidFill>
                            <a:srgbClr val="1F2A44"/>
                          </a:solidFill>
                          <a:latin typeface="Calibri"/>
                        </a:rPr>
                        <a:t>Bucket</a:t>
                      </a:r>
                    </a:p>
                  </a:txBody>
                  <a:tcPr marL="54864" marR="54864" marT="27432" marB="27432">
                    <a:solidFill>
                      <a:srgbClr val="E9ECF1"/>
                    </a:solidFill>
                  </a:tcPr>
                </a:tc>
                <a:tc>
                  <a:txBody>
                    <a:bodyPr wrap="square"/>
                    <a:lstStyle/>
                    <a:p>
                      <a:pPr algn="l"/>
                      <a:r>
                        <a:rPr sz="1200" b="1">
                          <a:solidFill>
                            <a:srgbClr val="1F2A44"/>
                          </a:solidFill>
                          <a:latin typeface="Calibri"/>
                        </a:rPr>
                        <a:t>Error returned</a:t>
                      </a:r>
                    </a:p>
                  </a:txBody>
                  <a:tcPr marL="54864" marR="54864" marT="27432" marB="27432">
                    <a:solidFill>
                      <a:srgbClr val="E9ECF1"/>
                    </a:solidFill>
                  </a:tcPr>
                </a:tc>
                <a:tc>
                  <a:txBody>
                    <a:bodyPr wrap="square"/>
                    <a:lstStyle/>
                    <a:p>
                      <a:pPr algn="l"/>
                      <a:r>
                        <a:rPr sz="1200" b="1">
                          <a:solidFill>
                            <a:srgbClr val="1F2A44"/>
                          </a:solidFill>
                          <a:latin typeface="Calibri"/>
                        </a:rPr>
                        <a:t>Proposed action</a:t>
                      </a:r>
                    </a:p>
                  </a:txBody>
                  <a:tcPr marL="54864" marR="54864" marT="27432" marB="27432">
                    <a:solidFill>
                      <a:srgbClr val="E9ECF1"/>
                    </a:solidFill>
                  </a:tcPr>
                </a:tc>
              </a:tr>
              <a:tr h="301752">
                <a:tc>
                  <a:txBody>
                    <a:bodyPr wrap="square"/>
                    <a:lstStyle/>
                    <a:p>
                      <a:pPr algn="l"/>
                      <a:r>
                        <a:rPr sz="1200" b="0">
                          <a:solidFill>
                            <a:srgbClr val="1F2A44"/>
                          </a:solidFill>
                          <a:latin typeface="Calibri"/>
                        </a:rPr>
                        <a:t>na7p419y</a:t>
                      </a:r>
                    </a:p>
                  </a:txBody>
                  <a:tcPr marL="54864" marR="54864" marT="27432" marB="27432">
                    <a:solidFill>
                      <a:srgbClr val="FFFFFF"/>
                    </a:solidFill>
                  </a:tcPr>
                </a:tc>
                <a:tc>
                  <a:txBody>
                    <a:bodyPr wrap="square"/>
                    <a:lstStyle/>
                    <a:p>
                      <a:pPr algn="l"/>
                      <a:r>
                        <a:rPr sz="1200" b="0">
                          <a:solidFill>
                            <a:srgbClr val="1F2A44"/>
                          </a:solidFill>
                          <a:latin typeface="Calibri"/>
                        </a:rPr>
                        <a:t>NoSuchBucket</a:t>
                      </a:r>
                    </a:p>
                  </a:txBody>
                  <a:tcPr marL="54864" marR="54864" marT="27432" marB="27432">
                    <a:solidFill>
                      <a:srgbClr val="FFFFFF"/>
                    </a:solidFill>
                  </a:tcPr>
                </a:tc>
                <a:tc>
                  <a:txBody>
                    <a:bodyPr wrap="square"/>
                    <a:lstStyle/>
                    <a:p>
                      <a:pPr algn="l"/>
                      <a:r>
                        <a:rPr sz="1200" b="0">
                          <a:solidFill>
                            <a:srgbClr val="1F2A44"/>
                          </a:solidFill>
                          <a:latin typeface="Calibri"/>
                        </a:rPr>
                        <a:t>reconcile with provider; remove from inventory if gone</a:t>
                      </a:r>
                    </a:p>
                  </a:txBody>
                  <a:tcPr marL="54864" marR="54864" marT="27432" marB="27432">
                    <a:solidFill>
                      <a:srgbClr val="FFFFFF"/>
                    </a:solidFill>
                  </a:tcPr>
                </a:tc>
              </a:tr>
              <a:tr h="301752">
                <a:tc>
                  <a:txBody>
                    <a:bodyPr wrap="square"/>
                    <a:lstStyle/>
                    <a:p>
                      <a:pPr algn="l"/>
                      <a:r>
                        <a:rPr sz="1200" b="0">
                          <a:solidFill>
                            <a:srgbClr val="1F2A44"/>
                          </a:solidFill>
                          <a:latin typeface="Calibri"/>
                        </a:rPr>
                        <a:t>na7p41ab</a:t>
                      </a:r>
                    </a:p>
                  </a:txBody>
                  <a:tcPr marL="54864" marR="54864" marT="27432" marB="27432">
                    <a:solidFill>
                      <a:srgbClr val="FFFFFF"/>
                    </a:solidFill>
                  </a:tcPr>
                </a:tc>
                <a:tc>
                  <a:txBody>
                    <a:bodyPr wrap="square"/>
                    <a:lstStyle/>
                    <a:p>
                      <a:pPr algn="l"/>
                      <a:r>
                        <a:rPr sz="1200" b="0">
                          <a:solidFill>
                            <a:srgbClr val="1F2A44"/>
                          </a:solidFill>
                          <a:latin typeface="Calibri"/>
                        </a:rPr>
                        <a:t>NoSuchBucket</a:t>
                      </a:r>
                    </a:p>
                  </a:txBody>
                  <a:tcPr marL="54864" marR="54864" marT="27432" marB="27432">
                    <a:solidFill>
                      <a:srgbClr val="FFFFFF"/>
                    </a:solidFill>
                  </a:tcPr>
                </a:tc>
                <a:tc>
                  <a:txBody>
                    <a:bodyPr wrap="square"/>
                    <a:lstStyle/>
                    <a:p>
                      <a:pPr algn="l"/>
                      <a:r>
                        <a:rPr sz="1200" b="0">
                          <a:solidFill>
                            <a:srgbClr val="1F2A44"/>
                          </a:solidFill>
                          <a:latin typeface="Calibri"/>
                        </a:rPr>
                        <a:t>reconcile with provider; remove from inventory if gone</a:t>
                      </a:r>
                    </a:p>
                  </a:txBody>
                  <a:tcPr marL="54864" marR="54864" marT="27432" marB="27432">
                    <a:solidFill>
                      <a:srgbClr val="FFFFFF"/>
                    </a:solidFill>
                  </a:tcPr>
                </a:tc>
              </a:tr>
              <a:tr h="301752">
                <a:tc>
                  <a:txBody>
                    <a:bodyPr wrap="square"/>
                    <a:lstStyle/>
                    <a:p>
                      <a:pPr algn="l"/>
                      <a:r>
                        <a:rPr sz="1200" b="0">
                          <a:solidFill>
                            <a:srgbClr val="1F2A44"/>
                          </a:solidFill>
                          <a:latin typeface="Calibri"/>
                        </a:rPr>
                        <a:t>na7p41f4</a:t>
                      </a:r>
                    </a:p>
                  </a:txBody>
                  <a:tcPr marL="54864" marR="54864" marT="27432" marB="27432">
                    <a:solidFill>
                      <a:srgbClr val="FFFFFF"/>
                    </a:solidFill>
                  </a:tcPr>
                </a:tc>
                <a:tc>
                  <a:txBody>
                    <a:bodyPr wrap="square"/>
                    <a:lstStyle/>
                    <a:p>
                      <a:pPr algn="l"/>
                      <a:r>
                        <a:rPr sz="1200" b="0">
                          <a:solidFill>
                            <a:srgbClr val="1F2A44"/>
                          </a:solidFill>
                          <a:latin typeface="Calibri"/>
                        </a:rPr>
                        <a:t>NoSuchBucket</a:t>
                      </a:r>
                    </a:p>
                  </a:txBody>
                  <a:tcPr marL="54864" marR="54864" marT="27432" marB="27432">
                    <a:solidFill>
                      <a:srgbClr val="FFFFFF"/>
                    </a:solidFill>
                  </a:tcPr>
                </a:tc>
                <a:tc>
                  <a:txBody>
                    <a:bodyPr wrap="square"/>
                    <a:lstStyle/>
                    <a:p>
                      <a:pPr algn="l"/>
                      <a:r>
                        <a:rPr sz="1200" b="0">
                          <a:solidFill>
                            <a:srgbClr val="1F2A44"/>
                          </a:solidFill>
                          <a:latin typeface="Calibri"/>
                        </a:rPr>
                        <a:t>reconcile with provider; remove from inventory if gone</a:t>
                      </a:r>
                    </a:p>
                  </a:txBody>
                  <a:tcPr marL="54864" marR="54864" marT="27432" marB="27432">
                    <a:solidFill>
                      <a:srgbClr val="FFFFFF"/>
                    </a:solidFill>
                  </a:tcPr>
                </a:tc>
              </a:tr>
              <a:tr h="301752">
                <a:tc>
                  <a:txBody>
                    <a:bodyPr wrap="square"/>
                    <a:lstStyle/>
                    <a:p>
                      <a:pPr algn="l"/>
                      <a:r>
                        <a:rPr sz="1200" b="0">
                          <a:solidFill>
                            <a:srgbClr val="1F2A44"/>
                          </a:solidFill>
                          <a:latin typeface="Calibri"/>
                        </a:rPr>
                        <a:t>na7p41j6</a:t>
                      </a:r>
                    </a:p>
                  </a:txBody>
                  <a:tcPr marL="54864" marR="54864" marT="27432" marB="27432">
                    <a:solidFill>
                      <a:srgbClr val="FFFFFF"/>
                    </a:solidFill>
                  </a:tcPr>
                </a:tc>
                <a:tc>
                  <a:txBody>
                    <a:bodyPr wrap="square"/>
                    <a:lstStyle/>
                    <a:p>
                      <a:pPr algn="l"/>
                      <a:r>
                        <a:rPr sz="1200" b="0">
                          <a:solidFill>
                            <a:srgbClr val="1F2A44"/>
                          </a:solidFill>
                          <a:latin typeface="Calibri"/>
                        </a:rPr>
                        <a:t>NoSuchBucket</a:t>
                      </a:r>
                    </a:p>
                  </a:txBody>
                  <a:tcPr marL="54864" marR="54864" marT="27432" marB="27432">
                    <a:solidFill>
                      <a:srgbClr val="FFFFFF"/>
                    </a:solidFill>
                  </a:tcPr>
                </a:tc>
                <a:tc>
                  <a:txBody>
                    <a:bodyPr wrap="square"/>
                    <a:lstStyle/>
                    <a:p>
                      <a:pPr algn="l"/>
                      <a:r>
                        <a:rPr sz="1200" b="0">
                          <a:solidFill>
                            <a:srgbClr val="1F2A44"/>
                          </a:solidFill>
                          <a:latin typeface="Calibri"/>
                        </a:rPr>
                        <a:t>reconcile with provider; remove from inventory if gone</a:t>
                      </a:r>
                    </a:p>
                  </a:txBody>
                  <a:tcPr marL="54864" marR="54864" marT="27432" marB="27432">
                    <a:solidFill>
                      <a:srgbClr val="FFFFFF"/>
                    </a:solidFill>
                  </a:tcPr>
                </a:tc>
              </a:tr>
              <a:tr h="301752">
                <a:tc>
                  <a:txBody>
                    <a:bodyPr wrap="square"/>
                    <a:lstStyle/>
                    <a:p>
                      <a:pPr algn="l"/>
                      <a:r>
                        <a:rPr sz="1200" b="0">
                          <a:solidFill>
                            <a:srgbClr val="1F2A44"/>
                          </a:solidFill>
                          <a:latin typeface="Calibri"/>
                        </a:rPr>
                        <a:t>na7p41jk</a:t>
                      </a:r>
                    </a:p>
                  </a:txBody>
                  <a:tcPr marL="54864" marR="54864" marT="27432" marB="27432">
                    <a:solidFill>
                      <a:srgbClr val="FFFFFF"/>
                    </a:solidFill>
                  </a:tcPr>
                </a:tc>
                <a:tc>
                  <a:txBody>
                    <a:bodyPr wrap="square"/>
                    <a:lstStyle/>
                    <a:p>
                      <a:pPr algn="l"/>
                      <a:r>
                        <a:rPr sz="1200" b="0">
                          <a:solidFill>
                            <a:srgbClr val="1F2A44"/>
                          </a:solidFill>
                          <a:latin typeface="Calibri"/>
                        </a:rPr>
                        <a:t>NoSuchBucket</a:t>
                      </a:r>
                    </a:p>
                  </a:txBody>
                  <a:tcPr marL="54864" marR="54864" marT="27432" marB="27432">
                    <a:solidFill>
                      <a:srgbClr val="FFFFFF"/>
                    </a:solidFill>
                  </a:tcPr>
                </a:tc>
                <a:tc>
                  <a:txBody>
                    <a:bodyPr wrap="square"/>
                    <a:lstStyle/>
                    <a:p>
                      <a:pPr algn="l"/>
                      <a:r>
                        <a:rPr sz="1200" b="0">
                          <a:solidFill>
                            <a:srgbClr val="1F2A44"/>
                          </a:solidFill>
                          <a:latin typeface="Calibri"/>
                        </a:rPr>
                        <a:t>reconcile with provider; remove from inventory if gone</a:t>
                      </a:r>
                    </a:p>
                  </a:txBody>
                  <a:tcPr marL="54864" marR="54864" marT="27432" marB="27432">
                    <a:solidFill>
                      <a:srgbClr val="FFFFFF"/>
                    </a:solidFill>
                  </a:tcPr>
                </a:tc>
              </a:tr>
              <a:tr h="301752">
                <a:tc>
                  <a:txBody>
                    <a:bodyPr wrap="square"/>
                    <a:lstStyle/>
                    <a:p>
                      <a:pPr algn="l"/>
                      <a:r>
                        <a:rPr sz="1200" b="0">
                          <a:solidFill>
                            <a:srgbClr val="1F2A44"/>
                          </a:solidFill>
                          <a:latin typeface="Calibri"/>
                        </a:rPr>
                        <a:t>na7p42ry</a:t>
                      </a:r>
                    </a:p>
                  </a:txBody>
                  <a:tcPr marL="54864" marR="54864" marT="27432" marB="27432">
                    <a:solidFill>
                      <a:srgbClr val="FFFFFF"/>
                    </a:solidFill>
                  </a:tcPr>
                </a:tc>
                <a:tc>
                  <a:txBody>
                    <a:bodyPr wrap="square"/>
                    <a:lstStyle/>
                    <a:p>
                      <a:pPr algn="l"/>
                      <a:r>
                        <a:rPr sz="1200" b="0">
                          <a:solidFill>
                            <a:srgbClr val="1F2A44"/>
                          </a:solidFill>
                          <a:latin typeface="Calibri"/>
                        </a:rPr>
                        <a:t>NoSuchBucket</a:t>
                      </a:r>
                    </a:p>
                  </a:txBody>
                  <a:tcPr marL="54864" marR="54864" marT="27432" marB="27432">
                    <a:solidFill>
                      <a:srgbClr val="FFFFFF"/>
                    </a:solidFill>
                  </a:tcPr>
                </a:tc>
                <a:tc>
                  <a:txBody>
                    <a:bodyPr wrap="square"/>
                    <a:lstStyle/>
                    <a:p>
                      <a:pPr algn="l"/>
                      <a:r>
                        <a:rPr sz="1200" b="0">
                          <a:solidFill>
                            <a:srgbClr val="1F2A44"/>
                          </a:solidFill>
                          <a:latin typeface="Calibri"/>
                        </a:rPr>
                        <a:t>reconcile with provider; remove from inventory if gone</a:t>
                      </a:r>
                    </a:p>
                  </a:txBody>
                  <a:tcPr marL="54864" marR="54864" marT="27432" marB="27432">
                    <a:solidFill>
                      <a:srgbClr val="FFFFFF"/>
                    </a:solidFill>
                  </a:tcPr>
                </a:tc>
              </a:tr>
              <a:tr h="301752">
                <a:tc>
                  <a:txBody>
                    <a:bodyPr wrap="square"/>
                    <a:lstStyle/>
                    <a:p>
                      <a:pPr algn="l"/>
                      <a:r>
                        <a:rPr sz="1200" b="0">
                          <a:solidFill>
                            <a:srgbClr val="1F2A44"/>
                          </a:solidFill>
                          <a:latin typeface="Calibri"/>
                        </a:rPr>
                        <a:t>na7p42s5</a:t>
                      </a:r>
                    </a:p>
                  </a:txBody>
                  <a:tcPr marL="54864" marR="54864" marT="27432" marB="27432">
                    <a:solidFill>
                      <a:srgbClr val="FFFFFF"/>
                    </a:solidFill>
                  </a:tcPr>
                </a:tc>
                <a:tc>
                  <a:txBody>
                    <a:bodyPr wrap="square"/>
                    <a:lstStyle/>
                    <a:p>
                      <a:pPr algn="l"/>
                      <a:r>
                        <a:rPr sz="1200" b="0">
                          <a:solidFill>
                            <a:srgbClr val="1F2A44"/>
                          </a:solidFill>
                          <a:latin typeface="Calibri"/>
                        </a:rPr>
                        <a:t>NoSuchBucket</a:t>
                      </a:r>
                    </a:p>
                  </a:txBody>
                  <a:tcPr marL="54864" marR="54864" marT="27432" marB="27432">
                    <a:solidFill>
                      <a:srgbClr val="FFFFFF"/>
                    </a:solidFill>
                  </a:tcPr>
                </a:tc>
                <a:tc>
                  <a:txBody>
                    <a:bodyPr wrap="square"/>
                    <a:lstStyle/>
                    <a:p>
                      <a:pPr algn="l"/>
                      <a:r>
                        <a:rPr sz="1200" b="0">
                          <a:solidFill>
                            <a:srgbClr val="1F2A44"/>
                          </a:solidFill>
                          <a:latin typeface="Calibri"/>
                        </a:rPr>
                        <a:t>reconcile with provider; remove from inventory if gone</a:t>
                      </a:r>
                    </a:p>
                  </a:txBody>
                  <a:tcPr marL="54864" marR="54864" marT="27432" marB="27432">
                    <a:solidFill>
                      <a:srgbClr val="FFFFFF"/>
                    </a:solidFill>
                  </a:tcPr>
                </a:tc>
              </a:tr>
              <a:tr h="301752">
                <a:tc>
                  <a:txBody>
                    <a:bodyPr wrap="square"/>
                    <a:lstStyle/>
                    <a:p>
                      <a:pPr algn="l"/>
                      <a:r>
                        <a:rPr sz="1200" b="0">
                          <a:solidFill>
                            <a:srgbClr val="1F2A44"/>
                          </a:solidFill>
                          <a:latin typeface="Calibri"/>
                        </a:rPr>
                        <a:t>na7p42s7</a:t>
                      </a:r>
                    </a:p>
                  </a:txBody>
                  <a:tcPr marL="54864" marR="54864" marT="27432" marB="27432">
                    <a:solidFill>
                      <a:srgbClr val="FFFFFF"/>
                    </a:solidFill>
                  </a:tcPr>
                </a:tc>
                <a:tc>
                  <a:txBody>
                    <a:bodyPr wrap="square"/>
                    <a:lstStyle/>
                    <a:p>
                      <a:pPr algn="l"/>
                      <a:r>
                        <a:rPr sz="1200" b="0">
                          <a:solidFill>
                            <a:srgbClr val="1F2A44"/>
                          </a:solidFill>
                          <a:latin typeface="Calibri"/>
                        </a:rPr>
                        <a:t>NoSuchBucket</a:t>
                      </a:r>
                    </a:p>
                  </a:txBody>
                  <a:tcPr marL="54864" marR="54864" marT="27432" marB="27432">
                    <a:solidFill>
                      <a:srgbClr val="FFFFFF"/>
                    </a:solidFill>
                  </a:tcPr>
                </a:tc>
                <a:tc>
                  <a:txBody>
                    <a:bodyPr wrap="square"/>
                    <a:lstStyle/>
                    <a:p>
                      <a:pPr algn="l"/>
                      <a:r>
                        <a:rPr sz="1200" b="0">
                          <a:solidFill>
                            <a:srgbClr val="1F2A44"/>
                          </a:solidFill>
                          <a:latin typeface="Calibri"/>
                        </a:rPr>
                        <a:t>reconcile with provider; remove from inventory if gone</a:t>
                      </a:r>
                    </a:p>
                  </a:txBody>
                  <a:tcPr marL="54864" marR="54864" marT="27432" marB="27432">
                    <a:solidFill>
                      <a:srgbClr val="FFFFFF"/>
                    </a:solidFill>
                  </a:tcPr>
                </a:tc>
              </a:tr>
              <a:tr h="301752">
                <a:tc>
                  <a:txBody>
                    <a:bodyPr wrap="square"/>
                    <a:lstStyle/>
                    <a:p>
                      <a:pPr algn="l"/>
                      <a:r>
                        <a:rPr sz="1200" b="0">
                          <a:solidFill>
                            <a:srgbClr val="1F2A44"/>
                          </a:solidFill>
                          <a:latin typeface="Calibri"/>
                        </a:rPr>
                        <a:t>na7p42tq</a:t>
                      </a:r>
                    </a:p>
                  </a:txBody>
                  <a:tcPr marL="54864" marR="54864" marT="27432" marB="27432">
                    <a:solidFill>
                      <a:srgbClr val="FFFFFF"/>
                    </a:solidFill>
                  </a:tcPr>
                </a:tc>
                <a:tc>
                  <a:txBody>
                    <a:bodyPr wrap="square"/>
                    <a:lstStyle/>
                    <a:p>
                      <a:pPr algn="l"/>
                      <a:r>
                        <a:rPr sz="1200" b="0">
                          <a:solidFill>
                            <a:srgbClr val="1F2A44"/>
                          </a:solidFill>
                          <a:latin typeface="Calibri"/>
                        </a:rPr>
                        <a:t>NoSuchBucket</a:t>
                      </a:r>
                    </a:p>
                  </a:txBody>
                  <a:tcPr marL="54864" marR="54864" marT="27432" marB="27432">
                    <a:solidFill>
                      <a:srgbClr val="FFFFFF"/>
                    </a:solidFill>
                  </a:tcPr>
                </a:tc>
                <a:tc>
                  <a:txBody>
                    <a:bodyPr wrap="square"/>
                    <a:lstStyle/>
                    <a:p>
                      <a:pPr algn="l"/>
                      <a:r>
                        <a:rPr sz="1200" b="0">
                          <a:solidFill>
                            <a:srgbClr val="1F2A44"/>
                          </a:solidFill>
                          <a:latin typeface="Calibri"/>
                        </a:rPr>
                        <a:t>reconcile with provider; remove from inventory if gone</a:t>
                      </a:r>
                    </a:p>
                  </a:txBody>
                  <a:tcPr marL="54864" marR="54864" marT="27432" marB="2743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C8102E"/>
                </a:solidFill>
                <a:latin typeface="Calibri"/>
              </a:rPr>
              <a:t>These names are in the bucket inventory but returned an error when listed; each needs reconciling with the provider — deleted, renamed or access withdrawn.</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[measured]  Receipt R04: OBS bucket enumeration census run cr-f1415e395361 (22,997,353 objects, 130.8 TiB)</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1920240"/>
            <a:ext cx="2613355" cy="1885492"/>
          </a:xfrm>
          <a:prstGeom prst="rect">
            <a:avLst/>
          </a:prstGeom>
          <a:noFill/>
        </p:spPr>
        <p:txBody>
          <a:bodyPr wrap="square" lIns="0" rIns="0" tIns="0" bIns="0" anchor="ctr">
            <a:spAutoFit/>
          </a:bodyPr>
          <a:lstStyle/>
          <a:p>
            <a:pPr algn="l"/>
            <a:r>
              <a:rPr sz="9600" b="0" i="0">
                <a:solidFill>
                  <a:srgbClr val="C8102E"/>
                </a:solidFill>
                <a:latin typeface="Courier New"/>
              </a:rPr>
              <a:t>03</a:t>
            </a:r>
          </a:p>
        </p:txBody>
      </p:sp>
      <p:sp>
        <p:nvSpPr>
          <p:cNvPr id="3" name="TextBox 2"/>
          <p:cNvSpPr txBox="1"/>
          <p:nvPr/>
        </p:nvSpPr>
        <p:spPr>
          <a:xfrm>
            <a:off x="3390595" y="2297887"/>
            <a:ext cx="8206740" cy="1508760"/>
          </a:xfrm>
          <a:prstGeom prst="rect">
            <a:avLst/>
          </a:prstGeom>
          <a:noFill/>
        </p:spPr>
        <p:txBody>
          <a:bodyPr wrap="square" lIns="0" rIns="0" tIns="0" bIns="0" anchor="ctr">
            <a:spAutoFit/>
          </a:bodyPr>
          <a:lstStyle/>
          <a:p>
            <a:pPr algn="l"/>
            <a:r>
              <a:rPr sz="3200" b="0" i="0">
                <a:solidFill>
                  <a:srgbClr val="1F2A44"/>
                </a:solidFill>
                <a:latin typeface="Cambria"/>
              </a:rPr>
              <a:t>Cost levers and their certainty</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COST STRATEGIES</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Archiving idle buckets addresses most reclaimable bytes, but only as an upper bound</a:t>
            </a:r>
          </a:p>
        </p:txBody>
      </p:sp>
      <p:graphicFrame>
        <p:nvGraphicFramePr>
          <p:cNvPr id="4" name="Chart 3"/>
          <p:cNvGraphicFramePr>
            <a:graphicFrameLocks noGrp="1"/>
          </p:cNvGraphicFramePr>
          <p:nvPr/>
        </p:nvGraphicFramePr>
        <p:xfrm>
          <a:off x="594360" y="1920240"/>
          <a:ext cx="11002975" cy="3394252"/>
        </p:xfrm>
        <a:graphic>
          <a:graphicData uri="http://schemas.openxmlformats.org/drawingml/2006/chart">
            <c:chart xmlns:c="http://schemas.openxmlformats.org/drawingml/2006/chart" r:id="rId2"/>
          </a:graphicData>
        </a:graphic>
      </p:graphicFrame>
      <p:sp>
        <p:nvSpPr>
          <p:cNvPr id="5" name="TextBox 4"/>
          <p:cNvSpPr txBox="1"/>
          <p:nvPr/>
        </p:nvSpPr>
        <p:spPr>
          <a:xfrm>
            <a:off x="594360" y="5314492"/>
            <a:ext cx="8206740" cy="376732"/>
          </a:xfrm>
          <a:prstGeom prst="rect">
            <a:avLst/>
          </a:prstGeom>
          <a:noFill/>
        </p:spPr>
        <p:txBody>
          <a:bodyPr wrap="square" lIns="0" rIns="0" tIns="0" bIns="0" anchor="b">
            <a:spAutoFit/>
          </a:bodyPr>
          <a:lstStyle/>
          <a:p>
            <a:pPr algn="l"/>
            <a:r>
              <a:rPr sz="1400" b="0" i="1">
                <a:solidFill>
                  <a:srgbClr val="C8102E"/>
                </a:solidFill>
                <a:latin typeface="Calibri"/>
              </a:rPr>
              <a:t>Addressed bytes are not removed bytes; strategies may overlap, and no write for a year does not show that nobody reads the data.</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[estimated]  Receipt R02: Estate intelligence census eij-1b359b3cbd2e, cost_strategies priced at reference list prices, not the owner's invoice: Huawei Cloud RDS for MySQL cloud SSD AF-Johannesburg 0.00015 USD/GB-hour x 730 h; OBS Standard 0.023 USD/GB-month</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OPTION COMPARISON</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Three conditional moves compared: archive idle buckets, reconcile duplicates, cool old tables</a:t>
            </a:r>
          </a:p>
        </p:txBody>
      </p:sp>
      <p:graphicFrame>
        <p:nvGraphicFramePr>
          <p:cNvPr id="4" name="Table 3"/>
          <p:cNvGraphicFramePr>
            <a:graphicFrameLocks noGrp="1"/>
          </p:cNvGraphicFramePr>
          <p:nvPr/>
        </p:nvGraphicFramePr>
        <p:xfrm>
          <a:off x="594360" y="1920240"/>
          <a:ext cx="11002975" cy="1371600"/>
        </p:xfrm>
        <a:graphic>
          <a:graphicData uri="http://schemas.openxmlformats.org/drawingml/2006/table">
            <a:tbl>
              <a:tblPr firstRow="1" bandRow="1">
                <a:tableStyleId>{5C22544A-7EE6-4342-B048-85BDC9FD1C3A}</a:tableStyleId>
              </a:tblPr>
              <a:tblGrid>
                <a:gridCol w="3080833"/>
                <a:gridCol w="2640714"/>
                <a:gridCol w="2640714"/>
                <a:gridCol w="2640714"/>
              </a:tblGrid>
              <a:tr h="457200">
                <a:tc>
                  <a:txBody>
                    <a:bodyPr wrap="square"/>
                    <a:lstStyle/>
                    <a:p>
                      <a:pPr algn="l"/>
                      <a:r>
                        <a:rPr sz="1300" b="0">
                          <a:solidFill>
                            <a:srgbClr val="1F2A44"/>
                          </a:solidFill>
                          <a:latin typeface="Calibri"/>
                        </a:rPr>
                        <a:t/>
                      </a:r>
                    </a:p>
                  </a:txBody>
                  <a:tcPr marL="73152" marR="73152">
                    <a:solidFill>
                      <a:srgbClr val="E9ECF1"/>
                    </a:solidFill>
                  </a:tcPr>
                </a:tc>
                <a:tc>
                  <a:txBody>
                    <a:bodyPr wrap="square"/>
                    <a:lstStyle/>
                    <a:p>
                      <a:pPr algn="l"/>
                      <a:r>
                        <a:rPr sz="1300" b="1">
                          <a:solidFill>
                            <a:srgbClr val="1F2A44"/>
                          </a:solidFill>
                          <a:latin typeface="Calibri"/>
                        </a:rPr>
                        <a:t>Move buckets not written for over a year to archive-class st</a:t>
                      </a:r>
                    </a:p>
                  </a:txBody>
                  <a:tcPr marL="73152" marR="73152">
                    <a:solidFill>
                      <a:srgbClr val="E9ECF1"/>
                    </a:solidFill>
                  </a:tcPr>
                </a:tc>
                <a:tc>
                  <a:txBody>
                    <a:bodyPr wrap="square"/>
                    <a:lstStyle/>
                    <a:p>
                      <a:pPr algn="l"/>
                      <a:r>
                        <a:rPr sz="1300" b="1">
                          <a:solidFill>
                            <a:srgbClr val="1F2A44"/>
                          </a:solidFill>
                          <a:latin typeface="Calibri"/>
                        </a:rPr>
                        <a:t>Reconcile duplicate objects across OBS buckets</a:t>
                      </a:r>
                    </a:p>
                  </a:txBody>
                  <a:tcPr marL="73152" marR="73152">
                    <a:solidFill>
                      <a:srgbClr val="E9ECF1"/>
                    </a:solidFill>
                  </a:tcPr>
                </a:tc>
                <a:tc>
                  <a:txBody>
                    <a:bodyPr wrap="square"/>
                    <a:lstStyle/>
                    <a:p>
                      <a:pPr algn="l"/>
                      <a:r>
                        <a:rPr sz="1300" b="1">
                          <a:solidFill>
                            <a:srgbClr val="1F2A44"/>
                          </a:solidFill>
                          <a:latin typeface="Calibri"/>
                        </a:rPr>
                        <a:t>Move tables not written for over a year to cold storage</a:t>
                      </a:r>
                    </a:p>
                  </a:txBody>
                  <a:tcPr marL="73152" marR="73152">
                    <a:solidFill>
                      <a:srgbClr val="E9ECF1"/>
                    </a:solidFill>
                  </a:tcPr>
                </a:tc>
              </a:tr>
              <a:tr h="457200">
                <a:tc>
                  <a:txBody>
                    <a:bodyPr wrap="square"/>
                    <a:lstStyle/>
                    <a:p>
                      <a:pPr algn="l"/>
                      <a:r>
                        <a:rPr sz="1300" b="0">
                          <a:solidFill>
                            <a:srgbClr val="8A94A6"/>
                          </a:solidFill>
                          <a:latin typeface="Calibri"/>
                        </a:rPr>
                        <a:t>Reclaimable gib</a:t>
                      </a:r>
                    </a:p>
                  </a:txBody>
                  <a:tcPr marL="73152" marR="73152">
                    <a:solidFill>
                      <a:srgbClr val="FFFFFF"/>
                    </a:solidFill>
                  </a:tcPr>
                </a:tc>
                <a:tc>
                  <a:txBody>
                    <a:bodyPr wrap="square"/>
                    <a:lstStyle/>
                    <a:p>
                      <a:pPr algn="r"/>
                      <a:r>
                        <a:rPr sz="1300" b="0">
                          <a:solidFill>
                            <a:srgbClr val="1F2A44"/>
                          </a:solidFill>
                          <a:latin typeface="Courier New"/>
                        </a:rPr>
                        <a:t>42,891.0</a:t>
                      </a:r>
                    </a:p>
                  </a:txBody>
                  <a:tcPr marL="73152" marR="73152">
                    <a:solidFill>
                      <a:srgbClr val="FFFFFF"/>
                    </a:solidFill>
                  </a:tcPr>
                </a:tc>
                <a:tc>
                  <a:txBody>
                    <a:bodyPr wrap="square"/>
                    <a:lstStyle/>
                    <a:p>
                      <a:pPr algn="r"/>
                      <a:r>
                        <a:rPr sz="1300" b="0">
                          <a:solidFill>
                            <a:srgbClr val="1F2A44"/>
                          </a:solidFill>
                          <a:latin typeface="Courier New"/>
                        </a:rPr>
                        <a:t>7,840.5</a:t>
                      </a:r>
                    </a:p>
                  </a:txBody>
                  <a:tcPr marL="73152" marR="73152">
                    <a:solidFill>
                      <a:srgbClr val="FFFFFF"/>
                    </a:solidFill>
                  </a:tcPr>
                </a:tc>
                <a:tc>
                  <a:txBody>
                    <a:bodyPr wrap="square"/>
                    <a:lstStyle/>
                    <a:p>
                      <a:pPr algn="r"/>
                      <a:r>
                        <a:rPr sz="1300" b="0">
                          <a:solidFill>
                            <a:srgbClr val="1F2A44"/>
                          </a:solidFill>
                          <a:latin typeface="Courier New"/>
                        </a:rPr>
                        <a:t>54.1</a:t>
                      </a:r>
                    </a:p>
                  </a:txBody>
                  <a:tcPr marL="73152" marR="73152">
                    <a:solidFill>
                      <a:srgbClr val="FFFFFF"/>
                    </a:solidFill>
                  </a:tcPr>
                </a:tc>
              </a:tr>
              <a:tr h="457200">
                <a:tc>
                  <a:txBody>
                    <a:bodyPr wrap="square"/>
                    <a:lstStyle/>
                    <a:p>
                      <a:pPr algn="l"/>
                      <a:r>
                        <a:rPr sz="1300" b="0">
                          <a:solidFill>
                            <a:srgbClr val="8A94A6"/>
                          </a:solidFill>
                          <a:latin typeface="Calibri"/>
                        </a:rPr>
                        <a:t>Monthly saving usd</a:t>
                      </a:r>
                    </a:p>
                  </a:txBody>
                  <a:tcPr marL="73152" marR="73152">
                    <a:solidFill>
                      <a:srgbClr val="FFFFFF"/>
                    </a:solidFill>
                  </a:tcPr>
                </a:tc>
                <a:tc>
                  <a:txBody>
                    <a:bodyPr wrap="square"/>
                    <a:lstStyle/>
                    <a:p>
                      <a:pPr algn="r"/>
                      <a:r>
                        <a:rPr sz="1300" b="0">
                          <a:solidFill>
                            <a:srgbClr val="1F2A44"/>
                          </a:solidFill>
                          <a:latin typeface="Courier New"/>
                        </a:rPr>
                        <a:t>986.5</a:t>
                      </a:r>
                    </a:p>
                  </a:txBody>
                  <a:tcPr marL="73152" marR="73152">
                    <a:solidFill>
                      <a:srgbClr val="FFFFFF"/>
                    </a:solidFill>
                  </a:tcPr>
                </a:tc>
                <a:tc>
                  <a:txBody>
                    <a:bodyPr wrap="square"/>
                    <a:lstStyle/>
                    <a:p>
                      <a:pPr algn="r"/>
                      <a:r>
                        <a:rPr sz="1300" b="0">
                          <a:solidFill>
                            <a:srgbClr val="1F2A44"/>
                          </a:solidFill>
                          <a:latin typeface="Courier New"/>
                        </a:rPr>
                        <a:t>180.3</a:t>
                      </a:r>
                    </a:p>
                  </a:txBody>
                  <a:tcPr marL="73152" marR="73152">
                    <a:solidFill>
                      <a:srgbClr val="FFFFFF"/>
                    </a:solidFill>
                  </a:tcPr>
                </a:tc>
                <a:tc>
                  <a:txBody>
                    <a:bodyPr wrap="square"/>
                    <a:lstStyle/>
                    <a:p>
                      <a:pPr algn="r"/>
                      <a:r>
                        <a:rPr sz="1300" b="0">
                          <a:solidFill>
                            <a:srgbClr val="1F2A44"/>
                          </a:solidFill>
                          <a:latin typeface="Courier New"/>
                        </a:rPr>
                        <a:t>5.9</a:t>
                      </a:r>
                    </a:p>
                  </a:txBody>
                  <a:tcPr marL="73152" marR="7315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C8102E"/>
                </a:solidFill>
                <a:latin typeface="Calibri"/>
              </a:rPr>
              <a:t>Each figure is an upper bound at reference list prices; storage class, read demand and retrieval fees decide what is actually saved.</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[estimated]  Receipt R02: Estate intelligence census eij-1b359b3cbd2e, cost_strategies priced at reference list prices, not the owner's invoice: Huawei Cloud RDS for MySQL cloud SSD AF-Johannesburg 0.00015 USD/GB-hour x 730 h; OBS Standard 0.023 USD/GB-month</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1920240"/>
            <a:ext cx="2613355" cy="1885492"/>
          </a:xfrm>
          <a:prstGeom prst="rect">
            <a:avLst/>
          </a:prstGeom>
          <a:noFill/>
        </p:spPr>
        <p:txBody>
          <a:bodyPr wrap="square" lIns="0" rIns="0" tIns="0" bIns="0" anchor="ctr">
            <a:spAutoFit/>
          </a:bodyPr>
          <a:lstStyle/>
          <a:p>
            <a:pPr algn="l"/>
            <a:r>
              <a:rPr sz="9600" b="0" i="0">
                <a:solidFill>
                  <a:srgbClr val="C8102E"/>
                </a:solidFill>
                <a:latin typeface="Courier New"/>
              </a:rPr>
              <a:t>04</a:t>
            </a:r>
          </a:p>
        </p:txBody>
      </p:sp>
      <p:sp>
        <p:nvSpPr>
          <p:cNvPr id="3" name="TextBox 2"/>
          <p:cNvSpPr txBox="1"/>
          <p:nvPr/>
        </p:nvSpPr>
        <p:spPr>
          <a:xfrm>
            <a:off x="3390595" y="2297887"/>
            <a:ext cx="8206740" cy="1508760"/>
          </a:xfrm>
          <a:prstGeom prst="rect">
            <a:avLst/>
          </a:prstGeom>
          <a:noFill/>
        </p:spPr>
        <p:txBody>
          <a:bodyPr wrap="square" lIns="0" rIns="0" tIns="0" bIns="0" anchor="ctr">
            <a:spAutoFit/>
          </a:bodyPr>
          <a:lstStyle/>
          <a:p>
            <a:pPr algn="l"/>
            <a:r>
              <a:rPr sz="3200" b="0" i="0">
                <a:solidFill>
                  <a:srgbClr val="1F2A44"/>
                </a:solidFill>
                <a:latin typeface="Cambria"/>
              </a:rPr>
              <a:t>Condition of the database rows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ROW CONDITION</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Empty required-looking fields are the commonest row signal; exact duplicates are the smallest</a:t>
            </a:r>
          </a:p>
        </p:txBody>
      </p:sp>
      <p:graphicFrame>
        <p:nvGraphicFramePr>
          <p:cNvPr id="4" name="Chart 3"/>
          <p:cNvGraphicFramePr>
            <a:graphicFrameLocks noGrp="1"/>
          </p:cNvGraphicFramePr>
          <p:nvPr/>
        </p:nvGraphicFramePr>
        <p:xfrm>
          <a:off x="594360" y="1920240"/>
          <a:ext cx="11002975" cy="3394252"/>
        </p:xfrm>
        <a:graphic>
          <a:graphicData uri="http://schemas.openxmlformats.org/drawingml/2006/chart">
            <c:chart xmlns:c="http://schemas.openxmlformats.org/drawingml/2006/chart" r:id="rId2"/>
          </a:graphicData>
        </a:graphic>
      </p:graphicFrame>
      <p:sp>
        <p:nvSpPr>
          <p:cNvPr id="5" name="TextBox 4"/>
          <p:cNvSpPr txBox="1"/>
          <p:nvPr/>
        </p:nvSpPr>
        <p:spPr>
          <a:xfrm>
            <a:off x="594360" y="5314492"/>
            <a:ext cx="8206740" cy="376732"/>
          </a:xfrm>
          <a:prstGeom prst="rect">
            <a:avLst/>
          </a:prstGeom>
          <a:noFill/>
        </p:spPr>
        <p:txBody>
          <a:bodyPr wrap="square" lIns="0" rIns="0" tIns="0" bIns="0" anchor="b">
            <a:spAutoFit/>
          </a:bodyPr>
          <a:lstStyle/>
          <a:p>
            <a:pPr algn="l"/>
            <a:r>
              <a:rPr sz="1400" b="0" i="1">
                <a:solidFill>
                  <a:srgbClr val="C8102E"/>
                </a:solidFill>
                <a:latin typeface="Calibri"/>
              </a:rPr>
              <a:t>The measures overlap and use different populations, so they are separate signals, not shares of one whole.</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[estimated]  Receipt R01: Estate intelligence census eij-1b359b3cbd2e, digest-verified report (measured 2026-09-29), headline aggregates and per-database measures</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DATABASE CONCENTRATION</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Database bytes are concentrated: 99.7% sits in the largest databases</a:t>
            </a:r>
          </a:p>
        </p:txBody>
      </p:sp>
      <p:graphicFrame>
        <p:nvGraphicFramePr>
          <p:cNvPr id="4" name="Chart 3"/>
          <p:cNvGraphicFramePr>
            <a:graphicFrameLocks noGrp="1"/>
          </p:cNvGraphicFramePr>
          <p:nvPr/>
        </p:nvGraphicFramePr>
        <p:xfrm>
          <a:off x="594360" y="1920240"/>
          <a:ext cx="11002975" cy="3394252"/>
        </p:xfrm>
        <a:graphic>
          <a:graphicData uri="http://schemas.openxmlformats.org/drawingml/2006/chart">
            <c:chart xmlns:c="http://schemas.openxmlformats.org/drawingml/2006/chart" r:id="rId2"/>
          </a:graphicData>
        </a:graphic>
      </p:graphicFrame>
      <p:sp>
        <p:nvSpPr>
          <p:cNvPr id="5" name="TextBox 4"/>
          <p:cNvSpPr txBox="1"/>
          <p:nvPr/>
        </p:nvSpPr>
        <p:spPr>
          <a:xfrm>
            <a:off x="594360" y="5314492"/>
            <a:ext cx="8206740" cy="376732"/>
          </a:xfrm>
          <a:prstGeom prst="rect">
            <a:avLst/>
          </a:prstGeom>
          <a:noFill/>
        </p:spPr>
        <p:txBody>
          <a:bodyPr wrap="square" lIns="0" rIns="0" tIns="0" bIns="0" anchor="b">
            <a:spAutoFit/>
          </a:bodyPr>
          <a:lstStyle/>
          <a:p>
            <a:pPr algn="l"/>
            <a:r>
              <a:rPr sz="1400" b="0" i="1">
                <a:solidFill>
                  <a:srgbClr val="C8102E"/>
                </a:solidFill>
                <a:latin typeface="Calibri"/>
              </a:rPr>
              <a:t>Targeted work on the largest databases has the most operational leverage; size is not a quality score or a share of the estate.</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[measured]  Receipt R01: Estate intelligence census eij-1b359b3cbd2e, digest-verified report (measured 2026-09-29), headline aggregates and per-database measures</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ROW CONDITION</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Database work is completeness, damage and de-identification, not duplicate removal</a:t>
            </a:r>
          </a:p>
        </p:txBody>
      </p:sp>
      <p:sp>
        <p:nvSpPr>
          <p:cNvPr id="4" name="TextBox 3"/>
          <p:cNvSpPr txBox="1"/>
          <p:nvPr/>
        </p:nvSpPr>
        <p:spPr>
          <a:xfrm>
            <a:off x="594360" y="1920240"/>
            <a:ext cx="640080" cy="942975"/>
          </a:xfrm>
          <a:prstGeom prst="rect">
            <a:avLst/>
          </a:prstGeom>
          <a:noFill/>
        </p:spPr>
        <p:txBody>
          <a:bodyPr wrap="square" lIns="0" rIns="0" tIns="0" bIns="0" anchor="t">
            <a:spAutoFit/>
          </a:bodyPr>
          <a:lstStyle/>
          <a:p>
            <a:pPr algn="l"/>
            <a:r>
              <a:rPr sz="2600" b="0" i="0">
                <a:solidFill>
                  <a:srgbClr val="C8102E"/>
                </a:solidFill>
                <a:latin typeface="Courier New"/>
              </a:rPr>
              <a:t>01</a:t>
            </a:r>
          </a:p>
        </p:txBody>
      </p:sp>
      <p:sp>
        <p:nvSpPr>
          <p:cNvPr id="5" name="TextBox 4"/>
          <p:cNvSpPr txBox="1"/>
          <p:nvPr/>
        </p:nvSpPr>
        <p:spPr>
          <a:xfrm>
            <a:off x="1417320" y="1993392"/>
            <a:ext cx="10180015" cy="851535"/>
          </a:xfrm>
          <a:prstGeom prst="rect">
            <a:avLst/>
          </a:prstGeom>
          <a:noFill/>
        </p:spPr>
        <p:txBody>
          <a:bodyPr wrap="square" lIns="0" rIns="0" tIns="0" bIns="0" anchor="t">
            <a:spAutoFit/>
          </a:bodyPr>
          <a:lstStyle/>
          <a:p>
            <a:pPr algn="l"/>
            <a:r>
              <a:rPr sz="1400" b="0" i="0">
                <a:solidFill>
                  <a:srgbClr val="1F2A44"/>
                </a:solidFill>
                <a:latin typeface="Calibri"/>
              </a:rPr>
              <a:t>Exact duplicates are 1.5% of rows, the smallest measured problem; removing them alone addresses little.</a:t>
            </a:r>
          </a:p>
        </p:txBody>
      </p:sp>
      <p:cxnSp>
        <p:nvCxnSpPr>
          <p:cNvPr id="6" name="Connector 5"/>
          <p:cNvCxnSpPr/>
          <p:nvPr/>
        </p:nvCxnSpPr>
        <p:spPr>
          <a:xfrm>
            <a:off x="594360" y="2753487"/>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2863215"/>
            <a:ext cx="640080" cy="942975"/>
          </a:xfrm>
          <a:prstGeom prst="rect">
            <a:avLst/>
          </a:prstGeom>
          <a:noFill/>
        </p:spPr>
        <p:txBody>
          <a:bodyPr wrap="square" lIns="0" rIns="0" tIns="0" bIns="0" anchor="t">
            <a:spAutoFit/>
          </a:bodyPr>
          <a:lstStyle/>
          <a:p>
            <a:pPr algn="l"/>
            <a:r>
              <a:rPr sz="2600" b="0" i="0">
                <a:solidFill>
                  <a:srgbClr val="C8102E"/>
                </a:solidFill>
                <a:latin typeface="Courier New"/>
              </a:rPr>
              <a:t>02</a:t>
            </a:r>
          </a:p>
        </p:txBody>
      </p:sp>
      <p:sp>
        <p:nvSpPr>
          <p:cNvPr id="8" name="TextBox 7"/>
          <p:cNvSpPr txBox="1"/>
          <p:nvPr/>
        </p:nvSpPr>
        <p:spPr>
          <a:xfrm>
            <a:off x="1417320" y="2936367"/>
            <a:ext cx="10180015" cy="851535"/>
          </a:xfrm>
          <a:prstGeom prst="rect">
            <a:avLst/>
          </a:prstGeom>
          <a:noFill/>
        </p:spPr>
        <p:txBody>
          <a:bodyPr wrap="square" lIns="0" rIns="0" tIns="0" bIns="0" anchor="t">
            <a:spAutoFit/>
          </a:bodyPr>
          <a:lstStyle/>
          <a:p>
            <a:pPr algn="l"/>
            <a:r>
              <a:rPr sz="1400" b="0" i="0">
                <a:solidFill>
                  <a:srgbClr val="1F2A44"/>
                </a:solidFill>
                <a:latin typeface="Calibri"/>
              </a:rPr>
              <a:t>81.7% of rows have empty required-looking fields and 23.0% are degraded; these heuristic flags overlap and do not add up.</a:t>
            </a:r>
          </a:p>
        </p:txBody>
      </p:sp>
      <p:cxnSp>
        <p:nvCxnSpPr>
          <p:cNvPr id="9" name="Connector 8"/>
          <p:cNvCxnSpPr/>
          <p:nvPr/>
        </p:nvCxnSpPr>
        <p:spPr>
          <a:xfrm>
            <a:off x="594360" y="3696461"/>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94360" y="3806189"/>
            <a:ext cx="640080" cy="942975"/>
          </a:xfrm>
          <a:prstGeom prst="rect">
            <a:avLst/>
          </a:prstGeom>
          <a:noFill/>
        </p:spPr>
        <p:txBody>
          <a:bodyPr wrap="square" lIns="0" rIns="0" tIns="0" bIns="0" anchor="t">
            <a:spAutoFit/>
          </a:bodyPr>
          <a:lstStyle/>
          <a:p>
            <a:pPr algn="l"/>
            <a:r>
              <a:rPr sz="2600" b="0" i="0">
                <a:solidFill>
                  <a:srgbClr val="C8102E"/>
                </a:solidFill>
                <a:latin typeface="Courier New"/>
              </a:rPr>
              <a:t>03</a:t>
            </a:r>
          </a:p>
        </p:txBody>
      </p:sp>
      <p:sp>
        <p:nvSpPr>
          <p:cNvPr id="11" name="TextBox 10"/>
          <p:cNvSpPr txBox="1"/>
          <p:nvPr/>
        </p:nvSpPr>
        <p:spPr>
          <a:xfrm>
            <a:off x="1417320" y="3879341"/>
            <a:ext cx="10180015" cy="851535"/>
          </a:xfrm>
          <a:prstGeom prst="rect">
            <a:avLst/>
          </a:prstGeom>
          <a:noFill/>
        </p:spPr>
        <p:txBody>
          <a:bodyPr wrap="square" lIns="0" rIns="0" tIns="0" bIns="0" anchor="t">
            <a:spAutoFit/>
          </a:bodyPr>
          <a:lstStyle/>
          <a:p>
            <a:pPr algn="l"/>
            <a:r>
              <a:rPr sz="1400" b="0" i="0">
                <a:solidFill>
                  <a:srgbClr val="1F2A44"/>
                </a:solidFill>
                <a:latin typeface="Calibri"/>
              </a:rPr>
              <a:t>71.8% of 1.0m sampled rows carry personal-data markers: a condition to prepare for by de-identification or aggregation, not a rights question.</a:t>
            </a:r>
          </a:p>
        </p:txBody>
      </p:sp>
      <p:cxnSp>
        <p:nvCxnSpPr>
          <p:cNvPr id="12" name="Connector 11"/>
          <p:cNvCxnSpPr/>
          <p:nvPr/>
        </p:nvCxnSpPr>
        <p:spPr>
          <a:xfrm>
            <a:off x="594360" y="4639437"/>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594360" y="4749165"/>
            <a:ext cx="640080" cy="942975"/>
          </a:xfrm>
          <a:prstGeom prst="rect">
            <a:avLst/>
          </a:prstGeom>
          <a:noFill/>
        </p:spPr>
        <p:txBody>
          <a:bodyPr wrap="square" lIns="0" rIns="0" tIns="0" bIns="0" anchor="t">
            <a:spAutoFit/>
          </a:bodyPr>
          <a:lstStyle/>
          <a:p>
            <a:pPr algn="l"/>
            <a:r>
              <a:rPr sz="2600" b="0" i="0">
                <a:solidFill>
                  <a:srgbClr val="C8102E"/>
                </a:solidFill>
                <a:latin typeface="Courier New"/>
              </a:rPr>
              <a:t>04</a:t>
            </a:r>
          </a:p>
        </p:txBody>
      </p:sp>
      <p:sp>
        <p:nvSpPr>
          <p:cNvPr id="14" name="TextBox 13"/>
          <p:cNvSpPr txBox="1"/>
          <p:nvPr/>
        </p:nvSpPr>
        <p:spPr>
          <a:xfrm>
            <a:off x="1417320" y="4822317"/>
            <a:ext cx="10180015" cy="851535"/>
          </a:xfrm>
          <a:prstGeom prst="rect">
            <a:avLst/>
          </a:prstGeom>
          <a:noFill/>
        </p:spPr>
        <p:txBody>
          <a:bodyPr wrap="square" lIns="0" rIns="0" tIns="0" bIns="0" anchor="t">
            <a:spAutoFit/>
          </a:bodyPr>
          <a:lstStyle/>
          <a:p>
            <a:pPr algn="l"/>
            <a:r>
              <a:rPr sz="1400" b="0" i="0">
                <a:solidFill>
                  <a:srgbClr val="1F2A44"/>
                </a:solidFill>
                <a:latin typeface="Calibri"/>
              </a:rPr>
              <a:t>15.4% of database bytes have not been written for over a year, so value for time-sensitive products is historical.</a:t>
            </a:r>
          </a:p>
        </p:txBody>
      </p:sp>
      <p:cxnSp>
        <p:nvCxnSpPr>
          <p:cNvPr id="15" name="Connector 14"/>
          <p:cNvCxnSpPr/>
          <p:nvPr/>
        </p:nvCxnSpPr>
        <p:spPr>
          <a:xfrm>
            <a:off x="594360" y="5582412"/>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17" name="TextBox 16"/>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18" name="TextBox 17"/>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1920240"/>
            <a:ext cx="2613355" cy="1885492"/>
          </a:xfrm>
          <a:prstGeom prst="rect">
            <a:avLst/>
          </a:prstGeom>
          <a:noFill/>
        </p:spPr>
        <p:txBody>
          <a:bodyPr wrap="square" lIns="0" rIns="0" tIns="0" bIns="0" anchor="ctr">
            <a:spAutoFit/>
          </a:bodyPr>
          <a:lstStyle/>
          <a:p>
            <a:pPr algn="l"/>
            <a:r>
              <a:rPr sz="9600" b="0" i="0">
                <a:solidFill>
                  <a:srgbClr val="C8102E"/>
                </a:solidFill>
                <a:latin typeface="Courier New"/>
              </a:rPr>
              <a:t>05</a:t>
            </a:r>
          </a:p>
        </p:txBody>
      </p:sp>
      <p:sp>
        <p:nvSpPr>
          <p:cNvPr id="3" name="TextBox 2"/>
          <p:cNvSpPr txBox="1"/>
          <p:nvPr/>
        </p:nvSpPr>
        <p:spPr>
          <a:xfrm>
            <a:off x="3390595" y="2297887"/>
            <a:ext cx="8206740" cy="1508760"/>
          </a:xfrm>
          <a:prstGeom prst="rect">
            <a:avLst/>
          </a:prstGeom>
          <a:noFill/>
        </p:spPr>
        <p:txBody>
          <a:bodyPr wrap="square" lIns="0" rIns="0" tIns="0" bIns="0" anchor="ctr">
            <a:spAutoFit/>
          </a:bodyPr>
          <a:lstStyle/>
          <a:p>
            <a:pPr algn="l"/>
            <a:r>
              <a:rPr sz="3200" b="0" i="0">
                <a:solidFill>
                  <a:srgbClr val="1F2A44"/>
                </a:solidFill>
                <a:latin typeface="Cambria"/>
              </a:rPr>
              <a:t>Staged audio by language</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SPEECH BY LANGUAGE FOLDER</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Staged audio holds an estimated 421.4 speech hours once music is set aside</a:t>
            </a:r>
          </a:p>
        </p:txBody>
      </p:sp>
      <p:graphicFrame>
        <p:nvGraphicFramePr>
          <p:cNvPr id="4" name="Chart 3"/>
          <p:cNvGraphicFramePr>
            <a:graphicFrameLocks noGrp="1"/>
          </p:cNvGraphicFramePr>
          <p:nvPr/>
        </p:nvGraphicFramePr>
        <p:xfrm>
          <a:off x="594360" y="1920240"/>
          <a:ext cx="11002975" cy="3394252"/>
        </p:xfrm>
        <a:graphic>
          <a:graphicData uri="http://schemas.openxmlformats.org/drawingml/2006/chart">
            <c:chart xmlns:c="http://schemas.openxmlformats.org/drawingml/2006/chart" r:id="rId2"/>
          </a:graphicData>
        </a:graphic>
      </p:graphicFrame>
      <p:sp>
        <p:nvSpPr>
          <p:cNvPr id="5" name="TextBox 4"/>
          <p:cNvSpPr txBox="1"/>
          <p:nvPr/>
        </p:nvSpPr>
        <p:spPr>
          <a:xfrm>
            <a:off x="594360" y="5314492"/>
            <a:ext cx="8206740" cy="376732"/>
          </a:xfrm>
          <a:prstGeom prst="rect">
            <a:avLst/>
          </a:prstGeom>
          <a:noFill/>
        </p:spPr>
        <p:txBody>
          <a:bodyPr wrap="square" lIns="0" rIns="0" tIns="0" bIns="0" anchor="b">
            <a:spAutoFit/>
          </a:bodyPr>
          <a:lstStyle/>
          <a:p>
            <a:pPr algn="l"/>
            <a:r>
              <a:rPr sz="1400" b="0" i="1">
                <a:solidFill>
                  <a:srgbClr val="C8102E"/>
                </a:solidFill>
                <a:latin typeface="Calibri"/>
              </a:rPr>
              <a:t>This is a bounded source for validation and preparation, not certified speech assets or an inventory of every language in the estate.</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[estimated]  Receipt R06: Estate language reading m9j-9e8fcb46a809 on akki-vm (2 GPUs, 1.034 GPU-h): audio language model lcj-7128593897d4 sha256 5c1feb8497e8…, music detector m9j-686de001bfe7 sha256 0fea3eee0393…; model readings, not human labels</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MODEL AGREEMENT</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Model agreement with the folder language varies widely between language folders</a:t>
            </a:r>
          </a:p>
        </p:txBody>
      </p:sp>
      <p:graphicFrame>
        <p:nvGraphicFramePr>
          <p:cNvPr id="4" name="Chart 3"/>
          <p:cNvGraphicFramePr>
            <a:graphicFrameLocks noGrp="1"/>
          </p:cNvGraphicFramePr>
          <p:nvPr/>
        </p:nvGraphicFramePr>
        <p:xfrm>
          <a:off x="594360" y="1920240"/>
          <a:ext cx="11002975" cy="3394252"/>
        </p:xfrm>
        <a:graphic>
          <a:graphicData uri="http://schemas.openxmlformats.org/drawingml/2006/chart">
            <c:chart xmlns:c="http://schemas.openxmlformats.org/drawingml/2006/chart" r:id="rId2"/>
          </a:graphicData>
        </a:graphic>
      </p:graphicFrame>
      <p:sp>
        <p:nvSpPr>
          <p:cNvPr id="5" name="TextBox 4"/>
          <p:cNvSpPr txBox="1"/>
          <p:nvPr/>
        </p:nvSpPr>
        <p:spPr>
          <a:xfrm>
            <a:off x="594360" y="5314492"/>
            <a:ext cx="8206740" cy="376732"/>
          </a:xfrm>
          <a:prstGeom prst="rect">
            <a:avLst/>
          </a:prstGeom>
          <a:noFill/>
        </p:spPr>
        <p:txBody>
          <a:bodyPr wrap="square" lIns="0" rIns="0" tIns="0" bIns="0" anchor="b">
            <a:spAutoFit/>
          </a:bodyPr>
          <a:lstStyle/>
          <a:p>
            <a:pPr algn="l"/>
            <a:r>
              <a:rPr sz="1400" b="0" i="1">
                <a:solidFill>
                  <a:srgbClr val="C8102E"/>
                </a:solidFill>
                <a:latin typeface="Calibri"/>
              </a:rPr>
              <a:t>Agreement is a model reading on labelled windows, not human-verified accuracy; low-agreement folders should be checked by people first.</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[measured]  Receipt R06: Estate language reading m9j-9e8fcb46a809 on akki-vm (2 GPUs, 1.034 GPU-h): audio language model lcj-7128593897d4 sha256 5c1feb8497e8…, music detector m9j-686de001bfe7 sha256 0fea3eee0393…; model readings, not human labels</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STAGED AUDIO</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Staged audio: 529.5 recorded hours, an estimated 421.4 of them speech</a:t>
            </a:r>
          </a:p>
        </p:txBody>
      </p:sp>
      <p:sp>
        <p:nvSpPr>
          <p:cNvPr id="4" name="TextBox 3"/>
          <p:cNvSpPr txBox="1"/>
          <p:nvPr/>
        </p:nvSpPr>
        <p:spPr>
          <a:xfrm>
            <a:off x="594360" y="1920240"/>
            <a:ext cx="640080" cy="942975"/>
          </a:xfrm>
          <a:prstGeom prst="rect">
            <a:avLst/>
          </a:prstGeom>
          <a:noFill/>
        </p:spPr>
        <p:txBody>
          <a:bodyPr wrap="square" lIns="0" rIns="0" tIns="0" bIns="0" anchor="t">
            <a:spAutoFit/>
          </a:bodyPr>
          <a:lstStyle/>
          <a:p>
            <a:pPr algn="l"/>
            <a:r>
              <a:rPr sz="2600" b="0" i="0">
                <a:solidFill>
                  <a:srgbClr val="C8102E"/>
                </a:solidFill>
                <a:latin typeface="Courier New"/>
              </a:rPr>
              <a:t>01</a:t>
            </a:r>
          </a:p>
        </p:txBody>
      </p:sp>
      <p:sp>
        <p:nvSpPr>
          <p:cNvPr id="5" name="TextBox 4"/>
          <p:cNvSpPr txBox="1"/>
          <p:nvPr/>
        </p:nvSpPr>
        <p:spPr>
          <a:xfrm>
            <a:off x="1417320" y="1993392"/>
            <a:ext cx="10180015" cy="851535"/>
          </a:xfrm>
          <a:prstGeom prst="rect">
            <a:avLst/>
          </a:prstGeom>
          <a:noFill/>
        </p:spPr>
        <p:txBody>
          <a:bodyPr wrap="square" lIns="0" rIns="0" tIns="0" bIns="0" anchor="t">
            <a:spAutoFit/>
          </a:bodyPr>
          <a:lstStyle/>
          <a:p>
            <a:pPr algn="l"/>
            <a:r>
              <a:rPr sz="1400" b="0" i="0">
                <a:solidFill>
                  <a:srgbClr val="1F2A44"/>
                </a:solidFill>
                <a:latin typeface="Calibri"/>
              </a:rPr>
              <a:t>The staged corpus holds 529.5 recorded hours in 8 language folders: an estimated 421.4 hours of speech and 108.2 of music.</a:t>
            </a:r>
          </a:p>
        </p:txBody>
      </p:sp>
      <p:cxnSp>
        <p:nvCxnSpPr>
          <p:cNvPr id="6" name="Connector 5"/>
          <p:cNvCxnSpPr/>
          <p:nvPr/>
        </p:nvCxnSpPr>
        <p:spPr>
          <a:xfrm>
            <a:off x="594360" y="2753487"/>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2863215"/>
            <a:ext cx="640080" cy="942975"/>
          </a:xfrm>
          <a:prstGeom prst="rect">
            <a:avLst/>
          </a:prstGeom>
          <a:noFill/>
        </p:spPr>
        <p:txBody>
          <a:bodyPr wrap="square" lIns="0" rIns="0" tIns="0" bIns="0" anchor="t">
            <a:spAutoFit/>
          </a:bodyPr>
          <a:lstStyle/>
          <a:p>
            <a:pPr algn="l"/>
            <a:r>
              <a:rPr sz="2600" b="0" i="0">
                <a:solidFill>
                  <a:srgbClr val="C8102E"/>
                </a:solidFill>
                <a:latin typeface="Courier New"/>
              </a:rPr>
              <a:t>02</a:t>
            </a:r>
          </a:p>
        </p:txBody>
      </p:sp>
      <p:sp>
        <p:nvSpPr>
          <p:cNvPr id="8" name="TextBox 7"/>
          <p:cNvSpPr txBox="1"/>
          <p:nvPr/>
        </p:nvSpPr>
        <p:spPr>
          <a:xfrm>
            <a:off x="1417320" y="2936367"/>
            <a:ext cx="10180015" cy="851535"/>
          </a:xfrm>
          <a:prstGeom prst="rect">
            <a:avLst/>
          </a:prstGeom>
          <a:noFill/>
        </p:spPr>
        <p:txBody>
          <a:bodyPr wrap="square" lIns="0" rIns="0" tIns="0" bIns="0" anchor="t">
            <a:spAutoFit/>
          </a:bodyPr>
          <a:lstStyle/>
          <a:p>
            <a:pPr algn="l"/>
            <a:r>
              <a:rPr sz="1400" b="0" i="0">
                <a:solidFill>
                  <a:srgbClr val="1F2A44"/>
                </a:solidFill>
                <a:latin typeface="Calibri"/>
              </a:rPr>
              <a:t>Of judged windows, 82.3% agree with the folder language; the model declined to label 10.7% of speech windows.</a:t>
            </a:r>
          </a:p>
        </p:txBody>
      </p:sp>
      <p:cxnSp>
        <p:nvCxnSpPr>
          <p:cNvPr id="9" name="Connector 8"/>
          <p:cNvCxnSpPr/>
          <p:nvPr/>
        </p:nvCxnSpPr>
        <p:spPr>
          <a:xfrm>
            <a:off x="594360" y="3696461"/>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94360" y="3806189"/>
            <a:ext cx="640080" cy="942975"/>
          </a:xfrm>
          <a:prstGeom prst="rect">
            <a:avLst/>
          </a:prstGeom>
          <a:noFill/>
        </p:spPr>
        <p:txBody>
          <a:bodyPr wrap="square" lIns="0" rIns="0" tIns="0" bIns="0" anchor="t">
            <a:spAutoFit/>
          </a:bodyPr>
          <a:lstStyle/>
          <a:p>
            <a:pPr algn="l"/>
            <a:r>
              <a:rPr sz="2600" b="0" i="0">
                <a:solidFill>
                  <a:srgbClr val="C8102E"/>
                </a:solidFill>
                <a:latin typeface="Courier New"/>
              </a:rPr>
              <a:t>03</a:t>
            </a:r>
          </a:p>
        </p:txBody>
      </p:sp>
      <p:sp>
        <p:nvSpPr>
          <p:cNvPr id="11" name="TextBox 10"/>
          <p:cNvSpPr txBox="1"/>
          <p:nvPr/>
        </p:nvSpPr>
        <p:spPr>
          <a:xfrm>
            <a:off x="1417320" y="3879341"/>
            <a:ext cx="10180015" cy="851535"/>
          </a:xfrm>
          <a:prstGeom prst="rect">
            <a:avLst/>
          </a:prstGeom>
          <a:noFill/>
        </p:spPr>
        <p:txBody>
          <a:bodyPr wrap="square" lIns="0" rIns="0" tIns="0" bIns="0" anchor="t">
            <a:spAutoFit/>
          </a:bodyPr>
          <a:lstStyle/>
          <a:p>
            <a:pPr algn="l"/>
            <a:r>
              <a:rPr sz="1400" b="0" i="0">
                <a:solidFill>
                  <a:srgbClr val="1F2A44"/>
                </a:solidFill>
                <a:latin typeface="Calibri"/>
              </a:rPr>
              <a:t>539 files are mostly music; filter music before preparing any speech set.</a:t>
            </a:r>
          </a:p>
        </p:txBody>
      </p:sp>
      <p:cxnSp>
        <p:nvCxnSpPr>
          <p:cNvPr id="12" name="Connector 11"/>
          <p:cNvCxnSpPr/>
          <p:nvPr/>
        </p:nvCxnSpPr>
        <p:spPr>
          <a:xfrm>
            <a:off x="594360" y="4639437"/>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594360" y="4749165"/>
            <a:ext cx="640080" cy="942975"/>
          </a:xfrm>
          <a:prstGeom prst="rect">
            <a:avLst/>
          </a:prstGeom>
          <a:noFill/>
        </p:spPr>
        <p:txBody>
          <a:bodyPr wrap="square" lIns="0" rIns="0" tIns="0" bIns="0" anchor="t">
            <a:spAutoFit/>
          </a:bodyPr>
          <a:lstStyle/>
          <a:p>
            <a:pPr algn="l"/>
            <a:r>
              <a:rPr sz="2600" b="0" i="0">
                <a:solidFill>
                  <a:srgbClr val="C8102E"/>
                </a:solidFill>
                <a:latin typeface="Courier New"/>
              </a:rPr>
              <a:t>04</a:t>
            </a:r>
          </a:p>
        </p:txBody>
      </p:sp>
      <p:sp>
        <p:nvSpPr>
          <p:cNvPr id="14" name="TextBox 13"/>
          <p:cNvSpPr txBox="1"/>
          <p:nvPr/>
        </p:nvSpPr>
        <p:spPr>
          <a:xfrm>
            <a:off x="1417320" y="4822317"/>
            <a:ext cx="10180015" cy="851535"/>
          </a:xfrm>
          <a:prstGeom prst="rect">
            <a:avLst/>
          </a:prstGeom>
          <a:noFill/>
        </p:spPr>
        <p:txBody>
          <a:bodyPr wrap="square" lIns="0" rIns="0" tIns="0" bIns="0" anchor="t">
            <a:spAutoFit/>
          </a:bodyPr>
          <a:lstStyle/>
          <a:p>
            <a:pPr algn="l"/>
            <a:r>
              <a:rPr sz="1400" b="0" i="0">
                <a:solidFill>
                  <a:srgbClr val="1F2A44"/>
                </a:solidFill>
                <a:latin typeface="Calibri"/>
              </a:rPr>
              <a:t>Both GPUs read 3958 files in 1.0 GPU-hours. Noise and intelligibility were not scored; these are model readings, not human labels.</a:t>
            </a:r>
          </a:p>
        </p:txBody>
      </p:sp>
      <p:cxnSp>
        <p:nvCxnSpPr>
          <p:cNvPr id="15" name="Connector 14"/>
          <p:cNvCxnSpPr/>
          <p:nvPr/>
        </p:nvCxnSpPr>
        <p:spPr>
          <a:xfrm>
            <a:off x="594360" y="5582412"/>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17" name="TextBox 16"/>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18" name="TextBox 17"/>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EVIDENCE BY NAME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Audio held by language folder — what both GPUs read</a:t>
            </a:r>
          </a:p>
        </p:txBody>
      </p:sp>
      <p:graphicFrame>
        <p:nvGraphicFramePr>
          <p:cNvPr id="4" name="Table 3"/>
          <p:cNvGraphicFramePr>
            <a:graphicFrameLocks noGrp="1"/>
          </p:cNvGraphicFramePr>
          <p:nvPr/>
        </p:nvGraphicFramePr>
        <p:xfrm>
          <a:off x="594360" y="1920240"/>
          <a:ext cx="11002972" cy="3017520"/>
        </p:xfrm>
        <a:graphic>
          <a:graphicData uri="http://schemas.openxmlformats.org/drawingml/2006/table">
            <a:tbl>
              <a:tblPr firstRow="1" bandRow="1">
                <a:tableStyleId>{5C22544A-7EE6-4342-B048-85BDC9FD1C3A}</a:tableStyleId>
              </a:tblPr>
              <a:tblGrid>
                <a:gridCol w="1778258"/>
                <a:gridCol w="1555976"/>
                <a:gridCol w="1555976"/>
                <a:gridCol w="2111682"/>
                <a:gridCol w="2000540"/>
                <a:gridCol w="2000540"/>
              </a:tblGrid>
              <a:tr h="335280">
                <a:tc>
                  <a:txBody>
                    <a:bodyPr wrap="square"/>
                    <a:lstStyle/>
                    <a:p>
                      <a:pPr algn="l"/>
                      <a:r>
                        <a:rPr sz="1100" b="1">
                          <a:solidFill>
                            <a:srgbClr val="1F2A44"/>
                          </a:solidFill>
                          <a:latin typeface="Calibri"/>
                        </a:rPr>
                        <a:t>Language</a:t>
                      </a:r>
                    </a:p>
                  </a:txBody>
                  <a:tcPr marL="54864" marR="54864" marT="27432" marB="27432">
                    <a:solidFill>
                      <a:srgbClr val="E9ECF1"/>
                    </a:solidFill>
                  </a:tcPr>
                </a:tc>
                <a:tc>
                  <a:txBody>
                    <a:bodyPr wrap="square"/>
                    <a:lstStyle/>
                    <a:p>
                      <a:pPr algn="l"/>
                      <a:r>
                        <a:rPr sz="1100" b="1">
                          <a:solidFill>
                            <a:srgbClr val="1F2A44"/>
                          </a:solidFill>
                          <a:latin typeface="Calibri"/>
                        </a:rPr>
                        <a:t>Files</a:t>
                      </a:r>
                    </a:p>
                  </a:txBody>
                  <a:tcPr marL="54864" marR="54864" marT="27432" marB="27432">
                    <a:solidFill>
                      <a:srgbClr val="E9ECF1"/>
                    </a:solidFill>
                  </a:tcPr>
                </a:tc>
                <a:tc>
                  <a:txBody>
                    <a:bodyPr wrap="square"/>
                    <a:lstStyle/>
                    <a:p>
                      <a:pPr algn="l"/>
                      <a:r>
                        <a:rPr sz="1100" b="1">
                          <a:solidFill>
                            <a:srgbClr val="1F2A44"/>
                          </a:solidFill>
                          <a:latin typeface="Calibri"/>
                        </a:rPr>
                        <a:t>Hours recorded</a:t>
                      </a:r>
                    </a:p>
                  </a:txBody>
                  <a:tcPr marL="54864" marR="54864" marT="27432" marB="27432">
                    <a:solidFill>
                      <a:srgbClr val="E9ECF1"/>
                    </a:solidFill>
                  </a:tcPr>
                </a:tc>
                <a:tc>
                  <a:txBody>
                    <a:bodyPr wrap="square"/>
                    <a:lstStyle/>
                    <a:p>
                      <a:pPr algn="l"/>
                      <a:r>
                        <a:rPr sz="1100" b="1">
                          <a:solidFill>
                            <a:srgbClr val="1F2A44"/>
                          </a:solidFill>
                          <a:latin typeface="Calibri"/>
                        </a:rPr>
                        <a:t>Speech hours (est.)</a:t>
                      </a:r>
                    </a:p>
                  </a:txBody>
                  <a:tcPr marL="54864" marR="54864" marT="27432" marB="27432">
                    <a:solidFill>
                      <a:srgbClr val="E9ECF1"/>
                    </a:solidFill>
                  </a:tcPr>
                </a:tc>
                <a:tc>
                  <a:txBody>
                    <a:bodyPr wrap="square"/>
                    <a:lstStyle/>
                    <a:p>
                      <a:pPr algn="l"/>
                      <a:r>
                        <a:rPr sz="1100" b="1">
                          <a:solidFill>
                            <a:srgbClr val="1F2A44"/>
                          </a:solidFill>
                          <a:latin typeface="Calibri"/>
                        </a:rPr>
                        <a:t>Music hours (est.)</a:t>
                      </a:r>
                    </a:p>
                  </a:txBody>
                  <a:tcPr marL="54864" marR="54864" marT="27432" marB="27432">
                    <a:solidFill>
                      <a:srgbClr val="E9ECF1"/>
                    </a:solidFill>
                  </a:tcPr>
                </a:tc>
                <a:tc>
                  <a:txBody>
                    <a:bodyPr wrap="square"/>
                    <a:lstStyle/>
                    <a:p>
                      <a:pPr algn="l"/>
                      <a:r>
                        <a:rPr sz="1100" b="1">
                          <a:solidFill>
                            <a:srgbClr val="1F2A44"/>
                          </a:solidFill>
                          <a:latin typeface="Calibri"/>
                        </a:rPr>
                        <a:t>Agrees with folder</a:t>
                      </a:r>
                    </a:p>
                  </a:txBody>
                  <a:tcPr marL="54864" marR="54864" marT="27432" marB="27432">
                    <a:solidFill>
                      <a:srgbClr val="E9ECF1"/>
                    </a:solidFill>
                  </a:tcPr>
                </a:tc>
              </a:tr>
              <a:tr h="335280">
                <a:tc>
                  <a:txBody>
                    <a:bodyPr wrap="square"/>
                    <a:lstStyle/>
                    <a:p>
                      <a:pPr algn="l"/>
                      <a:r>
                        <a:rPr sz="1100" b="0">
                          <a:solidFill>
                            <a:srgbClr val="1F2A44"/>
                          </a:solidFill>
                          <a:latin typeface="Calibri"/>
                        </a:rPr>
                        <a:t>Ekegusii (Kisii)</a:t>
                      </a:r>
                    </a:p>
                  </a:txBody>
                  <a:tcPr marL="54864" marR="54864" marT="27432" marB="27432">
                    <a:solidFill>
                      <a:srgbClr val="FFFFFF"/>
                    </a:solidFill>
                  </a:tcPr>
                </a:tc>
                <a:tc>
                  <a:txBody>
                    <a:bodyPr wrap="square"/>
                    <a:lstStyle/>
                    <a:p>
                      <a:pPr algn="l"/>
                      <a:r>
                        <a:rPr sz="1100" b="0">
                          <a:solidFill>
                            <a:srgbClr val="1F2A44"/>
                          </a:solidFill>
                          <a:latin typeface="Calibri"/>
                        </a:rPr>
                        <a:t>732</a:t>
                      </a:r>
                    </a:p>
                  </a:txBody>
                  <a:tcPr marL="54864" marR="54864" marT="27432" marB="27432">
                    <a:solidFill>
                      <a:srgbClr val="FFFFFF"/>
                    </a:solidFill>
                  </a:tcPr>
                </a:tc>
                <a:tc>
                  <a:txBody>
                    <a:bodyPr wrap="square"/>
                    <a:lstStyle/>
                    <a:p>
                      <a:pPr algn="r"/>
                      <a:r>
                        <a:rPr sz="1100" b="0">
                          <a:solidFill>
                            <a:srgbClr val="1F2A44"/>
                          </a:solidFill>
                          <a:latin typeface="Courier New"/>
                        </a:rPr>
                        <a:t>92.2</a:t>
                      </a:r>
                    </a:p>
                  </a:txBody>
                  <a:tcPr marL="54864" marR="54864" marT="27432" marB="27432">
                    <a:solidFill>
                      <a:srgbClr val="FFFFFF"/>
                    </a:solidFill>
                  </a:tcPr>
                </a:tc>
                <a:tc>
                  <a:txBody>
                    <a:bodyPr wrap="square"/>
                    <a:lstStyle/>
                    <a:p>
                      <a:pPr algn="r"/>
                      <a:r>
                        <a:rPr sz="1100" b="0">
                          <a:solidFill>
                            <a:srgbClr val="1F2A44"/>
                          </a:solidFill>
                          <a:latin typeface="Courier New"/>
                        </a:rPr>
                        <a:t>76.7</a:t>
                      </a:r>
                    </a:p>
                  </a:txBody>
                  <a:tcPr marL="54864" marR="54864" marT="27432" marB="27432">
                    <a:solidFill>
                      <a:srgbClr val="FFFFFF"/>
                    </a:solidFill>
                  </a:tcPr>
                </a:tc>
                <a:tc>
                  <a:txBody>
                    <a:bodyPr wrap="square"/>
                    <a:lstStyle/>
                    <a:p>
                      <a:pPr algn="r"/>
                      <a:r>
                        <a:rPr sz="1100" b="0">
                          <a:solidFill>
                            <a:srgbClr val="1F2A44"/>
                          </a:solidFill>
                          <a:latin typeface="Courier New"/>
                        </a:rPr>
                        <a:t>15.6</a:t>
                      </a:r>
                    </a:p>
                  </a:txBody>
                  <a:tcPr marL="54864" marR="54864" marT="27432" marB="27432">
                    <a:solidFill>
                      <a:srgbClr val="FFFFFF"/>
                    </a:solidFill>
                  </a:tcPr>
                </a:tc>
                <a:tc>
                  <a:txBody>
                    <a:bodyPr wrap="square"/>
                    <a:lstStyle/>
                    <a:p>
                      <a:pPr algn="r"/>
                      <a:r>
                        <a:rPr sz="1100" b="0">
                          <a:solidFill>
                            <a:srgbClr val="1F2A44"/>
                          </a:solidFill>
                          <a:latin typeface="Courier New"/>
                        </a:rPr>
                        <a:t>86.1%</a:t>
                      </a:r>
                    </a:p>
                  </a:txBody>
                  <a:tcPr marL="54864" marR="54864" marT="27432" marB="27432">
                    <a:solidFill>
                      <a:srgbClr val="FFFFFF"/>
                    </a:solidFill>
                  </a:tcPr>
                </a:tc>
              </a:tr>
              <a:tr h="335280">
                <a:tc>
                  <a:txBody>
                    <a:bodyPr wrap="square"/>
                    <a:lstStyle/>
                    <a:p>
                      <a:pPr algn="l"/>
                      <a:r>
                        <a:rPr sz="1100" b="0">
                          <a:solidFill>
                            <a:srgbClr val="1F2A44"/>
                          </a:solidFill>
                          <a:latin typeface="Calibri"/>
                        </a:rPr>
                        <a:t>Kalenjin</a:t>
                      </a:r>
                    </a:p>
                  </a:txBody>
                  <a:tcPr marL="54864" marR="54864" marT="27432" marB="27432">
                    <a:solidFill>
                      <a:srgbClr val="FFFFFF"/>
                    </a:solidFill>
                  </a:tcPr>
                </a:tc>
                <a:tc>
                  <a:txBody>
                    <a:bodyPr wrap="square"/>
                    <a:lstStyle/>
                    <a:p>
                      <a:pPr algn="l"/>
                      <a:r>
                        <a:rPr sz="1100" b="0">
                          <a:solidFill>
                            <a:srgbClr val="1F2A44"/>
                          </a:solidFill>
                          <a:latin typeface="Calibri"/>
                        </a:rPr>
                        <a:t>295</a:t>
                      </a:r>
                    </a:p>
                  </a:txBody>
                  <a:tcPr marL="54864" marR="54864" marT="27432" marB="27432">
                    <a:solidFill>
                      <a:srgbClr val="FFFFFF"/>
                    </a:solidFill>
                  </a:tcPr>
                </a:tc>
                <a:tc>
                  <a:txBody>
                    <a:bodyPr wrap="square"/>
                    <a:lstStyle/>
                    <a:p>
                      <a:pPr algn="r"/>
                      <a:r>
                        <a:rPr sz="1100" b="0">
                          <a:solidFill>
                            <a:srgbClr val="1F2A44"/>
                          </a:solidFill>
                          <a:latin typeface="Courier New"/>
                        </a:rPr>
                        <a:t>89.8</a:t>
                      </a:r>
                    </a:p>
                  </a:txBody>
                  <a:tcPr marL="54864" marR="54864" marT="27432" marB="27432">
                    <a:solidFill>
                      <a:srgbClr val="FFFFFF"/>
                    </a:solidFill>
                  </a:tcPr>
                </a:tc>
                <a:tc>
                  <a:txBody>
                    <a:bodyPr wrap="square"/>
                    <a:lstStyle/>
                    <a:p>
                      <a:pPr algn="r"/>
                      <a:r>
                        <a:rPr sz="1100" b="0">
                          <a:solidFill>
                            <a:srgbClr val="1F2A44"/>
                          </a:solidFill>
                          <a:latin typeface="Courier New"/>
                        </a:rPr>
                        <a:t>73.2</a:t>
                      </a:r>
                    </a:p>
                  </a:txBody>
                  <a:tcPr marL="54864" marR="54864" marT="27432" marB="27432">
                    <a:solidFill>
                      <a:srgbClr val="FFFFFF"/>
                    </a:solidFill>
                  </a:tcPr>
                </a:tc>
                <a:tc>
                  <a:txBody>
                    <a:bodyPr wrap="square"/>
                    <a:lstStyle/>
                    <a:p>
                      <a:pPr algn="r"/>
                      <a:r>
                        <a:rPr sz="1100" b="0">
                          <a:solidFill>
                            <a:srgbClr val="1F2A44"/>
                          </a:solidFill>
                          <a:latin typeface="Courier New"/>
                        </a:rPr>
                        <a:t>16.6</a:t>
                      </a:r>
                    </a:p>
                  </a:txBody>
                  <a:tcPr marL="54864" marR="54864" marT="27432" marB="27432">
                    <a:solidFill>
                      <a:srgbClr val="FFFFFF"/>
                    </a:solidFill>
                  </a:tcPr>
                </a:tc>
                <a:tc>
                  <a:txBody>
                    <a:bodyPr wrap="square"/>
                    <a:lstStyle/>
                    <a:p>
                      <a:pPr algn="r"/>
                      <a:r>
                        <a:rPr sz="1100" b="0">
                          <a:solidFill>
                            <a:srgbClr val="1F2A44"/>
                          </a:solidFill>
                          <a:latin typeface="Courier New"/>
                        </a:rPr>
                        <a:t>89.9%</a:t>
                      </a:r>
                    </a:p>
                  </a:txBody>
                  <a:tcPr marL="54864" marR="54864" marT="27432" marB="27432">
                    <a:solidFill>
                      <a:srgbClr val="FFFFFF"/>
                    </a:solidFill>
                  </a:tcPr>
                </a:tc>
              </a:tr>
              <a:tr h="335280">
                <a:tc>
                  <a:txBody>
                    <a:bodyPr wrap="square"/>
                    <a:lstStyle/>
                    <a:p>
                      <a:pPr algn="l"/>
                      <a:r>
                        <a:rPr sz="1100" b="0">
                          <a:solidFill>
                            <a:srgbClr val="1F2A44"/>
                          </a:solidFill>
                          <a:latin typeface="Calibri"/>
                        </a:rPr>
                        <a:t>Kiswahili</a:t>
                      </a:r>
                    </a:p>
                  </a:txBody>
                  <a:tcPr marL="54864" marR="54864" marT="27432" marB="27432">
                    <a:solidFill>
                      <a:srgbClr val="FFFFFF"/>
                    </a:solidFill>
                  </a:tcPr>
                </a:tc>
                <a:tc>
                  <a:txBody>
                    <a:bodyPr wrap="square"/>
                    <a:lstStyle/>
                    <a:p>
                      <a:pPr algn="l"/>
                      <a:r>
                        <a:rPr sz="1100" b="0">
                          <a:solidFill>
                            <a:srgbClr val="1F2A44"/>
                          </a:solidFill>
                          <a:latin typeface="Calibri"/>
                        </a:rPr>
                        <a:t>549</a:t>
                      </a:r>
                    </a:p>
                  </a:txBody>
                  <a:tcPr marL="54864" marR="54864" marT="27432" marB="27432">
                    <a:solidFill>
                      <a:srgbClr val="FFFFFF"/>
                    </a:solidFill>
                  </a:tcPr>
                </a:tc>
                <a:tc>
                  <a:txBody>
                    <a:bodyPr wrap="square"/>
                    <a:lstStyle/>
                    <a:p>
                      <a:pPr algn="r"/>
                      <a:r>
                        <a:rPr sz="1100" b="0">
                          <a:solidFill>
                            <a:srgbClr val="1F2A44"/>
                          </a:solidFill>
                          <a:latin typeface="Courier New"/>
                        </a:rPr>
                        <a:t>87.7</a:t>
                      </a:r>
                    </a:p>
                  </a:txBody>
                  <a:tcPr marL="54864" marR="54864" marT="27432" marB="27432">
                    <a:solidFill>
                      <a:srgbClr val="FFFFFF"/>
                    </a:solidFill>
                  </a:tcPr>
                </a:tc>
                <a:tc>
                  <a:txBody>
                    <a:bodyPr wrap="square"/>
                    <a:lstStyle/>
                    <a:p>
                      <a:pPr algn="r"/>
                      <a:r>
                        <a:rPr sz="1100" b="0">
                          <a:solidFill>
                            <a:srgbClr val="1F2A44"/>
                          </a:solidFill>
                          <a:latin typeface="Courier New"/>
                        </a:rPr>
                        <a:t>78.5</a:t>
                      </a:r>
                    </a:p>
                  </a:txBody>
                  <a:tcPr marL="54864" marR="54864" marT="27432" marB="27432">
                    <a:solidFill>
                      <a:srgbClr val="FFFFFF"/>
                    </a:solidFill>
                  </a:tcPr>
                </a:tc>
                <a:tc>
                  <a:txBody>
                    <a:bodyPr wrap="square"/>
                    <a:lstStyle/>
                    <a:p>
                      <a:pPr algn="r"/>
                      <a:r>
                        <a:rPr sz="1100" b="0">
                          <a:solidFill>
                            <a:srgbClr val="1F2A44"/>
                          </a:solidFill>
                          <a:latin typeface="Courier New"/>
                        </a:rPr>
                        <a:t>9.2</a:t>
                      </a:r>
                    </a:p>
                  </a:txBody>
                  <a:tcPr marL="54864" marR="54864" marT="27432" marB="27432">
                    <a:solidFill>
                      <a:srgbClr val="FFFFFF"/>
                    </a:solidFill>
                  </a:tcPr>
                </a:tc>
                <a:tc>
                  <a:txBody>
                    <a:bodyPr wrap="square"/>
                    <a:lstStyle/>
                    <a:p>
                      <a:pPr algn="r"/>
                      <a:r>
                        <a:rPr sz="1100" b="0">
                          <a:solidFill>
                            <a:srgbClr val="1F2A44"/>
                          </a:solidFill>
                          <a:latin typeface="Courier New"/>
                        </a:rPr>
                        <a:t>78.7%</a:t>
                      </a:r>
                    </a:p>
                  </a:txBody>
                  <a:tcPr marL="54864" marR="54864" marT="27432" marB="27432">
                    <a:solidFill>
                      <a:srgbClr val="FFFFFF"/>
                    </a:solidFill>
                  </a:tcPr>
                </a:tc>
              </a:tr>
              <a:tr h="335280">
                <a:tc>
                  <a:txBody>
                    <a:bodyPr wrap="square"/>
                    <a:lstStyle/>
                    <a:p>
                      <a:pPr algn="l"/>
                      <a:r>
                        <a:rPr sz="1100" b="0">
                          <a:solidFill>
                            <a:srgbClr val="1F2A44"/>
                          </a:solidFill>
                          <a:latin typeface="Calibri"/>
                        </a:rPr>
                        <a:t>Kikamba (Kamba)</a:t>
                      </a:r>
                    </a:p>
                  </a:txBody>
                  <a:tcPr marL="54864" marR="54864" marT="27432" marB="27432">
                    <a:solidFill>
                      <a:srgbClr val="FFFFFF"/>
                    </a:solidFill>
                  </a:tcPr>
                </a:tc>
                <a:tc>
                  <a:txBody>
                    <a:bodyPr wrap="square"/>
                    <a:lstStyle/>
                    <a:p>
                      <a:pPr algn="l"/>
                      <a:r>
                        <a:rPr sz="1100" b="0">
                          <a:solidFill>
                            <a:srgbClr val="1F2A44"/>
                          </a:solidFill>
                          <a:latin typeface="Calibri"/>
                        </a:rPr>
                        <a:t>1166</a:t>
                      </a:r>
                    </a:p>
                  </a:txBody>
                  <a:tcPr marL="54864" marR="54864" marT="27432" marB="27432">
                    <a:solidFill>
                      <a:srgbClr val="FFFFFF"/>
                    </a:solidFill>
                  </a:tcPr>
                </a:tc>
                <a:tc>
                  <a:txBody>
                    <a:bodyPr wrap="square"/>
                    <a:lstStyle/>
                    <a:p>
                      <a:pPr algn="r"/>
                      <a:r>
                        <a:rPr sz="1100" b="0">
                          <a:solidFill>
                            <a:srgbClr val="1F2A44"/>
                          </a:solidFill>
                          <a:latin typeface="Courier New"/>
                        </a:rPr>
                        <a:t>85.4</a:t>
                      </a:r>
                    </a:p>
                  </a:txBody>
                  <a:tcPr marL="54864" marR="54864" marT="27432" marB="27432">
                    <a:solidFill>
                      <a:srgbClr val="FFFFFF"/>
                    </a:solidFill>
                  </a:tcPr>
                </a:tc>
                <a:tc>
                  <a:txBody>
                    <a:bodyPr wrap="square"/>
                    <a:lstStyle/>
                    <a:p>
                      <a:pPr algn="r"/>
                      <a:r>
                        <a:rPr sz="1100" b="0">
                          <a:solidFill>
                            <a:srgbClr val="1F2A44"/>
                          </a:solidFill>
                          <a:latin typeface="Courier New"/>
                        </a:rPr>
                        <a:t>67.8</a:t>
                      </a:r>
                    </a:p>
                  </a:txBody>
                  <a:tcPr marL="54864" marR="54864" marT="27432" marB="27432">
                    <a:solidFill>
                      <a:srgbClr val="FFFFFF"/>
                    </a:solidFill>
                  </a:tcPr>
                </a:tc>
                <a:tc>
                  <a:txBody>
                    <a:bodyPr wrap="square"/>
                    <a:lstStyle/>
                    <a:p>
                      <a:pPr algn="r"/>
                      <a:r>
                        <a:rPr sz="1100" b="0">
                          <a:solidFill>
                            <a:srgbClr val="1F2A44"/>
                          </a:solidFill>
                          <a:latin typeface="Courier New"/>
                        </a:rPr>
                        <a:t>17.6</a:t>
                      </a:r>
                    </a:p>
                  </a:txBody>
                  <a:tcPr marL="54864" marR="54864" marT="27432" marB="27432">
                    <a:solidFill>
                      <a:srgbClr val="FFFFFF"/>
                    </a:solidFill>
                  </a:tcPr>
                </a:tc>
                <a:tc>
                  <a:txBody>
                    <a:bodyPr wrap="square"/>
                    <a:lstStyle/>
                    <a:p>
                      <a:pPr algn="r"/>
                      <a:r>
                        <a:rPr sz="1100" b="0">
                          <a:solidFill>
                            <a:srgbClr val="1F2A44"/>
                          </a:solidFill>
                          <a:latin typeface="Courier New"/>
                        </a:rPr>
                        <a:t>70.9%</a:t>
                      </a:r>
                    </a:p>
                  </a:txBody>
                  <a:tcPr marL="54864" marR="54864" marT="27432" marB="27432">
                    <a:solidFill>
                      <a:srgbClr val="FFFFFF"/>
                    </a:solidFill>
                  </a:tcPr>
                </a:tc>
              </a:tr>
              <a:tr h="335280">
                <a:tc>
                  <a:txBody>
                    <a:bodyPr wrap="square"/>
                    <a:lstStyle/>
                    <a:p>
                      <a:pPr algn="l"/>
                      <a:r>
                        <a:rPr sz="1100" b="0">
                          <a:solidFill>
                            <a:srgbClr val="1F2A44"/>
                          </a:solidFill>
                          <a:latin typeface="Calibri"/>
                        </a:rPr>
                        <a:t>Gikuyu (Kikuyu)</a:t>
                      </a:r>
                    </a:p>
                  </a:txBody>
                  <a:tcPr marL="54864" marR="54864" marT="27432" marB="27432">
                    <a:solidFill>
                      <a:srgbClr val="FFFFFF"/>
                    </a:solidFill>
                  </a:tcPr>
                </a:tc>
                <a:tc>
                  <a:txBody>
                    <a:bodyPr wrap="square"/>
                    <a:lstStyle/>
                    <a:p>
                      <a:pPr algn="l"/>
                      <a:r>
                        <a:rPr sz="1100" b="0">
                          <a:solidFill>
                            <a:srgbClr val="1F2A44"/>
                          </a:solidFill>
                          <a:latin typeface="Calibri"/>
                        </a:rPr>
                        <a:t>584</a:t>
                      </a:r>
                    </a:p>
                  </a:txBody>
                  <a:tcPr marL="54864" marR="54864" marT="27432" marB="27432">
                    <a:solidFill>
                      <a:srgbClr val="FFFFFF"/>
                    </a:solidFill>
                  </a:tcPr>
                </a:tc>
                <a:tc>
                  <a:txBody>
                    <a:bodyPr wrap="square"/>
                    <a:lstStyle/>
                    <a:p>
                      <a:pPr algn="r"/>
                      <a:r>
                        <a:rPr sz="1100" b="0">
                          <a:solidFill>
                            <a:srgbClr val="1F2A44"/>
                          </a:solidFill>
                          <a:latin typeface="Courier New"/>
                        </a:rPr>
                        <a:t>82.1</a:t>
                      </a:r>
                    </a:p>
                  </a:txBody>
                  <a:tcPr marL="54864" marR="54864" marT="27432" marB="27432">
                    <a:solidFill>
                      <a:srgbClr val="FFFFFF"/>
                    </a:solidFill>
                  </a:tcPr>
                </a:tc>
                <a:tc>
                  <a:txBody>
                    <a:bodyPr wrap="square"/>
                    <a:lstStyle/>
                    <a:p>
                      <a:pPr algn="r"/>
                      <a:r>
                        <a:rPr sz="1100" b="0">
                          <a:solidFill>
                            <a:srgbClr val="1F2A44"/>
                          </a:solidFill>
                          <a:latin typeface="Courier New"/>
                        </a:rPr>
                        <a:t>65.9</a:t>
                      </a:r>
                    </a:p>
                  </a:txBody>
                  <a:tcPr marL="54864" marR="54864" marT="27432" marB="27432">
                    <a:solidFill>
                      <a:srgbClr val="FFFFFF"/>
                    </a:solidFill>
                  </a:tcPr>
                </a:tc>
                <a:tc>
                  <a:txBody>
                    <a:bodyPr wrap="square"/>
                    <a:lstStyle/>
                    <a:p>
                      <a:pPr algn="r"/>
                      <a:r>
                        <a:rPr sz="1100" b="0">
                          <a:solidFill>
                            <a:srgbClr val="1F2A44"/>
                          </a:solidFill>
                          <a:latin typeface="Courier New"/>
                        </a:rPr>
                        <a:t>16.2</a:t>
                      </a:r>
                    </a:p>
                  </a:txBody>
                  <a:tcPr marL="54864" marR="54864" marT="27432" marB="27432">
                    <a:solidFill>
                      <a:srgbClr val="FFFFFF"/>
                    </a:solidFill>
                  </a:tcPr>
                </a:tc>
                <a:tc>
                  <a:txBody>
                    <a:bodyPr wrap="square"/>
                    <a:lstStyle/>
                    <a:p>
                      <a:pPr algn="r"/>
                      <a:r>
                        <a:rPr sz="1100" b="0">
                          <a:solidFill>
                            <a:srgbClr val="1F2A44"/>
                          </a:solidFill>
                          <a:latin typeface="Courier New"/>
                        </a:rPr>
                        <a:t>79.8%</a:t>
                      </a:r>
                    </a:p>
                  </a:txBody>
                  <a:tcPr marL="54864" marR="54864" marT="27432" marB="27432">
                    <a:solidFill>
                      <a:srgbClr val="FFFFFF"/>
                    </a:solidFill>
                  </a:tcPr>
                </a:tc>
              </a:tr>
              <a:tr h="335280">
                <a:tc>
                  <a:txBody>
                    <a:bodyPr wrap="square"/>
                    <a:lstStyle/>
                    <a:p>
                      <a:pPr algn="l"/>
                      <a:r>
                        <a:rPr sz="1100" b="0">
                          <a:solidFill>
                            <a:srgbClr val="1F2A44"/>
                          </a:solidFill>
                          <a:latin typeface="Calibri"/>
                        </a:rPr>
                        <a:t>Dholuo (Luo)</a:t>
                      </a:r>
                    </a:p>
                  </a:txBody>
                  <a:tcPr marL="54864" marR="54864" marT="27432" marB="27432">
                    <a:solidFill>
                      <a:srgbClr val="FFFFFF"/>
                    </a:solidFill>
                  </a:tcPr>
                </a:tc>
                <a:tc>
                  <a:txBody>
                    <a:bodyPr wrap="square"/>
                    <a:lstStyle/>
                    <a:p>
                      <a:pPr algn="l"/>
                      <a:r>
                        <a:rPr sz="1100" b="0">
                          <a:solidFill>
                            <a:srgbClr val="1F2A44"/>
                          </a:solidFill>
                          <a:latin typeface="Calibri"/>
                        </a:rPr>
                        <a:t>558</a:t>
                      </a:r>
                    </a:p>
                  </a:txBody>
                  <a:tcPr marL="54864" marR="54864" marT="27432" marB="27432">
                    <a:solidFill>
                      <a:srgbClr val="FFFFFF"/>
                    </a:solidFill>
                  </a:tcPr>
                </a:tc>
                <a:tc>
                  <a:txBody>
                    <a:bodyPr wrap="square"/>
                    <a:lstStyle/>
                    <a:p>
                      <a:pPr algn="r"/>
                      <a:r>
                        <a:rPr sz="1100" b="0">
                          <a:solidFill>
                            <a:srgbClr val="1F2A44"/>
                          </a:solidFill>
                          <a:latin typeface="Courier New"/>
                        </a:rPr>
                        <a:t>82.1</a:t>
                      </a:r>
                    </a:p>
                  </a:txBody>
                  <a:tcPr marL="54864" marR="54864" marT="27432" marB="27432">
                    <a:solidFill>
                      <a:srgbClr val="FFFFFF"/>
                    </a:solidFill>
                  </a:tcPr>
                </a:tc>
                <a:tc>
                  <a:txBody>
                    <a:bodyPr wrap="square"/>
                    <a:lstStyle/>
                    <a:p>
                      <a:pPr algn="r"/>
                      <a:r>
                        <a:rPr sz="1100" b="0">
                          <a:solidFill>
                            <a:srgbClr val="1F2A44"/>
                          </a:solidFill>
                          <a:latin typeface="Courier New"/>
                        </a:rPr>
                        <a:t>51.7</a:t>
                      </a:r>
                    </a:p>
                  </a:txBody>
                  <a:tcPr marL="54864" marR="54864" marT="27432" marB="27432">
                    <a:solidFill>
                      <a:srgbClr val="FFFFFF"/>
                    </a:solidFill>
                  </a:tcPr>
                </a:tc>
                <a:tc>
                  <a:txBody>
                    <a:bodyPr wrap="square"/>
                    <a:lstStyle/>
                    <a:p>
                      <a:pPr algn="r"/>
                      <a:r>
                        <a:rPr sz="1100" b="0">
                          <a:solidFill>
                            <a:srgbClr val="1F2A44"/>
                          </a:solidFill>
                          <a:latin typeface="Courier New"/>
                        </a:rPr>
                        <a:t>30.4</a:t>
                      </a:r>
                    </a:p>
                  </a:txBody>
                  <a:tcPr marL="54864" marR="54864" marT="27432" marB="27432">
                    <a:solidFill>
                      <a:srgbClr val="FFFFFF"/>
                    </a:solidFill>
                  </a:tcPr>
                </a:tc>
                <a:tc>
                  <a:txBody>
                    <a:bodyPr wrap="square"/>
                    <a:lstStyle/>
                    <a:p>
                      <a:pPr algn="r"/>
                      <a:r>
                        <a:rPr sz="1100" b="0">
                          <a:solidFill>
                            <a:srgbClr val="1F2A44"/>
                          </a:solidFill>
                          <a:latin typeface="Courier New"/>
                        </a:rPr>
                        <a:t>89.5%</a:t>
                      </a:r>
                    </a:p>
                  </a:txBody>
                  <a:tcPr marL="54864" marR="54864" marT="27432" marB="27432">
                    <a:solidFill>
                      <a:srgbClr val="FFFFFF"/>
                    </a:solidFill>
                  </a:tcPr>
                </a:tc>
              </a:tr>
              <a:tr h="335280">
                <a:tc>
                  <a:txBody>
                    <a:bodyPr wrap="square"/>
                    <a:lstStyle/>
                    <a:p>
                      <a:pPr algn="l"/>
                      <a:r>
                        <a:rPr sz="1100" b="0">
                          <a:solidFill>
                            <a:srgbClr val="1F2A44"/>
                          </a:solidFill>
                          <a:latin typeface="Calibri"/>
                        </a:rPr>
                        <a:t>Wanga (Luhya)</a:t>
                      </a:r>
                    </a:p>
                  </a:txBody>
                  <a:tcPr marL="54864" marR="54864" marT="27432" marB="27432">
                    <a:solidFill>
                      <a:srgbClr val="FFFFFF"/>
                    </a:solidFill>
                  </a:tcPr>
                </a:tc>
                <a:tc>
                  <a:txBody>
                    <a:bodyPr wrap="square"/>
                    <a:lstStyle/>
                    <a:p>
                      <a:pPr algn="l"/>
                      <a:r>
                        <a:rPr sz="1100" b="0">
                          <a:solidFill>
                            <a:srgbClr val="1F2A44"/>
                          </a:solidFill>
                          <a:latin typeface="Calibri"/>
                        </a:rPr>
                        <a:t>60</a:t>
                      </a:r>
                    </a:p>
                  </a:txBody>
                  <a:tcPr marL="54864" marR="54864" marT="27432" marB="27432">
                    <a:solidFill>
                      <a:srgbClr val="FFFFFF"/>
                    </a:solidFill>
                  </a:tcPr>
                </a:tc>
                <a:tc>
                  <a:txBody>
                    <a:bodyPr wrap="square"/>
                    <a:lstStyle/>
                    <a:p>
                      <a:pPr algn="r"/>
                      <a:r>
                        <a:rPr sz="1100" b="0">
                          <a:solidFill>
                            <a:srgbClr val="1F2A44"/>
                          </a:solidFill>
                          <a:latin typeface="Courier New"/>
                        </a:rPr>
                        <a:t>9.2</a:t>
                      </a:r>
                    </a:p>
                  </a:txBody>
                  <a:tcPr marL="54864" marR="54864" marT="27432" marB="27432">
                    <a:solidFill>
                      <a:srgbClr val="FFFFFF"/>
                    </a:solidFill>
                  </a:tcPr>
                </a:tc>
                <a:tc>
                  <a:txBody>
                    <a:bodyPr wrap="square"/>
                    <a:lstStyle/>
                    <a:p>
                      <a:pPr algn="r"/>
                      <a:r>
                        <a:rPr sz="1100" b="0">
                          <a:solidFill>
                            <a:srgbClr val="1F2A44"/>
                          </a:solidFill>
                          <a:latin typeface="Courier New"/>
                        </a:rPr>
                        <a:t>6.8</a:t>
                      </a:r>
                    </a:p>
                  </a:txBody>
                  <a:tcPr marL="54864" marR="54864" marT="27432" marB="27432">
                    <a:solidFill>
                      <a:srgbClr val="FFFFFF"/>
                    </a:solidFill>
                  </a:tcPr>
                </a:tc>
                <a:tc>
                  <a:txBody>
                    <a:bodyPr wrap="square"/>
                    <a:lstStyle/>
                    <a:p>
                      <a:pPr algn="r"/>
                      <a:r>
                        <a:rPr sz="1100" b="0">
                          <a:solidFill>
                            <a:srgbClr val="1F2A44"/>
                          </a:solidFill>
                          <a:latin typeface="Courier New"/>
                        </a:rPr>
                        <a:t>2.3</a:t>
                      </a:r>
                    </a:p>
                  </a:txBody>
                  <a:tcPr marL="54864" marR="54864" marT="27432" marB="27432">
                    <a:solidFill>
                      <a:srgbClr val="FFFFFF"/>
                    </a:solidFill>
                  </a:tcPr>
                </a:tc>
                <a:tc>
                  <a:txBody>
                    <a:bodyPr wrap="square"/>
                    <a:lstStyle/>
                    <a:p>
                      <a:pPr algn="r"/>
                      <a:r>
                        <a:rPr sz="1100" b="0">
                          <a:solidFill>
                            <a:srgbClr val="1F2A44"/>
                          </a:solidFill>
                          <a:latin typeface="Courier New"/>
                        </a:rPr>
                        <a:t>88.7%</a:t>
                      </a:r>
                    </a:p>
                  </a:txBody>
                  <a:tcPr marL="54864" marR="54864" marT="27432" marB="27432">
                    <a:solidFill>
                      <a:srgbClr val="FFFFFF"/>
                    </a:solidFill>
                  </a:tcPr>
                </a:tc>
              </a:tr>
              <a:tr h="335280">
                <a:tc>
                  <a:txBody>
                    <a:bodyPr wrap="square"/>
                    <a:lstStyle/>
                    <a:p>
                      <a:pPr algn="l"/>
                      <a:r>
                        <a:rPr sz="1100" b="0">
                          <a:solidFill>
                            <a:srgbClr val="1F2A44"/>
                          </a:solidFill>
                          <a:latin typeface="Calibri"/>
                        </a:rPr>
                        <a:t>Bukusu (Luhya)</a:t>
                      </a:r>
                    </a:p>
                  </a:txBody>
                  <a:tcPr marL="54864" marR="54864" marT="27432" marB="27432">
                    <a:solidFill>
                      <a:srgbClr val="FFFFFF"/>
                    </a:solidFill>
                  </a:tcPr>
                </a:tc>
                <a:tc>
                  <a:txBody>
                    <a:bodyPr wrap="square"/>
                    <a:lstStyle/>
                    <a:p>
                      <a:pPr algn="l"/>
                      <a:r>
                        <a:rPr sz="1100" b="0">
                          <a:solidFill>
                            <a:srgbClr val="1F2A44"/>
                          </a:solidFill>
                          <a:latin typeface="Calibri"/>
                        </a:rPr>
                        <a:t>14</a:t>
                      </a:r>
                    </a:p>
                  </a:txBody>
                  <a:tcPr marL="54864" marR="54864" marT="27432" marB="27432">
                    <a:solidFill>
                      <a:srgbClr val="FFFFFF"/>
                    </a:solidFill>
                  </a:tcPr>
                </a:tc>
                <a:tc>
                  <a:txBody>
                    <a:bodyPr wrap="square"/>
                    <a:lstStyle/>
                    <a:p>
                      <a:pPr algn="r"/>
                      <a:r>
                        <a:rPr sz="1100" b="0">
                          <a:solidFill>
                            <a:srgbClr val="1F2A44"/>
                          </a:solidFill>
                          <a:latin typeface="Courier New"/>
                        </a:rPr>
                        <a:t>1.1</a:t>
                      </a:r>
                    </a:p>
                  </a:txBody>
                  <a:tcPr marL="54864" marR="54864" marT="27432" marB="27432">
                    <a:solidFill>
                      <a:srgbClr val="FFFFFF"/>
                    </a:solidFill>
                  </a:tcPr>
                </a:tc>
                <a:tc>
                  <a:txBody>
                    <a:bodyPr wrap="square"/>
                    <a:lstStyle/>
                    <a:p>
                      <a:pPr algn="r"/>
                      <a:r>
                        <a:rPr sz="1100" b="0">
                          <a:solidFill>
                            <a:srgbClr val="1F2A44"/>
                          </a:solidFill>
                          <a:latin typeface="Courier New"/>
                        </a:rPr>
                        <a:t>0.7</a:t>
                      </a:r>
                    </a:p>
                  </a:txBody>
                  <a:tcPr marL="54864" marR="54864" marT="27432" marB="27432">
                    <a:solidFill>
                      <a:srgbClr val="FFFFFF"/>
                    </a:solidFill>
                  </a:tcPr>
                </a:tc>
                <a:tc>
                  <a:txBody>
                    <a:bodyPr wrap="square"/>
                    <a:lstStyle/>
                    <a:p>
                      <a:pPr algn="r"/>
                      <a:r>
                        <a:rPr sz="1100" b="0">
                          <a:solidFill>
                            <a:srgbClr val="1F2A44"/>
                          </a:solidFill>
                          <a:latin typeface="Courier New"/>
                        </a:rPr>
                        <a:t>0.3</a:t>
                      </a:r>
                    </a:p>
                  </a:txBody>
                  <a:tcPr marL="54864" marR="54864" marT="27432" marB="27432">
                    <a:solidFill>
                      <a:srgbClr val="FFFFFF"/>
                    </a:solidFill>
                  </a:tcPr>
                </a:tc>
                <a:tc>
                  <a:txBody>
                    <a:bodyPr wrap="square"/>
                    <a:lstStyle/>
                    <a:p>
                      <a:pPr algn="r"/>
                      <a:r>
                        <a:rPr sz="1100" b="0">
                          <a:solidFill>
                            <a:srgbClr val="1F2A44"/>
                          </a:solidFill>
                          <a:latin typeface="Courier New"/>
                        </a:rPr>
                        <a:t>0.0%</a:t>
                      </a:r>
                    </a:p>
                  </a:txBody>
                  <a:tcPr marL="54864" marR="54864" marT="27432" marB="2743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C8102E"/>
                </a:solidFill>
                <a:latin typeface="Calibri"/>
              </a:rPr>
              <a:t>Hours are recorded duration; speech and music hours split those hours by the music detector; agreement is the share of labelled windows whose language matched the folder name.</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[measured]  Receipt R06: Estate language reading m9j-9e8fcb46a809 on akki-vm (2 GPUs, 1.034 GPU-h): audio language model lcj-7128593897d4 sha256 5c1feb8497e8…, music detector m9j-686de001bfe7 sha256 0fea3eee0393…; model readings, not human labels</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EVIDENCE BY NAME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Audio quality signals by language folder</a:t>
            </a:r>
          </a:p>
        </p:txBody>
      </p:sp>
      <p:graphicFrame>
        <p:nvGraphicFramePr>
          <p:cNvPr id="4" name="Table 3"/>
          <p:cNvGraphicFramePr>
            <a:graphicFrameLocks noGrp="1"/>
          </p:cNvGraphicFramePr>
          <p:nvPr/>
        </p:nvGraphicFramePr>
        <p:xfrm>
          <a:off x="594360" y="1920240"/>
          <a:ext cx="11002972" cy="3017520"/>
        </p:xfrm>
        <a:graphic>
          <a:graphicData uri="http://schemas.openxmlformats.org/drawingml/2006/table">
            <a:tbl>
              <a:tblPr firstRow="1" bandRow="1">
                <a:tableStyleId>{5C22544A-7EE6-4342-B048-85BDC9FD1C3A}</a:tableStyleId>
              </a:tblPr>
              <a:tblGrid>
                <a:gridCol w="1467063"/>
                <a:gridCol w="1283680"/>
                <a:gridCol w="1375371"/>
                <a:gridCol w="1833829"/>
                <a:gridCol w="1833829"/>
                <a:gridCol w="1833829"/>
                <a:gridCol w="1375371"/>
              </a:tblGrid>
              <a:tr h="335280">
                <a:tc>
                  <a:txBody>
                    <a:bodyPr wrap="square"/>
                    <a:lstStyle/>
                    <a:p>
                      <a:pPr algn="l"/>
                      <a:r>
                        <a:rPr sz="1100" b="1">
                          <a:solidFill>
                            <a:srgbClr val="1F2A44"/>
                          </a:solidFill>
                          <a:latin typeface="Calibri"/>
                        </a:rPr>
                        <a:t>Language</a:t>
                      </a:r>
                    </a:p>
                  </a:txBody>
                  <a:tcPr marL="54864" marR="54864" marT="27432" marB="27432">
                    <a:solidFill>
                      <a:srgbClr val="E9ECF1"/>
                    </a:solidFill>
                  </a:tcPr>
                </a:tc>
                <a:tc>
                  <a:txBody>
                    <a:bodyPr wrap="square"/>
                    <a:lstStyle/>
                    <a:p>
                      <a:pPr algn="l"/>
                      <a:r>
                        <a:rPr sz="1100" b="1">
                          <a:solidFill>
                            <a:srgbClr val="1F2A44"/>
                          </a:solidFill>
                          <a:latin typeface="Calibri"/>
                        </a:rPr>
                        <a:t>Files</a:t>
                      </a:r>
                    </a:p>
                  </a:txBody>
                  <a:tcPr marL="54864" marR="54864" marT="27432" marB="27432">
                    <a:solidFill>
                      <a:srgbClr val="E9ECF1"/>
                    </a:solidFill>
                  </a:tcPr>
                </a:tc>
                <a:tc>
                  <a:txBody>
                    <a:bodyPr wrap="square"/>
                    <a:lstStyle/>
                    <a:p>
                      <a:pPr algn="l"/>
                      <a:r>
                        <a:rPr sz="1100" b="1">
                          <a:solidFill>
                            <a:srgbClr val="1F2A44"/>
                          </a:solidFill>
                          <a:latin typeface="Calibri"/>
                        </a:rPr>
                        <a:t>Decode failures</a:t>
                      </a:r>
                    </a:p>
                  </a:txBody>
                  <a:tcPr marL="54864" marR="54864" marT="27432" marB="27432">
                    <a:solidFill>
                      <a:srgbClr val="E9ECF1"/>
                    </a:solidFill>
                  </a:tcPr>
                </a:tc>
                <a:tc>
                  <a:txBody>
                    <a:bodyPr wrap="square"/>
                    <a:lstStyle/>
                    <a:p>
                      <a:pPr algn="l"/>
                      <a:r>
                        <a:rPr sz="1100" b="1">
                          <a:solidFill>
                            <a:srgbClr val="1F2A44"/>
                          </a:solidFill>
                          <a:latin typeface="Calibri"/>
                        </a:rPr>
                        <a:t>Music-majority files</a:t>
                      </a:r>
                    </a:p>
                  </a:txBody>
                  <a:tcPr marL="54864" marR="54864" marT="27432" marB="27432">
                    <a:solidFill>
                      <a:srgbClr val="E9ECF1"/>
                    </a:solidFill>
                  </a:tcPr>
                </a:tc>
                <a:tc>
                  <a:txBody>
                    <a:bodyPr wrap="square"/>
                    <a:lstStyle/>
                    <a:p>
                      <a:pPr algn="l"/>
                      <a:r>
                        <a:rPr sz="1100" b="1">
                          <a:solidFill>
                            <a:srgbClr val="1F2A44"/>
                          </a:solidFill>
                          <a:latin typeface="Calibri"/>
                        </a:rPr>
                        <a:t>Mixed-language files</a:t>
                      </a:r>
                    </a:p>
                  </a:txBody>
                  <a:tcPr marL="54864" marR="54864" marT="27432" marB="27432">
                    <a:solidFill>
                      <a:srgbClr val="E9ECF1"/>
                    </a:solidFill>
                  </a:tcPr>
                </a:tc>
                <a:tc>
                  <a:txBody>
                    <a:bodyPr wrap="square"/>
                    <a:lstStyle/>
                    <a:p>
                      <a:pPr algn="l"/>
                      <a:r>
                        <a:rPr sz="1100" b="1">
                          <a:solidFill>
                            <a:srgbClr val="1F2A44"/>
                          </a:solidFill>
                          <a:latin typeface="Calibri"/>
                        </a:rPr>
                        <a:t>Low-confidence files</a:t>
                      </a:r>
                    </a:p>
                  </a:txBody>
                  <a:tcPr marL="54864" marR="54864" marT="27432" marB="27432">
                    <a:solidFill>
                      <a:srgbClr val="E9ECF1"/>
                    </a:solidFill>
                  </a:tcPr>
                </a:tc>
                <a:tc>
                  <a:txBody>
                    <a:bodyPr wrap="square"/>
                    <a:lstStyle/>
                    <a:p>
                      <a:pPr algn="l"/>
                      <a:r>
                        <a:rPr sz="1100" b="1">
                          <a:solidFill>
                            <a:srgbClr val="1F2A44"/>
                          </a:solidFill>
                          <a:latin typeface="Calibri"/>
                        </a:rPr>
                        <a:t>Mean confidence</a:t>
                      </a:r>
                    </a:p>
                  </a:txBody>
                  <a:tcPr marL="54864" marR="54864" marT="27432" marB="27432">
                    <a:solidFill>
                      <a:srgbClr val="E9ECF1"/>
                    </a:solidFill>
                  </a:tcPr>
                </a:tc>
              </a:tr>
              <a:tr h="335280">
                <a:tc>
                  <a:txBody>
                    <a:bodyPr wrap="square"/>
                    <a:lstStyle/>
                    <a:p>
                      <a:pPr algn="l"/>
                      <a:r>
                        <a:rPr sz="1100" b="0">
                          <a:solidFill>
                            <a:srgbClr val="1F2A44"/>
                          </a:solidFill>
                          <a:latin typeface="Calibri"/>
                        </a:rPr>
                        <a:t>Ekegusii (Kisii)</a:t>
                      </a:r>
                    </a:p>
                  </a:txBody>
                  <a:tcPr marL="54864" marR="54864" marT="27432" marB="27432">
                    <a:solidFill>
                      <a:srgbClr val="FFFFFF"/>
                    </a:solidFill>
                  </a:tcPr>
                </a:tc>
                <a:tc>
                  <a:txBody>
                    <a:bodyPr wrap="square"/>
                    <a:lstStyle/>
                    <a:p>
                      <a:pPr algn="r"/>
                      <a:r>
                        <a:rPr sz="1100" b="0">
                          <a:solidFill>
                            <a:srgbClr val="1F2A44"/>
                          </a:solidFill>
                          <a:latin typeface="Courier New"/>
                        </a:rPr>
                        <a:t>732</a:t>
                      </a:r>
                    </a:p>
                  </a:txBody>
                  <a:tcPr marL="54864" marR="54864" marT="27432" marB="27432">
                    <a:solidFill>
                      <a:srgbClr val="FFFFFF"/>
                    </a:solidFill>
                  </a:tcPr>
                </a:tc>
                <a:tc>
                  <a:txBody>
                    <a:bodyPr wrap="square"/>
                    <a:lstStyle/>
                    <a:p>
                      <a:pPr algn="r"/>
                      <a:r>
                        <a:rPr sz="1100" b="0">
                          <a:solidFill>
                            <a:srgbClr val="1F2A44"/>
                          </a:solidFill>
                          <a:latin typeface="Courier New"/>
                        </a:rPr>
                        <a:t>0</a:t>
                      </a:r>
                    </a:p>
                  </a:txBody>
                  <a:tcPr marL="54864" marR="54864" marT="27432" marB="27432">
                    <a:solidFill>
                      <a:srgbClr val="FFFFFF"/>
                    </a:solidFill>
                  </a:tcPr>
                </a:tc>
                <a:tc>
                  <a:txBody>
                    <a:bodyPr wrap="square"/>
                    <a:lstStyle/>
                    <a:p>
                      <a:pPr algn="r"/>
                      <a:r>
                        <a:rPr sz="1100" b="0">
                          <a:solidFill>
                            <a:srgbClr val="1F2A44"/>
                          </a:solidFill>
                          <a:latin typeface="Courier New"/>
                        </a:rPr>
                        <a:t>46</a:t>
                      </a:r>
                    </a:p>
                  </a:txBody>
                  <a:tcPr marL="54864" marR="54864" marT="27432" marB="27432">
                    <a:solidFill>
                      <a:srgbClr val="FFFFFF"/>
                    </a:solidFill>
                  </a:tcPr>
                </a:tc>
                <a:tc>
                  <a:txBody>
                    <a:bodyPr wrap="square"/>
                    <a:lstStyle/>
                    <a:p>
                      <a:pPr algn="r"/>
                      <a:r>
                        <a:rPr sz="1100" b="0">
                          <a:solidFill>
                            <a:srgbClr val="1F2A44"/>
                          </a:solidFill>
                          <a:latin typeface="Courier New"/>
                        </a:rPr>
                        <a:t>29</a:t>
                      </a:r>
                    </a:p>
                  </a:txBody>
                  <a:tcPr marL="54864" marR="54864" marT="27432" marB="27432">
                    <a:solidFill>
                      <a:srgbClr val="FFFFFF"/>
                    </a:solidFill>
                  </a:tcPr>
                </a:tc>
                <a:tc>
                  <a:txBody>
                    <a:bodyPr wrap="square"/>
                    <a:lstStyle/>
                    <a:p>
                      <a:pPr algn="r"/>
                      <a:r>
                        <a:rPr sz="1100" b="0">
                          <a:solidFill>
                            <a:srgbClr val="1F2A44"/>
                          </a:solidFill>
                          <a:latin typeface="Courier New"/>
                        </a:rPr>
                        <a:t>1</a:t>
                      </a:r>
                    </a:p>
                  </a:txBody>
                  <a:tcPr marL="54864" marR="54864" marT="27432" marB="27432">
                    <a:solidFill>
                      <a:srgbClr val="FFFFFF"/>
                    </a:solidFill>
                  </a:tcPr>
                </a:tc>
                <a:tc>
                  <a:txBody>
                    <a:bodyPr wrap="square"/>
                    <a:lstStyle/>
                    <a:p>
                      <a:pPr algn="r"/>
                      <a:r>
                        <a:rPr sz="1100" b="0">
                          <a:solidFill>
                            <a:srgbClr val="1F2A44"/>
                          </a:solidFill>
                          <a:latin typeface="Courier New"/>
                        </a:rPr>
                        <a:t>0.905</a:t>
                      </a:r>
                    </a:p>
                  </a:txBody>
                  <a:tcPr marL="54864" marR="54864" marT="27432" marB="27432">
                    <a:solidFill>
                      <a:srgbClr val="FFFFFF"/>
                    </a:solidFill>
                  </a:tcPr>
                </a:tc>
              </a:tr>
              <a:tr h="335280">
                <a:tc>
                  <a:txBody>
                    <a:bodyPr wrap="square"/>
                    <a:lstStyle/>
                    <a:p>
                      <a:pPr algn="l"/>
                      <a:r>
                        <a:rPr sz="1100" b="0">
                          <a:solidFill>
                            <a:srgbClr val="1F2A44"/>
                          </a:solidFill>
                          <a:latin typeface="Calibri"/>
                        </a:rPr>
                        <a:t>Kalenjin</a:t>
                      </a:r>
                    </a:p>
                  </a:txBody>
                  <a:tcPr marL="54864" marR="54864" marT="27432" marB="27432">
                    <a:solidFill>
                      <a:srgbClr val="FFFFFF"/>
                    </a:solidFill>
                  </a:tcPr>
                </a:tc>
                <a:tc>
                  <a:txBody>
                    <a:bodyPr wrap="square"/>
                    <a:lstStyle/>
                    <a:p>
                      <a:pPr algn="r"/>
                      <a:r>
                        <a:rPr sz="1100" b="0">
                          <a:solidFill>
                            <a:srgbClr val="1F2A44"/>
                          </a:solidFill>
                          <a:latin typeface="Courier New"/>
                        </a:rPr>
                        <a:t>295</a:t>
                      </a:r>
                    </a:p>
                  </a:txBody>
                  <a:tcPr marL="54864" marR="54864" marT="27432" marB="27432">
                    <a:solidFill>
                      <a:srgbClr val="FFFFFF"/>
                    </a:solidFill>
                  </a:tcPr>
                </a:tc>
                <a:tc>
                  <a:txBody>
                    <a:bodyPr wrap="square"/>
                    <a:lstStyle/>
                    <a:p>
                      <a:pPr algn="r"/>
                      <a:r>
                        <a:rPr sz="1100" b="0">
                          <a:solidFill>
                            <a:srgbClr val="1F2A44"/>
                          </a:solidFill>
                          <a:latin typeface="Courier New"/>
                        </a:rPr>
                        <a:t>0</a:t>
                      </a:r>
                    </a:p>
                  </a:txBody>
                  <a:tcPr marL="54864" marR="54864" marT="27432" marB="27432">
                    <a:solidFill>
                      <a:srgbClr val="FFFFFF"/>
                    </a:solidFill>
                  </a:tcPr>
                </a:tc>
                <a:tc>
                  <a:txBody>
                    <a:bodyPr wrap="square"/>
                    <a:lstStyle/>
                    <a:p>
                      <a:pPr algn="r"/>
                      <a:r>
                        <a:rPr sz="1100" b="0">
                          <a:solidFill>
                            <a:srgbClr val="1F2A44"/>
                          </a:solidFill>
                          <a:latin typeface="Courier New"/>
                        </a:rPr>
                        <a:t>18</a:t>
                      </a:r>
                    </a:p>
                  </a:txBody>
                  <a:tcPr marL="54864" marR="54864" marT="27432" marB="27432">
                    <a:solidFill>
                      <a:srgbClr val="FFFFFF"/>
                    </a:solidFill>
                  </a:tcPr>
                </a:tc>
                <a:tc>
                  <a:txBody>
                    <a:bodyPr wrap="square"/>
                    <a:lstStyle/>
                    <a:p>
                      <a:pPr algn="r"/>
                      <a:r>
                        <a:rPr sz="1100" b="0">
                          <a:solidFill>
                            <a:srgbClr val="1F2A44"/>
                          </a:solidFill>
                          <a:latin typeface="Courier New"/>
                        </a:rPr>
                        <a:t>5</a:t>
                      </a:r>
                    </a:p>
                  </a:txBody>
                  <a:tcPr marL="54864" marR="54864" marT="27432" marB="27432">
                    <a:solidFill>
                      <a:srgbClr val="FFFFFF"/>
                    </a:solidFill>
                  </a:tcPr>
                </a:tc>
                <a:tc>
                  <a:txBody>
                    <a:bodyPr wrap="square"/>
                    <a:lstStyle/>
                    <a:p>
                      <a:pPr algn="r"/>
                      <a:r>
                        <a:rPr sz="1100" b="0">
                          <a:solidFill>
                            <a:srgbClr val="1F2A44"/>
                          </a:solidFill>
                          <a:latin typeface="Courier New"/>
                        </a:rPr>
                        <a:t>0</a:t>
                      </a:r>
                    </a:p>
                  </a:txBody>
                  <a:tcPr marL="54864" marR="54864" marT="27432" marB="27432">
                    <a:solidFill>
                      <a:srgbClr val="FFFFFF"/>
                    </a:solidFill>
                  </a:tcPr>
                </a:tc>
                <a:tc>
                  <a:txBody>
                    <a:bodyPr wrap="square"/>
                    <a:lstStyle/>
                    <a:p>
                      <a:pPr algn="r"/>
                      <a:r>
                        <a:rPr sz="1100" b="0">
                          <a:solidFill>
                            <a:srgbClr val="1F2A44"/>
                          </a:solidFill>
                          <a:latin typeface="Courier New"/>
                        </a:rPr>
                        <a:t>0.912</a:t>
                      </a:r>
                    </a:p>
                  </a:txBody>
                  <a:tcPr marL="54864" marR="54864" marT="27432" marB="27432">
                    <a:solidFill>
                      <a:srgbClr val="FFFFFF"/>
                    </a:solidFill>
                  </a:tcPr>
                </a:tc>
              </a:tr>
              <a:tr h="335280">
                <a:tc>
                  <a:txBody>
                    <a:bodyPr wrap="square"/>
                    <a:lstStyle/>
                    <a:p>
                      <a:pPr algn="l"/>
                      <a:r>
                        <a:rPr sz="1100" b="0">
                          <a:solidFill>
                            <a:srgbClr val="1F2A44"/>
                          </a:solidFill>
                          <a:latin typeface="Calibri"/>
                        </a:rPr>
                        <a:t>Kiswahili</a:t>
                      </a:r>
                    </a:p>
                  </a:txBody>
                  <a:tcPr marL="54864" marR="54864" marT="27432" marB="27432">
                    <a:solidFill>
                      <a:srgbClr val="FFFFFF"/>
                    </a:solidFill>
                  </a:tcPr>
                </a:tc>
                <a:tc>
                  <a:txBody>
                    <a:bodyPr wrap="square"/>
                    <a:lstStyle/>
                    <a:p>
                      <a:pPr algn="r"/>
                      <a:r>
                        <a:rPr sz="1100" b="0">
                          <a:solidFill>
                            <a:srgbClr val="1F2A44"/>
                          </a:solidFill>
                          <a:latin typeface="Courier New"/>
                        </a:rPr>
                        <a:t>549</a:t>
                      </a:r>
                    </a:p>
                  </a:txBody>
                  <a:tcPr marL="54864" marR="54864" marT="27432" marB="27432">
                    <a:solidFill>
                      <a:srgbClr val="FFFFFF"/>
                    </a:solidFill>
                  </a:tcPr>
                </a:tc>
                <a:tc>
                  <a:txBody>
                    <a:bodyPr wrap="square"/>
                    <a:lstStyle/>
                    <a:p>
                      <a:pPr algn="r"/>
                      <a:r>
                        <a:rPr sz="1100" b="0">
                          <a:solidFill>
                            <a:srgbClr val="1F2A44"/>
                          </a:solidFill>
                          <a:latin typeface="Courier New"/>
                        </a:rPr>
                        <a:t>0</a:t>
                      </a:r>
                    </a:p>
                  </a:txBody>
                  <a:tcPr marL="54864" marR="54864" marT="27432" marB="27432">
                    <a:solidFill>
                      <a:srgbClr val="FFFFFF"/>
                    </a:solidFill>
                  </a:tcPr>
                </a:tc>
                <a:tc>
                  <a:txBody>
                    <a:bodyPr wrap="square"/>
                    <a:lstStyle/>
                    <a:p>
                      <a:pPr algn="r"/>
                      <a:r>
                        <a:rPr sz="1100" b="0">
                          <a:solidFill>
                            <a:srgbClr val="1F2A44"/>
                          </a:solidFill>
                          <a:latin typeface="Courier New"/>
                        </a:rPr>
                        <a:t>26</a:t>
                      </a:r>
                    </a:p>
                  </a:txBody>
                  <a:tcPr marL="54864" marR="54864" marT="27432" marB="27432">
                    <a:solidFill>
                      <a:srgbClr val="FFFFFF"/>
                    </a:solidFill>
                  </a:tcPr>
                </a:tc>
                <a:tc>
                  <a:txBody>
                    <a:bodyPr wrap="square"/>
                    <a:lstStyle/>
                    <a:p>
                      <a:pPr algn="r"/>
                      <a:r>
                        <a:rPr sz="1100" b="0">
                          <a:solidFill>
                            <a:srgbClr val="1F2A44"/>
                          </a:solidFill>
                          <a:latin typeface="Courier New"/>
                        </a:rPr>
                        <a:t>44</a:t>
                      </a:r>
                    </a:p>
                  </a:txBody>
                  <a:tcPr marL="54864" marR="54864" marT="27432" marB="27432">
                    <a:solidFill>
                      <a:srgbClr val="FFFFFF"/>
                    </a:solidFill>
                  </a:tcPr>
                </a:tc>
                <a:tc>
                  <a:txBody>
                    <a:bodyPr wrap="square"/>
                    <a:lstStyle/>
                    <a:p>
                      <a:pPr algn="r"/>
                      <a:r>
                        <a:rPr sz="1100" b="0">
                          <a:solidFill>
                            <a:srgbClr val="1F2A44"/>
                          </a:solidFill>
                          <a:latin typeface="Courier New"/>
                        </a:rPr>
                        <a:t>0</a:t>
                      </a:r>
                    </a:p>
                  </a:txBody>
                  <a:tcPr marL="54864" marR="54864" marT="27432" marB="27432">
                    <a:solidFill>
                      <a:srgbClr val="FFFFFF"/>
                    </a:solidFill>
                  </a:tcPr>
                </a:tc>
                <a:tc>
                  <a:txBody>
                    <a:bodyPr wrap="square"/>
                    <a:lstStyle/>
                    <a:p>
                      <a:pPr algn="r"/>
                      <a:r>
                        <a:rPr sz="1100" b="0">
                          <a:solidFill>
                            <a:srgbClr val="1F2A44"/>
                          </a:solidFill>
                          <a:latin typeface="Courier New"/>
                        </a:rPr>
                        <a:t>0.875</a:t>
                      </a:r>
                    </a:p>
                  </a:txBody>
                  <a:tcPr marL="54864" marR="54864" marT="27432" marB="27432">
                    <a:solidFill>
                      <a:srgbClr val="FFFFFF"/>
                    </a:solidFill>
                  </a:tcPr>
                </a:tc>
              </a:tr>
              <a:tr h="335280">
                <a:tc>
                  <a:txBody>
                    <a:bodyPr wrap="square"/>
                    <a:lstStyle/>
                    <a:p>
                      <a:pPr algn="l"/>
                      <a:r>
                        <a:rPr sz="1100" b="0">
                          <a:solidFill>
                            <a:srgbClr val="1F2A44"/>
                          </a:solidFill>
                          <a:latin typeface="Calibri"/>
                        </a:rPr>
                        <a:t>Kikamba (Kamba)</a:t>
                      </a:r>
                    </a:p>
                  </a:txBody>
                  <a:tcPr marL="54864" marR="54864" marT="27432" marB="27432">
                    <a:solidFill>
                      <a:srgbClr val="FFFFFF"/>
                    </a:solidFill>
                  </a:tcPr>
                </a:tc>
                <a:tc>
                  <a:txBody>
                    <a:bodyPr wrap="square"/>
                    <a:lstStyle/>
                    <a:p>
                      <a:pPr algn="r"/>
                      <a:r>
                        <a:rPr sz="1100" b="0">
                          <a:solidFill>
                            <a:srgbClr val="1F2A44"/>
                          </a:solidFill>
                          <a:latin typeface="Courier New"/>
                        </a:rPr>
                        <a:t>1166</a:t>
                      </a:r>
                    </a:p>
                  </a:txBody>
                  <a:tcPr marL="54864" marR="54864" marT="27432" marB="27432">
                    <a:solidFill>
                      <a:srgbClr val="FFFFFF"/>
                    </a:solidFill>
                  </a:tcPr>
                </a:tc>
                <a:tc>
                  <a:txBody>
                    <a:bodyPr wrap="square"/>
                    <a:lstStyle/>
                    <a:p>
                      <a:pPr algn="r"/>
                      <a:r>
                        <a:rPr sz="1100" b="0">
                          <a:solidFill>
                            <a:srgbClr val="1F2A44"/>
                          </a:solidFill>
                          <a:latin typeface="Courier New"/>
                        </a:rPr>
                        <a:t>0</a:t>
                      </a:r>
                    </a:p>
                  </a:txBody>
                  <a:tcPr marL="54864" marR="54864" marT="27432" marB="27432">
                    <a:solidFill>
                      <a:srgbClr val="FFFFFF"/>
                    </a:solidFill>
                  </a:tcPr>
                </a:tc>
                <a:tc>
                  <a:txBody>
                    <a:bodyPr wrap="square"/>
                    <a:lstStyle/>
                    <a:p>
                      <a:pPr algn="r"/>
                      <a:r>
                        <a:rPr sz="1100" b="0">
                          <a:solidFill>
                            <a:srgbClr val="1F2A44"/>
                          </a:solidFill>
                          <a:latin typeface="Courier New"/>
                        </a:rPr>
                        <a:t>192</a:t>
                      </a:r>
                    </a:p>
                  </a:txBody>
                  <a:tcPr marL="54864" marR="54864" marT="27432" marB="27432">
                    <a:solidFill>
                      <a:srgbClr val="FFFFFF"/>
                    </a:solidFill>
                  </a:tcPr>
                </a:tc>
                <a:tc>
                  <a:txBody>
                    <a:bodyPr wrap="square"/>
                    <a:lstStyle/>
                    <a:p>
                      <a:pPr algn="r"/>
                      <a:r>
                        <a:rPr sz="1100" b="0">
                          <a:solidFill>
                            <a:srgbClr val="1F2A44"/>
                          </a:solidFill>
                          <a:latin typeface="Courier New"/>
                        </a:rPr>
                        <a:t>232</a:t>
                      </a:r>
                    </a:p>
                  </a:txBody>
                  <a:tcPr marL="54864" marR="54864" marT="27432" marB="27432">
                    <a:solidFill>
                      <a:srgbClr val="FFFFFF"/>
                    </a:solidFill>
                  </a:tcPr>
                </a:tc>
                <a:tc>
                  <a:txBody>
                    <a:bodyPr wrap="square"/>
                    <a:lstStyle/>
                    <a:p>
                      <a:pPr algn="r"/>
                      <a:r>
                        <a:rPr sz="1100" b="0">
                          <a:solidFill>
                            <a:srgbClr val="1F2A44"/>
                          </a:solidFill>
                          <a:latin typeface="Courier New"/>
                        </a:rPr>
                        <a:t>12</a:t>
                      </a:r>
                    </a:p>
                  </a:txBody>
                  <a:tcPr marL="54864" marR="54864" marT="27432" marB="27432">
                    <a:solidFill>
                      <a:srgbClr val="FFFFFF"/>
                    </a:solidFill>
                  </a:tcPr>
                </a:tc>
                <a:tc>
                  <a:txBody>
                    <a:bodyPr wrap="square"/>
                    <a:lstStyle/>
                    <a:p>
                      <a:pPr algn="r"/>
                      <a:r>
                        <a:rPr sz="1100" b="0">
                          <a:solidFill>
                            <a:srgbClr val="1F2A44"/>
                          </a:solidFill>
                          <a:latin typeface="Courier New"/>
                        </a:rPr>
                        <a:t>0.870</a:t>
                      </a:r>
                    </a:p>
                  </a:txBody>
                  <a:tcPr marL="54864" marR="54864" marT="27432" marB="27432">
                    <a:solidFill>
                      <a:srgbClr val="FFFFFF"/>
                    </a:solidFill>
                  </a:tcPr>
                </a:tc>
              </a:tr>
              <a:tr h="335280">
                <a:tc>
                  <a:txBody>
                    <a:bodyPr wrap="square"/>
                    <a:lstStyle/>
                    <a:p>
                      <a:pPr algn="l"/>
                      <a:r>
                        <a:rPr sz="1100" b="0">
                          <a:solidFill>
                            <a:srgbClr val="1F2A44"/>
                          </a:solidFill>
                          <a:latin typeface="Calibri"/>
                        </a:rPr>
                        <a:t>Gikuyu (Kikuyu)</a:t>
                      </a:r>
                    </a:p>
                  </a:txBody>
                  <a:tcPr marL="54864" marR="54864" marT="27432" marB="27432">
                    <a:solidFill>
                      <a:srgbClr val="FFFFFF"/>
                    </a:solidFill>
                  </a:tcPr>
                </a:tc>
                <a:tc>
                  <a:txBody>
                    <a:bodyPr wrap="square"/>
                    <a:lstStyle/>
                    <a:p>
                      <a:pPr algn="r"/>
                      <a:r>
                        <a:rPr sz="1100" b="0">
                          <a:solidFill>
                            <a:srgbClr val="1F2A44"/>
                          </a:solidFill>
                          <a:latin typeface="Courier New"/>
                        </a:rPr>
                        <a:t>584</a:t>
                      </a:r>
                    </a:p>
                  </a:txBody>
                  <a:tcPr marL="54864" marR="54864" marT="27432" marB="27432">
                    <a:solidFill>
                      <a:srgbClr val="FFFFFF"/>
                    </a:solidFill>
                  </a:tcPr>
                </a:tc>
                <a:tc>
                  <a:txBody>
                    <a:bodyPr wrap="square"/>
                    <a:lstStyle/>
                    <a:p>
                      <a:pPr algn="r"/>
                      <a:r>
                        <a:rPr sz="1100" b="0">
                          <a:solidFill>
                            <a:srgbClr val="1F2A44"/>
                          </a:solidFill>
                          <a:latin typeface="Courier New"/>
                        </a:rPr>
                        <a:t>0</a:t>
                      </a:r>
                    </a:p>
                  </a:txBody>
                  <a:tcPr marL="54864" marR="54864" marT="27432" marB="27432">
                    <a:solidFill>
                      <a:srgbClr val="FFFFFF"/>
                    </a:solidFill>
                  </a:tcPr>
                </a:tc>
                <a:tc>
                  <a:txBody>
                    <a:bodyPr wrap="square"/>
                    <a:lstStyle/>
                    <a:p>
                      <a:pPr algn="r"/>
                      <a:r>
                        <a:rPr sz="1100" b="0">
                          <a:solidFill>
                            <a:srgbClr val="1F2A44"/>
                          </a:solidFill>
                          <a:latin typeface="Courier New"/>
                        </a:rPr>
                        <a:t>71</a:t>
                      </a:r>
                    </a:p>
                  </a:txBody>
                  <a:tcPr marL="54864" marR="54864" marT="27432" marB="27432">
                    <a:solidFill>
                      <a:srgbClr val="FFFFFF"/>
                    </a:solidFill>
                  </a:tcPr>
                </a:tc>
                <a:tc>
                  <a:txBody>
                    <a:bodyPr wrap="square"/>
                    <a:lstStyle/>
                    <a:p>
                      <a:pPr algn="r"/>
                      <a:r>
                        <a:rPr sz="1100" b="0">
                          <a:solidFill>
                            <a:srgbClr val="1F2A44"/>
                          </a:solidFill>
                          <a:latin typeface="Courier New"/>
                        </a:rPr>
                        <a:t>89</a:t>
                      </a:r>
                    </a:p>
                  </a:txBody>
                  <a:tcPr marL="54864" marR="54864" marT="27432" marB="27432">
                    <a:solidFill>
                      <a:srgbClr val="FFFFFF"/>
                    </a:solidFill>
                  </a:tcPr>
                </a:tc>
                <a:tc>
                  <a:txBody>
                    <a:bodyPr wrap="square"/>
                    <a:lstStyle/>
                    <a:p>
                      <a:pPr algn="r"/>
                      <a:r>
                        <a:rPr sz="1100" b="0">
                          <a:solidFill>
                            <a:srgbClr val="1F2A44"/>
                          </a:solidFill>
                          <a:latin typeface="Courier New"/>
                        </a:rPr>
                        <a:t>32</a:t>
                      </a:r>
                    </a:p>
                  </a:txBody>
                  <a:tcPr marL="54864" marR="54864" marT="27432" marB="27432">
                    <a:solidFill>
                      <a:srgbClr val="FFFFFF"/>
                    </a:solidFill>
                  </a:tcPr>
                </a:tc>
                <a:tc>
                  <a:txBody>
                    <a:bodyPr wrap="square"/>
                    <a:lstStyle/>
                    <a:p>
                      <a:pPr algn="r"/>
                      <a:r>
                        <a:rPr sz="1100" b="0">
                          <a:solidFill>
                            <a:srgbClr val="1F2A44"/>
                          </a:solidFill>
                          <a:latin typeface="Courier New"/>
                        </a:rPr>
                        <a:t>0.817</a:t>
                      </a:r>
                    </a:p>
                  </a:txBody>
                  <a:tcPr marL="54864" marR="54864" marT="27432" marB="27432">
                    <a:solidFill>
                      <a:srgbClr val="FFFFFF"/>
                    </a:solidFill>
                  </a:tcPr>
                </a:tc>
              </a:tr>
              <a:tr h="335280">
                <a:tc>
                  <a:txBody>
                    <a:bodyPr wrap="square"/>
                    <a:lstStyle/>
                    <a:p>
                      <a:pPr algn="l"/>
                      <a:r>
                        <a:rPr sz="1100" b="0">
                          <a:solidFill>
                            <a:srgbClr val="1F2A44"/>
                          </a:solidFill>
                          <a:latin typeface="Calibri"/>
                        </a:rPr>
                        <a:t>Dholuo (Luo)</a:t>
                      </a:r>
                    </a:p>
                  </a:txBody>
                  <a:tcPr marL="54864" marR="54864" marT="27432" marB="27432">
                    <a:solidFill>
                      <a:srgbClr val="FFFFFF"/>
                    </a:solidFill>
                  </a:tcPr>
                </a:tc>
                <a:tc>
                  <a:txBody>
                    <a:bodyPr wrap="square"/>
                    <a:lstStyle/>
                    <a:p>
                      <a:pPr algn="r"/>
                      <a:r>
                        <a:rPr sz="1100" b="0">
                          <a:solidFill>
                            <a:srgbClr val="1F2A44"/>
                          </a:solidFill>
                          <a:latin typeface="Courier New"/>
                        </a:rPr>
                        <a:t>558</a:t>
                      </a:r>
                    </a:p>
                  </a:txBody>
                  <a:tcPr marL="54864" marR="54864" marT="27432" marB="27432">
                    <a:solidFill>
                      <a:srgbClr val="FFFFFF"/>
                    </a:solidFill>
                  </a:tcPr>
                </a:tc>
                <a:tc>
                  <a:txBody>
                    <a:bodyPr wrap="square"/>
                    <a:lstStyle/>
                    <a:p>
                      <a:pPr algn="r"/>
                      <a:r>
                        <a:rPr sz="1100" b="0">
                          <a:solidFill>
                            <a:srgbClr val="1F2A44"/>
                          </a:solidFill>
                          <a:latin typeface="Courier New"/>
                        </a:rPr>
                        <a:t>0</a:t>
                      </a:r>
                    </a:p>
                  </a:txBody>
                  <a:tcPr marL="54864" marR="54864" marT="27432" marB="27432">
                    <a:solidFill>
                      <a:srgbClr val="FFFFFF"/>
                    </a:solidFill>
                  </a:tcPr>
                </a:tc>
                <a:tc>
                  <a:txBody>
                    <a:bodyPr wrap="square"/>
                    <a:lstStyle/>
                    <a:p>
                      <a:pPr algn="r"/>
                      <a:r>
                        <a:rPr sz="1100" b="0">
                          <a:solidFill>
                            <a:srgbClr val="1F2A44"/>
                          </a:solidFill>
                          <a:latin typeface="Courier New"/>
                        </a:rPr>
                        <a:t>169</a:t>
                      </a:r>
                    </a:p>
                  </a:txBody>
                  <a:tcPr marL="54864" marR="54864" marT="27432" marB="27432">
                    <a:solidFill>
                      <a:srgbClr val="FFFFFF"/>
                    </a:solidFill>
                  </a:tcPr>
                </a:tc>
                <a:tc>
                  <a:txBody>
                    <a:bodyPr wrap="square"/>
                    <a:lstStyle/>
                    <a:p>
                      <a:pPr algn="r"/>
                      <a:r>
                        <a:rPr sz="1100" b="0">
                          <a:solidFill>
                            <a:srgbClr val="1F2A44"/>
                          </a:solidFill>
                          <a:latin typeface="Courier New"/>
                        </a:rPr>
                        <a:t>27</a:t>
                      </a:r>
                    </a:p>
                  </a:txBody>
                  <a:tcPr marL="54864" marR="54864" marT="27432" marB="27432">
                    <a:solidFill>
                      <a:srgbClr val="FFFFFF"/>
                    </a:solidFill>
                  </a:tcPr>
                </a:tc>
                <a:tc>
                  <a:txBody>
                    <a:bodyPr wrap="square"/>
                    <a:lstStyle/>
                    <a:p>
                      <a:pPr algn="r"/>
                      <a:r>
                        <a:rPr sz="1100" b="0">
                          <a:solidFill>
                            <a:srgbClr val="1F2A44"/>
                          </a:solidFill>
                          <a:latin typeface="Courier New"/>
                        </a:rPr>
                        <a:t>0</a:t>
                      </a:r>
                    </a:p>
                  </a:txBody>
                  <a:tcPr marL="54864" marR="54864" marT="27432" marB="27432">
                    <a:solidFill>
                      <a:srgbClr val="FFFFFF"/>
                    </a:solidFill>
                  </a:tcPr>
                </a:tc>
                <a:tc>
                  <a:txBody>
                    <a:bodyPr wrap="square"/>
                    <a:lstStyle/>
                    <a:p>
                      <a:pPr algn="r"/>
                      <a:r>
                        <a:rPr sz="1100" b="0">
                          <a:solidFill>
                            <a:srgbClr val="1F2A44"/>
                          </a:solidFill>
                          <a:latin typeface="Courier New"/>
                        </a:rPr>
                        <a:t>0.939</a:t>
                      </a:r>
                    </a:p>
                  </a:txBody>
                  <a:tcPr marL="54864" marR="54864" marT="27432" marB="27432">
                    <a:solidFill>
                      <a:srgbClr val="FFFFFF"/>
                    </a:solidFill>
                  </a:tcPr>
                </a:tc>
              </a:tr>
              <a:tr h="335280">
                <a:tc>
                  <a:txBody>
                    <a:bodyPr wrap="square"/>
                    <a:lstStyle/>
                    <a:p>
                      <a:pPr algn="l"/>
                      <a:r>
                        <a:rPr sz="1100" b="0">
                          <a:solidFill>
                            <a:srgbClr val="1F2A44"/>
                          </a:solidFill>
                          <a:latin typeface="Calibri"/>
                        </a:rPr>
                        <a:t>Wanga (Luhya)</a:t>
                      </a:r>
                    </a:p>
                  </a:txBody>
                  <a:tcPr marL="54864" marR="54864" marT="27432" marB="27432">
                    <a:solidFill>
                      <a:srgbClr val="FFFFFF"/>
                    </a:solidFill>
                  </a:tcPr>
                </a:tc>
                <a:tc>
                  <a:txBody>
                    <a:bodyPr wrap="square"/>
                    <a:lstStyle/>
                    <a:p>
                      <a:pPr algn="r"/>
                      <a:r>
                        <a:rPr sz="1100" b="0">
                          <a:solidFill>
                            <a:srgbClr val="1F2A44"/>
                          </a:solidFill>
                          <a:latin typeface="Courier New"/>
                        </a:rPr>
                        <a:t>60</a:t>
                      </a:r>
                    </a:p>
                  </a:txBody>
                  <a:tcPr marL="54864" marR="54864" marT="27432" marB="27432">
                    <a:solidFill>
                      <a:srgbClr val="FFFFFF"/>
                    </a:solidFill>
                  </a:tcPr>
                </a:tc>
                <a:tc>
                  <a:txBody>
                    <a:bodyPr wrap="square"/>
                    <a:lstStyle/>
                    <a:p>
                      <a:pPr algn="r"/>
                      <a:r>
                        <a:rPr sz="1100" b="0">
                          <a:solidFill>
                            <a:srgbClr val="1F2A44"/>
                          </a:solidFill>
                          <a:latin typeface="Courier New"/>
                        </a:rPr>
                        <a:t>0</a:t>
                      </a:r>
                    </a:p>
                  </a:txBody>
                  <a:tcPr marL="54864" marR="54864" marT="27432" marB="27432">
                    <a:solidFill>
                      <a:srgbClr val="FFFFFF"/>
                    </a:solidFill>
                  </a:tcPr>
                </a:tc>
                <a:tc>
                  <a:txBody>
                    <a:bodyPr wrap="square"/>
                    <a:lstStyle/>
                    <a:p>
                      <a:pPr algn="r"/>
                      <a:r>
                        <a:rPr sz="1100" b="0">
                          <a:solidFill>
                            <a:srgbClr val="1F2A44"/>
                          </a:solidFill>
                          <a:latin typeface="Courier New"/>
                        </a:rPr>
                        <a:t>13</a:t>
                      </a:r>
                    </a:p>
                  </a:txBody>
                  <a:tcPr marL="54864" marR="54864" marT="27432" marB="27432">
                    <a:solidFill>
                      <a:srgbClr val="FFFFFF"/>
                    </a:solidFill>
                  </a:tcPr>
                </a:tc>
                <a:tc>
                  <a:txBody>
                    <a:bodyPr wrap="square"/>
                    <a:lstStyle/>
                    <a:p>
                      <a:pPr algn="r"/>
                      <a:r>
                        <a:rPr sz="1100" b="0">
                          <a:solidFill>
                            <a:srgbClr val="1F2A44"/>
                          </a:solidFill>
                          <a:latin typeface="Courier New"/>
                        </a:rPr>
                        <a:t>3</a:t>
                      </a:r>
                    </a:p>
                  </a:txBody>
                  <a:tcPr marL="54864" marR="54864" marT="27432" marB="27432">
                    <a:solidFill>
                      <a:srgbClr val="FFFFFF"/>
                    </a:solidFill>
                  </a:tcPr>
                </a:tc>
                <a:tc>
                  <a:txBody>
                    <a:bodyPr wrap="square"/>
                    <a:lstStyle/>
                    <a:p>
                      <a:pPr algn="r"/>
                      <a:r>
                        <a:rPr sz="1100" b="0">
                          <a:solidFill>
                            <a:srgbClr val="1F2A44"/>
                          </a:solidFill>
                          <a:latin typeface="Courier New"/>
                        </a:rPr>
                        <a:t>0</a:t>
                      </a:r>
                    </a:p>
                  </a:txBody>
                  <a:tcPr marL="54864" marR="54864" marT="27432" marB="27432">
                    <a:solidFill>
                      <a:srgbClr val="FFFFFF"/>
                    </a:solidFill>
                  </a:tcPr>
                </a:tc>
                <a:tc>
                  <a:txBody>
                    <a:bodyPr wrap="square"/>
                    <a:lstStyle/>
                    <a:p>
                      <a:pPr algn="r"/>
                      <a:r>
                        <a:rPr sz="1100" b="0">
                          <a:solidFill>
                            <a:srgbClr val="1F2A44"/>
                          </a:solidFill>
                          <a:latin typeface="Courier New"/>
                        </a:rPr>
                        <a:t>0.922</a:t>
                      </a:r>
                    </a:p>
                  </a:txBody>
                  <a:tcPr marL="54864" marR="54864" marT="27432" marB="27432">
                    <a:solidFill>
                      <a:srgbClr val="FFFFFF"/>
                    </a:solidFill>
                  </a:tcPr>
                </a:tc>
              </a:tr>
              <a:tr h="335280">
                <a:tc>
                  <a:txBody>
                    <a:bodyPr wrap="square"/>
                    <a:lstStyle/>
                    <a:p>
                      <a:pPr algn="l"/>
                      <a:r>
                        <a:rPr sz="1100" b="0">
                          <a:solidFill>
                            <a:srgbClr val="1F2A44"/>
                          </a:solidFill>
                          <a:latin typeface="Calibri"/>
                        </a:rPr>
                        <a:t>Bukusu (Luhya)</a:t>
                      </a:r>
                    </a:p>
                  </a:txBody>
                  <a:tcPr marL="54864" marR="54864" marT="27432" marB="27432">
                    <a:solidFill>
                      <a:srgbClr val="FFFFFF"/>
                    </a:solidFill>
                  </a:tcPr>
                </a:tc>
                <a:tc>
                  <a:txBody>
                    <a:bodyPr wrap="square"/>
                    <a:lstStyle/>
                    <a:p>
                      <a:pPr algn="r"/>
                      <a:r>
                        <a:rPr sz="1100" b="0">
                          <a:solidFill>
                            <a:srgbClr val="1F2A44"/>
                          </a:solidFill>
                          <a:latin typeface="Courier New"/>
                        </a:rPr>
                        <a:t>14</a:t>
                      </a:r>
                    </a:p>
                  </a:txBody>
                  <a:tcPr marL="54864" marR="54864" marT="27432" marB="27432">
                    <a:solidFill>
                      <a:srgbClr val="FFFFFF"/>
                    </a:solidFill>
                  </a:tcPr>
                </a:tc>
                <a:tc>
                  <a:txBody>
                    <a:bodyPr wrap="square"/>
                    <a:lstStyle/>
                    <a:p>
                      <a:pPr algn="r"/>
                      <a:r>
                        <a:rPr sz="1100" b="0">
                          <a:solidFill>
                            <a:srgbClr val="1F2A44"/>
                          </a:solidFill>
                          <a:latin typeface="Courier New"/>
                        </a:rPr>
                        <a:t>0</a:t>
                      </a:r>
                    </a:p>
                  </a:txBody>
                  <a:tcPr marL="54864" marR="54864" marT="27432" marB="27432">
                    <a:solidFill>
                      <a:srgbClr val="FFFFFF"/>
                    </a:solidFill>
                  </a:tcPr>
                </a:tc>
                <a:tc>
                  <a:txBody>
                    <a:bodyPr wrap="square"/>
                    <a:lstStyle/>
                    <a:p>
                      <a:pPr algn="r"/>
                      <a:r>
                        <a:rPr sz="1100" b="0">
                          <a:solidFill>
                            <a:srgbClr val="1F2A44"/>
                          </a:solidFill>
                          <a:latin typeface="Courier New"/>
                        </a:rPr>
                        <a:t>4</a:t>
                      </a:r>
                    </a:p>
                  </a:txBody>
                  <a:tcPr marL="54864" marR="54864" marT="27432" marB="27432">
                    <a:solidFill>
                      <a:srgbClr val="FFFFFF"/>
                    </a:solidFill>
                  </a:tcPr>
                </a:tc>
                <a:tc>
                  <a:txBody>
                    <a:bodyPr wrap="square"/>
                    <a:lstStyle/>
                    <a:p>
                      <a:pPr algn="r"/>
                      <a:r>
                        <a:rPr sz="1100" b="0">
                          <a:solidFill>
                            <a:srgbClr val="1F2A44"/>
                          </a:solidFill>
                          <a:latin typeface="Courier New"/>
                        </a:rPr>
                        <a:t>11</a:t>
                      </a:r>
                    </a:p>
                  </a:txBody>
                  <a:tcPr marL="54864" marR="54864" marT="27432" marB="27432">
                    <a:solidFill>
                      <a:srgbClr val="FFFFFF"/>
                    </a:solidFill>
                  </a:tcPr>
                </a:tc>
                <a:tc>
                  <a:txBody>
                    <a:bodyPr wrap="square"/>
                    <a:lstStyle/>
                    <a:p>
                      <a:pPr algn="r"/>
                      <a:r>
                        <a:rPr sz="1100" b="0">
                          <a:solidFill>
                            <a:srgbClr val="1F2A44"/>
                          </a:solidFill>
                          <a:latin typeface="Courier New"/>
                        </a:rPr>
                        <a:t>0</a:t>
                      </a:r>
                    </a:p>
                  </a:txBody>
                  <a:tcPr marL="54864" marR="54864" marT="27432" marB="27432">
                    <a:solidFill>
                      <a:srgbClr val="FFFFFF"/>
                    </a:solidFill>
                  </a:tcPr>
                </a:tc>
                <a:tc>
                  <a:txBody>
                    <a:bodyPr wrap="square"/>
                    <a:lstStyle/>
                    <a:p>
                      <a:pPr algn="r"/>
                      <a:r>
                        <a:rPr sz="1100" b="0">
                          <a:solidFill>
                            <a:srgbClr val="1F2A44"/>
                          </a:solidFill>
                          <a:latin typeface="Courier New"/>
                        </a:rPr>
                        <a:t>0.866</a:t>
                      </a:r>
                    </a:p>
                  </a:txBody>
                  <a:tcPr marL="54864" marR="54864" marT="27432" marB="2743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C8102E"/>
                </a:solidFill>
                <a:latin typeface="Calibri"/>
              </a:rPr>
              <a:t>Decode failures, digital silence, music-dominated files, mixed-language files (no language reaches sixty percent of labelled windows) and low-confidence files are the quality signals the reading can measure; noise and intelligibility were not scored.</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[measured]  Receipt R06: Estate language reading m9j-9e8fcb46a809 on akki-vm (2 GPUs, 1.034 GPU-h): audio language model lcj-7128593897d4 sha256 5c1feb8497e8…, music detector m9j-686de001bfe7 sha256 0fea3eee0393…; model readings, not human labels</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1920240"/>
            <a:ext cx="2613355" cy="1885492"/>
          </a:xfrm>
          <a:prstGeom prst="rect">
            <a:avLst/>
          </a:prstGeom>
          <a:noFill/>
        </p:spPr>
        <p:txBody>
          <a:bodyPr wrap="square" lIns="0" rIns="0" tIns="0" bIns="0" anchor="ctr">
            <a:spAutoFit/>
          </a:bodyPr>
          <a:lstStyle/>
          <a:p>
            <a:pPr algn="l"/>
            <a:r>
              <a:rPr sz="9600" b="0" i="0">
                <a:solidFill>
                  <a:srgbClr val="C8102E"/>
                </a:solidFill>
                <a:latin typeface="Courier New"/>
              </a:rPr>
              <a:t>06</a:t>
            </a:r>
          </a:p>
        </p:txBody>
      </p:sp>
      <p:sp>
        <p:nvSpPr>
          <p:cNvPr id="3" name="TextBox 2"/>
          <p:cNvSpPr txBox="1"/>
          <p:nvPr/>
        </p:nvSpPr>
        <p:spPr>
          <a:xfrm>
            <a:off x="3390595" y="2297887"/>
            <a:ext cx="8206740" cy="1508760"/>
          </a:xfrm>
          <a:prstGeom prst="rect">
            <a:avLst/>
          </a:prstGeom>
          <a:noFill/>
        </p:spPr>
        <p:txBody>
          <a:bodyPr wrap="square" lIns="0" rIns="0" tIns="0" bIns="0" anchor="ctr">
            <a:spAutoFit/>
          </a:bodyPr>
          <a:lstStyle/>
          <a:p>
            <a:pPr algn="l"/>
            <a:r>
              <a:rPr sz="3200" b="0" i="0">
                <a:solidFill>
                  <a:srgbClr val="1F2A44"/>
                </a:solidFill>
                <a:latin typeface="Cambria"/>
              </a:rPr>
              <a:t>Written text by language</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NEWS SCRIPTS</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248841 live news scripts across 13 stations, spread unevenly between stations</a:t>
            </a:r>
          </a:p>
        </p:txBody>
      </p:sp>
      <p:graphicFrame>
        <p:nvGraphicFramePr>
          <p:cNvPr id="4" name="Chart 3"/>
          <p:cNvGraphicFramePr>
            <a:graphicFrameLocks noGrp="1"/>
          </p:cNvGraphicFramePr>
          <p:nvPr/>
        </p:nvGraphicFramePr>
        <p:xfrm>
          <a:off x="594360" y="1920240"/>
          <a:ext cx="11002975" cy="3394252"/>
        </p:xfrm>
        <a:graphic>
          <a:graphicData uri="http://schemas.openxmlformats.org/drawingml/2006/chart">
            <c:chart xmlns:c="http://schemas.openxmlformats.org/drawingml/2006/chart" r:id="rId2"/>
          </a:graphicData>
        </a:graphic>
      </p:graphicFrame>
      <p:sp>
        <p:nvSpPr>
          <p:cNvPr id="5" name="TextBox 4"/>
          <p:cNvSpPr txBox="1"/>
          <p:nvPr/>
        </p:nvSpPr>
        <p:spPr>
          <a:xfrm>
            <a:off x="594360" y="5314492"/>
            <a:ext cx="8206740" cy="376732"/>
          </a:xfrm>
          <a:prstGeom prst="rect">
            <a:avLst/>
          </a:prstGeom>
          <a:noFill/>
        </p:spPr>
        <p:txBody>
          <a:bodyPr wrap="square" lIns="0" rIns="0" tIns="0" bIns="0" anchor="b">
            <a:spAutoFit/>
          </a:bodyPr>
          <a:lstStyle/>
          <a:p>
            <a:pPr algn="l"/>
            <a:r>
              <a:rPr sz="1400" b="0" i="1">
                <a:solidFill>
                  <a:srgbClr val="C8102E"/>
                </a:solidFill>
                <a:latin typeface="Calibri"/>
              </a:rPr>
              <a:t>Station language is estate metadata, not a reading of each script, and script counts are not counts of unique texts.</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[measured]  Receipt R08: Aggregate-only database reading etx-81e10befe6e0: news_vault.stories (script, title, date, hour_id) → news_vault.hours (station_id, time, type_id) → news_vault.stations (name); news_vault.news (2022 bulletins); local.uploaded_files (language_id, audio_length, status) ← local.transcripts (file_id, start_time, end_time, transcript) ; local.folder_languages (Language, code, station)</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BULLETIN COVERAGE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Stations script very different numbers of bulletin hours on the days they script</a:t>
            </a:r>
          </a:p>
        </p:txBody>
      </p:sp>
      <p:graphicFrame>
        <p:nvGraphicFramePr>
          <p:cNvPr id="4" name="Chart 3"/>
          <p:cNvGraphicFramePr>
            <a:graphicFrameLocks noGrp="1"/>
          </p:cNvGraphicFramePr>
          <p:nvPr/>
        </p:nvGraphicFramePr>
        <p:xfrm>
          <a:off x="594360" y="1920240"/>
          <a:ext cx="11002975" cy="3394252"/>
        </p:xfrm>
        <a:graphic>
          <a:graphicData uri="http://schemas.openxmlformats.org/drawingml/2006/chart">
            <c:chart xmlns:c="http://schemas.openxmlformats.org/drawingml/2006/chart" r:id="rId2"/>
          </a:graphicData>
        </a:graphic>
      </p:graphicFrame>
      <p:sp>
        <p:nvSpPr>
          <p:cNvPr id="5" name="TextBox 4"/>
          <p:cNvSpPr txBox="1"/>
          <p:nvPr/>
        </p:nvSpPr>
        <p:spPr>
          <a:xfrm>
            <a:off x="594360" y="5314492"/>
            <a:ext cx="8206740" cy="376732"/>
          </a:xfrm>
          <a:prstGeom prst="rect">
            <a:avLst/>
          </a:prstGeom>
          <a:noFill/>
        </p:spPr>
        <p:txBody>
          <a:bodyPr wrap="square" lIns="0" rIns="0" tIns="0" bIns="0" anchor="b">
            <a:spAutoFit/>
          </a:bodyPr>
          <a:lstStyle/>
          <a:p>
            <a:pPr algn="l"/>
            <a:r>
              <a:rPr sz="1400" b="0" i="1">
                <a:solidFill>
                  <a:srgbClr val="C8102E"/>
                </a:solidFill>
                <a:latin typeface="Calibri"/>
              </a:rPr>
              <a:t>The archive is useful but discontinuous; it does not show continuous broadcasting or recorded audio duration.</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[measured]  Receipt R08: Aggregate-only database reading etx-81e10befe6e0: news_vault.stories (script, title, date, hour_id) → news_vault.hours (station_id, time, type_id) → news_vault.stations (name); news_vault.news (2022 bulletins); local.uploaded_files (language_id, audio_length, status) ← local.transcripts (file_id, start_time, end_time, transcript) ; local.folder_languages (Language, code, station)</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WRITTEN ARCHIVE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The written archive is large but discontinuous: 248841 scripts on only 226 dates</a:t>
            </a:r>
          </a:p>
        </p:txBody>
      </p:sp>
      <p:sp>
        <p:nvSpPr>
          <p:cNvPr id="4" name="TextBox 3"/>
          <p:cNvSpPr txBox="1"/>
          <p:nvPr/>
        </p:nvSpPr>
        <p:spPr>
          <a:xfrm>
            <a:off x="594360" y="1920240"/>
            <a:ext cx="640080" cy="942975"/>
          </a:xfrm>
          <a:prstGeom prst="rect">
            <a:avLst/>
          </a:prstGeom>
          <a:noFill/>
        </p:spPr>
        <p:txBody>
          <a:bodyPr wrap="square" lIns="0" rIns="0" tIns="0" bIns="0" anchor="t">
            <a:spAutoFit/>
          </a:bodyPr>
          <a:lstStyle/>
          <a:p>
            <a:pPr algn="l"/>
            <a:r>
              <a:rPr sz="2600" b="0" i="0">
                <a:solidFill>
                  <a:srgbClr val="C8102E"/>
                </a:solidFill>
                <a:latin typeface="Courier New"/>
              </a:rPr>
              <a:t>01</a:t>
            </a:r>
          </a:p>
        </p:txBody>
      </p:sp>
      <p:sp>
        <p:nvSpPr>
          <p:cNvPr id="5" name="TextBox 4"/>
          <p:cNvSpPr txBox="1"/>
          <p:nvPr/>
        </p:nvSpPr>
        <p:spPr>
          <a:xfrm>
            <a:off x="1417320" y="1993392"/>
            <a:ext cx="10180015" cy="851535"/>
          </a:xfrm>
          <a:prstGeom prst="rect">
            <a:avLst/>
          </a:prstGeom>
          <a:noFill/>
        </p:spPr>
        <p:txBody>
          <a:bodyPr wrap="square" lIns="0" rIns="0" tIns="0" bIns="0" anchor="t">
            <a:spAutoFit/>
          </a:bodyPr>
          <a:lstStyle/>
          <a:p>
            <a:pPr algn="l"/>
            <a:r>
              <a:rPr sz="1400" b="0" i="0">
                <a:solidFill>
                  <a:srgbClr val="1F2A44"/>
                </a:solidFill>
                <a:latin typeface="Calibri"/>
              </a:rPr>
              <a:t>The news archive holds 248841 live scripts, 189.3m characters, from 13 stations, but on only 226 calendar dates, 15.8% of the span, so coverage is discontinuous.</a:t>
            </a:r>
          </a:p>
        </p:txBody>
      </p:sp>
      <p:cxnSp>
        <p:nvCxnSpPr>
          <p:cNvPr id="6" name="Connector 5"/>
          <p:cNvCxnSpPr/>
          <p:nvPr/>
        </p:nvCxnSpPr>
        <p:spPr>
          <a:xfrm>
            <a:off x="594360" y="2753487"/>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2863215"/>
            <a:ext cx="640080" cy="942975"/>
          </a:xfrm>
          <a:prstGeom prst="rect">
            <a:avLst/>
          </a:prstGeom>
          <a:noFill/>
        </p:spPr>
        <p:txBody>
          <a:bodyPr wrap="square" lIns="0" rIns="0" tIns="0" bIns="0" anchor="t">
            <a:spAutoFit/>
          </a:bodyPr>
          <a:lstStyle/>
          <a:p>
            <a:pPr algn="l"/>
            <a:r>
              <a:rPr sz="2600" b="0" i="0">
                <a:solidFill>
                  <a:srgbClr val="C8102E"/>
                </a:solidFill>
                <a:latin typeface="Courier New"/>
              </a:rPr>
              <a:t>02</a:t>
            </a:r>
          </a:p>
        </p:txBody>
      </p:sp>
      <p:sp>
        <p:nvSpPr>
          <p:cNvPr id="8" name="TextBox 7"/>
          <p:cNvSpPr txBox="1"/>
          <p:nvPr/>
        </p:nvSpPr>
        <p:spPr>
          <a:xfrm>
            <a:off x="1417320" y="2936367"/>
            <a:ext cx="10180015" cy="851535"/>
          </a:xfrm>
          <a:prstGeom prst="rect">
            <a:avLst/>
          </a:prstGeom>
          <a:noFill/>
        </p:spPr>
        <p:txBody>
          <a:bodyPr wrap="square" lIns="0" rIns="0" tIns="0" bIns="0" anchor="t">
            <a:spAutoFit/>
          </a:bodyPr>
          <a:lstStyle/>
          <a:p>
            <a:pPr algn="l"/>
            <a:r>
              <a:rPr sz="1400" b="0" i="0">
                <a:solidFill>
                  <a:srgbClr val="1F2A44"/>
                </a:solidFill>
                <a:latin typeface="Calibri"/>
              </a:rPr>
              <a:t>38.0% of script rows revise an earlier script and 159100 distinct texts remain among live rows; resolve revisions before any corpus use.</a:t>
            </a:r>
          </a:p>
        </p:txBody>
      </p:sp>
      <p:cxnSp>
        <p:nvCxnSpPr>
          <p:cNvPr id="9" name="Connector 8"/>
          <p:cNvCxnSpPr/>
          <p:nvPr/>
        </p:nvCxnSpPr>
        <p:spPr>
          <a:xfrm>
            <a:off x="594360" y="3696461"/>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94360" y="3806189"/>
            <a:ext cx="640080" cy="942975"/>
          </a:xfrm>
          <a:prstGeom prst="rect">
            <a:avLst/>
          </a:prstGeom>
          <a:noFill/>
        </p:spPr>
        <p:txBody>
          <a:bodyPr wrap="square" lIns="0" rIns="0" tIns="0" bIns="0" anchor="t">
            <a:spAutoFit/>
          </a:bodyPr>
          <a:lstStyle/>
          <a:p>
            <a:pPr algn="l"/>
            <a:r>
              <a:rPr sz="2600" b="0" i="0">
                <a:solidFill>
                  <a:srgbClr val="C8102E"/>
                </a:solidFill>
                <a:latin typeface="Courier New"/>
              </a:rPr>
              <a:t>03</a:t>
            </a:r>
          </a:p>
        </p:txBody>
      </p:sp>
      <p:sp>
        <p:nvSpPr>
          <p:cNvPr id="11" name="TextBox 10"/>
          <p:cNvSpPr txBox="1"/>
          <p:nvPr/>
        </p:nvSpPr>
        <p:spPr>
          <a:xfrm>
            <a:off x="1417320" y="3879341"/>
            <a:ext cx="10180015" cy="851535"/>
          </a:xfrm>
          <a:prstGeom prst="rect">
            <a:avLst/>
          </a:prstGeom>
          <a:noFill/>
        </p:spPr>
        <p:txBody>
          <a:bodyPr wrap="square" lIns="0" rIns="0" tIns="0" bIns="0" anchor="t">
            <a:spAutoFit/>
          </a:bodyPr>
          <a:lstStyle/>
          <a:p>
            <a:pPr algn="l"/>
            <a:r>
              <a:rPr sz="1400" b="0" i="0">
                <a:solidFill>
                  <a:srgbClr val="1F2A44"/>
                </a:solidFill>
                <a:latin typeface="Calibri"/>
              </a:rPr>
              <a:t>The text model read 2245 transcripts, with 99.4% of passages agreeing with the folder language; 1694 were not reached.</a:t>
            </a:r>
          </a:p>
        </p:txBody>
      </p:sp>
      <p:cxnSp>
        <p:nvCxnSpPr>
          <p:cNvPr id="12" name="Connector 11"/>
          <p:cNvCxnSpPr/>
          <p:nvPr/>
        </p:nvCxnSpPr>
        <p:spPr>
          <a:xfrm>
            <a:off x="594360" y="4639437"/>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594360" y="4749165"/>
            <a:ext cx="640080" cy="942975"/>
          </a:xfrm>
          <a:prstGeom prst="rect">
            <a:avLst/>
          </a:prstGeom>
          <a:noFill/>
        </p:spPr>
        <p:txBody>
          <a:bodyPr wrap="square" lIns="0" rIns="0" tIns="0" bIns="0" anchor="t">
            <a:spAutoFit/>
          </a:bodyPr>
          <a:lstStyle/>
          <a:p>
            <a:pPr algn="l"/>
            <a:r>
              <a:rPr sz="2600" b="0" i="0">
                <a:solidFill>
                  <a:srgbClr val="C8102E"/>
                </a:solidFill>
                <a:latin typeface="Courier New"/>
              </a:rPr>
              <a:t>04</a:t>
            </a:r>
          </a:p>
        </p:txBody>
      </p:sp>
      <p:sp>
        <p:nvSpPr>
          <p:cNvPr id="14" name="TextBox 13"/>
          <p:cNvSpPr txBox="1"/>
          <p:nvPr/>
        </p:nvSpPr>
        <p:spPr>
          <a:xfrm>
            <a:off x="1417320" y="4822317"/>
            <a:ext cx="10180015" cy="851535"/>
          </a:xfrm>
          <a:prstGeom prst="rect">
            <a:avLst/>
          </a:prstGeom>
          <a:noFill/>
        </p:spPr>
        <p:txBody>
          <a:bodyPr wrap="square" lIns="0" rIns="0" tIns="0" bIns="0" anchor="t">
            <a:spAutoFit/>
          </a:bodyPr>
          <a:lstStyle/>
          <a:p>
            <a:pPr algn="l"/>
            <a:r>
              <a:rPr sz="1400" b="0" i="0">
                <a:solidFill>
                  <a:srgbClr val="1F2A44"/>
                </a:solidFill>
                <a:latin typeface="Calibri"/>
              </a:rPr>
              <a:t>The workbench registers 83014 recordings, 12,290.6 hours, in 13 languages; it may overlap the staged corpus, so the two are not added.</a:t>
            </a:r>
          </a:p>
        </p:txBody>
      </p:sp>
      <p:cxnSp>
        <p:nvCxnSpPr>
          <p:cNvPr id="15" name="Connector 14"/>
          <p:cNvCxnSpPr/>
          <p:nvPr/>
        </p:nvCxnSpPr>
        <p:spPr>
          <a:xfrm>
            <a:off x="594360" y="5582412"/>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17" name="TextBox 16"/>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18" name="TextBox 17"/>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EVIDENCE BY NAME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Hourly news scripts by station (news_vault.stories)</a:t>
            </a:r>
          </a:p>
        </p:txBody>
      </p:sp>
      <p:graphicFrame>
        <p:nvGraphicFramePr>
          <p:cNvPr id="4" name="Table 3"/>
          <p:cNvGraphicFramePr>
            <a:graphicFrameLocks noGrp="1"/>
          </p:cNvGraphicFramePr>
          <p:nvPr/>
        </p:nvGraphicFramePr>
        <p:xfrm>
          <a:off x="594360" y="1920240"/>
          <a:ext cx="11002972" cy="3017520"/>
        </p:xfrm>
        <a:graphic>
          <a:graphicData uri="http://schemas.openxmlformats.org/drawingml/2006/table">
            <a:tbl>
              <a:tblPr firstRow="1" bandRow="1">
                <a:tableStyleId>{5C22544A-7EE6-4342-B048-85BDC9FD1C3A}</a:tableStyleId>
              </a:tblPr>
              <a:tblGrid>
                <a:gridCol w="1194121"/>
                <a:gridCol w="1535298"/>
                <a:gridCol w="1194121"/>
                <a:gridCol w="1194121"/>
                <a:gridCol w="2047065"/>
                <a:gridCol w="2644125"/>
                <a:gridCol w="1194121"/>
              </a:tblGrid>
              <a:tr h="301752">
                <a:tc>
                  <a:txBody>
                    <a:bodyPr wrap="square"/>
                    <a:lstStyle/>
                    <a:p>
                      <a:pPr algn="l"/>
                      <a:r>
                        <a:rPr sz="1100" b="1">
                          <a:solidFill>
                            <a:srgbClr val="1F2A44"/>
                          </a:solidFill>
                          <a:latin typeface="Calibri"/>
                        </a:rPr>
                        <a:t>Station</a:t>
                      </a:r>
                    </a:p>
                  </a:txBody>
                  <a:tcPr marL="54864" marR="54864" marT="27432" marB="27432">
                    <a:solidFill>
                      <a:srgbClr val="E9ECF1"/>
                    </a:solidFill>
                  </a:tcPr>
                </a:tc>
                <a:tc>
                  <a:txBody>
                    <a:bodyPr wrap="square"/>
                    <a:lstStyle/>
                    <a:p>
                      <a:pPr algn="l"/>
                      <a:r>
                        <a:rPr sz="1100" b="1">
                          <a:solidFill>
                            <a:srgbClr val="1F2A44"/>
                          </a:solidFill>
                          <a:latin typeface="Calibri"/>
                        </a:rPr>
                        <a:t>Broadcast language</a:t>
                      </a:r>
                    </a:p>
                  </a:txBody>
                  <a:tcPr marL="54864" marR="54864" marT="27432" marB="27432">
                    <a:solidFill>
                      <a:srgbClr val="E9ECF1"/>
                    </a:solidFill>
                  </a:tcPr>
                </a:tc>
                <a:tc>
                  <a:txBody>
                    <a:bodyPr wrap="square"/>
                    <a:lstStyle/>
                    <a:p>
                      <a:pPr algn="l"/>
                      <a:r>
                        <a:rPr sz="1100" b="1">
                          <a:solidFill>
                            <a:srgbClr val="1F2A44"/>
                          </a:solidFill>
                          <a:latin typeface="Calibri"/>
                        </a:rPr>
                        <a:t>Live scripts</a:t>
                      </a:r>
                    </a:p>
                  </a:txBody>
                  <a:tcPr marL="54864" marR="54864" marT="27432" marB="27432">
                    <a:solidFill>
                      <a:srgbClr val="E9ECF1"/>
                    </a:solidFill>
                  </a:tcPr>
                </a:tc>
                <a:tc>
                  <a:txBody>
                    <a:bodyPr wrap="square"/>
                    <a:lstStyle/>
                    <a:p>
                      <a:pPr algn="l"/>
                      <a:r>
                        <a:rPr sz="1100" b="1">
                          <a:solidFill>
                            <a:srgbClr val="1F2A44"/>
                          </a:solidFill>
                          <a:latin typeface="Calibri"/>
                        </a:rPr>
                        <a:t>Scripted days</a:t>
                      </a:r>
                    </a:p>
                  </a:txBody>
                  <a:tcPr marL="54864" marR="54864" marT="27432" marB="27432">
                    <a:solidFill>
                      <a:srgbClr val="E9ECF1"/>
                    </a:solidFill>
                  </a:tcPr>
                </a:tc>
                <a:tc>
                  <a:txBody>
                    <a:bodyPr wrap="square"/>
                    <a:lstStyle/>
                    <a:p>
                      <a:pPr algn="l"/>
                      <a:r>
                        <a:rPr sz="1100" b="1">
                          <a:solidFill>
                            <a:srgbClr val="1F2A44"/>
                          </a:solidFill>
                          <a:latin typeface="Calibri"/>
                        </a:rPr>
                        <a:t>Scripts per scripted day</a:t>
                      </a:r>
                    </a:p>
                  </a:txBody>
                  <a:tcPr marL="54864" marR="54864" marT="27432" marB="27432">
                    <a:solidFill>
                      <a:srgbClr val="E9ECF1"/>
                    </a:solidFill>
                  </a:tcPr>
                </a:tc>
                <a:tc>
                  <a:txBody>
                    <a:bodyPr wrap="square"/>
                    <a:lstStyle/>
                    <a:p>
                      <a:pPr algn="l"/>
                      <a:r>
                        <a:rPr sz="1100" b="1">
                          <a:solidFill>
                            <a:srgbClr val="1F2A44"/>
                          </a:solidFill>
                          <a:latin typeface="Calibri"/>
                        </a:rPr>
                        <a:t>Bulletin hours per scripted day</a:t>
                      </a:r>
                    </a:p>
                  </a:txBody>
                  <a:tcPr marL="54864" marR="54864" marT="27432" marB="27432">
                    <a:solidFill>
                      <a:srgbClr val="E9ECF1"/>
                    </a:solidFill>
                  </a:tcPr>
                </a:tc>
                <a:tc>
                  <a:txBody>
                    <a:bodyPr wrap="square"/>
                    <a:lstStyle/>
                    <a:p>
                      <a:pPr algn="l"/>
                      <a:r>
                        <a:rPr sz="1100" b="1">
                          <a:solidFill>
                            <a:srgbClr val="1F2A44"/>
                          </a:solidFill>
                          <a:latin typeface="Calibri"/>
                        </a:rPr>
                        <a:t>Characters</a:t>
                      </a:r>
                    </a:p>
                  </a:txBody>
                  <a:tcPr marL="54864" marR="54864" marT="27432" marB="27432">
                    <a:solidFill>
                      <a:srgbClr val="E9ECF1"/>
                    </a:solidFill>
                  </a:tcPr>
                </a:tc>
              </a:tr>
              <a:tr h="301752">
                <a:tc>
                  <a:txBody>
                    <a:bodyPr wrap="square"/>
                    <a:lstStyle/>
                    <a:p>
                      <a:pPr algn="l"/>
                      <a:r>
                        <a:rPr sz="1100" b="0">
                          <a:solidFill>
                            <a:srgbClr val="1F2A44"/>
                          </a:solidFill>
                          <a:latin typeface="Calibri"/>
                        </a:rPr>
                        <a:t>Muuga FM</a:t>
                      </a:r>
                    </a:p>
                  </a:txBody>
                  <a:tcPr marL="54864" marR="54864" marT="27432" marB="27432">
                    <a:solidFill>
                      <a:srgbClr val="FFFFFF"/>
                    </a:solidFill>
                  </a:tcPr>
                </a:tc>
                <a:tc>
                  <a:txBody>
                    <a:bodyPr wrap="square"/>
                    <a:lstStyle/>
                    <a:p>
                      <a:pPr algn="l"/>
                      <a:r>
                        <a:rPr sz="1100" b="0">
                          <a:solidFill>
                            <a:srgbClr val="1F2A44"/>
                          </a:solidFill>
                          <a:latin typeface="Calibri"/>
                        </a:rPr>
                        <a:t>Meru</a:t>
                      </a:r>
                    </a:p>
                  </a:txBody>
                  <a:tcPr marL="54864" marR="54864" marT="27432" marB="27432">
                    <a:solidFill>
                      <a:srgbClr val="FFFFFF"/>
                    </a:solidFill>
                  </a:tcPr>
                </a:tc>
                <a:tc>
                  <a:txBody>
                    <a:bodyPr wrap="square"/>
                    <a:lstStyle/>
                    <a:p>
                      <a:pPr algn="r"/>
                      <a:r>
                        <a:rPr sz="1100" b="0">
                          <a:solidFill>
                            <a:srgbClr val="1F2A44"/>
                          </a:solidFill>
                          <a:latin typeface="Courier New"/>
                        </a:rPr>
                        <a:t>27467</a:t>
                      </a:r>
                    </a:p>
                  </a:txBody>
                  <a:tcPr marL="54864" marR="54864" marT="27432" marB="27432">
                    <a:solidFill>
                      <a:srgbClr val="FFFFFF"/>
                    </a:solidFill>
                  </a:tcPr>
                </a:tc>
                <a:tc>
                  <a:txBody>
                    <a:bodyPr wrap="square"/>
                    <a:lstStyle/>
                    <a:p>
                      <a:pPr algn="r"/>
                      <a:r>
                        <a:rPr sz="1100" b="0">
                          <a:solidFill>
                            <a:srgbClr val="1F2A44"/>
                          </a:solidFill>
                          <a:latin typeface="Courier New"/>
                        </a:rPr>
                        <a:t>221</a:t>
                      </a:r>
                    </a:p>
                  </a:txBody>
                  <a:tcPr marL="54864" marR="54864" marT="27432" marB="27432">
                    <a:solidFill>
                      <a:srgbClr val="FFFFFF"/>
                    </a:solidFill>
                  </a:tcPr>
                </a:tc>
                <a:tc>
                  <a:txBody>
                    <a:bodyPr wrap="square"/>
                    <a:lstStyle/>
                    <a:p>
                      <a:pPr algn="r"/>
                      <a:r>
                        <a:rPr sz="1100" b="0">
                          <a:solidFill>
                            <a:srgbClr val="1F2A44"/>
                          </a:solidFill>
                          <a:latin typeface="Courier New"/>
                        </a:rPr>
                        <a:t>127.53</a:t>
                      </a:r>
                    </a:p>
                  </a:txBody>
                  <a:tcPr marL="54864" marR="54864" marT="27432" marB="27432">
                    <a:solidFill>
                      <a:srgbClr val="FFFFFF"/>
                    </a:solidFill>
                  </a:tcPr>
                </a:tc>
                <a:tc>
                  <a:txBody>
                    <a:bodyPr wrap="square"/>
                    <a:lstStyle/>
                    <a:p>
                      <a:pPr algn="r"/>
                      <a:r>
                        <a:rPr sz="1100" b="0">
                          <a:solidFill>
                            <a:srgbClr val="1F2A44"/>
                          </a:solidFill>
                          <a:latin typeface="Courier New"/>
                        </a:rPr>
                        <a:t>17.98</a:t>
                      </a:r>
                    </a:p>
                  </a:txBody>
                  <a:tcPr marL="54864" marR="54864" marT="27432" marB="27432">
                    <a:solidFill>
                      <a:srgbClr val="FFFFFF"/>
                    </a:solidFill>
                  </a:tcPr>
                </a:tc>
                <a:tc>
                  <a:txBody>
                    <a:bodyPr wrap="square"/>
                    <a:lstStyle/>
                    <a:p>
                      <a:pPr algn="r"/>
                      <a:r>
                        <a:rPr sz="1100" b="0">
                          <a:solidFill>
                            <a:srgbClr val="1F2A44"/>
                          </a:solidFill>
                          <a:latin typeface="Courier New"/>
                        </a:rPr>
                        <a:t>14128382</a:t>
                      </a:r>
                    </a:p>
                  </a:txBody>
                  <a:tcPr marL="54864" marR="54864" marT="27432" marB="27432">
                    <a:solidFill>
                      <a:srgbClr val="FFFFFF"/>
                    </a:solidFill>
                  </a:tcPr>
                </a:tc>
              </a:tr>
              <a:tr h="301752">
                <a:tc>
                  <a:txBody>
                    <a:bodyPr wrap="square"/>
                    <a:lstStyle/>
                    <a:p>
                      <a:pPr algn="l"/>
                      <a:r>
                        <a:rPr sz="1100" b="0">
                          <a:solidFill>
                            <a:srgbClr val="1F2A44"/>
                          </a:solidFill>
                          <a:latin typeface="Calibri"/>
                        </a:rPr>
                        <a:t>Radio Citizen</a:t>
                      </a:r>
                    </a:p>
                  </a:txBody>
                  <a:tcPr marL="54864" marR="54864" marT="27432" marB="27432">
                    <a:solidFill>
                      <a:srgbClr val="FFFFFF"/>
                    </a:solidFill>
                  </a:tcPr>
                </a:tc>
                <a:tc>
                  <a:txBody>
                    <a:bodyPr wrap="square"/>
                    <a:lstStyle/>
                    <a:p>
                      <a:pPr algn="l"/>
                      <a:r>
                        <a:rPr sz="1100" b="0">
                          <a:solidFill>
                            <a:srgbClr val="1F2A44"/>
                          </a:solidFill>
                          <a:latin typeface="Calibri"/>
                        </a:rPr>
                        <a:t>Kiswahili</a:t>
                      </a:r>
                    </a:p>
                  </a:txBody>
                  <a:tcPr marL="54864" marR="54864" marT="27432" marB="27432">
                    <a:solidFill>
                      <a:srgbClr val="FFFFFF"/>
                    </a:solidFill>
                  </a:tcPr>
                </a:tc>
                <a:tc>
                  <a:txBody>
                    <a:bodyPr wrap="square"/>
                    <a:lstStyle/>
                    <a:p>
                      <a:pPr algn="r"/>
                      <a:r>
                        <a:rPr sz="1100" b="0">
                          <a:solidFill>
                            <a:srgbClr val="1F2A44"/>
                          </a:solidFill>
                          <a:latin typeface="Courier New"/>
                        </a:rPr>
                        <a:t>27240</a:t>
                      </a:r>
                    </a:p>
                  </a:txBody>
                  <a:tcPr marL="54864" marR="54864" marT="27432" marB="27432">
                    <a:solidFill>
                      <a:srgbClr val="FFFFFF"/>
                    </a:solidFill>
                  </a:tcPr>
                </a:tc>
                <a:tc>
                  <a:txBody>
                    <a:bodyPr wrap="square"/>
                    <a:lstStyle/>
                    <a:p>
                      <a:pPr algn="r"/>
                      <a:r>
                        <a:rPr sz="1100" b="0">
                          <a:solidFill>
                            <a:srgbClr val="1F2A44"/>
                          </a:solidFill>
                          <a:latin typeface="Courier New"/>
                        </a:rPr>
                        <a:t>219</a:t>
                      </a:r>
                    </a:p>
                  </a:txBody>
                  <a:tcPr marL="54864" marR="54864" marT="27432" marB="27432">
                    <a:solidFill>
                      <a:srgbClr val="FFFFFF"/>
                    </a:solidFill>
                  </a:tcPr>
                </a:tc>
                <a:tc>
                  <a:txBody>
                    <a:bodyPr wrap="square"/>
                    <a:lstStyle/>
                    <a:p>
                      <a:pPr algn="r"/>
                      <a:r>
                        <a:rPr sz="1100" b="0">
                          <a:solidFill>
                            <a:srgbClr val="1F2A44"/>
                          </a:solidFill>
                          <a:latin typeface="Courier New"/>
                        </a:rPr>
                        <a:t>126.98</a:t>
                      </a:r>
                    </a:p>
                  </a:txBody>
                  <a:tcPr marL="54864" marR="54864" marT="27432" marB="27432">
                    <a:solidFill>
                      <a:srgbClr val="FFFFFF"/>
                    </a:solidFill>
                  </a:tcPr>
                </a:tc>
                <a:tc>
                  <a:txBody>
                    <a:bodyPr wrap="square"/>
                    <a:lstStyle/>
                    <a:p>
                      <a:pPr algn="r"/>
                      <a:r>
                        <a:rPr sz="1100" b="0">
                          <a:solidFill>
                            <a:srgbClr val="1F2A44"/>
                          </a:solidFill>
                          <a:latin typeface="Courier New"/>
                        </a:rPr>
                        <a:t>18.18</a:t>
                      </a:r>
                    </a:p>
                  </a:txBody>
                  <a:tcPr marL="54864" marR="54864" marT="27432" marB="27432">
                    <a:solidFill>
                      <a:srgbClr val="FFFFFF"/>
                    </a:solidFill>
                  </a:tcPr>
                </a:tc>
                <a:tc>
                  <a:txBody>
                    <a:bodyPr wrap="square"/>
                    <a:lstStyle/>
                    <a:p>
                      <a:pPr algn="r"/>
                      <a:r>
                        <a:rPr sz="1100" b="0">
                          <a:solidFill>
                            <a:srgbClr val="1F2A44"/>
                          </a:solidFill>
                          <a:latin typeface="Courier New"/>
                        </a:rPr>
                        <a:t>22231911</a:t>
                      </a:r>
                    </a:p>
                  </a:txBody>
                  <a:tcPr marL="54864" marR="54864" marT="27432" marB="27432">
                    <a:solidFill>
                      <a:srgbClr val="FFFFFF"/>
                    </a:solidFill>
                  </a:tcPr>
                </a:tc>
              </a:tr>
              <a:tr h="301752">
                <a:tc>
                  <a:txBody>
                    <a:bodyPr wrap="square"/>
                    <a:lstStyle/>
                    <a:p>
                      <a:pPr algn="l"/>
                      <a:r>
                        <a:rPr sz="1100" b="0">
                          <a:solidFill>
                            <a:srgbClr val="1F2A44"/>
                          </a:solidFill>
                          <a:latin typeface="Calibri"/>
                        </a:rPr>
                        <a:t>Chamgei</a:t>
                      </a:r>
                    </a:p>
                  </a:txBody>
                  <a:tcPr marL="54864" marR="54864" marT="27432" marB="27432">
                    <a:solidFill>
                      <a:srgbClr val="FFFFFF"/>
                    </a:solidFill>
                  </a:tcPr>
                </a:tc>
                <a:tc>
                  <a:txBody>
                    <a:bodyPr wrap="square"/>
                    <a:lstStyle/>
                    <a:p>
                      <a:pPr algn="l"/>
                      <a:r>
                        <a:rPr sz="1100" b="0">
                          <a:solidFill>
                            <a:srgbClr val="1F2A44"/>
                          </a:solidFill>
                          <a:latin typeface="Calibri"/>
                        </a:rPr>
                        <a:t>Kalenjin</a:t>
                      </a:r>
                    </a:p>
                  </a:txBody>
                  <a:tcPr marL="54864" marR="54864" marT="27432" marB="27432">
                    <a:solidFill>
                      <a:srgbClr val="FFFFFF"/>
                    </a:solidFill>
                  </a:tcPr>
                </a:tc>
                <a:tc>
                  <a:txBody>
                    <a:bodyPr wrap="square"/>
                    <a:lstStyle/>
                    <a:p>
                      <a:pPr algn="r"/>
                      <a:r>
                        <a:rPr sz="1100" b="0">
                          <a:solidFill>
                            <a:srgbClr val="1F2A44"/>
                          </a:solidFill>
                          <a:latin typeface="Courier New"/>
                        </a:rPr>
                        <a:t>26787</a:t>
                      </a:r>
                    </a:p>
                  </a:txBody>
                  <a:tcPr marL="54864" marR="54864" marT="27432" marB="27432">
                    <a:solidFill>
                      <a:srgbClr val="FFFFFF"/>
                    </a:solidFill>
                  </a:tcPr>
                </a:tc>
                <a:tc>
                  <a:txBody>
                    <a:bodyPr wrap="square"/>
                    <a:lstStyle/>
                    <a:p>
                      <a:pPr algn="r"/>
                      <a:r>
                        <a:rPr sz="1100" b="0">
                          <a:solidFill>
                            <a:srgbClr val="1F2A44"/>
                          </a:solidFill>
                          <a:latin typeface="Courier New"/>
                        </a:rPr>
                        <a:t>224</a:t>
                      </a:r>
                    </a:p>
                  </a:txBody>
                  <a:tcPr marL="54864" marR="54864" marT="27432" marB="27432">
                    <a:solidFill>
                      <a:srgbClr val="FFFFFF"/>
                    </a:solidFill>
                  </a:tcPr>
                </a:tc>
                <a:tc>
                  <a:txBody>
                    <a:bodyPr wrap="square"/>
                    <a:lstStyle/>
                    <a:p>
                      <a:pPr algn="r"/>
                      <a:r>
                        <a:rPr sz="1100" b="0">
                          <a:solidFill>
                            <a:srgbClr val="1F2A44"/>
                          </a:solidFill>
                          <a:latin typeface="Courier New"/>
                        </a:rPr>
                        <a:t>130.68</a:t>
                      </a:r>
                    </a:p>
                  </a:txBody>
                  <a:tcPr marL="54864" marR="54864" marT="27432" marB="27432">
                    <a:solidFill>
                      <a:srgbClr val="FFFFFF"/>
                    </a:solidFill>
                  </a:tcPr>
                </a:tc>
                <a:tc>
                  <a:txBody>
                    <a:bodyPr wrap="square"/>
                    <a:lstStyle/>
                    <a:p>
                      <a:pPr algn="r"/>
                      <a:r>
                        <a:rPr sz="1100" b="0">
                          <a:solidFill>
                            <a:srgbClr val="1F2A44"/>
                          </a:solidFill>
                          <a:latin typeface="Courier New"/>
                        </a:rPr>
                        <a:t>18.75</a:t>
                      </a:r>
                    </a:p>
                  </a:txBody>
                  <a:tcPr marL="54864" marR="54864" marT="27432" marB="27432">
                    <a:solidFill>
                      <a:srgbClr val="FFFFFF"/>
                    </a:solidFill>
                  </a:tcPr>
                </a:tc>
                <a:tc>
                  <a:txBody>
                    <a:bodyPr wrap="square"/>
                    <a:lstStyle/>
                    <a:p>
                      <a:pPr algn="r"/>
                      <a:r>
                        <a:rPr sz="1100" b="0">
                          <a:solidFill>
                            <a:srgbClr val="1F2A44"/>
                          </a:solidFill>
                          <a:latin typeface="Courier New"/>
                        </a:rPr>
                        <a:t>20538503</a:t>
                      </a:r>
                    </a:p>
                  </a:txBody>
                  <a:tcPr marL="54864" marR="54864" marT="27432" marB="27432">
                    <a:solidFill>
                      <a:srgbClr val="FFFFFF"/>
                    </a:solidFill>
                  </a:tcPr>
                </a:tc>
              </a:tr>
              <a:tr h="301752">
                <a:tc>
                  <a:txBody>
                    <a:bodyPr wrap="square"/>
                    <a:lstStyle/>
                    <a:p>
                      <a:pPr algn="l"/>
                      <a:r>
                        <a:rPr sz="1100" b="0">
                          <a:solidFill>
                            <a:srgbClr val="1F2A44"/>
                          </a:solidFill>
                          <a:latin typeface="Calibri"/>
                        </a:rPr>
                        <a:t>Mulembe FM</a:t>
                      </a:r>
                    </a:p>
                  </a:txBody>
                  <a:tcPr marL="54864" marR="54864" marT="27432" marB="27432">
                    <a:solidFill>
                      <a:srgbClr val="FFFFFF"/>
                    </a:solidFill>
                  </a:tcPr>
                </a:tc>
                <a:tc>
                  <a:txBody>
                    <a:bodyPr wrap="square"/>
                    <a:lstStyle/>
                    <a:p>
                      <a:pPr algn="l"/>
                      <a:r>
                        <a:rPr sz="1100" b="0">
                          <a:solidFill>
                            <a:srgbClr val="1F2A44"/>
                          </a:solidFill>
                          <a:latin typeface="Calibri"/>
                        </a:rPr>
                        <a:t>Luhya</a:t>
                      </a:r>
                    </a:p>
                  </a:txBody>
                  <a:tcPr marL="54864" marR="54864" marT="27432" marB="27432">
                    <a:solidFill>
                      <a:srgbClr val="FFFFFF"/>
                    </a:solidFill>
                  </a:tcPr>
                </a:tc>
                <a:tc>
                  <a:txBody>
                    <a:bodyPr wrap="square"/>
                    <a:lstStyle/>
                    <a:p>
                      <a:pPr algn="r"/>
                      <a:r>
                        <a:rPr sz="1100" b="0">
                          <a:solidFill>
                            <a:srgbClr val="1F2A44"/>
                          </a:solidFill>
                          <a:latin typeface="Courier New"/>
                        </a:rPr>
                        <a:t>22191</a:t>
                      </a:r>
                    </a:p>
                  </a:txBody>
                  <a:tcPr marL="54864" marR="54864" marT="27432" marB="27432">
                    <a:solidFill>
                      <a:srgbClr val="FFFFFF"/>
                    </a:solidFill>
                  </a:tcPr>
                </a:tc>
                <a:tc>
                  <a:txBody>
                    <a:bodyPr wrap="square"/>
                    <a:lstStyle/>
                    <a:p>
                      <a:pPr algn="r"/>
                      <a:r>
                        <a:rPr sz="1100" b="0">
                          <a:solidFill>
                            <a:srgbClr val="1F2A44"/>
                          </a:solidFill>
                          <a:latin typeface="Courier New"/>
                        </a:rPr>
                        <a:t>225</a:t>
                      </a:r>
                    </a:p>
                  </a:txBody>
                  <a:tcPr marL="54864" marR="54864" marT="27432" marB="27432">
                    <a:solidFill>
                      <a:srgbClr val="FFFFFF"/>
                    </a:solidFill>
                  </a:tcPr>
                </a:tc>
                <a:tc>
                  <a:txBody>
                    <a:bodyPr wrap="square"/>
                    <a:lstStyle/>
                    <a:p>
                      <a:pPr algn="r"/>
                      <a:r>
                        <a:rPr sz="1100" b="0">
                          <a:solidFill>
                            <a:srgbClr val="1F2A44"/>
                          </a:solidFill>
                          <a:latin typeface="Courier New"/>
                        </a:rPr>
                        <a:t>102.58</a:t>
                      </a:r>
                    </a:p>
                  </a:txBody>
                  <a:tcPr marL="54864" marR="54864" marT="27432" marB="27432">
                    <a:solidFill>
                      <a:srgbClr val="FFFFFF"/>
                    </a:solidFill>
                  </a:tcPr>
                </a:tc>
                <a:tc>
                  <a:txBody>
                    <a:bodyPr wrap="square"/>
                    <a:lstStyle/>
                    <a:p>
                      <a:pPr algn="r"/>
                      <a:r>
                        <a:rPr sz="1100" b="0">
                          <a:solidFill>
                            <a:srgbClr val="1F2A44"/>
                          </a:solidFill>
                          <a:latin typeface="Courier New"/>
                        </a:rPr>
                        <a:t>15.0</a:t>
                      </a:r>
                    </a:p>
                  </a:txBody>
                  <a:tcPr marL="54864" marR="54864" marT="27432" marB="27432">
                    <a:solidFill>
                      <a:srgbClr val="FFFFFF"/>
                    </a:solidFill>
                  </a:tcPr>
                </a:tc>
                <a:tc>
                  <a:txBody>
                    <a:bodyPr wrap="square"/>
                    <a:lstStyle/>
                    <a:p>
                      <a:pPr algn="r"/>
                      <a:r>
                        <a:rPr sz="1100" b="0">
                          <a:solidFill>
                            <a:srgbClr val="1F2A44"/>
                          </a:solidFill>
                          <a:latin typeface="Courier New"/>
                        </a:rPr>
                        <a:t>15496412</a:t>
                      </a:r>
                    </a:p>
                  </a:txBody>
                  <a:tcPr marL="54864" marR="54864" marT="27432" marB="27432">
                    <a:solidFill>
                      <a:srgbClr val="FFFFFF"/>
                    </a:solidFill>
                  </a:tcPr>
                </a:tc>
              </a:tr>
              <a:tr h="301752">
                <a:tc>
                  <a:txBody>
                    <a:bodyPr wrap="square"/>
                    <a:lstStyle/>
                    <a:p>
                      <a:pPr algn="l"/>
                      <a:r>
                        <a:rPr sz="1100" b="0">
                          <a:solidFill>
                            <a:srgbClr val="1F2A44"/>
                          </a:solidFill>
                          <a:latin typeface="Calibri"/>
                        </a:rPr>
                        <a:t>Wimwaro FM</a:t>
                      </a:r>
                    </a:p>
                  </a:txBody>
                  <a:tcPr marL="54864" marR="54864" marT="27432" marB="27432">
                    <a:solidFill>
                      <a:srgbClr val="FFFFFF"/>
                    </a:solidFill>
                  </a:tcPr>
                </a:tc>
                <a:tc>
                  <a:txBody>
                    <a:bodyPr wrap="square"/>
                    <a:lstStyle/>
                    <a:p>
                      <a:pPr algn="l"/>
                      <a:r>
                        <a:rPr sz="1100" b="0">
                          <a:solidFill>
                            <a:srgbClr val="1F2A44"/>
                          </a:solidFill>
                          <a:latin typeface="Calibri"/>
                        </a:rPr>
                        <a:t>Embu</a:t>
                      </a:r>
                    </a:p>
                  </a:txBody>
                  <a:tcPr marL="54864" marR="54864" marT="27432" marB="27432">
                    <a:solidFill>
                      <a:srgbClr val="FFFFFF"/>
                    </a:solidFill>
                  </a:tcPr>
                </a:tc>
                <a:tc>
                  <a:txBody>
                    <a:bodyPr wrap="square"/>
                    <a:lstStyle/>
                    <a:p>
                      <a:pPr algn="r"/>
                      <a:r>
                        <a:rPr sz="1100" b="0">
                          <a:solidFill>
                            <a:srgbClr val="1F2A44"/>
                          </a:solidFill>
                          <a:latin typeface="Courier New"/>
                        </a:rPr>
                        <a:t>19664</a:t>
                      </a:r>
                    </a:p>
                  </a:txBody>
                  <a:tcPr marL="54864" marR="54864" marT="27432" marB="27432">
                    <a:solidFill>
                      <a:srgbClr val="FFFFFF"/>
                    </a:solidFill>
                  </a:tcPr>
                </a:tc>
                <a:tc>
                  <a:txBody>
                    <a:bodyPr wrap="square"/>
                    <a:lstStyle/>
                    <a:p>
                      <a:pPr algn="r"/>
                      <a:r>
                        <a:rPr sz="1100" b="0">
                          <a:solidFill>
                            <a:srgbClr val="1F2A44"/>
                          </a:solidFill>
                          <a:latin typeface="Courier New"/>
                        </a:rPr>
                        <a:t>223</a:t>
                      </a:r>
                    </a:p>
                  </a:txBody>
                  <a:tcPr marL="54864" marR="54864" marT="27432" marB="27432">
                    <a:solidFill>
                      <a:srgbClr val="FFFFFF"/>
                    </a:solidFill>
                  </a:tcPr>
                </a:tc>
                <a:tc>
                  <a:txBody>
                    <a:bodyPr wrap="square"/>
                    <a:lstStyle/>
                    <a:p>
                      <a:pPr algn="r"/>
                      <a:r>
                        <a:rPr sz="1100" b="0">
                          <a:solidFill>
                            <a:srgbClr val="1F2A44"/>
                          </a:solidFill>
                          <a:latin typeface="Courier New"/>
                        </a:rPr>
                        <a:t>90.1</a:t>
                      </a:r>
                    </a:p>
                  </a:txBody>
                  <a:tcPr marL="54864" marR="54864" marT="27432" marB="27432">
                    <a:solidFill>
                      <a:srgbClr val="FFFFFF"/>
                    </a:solidFill>
                  </a:tcPr>
                </a:tc>
                <a:tc>
                  <a:txBody>
                    <a:bodyPr wrap="square"/>
                    <a:lstStyle/>
                    <a:p>
                      <a:pPr algn="r"/>
                      <a:r>
                        <a:rPr sz="1100" b="0">
                          <a:solidFill>
                            <a:srgbClr val="1F2A44"/>
                          </a:solidFill>
                          <a:latin typeface="Courier New"/>
                        </a:rPr>
                        <a:t>15.76</a:t>
                      </a:r>
                    </a:p>
                  </a:txBody>
                  <a:tcPr marL="54864" marR="54864" marT="27432" marB="27432">
                    <a:solidFill>
                      <a:srgbClr val="FFFFFF"/>
                    </a:solidFill>
                  </a:tcPr>
                </a:tc>
                <a:tc>
                  <a:txBody>
                    <a:bodyPr wrap="square"/>
                    <a:lstStyle/>
                    <a:p>
                      <a:pPr algn="r"/>
                      <a:r>
                        <a:rPr sz="1100" b="0">
                          <a:solidFill>
                            <a:srgbClr val="1F2A44"/>
                          </a:solidFill>
                          <a:latin typeface="Courier New"/>
                        </a:rPr>
                        <a:t>12408784</a:t>
                      </a:r>
                    </a:p>
                  </a:txBody>
                  <a:tcPr marL="54864" marR="54864" marT="27432" marB="27432">
                    <a:solidFill>
                      <a:srgbClr val="FFFFFF"/>
                    </a:solidFill>
                  </a:tcPr>
                </a:tc>
              </a:tr>
              <a:tr h="301752">
                <a:tc>
                  <a:txBody>
                    <a:bodyPr wrap="square"/>
                    <a:lstStyle/>
                    <a:p>
                      <a:pPr algn="l"/>
                      <a:r>
                        <a:rPr sz="1100" b="0">
                          <a:solidFill>
                            <a:srgbClr val="1F2A44"/>
                          </a:solidFill>
                          <a:latin typeface="Calibri"/>
                        </a:rPr>
                        <a:t>Hot 96</a:t>
                      </a:r>
                    </a:p>
                  </a:txBody>
                  <a:tcPr marL="54864" marR="54864" marT="27432" marB="27432">
                    <a:solidFill>
                      <a:srgbClr val="FFFFFF"/>
                    </a:solidFill>
                  </a:tcPr>
                </a:tc>
                <a:tc>
                  <a:txBody>
                    <a:bodyPr wrap="square"/>
                    <a:lstStyle/>
                    <a:p>
                      <a:pPr algn="l"/>
                      <a:r>
                        <a:rPr sz="1100" b="0">
                          <a:solidFill>
                            <a:srgbClr val="1F2A44"/>
                          </a:solidFill>
                          <a:latin typeface="Calibri"/>
                        </a:rPr>
                        <a:t>English</a:t>
                      </a:r>
                    </a:p>
                  </a:txBody>
                  <a:tcPr marL="54864" marR="54864" marT="27432" marB="27432">
                    <a:solidFill>
                      <a:srgbClr val="FFFFFF"/>
                    </a:solidFill>
                  </a:tcPr>
                </a:tc>
                <a:tc>
                  <a:txBody>
                    <a:bodyPr wrap="square"/>
                    <a:lstStyle/>
                    <a:p>
                      <a:pPr algn="r"/>
                      <a:r>
                        <a:rPr sz="1100" b="0">
                          <a:solidFill>
                            <a:srgbClr val="1F2A44"/>
                          </a:solidFill>
                          <a:latin typeface="Courier New"/>
                        </a:rPr>
                        <a:t>18136</a:t>
                      </a:r>
                    </a:p>
                  </a:txBody>
                  <a:tcPr marL="54864" marR="54864" marT="27432" marB="27432">
                    <a:solidFill>
                      <a:srgbClr val="FFFFFF"/>
                    </a:solidFill>
                  </a:tcPr>
                </a:tc>
                <a:tc>
                  <a:txBody>
                    <a:bodyPr wrap="square"/>
                    <a:lstStyle/>
                    <a:p>
                      <a:pPr algn="r"/>
                      <a:r>
                        <a:rPr sz="1100" b="0">
                          <a:solidFill>
                            <a:srgbClr val="1F2A44"/>
                          </a:solidFill>
                          <a:latin typeface="Courier New"/>
                        </a:rPr>
                        <a:t>225</a:t>
                      </a:r>
                    </a:p>
                  </a:txBody>
                  <a:tcPr marL="54864" marR="54864" marT="27432" marB="27432">
                    <a:solidFill>
                      <a:srgbClr val="FFFFFF"/>
                    </a:solidFill>
                  </a:tcPr>
                </a:tc>
                <a:tc>
                  <a:txBody>
                    <a:bodyPr wrap="square"/>
                    <a:lstStyle/>
                    <a:p>
                      <a:pPr algn="r"/>
                      <a:r>
                        <a:rPr sz="1100" b="0">
                          <a:solidFill>
                            <a:srgbClr val="1F2A44"/>
                          </a:solidFill>
                          <a:latin typeface="Courier New"/>
                        </a:rPr>
                        <a:t>83.18</a:t>
                      </a:r>
                    </a:p>
                  </a:txBody>
                  <a:tcPr marL="54864" marR="54864" marT="27432" marB="27432">
                    <a:solidFill>
                      <a:srgbClr val="FFFFFF"/>
                    </a:solidFill>
                  </a:tcPr>
                </a:tc>
                <a:tc>
                  <a:txBody>
                    <a:bodyPr wrap="square"/>
                    <a:lstStyle/>
                    <a:p>
                      <a:pPr algn="r"/>
                      <a:r>
                        <a:rPr sz="1100" b="0">
                          <a:solidFill>
                            <a:srgbClr val="1F2A44"/>
                          </a:solidFill>
                          <a:latin typeface="Courier New"/>
                        </a:rPr>
                        <a:t>15.08</a:t>
                      </a:r>
                    </a:p>
                  </a:txBody>
                  <a:tcPr marL="54864" marR="54864" marT="27432" marB="27432">
                    <a:solidFill>
                      <a:srgbClr val="FFFFFF"/>
                    </a:solidFill>
                  </a:tcPr>
                </a:tc>
                <a:tc>
                  <a:txBody>
                    <a:bodyPr wrap="square"/>
                    <a:lstStyle/>
                    <a:p>
                      <a:pPr algn="r"/>
                      <a:r>
                        <a:rPr sz="1100" b="0">
                          <a:solidFill>
                            <a:srgbClr val="1F2A44"/>
                          </a:solidFill>
                          <a:latin typeface="Courier New"/>
                        </a:rPr>
                        <a:t>12470183</a:t>
                      </a:r>
                    </a:p>
                  </a:txBody>
                  <a:tcPr marL="54864" marR="54864" marT="27432" marB="27432">
                    <a:solidFill>
                      <a:srgbClr val="FFFFFF"/>
                    </a:solidFill>
                  </a:tcPr>
                </a:tc>
              </a:tr>
              <a:tr h="301752">
                <a:tc>
                  <a:txBody>
                    <a:bodyPr wrap="square"/>
                    <a:lstStyle/>
                    <a:p>
                      <a:pPr algn="l"/>
                      <a:r>
                        <a:rPr sz="1100" b="0">
                          <a:solidFill>
                            <a:srgbClr val="1F2A44"/>
                          </a:solidFill>
                          <a:latin typeface="Calibri"/>
                        </a:rPr>
                        <a:t>Egesa</a:t>
                      </a:r>
                    </a:p>
                  </a:txBody>
                  <a:tcPr marL="54864" marR="54864" marT="27432" marB="27432">
                    <a:solidFill>
                      <a:srgbClr val="FFFFFF"/>
                    </a:solidFill>
                  </a:tcPr>
                </a:tc>
                <a:tc>
                  <a:txBody>
                    <a:bodyPr wrap="square"/>
                    <a:lstStyle/>
                    <a:p>
                      <a:pPr algn="l"/>
                      <a:r>
                        <a:rPr sz="1100" b="0">
                          <a:solidFill>
                            <a:srgbClr val="1F2A44"/>
                          </a:solidFill>
                          <a:latin typeface="Calibri"/>
                        </a:rPr>
                        <a:t>Kisii</a:t>
                      </a:r>
                    </a:p>
                  </a:txBody>
                  <a:tcPr marL="54864" marR="54864" marT="27432" marB="27432">
                    <a:solidFill>
                      <a:srgbClr val="FFFFFF"/>
                    </a:solidFill>
                  </a:tcPr>
                </a:tc>
                <a:tc>
                  <a:txBody>
                    <a:bodyPr wrap="square"/>
                    <a:lstStyle/>
                    <a:p>
                      <a:pPr algn="r"/>
                      <a:r>
                        <a:rPr sz="1100" b="0">
                          <a:solidFill>
                            <a:srgbClr val="1F2A44"/>
                          </a:solidFill>
                          <a:latin typeface="Courier New"/>
                        </a:rPr>
                        <a:t>17606</a:t>
                      </a:r>
                    </a:p>
                  </a:txBody>
                  <a:tcPr marL="54864" marR="54864" marT="27432" marB="27432">
                    <a:solidFill>
                      <a:srgbClr val="FFFFFF"/>
                    </a:solidFill>
                  </a:tcPr>
                </a:tc>
                <a:tc>
                  <a:txBody>
                    <a:bodyPr wrap="square"/>
                    <a:lstStyle/>
                    <a:p>
                      <a:pPr algn="r"/>
                      <a:r>
                        <a:rPr sz="1100" b="0">
                          <a:solidFill>
                            <a:srgbClr val="1F2A44"/>
                          </a:solidFill>
                          <a:latin typeface="Courier New"/>
                        </a:rPr>
                        <a:t>219</a:t>
                      </a:r>
                    </a:p>
                  </a:txBody>
                  <a:tcPr marL="54864" marR="54864" marT="27432" marB="27432">
                    <a:solidFill>
                      <a:srgbClr val="FFFFFF"/>
                    </a:solidFill>
                  </a:tcPr>
                </a:tc>
                <a:tc>
                  <a:txBody>
                    <a:bodyPr wrap="square"/>
                    <a:lstStyle/>
                    <a:p>
                      <a:pPr algn="r"/>
                      <a:r>
                        <a:rPr sz="1100" b="0">
                          <a:solidFill>
                            <a:srgbClr val="1F2A44"/>
                          </a:solidFill>
                          <a:latin typeface="Courier New"/>
                        </a:rPr>
                        <a:t>84.36</a:t>
                      </a:r>
                    </a:p>
                  </a:txBody>
                  <a:tcPr marL="54864" marR="54864" marT="27432" marB="27432">
                    <a:solidFill>
                      <a:srgbClr val="FFFFFF"/>
                    </a:solidFill>
                  </a:tcPr>
                </a:tc>
                <a:tc>
                  <a:txBody>
                    <a:bodyPr wrap="square"/>
                    <a:lstStyle/>
                    <a:p>
                      <a:pPr algn="r"/>
                      <a:r>
                        <a:rPr sz="1100" b="0">
                          <a:solidFill>
                            <a:srgbClr val="1F2A44"/>
                          </a:solidFill>
                          <a:latin typeface="Courier New"/>
                        </a:rPr>
                        <a:t>11.3</a:t>
                      </a:r>
                    </a:p>
                  </a:txBody>
                  <a:tcPr marL="54864" marR="54864" marT="27432" marB="27432">
                    <a:solidFill>
                      <a:srgbClr val="FFFFFF"/>
                    </a:solidFill>
                  </a:tcPr>
                </a:tc>
                <a:tc>
                  <a:txBody>
                    <a:bodyPr wrap="square"/>
                    <a:lstStyle/>
                    <a:p>
                      <a:pPr algn="r"/>
                      <a:r>
                        <a:rPr sz="1100" b="0">
                          <a:solidFill>
                            <a:srgbClr val="1F2A44"/>
                          </a:solidFill>
                          <a:latin typeface="Courier New"/>
                        </a:rPr>
                        <a:t>14458656</a:t>
                      </a:r>
                    </a:p>
                  </a:txBody>
                  <a:tcPr marL="54864" marR="54864" marT="27432" marB="27432">
                    <a:solidFill>
                      <a:srgbClr val="FFFFFF"/>
                    </a:solidFill>
                  </a:tcPr>
                </a:tc>
              </a:tr>
              <a:tr h="301752">
                <a:tc>
                  <a:txBody>
                    <a:bodyPr wrap="square"/>
                    <a:lstStyle/>
                    <a:p>
                      <a:pPr algn="l"/>
                      <a:r>
                        <a:rPr sz="1100" b="0">
                          <a:solidFill>
                            <a:srgbClr val="1F2A44"/>
                          </a:solidFill>
                          <a:latin typeface="Calibri"/>
                        </a:rPr>
                        <a:t>Musyi FM</a:t>
                      </a:r>
                    </a:p>
                  </a:txBody>
                  <a:tcPr marL="54864" marR="54864" marT="27432" marB="27432">
                    <a:solidFill>
                      <a:srgbClr val="FFFFFF"/>
                    </a:solidFill>
                  </a:tcPr>
                </a:tc>
                <a:tc>
                  <a:txBody>
                    <a:bodyPr wrap="square"/>
                    <a:lstStyle/>
                    <a:p>
                      <a:pPr algn="l"/>
                      <a:r>
                        <a:rPr sz="1100" b="0">
                          <a:solidFill>
                            <a:srgbClr val="1F2A44"/>
                          </a:solidFill>
                          <a:latin typeface="Calibri"/>
                        </a:rPr>
                        <a:t>Akamba</a:t>
                      </a:r>
                    </a:p>
                  </a:txBody>
                  <a:tcPr marL="54864" marR="54864" marT="27432" marB="27432">
                    <a:solidFill>
                      <a:srgbClr val="FFFFFF"/>
                    </a:solidFill>
                  </a:tcPr>
                </a:tc>
                <a:tc>
                  <a:txBody>
                    <a:bodyPr wrap="square"/>
                    <a:lstStyle/>
                    <a:p>
                      <a:pPr algn="r"/>
                      <a:r>
                        <a:rPr sz="1100" b="0">
                          <a:solidFill>
                            <a:srgbClr val="1F2A44"/>
                          </a:solidFill>
                          <a:latin typeface="Courier New"/>
                        </a:rPr>
                        <a:t>17581</a:t>
                      </a:r>
                    </a:p>
                  </a:txBody>
                  <a:tcPr marL="54864" marR="54864" marT="27432" marB="27432">
                    <a:solidFill>
                      <a:srgbClr val="FFFFFF"/>
                    </a:solidFill>
                  </a:tcPr>
                </a:tc>
                <a:tc>
                  <a:txBody>
                    <a:bodyPr wrap="square"/>
                    <a:lstStyle/>
                    <a:p>
                      <a:pPr algn="r"/>
                      <a:r>
                        <a:rPr sz="1100" b="0">
                          <a:solidFill>
                            <a:srgbClr val="1F2A44"/>
                          </a:solidFill>
                          <a:latin typeface="Courier New"/>
                        </a:rPr>
                        <a:t>199</a:t>
                      </a:r>
                    </a:p>
                  </a:txBody>
                  <a:tcPr marL="54864" marR="54864" marT="27432" marB="27432">
                    <a:solidFill>
                      <a:srgbClr val="FFFFFF"/>
                    </a:solidFill>
                  </a:tcPr>
                </a:tc>
                <a:tc>
                  <a:txBody>
                    <a:bodyPr wrap="square"/>
                    <a:lstStyle/>
                    <a:p>
                      <a:pPr algn="r"/>
                      <a:r>
                        <a:rPr sz="1100" b="0">
                          <a:solidFill>
                            <a:srgbClr val="1F2A44"/>
                          </a:solidFill>
                          <a:latin typeface="Courier New"/>
                        </a:rPr>
                        <a:t>91.48</a:t>
                      </a:r>
                    </a:p>
                  </a:txBody>
                  <a:tcPr marL="54864" marR="54864" marT="27432" marB="27432">
                    <a:solidFill>
                      <a:srgbClr val="FFFFFF"/>
                    </a:solidFill>
                  </a:tcPr>
                </a:tc>
                <a:tc>
                  <a:txBody>
                    <a:bodyPr wrap="square"/>
                    <a:lstStyle/>
                    <a:p>
                      <a:pPr algn="r"/>
                      <a:r>
                        <a:rPr sz="1100" b="0">
                          <a:solidFill>
                            <a:srgbClr val="1F2A44"/>
                          </a:solidFill>
                          <a:latin typeface="Courier New"/>
                        </a:rPr>
                        <a:t>17.69</a:t>
                      </a:r>
                    </a:p>
                  </a:txBody>
                  <a:tcPr marL="54864" marR="54864" marT="27432" marB="27432">
                    <a:solidFill>
                      <a:srgbClr val="FFFFFF"/>
                    </a:solidFill>
                  </a:tcPr>
                </a:tc>
                <a:tc>
                  <a:txBody>
                    <a:bodyPr wrap="square"/>
                    <a:lstStyle/>
                    <a:p>
                      <a:pPr algn="r"/>
                      <a:r>
                        <a:rPr sz="1100" b="0">
                          <a:solidFill>
                            <a:srgbClr val="1F2A44"/>
                          </a:solidFill>
                          <a:latin typeface="Courier New"/>
                        </a:rPr>
                        <a:t>16521768</a:t>
                      </a:r>
                    </a:p>
                  </a:txBody>
                  <a:tcPr marL="54864" marR="54864" marT="27432" marB="27432">
                    <a:solidFill>
                      <a:srgbClr val="FFFFFF"/>
                    </a:solidFill>
                  </a:tcPr>
                </a:tc>
              </a:tr>
              <a:tr h="301752">
                <a:tc>
                  <a:txBody>
                    <a:bodyPr wrap="square"/>
                    <a:lstStyle/>
                    <a:p>
                      <a:pPr algn="l"/>
                      <a:r>
                        <a:rPr sz="1100" b="0">
                          <a:solidFill>
                            <a:srgbClr val="1F2A44"/>
                          </a:solidFill>
                          <a:latin typeface="Calibri"/>
                        </a:rPr>
                        <a:t>Sulwe FM</a:t>
                      </a:r>
                    </a:p>
                  </a:txBody>
                  <a:tcPr marL="54864" marR="54864" marT="27432" marB="27432">
                    <a:solidFill>
                      <a:srgbClr val="FFFFFF"/>
                    </a:solidFill>
                  </a:tcPr>
                </a:tc>
                <a:tc>
                  <a:txBody>
                    <a:bodyPr wrap="square"/>
                    <a:lstStyle/>
                    <a:p>
                      <a:pPr algn="l"/>
                      <a:r>
                        <a:rPr sz="1100" b="0">
                          <a:solidFill>
                            <a:srgbClr val="1F2A44"/>
                          </a:solidFill>
                          <a:latin typeface="Calibri"/>
                        </a:rPr>
                        <a:t>Bukusu</a:t>
                      </a:r>
                    </a:p>
                  </a:txBody>
                  <a:tcPr marL="54864" marR="54864" marT="27432" marB="27432">
                    <a:solidFill>
                      <a:srgbClr val="FFFFFF"/>
                    </a:solidFill>
                  </a:tcPr>
                </a:tc>
                <a:tc>
                  <a:txBody>
                    <a:bodyPr wrap="square"/>
                    <a:lstStyle/>
                    <a:p>
                      <a:pPr algn="r"/>
                      <a:r>
                        <a:rPr sz="1100" b="0">
                          <a:solidFill>
                            <a:srgbClr val="1F2A44"/>
                          </a:solidFill>
                          <a:latin typeface="Courier New"/>
                        </a:rPr>
                        <a:t>16749</a:t>
                      </a:r>
                    </a:p>
                  </a:txBody>
                  <a:tcPr marL="54864" marR="54864" marT="27432" marB="27432">
                    <a:solidFill>
                      <a:srgbClr val="FFFFFF"/>
                    </a:solidFill>
                  </a:tcPr>
                </a:tc>
                <a:tc>
                  <a:txBody>
                    <a:bodyPr wrap="square"/>
                    <a:lstStyle/>
                    <a:p>
                      <a:pPr algn="r"/>
                      <a:r>
                        <a:rPr sz="1100" b="0">
                          <a:solidFill>
                            <a:srgbClr val="1F2A44"/>
                          </a:solidFill>
                          <a:latin typeface="Courier New"/>
                        </a:rPr>
                        <a:t>225</a:t>
                      </a:r>
                    </a:p>
                  </a:txBody>
                  <a:tcPr marL="54864" marR="54864" marT="27432" marB="27432">
                    <a:solidFill>
                      <a:srgbClr val="FFFFFF"/>
                    </a:solidFill>
                  </a:tcPr>
                </a:tc>
                <a:tc>
                  <a:txBody>
                    <a:bodyPr wrap="square"/>
                    <a:lstStyle/>
                    <a:p>
                      <a:pPr algn="r"/>
                      <a:r>
                        <a:rPr sz="1100" b="0">
                          <a:solidFill>
                            <a:srgbClr val="1F2A44"/>
                          </a:solidFill>
                          <a:latin typeface="Courier New"/>
                        </a:rPr>
                        <a:t>76.6</a:t>
                      </a:r>
                    </a:p>
                  </a:txBody>
                  <a:tcPr marL="54864" marR="54864" marT="27432" marB="27432">
                    <a:solidFill>
                      <a:srgbClr val="FFFFFF"/>
                    </a:solidFill>
                  </a:tcPr>
                </a:tc>
                <a:tc>
                  <a:txBody>
                    <a:bodyPr wrap="square"/>
                    <a:lstStyle/>
                    <a:p>
                      <a:pPr algn="r"/>
                      <a:r>
                        <a:rPr sz="1100" b="0">
                          <a:solidFill>
                            <a:srgbClr val="1F2A44"/>
                          </a:solidFill>
                          <a:latin typeface="Courier New"/>
                        </a:rPr>
                        <a:t>11.95</a:t>
                      </a:r>
                    </a:p>
                  </a:txBody>
                  <a:tcPr marL="54864" marR="54864" marT="27432" marB="27432">
                    <a:solidFill>
                      <a:srgbClr val="FFFFFF"/>
                    </a:solidFill>
                  </a:tcPr>
                </a:tc>
                <a:tc>
                  <a:txBody>
                    <a:bodyPr wrap="square"/>
                    <a:lstStyle/>
                    <a:p>
                      <a:pPr algn="r"/>
                      <a:r>
                        <a:rPr sz="1100" b="0">
                          <a:solidFill>
                            <a:srgbClr val="1F2A44"/>
                          </a:solidFill>
                          <a:latin typeface="Courier New"/>
                        </a:rPr>
                        <a:t>14484808</a:t>
                      </a:r>
                    </a:p>
                  </a:txBody>
                  <a:tcPr marL="54864" marR="54864" marT="27432" marB="2743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C8102E"/>
                </a:solidFill>
                <a:latin typeface="Calibri"/>
              </a:rPr>
              <a:t>A scripted day is a calendar date with at least one script for the station; bulletin hours are the distinct hour slots scripted that day.</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[measured]  Receipt R08: Aggregate-only database reading etx-81e10befe6e0: news_vault.stories (script, title, date, hour_id) → news_vault.hours (station_id, time, type_id) → news_vault.stations (name); news_vault.news (2022 bulletins); local.uploaded_files (language_id, audio_length, status) ← local.transcripts (file_id, start_time, end_time, transcript) ; local.folder_languages (Language, code, station)</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EVIDENCE BY NAME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Hourly news scripts by station (news_vault.stories)</a:t>
            </a:r>
          </a:p>
        </p:txBody>
      </p:sp>
      <p:graphicFrame>
        <p:nvGraphicFramePr>
          <p:cNvPr id="4" name="Table 3"/>
          <p:cNvGraphicFramePr>
            <a:graphicFrameLocks noGrp="1"/>
          </p:cNvGraphicFramePr>
          <p:nvPr/>
        </p:nvGraphicFramePr>
        <p:xfrm>
          <a:off x="594360" y="1920240"/>
          <a:ext cx="11002971" cy="2304288"/>
        </p:xfrm>
        <a:graphic>
          <a:graphicData uri="http://schemas.openxmlformats.org/drawingml/2006/table">
            <a:tbl>
              <a:tblPr firstRow="1" bandRow="1">
                <a:tableStyleId>{5C22544A-7EE6-4342-B048-85BDC9FD1C3A}</a:tableStyleId>
              </a:tblPr>
              <a:tblGrid>
                <a:gridCol w="1269574"/>
                <a:gridCol w="1523488"/>
                <a:gridCol w="1184935"/>
                <a:gridCol w="1184935"/>
                <a:gridCol w="2031318"/>
                <a:gridCol w="2623786"/>
                <a:gridCol w="1184935"/>
              </a:tblGrid>
              <a:tr h="384048">
                <a:tc>
                  <a:txBody>
                    <a:bodyPr wrap="square"/>
                    <a:lstStyle/>
                    <a:p>
                      <a:pPr algn="l"/>
                      <a:r>
                        <a:rPr sz="1200" b="1">
                          <a:solidFill>
                            <a:srgbClr val="1F2A44"/>
                          </a:solidFill>
                          <a:latin typeface="Calibri"/>
                        </a:rPr>
                        <a:t>Station</a:t>
                      </a:r>
                    </a:p>
                  </a:txBody>
                  <a:tcPr marL="54864" marR="54864" marT="27432" marB="27432">
                    <a:solidFill>
                      <a:srgbClr val="E9ECF1"/>
                    </a:solidFill>
                  </a:tcPr>
                </a:tc>
                <a:tc>
                  <a:txBody>
                    <a:bodyPr wrap="square"/>
                    <a:lstStyle/>
                    <a:p>
                      <a:pPr algn="l"/>
                      <a:r>
                        <a:rPr sz="1200" b="1">
                          <a:solidFill>
                            <a:srgbClr val="1F2A44"/>
                          </a:solidFill>
                          <a:latin typeface="Calibri"/>
                        </a:rPr>
                        <a:t>Broadcast language</a:t>
                      </a:r>
                    </a:p>
                  </a:txBody>
                  <a:tcPr marL="54864" marR="54864" marT="27432" marB="27432">
                    <a:solidFill>
                      <a:srgbClr val="E9ECF1"/>
                    </a:solidFill>
                  </a:tcPr>
                </a:tc>
                <a:tc>
                  <a:txBody>
                    <a:bodyPr wrap="square"/>
                    <a:lstStyle/>
                    <a:p>
                      <a:pPr algn="l"/>
                      <a:r>
                        <a:rPr sz="1200" b="1">
                          <a:solidFill>
                            <a:srgbClr val="1F2A44"/>
                          </a:solidFill>
                          <a:latin typeface="Calibri"/>
                        </a:rPr>
                        <a:t>Live scripts</a:t>
                      </a:r>
                    </a:p>
                  </a:txBody>
                  <a:tcPr marL="54864" marR="54864" marT="27432" marB="27432">
                    <a:solidFill>
                      <a:srgbClr val="E9ECF1"/>
                    </a:solidFill>
                  </a:tcPr>
                </a:tc>
                <a:tc>
                  <a:txBody>
                    <a:bodyPr wrap="square"/>
                    <a:lstStyle/>
                    <a:p>
                      <a:pPr algn="l"/>
                      <a:r>
                        <a:rPr sz="1200" b="1">
                          <a:solidFill>
                            <a:srgbClr val="1F2A44"/>
                          </a:solidFill>
                          <a:latin typeface="Calibri"/>
                        </a:rPr>
                        <a:t>Scripted days</a:t>
                      </a:r>
                    </a:p>
                  </a:txBody>
                  <a:tcPr marL="54864" marR="54864" marT="27432" marB="27432">
                    <a:solidFill>
                      <a:srgbClr val="E9ECF1"/>
                    </a:solidFill>
                  </a:tcPr>
                </a:tc>
                <a:tc>
                  <a:txBody>
                    <a:bodyPr wrap="square"/>
                    <a:lstStyle/>
                    <a:p>
                      <a:pPr algn="l"/>
                      <a:r>
                        <a:rPr sz="1200" b="1">
                          <a:solidFill>
                            <a:srgbClr val="1F2A44"/>
                          </a:solidFill>
                          <a:latin typeface="Calibri"/>
                        </a:rPr>
                        <a:t>Scripts per scripted day</a:t>
                      </a:r>
                    </a:p>
                  </a:txBody>
                  <a:tcPr marL="54864" marR="54864" marT="27432" marB="27432">
                    <a:solidFill>
                      <a:srgbClr val="E9ECF1"/>
                    </a:solidFill>
                  </a:tcPr>
                </a:tc>
                <a:tc>
                  <a:txBody>
                    <a:bodyPr wrap="square"/>
                    <a:lstStyle/>
                    <a:p>
                      <a:pPr algn="l"/>
                      <a:r>
                        <a:rPr sz="1200" b="1">
                          <a:solidFill>
                            <a:srgbClr val="1F2A44"/>
                          </a:solidFill>
                          <a:latin typeface="Calibri"/>
                        </a:rPr>
                        <a:t>Bulletin hours per scripted day</a:t>
                      </a:r>
                    </a:p>
                  </a:txBody>
                  <a:tcPr marL="54864" marR="54864" marT="27432" marB="27432">
                    <a:solidFill>
                      <a:srgbClr val="E9ECF1"/>
                    </a:solidFill>
                  </a:tcPr>
                </a:tc>
                <a:tc>
                  <a:txBody>
                    <a:bodyPr wrap="square"/>
                    <a:lstStyle/>
                    <a:p>
                      <a:pPr algn="l"/>
                      <a:r>
                        <a:rPr sz="1200" b="1">
                          <a:solidFill>
                            <a:srgbClr val="1F2A44"/>
                          </a:solidFill>
                          <a:latin typeface="Calibri"/>
                        </a:rPr>
                        <a:t>Characters</a:t>
                      </a:r>
                    </a:p>
                  </a:txBody>
                  <a:tcPr marL="54864" marR="54864" marT="27432" marB="27432">
                    <a:solidFill>
                      <a:srgbClr val="E9ECF1"/>
                    </a:solidFill>
                  </a:tcPr>
                </a:tc>
              </a:tr>
              <a:tr h="384048">
                <a:tc>
                  <a:txBody>
                    <a:bodyPr wrap="square"/>
                    <a:lstStyle/>
                    <a:p>
                      <a:pPr algn="l"/>
                      <a:r>
                        <a:rPr sz="1200" b="0">
                          <a:solidFill>
                            <a:srgbClr val="1F2A44"/>
                          </a:solidFill>
                          <a:latin typeface="Calibri"/>
                        </a:rPr>
                        <a:t>Bahari FM</a:t>
                      </a:r>
                    </a:p>
                  </a:txBody>
                  <a:tcPr marL="54864" marR="54864" marT="27432" marB="27432">
                    <a:solidFill>
                      <a:srgbClr val="FFFFFF"/>
                    </a:solidFill>
                  </a:tcPr>
                </a:tc>
                <a:tc>
                  <a:txBody>
                    <a:bodyPr wrap="square"/>
                    <a:lstStyle/>
                    <a:p>
                      <a:pPr algn="l"/>
                      <a:r>
                        <a:rPr sz="1200" b="0">
                          <a:solidFill>
                            <a:srgbClr val="1F2A44"/>
                          </a:solidFill>
                          <a:latin typeface="Calibri"/>
                        </a:rPr>
                        <a:t>Kiswahili</a:t>
                      </a:r>
                    </a:p>
                  </a:txBody>
                  <a:tcPr marL="54864" marR="54864" marT="27432" marB="27432">
                    <a:solidFill>
                      <a:srgbClr val="FFFFFF"/>
                    </a:solidFill>
                  </a:tcPr>
                </a:tc>
                <a:tc>
                  <a:txBody>
                    <a:bodyPr wrap="square"/>
                    <a:lstStyle/>
                    <a:p>
                      <a:pPr algn="r"/>
                      <a:r>
                        <a:rPr sz="1200" b="0">
                          <a:solidFill>
                            <a:srgbClr val="1F2A44"/>
                          </a:solidFill>
                          <a:latin typeface="Courier New"/>
                        </a:rPr>
                        <a:t>16177</a:t>
                      </a:r>
                    </a:p>
                  </a:txBody>
                  <a:tcPr marL="54864" marR="54864" marT="27432" marB="27432">
                    <a:solidFill>
                      <a:srgbClr val="FFFFFF"/>
                    </a:solidFill>
                  </a:tcPr>
                </a:tc>
                <a:tc>
                  <a:txBody>
                    <a:bodyPr wrap="square"/>
                    <a:lstStyle/>
                    <a:p>
                      <a:pPr algn="r"/>
                      <a:r>
                        <a:rPr sz="1200" b="0">
                          <a:solidFill>
                            <a:srgbClr val="1F2A44"/>
                          </a:solidFill>
                          <a:latin typeface="Courier New"/>
                        </a:rPr>
                        <a:t>222</a:t>
                      </a:r>
                    </a:p>
                  </a:txBody>
                  <a:tcPr marL="54864" marR="54864" marT="27432" marB="27432">
                    <a:solidFill>
                      <a:srgbClr val="FFFFFF"/>
                    </a:solidFill>
                  </a:tcPr>
                </a:tc>
                <a:tc>
                  <a:txBody>
                    <a:bodyPr wrap="square"/>
                    <a:lstStyle/>
                    <a:p>
                      <a:pPr algn="r"/>
                      <a:r>
                        <a:rPr sz="1200" b="0">
                          <a:solidFill>
                            <a:srgbClr val="1F2A44"/>
                          </a:solidFill>
                          <a:latin typeface="Courier New"/>
                        </a:rPr>
                        <a:t>77.55</a:t>
                      </a:r>
                    </a:p>
                  </a:txBody>
                  <a:tcPr marL="54864" marR="54864" marT="27432" marB="27432">
                    <a:solidFill>
                      <a:srgbClr val="FFFFFF"/>
                    </a:solidFill>
                  </a:tcPr>
                </a:tc>
                <a:tc>
                  <a:txBody>
                    <a:bodyPr wrap="square"/>
                    <a:lstStyle/>
                    <a:p>
                      <a:pPr algn="r"/>
                      <a:r>
                        <a:rPr sz="1200" b="0">
                          <a:solidFill>
                            <a:srgbClr val="1F2A44"/>
                          </a:solidFill>
                          <a:latin typeface="Courier New"/>
                        </a:rPr>
                        <a:t>16.8</a:t>
                      </a:r>
                    </a:p>
                  </a:txBody>
                  <a:tcPr marL="54864" marR="54864" marT="27432" marB="27432">
                    <a:solidFill>
                      <a:srgbClr val="FFFFFF"/>
                    </a:solidFill>
                  </a:tcPr>
                </a:tc>
                <a:tc>
                  <a:txBody>
                    <a:bodyPr wrap="square"/>
                    <a:lstStyle/>
                    <a:p>
                      <a:pPr algn="r"/>
                      <a:r>
                        <a:rPr sz="1200" b="0">
                          <a:solidFill>
                            <a:srgbClr val="1F2A44"/>
                          </a:solidFill>
                          <a:latin typeface="Courier New"/>
                        </a:rPr>
                        <a:t>12789664</a:t>
                      </a:r>
                    </a:p>
                  </a:txBody>
                  <a:tcPr marL="54864" marR="54864" marT="27432" marB="27432">
                    <a:solidFill>
                      <a:srgbClr val="FFFFFF"/>
                    </a:solidFill>
                  </a:tcPr>
                </a:tc>
              </a:tr>
              <a:tr h="384048">
                <a:tc>
                  <a:txBody>
                    <a:bodyPr wrap="square"/>
                    <a:lstStyle/>
                    <a:p>
                      <a:pPr algn="l"/>
                      <a:r>
                        <a:rPr sz="1200" b="0">
                          <a:solidFill>
                            <a:srgbClr val="1F2A44"/>
                          </a:solidFill>
                          <a:latin typeface="Calibri"/>
                        </a:rPr>
                        <a:t>Inooro FM</a:t>
                      </a:r>
                    </a:p>
                  </a:txBody>
                  <a:tcPr marL="54864" marR="54864" marT="27432" marB="27432">
                    <a:solidFill>
                      <a:srgbClr val="FFFFFF"/>
                    </a:solidFill>
                  </a:tcPr>
                </a:tc>
                <a:tc>
                  <a:txBody>
                    <a:bodyPr wrap="square"/>
                    <a:lstStyle/>
                    <a:p>
                      <a:pPr algn="l"/>
                      <a:r>
                        <a:rPr sz="1200" b="0">
                          <a:solidFill>
                            <a:srgbClr val="1F2A44"/>
                          </a:solidFill>
                          <a:latin typeface="Calibri"/>
                        </a:rPr>
                        <a:t>Kikuyu</a:t>
                      </a:r>
                    </a:p>
                  </a:txBody>
                  <a:tcPr marL="54864" marR="54864" marT="27432" marB="27432">
                    <a:solidFill>
                      <a:srgbClr val="FFFFFF"/>
                    </a:solidFill>
                  </a:tcPr>
                </a:tc>
                <a:tc>
                  <a:txBody>
                    <a:bodyPr wrap="square"/>
                    <a:lstStyle/>
                    <a:p>
                      <a:pPr algn="r"/>
                      <a:r>
                        <a:rPr sz="1200" b="0">
                          <a:solidFill>
                            <a:srgbClr val="1F2A44"/>
                          </a:solidFill>
                          <a:latin typeface="Courier New"/>
                        </a:rPr>
                        <a:t>15376</a:t>
                      </a:r>
                    </a:p>
                  </a:txBody>
                  <a:tcPr marL="54864" marR="54864" marT="27432" marB="27432">
                    <a:solidFill>
                      <a:srgbClr val="FFFFFF"/>
                    </a:solidFill>
                  </a:tcPr>
                </a:tc>
                <a:tc>
                  <a:txBody>
                    <a:bodyPr wrap="square"/>
                    <a:lstStyle/>
                    <a:p>
                      <a:pPr algn="r"/>
                      <a:r>
                        <a:rPr sz="1200" b="0">
                          <a:solidFill>
                            <a:srgbClr val="1F2A44"/>
                          </a:solidFill>
                          <a:latin typeface="Courier New"/>
                        </a:rPr>
                        <a:t>209</a:t>
                      </a:r>
                    </a:p>
                  </a:txBody>
                  <a:tcPr marL="54864" marR="54864" marT="27432" marB="27432">
                    <a:solidFill>
                      <a:srgbClr val="FFFFFF"/>
                    </a:solidFill>
                  </a:tcPr>
                </a:tc>
                <a:tc>
                  <a:txBody>
                    <a:bodyPr wrap="square"/>
                    <a:lstStyle/>
                    <a:p>
                      <a:pPr algn="r"/>
                      <a:r>
                        <a:rPr sz="1200" b="0">
                          <a:solidFill>
                            <a:srgbClr val="1F2A44"/>
                          </a:solidFill>
                          <a:latin typeface="Courier New"/>
                        </a:rPr>
                        <a:t>75.0</a:t>
                      </a:r>
                    </a:p>
                  </a:txBody>
                  <a:tcPr marL="54864" marR="54864" marT="27432" marB="27432">
                    <a:solidFill>
                      <a:srgbClr val="FFFFFF"/>
                    </a:solidFill>
                  </a:tcPr>
                </a:tc>
                <a:tc>
                  <a:txBody>
                    <a:bodyPr wrap="square"/>
                    <a:lstStyle/>
                    <a:p>
                      <a:pPr algn="r"/>
                      <a:r>
                        <a:rPr sz="1200" b="0">
                          <a:solidFill>
                            <a:srgbClr val="1F2A44"/>
                          </a:solidFill>
                          <a:latin typeface="Courier New"/>
                        </a:rPr>
                        <a:t>15.03</a:t>
                      </a:r>
                    </a:p>
                  </a:txBody>
                  <a:tcPr marL="54864" marR="54864" marT="27432" marB="27432">
                    <a:solidFill>
                      <a:srgbClr val="FFFFFF"/>
                    </a:solidFill>
                  </a:tcPr>
                </a:tc>
                <a:tc>
                  <a:txBody>
                    <a:bodyPr wrap="square"/>
                    <a:lstStyle/>
                    <a:p>
                      <a:pPr algn="r"/>
                      <a:r>
                        <a:rPr sz="1200" b="0">
                          <a:solidFill>
                            <a:srgbClr val="1F2A44"/>
                          </a:solidFill>
                          <a:latin typeface="Courier New"/>
                        </a:rPr>
                        <a:t>11946715</a:t>
                      </a:r>
                    </a:p>
                  </a:txBody>
                  <a:tcPr marL="54864" marR="54864" marT="27432" marB="27432">
                    <a:solidFill>
                      <a:srgbClr val="FFFFFF"/>
                    </a:solidFill>
                  </a:tcPr>
                </a:tc>
              </a:tr>
              <a:tr h="384048">
                <a:tc>
                  <a:txBody>
                    <a:bodyPr wrap="square"/>
                    <a:lstStyle/>
                    <a:p>
                      <a:pPr algn="l"/>
                      <a:r>
                        <a:rPr sz="1200" b="0">
                          <a:solidFill>
                            <a:srgbClr val="1F2A44"/>
                          </a:solidFill>
                          <a:latin typeface="Calibri"/>
                        </a:rPr>
                        <a:t>Vuuka</a:t>
                      </a:r>
                    </a:p>
                  </a:txBody>
                  <a:tcPr marL="54864" marR="54864" marT="27432" marB="27432">
                    <a:solidFill>
                      <a:srgbClr val="FFFFFF"/>
                    </a:solidFill>
                  </a:tcPr>
                </a:tc>
                <a:tc>
                  <a:txBody>
                    <a:bodyPr wrap="square"/>
                    <a:lstStyle/>
                    <a:p>
                      <a:pPr algn="l"/>
                      <a:r>
                        <a:rPr sz="1200" b="0">
                          <a:solidFill>
                            <a:srgbClr val="1F2A44"/>
                          </a:solidFill>
                          <a:latin typeface="Calibri"/>
                        </a:rPr>
                        <a:t>Maragoli</a:t>
                      </a:r>
                    </a:p>
                  </a:txBody>
                  <a:tcPr marL="54864" marR="54864" marT="27432" marB="27432">
                    <a:solidFill>
                      <a:srgbClr val="FFFFFF"/>
                    </a:solidFill>
                  </a:tcPr>
                </a:tc>
                <a:tc>
                  <a:txBody>
                    <a:bodyPr wrap="square"/>
                    <a:lstStyle/>
                    <a:p>
                      <a:pPr algn="r"/>
                      <a:r>
                        <a:rPr sz="1200" b="0">
                          <a:solidFill>
                            <a:srgbClr val="1F2A44"/>
                          </a:solidFill>
                          <a:latin typeface="Courier New"/>
                        </a:rPr>
                        <a:t>15336</a:t>
                      </a:r>
                    </a:p>
                  </a:txBody>
                  <a:tcPr marL="54864" marR="54864" marT="27432" marB="27432">
                    <a:solidFill>
                      <a:srgbClr val="FFFFFF"/>
                    </a:solidFill>
                  </a:tcPr>
                </a:tc>
                <a:tc>
                  <a:txBody>
                    <a:bodyPr wrap="square"/>
                    <a:lstStyle/>
                    <a:p>
                      <a:pPr algn="r"/>
                      <a:r>
                        <a:rPr sz="1200" b="0">
                          <a:solidFill>
                            <a:srgbClr val="1F2A44"/>
                          </a:solidFill>
                          <a:latin typeface="Courier New"/>
                        </a:rPr>
                        <a:t>222</a:t>
                      </a:r>
                    </a:p>
                  </a:txBody>
                  <a:tcPr marL="54864" marR="54864" marT="27432" marB="27432">
                    <a:solidFill>
                      <a:srgbClr val="FFFFFF"/>
                    </a:solidFill>
                  </a:tcPr>
                </a:tc>
                <a:tc>
                  <a:txBody>
                    <a:bodyPr wrap="square"/>
                    <a:lstStyle/>
                    <a:p>
                      <a:pPr algn="r"/>
                      <a:r>
                        <a:rPr sz="1200" b="0">
                          <a:solidFill>
                            <a:srgbClr val="1F2A44"/>
                          </a:solidFill>
                          <a:latin typeface="Courier New"/>
                        </a:rPr>
                        <a:t>70.78</a:t>
                      </a:r>
                    </a:p>
                  </a:txBody>
                  <a:tcPr marL="54864" marR="54864" marT="27432" marB="27432">
                    <a:solidFill>
                      <a:srgbClr val="FFFFFF"/>
                    </a:solidFill>
                  </a:tcPr>
                </a:tc>
                <a:tc>
                  <a:txBody>
                    <a:bodyPr wrap="square"/>
                    <a:lstStyle/>
                    <a:p>
                      <a:pPr algn="r"/>
                      <a:r>
                        <a:rPr sz="1200" b="0">
                          <a:solidFill>
                            <a:srgbClr val="1F2A44"/>
                          </a:solidFill>
                          <a:latin typeface="Courier New"/>
                        </a:rPr>
                        <a:t>14.51</a:t>
                      </a:r>
                    </a:p>
                  </a:txBody>
                  <a:tcPr marL="54864" marR="54864" marT="27432" marB="27432">
                    <a:solidFill>
                      <a:srgbClr val="FFFFFF"/>
                    </a:solidFill>
                  </a:tcPr>
                </a:tc>
                <a:tc>
                  <a:txBody>
                    <a:bodyPr wrap="square"/>
                    <a:lstStyle/>
                    <a:p>
                      <a:pPr algn="r"/>
                      <a:r>
                        <a:rPr sz="1200" b="0">
                          <a:solidFill>
                            <a:srgbClr val="1F2A44"/>
                          </a:solidFill>
                          <a:latin typeface="Courier New"/>
                        </a:rPr>
                        <a:t>12773790</a:t>
                      </a:r>
                    </a:p>
                  </a:txBody>
                  <a:tcPr marL="54864" marR="54864" marT="27432" marB="27432">
                    <a:solidFill>
                      <a:srgbClr val="FFFFFF"/>
                    </a:solidFill>
                  </a:tcPr>
                </a:tc>
              </a:tr>
              <a:tr h="384048">
                <a:tc>
                  <a:txBody>
                    <a:bodyPr wrap="square"/>
                    <a:lstStyle/>
                    <a:p>
                      <a:pPr algn="l"/>
                      <a:r>
                        <a:rPr sz="1200" b="0">
                          <a:solidFill>
                            <a:srgbClr val="1F2A44"/>
                          </a:solidFill>
                          <a:latin typeface="Calibri"/>
                        </a:rPr>
                        <a:t>Ramogi FM</a:t>
                      </a:r>
                    </a:p>
                  </a:txBody>
                  <a:tcPr marL="54864" marR="54864" marT="27432" marB="27432">
                    <a:solidFill>
                      <a:srgbClr val="FFFFFF"/>
                    </a:solidFill>
                  </a:tcPr>
                </a:tc>
                <a:tc>
                  <a:txBody>
                    <a:bodyPr wrap="square"/>
                    <a:lstStyle/>
                    <a:p>
                      <a:pPr algn="l"/>
                      <a:r>
                        <a:rPr sz="1200" b="0">
                          <a:solidFill>
                            <a:srgbClr val="1F2A44"/>
                          </a:solidFill>
                          <a:latin typeface="Calibri"/>
                        </a:rPr>
                        <a:t>Luo</a:t>
                      </a:r>
                    </a:p>
                  </a:txBody>
                  <a:tcPr marL="54864" marR="54864" marT="27432" marB="27432">
                    <a:solidFill>
                      <a:srgbClr val="FFFFFF"/>
                    </a:solidFill>
                  </a:tcPr>
                </a:tc>
                <a:tc>
                  <a:txBody>
                    <a:bodyPr wrap="square"/>
                    <a:lstStyle/>
                    <a:p>
                      <a:pPr algn="r"/>
                      <a:r>
                        <a:rPr sz="1200" b="0">
                          <a:solidFill>
                            <a:srgbClr val="1F2A44"/>
                          </a:solidFill>
                          <a:latin typeface="Courier New"/>
                        </a:rPr>
                        <a:t>8013</a:t>
                      </a:r>
                    </a:p>
                  </a:txBody>
                  <a:tcPr marL="54864" marR="54864" marT="27432" marB="27432">
                    <a:solidFill>
                      <a:srgbClr val="FFFFFF"/>
                    </a:solidFill>
                  </a:tcPr>
                </a:tc>
                <a:tc>
                  <a:txBody>
                    <a:bodyPr wrap="square"/>
                    <a:lstStyle/>
                    <a:p>
                      <a:pPr algn="r"/>
                      <a:r>
                        <a:rPr sz="1200" b="0">
                          <a:solidFill>
                            <a:srgbClr val="1F2A44"/>
                          </a:solidFill>
                          <a:latin typeface="Courier New"/>
                        </a:rPr>
                        <a:t>222</a:t>
                      </a:r>
                    </a:p>
                  </a:txBody>
                  <a:tcPr marL="54864" marR="54864" marT="27432" marB="27432">
                    <a:solidFill>
                      <a:srgbClr val="FFFFFF"/>
                    </a:solidFill>
                  </a:tcPr>
                </a:tc>
                <a:tc>
                  <a:txBody>
                    <a:bodyPr wrap="square"/>
                    <a:lstStyle/>
                    <a:p>
                      <a:pPr algn="r"/>
                      <a:r>
                        <a:rPr sz="1200" b="0">
                          <a:solidFill>
                            <a:srgbClr val="1F2A44"/>
                          </a:solidFill>
                          <a:latin typeface="Courier New"/>
                        </a:rPr>
                        <a:t>39.8</a:t>
                      </a:r>
                    </a:p>
                  </a:txBody>
                  <a:tcPr marL="54864" marR="54864" marT="27432" marB="27432">
                    <a:solidFill>
                      <a:srgbClr val="FFFFFF"/>
                    </a:solidFill>
                  </a:tcPr>
                </a:tc>
                <a:tc>
                  <a:txBody>
                    <a:bodyPr wrap="square"/>
                    <a:lstStyle/>
                    <a:p>
                      <a:pPr algn="r"/>
                      <a:r>
                        <a:rPr sz="1200" b="0">
                          <a:solidFill>
                            <a:srgbClr val="1F2A44"/>
                          </a:solidFill>
                          <a:latin typeface="Courier New"/>
                        </a:rPr>
                        <a:t>6.98</a:t>
                      </a:r>
                    </a:p>
                  </a:txBody>
                  <a:tcPr marL="54864" marR="54864" marT="27432" marB="27432">
                    <a:solidFill>
                      <a:srgbClr val="FFFFFF"/>
                    </a:solidFill>
                  </a:tcPr>
                </a:tc>
                <a:tc>
                  <a:txBody>
                    <a:bodyPr wrap="square"/>
                    <a:lstStyle/>
                    <a:p>
                      <a:pPr algn="r"/>
                      <a:r>
                        <a:rPr sz="1200" b="0">
                          <a:solidFill>
                            <a:srgbClr val="1F2A44"/>
                          </a:solidFill>
                          <a:latin typeface="Courier New"/>
                        </a:rPr>
                        <a:t>8574493</a:t>
                      </a:r>
                    </a:p>
                  </a:txBody>
                  <a:tcPr marL="54864" marR="54864" marT="27432" marB="27432">
                    <a:solidFill>
                      <a:srgbClr val="FFFFFF"/>
                    </a:solidFill>
                  </a:tcPr>
                </a:tc>
              </a:tr>
              <a:tr h="384048">
                <a:tc>
                  <a:txBody>
                    <a:bodyPr wrap="square"/>
                    <a:lstStyle/>
                    <a:p>
                      <a:pPr algn="l"/>
                      <a:r>
                        <a:rPr sz="1200" b="0">
                          <a:solidFill>
                            <a:srgbClr val="1F2A44"/>
                          </a:solidFill>
                          <a:latin typeface="Calibri"/>
                        </a:rPr>
                        <a:t>unassigned hour</a:t>
                      </a:r>
                    </a:p>
                  </a:txBody>
                  <a:tcPr marL="54864" marR="54864" marT="27432" marB="27432">
                    <a:solidFill>
                      <a:srgbClr val="FFFFFF"/>
                    </a:solidFill>
                  </a:tcPr>
                </a:tc>
                <a:tc>
                  <a:txBody>
                    <a:bodyPr wrap="square"/>
                    <a:lstStyle/>
                    <a:p>
                      <a:pPr algn="l"/>
                      <a:r>
                        <a:rPr sz="1200" b="0">
                          <a:solidFill>
                            <a:srgbClr val="1F2A44"/>
                          </a:solidFill>
                          <a:latin typeface="Calibri"/>
                        </a:rPr>
                        <a:t>—</a:t>
                      </a:r>
                    </a:p>
                  </a:txBody>
                  <a:tcPr marL="54864" marR="54864" marT="27432" marB="27432">
                    <a:solidFill>
                      <a:srgbClr val="FFFFFF"/>
                    </a:solidFill>
                  </a:tcPr>
                </a:tc>
                <a:tc>
                  <a:txBody>
                    <a:bodyPr wrap="square"/>
                    <a:lstStyle/>
                    <a:p>
                      <a:pPr algn="r"/>
                      <a:r>
                        <a:rPr sz="1200" b="0">
                          <a:solidFill>
                            <a:srgbClr val="1F2A44"/>
                          </a:solidFill>
                          <a:latin typeface="Courier New"/>
                        </a:rPr>
                        <a:t>518</a:t>
                      </a:r>
                    </a:p>
                  </a:txBody>
                  <a:tcPr marL="54864" marR="54864" marT="27432" marB="27432">
                    <a:solidFill>
                      <a:srgbClr val="FFFFFF"/>
                    </a:solidFill>
                  </a:tcPr>
                </a:tc>
                <a:tc>
                  <a:txBody>
                    <a:bodyPr wrap="square"/>
                    <a:lstStyle/>
                    <a:p>
                      <a:pPr algn="r"/>
                      <a:r>
                        <a:rPr sz="1200" b="0">
                          <a:solidFill>
                            <a:srgbClr val="1F2A44"/>
                          </a:solidFill>
                          <a:latin typeface="Courier New"/>
                        </a:rPr>
                        <a:t>31</a:t>
                      </a:r>
                    </a:p>
                  </a:txBody>
                  <a:tcPr marL="54864" marR="54864" marT="27432" marB="27432">
                    <a:solidFill>
                      <a:srgbClr val="FFFFFF"/>
                    </a:solidFill>
                  </a:tcPr>
                </a:tc>
                <a:tc>
                  <a:txBody>
                    <a:bodyPr wrap="square"/>
                    <a:lstStyle/>
                    <a:p>
                      <a:pPr algn="r"/>
                      <a:r>
                        <a:rPr sz="1200" b="0">
                          <a:solidFill>
                            <a:srgbClr val="1F2A44"/>
                          </a:solidFill>
                          <a:latin typeface="Courier New"/>
                        </a:rPr>
                        <a:t>17.55</a:t>
                      </a:r>
                    </a:p>
                  </a:txBody>
                  <a:tcPr marL="54864" marR="54864" marT="27432" marB="27432">
                    <a:solidFill>
                      <a:srgbClr val="FFFFFF"/>
                    </a:solidFill>
                  </a:tcPr>
                </a:tc>
                <a:tc>
                  <a:txBody>
                    <a:bodyPr wrap="square"/>
                    <a:lstStyle/>
                    <a:p>
                      <a:pPr algn="r"/>
                      <a:r>
                        <a:rPr sz="1200" b="0">
                          <a:solidFill>
                            <a:srgbClr val="1F2A44"/>
                          </a:solidFill>
                          <a:latin typeface="Courier New"/>
                        </a:rPr>
                        <a:t>3.65</a:t>
                      </a:r>
                    </a:p>
                  </a:txBody>
                  <a:tcPr marL="54864" marR="54864" marT="27432" marB="27432">
                    <a:solidFill>
                      <a:srgbClr val="FFFFFF"/>
                    </a:solidFill>
                  </a:tcPr>
                </a:tc>
                <a:tc>
                  <a:txBody>
                    <a:bodyPr wrap="square"/>
                    <a:lstStyle/>
                    <a:p>
                      <a:pPr algn="r"/>
                      <a:r>
                        <a:rPr sz="1200" b="0">
                          <a:solidFill>
                            <a:srgbClr val="1F2A44"/>
                          </a:solidFill>
                          <a:latin typeface="Courier New"/>
                        </a:rPr>
                        <a:t>481289</a:t>
                      </a:r>
                    </a:p>
                  </a:txBody>
                  <a:tcPr marL="54864" marR="54864" marT="27432" marB="2743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C8102E"/>
                </a:solidFill>
                <a:latin typeface="Calibri"/>
              </a:rPr>
              <a:t>A scripted day is a calendar date with at least one script for the station; bulletin hours are the distinct hour slots scripted that day.</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[measured]  Receipt R08: Aggregate-only database reading etx-81e10befe6e0: news_vault.stories (script, title, date, hour_id) → news_vault.hours (station_id, time, type_id) → news_vault.stations (name); news_vault.news (2022 bulletins); local.uploaded_files (language_id, audio_length, status) ← local.transcripts (file_id, start_time, end_time, transcript) ; local.folder_languages (Language, code, station)</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EVIDENCE BY NAME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Transcripts by language folder — read by the served text language model</a:t>
            </a:r>
          </a:p>
        </p:txBody>
      </p:sp>
      <p:graphicFrame>
        <p:nvGraphicFramePr>
          <p:cNvPr id="4" name="Table 3"/>
          <p:cNvGraphicFramePr>
            <a:graphicFrameLocks noGrp="1"/>
          </p:cNvGraphicFramePr>
          <p:nvPr/>
        </p:nvGraphicFramePr>
        <p:xfrm>
          <a:off x="594360" y="1920240"/>
          <a:ext cx="11002971" cy="3017520"/>
        </p:xfrm>
        <a:graphic>
          <a:graphicData uri="http://schemas.openxmlformats.org/drawingml/2006/table">
            <a:tbl>
              <a:tblPr firstRow="1" bandRow="1">
                <a:tableStyleId>{5C22544A-7EE6-4342-B048-85BDC9FD1C3A}</a:tableStyleId>
              </a:tblPr>
              <a:tblGrid>
                <a:gridCol w="1645304"/>
                <a:gridCol w="1645304"/>
                <a:gridCol w="1439641"/>
                <a:gridCol w="1439641"/>
                <a:gridCol w="1850967"/>
                <a:gridCol w="2982114"/>
              </a:tblGrid>
              <a:tr h="377190">
                <a:tc>
                  <a:txBody>
                    <a:bodyPr wrap="square"/>
                    <a:lstStyle/>
                    <a:p>
                      <a:pPr algn="l"/>
                      <a:r>
                        <a:rPr sz="1100" b="1">
                          <a:solidFill>
                            <a:srgbClr val="1F2A44"/>
                          </a:solidFill>
                          <a:latin typeface="Calibri"/>
                        </a:rPr>
                        <a:t>Language</a:t>
                      </a:r>
                    </a:p>
                  </a:txBody>
                  <a:tcPr marL="54864" marR="54864" marT="27432" marB="27432">
                    <a:solidFill>
                      <a:srgbClr val="E9ECF1"/>
                    </a:solidFill>
                  </a:tcPr>
                </a:tc>
                <a:tc>
                  <a:txBody>
                    <a:bodyPr wrap="square"/>
                    <a:lstStyle/>
                    <a:p>
                      <a:pPr algn="l"/>
                      <a:r>
                        <a:rPr sz="1100" b="1">
                          <a:solidFill>
                            <a:srgbClr val="1F2A44"/>
                          </a:solidFill>
                          <a:latin typeface="Calibri"/>
                        </a:rPr>
                        <a:t>Transcripts read</a:t>
                      </a:r>
                    </a:p>
                  </a:txBody>
                  <a:tcPr marL="54864" marR="54864" marT="27432" marB="27432">
                    <a:solidFill>
                      <a:srgbClr val="E9ECF1"/>
                    </a:solidFill>
                  </a:tcPr>
                </a:tc>
                <a:tc>
                  <a:txBody>
                    <a:bodyPr wrap="square"/>
                    <a:lstStyle/>
                    <a:p>
                      <a:pPr algn="l"/>
                      <a:r>
                        <a:rPr sz="1100" b="1">
                          <a:solidFill>
                            <a:srgbClr val="1F2A44"/>
                          </a:solidFill>
                          <a:latin typeface="Calibri"/>
                        </a:rPr>
                        <a:t>Characters</a:t>
                      </a:r>
                    </a:p>
                  </a:txBody>
                  <a:tcPr marL="54864" marR="54864" marT="27432" marB="27432">
                    <a:solidFill>
                      <a:srgbClr val="E9ECF1"/>
                    </a:solidFill>
                  </a:tcPr>
                </a:tc>
                <a:tc>
                  <a:txBody>
                    <a:bodyPr wrap="square"/>
                    <a:lstStyle/>
                    <a:p>
                      <a:pPr algn="l"/>
                      <a:r>
                        <a:rPr sz="1100" b="1">
                          <a:solidFill>
                            <a:srgbClr val="1F2A44"/>
                          </a:solidFill>
                          <a:latin typeface="Calibri"/>
                        </a:rPr>
                        <a:t>Words</a:t>
                      </a:r>
                    </a:p>
                  </a:txBody>
                  <a:tcPr marL="54864" marR="54864" marT="27432" marB="27432">
                    <a:solidFill>
                      <a:srgbClr val="E9ECF1"/>
                    </a:solidFill>
                  </a:tcPr>
                </a:tc>
                <a:tc>
                  <a:txBody>
                    <a:bodyPr wrap="square"/>
                    <a:lstStyle/>
                    <a:p>
                      <a:pPr algn="l"/>
                      <a:r>
                        <a:rPr sz="1100" b="1">
                          <a:solidFill>
                            <a:srgbClr val="1F2A44"/>
                          </a:solidFill>
                          <a:latin typeface="Calibri"/>
                        </a:rPr>
                        <a:t>Agrees with folder</a:t>
                      </a:r>
                    </a:p>
                  </a:txBody>
                  <a:tcPr marL="54864" marR="54864" marT="27432" marB="27432">
                    <a:solidFill>
                      <a:srgbClr val="E9ECF1"/>
                    </a:solidFill>
                  </a:tcPr>
                </a:tc>
                <a:tc>
                  <a:txBody>
                    <a:bodyPr wrap="square"/>
                    <a:lstStyle/>
                    <a:p>
                      <a:pPr algn="l"/>
                      <a:r>
                        <a:rPr sz="1100" b="1">
                          <a:solidFill>
                            <a:srgbClr val="1F2A44"/>
                          </a:solidFill>
                          <a:latin typeface="Calibri"/>
                        </a:rPr>
                        <a:t>Files whose top label matches</a:t>
                      </a:r>
                    </a:p>
                  </a:txBody>
                  <a:tcPr marL="54864" marR="54864" marT="27432" marB="27432">
                    <a:solidFill>
                      <a:srgbClr val="E9ECF1"/>
                    </a:solidFill>
                  </a:tcPr>
                </a:tc>
              </a:tr>
              <a:tr h="377190">
                <a:tc>
                  <a:txBody>
                    <a:bodyPr wrap="square"/>
                    <a:lstStyle/>
                    <a:p>
                      <a:pPr algn="l"/>
                      <a:r>
                        <a:rPr sz="1100" b="0">
                          <a:solidFill>
                            <a:srgbClr val="1F2A44"/>
                          </a:solidFill>
                          <a:latin typeface="Calibri"/>
                        </a:rPr>
                        <a:t>Ekegusii (Kisii)</a:t>
                      </a:r>
                    </a:p>
                  </a:txBody>
                  <a:tcPr marL="54864" marR="54864" marT="27432" marB="27432">
                    <a:solidFill>
                      <a:srgbClr val="FFFFFF"/>
                    </a:solidFill>
                  </a:tcPr>
                </a:tc>
                <a:tc>
                  <a:txBody>
                    <a:bodyPr wrap="square"/>
                    <a:lstStyle/>
                    <a:p>
                      <a:pPr algn="r"/>
                      <a:r>
                        <a:rPr sz="1100" b="0">
                          <a:solidFill>
                            <a:srgbClr val="1F2A44"/>
                          </a:solidFill>
                          <a:latin typeface="Courier New"/>
                        </a:rPr>
                        <a:t>698</a:t>
                      </a:r>
                    </a:p>
                  </a:txBody>
                  <a:tcPr marL="54864" marR="54864" marT="27432" marB="27432">
                    <a:solidFill>
                      <a:srgbClr val="FFFFFF"/>
                    </a:solidFill>
                  </a:tcPr>
                </a:tc>
                <a:tc>
                  <a:txBody>
                    <a:bodyPr wrap="square"/>
                    <a:lstStyle/>
                    <a:p>
                      <a:pPr algn="r"/>
                      <a:r>
                        <a:rPr sz="1100" b="0">
                          <a:solidFill>
                            <a:srgbClr val="1F2A44"/>
                          </a:solidFill>
                          <a:latin typeface="Courier New"/>
                        </a:rPr>
                        <a:t>4474462</a:t>
                      </a:r>
                    </a:p>
                  </a:txBody>
                  <a:tcPr marL="54864" marR="54864" marT="27432" marB="27432">
                    <a:solidFill>
                      <a:srgbClr val="FFFFFF"/>
                    </a:solidFill>
                  </a:tcPr>
                </a:tc>
                <a:tc>
                  <a:txBody>
                    <a:bodyPr wrap="square"/>
                    <a:lstStyle/>
                    <a:p>
                      <a:pPr algn="r"/>
                      <a:r>
                        <a:rPr sz="1100" b="0">
                          <a:solidFill>
                            <a:srgbClr val="1F2A44"/>
                          </a:solidFill>
                          <a:latin typeface="Courier New"/>
                        </a:rPr>
                        <a:t>638478</a:t>
                      </a:r>
                    </a:p>
                  </a:txBody>
                  <a:tcPr marL="54864" marR="54864" marT="27432" marB="27432">
                    <a:solidFill>
                      <a:srgbClr val="FFFFFF"/>
                    </a:solidFill>
                  </a:tcPr>
                </a:tc>
                <a:tc>
                  <a:txBody>
                    <a:bodyPr wrap="square"/>
                    <a:lstStyle/>
                    <a:p>
                      <a:pPr algn="r"/>
                      <a:r>
                        <a:rPr sz="1100" b="0">
                          <a:solidFill>
                            <a:srgbClr val="1F2A44"/>
                          </a:solidFill>
                          <a:latin typeface="Courier New"/>
                        </a:rPr>
                        <a:t>99.6%</a:t>
                      </a:r>
                    </a:p>
                  </a:txBody>
                  <a:tcPr marL="54864" marR="54864" marT="27432" marB="27432">
                    <a:solidFill>
                      <a:srgbClr val="FFFFFF"/>
                    </a:solidFill>
                  </a:tcPr>
                </a:tc>
                <a:tc>
                  <a:txBody>
                    <a:bodyPr wrap="square"/>
                    <a:lstStyle/>
                    <a:p>
                      <a:pPr algn="r"/>
                      <a:r>
                        <a:rPr sz="1100" b="0">
                          <a:solidFill>
                            <a:srgbClr val="1F2A44"/>
                          </a:solidFill>
                          <a:latin typeface="Courier New"/>
                        </a:rPr>
                        <a:t>697</a:t>
                      </a:r>
                    </a:p>
                  </a:txBody>
                  <a:tcPr marL="54864" marR="54864" marT="27432" marB="27432">
                    <a:solidFill>
                      <a:srgbClr val="FFFFFF"/>
                    </a:solidFill>
                  </a:tcPr>
                </a:tc>
              </a:tr>
              <a:tr h="377190">
                <a:tc>
                  <a:txBody>
                    <a:bodyPr wrap="square"/>
                    <a:lstStyle/>
                    <a:p>
                      <a:pPr algn="l"/>
                      <a:r>
                        <a:rPr sz="1100" b="0">
                          <a:solidFill>
                            <a:srgbClr val="1F2A44"/>
                          </a:solidFill>
                          <a:latin typeface="Calibri"/>
                        </a:rPr>
                        <a:t>Gikuyu (Kikuyu)</a:t>
                      </a:r>
                    </a:p>
                  </a:txBody>
                  <a:tcPr marL="54864" marR="54864" marT="27432" marB="27432">
                    <a:solidFill>
                      <a:srgbClr val="FFFFFF"/>
                    </a:solidFill>
                  </a:tcPr>
                </a:tc>
                <a:tc>
                  <a:txBody>
                    <a:bodyPr wrap="square"/>
                    <a:lstStyle/>
                    <a:p>
                      <a:pPr algn="r"/>
                      <a:r>
                        <a:rPr sz="1100" b="0">
                          <a:solidFill>
                            <a:srgbClr val="1F2A44"/>
                          </a:solidFill>
                          <a:latin typeface="Courier New"/>
                        </a:rPr>
                        <a:t>298</a:t>
                      </a:r>
                    </a:p>
                  </a:txBody>
                  <a:tcPr marL="54864" marR="54864" marT="27432" marB="27432">
                    <a:solidFill>
                      <a:srgbClr val="FFFFFF"/>
                    </a:solidFill>
                  </a:tcPr>
                </a:tc>
                <a:tc>
                  <a:txBody>
                    <a:bodyPr wrap="square"/>
                    <a:lstStyle/>
                    <a:p>
                      <a:pPr algn="r"/>
                      <a:r>
                        <a:rPr sz="1100" b="0">
                          <a:solidFill>
                            <a:srgbClr val="1F2A44"/>
                          </a:solidFill>
                          <a:latin typeface="Courier New"/>
                        </a:rPr>
                        <a:t>1767236</a:t>
                      </a:r>
                    </a:p>
                  </a:txBody>
                  <a:tcPr marL="54864" marR="54864" marT="27432" marB="27432">
                    <a:solidFill>
                      <a:srgbClr val="FFFFFF"/>
                    </a:solidFill>
                  </a:tcPr>
                </a:tc>
                <a:tc>
                  <a:txBody>
                    <a:bodyPr wrap="square"/>
                    <a:lstStyle/>
                    <a:p>
                      <a:pPr algn="r"/>
                      <a:r>
                        <a:rPr sz="1100" b="0">
                          <a:solidFill>
                            <a:srgbClr val="1F2A44"/>
                          </a:solidFill>
                          <a:latin typeface="Courier New"/>
                        </a:rPr>
                        <a:t>272741</a:t>
                      </a:r>
                    </a:p>
                  </a:txBody>
                  <a:tcPr marL="54864" marR="54864" marT="27432" marB="27432">
                    <a:solidFill>
                      <a:srgbClr val="FFFFFF"/>
                    </a:solidFill>
                  </a:tcPr>
                </a:tc>
                <a:tc>
                  <a:txBody>
                    <a:bodyPr wrap="square"/>
                    <a:lstStyle/>
                    <a:p>
                      <a:pPr algn="r"/>
                      <a:r>
                        <a:rPr sz="1100" b="0">
                          <a:solidFill>
                            <a:srgbClr val="1F2A44"/>
                          </a:solidFill>
                          <a:latin typeface="Courier New"/>
                        </a:rPr>
                        <a:t>99.3%</a:t>
                      </a:r>
                    </a:p>
                  </a:txBody>
                  <a:tcPr marL="54864" marR="54864" marT="27432" marB="27432">
                    <a:solidFill>
                      <a:srgbClr val="FFFFFF"/>
                    </a:solidFill>
                  </a:tcPr>
                </a:tc>
                <a:tc>
                  <a:txBody>
                    <a:bodyPr wrap="square"/>
                    <a:lstStyle/>
                    <a:p>
                      <a:pPr algn="r"/>
                      <a:r>
                        <a:rPr sz="1100" b="0">
                          <a:solidFill>
                            <a:srgbClr val="1F2A44"/>
                          </a:solidFill>
                          <a:latin typeface="Courier New"/>
                        </a:rPr>
                        <a:t>296</a:t>
                      </a:r>
                    </a:p>
                  </a:txBody>
                  <a:tcPr marL="54864" marR="54864" marT="27432" marB="27432">
                    <a:solidFill>
                      <a:srgbClr val="FFFFFF"/>
                    </a:solidFill>
                  </a:tcPr>
                </a:tc>
              </a:tr>
              <a:tr h="377190">
                <a:tc>
                  <a:txBody>
                    <a:bodyPr wrap="square"/>
                    <a:lstStyle/>
                    <a:p>
                      <a:pPr algn="l"/>
                      <a:r>
                        <a:rPr sz="1100" b="0">
                          <a:solidFill>
                            <a:srgbClr val="1F2A44"/>
                          </a:solidFill>
                          <a:latin typeface="Calibri"/>
                        </a:rPr>
                        <a:t>Dholuo (Luo)</a:t>
                      </a:r>
                    </a:p>
                  </a:txBody>
                  <a:tcPr marL="54864" marR="54864" marT="27432" marB="27432">
                    <a:solidFill>
                      <a:srgbClr val="FFFFFF"/>
                    </a:solidFill>
                  </a:tcPr>
                </a:tc>
                <a:tc>
                  <a:txBody>
                    <a:bodyPr wrap="square"/>
                    <a:lstStyle/>
                    <a:p>
                      <a:pPr algn="r"/>
                      <a:r>
                        <a:rPr sz="1100" b="0">
                          <a:solidFill>
                            <a:srgbClr val="1F2A44"/>
                          </a:solidFill>
                          <a:latin typeface="Courier New"/>
                        </a:rPr>
                        <a:t>298</a:t>
                      </a:r>
                    </a:p>
                  </a:txBody>
                  <a:tcPr marL="54864" marR="54864" marT="27432" marB="27432">
                    <a:solidFill>
                      <a:srgbClr val="FFFFFF"/>
                    </a:solidFill>
                  </a:tcPr>
                </a:tc>
                <a:tc>
                  <a:txBody>
                    <a:bodyPr wrap="square"/>
                    <a:lstStyle/>
                    <a:p>
                      <a:pPr algn="r"/>
                      <a:r>
                        <a:rPr sz="1100" b="0">
                          <a:solidFill>
                            <a:srgbClr val="1F2A44"/>
                          </a:solidFill>
                          <a:latin typeface="Courier New"/>
                        </a:rPr>
                        <a:t>2347383</a:t>
                      </a:r>
                    </a:p>
                  </a:txBody>
                  <a:tcPr marL="54864" marR="54864" marT="27432" marB="27432">
                    <a:solidFill>
                      <a:srgbClr val="FFFFFF"/>
                    </a:solidFill>
                  </a:tcPr>
                </a:tc>
                <a:tc>
                  <a:txBody>
                    <a:bodyPr wrap="square"/>
                    <a:lstStyle/>
                    <a:p>
                      <a:pPr algn="r"/>
                      <a:r>
                        <a:rPr sz="1100" b="0">
                          <a:solidFill>
                            <a:srgbClr val="1F2A44"/>
                          </a:solidFill>
                          <a:latin typeface="Courier New"/>
                        </a:rPr>
                        <a:t>417575</a:t>
                      </a:r>
                    </a:p>
                  </a:txBody>
                  <a:tcPr marL="54864" marR="54864" marT="27432" marB="27432">
                    <a:solidFill>
                      <a:srgbClr val="FFFFFF"/>
                    </a:solidFill>
                  </a:tcPr>
                </a:tc>
                <a:tc>
                  <a:txBody>
                    <a:bodyPr wrap="square"/>
                    <a:lstStyle/>
                    <a:p>
                      <a:pPr algn="r"/>
                      <a:r>
                        <a:rPr sz="1100" b="0">
                          <a:solidFill>
                            <a:srgbClr val="1F2A44"/>
                          </a:solidFill>
                          <a:latin typeface="Courier New"/>
                        </a:rPr>
                        <a:t>99.9%</a:t>
                      </a:r>
                    </a:p>
                  </a:txBody>
                  <a:tcPr marL="54864" marR="54864" marT="27432" marB="27432">
                    <a:solidFill>
                      <a:srgbClr val="FFFFFF"/>
                    </a:solidFill>
                  </a:tcPr>
                </a:tc>
                <a:tc>
                  <a:txBody>
                    <a:bodyPr wrap="square"/>
                    <a:lstStyle/>
                    <a:p>
                      <a:pPr algn="r"/>
                      <a:r>
                        <a:rPr sz="1100" b="0">
                          <a:solidFill>
                            <a:srgbClr val="1F2A44"/>
                          </a:solidFill>
                          <a:latin typeface="Courier New"/>
                        </a:rPr>
                        <a:t>298</a:t>
                      </a:r>
                    </a:p>
                  </a:txBody>
                  <a:tcPr marL="54864" marR="54864" marT="27432" marB="27432">
                    <a:solidFill>
                      <a:srgbClr val="FFFFFF"/>
                    </a:solidFill>
                  </a:tcPr>
                </a:tc>
              </a:tr>
              <a:tr h="377190">
                <a:tc>
                  <a:txBody>
                    <a:bodyPr wrap="square"/>
                    <a:lstStyle/>
                    <a:p>
                      <a:pPr algn="l"/>
                      <a:r>
                        <a:rPr sz="1100" b="0">
                          <a:solidFill>
                            <a:srgbClr val="1F2A44"/>
                          </a:solidFill>
                          <a:latin typeface="Calibri"/>
                        </a:rPr>
                        <a:t>Kiswahili</a:t>
                      </a:r>
                    </a:p>
                  </a:txBody>
                  <a:tcPr marL="54864" marR="54864" marT="27432" marB="27432">
                    <a:solidFill>
                      <a:srgbClr val="FFFFFF"/>
                    </a:solidFill>
                  </a:tcPr>
                </a:tc>
                <a:tc>
                  <a:txBody>
                    <a:bodyPr wrap="square"/>
                    <a:lstStyle/>
                    <a:p>
                      <a:pPr algn="r"/>
                      <a:r>
                        <a:rPr sz="1100" b="0">
                          <a:solidFill>
                            <a:srgbClr val="1F2A44"/>
                          </a:solidFill>
                          <a:latin typeface="Courier New"/>
                        </a:rPr>
                        <a:t>298</a:t>
                      </a:r>
                    </a:p>
                  </a:txBody>
                  <a:tcPr marL="54864" marR="54864" marT="27432" marB="27432">
                    <a:solidFill>
                      <a:srgbClr val="FFFFFF"/>
                    </a:solidFill>
                  </a:tcPr>
                </a:tc>
                <a:tc>
                  <a:txBody>
                    <a:bodyPr wrap="square"/>
                    <a:lstStyle/>
                    <a:p>
                      <a:pPr algn="r"/>
                      <a:r>
                        <a:rPr sz="1100" b="0">
                          <a:solidFill>
                            <a:srgbClr val="1F2A44"/>
                          </a:solidFill>
                          <a:latin typeface="Courier New"/>
                        </a:rPr>
                        <a:t>2599230</a:t>
                      </a:r>
                    </a:p>
                  </a:txBody>
                  <a:tcPr marL="54864" marR="54864" marT="27432" marB="27432">
                    <a:solidFill>
                      <a:srgbClr val="FFFFFF"/>
                    </a:solidFill>
                  </a:tcPr>
                </a:tc>
                <a:tc>
                  <a:txBody>
                    <a:bodyPr wrap="square"/>
                    <a:lstStyle/>
                    <a:p>
                      <a:pPr algn="r"/>
                      <a:r>
                        <a:rPr sz="1100" b="0">
                          <a:solidFill>
                            <a:srgbClr val="1F2A44"/>
                          </a:solidFill>
                          <a:latin typeface="Courier New"/>
                        </a:rPr>
                        <a:t>411682</a:t>
                      </a:r>
                    </a:p>
                  </a:txBody>
                  <a:tcPr marL="54864" marR="54864" marT="27432" marB="27432">
                    <a:solidFill>
                      <a:srgbClr val="FFFFFF"/>
                    </a:solidFill>
                  </a:tcPr>
                </a:tc>
                <a:tc>
                  <a:txBody>
                    <a:bodyPr wrap="square"/>
                    <a:lstStyle/>
                    <a:p>
                      <a:pPr algn="r"/>
                      <a:r>
                        <a:rPr sz="1100" b="0">
                          <a:solidFill>
                            <a:srgbClr val="1F2A44"/>
                          </a:solidFill>
                          <a:latin typeface="Courier New"/>
                        </a:rPr>
                        <a:t>99.6%</a:t>
                      </a:r>
                    </a:p>
                  </a:txBody>
                  <a:tcPr marL="54864" marR="54864" marT="27432" marB="27432">
                    <a:solidFill>
                      <a:srgbClr val="FFFFFF"/>
                    </a:solidFill>
                  </a:tcPr>
                </a:tc>
                <a:tc>
                  <a:txBody>
                    <a:bodyPr wrap="square"/>
                    <a:lstStyle/>
                    <a:p>
                      <a:pPr algn="r"/>
                      <a:r>
                        <a:rPr sz="1100" b="0">
                          <a:solidFill>
                            <a:srgbClr val="1F2A44"/>
                          </a:solidFill>
                          <a:latin typeface="Courier New"/>
                        </a:rPr>
                        <a:t>298</a:t>
                      </a:r>
                    </a:p>
                  </a:txBody>
                  <a:tcPr marL="54864" marR="54864" marT="27432" marB="27432">
                    <a:solidFill>
                      <a:srgbClr val="FFFFFF"/>
                    </a:solidFill>
                  </a:tcPr>
                </a:tc>
              </a:tr>
              <a:tr h="377190">
                <a:tc>
                  <a:txBody>
                    <a:bodyPr wrap="square"/>
                    <a:lstStyle/>
                    <a:p>
                      <a:pPr algn="l"/>
                      <a:r>
                        <a:rPr sz="1100" b="0">
                          <a:solidFill>
                            <a:srgbClr val="1F2A44"/>
                          </a:solidFill>
                          <a:latin typeface="Calibri"/>
                        </a:rPr>
                        <a:t>Kikamba (Kamba)</a:t>
                      </a:r>
                    </a:p>
                  </a:txBody>
                  <a:tcPr marL="54864" marR="54864" marT="27432" marB="27432">
                    <a:solidFill>
                      <a:srgbClr val="FFFFFF"/>
                    </a:solidFill>
                  </a:tcPr>
                </a:tc>
                <a:tc>
                  <a:txBody>
                    <a:bodyPr wrap="square"/>
                    <a:lstStyle/>
                    <a:p>
                      <a:pPr algn="r"/>
                      <a:r>
                        <a:rPr sz="1100" b="0">
                          <a:solidFill>
                            <a:srgbClr val="1F2A44"/>
                          </a:solidFill>
                          <a:latin typeface="Courier New"/>
                        </a:rPr>
                        <a:t>298</a:t>
                      </a:r>
                    </a:p>
                  </a:txBody>
                  <a:tcPr marL="54864" marR="54864" marT="27432" marB="27432">
                    <a:solidFill>
                      <a:srgbClr val="FFFFFF"/>
                    </a:solidFill>
                  </a:tcPr>
                </a:tc>
                <a:tc>
                  <a:txBody>
                    <a:bodyPr wrap="square"/>
                    <a:lstStyle/>
                    <a:p>
                      <a:pPr algn="r"/>
                      <a:r>
                        <a:rPr sz="1100" b="0">
                          <a:solidFill>
                            <a:srgbClr val="1F2A44"/>
                          </a:solidFill>
                          <a:latin typeface="Courier New"/>
                        </a:rPr>
                        <a:t>1058430</a:t>
                      </a:r>
                    </a:p>
                  </a:txBody>
                  <a:tcPr marL="54864" marR="54864" marT="27432" marB="27432">
                    <a:solidFill>
                      <a:srgbClr val="FFFFFF"/>
                    </a:solidFill>
                  </a:tcPr>
                </a:tc>
                <a:tc>
                  <a:txBody>
                    <a:bodyPr wrap="square"/>
                    <a:lstStyle/>
                    <a:p>
                      <a:pPr algn="r"/>
                      <a:r>
                        <a:rPr sz="1100" b="0">
                          <a:solidFill>
                            <a:srgbClr val="1F2A44"/>
                          </a:solidFill>
                          <a:latin typeface="Courier New"/>
                        </a:rPr>
                        <a:t>173388</a:t>
                      </a:r>
                    </a:p>
                  </a:txBody>
                  <a:tcPr marL="54864" marR="54864" marT="27432" marB="27432">
                    <a:solidFill>
                      <a:srgbClr val="FFFFFF"/>
                    </a:solidFill>
                  </a:tcPr>
                </a:tc>
                <a:tc>
                  <a:txBody>
                    <a:bodyPr wrap="square"/>
                    <a:lstStyle/>
                    <a:p>
                      <a:pPr algn="r"/>
                      <a:r>
                        <a:rPr sz="1100" b="0">
                          <a:solidFill>
                            <a:srgbClr val="1F2A44"/>
                          </a:solidFill>
                          <a:latin typeface="Courier New"/>
                        </a:rPr>
                        <a:t>99.7%</a:t>
                      </a:r>
                    </a:p>
                  </a:txBody>
                  <a:tcPr marL="54864" marR="54864" marT="27432" marB="27432">
                    <a:solidFill>
                      <a:srgbClr val="FFFFFF"/>
                    </a:solidFill>
                  </a:tcPr>
                </a:tc>
                <a:tc>
                  <a:txBody>
                    <a:bodyPr wrap="square"/>
                    <a:lstStyle/>
                    <a:p>
                      <a:pPr algn="r"/>
                      <a:r>
                        <a:rPr sz="1100" b="0">
                          <a:solidFill>
                            <a:srgbClr val="1F2A44"/>
                          </a:solidFill>
                          <a:latin typeface="Courier New"/>
                        </a:rPr>
                        <a:t>298</a:t>
                      </a:r>
                    </a:p>
                  </a:txBody>
                  <a:tcPr marL="54864" marR="54864" marT="27432" marB="27432">
                    <a:solidFill>
                      <a:srgbClr val="FFFFFF"/>
                    </a:solidFill>
                  </a:tcPr>
                </a:tc>
              </a:tr>
              <a:tr h="377190">
                <a:tc>
                  <a:txBody>
                    <a:bodyPr wrap="square"/>
                    <a:lstStyle/>
                    <a:p>
                      <a:pPr algn="l"/>
                      <a:r>
                        <a:rPr sz="1100" b="0">
                          <a:solidFill>
                            <a:srgbClr val="1F2A44"/>
                          </a:solidFill>
                          <a:latin typeface="Calibri"/>
                        </a:rPr>
                        <a:t>Kalenjin</a:t>
                      </a:r>
                    </a:p>
                  </a:txBody>
                  <a:tcPr marL="54864" marR="54864" marT="27432" marB="27432">
                    <a:solidFill>
                      <a:srgbClr val="FFFFFF"/>
                    </a:solidFill>
                  </a:tcPr>
                </a:tc>
                <a:tc>
                  <a:txBody>
                    <a:bodyPr wrap="square"/>
                    <a:lstStyle/>
                    <a:p>
                      <a:pPr algn="r"/>
                      <a:r>
                        <a:rPr sz="1100" b="0">
                          <a:solidFill>
                            <a:srgbClr val="1F2A44"/>
                          </a:solidFill>
                          <a:latin typeface="Courier New"/>
                        </a:rPr>
                        <a:t>295</a:t>
                      </a:r>
                    </a:p>
                  </a:txBody>
                  <a:tcPr marL="54864" marR="54864" marT="27432" marB="27432">
                    <a:solidFill>
                      <a:srgbClr val="FFFFFF"/>
                    </a:solidFill>
                  </a:tcPr>
                </a:tc>
                <a:tc>
                  <a:txBody>
                    <a:bodyPr wrap="square"/>
                    <a:lstStyle/>
                    <a:p>
                      <a:pPr algn="r"/>
                      <a:r>
                        <a:rPr sz="1100" b="0">
                          <a:solidFill>
                            <a:srgbClr val="1F2A44"/>
                          </a:solidFill>
                          <a:latin typeface="Courier New"/>
                        </a:rPr>
                        <a:t>4674494</a:t>
                      </a:r>
                    </a:p>
                  </a:txBody>
                  <a:tcPr marL="54864" marR="54864" marT="27432" marB="27432">
                    <a:solidFill>
                      <a:srgbClr val="FFFFFF"/>
                    </a:solidFill>
                  </a:tcPr>
                </a:tc>
                <a:tc>
                  <a:txBody>
                    <a:bodyPr wrap="square"/>
                    <a:lstStyle/>
                    <a:p>
                      <a:pPr algn="r"/>
                      <a:r>
                        <a:rPr sz="1100" b="0">
                          <a:solidFill>
                            <a:srgbClr val="1F2A44"/>
                          </a:solidFill>
                          <a:latin typeface="Courier New"/>
                        </a:rPr>
                        <a:t>747249</a:t>
                      </a:r>
                    </a:p>
                  </a:txBody>
                  <a:tcPr marL="54864" marR="54864" marT="27432" marB="27432">
                    <a:solidFill>
                      <a:srgbClr val="FFFFFF"/>
                    </a:solidFill>
                  </a:tcPr>
                </a:tc>
                <a:tc>
                  <a:txBody>
                    <a:bodyPr wrap="square"/>
                    <a:lstStyle/>
                    <a:p>
                      <a:pPr algn="r"/>
                      <a:r>
                        <a:rPr sz="1100" b="0">
                          <a:solidFill>
                            <a:srgbClr val="1F2A44"/>
                          </a:solidFill>
                          <a:latin typeface="Courier New"/>
                        </a:rPr>
                        <a:t>99.0%</a:t>
                      </a:r>
                    </a:p>
                  </a:txBody>
                  <a:tcPr marL="54864" marR="54864" marT="27432" marB="27432">
                    <a:solidFill>
                      <a:srgbClr val="FFFFFF"/>
                    </a:solidFill>
                  </a:tcPr>
                </a:tc>
                <a:tc>
                  <a:txBody>
                    <a:bodyPr wrap="square"/>
                    <a:lstStyle/>
                    <a:p>
                      <a:pPr algn="r"/>
                      <a:r>
                        <a:rPr sz="1100" b="0">
                          <a:solidFill>
                            <a:srgbClr val="1F2A44"/>
                          </a:solidFill>
                          <a:latin typeface="Courier New"/>
                        </a:rPr>
                        <a:t>290</a:t>
                      </a:r>
                    </a:p>
                  </a:txBody>
                  <a:tcPr marL="54864" marR="54864" marT="27432" marB="27432">
                    <a:solidFill>
                      <a:srgbClr val="FFFFFF"/>
                    </a:solidFill>
                  </a:tcPr>
                </a:tc>
              </a:tr>
              <a:tr h="377190">
                <a:tc>
                  <a:txBody>
                    <a:bodyPr wrap="square"/>
                    <a:lstStyle/>
                    <a:p>
                      <a:pPr algn="l"/>
                      <a:r>
                        <a:rPr sz="1100" b="0">
                          <a:solidFill>
                            <a:srgbClr val="1F2A44"/>
                          </a:solidFill>
                          <a:latin typeface="Calibri"/>
                        </a:rPr>
                        <a:t>Wanga (Luhya)</a:t>
                      </a:r>
                    </a:p>
                  </a:txBody>
                  <a:tcPr marL="54864" marR="54864" marT="27432" marB="27432">
                    <a:solidFill>
                      <a:srgbClr val="FFFFFF"/>
                    </a:solidFill>
                  </a:tcPr>
                </a:tc>
                <a:tc>
                  <a:txBody>
                    <a:bodyPr wrap="square"/>
                    <a:lstStyle/>
                    <a:p>
                      <a:pPr algn="r"/>
                      <a:r>
                        <a:rPr sz="1100" b="0">
                          <a:solidFill>
                            <a:srgbClr val="1F2A44"/>
                          </a:solidFill>
                          <a:latin typeface="Courier New"/>
                        </a:rPr>
                        <a:t>60</a:t>
                      </a:r>
                    </a:p>
                  </a:txBody>
                  <a:tcPr marL="54864" marR="54864" marT="27432" marB="27432">
                    <a:solidFill>
                      <a:srgbClr val="FFFFFF"/>
                    </a:solidFill>
                  </a:tcPr>
                </a:tc>
                <a:tc>
                  <a:txBody>
                    <a:bodyPr wrap="square"/>
                    <a:lstStyle/>
                    <a:p>
                      <a:pPr algn="r"/>
                      <a:r>
                        <a:rPr sz="1100" b="0">
                          <a:solidFill>
                            <a:srgbClr val="1F2A44"/>
                          </a:solidFill>
                          <a:latin typeface="Courier New"/>
                        </a:rPr>
                        <a:t>491139</a:t>
                      </a:r>
                    </a:p>
                  </a:txBody>
                  <a:tcPr marL="54864" marR="54864" marT="27432" marB="27432">
                    <a:solidFill>
                      <a:srgbClr val="FFFFFF"/>
                    </a:solidFill>
                  </a:tcPr>
                </a:tc>
                <a:tc>
                  <a:txBody>
                    <a:bodyPr wrap="square"/>
                    <a:lstStyle/>
                    <a:p>
                      <a:pPr algn="r"/>
                      <a:r>
                        <a:rPr sz="1100" b="0">
                          <a:solidFill>
                            <a:srgbClr val="1F2A44"/>
                          </a:solidFill>
                          <a:latin typeface="Courier New"/>
                        </a:rPr>
                        <a:t>73194</a:t>
                      </a:r>
                    </a:p>
                  </a:txBody>
                  <a:tcPr marL="54864" marR="54864" marT="27432" marB="27432">
                    <a:solidFill>
                      <a:srgbClr val="FFFFFF"/>
                    </a:solidFill>
                  </a:tcPr>
                </a:tc>
                <a:tc>
                  <a:txBody>
                    <a:bodyPr wrap="square"/>
                    <a:lstStyle/>
                    <a:p>
                      <a:pPr algn="r"/>
                      <a:r>
                        <a:rPr sz="1100" b="0">
                          <a:solidFill>
                            <a:srgbClr val="1F2A44"/>
                          </a:solidFill>
                          <a:latin typeface="Courier New"/>
                        </a:rPr>
                        <a:t>98.3%</a:t>
                      </a:r>
                    </a:p>
                  </a:txBody>
                  <a:tcPr marL="54864" marR="54864" marT="27432" marB="27432">
                    <a:solidFill>
                      <a:srgbClr val="FFFFFF"/>
                    </a:solidFill>
                  </a:tcPr>
                </a:tc>
                <a:tc>
                  <a:txBody>
                    <a:bodyPr wrap="square"/>
                    <a:lstStyle/>
                    <a:p>
                      <a:pPr algn="r"/>
                      <a:r>
                        <a:rPr sz="1100" b="0">
                          <a:solidFill>
                            <a:srgbClr val="1F2A44"/>
                          </a:solidFill>
                          <a:latin typeface="Courier New"/>
                        </a:rPr>
                        <a:t>59</a:t>
                      </a:r>
                    </a:p>
                  </a:txBody>
                  <a:tcPr marL="54864" marR="54864" marT="27432" marB="2743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C8102E"/>
                </a:solidFill>
                <a:latin typeface="Calibri"/>
              </a:rPr>
              <a:t>Passages of up to fifteen hundred characters were labelled by the admitted text model; agreement is the share of passages whose label matched the folder language.</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[measured]  Receipt R07: Served text language model m9j-74af7cef0a85 readings of the staged transcripts: jobs m9j-2d43ed6cf567, m9j-8cf6702f8718 (2,245 transcripts read, 3939 present)</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EVIDENCE BY NAME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Transcription workbench by language (local.uploaded_files, local.transcripts)</a:t>
            </a:r>
          </a:p>
        </p:txBody>
      </p:sp>
      <p:graphicFrame>
        <p:nvGraphicFramePr>
          <p:cNvPr id="4" name="Table 3"/>
          <p:cNvGraphicFramePr>
            <a:graphicFrameLocks noGrp="1"/>
          </p:cNvGraphicFramePr>
          <p:nvPr/>
        </p:nvGraphicFramePr>
        <p:xfrm>
          <a:off x="594360" y="1920240"/>
          <a:ext cx="11002971" cy="3017520"/>
        </p:xfrm>
        <a:graphic>
          <a:graphicData uri="http://schemas.openxmlformats.org/drawingml/2006/table">
            <a:tbl>
              <a:tblPr firstRow="1" bandRow="1">
                <a:tableStyleId>{5C22544A-7EE6-4342-B048-85BDC9FD1C3A}</a:tableStyleId>
              </a:tblPr>
              <a:tblGrid>
                <a:gridCol w="1674365"/>
                <a:gridCol w="1674365"/>
                <a:gridCol w="1674365"/>
                <a:gridCol w="1674365"/>
                <a:gridCol w="2272353"/>
                <a:gridCol w="2033158"/>
              </a:tblGrid>
              <a:tr h="301752">
                <a:tc>
                  <a:txBody>
                    <a:bodyPr wrap="square"/>
                    <a:lstStyle/>
                    <a:p>
                      <a:pPr algn="l"/>
                      <a:r>
                        <a:rPr sz="1100" b="1">
                          <a:solidFill>
                            <a:srgbClr val="1F2A44"/>
                          </a:solidFill>
                          <a:latin typeface="Calibri"/>
                        </a:rPr>
                        <a:t>Language</a:t>
                      </a:r>
                    </a:p>
                  </a:txBody>
                  <a:tcPr marL="54864" marR="54864" marT="27432" marB="27432">
                    <a:solidFill>
                      <a:srgbClr val="E9ECF1"/>
                    </a:solidFill>
                  </a:tcPr>
                </a:tc>
                <a:tc>
                  <a:txBody>
                    <a:bodyPr wrap="square"/>
                    <a:lstStyle/>
                    <a:p>
                      <a:pPr algn="l"/>
                      <a:r>
                        <a:rPr sz="1100" b="1">
                          <a:solidFill>
                            <a:srgbClr val="1F2A44"/>
                          </a:solidFill>
                          <a:latin typeface="Calibri"/>
                        </a:rPr>
                        <a:t>Station</a:t>
                      </a:r>
                    </a:p>
                  </a:txBody>
                  <a:tcPr marL="54864" marR="54864" marT="27432" marB="27432">
                    <a:solidFill>
                      <a:srgbClr val="E9ECF1"/>
                    </a:solidFill>
                  </a:tcPr>
                </a:tc>
                <a:tc>
                  <a:txBody>
                    <a:bodyPr wrap="square"/>
                    <a:lstStyle/>
                    <a:p>
                      <a:pPr algn="l"/>
                      <a:r>
                        <a:rPr sz="1100" b="1">
                          <a:solidFill>
                            <a:srgbClr val="1F2A44"/>
                          </a:solidFill>
                          <a:latin typeface="Calibri"/>
                        </a:rPr>
                        <a:t>Recordings</a:t>
                      </a:r>
                    </a:p>
                  </a:txBody>
                  <a:tcPr marL="54864" marR="54864" marT="27432" marB="27432">
                    <a:solidFill>
                      <a:srgbClr val="E9ECF1"/>
                    </a:solidFill>
                  </a:tcPr>
                </a:tc>
                <a:tc>
                  <a:txBody>
                    <a:bodyPr wrap="square"/>
                    <a:lstStyle/>
                    <a:p>
                      <a:pPr algn="l"/>
                      <a:r>
                        <a:rPr sz="1100" b="1">
                          <a:solidFill>
                            <a:srgbClr val="1F2A44"/>
                          </a:solidFill>
                          <a:latin typeface="Calibri"/>
                        </a:rPr>
                        <a:t>Audio hours</a:t>
                      </a:r>
                    </a:p>
                  </a:txBody>
                  <a:tcPr marL="54864" marR="54864" marT="27432" marB="27432">
                    <a:solidFill>
                      <a:srgbClr val="E9ECF1"/>
                    </a:solidFill>
                  </a:tcPr>
                </a:tc>
                <a:tc>
                  <a:txBody>
                    <a:bodyPr wrap="square"/>
                    <a:lstStyle/>
                    <a:p>
                      <a:pPr algn="l"/>
                      <a:r>
                        <a:rPr sz="1100" b="1">
                          <a:solidFill>
                            <a:srgbClr val="1F2A44"/>
                          </a:solidFill>
                          <a:latin typeface="Calibri"/>
                        </a:rPr>
                        <a:t>Transcript segments</a:t>
                      </a:r>
                    </a:p>
                  </a:txBody>
                  <a:tcPr marL="54864" marR="54864" marT="27432" marB="27432">
                    <a:solidFill>
                      <a:srgbClr val="E9ECF1"/>
                    </a:solidFill>
                  </a:tcPr>
                </a:tc>
                <a:tc>
                  <a:txBody>
                    <a:bodyPr wrap="square"/>
                    <a:lstStyle/>
                    <a:p>
                      <a:pPr algn="l"/>
                      <a:r>
                        <a:rPr sz="1100" b="1">
                          <a:solidFill>
                            <a:srgbClr val="1F2A44"/>
                          </a:solidFill>
                          <a:latin typeface="Calibri"/>
                        </a:rPr>
                        <a:t>Transcribed hours</a:t>
                      </a:r>
                    </a:p>
                  </a:txBody>
                  <a:tcPr marL="54864" marR="54864" marT="27432" marB="27432">
                    <a:solidFill>
                      <a:srgbClr val="E9ECF1"/>
                    </a:solidFill>
                  </a:tcPr>
                </a:tc>
              </a:tr>
              <a:tr h="301752">
                <a:tc>
                  <a:txBody>
                    <a:bodyPr wrap="square"/>
                    <a:lstStyle/>
                    <a:p>
                      <a:pPr algn="l"/>
                      <a:r>
                        <a:rPr sz="1100" b="0">
                          <a:solidFill>
                            <a:srgbClr val="1F2A44"/>
                          </a:solidFill>
                          <a:latin typeface="Calibri"/>
                        </a:rPr>
                        <a:t>kiswahili</a:t>
                      </a:r>
                    </a:p>
                  </a:txBody>
                  <a:tcPr marL="54864" marR="54864" marT="27432" marB="27432">
                    <a:solidFill>
                      <a:srgbClr val="FFFFFF"/>
                    </a:solidFill>
                  </a:tcPr>
                </a:tc>
                <a:tc>
                  <a:txBody>
                    <a:bodyPr wrap="square"/>
                    <a:lstStyle/>
                    <a:p>
                      <a:pPr algn="l"/>
                      <a:r>
                        <a:rPr sz="1100" b="0">
                          <a:solidFill>
                            <a:srgbClr val="1F2A44"/>
                          </a:solidFill>
                          <a:latin typeface="Calibri"/>
                        </a:rPr>
                        <a:t>Radio citizen</a:t>
                      </a:r>
                    </a:p>
                  </a:txBody>
                  <a:tcPr marL="54864" marR="54864" marT="27432" marB="27432">
                    <a:solidFill>
                      <a:srgbClr val="FFFFFF"/>
                    </a:solidFill>
                  </a:tcPr>
                </a:tc>
                <a:tc>
                  <a:txBody>
                    <a:bodyPr wrap="square"/>
                    <a:lstStyle/>
                    <a:p>
                      <a:pPr algn="r"/>
                      <a:r>
                        <a:rPr sz="1100" b="0">
                          <a:solidFill>
                            <a:srgbClr val="1F2A44"/>
                          </a:solidFill>
                          <a:latin typeface="Courier New"/>
                        </a:rPr>
                        <a:t>4006</a:t>
                      </a:r>
                    </a:p>
                  </a:txBody>
                  <a:tcPr marL="54864" marR="54864" marT="27432" marB="27432">
                    <a:solidFill>
                      <a:srgbClr val="FFFFFF"/>
                    </a:solidFill>
                  </a:tcPr>
                </a:tc>
                <a:tc>
                  <a:txBody>
                    <a:bodyPr wrap="square"/>
                    <a:lstStyle/>
                    <a:p>
                      <a:pPr algn="r"/>
                      <a:r>
                        <a:rPr sz="1100" b="0">
                          <a:solidFill>
                            <a:srgbClr val="1F2A44"/>
                          </a:solidFill>
                          <a:latin typeface="Courier New"/>
                        </a:rPr>
                        <a:t>836.2</a:t>
                      </a:r>
                    </a:p>
                  </a:txBody>
                  <a:tcPr marL="54864" marR="54864" marT="27432" marB="27432">
                    <a:solidFill>
                      <a:srgbClr val="FFFFFF"/>
                    </a:solidFill>
                  </a:tcPr>
                </a:tc>
                <a:tc>
                  <a:txBody>
                    <a:bodyPr wrap="square"/>
                    <a:lstStyle/>
                    <a:p>
                      <a:pPr algn="r"/>
                      <a:r>
                        <a:rPr sz="1100" b="0">
                          <a:solidFill>
                            <a:srgbClr val="1F2A44"/>
                          </a:solidFill>
                          <a:latin typeface="Courier New"/>
                        </a:rPr>
                        <a:t>54516</a:t>
                      </a:r>
                    </a:p>
                  </a:txBody>
                  <a:tcPr marL="54864" marR="54864" marT="27432" marB="27432">
                    <a:solidFill>
                      <a:srgbClr val="FFFFFF"/>
                    </a:solidFill>
                  </a:tcPr>
                </a:tc>
                <a:tc>
                  <a:txBody>
                    <a:bodyPr wrap="square"/>
                    <a:lstStyle/>
                    <a:p>
                      <a:pPr algn="r"/>
                      <a:r>
                        <a:rPr sz="1100" b="0">
                          <a:solidFill>
                            <a:srgbClr val="1F2A44"/>
                          </a:solidFill>
                          <a:latin typeface="Courier New"/>
                        </a:rPr>
                        <a:t>101.0</a:t>
                      </a:r>
                    </a:p>
                  </a:txBody>
                  <a:tcPr marL="54864" marR="54864" marT="27432" marB="27432">
                    <a:solidFill>
                      <a:srgbClr val="FFFFFF"/>
                    </a:solidFill>
                  </a:tcPr>
                </a:tc>
              </a:tr>
              <a:tr h="301752">
                <a:tc>
                  <a:txBody>
                    <a:bodyPr wrap="square"/>
                    <a:lstStyle/>
                    <a:p>
                      <a:pPr algn="l"/>
                      <a:r>
                        <a:rPr sz="1100" b="0">
                          <a:solidFill>
                            <a:srgbClr val="1F2A44"/>
                          </a:solidFill>
                          <a:latin typeface="Calibri"/>
                        </a:rPr>
                        <a:t>Bukusu</a:t>
                      </a:r>
                    </a:p>
                  </a:txBody>
                  <a:tcPr marL="54864" marR="54864" marT="27432" marB="27432">
                    <a:solidFill>
                      <a:srgbClr val="FFFFFF"/>
                    </a:solidFill>
                  </a:tcPr>
                </a:tc>
                <a:tc>
                  <a:txBody>
                    <a:bodyPr wrap="square"/>
                    <a:lstStyle/>
                    <a:p>
                      <a:pPr algn="l"/>
                      <a:r>
                        <a:rPr sz="1100" b="0">
                          <a:solidFill>
                            <a:srgbClr val="1F2A44"/>
                          </a:solidFill>
                          <a:latin typeface="Calibri"/>
                        </a:rPr>
                        <a:t>sulwe</a:t>
                      </a:r>
                    </a:p>
                  </a:txBody>
                  <a:tcPr marL="54864" marR="54864" marT="27432" marB="27432">
                    <a:solidFill>
                      <a:srgbClr val="FFFFFF"/>
                    </a:solidFill>
                  </a:tcPr>
                </a:tc>
                <a:tc>
                  <a:txBody>
                    <a:bodyPr wrap="square"/>
                    <a:lstStyle/>
                    <a:p>
                      <a:pPr algn="r"/>
                      <a:r>
                        <a:rPr sz="1100" b="0">
                          <a:solidFill>
                            <a:srgbClr val="1F2A44"/>
                          </a:solidFill>
                          <a:latin typeface="Courier New"/>
                        </a:rPr>
                        <a:t>8223</a:t>
                      </a:r>
                    </a:p>
                  </a:txBody>
                  <a:tcPr marL="54864" marR="54864" marT="27432" marB="27432">
                    <a:solidFill>
                      <a:srgbClr val="FFFFFF"/>
                    </a:solidFill>
                  </a:tcPr>
                </a:tc>
                <a:tc>
                  <a:txBody>
                    <a:bodyPr wrap="square"/>
                    <a:lstStyle/>
                    <a:p>
                      <a:pPr algn="r"/>
                      <a:r>
                        <a:rPr sz="1100" b="0">
                          <a:solidFill>
                            <a:srgbClr val="1F2A44"/>
                          </a:solidFill>
                          <a:latin typeface="Courier New"/>
                        </a:rPr>
                        <a:t>806.4</a:t>
                      </a:r>
                    </a:p>
                  </a:txBody>
                  <a:tcPr marL="54864" marR="54864" marT="27432" marB="27432">
                    <a:solidFill>
                      <a:srgbClr val="FFFFFF"/>
                    </a:solidFill>
                  </a:tcPr>
                </a:tc>
                <a:tc>
                  <a:txBody>
                    <a:bodyPr wrap="square"/>
                    <a:lstStyle/>
                    <a:p>
                      <a:pPr algn="r"/>
                      <a:r>
                        <a:rPr sz="1100" b="0">
                          <a:solidFill>
                            <a:srgbClr val="1F2A44"/>
                          </a:solidFill>
                          <a:latin typeface="Courier New"/>
                        </a:rPr>
                        <a:t>0</a:t>
                      </a:r>
                    </a:p>
                  </a:txBody>
                  <a:tcPr marL="54864" marR="54864" marT="27432" marB="27432">
                    <a:solidFill>
                      <a:srgbClr val="FFFFFF"/>
                    </a:solidFill>
                  </a:tcPr>
                </a:tc>
                <a:tc>
                  <a:txBody>
                    <a:bodyPr wrap="square"/>
                    <a:lstStyle/>
                    <a:p>
                      <a:pPr algn="r"/>
                      <a:r>
                        <a:rPr sz="1100" b="0">
                          <a:solidFill>
                            <a:srgbClr val="1F2A44"/>
                          </a:solidFill>
                          <a:latin typeface="Courier New"/>
                        </a:rPr>
                        <a:t>0.0</a:t>
                      </a:r>
                    </a:p>
                  </a:txBody>
                  <a:tcPr marL="54864" marR="54864" marT="27432" marB="27432">
                    <a:solidFill>
                      <a:srgbClr val="FFFFFF"/>
                    </a:solidFill>
                  </a:tcPr>
                </a:tc>
              </a:tr>
              <a:tr h="301752">
                <a:tc>
                  <a:txBody>
                    <a:bodyPr wrap="square"/>
                    <a:lstStyle/>
                    <a:p>
                      <a:pPr algn="l"/>
                      <a:r>
                        <a:rPr sz="1100" b="0">
                          <a:solidFill>
                            <a:srgbClr val="1F2A44"/>
                          </a:solidFill>
                          <a:latin typeface="Calibri"/>
                        </a:rPr>
                        <a:t>Kikuyu</a:t>
                      </a:r>
                    </a:p>
                  </a:txBody>
                  <a:tcPr marL="54864" marR="54864" marT="27432" marB="27432">
                    <a:solidFill>
                      <a:srgbClr val="FFFFFF"/>
                    </a:solidFill>
                  </a:tcPr>
                </a:tc>
                <a:tc>
                  <a:txBody>
                    <a:bodyPr wrap="square"/>
                    <a:lstStyle/>
                    <a:p>
                      <a:pPr algn="l"/>
                      <a:r>
                        <a:rPr sz="1100" b="0">
                          <a:solidFill>
                            <a:srgbClr val="1F2A44"/>
                          </a:solidFill>
                          <a:latin typeface="Calibri"/>
                        </a:rPr>
                        <a:t>Inooro</a:t>
                      </a:r>
                    </a:p>
                  </a:txBody>
                  <a:tcPr marL="54864" marR="54864" marT="27432" marB="27432">
                    <a:solidFill>
                      <a:srgbClr val="FFFFFF"/>
                    </a:solidFill>
                  </a:tcPr>
                </a:tc>
                <a:tc>
                  <a:txBody>
                    <a:bodyPr wrap="square"/>
                    <a:lstStyle/>
                    <a:p>
                      <a:pPr algn="r"/>
                      <a:r>
                        <a:rPr sz="1100" b="0">
                          <a:solidFill>
                            <a:srgbClr val="1F2A44"/>
                          </a:solidFill>
                          <a:latin typeface="Courier New"/>
                        </a:rPr>
                        <a:t>3640</a:t>
                      </a:r>
                    </a:p>
                  </a:txBody>
                  <a:tcPr marL="54864" marR="54864" marT="27432" marB="27432">
                    <a:solidFill>
                      <a:srgbClr val="FFFFFF"/>
                    </a:solidFill>
                  </a:tcPr>
                </a:tc>
                <a:tc>
                  <a:txBody>
                    <a:bodyPr wrap="square"/>
                    <a:lstStyle/>
                    <a:p>
                      <a:pPr algn="r"/>
                      <a:r>
                        <a:rPr sz="1100" b="0">
                          <a:solidFill>
                            <a:srgbClr val="1F2A44"/>
                          </a:solidFill>
                          <a:latin typeface="Courier New"/>
                        </a:rPr>
                        <a:t>670.9</a:t>
                      </a:r>
                    </a:p>
                  </a:txBody>
                  <a:tcPr marL="54864" marR="54864" marT="27432" marB="27432">
                    <a:solidFill>
                      <a:srgbClr val="FFFFFF"/>
                    </a:solidFill>
                  </a:tcPr>
                </a:tc>
                <a:tc>
                  <a:txBody>
                    <a:bodyPr wrap="square"/>
                    <a:lstStyle/>
                    <a:p>
                      <a:pPr algn="r"/>
                      <a:r>
                        <a:rPr sz="1100" b="0">
                          <a:solidFill>
                            <a:srgbClr val="1F2A44"/>
                          </a:solidFill>
                          <a:latin typeface="Courier New"/>
                        </a:rPr>
                        <a:t>11034</a:t>
                      </a:r>
                    </a:p>
                  </a:txBody>
                  <a:tcPr marL="54864" marR="54864" marT="27432" marB="27432">
                    <a:solidFill>
                      <a:srgbClr val="FFFFFF"/>
                    </a:solidFill>
                  </a:tcPr>
                </a:tc>
                <a:tc>
                  <a:txBody>
                    <a:bodyPr wrap="square"/>
                    <a:lstStyle/>
                    <a:p>
                      <a:pPr algn="r"/>
                      <a:r>
                        <a:rPr sz="1100" b="0">
                          <a:solidFill>
                            <a:srgbClr val="1F2A44"/>
                          </a:solidFill>
                          <a:latin typeface="Courier New"/>
                        </a:rPr>
                        <a:t>20.3</a:t>
                      </a:r>
                    </a:p>
                  </a:txBody>
                  <a:tcPr marL="54864" marR="54864" marT="27432" marB="27432">
                    <a:solidFill>
                      <a:srgbClr val="FFFFFF"/>
                    </a:solidFill>
                  </a:tcPr>
                </a:tc>
              </a:tr>
              <a:tr h="301752">
                <a:tc>
                  <a:txBody>
                    <a:bodyPr wrap="square"/>
                    <a:lstStyle/>
                    <a:p>
                      <a:pPr algn="l"/>
                      <a:r>
                        <a:rPr sz="1100" b="0">
                          <a:solidFill>
                            <a:srgbClr val="1F2A44"/>
                          </a:solidFill>
                          <a:latin typeface="Calibri"/>
                        </a:rPr>
                        <a:t>Maragoli</a:t>
                      </a:r>
                    </a:p>
                  </a:txBody>
                  <a:tcPr marL="54864" marR="54864" marT="27432" marB="27432">
                    <a:solidFill>
                      <a:srgbClr val="FFFFFF"/>
                    </a:solidFill>
                  </a:tcPr>
                </a:tc>
                <a:tc>
                  <a:txBody>
                    <a:bodyPr wrap="square"/>
                    <a:lstStyle/>
                    <a:p>
                      <a:pPr algn="l"/>
                      <a:r>
                        <a:rPr sz="1100" b="0">
                          <a:solidFill>
                            <a:srgbClr val="1F2A44"/>
                          </a:solidFill>
                          <a:latin typeface="Calibri"/>
                        </a:rPr>
                        <a:t>Vuuka</a:t>
                      </a:r>
                    </a:p>
                  </a:txBody>
                  <a:tcPr marL="54864" marR="54864" marT="27432" marB="27432">
                    <a:solidFill>
                      <a:srgbClr val="FFFFFF"/>
                    </a:solidFill>
                  </a:tcPr>
                </a:tc>
                <a:tc>
                  <a:txBody>
                    <a:bodyPr wrap="square"/>
                    <a:lstStyle/>
                    <a:p>
                      <a:pPr algn="r"/>
                      <a:r>
                        <a:rPr sz="1100" b="0">
                          <a:solidFill>
                            <a:srgbClr val="1F2A44"/>
                          </a:solidFill>
                          <a:latin typeface="Courier New"/>
                        </a:rPr>
                        <a:t>5503</a:t>
                      </a:r>
                    </a:p>
                  </a:txBody>
                  <a:tcPr marL="54864" marR="54864" marT="27432" marB="27432">
                    <a:solidFill>
                      <a:srgbClr val="FFFFFF"/>
                    </a:solidFill>
                  </a:tcPr>
                </a:tc>
                <a:tc>
                  <a:txBody>
                    <a:bodyPr wrap="square"/>
                    <a:lstStyle/>
                    <a:p>
                      <a:pPr algn="r"/>
                      <a:r>
                        <a:rPr sz="1100" b="0">
                          <a:solidFill>
                            <a:srgbClr val="1F2A44"/>
                          </a:solidFill>
                          <a:latin typeface="Courier New"/>
                        </a:rPr>
                        <a:t>559.7</a:t>
                      </a:r>
                    </a:p>
                  </a:txBody>
                  <a:tcPr marL="54864" marR="54864" marT="27432" marB="27432">
                    <a:solidFill>
                      <a:srgbClr val="FFFFFF"/>
                    </a:solidFill>
                  </a:tcPr>
                </a:tc>
                <a:tc>
                  <a:txBody>
                    <a:bodyPr wrap="square"/>
                    <a:lstStyle/>
                    <a:p>
                      <a:pPr algn="r"/>
                      <a:r>
                        <a:rPr sz="1100" b="0">
                          <a:solidFill>
                            <a:srgbClr val="1F2A44"/>
                          </a:solidFill>
                          <a:latin typeface="Courier New"/>
                        </a:rPr>
                        <a:t>0</a:t>
                      </a:r>
                    </a:p>
                  </a:txBody>
                  <a:tcPr marL="54864" marR="54864" marT="27432" marB="27432">
                    <a:solidFill>
                      <a:srgbClr val="FFFFFF"/>
                    </a:solidFill>
                  </a:tcPr>
                </a:tc>
                <a:tc>
                  <a:txBody>
                    <a:bodyPr wrap="square"/>
                    <a:lstStyle/>
                    <a:p>
                      <a:pPr algn="r"/>
                      <a:r>
                        <a:rPr sz="1100" b="0">
                          <a:solidFill>
                            <a:srgbClr val="1F2A44"/>
                          </a:solidFill>
                          <a:latin typeface="Courier New"/>
                        </a:rPr>
                        <a:t>0.0</a:t>
                      </a:r>
                    </a:p>
                  </a:txBody>
                  <a:tcPr marL="54864" marR="54864" marT="27432" marB="27432">
                    <a:solidFill>
                      <a:srgbClr val="FFFFFF"/>
                    </a:solidFill>
                  </a:tcPr>
                </a:tc>
              </a:tr>
              <a:tr h="301752">
                <a:tc>
                  <a:txBody>
                    <a:bodyPr wrap="square"/>
                    <a:lstStyle/>
                    <a:p>
                      <a:pPr algn="l"/>
                      <a:r>
                        <a:rPr sz="1100" b="0">
                          <a:solidFill>
                            <a:srgbClr val="1F2A44"/>
                          </a:solidFill>
                          <a:latin typeface="Calibri"/>
                        </a:rPr>
                        <a:t>Embu</a:t>
                      </a:r>
                    </a:p>
                  </a:txBody>
                  <a:tcPr marL="54864" marR="54864" marT="27432" marB="27432">
                    <a:solidFill>
                      <a:srgbClr val="FFFFFF"/>
                    </a:solidFill>
                  </a:tcPr>
                </a:tc>
                <a:tc>
                  <a:txBody>
                    <a:bodyPr wrap="square"/>
                    <a:lstStyle/>
                    <a:p>
                      <a:pPr algn="l"/>
                      <a:r>
                        <a:rPr sz="1100" b="0">
                          <a:solidFill>
                            <a:srgbClr val="1F2A44"/>
                          </a:solidFill>
                          <a:latin typeface="Calibri"/>
                        </a:rPr>
                        <a:t>wimwaro</a:t>
                      </a:r>
                    </a:p>
                  </a:txBody>
                  <a:tcPr marL="54864" marR="54864" marT="27432" marB="27432">
                    <a:solidFill>
                      <a:srgbClr val="FFFFFF"/>
                    </a:solidFill>
                  </a:tcPr>
                </a:tc>
                <a:tc>
                  <a:txBody>
                    <a:bodyPr wrap="square"/>
                    <a:lstStyle/>
                    <a:p>
                      <a:pPr algn="r"/>
                      <a:r>
                        <a:rPr sz="1100" b="0">
                          <a:solidFill>
                            <a:srgbClr val="1F2A44"/>
                          </a:solidFill>
                          <a:latin typeface="Courier New"/>
                        </a:rPr>
                        <a:t>2000</a:t>
                      </a:r>
                    </a:p>
                  </a:txBody>
                  <a:tcPr marL="54864" marR="54864" marT="27432" marB="27432">
                    <a:solidFill>
                      <a:srgbClr val="FFFFFF"/>
                    </a:solidFill>
                  </a:tcPr>
                </a:tc>
                <a:tc>
                  <a:txBody>
                    <a:bodyPr wrap="square"/>
                    <a:lstStyle/>
                    <a:p>
                      <a:pPr algn="r"/>
                      <a:r>
                        <a:rPr sz="1100" b="0">
                          <a:solidFill>
                            <a:srgbClr val="1F2A44"/>
                          </a:solidFill>
                          <a:latin typeface="Courier New"/>
                        </a:rPr>
                        <a:t>504.3</a:t>
                      </a:r>
                    </a:p>
                  </a:txBody>
                  <a:tcPr marL="54864" marR="54864" marT="27432" marB="27432">
                    <a:solidFill>
                      <a:srgbClr val="FFFFFF"/>
                    </a:solidFill>
                  </a:tcPr>
                </a:tc>
                <a:tc>
                  <a:txBody>
                    <a:bodyPr wrap="square"/>
                    <a:lstStyle/>
                    <a:p>
                      <a:pPr algn="r"/>
                      <a:r>
                        <a:rPr sz="1100" b="0">
                          <a:solidFill>
                            <a:srgbClr val="1F2A44"/>
                          </a:solidFill>
                          <a:latin typeface="Courier New"/>
                        </a:rPr>
                        <a:t>0</a:t>
                      </a:r>
                    </a:p>
                  </a:txBody>
                  <a:tcPr marL="54864" marR="54864" marT="27432" marB="27432">
                    <a:solidFill>
                      <a:srgbClr val="FFFFFF"/>
                    </a:solidFill>
                  </a:tcPr>
                </a:tc>
                <a:tc>
                  <a:txBody>
                    <a:bodyPr wrap="square"/>
                    <a:lstStyle/>
                    <a:p>
                      <a:pPr algn="r"/>
                      <a:r>
                        <a:rPr sz="1100" b="0">
                          <a:solidFill>
                            <a:srgbClr val="1F2A44"/>
                          </a:solidFill>
                          <a:latin typeface="Courier New"/>
                        </a:rPr>
                        <a:t>0.0</a:t>
                      </a:r>
                    </a:p>
                  </a:txBody>
                  <a:tcPr marL="54864" marR="54864" marT="27432" marB="27432">
                    <a:solidFill>
                      <a:srgbClr val="FFFFFF"/>
                    </a:solidFill>
                  </a:tcPr>
                </a:tc>
              </a:tr>
              <a:tr h="301752">
                <a:tc>
                  <a:txBody>
                    <a:bodyPr wrap="square"/>
                    <a:lstStyle/>
                    <a:p>
                      <a:pPr algn="l"/>
                      <a:r>
                        <a:rPr sz="1100" b="0">
                          <a:solidFill>
                            <a:srgbClr val="1F2A44"/>
                          </a:solidFill>
                          <a:latin typeface="Calibri"/>
                        </a:rPr>
                        <a:t>Kalenjin</a:t>
                      </a:r>
                    </a:p>
                  </a:txBody>
                  <a:tcPr marL="54864" marR="54864" marT="27432" marB="27432">
                    <a:solidFill>
                      <a:srgbClr val="FFFFFF"/>
                    </a:solidFill>
                  </a:tcPr>
                </a:tc>
                <a:tc>
                  <a:txBody>
                    <a:bodyPr wrap="square"/>
                    <a:lstStyle/>
                    <a:p>
                      <a:pPr algn="l"/>
                      <a:r>
                        <a:rPr sz="1100" b="0">
                          <a:solidFill>
                            <a:srgbClr val="1F2A44"/>
                          </a:solidFill>
                          <a:latin typeface="Calibri"/>
                        </a:rPr>
                        <a:t>Chamgei</a:t>
                      </a:r>
                    </a:p>
                  </a:txBody>
                  <a:tcPr marL="54864" marR="54864" marT="27432" marB="27432">
                    <a:solidFill>
                      <a:srgbClr val="FFFFFF"/>
                    </a:solidFill>
                  </a:tcPr>
                </a:tc>
                <a:tc>
                  <a:txBody>
                    <a:bodyPr wrap="square"/>
                    <a:lstStyle/>
                    <a:p>
                      <a:pPr algn="r"/>
                      <a:r>
                        <a:rPr sz="1100" b="0">
                          <a:solidFill>
                            <a:srgbClr val="1F2A44"/>
                          </a:solidFill>
                          <a:latin typeface="Courier New"/>
                        </a:rPr>
                        <a:t>1280</a:t>
                      </a:r>
                    </a:p>
                  </a:txBody>
                  <a:tcPr marL="54864" marR="54864" marT="27432" marB="27432">
                    <a:solidFill>
                      <a:srgbClr val="FFFFFF"/>
                    </a:solidFill>
                  </a:tcPr>
                </a:tc>
                <a:tc>
                  <a:txBody>
                    <a:bodyPr wrap="square"/>
                    <a:lstStyle/>
                    <a:p>
                      <a:pPr algn="r"/>
                      <a:r>
                        <a:rPr sz="1100" b="0">
                          <a:solidFill>
                            <a:srgbClr val="1F2A44"/>
                          </a:solidFill>
                          <a:latin typeface="Courier New"/>
                        </a:rPr>
                        <a:t>500.6</a:t>
                      </a:r>
                    </a:p>
                  </a:txBody>
                  <a:tcPr marL="54864" marR="54864" marT="27432" marB="27432">
                    <a:solidFill>
                      <a:srgbClr val="FFFFFF"/>
                    </a:solidFill>
                  </a:tcPr>
                </a:tc>
                <a:tc>
                  <a:txBody>
                    <a:bodyPr wrap="square"/>
                    <a:lstStyle/>
                    <a:p>
                      <a:pPr algn="r"/>
                      <a:r>
                        <a:rPr sz="1100" b="0">
                          <a:solidFill>
                            <a:srgbClr val="1F2A44"/>
                          </a:solidFill>
                          <a:latin typeface="Courier New"/>
                        </a:rPr>
                        <a:t>59507</a:t>
                      </a:r>
                    </a:p>
                  </a:txBody>
                  <a:tcPr marL="54864" marR="54864" marT="27432" marB="27432">
                    <a:solidFill>
                      <a:srgbClr val="FFFFFF"/>
                    </a:solidFill>
                  </a:tcPr>
                </a:tc>
                <a:tc>
                  <a:txBody>
                    <a:bodyPr wrap="square"/>
                    <a:lstStyle/>
                    <a:p>
                      <a:pPr algn="r"/>
                      <a:r>
                        <a:rPr sz="1100" b="0">
                          <a:solidFill>
                            <a:srgbClr val="1F2A44"/>
                          </a:solidFill>
                          <a:latin typeface="Courier New"/>
                        </a:rPr>
                        <a:t>129.1</a:t>
                      </a:r>
                    </a:p>
                  </a:txBody>
                  <a:tcPr marL="54864" marR="54864" marT="27432" marB="27432">
                    <a:solidFill>
                      <a:srgbClr val="FFFFFF"/>
                    </a:solidFill>
                  </a:tcPr>
                </a:tc>
              </a:tr>
              <a:tr h="301752">
                <a:tc>
                  <a:txBody>
                    <a:bodyPr wrap="square"/>
                    <a:lstStyle/>
                    <a:p>
                      <a:pPr algn="l"/>
                      <a:r>
                        <a:rPr sz="1100" b="0">
                          <a:solidFill>
                            <a:srgbClr val="1F2A44"/>
                          </a:solidFill>
                          <a:latin typeface="Calibri"/>
                        </a:rPr>
                        <a:t>Luo</a:t>
                      </a:r>
                    </a:p>
                  </a:txBody>
                  <a:tcPr marL="54864" marR="54864" marT="27432" marB="27432">
                    <a:solidFill>
                      <a:srgbClr val="FFFFFF"/>
                    </a:solidFill>
                  </a:tcPr>
                </a:tc>
                <a:tc>
                  <a:txBody>
                    <a:bodyPr wrap="square"/>
                    <a:lstStyle/>
                    <a:p>
                      <a:pPr algn="l"/>
                      <a:r>
                        <a:rPr sz="1100" b="0">
                          <a:solidFill>
                            <a:srgbClr val="1F2A44"/>
                          </a:solidFill>
                          <a:latin typeface="Calibri"/>
                        </a:rPr>
                        <a:t>Ramogi</a:t>
                      </a:r>
                    </a:p>
                  </a:txBody>
                  <a:tcPr marL="54864" marR="54864" marT="27432" marB="27432">
                    <a:solidFill>
                      <a:srgbClr val="FFFFFF"/>
                    </a:solidFill>
                  </a:tcPr>
                </a:tc>
                <a:tc>
                  <a:txBody>
                    <a:bodyPr wrap="square"/>
                    <a:lstStyle/>
                    <a:p>
                      <a:pPr algn="r"/>
                      <a:r>
                        <a:rPr sz="1100" b="0">
                          <a:solidFill>
                            <a:srgbClr val="1F2A44"/>
                          </a:solidFill>
                          <a:latin typeface="Courier New"/>
                        </a:rPr>
                        <a:t>3693</a:t>
                      </a:r>
                    </a:p>
                  </a:txBody>
                  <a:tcPr marL="54864" marR="54864" marT="27432" marB="27432">
                    <a:solidFill>
                      <a:srgbClr val="FFFFFF"/>
                    </a:solidFill>
                  </a:tcPr>
                </a:tc>
                <a:tc>
                  <a:txBody>
                    <a:bodyPr wrap="square"/>
                    <a:lstStyle/>
                    <a:p>
                      <a:pPr algn="r"/>
                      <a:r>
                        <a:rPr sz="1100" b="0">
                          <a:solidFill>
                            <a:srgbClr val="1F2A44"/>
                          </a:solidFill>
                          <a:latin typeface="Courier New"/>
                        </a:rPr>
                        <a:t>492.5</a:t>
                      </a:r>
                    </a:p>
                  </a:txBody>
                  <a:tcPr marL="54864" marR="54864" marT="27432" marB="27432">
                    <a:solidFill>
                      <a:srgbClr val="FFFFFF"/>
                    </a:solidFill>
                  </a:tcPr>
                </a:tc>
                <a:tc>
                  <a:txBody>
                    <a:bodyPr wrap="square"/>
                    <a:lstStyle/>
                    <a:p>
                      <a:pPr algn="r"/>
                      <a:r>
                        <a:rPr sz="1100" b="0">
                          <a:solidFill>
                            <a:srgbClr val="1F2A44"/>
                          </a:solidFill>
                          <a:latin typeface="Courier New"/>
                        </a:rPr>
                        <a:t>44184</a:t>
                      </a:r>
                    </a:p>
                  </a:txBody>
                  <a:tcPr marL="54864" marR="54864" marT="27432" marB="27432">
                    <a:solidFill>
                      <a:srgbClr val="FFFFFF"/>
                    </a:solidFill>
                  </a:tcPr>
                </a:tc>
                <a:tc>
                  <a:txBody>
                    <a:bodyPr wrap="square"/>
                    <a:lstStyle/>
                    <a:p>
                      <a:pPr algn="r"/>
                      <a:r>
                        <a:rPr sz="1100" b="0">
                          <a:solidFill>
                            <a:srgbClr val="1F2A44"/>
                          </a:solidFill>
                          <a:latin typeface="Courier New"/>
                        </a:rPr>
                        <a:t>711.1</a:t>
                      </a:r>
                    </a:p>
                  </a:txBody>
                  <a:tcPr marL="54864" marR="54864" marT="27432" marB="27432">
                    <a:solidFill>
                      <a:srgbClr val="FFFFFF"/>
                    </a:solidFill>
                  </a:tcPr>
                </a:tc>
              </a:tr>
              <a:tr h="301752">
                <a:tc>
                  <a:txBody>
                    <a:bodyPr wrap="square"/>
                    <a:lstStyle/>
                    <a:p>
                      <a:pPr algn="l"/>
                      <a:r>
                        <a:rPr sz="1100" b="0">
                          <a:solidFill>
                            <a:srgbClr val="1F2A44"/>
                          </a:solidFill>
                          <a:latin typeface="Calibri"/>
                        </a:rPr>
                        <a:t>Kisii</a:t>
                      </a:r>
                    </a:p>
                  </a:txBody>
                  <a:tcPr marL="54864" marR="54864" marT="27432" marB="27432">
                    <a:solidFill>
                      <a:srgbClr val="FFFFFF"/>
                    </a:solidFill>
                  </a:tcPr>
                </a:tc>
                <a:tc>
                  <a:txBody>
                    <a:bodyPr wrap="square"/>
                    <a:lstStyle/>
                    <a:p>
                      <a:pPr algn="l"/>
                      <a:r>
                        <a:rPr sz="1100" b="0">
                          <a:solidFill>
                            <a:srgbClr val="1F2A44"/>
                          </a:solidFill>
                          <a:latin typeface="Calibri"/>
                        </a:rPr>
                        <a:t>Egesa</a:t>
                      </a:r>
                    </a:p>
                  </a:txBody>
                  <a:tcPr marL="54864" marR="54864" marT="27432" marB="27432">
                    <a:solidFill>
                      <a:srgbClr val="FFFFFF"/>
                    </a:solidFill>
                  </a:tcPr>
                </a:tc>
                <a:tc>
                  <a:txBody>
                    <a:bodyPr wrap="square"/>
                    <a:lstStyle/>
                    <a:p>
                      <a:pPr algn="r"/>
                      <a:r>
                        <a:rPr sz="1100" b="0">
                          <a:solidFill>
                            <a:srgbClr val="1F2A44"/>
                          </a:solidFill>
                          <a:latin typeface="Courier New"/>
                        </a:rPr>
                        <a:t>2503</a:t>
                      </a:r>
                    </a:p>
                  </a:txBody>
                  <a:tcPr marL="54864" marR="54864" marT="27432" marB="27432">
                    <a:solidFill>
                      <a:srgbClr val="FFFFFF"/>
                    </a:solidFill>
                  </a:tcPr>
                </a:tc>
                <a:tc>
                  <a:txBody>
                    <a:bodyPr wrap="square"/>
                    <a:lstStyle/>
                    <a:p>
                      <a:pPr algn="r"/>
                      <a:r>
                        <a:rPr sz="1100" b="0">
                          <a:solidFill>
                            <a:srgbClr val="1F2A44"/>
                          </a:solidFill>
                          <a:latin typeface="Courier New"/>
                        </a:rPr>
                        <a:t>491.0</a:t>
                      </a:r>
                    </a:p>
                  </a:txBody>
                  <a:tcPr marL="54864" marR="54864" marT="27432" marB="27432">
                    <a:solidFill>
                      <a:srgbClr val="FFFFFF"/>
                    </a:solidFill>
                  </a:tcPr>
                </a:tc>
                <a:tc>
                  <a:txBody>
                    <a:bodyPr wrap="square"/>
                    <a:lstStyle/>
                    <a:p>
                      <a:pPr algn="r"/>
                      <a:r>
                        <a:rPr sz="1100" b="0">
                          <a:solidFill>
                            <a:srgbClr val="1F2A44"/>
                          </a:solidFill>
                          <a:latin typeface="Courier New"/>
                        </a:rPr>
                        <a:t>44470</a:t>
                      </a:r>
                    </a:p>
                  </a:txBody>
                  <a:tcPr marL="54864" marR="54864" marT="27432" marB="27432">
                    <a:solidFill>
                      <a:srgbClr val="FFFFFF"/>
                    </a:solidFill>
                  </a:tcPr>
                </a:tc>
                <a:tc>
                  <a:txBody>
                    <a:bodyPr wrap="square"/>
                    <a:lstStyle/>
                    <a:p>
                      <a:pPr algn="r"/>
                      <a:r>
                        <a:rPr sz="1100" b="0">
                          <a:solidFill>
                            <a:srgbClr val="1F2A44"/>
                          </a:solidFill>
                          <a:latin typeface="Courier New"/>
                        </a:rPr>
                        <a:t>75.1</a:t>
                      </a:r>
                    </a:p>
                  </a:txBody>
                  <a:tcPr marL="54864" marR="54864" marT="27432" marB="27432">
                    <a:solidFill>
                      <a:srgbClr val="FFFFFF"/>
                    </a:solidFill>
                  </a:tcPr>
                </a:tc>
              </a:tr>
              <a:tr h="301752">
                <a:tc>
                  <a:txBody>
                    <a:bodyPr wrap="square"/>
                    <a:lstStyle/>
                    <a:p>
                      <a:pPr algn="l"/>
                      <a:r>
                        <a:rPr sz="1100" b="0">
                          <a:solidFill>
                            <a:srgbClr val="1F2A44"/>
                          </a:solidFill>
                          <a:latin typeface="Calibri"/>
                        </a:rPr>
                        <a:t>luhya</a:t>
                      </a:r>
                    </a:p>
                  </a:txBody>
                  <a:tcPr marL="54864" marR="54864" marT="27432" marB="27432">
                    <a:solidFill>
                      <a:srgbClr val="FFFFFF"/>
                    </a:solidFill>
                  </a:tcPr>
                </a:tc>
                <a:tc>
                  <a:txBody>
                    <a:bodyPr wrap="square"/>
                    <a:lstStyle/>
                    <a:p>
                      <a:pPr algn="l"/>
                      <a:r>
                        <a:rPr sz="1100" b="0">
                          <a:solidFill>
                            <a:srgbClr val="1F2A44"/>
                          </a:solidFill>
                          <a:latin typeface="Calibri"/>
                        </a:rPr>
                        <a:t>mulembe</a:t>
                      </a:r>
                    </a:p>
                  </a:txBody>
                  <a:tcPr marL="54864" marR="54864" marT="27432" marB="27432">
                    <a:solidFill>
                      <a:srgbClr val="FFFFFF"/>
                    </a:solidFill>
                  </a:tcPr>
                </a:tc>
                <a:tc>
                  <a:txBody>
                    <a:bodyPr wrap="square"/>
                    <a:lstStyle/>
                    <a:p>
                      <a:pPr algn="r"/>
                      <a:r>
                        <a:rPr sz="1100" b="0">
                          <a:solidFill>
                            <a:srgbClr val="1F2A44"/>
                          </a:solidFill>
                          <a:latin typeface="Courier New"/>
                        </a:rPr>
                        <a:t>2253</a:t>
                      </a:r>
                    </a:p>
                  </a:txBody>
                  <a:tcPr marL="54864" marR="54864" marT="27432" marB="27432">
                    <a:solidFill>
                      <a:srgbClr val="FFFFFF"/>
                    </a:solidFill>
                  </a:tcPr>
                </a:tc>
                <a:tc>
                  <a:txBody>
                    <a:bodyPr wrap="square"/>
                    <a:lstStyle/>
                    <a:p>
                      <a:pPr algn="r"/>
                      <a:r>
                        <a:rPr sz="1100" b="0">
                          <a:solidFill>
                            <a:srgbClr val="1F2A44"/>
                          </a:solidFill>
                          <a:latin typeface="Courier New"/>
                        </a:rPr>
                        <a:t>420.1</a:t>
                      </a:r>
                    </a:p>
                  </a:txBody>
                  <a:tcPr marL="54864" marR="54864" marT="27432" marB="27432">
                    <a:solidFill>
                      <a:srgbClr val="FFFFFF"/>
                    </a:solidFill>
                  </a:tcPr>
                </a:tc>
                <a:tc>
                  <a:txBody>
                    <a:bodyPr wrap="square"/>
                    <a:lstStyle/>
                    <a:p>
                      <a:pPr algn="r"/>
                      <a:r>
                        <a:rPr sz="1100" b="0">
                          <a:solidFill>
                            <a:srgbClr val="1F2A44"/>
                          </a:solidFill>
                          <a:latin typeface="Courier New"/>
                        </a:rPr>
                        <a:t>53287</a:t>
                      </a:r>
                    </a:p>
                  </a:txBody>
                  <a:tcPr marL="54864" marR="54864" marT="27432" marB="27432">
                    <a:solidFill>
                      <a:srgbClr val="FFFFFF"/>
                    </a:solidFill>
                  </a:tcPr>
                </a:tc>
                <a:tc>
                  <a:txBody>
                    <a:bodyPr wrap="square"/>
                    <a:lstStyle/>
                    <a:p>
                      <a:pPr algn="r"/>
                      <a:r>
                        <a:rPr sz="1100" b="0">
                          <a:solidFill>
                            <a:srgbClr val="1F2A44"/>
                          </a:solidFill>
                          <a:latin typeface="Courier New"/>
                        </a:rPr>
                        <a:t>7.4</a:t>
                      </a:r>
                    </a:p>
                  </a:txBody>
                  <a:tcPr marL="54864" marR="54864" marT="27432" marB="2743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C8102E"/>
                </a:solidFill>
                <a:latin typeface="Calibri"/>
              </a:rPr>
              <a:t>The workbench registers recordings per language with their length and whether a transcript was produced; transcript hours are the summed segment spans.</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[measured]  Receipt R08: Aggregate-only database reading etx-81e10befe6e0: news_vault.stories (script, title, date, hour_id) → news_vault.hours (station_id, time, type_id) → news_vault.stations (name); news_vault.news (2022 bulletins); local.uploaded_files (language_id, audio_length, status) ← local.transcripts (file_id, start_time, end_time, transcript) ; local.folder_languages (Language, code, station)</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EVIDENCE BY NAME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Transcription workbench by language (local.uploaded_files, local.transcripts)</a:t>
            </a:r>
          </a:p>
        </p:txBody>
      </p:sp>
      <p:graphicFrame>
        <p:nvGraphicFramePr>
          <p:cNvPr id="4" name="Table 3"/>
          <p:cNvGraphicFramePr>
            <a:graphicFrameLocks noGrp="1"/>
          </p:cNvGraphicFramePr>
          <p:nvPr/>
        </p:nvGraphicFramePr>
        <p:xfrm>
          <a:off x="594360" y="1920240"/>
          <a:ext cx="11002971" cy="3017520"/>
        </p:xfrm>
        <a:graphic>
          <a:graphicData uri="http://schemas.openxmlformats.org/drawingml/2006/table">
            <a:tbl>
              <a:tblPr firstRow="1" bandRow="1">
                <a:tableStyleId>{5C22544A-7EE6-4342-B048-85BDC9FD1C3A}</a:tableStyleId>
              </a:tblPr>
              <a:tblGrid>
                <a:gridCol w="1674365"/>
                <a:gridCol w="1674365"/>
                <a:gridCol w="1674365"/>
                <a:gridCol w="1674365"/>
                <a:gridCol w="2272353"/>
                <a:gridCol w="2033158"/>
              </a:tblGrid>
              <a:tr h="301752">
                <a:tc>
                  <a:txBody>
                    <a:bodyPr wrap="square"/>
                    <a:lstStyle/>
                    <a:p>
                      <a:pPr algn="l"/>
                      <a:r>
                        <a:rPr sz="1100" b="1">
                          <a:solidFill>
                            <a:srgbClr val="1F2A44"/>
                          </a:solidFill>
                          <a:latin typeface="Calibri"/>
                        </a:rPr>
                        <a:t>Language</a:t>
                      </a:r>
                    </a:p>
                  </a:txBody>
                  <a:tcPr marL="54864" marR="54864" marT="27432" marB="27432">
                    <a:solidFill>
                      <a:srgbClr val="E9ECF1"/>
                    </a:solidFill>
                  </a:tcPr>
                </a:tc>
                <a:tc>
                  <a:txBody>
                    <a:bodyPr wrap="square"/>
                    <a:lstStyle/>
                    <a:p>
                      <a:pPr algn="l"/>
                      <a:r>
                        <a:rPr sz="1100" b="1">
                          <a:solidFill>
                            <a:srgbClr val="1F2A44"/>
                          </a:solidFill>
                          <a:latin typeface="Calibri"/>
                        </a:rPr>
                        <a:t>Station</a:t>
                      </a:r>
                    </a:p>
                  </a:txBody>
                  <a:tcPr marL="54864" marR="54864" marT="27432" marB="27432">
                    <a:solidFill>
                      <a:srgbClr val="E9ECF1"/>
                    </a:solidFill>
                  </a:tcPr>
                </a:tc>
                <a:tc>
                  <a:txBody>
                    <a:bodyPr wrap="square"/>
                    <a:lstStyle/>
                    <a:p>
                      <a:pPr algn="l"/>
                      <a:r>
                        <a:rPr sz="1100" b="1">
                          <a:solidFill>
                            <a:srgbClr val="1F2A44"/>
                          </a:solidFill>
                          <a:latin typeface="Calibri"/>
                        </a:rPr>
                        <a:t>Recordings</a:t>
                      </a:r>
                    </a:p>
                  </a:txBody>
                  <a:tcPr marL="54864" marR="54864" marT="27432" marB="27432">
                    <a:solidFill>
                      <a:srgbClr val="E9ECF1"/>
                    </a:solidFill>
                  </a:tcPr>
                </a:tc>
                <a:tc>
                  <a:txBody>
                    <a:bodyPr wrap="square"/>
                    <a:lstStyle/>
                    <a:p>
                      <a:pPr algn="l"/>
                      <a:r>
                        <a:rPr sz="1100" b="1">
                          <a:solidFill>
                            <a:srgbClr val="1F2A44"/>
                          </a:solidFill>
                          <a:latin typeface="Calibri"/>
                        </a:rPr>
                        <a:t>Audio hours</a:t>
                      </a:r>
                    </a:p>
                  </a:txBody>
                  <a:tcPr marL="54864" marR="54864" marT="27432" marB="27432">
                    <a:solidFill>
                      <a:srgbClr val="E9ECF1"/>
                    </a:solidFill>
                  </a:tcPr>
                </a:tc>
                <a:tc>
                  <a:txBody>
                    <a:bodyPr wrap="square"/>
                    <a:lstStyle/>
                    <a:p>
                      <a:pPr algn="l"/>
                      <a:r>
                        <a:rPr sz="1100" b="1">
                          <a:solidFill>
                            <a:srgbClr val="1F2A44"/>
                          </a:solidFill>
                          <a:latin typeface="Calibri"/>
                        </a:rPr>
                        <a:t>Transcript segments</a:t>
                      </a:r>
                    </a:p>
                  </a:txBody>
                  <a:tcPr marL="54864" marR="54864" marT="27432" marB="27432">
                    <a:solidFill>
                      <a:srgbClr val="E9ECF1"/>
                    </a:solidFill>
                  </a:tcPr>
                </a:tc>
                <a:tc>
                  <a:txBody>
                    <a:bodyPr wrap="square"/>
                    <a:lstStyle/>
                    <a:p>
                      <a:pPr algn="l"/>
                      <a:r>
                        <a:rPr sz="1100" b="1">
                          <a:solidFill>
                            <a:srgbClr val="1F2A44"/>
                          </a:solidFill>
                          <a:latin typeface="Calibri"/>
                        </a:rPr>
                        <a:t>Transcribed hours</a:t>
                      </a:r>
                    </a:p>
                  </a:txBody>
                  <a:tcPr marL="54864" marR="54864" marT="27432" marB="27432">
                    <a:solidFill>
                      <a:srgbClr val="E9ECF1"/>
                    </a:solidFill>
                  </a:tcPr>
                </a:tc>
              </a:tr>
              <a:tr h="301752">
                <a:tc>
                  <a:txBody>
                    <a:bodyPr wrap="square"/>
                    <a:lstStyle/>
                    <a:p>
                      <a:pPr algn="l"/>
                      <a:r>
                        <a:rPr sz="1100" b="0">
                          <a:solidFill>
                            <a:srgbClr val="1F2A44"/>
                          </a:solidFill>
                          <a:latin typeface="Calibri"/>
                        </a:rPr>
                        <a:t>Kikuyu</a:t>
                      </a:r>
                    </a:p>
                  </a:txBody>
                  <a:tcPr marL="54864" marR="54864" marT="27432" marB="27432">
                    <a:solidFill>
                      <a:srgbClr val="FFFFFF"/>
                    </a:solidFill>
                  </a:tcPr>
                </a:tc>
                <a:tc>
                  <a:txBody>
                    <a:bodyPr wrap="square"/>
                    <a:lstStyle/>
                    <a:p>
                      <a:pPr algn="l"/>
                      <a:r>
                        <a:rPr sz="1100" b="0">
                          <a:solidFill>
                            <a:srgbClr val="1F2A44"/>
                          </a:solidFill>
                          <a:latin typeface="Calibri"/>
                        </a:rPr>
                        <a:t>inooro</a:t>
                      </a:r>
                    </a:p>
                  </a:txBody>
                  <a:tcPr marL="54864" marR="54864" marT="27432" marB="27432">
                    <a:solidFill>
                      <a:srgbClr val="FFFFFF"/>
                    </a:solidFill>
                  </a:tcPr>
                </a:tc>
                <a:tc>
                  <a:txBody>
                    <a:bodyPr wrap="square"/>
                    <a:lstStyle/>
                    <a:p>
                      <a:pPr algn="r"/>
                      <a:r>
                        <a:rPr sz="1100" b="0">
                          <a:solidFill>
                            <a:srgbClr val="1F2A44"/>
                          </a:solidFill>
                          <a:latin typeface="Courier New"/>
                        </a:rPr>
                        <a:t>853</a:t>
                      </a:r>
                    </a:p>
                  </a:txBody>
                  <a:tcPr marL="54864" marR="54864" marT="27432" marB="27432">
                    <a:solidFill>
                      <a:srgbClr val="FFFFFF"/>
                    </a:solidFill>
                  </a:tcPr>
                </a:tc>
                <a:tc>
                  <a:txBody>
                    <a:bodyPr wrap="square"/>
                    <a:lstStyle/>
                    <a:p>
                      <a:pPr algn="r"/>
                      <a:r>
                        <a:rPr sz="1100" b="0">
                          <a:solidFill>
                            <a:srgbClr val="1F2A44"/>
                          </a:solidFill>
                          <a:latin typeface="Courier New"/>
                        </a:rPr>
                        <a:t>401.7</a:t>
                      </a:r>
                    </a:p>
                  </a:txBody>
                  <a:tcPr marL="54864" marR="54864" marT="27432" marB="27432">
                    <a:solidFill>
                      <a:srgbClr val="FFFFFF"/>
                    </a:solidFill>
                  </a:tcPr>
                </a:tc>
                <a:tc>
                  <a:txBody>
                    <a:bodyPr wrap="square"/>
                    <a:lstStyle/>
                    <a:p>
                      <a:pPr algn="r"/>
                      <a:r>
                        <a:rPr sz="1100" b="0">
                          <a:solidFill>
                            <a:srgbClr val="1F2A44"/>
                          </a:solidFill>
                          <a:latin typeface="Courier New"/>
                        </a:rPr>
                        <a:t>2456</a:t>
                      </a:r>
                    </a:p>
                  </a:txBody>
                  <a:tcPr marL="54864" marR="54864" marT="27432" marB="27432">
                    <a:solidFill>
                      <a:srgbClr val="FFFFFF"/>
                    </a:solidFill>
                  </a:tcPr>
                </a:tc>
                <a:tc>
                  <a:txBody>
                    <a:bodyPr wrap="square"/>
                    <a:lstStyle/>
                    <a:p>
                      <a:pPr algn="r"/>
                      <a:r>
                        <a:rPr sz="1100" b="0">
                          <a:solidFill>
                            <a:srgbClr val="1F2A44"/>
                          </a:solidFill>
                          <a:latin typeface="Courier New"/>
                        </a:rPr>
                        <a:t>9.1</a:t>
                      </a:r>
                    </a:p>
                  </a:txBody>
                  <a:tcPr marL="54864" marR="54864" marT="27432" marB="27432">
                    <a:solidFill>
                      <a:srgbClr val="FFFFFF"/>
                    </a:solidFill>
                  </a:tcPr>
                </a:tc>
              </a:tr>
              <a:tr h="301752">
                <a:tc>
                  <a:txBody>
                    <a:bodyPr wrap="square"/>
                    <a:lstStyle/>
                    <a:p>
                      <a:pPr algn="l"/>
                      <a:r>
                        <a:rPr sz="1100" b="0">
                          <a:solidFill>
                            <a:srgbClr val="1F2A44"/>
                          </a:solidFill>
                          <a:latin typeface="Calibri"/>
                        </a:rPr>
                        <a:t>Meru</a:t>
                      </a:r>
                    </a:p>
                  </a:txBody>
                  <a:tcPr marL="54864" marR="54864" marT="27432" marB="27432">
                    <a:solidFill>
                      <a:srgbClr val="FFFFFF"/>
                    </a:solidFill>
                  </a:tcPr>
                </a:tc>
                <a:tc>
                  <a:txBody>
                    <a:bodyPr wrap="square"/>
                    <a:lstStyle/>
                    <a:p>
                      <a:pPr algn="l"/>
                      <a:r>
                        <a:rPr sz="1100" b="0">
                          <a:solidFill>
                            <a:srgbClr val="1F2A44"/>
                          </a:solidFill>
                          <a:latin typeface="Calibri"/>
                        </a:rPr>
                        <a:t>muuga</a:t>
                      </a:r>
                    </a:p>
                  </a:txBody>
                  <a:tcPr marL="54864" marR="54864" marT="27432" marB="27432">
                    <a:solidFill>
                      <a:srgbClr val="FFFFFF"/>
                    </a:solidFill>
                  </a:tcPr>
                </a:tc>
                <a:tc>
                  <a:txBody>
                    <a:bodyPr wrap="square"/>
                    <a:lstStyle/>
                    <a:p>
                      <a:pPr algn="r"/>
                      <a:r>
                        <a:rPr sz="1100" b="0">
                          <a:solidFill>
                            <a:srgbClr val="1F2A44"/>
                          </a:solidFill>
                          <a:latin typeface="Courier New"/>
                        </a:rPr>
                        <a:t>3215</a:t>
                      </a:r>
                    </a:p>
                  </a:txBody>
                  <a:tcPr marL="54864" marR="54864" marT="27432" marB="27432">
                    <a:solidFill>
                      <a:srgbClr val="FFFFFF"/>
                    </a:solidFill>
                  </a:tcPr>
                </a:tc>
                <a:tc>
                  <a:txBody>
                    <a:bodyPr wrap="square"/>
                    <a:lstStyle/>
                    <a:p>
                      <a:pPr algn="r"/>
                      <a:r>
                        <a:rPr sz="1100" b="0">
                          <a:solidFill>
                            <a:srgbClr val="1F2A44"/>
                          </a:solidFill>
                          <a:latin typeface="Courier New"/>
                        </a:rPr>
                        <a:t>384.2</a:t>
                      </a:r>
                    </a:p>
                  </a:txBody>
                  <a:tcPr marL="54864" marR="54864" marT="27432" marB="27432">
                    <a:solidFill>
                      <a:srgbClr val="FFFFFF"/>
                    </a:solidFill>
                  </a:tcPr>
                </a:tc>
                <a:tc>
                  <a:txBody>
                    <a:bodyPr wrap="square"/>
                    <a:lstStyle/>
                    <a:p>
                      <a:pPr algn="r"/>
                      <a:r>
                        <a:rPr sz="1100" b="0">
                          <a:solidFill>
                            <a:srgbClr val="1F2A44"/>
                          </a:solidFill>
                          <a:latin typeface="Courier New"/>
                        </a:rPr>
                        <a:t>0</a:t>
                      </a:r>
                    </a:p>
                  </a:txBody>
                  <a:tcPr marL="54864" marR="54864" marT="27432" marB="27432">
                    <a:solidFill>
                      <a:srgbClr val="FFFFFF"/>
                    </a:solidFill>
                  </a:tcPr>
                </a:tc>
                <a:tc>
                  <a:txBody>
                    <a:bodyPr wrap="square"/>
                    <a:lstStyle/>
                    <a:p>
                      <a:pPr algn="r"/>
                      <a:r>
                        <a:rPr sz="1100" b="0">
                          <a:solidFill>
                            <a:srgbClr val="1F2A44"/>
                          </a:solidFill>
                          <a:latin typeface="Courier New"/>
                        </a:rPr>
                        <a:t>0.0</a:t>
                      </a:r>
                    </a:p>
                  </a:txBody>
                  <a:tcPr marL="54864" marR="54864" marT="27432" marB="27432">
                    <a:solidFill>
                      <a:srgbClr val="FFFFFF"/>
                    </a:solidFill>
                  </a:tcPr>
                </a:tc>
              </a:tr>
              <a:tr h="301752">
                <a:tc>
                  <a:txBody>
                    <a:bodyPr wrap="square"/>
                    <a:lstStyle/>
                    <a:p>
                      <a:pPr algn="l"/>
                      <a:r>
                        <a:rPr sz="1100" b="0">
                          <a:solidFill>
                            <a:srgbClr val="1F2A44"/>
                          </a:solidFill>
                          <a:latin typeface="Calibri"/>
                        </a:rPr>
                        <a:t>Akamba</a:t>
                      </a:r>
                    </a:p>
                  </a:txBody>
                  <a:tcPr marL="54864" marR="54864" marT="27432" marB="27432">
                    <a:solidFill>
                      <a:srgbClr val="FFFFFF"/>
                    </a:solidFill>
                  </a:tcPr>
                </a:tc>
                <a:tc>
                  <a:txBody>
                    <a:bodyPr wrap="square"/>
                    <a:lstStyle/>
                    <a:p>
                      <a:pPr algn="l"/>
                      <a:r>
                        <a:rPr sz="1100" b="0">
                          <a:solidFill>
                            <a:srgbClr val="1F2A44"/>
                          </a:solidFill>
                          <a:latin typeface="Calibri"/>
                        </a:rPr>
                        <a:t>musyi</a:t>
                      </a:r>
                    </a:p>
                  </a:txBody>
                  <a:tcPr marL="54864" marR="54864" marT="27432" marB="27432">
                    <a:solidFill>
                      <a:srgbClr val="FFFFFF"/>
                    </a:solidFill>
                  </a:tcPr>
                </a:tc>
                <a:tc>
                  <a:txBody>
                    <a:bodyPr wrap="square"/>
                    <a:lstStyle/>
                    <a:p>
                      <a:pPr algn="r"/>
                      <a:r>
                        <a:rPr sz="1100" b="0">
                          <a:solidFill>
                            <a:srgbClr val="1F2A44"/>
                          </a:solidFill>
                          <a:latin typeface="Courier New"/>
                        </a:rPr>
                        <a:t>3257</a:t>
                      </a:r>
                    </a:p>
                  </a:txBody>
                  <a:tcPr marL="54864" marR="54864" marT="27432" marB="27432">
                    <a:solidFill>
                      <a:srgbClr val="FFFFFF"/>
                    </a:solidFill>
                  </a:tcPr>
                </a:tc>
                <a:tc>
                  <a:txBody>
                    <a:bodyPr wrap="square"/>
                    <a:lstStyle/>
                    <a:p>
                      <a:pPr algn="r"/>
                      <a:r>
                        <a:rPr sz="1100" b="0">
                          <a:solidFill>
                            <a:srgbClr val="1F2A44"/>
                          </a:solidFill>
                          <a:latin typeface="Courier New"/>
                        </a:rPr>
                        <a:t>376.9</a:t>
                      </a:r>
                    </a:p>
                  </a:txBody>
                  <a:tcPr marL="54864" marR="54864" marT="27432" marB="27432">
                    <a:solidFill>
                      <a:srgbClr val="FFFFFF"/>
                    </a:solidFill>
                  </a:tcPr>
                </a:tc>
                <a:tc>
                  <a:txBody>
                    <a:bodyPr wrap="square"/>
                    <a:lstStyle/>
                    <a:p>
                      <a:pPr algn="r"/>
                      <a:r>
                        <a:rPr sz="1100" b="0">
                          <a:solidFill>
                            <a:srgbClr val="1F2A44"/>
                          </a:solidFill>
                          <a:latin typeface="Courier New"/>
                        </a:rPr>
                        <a:t>7815</a:t>
                      </a:r>
                    </a:p>
                  </a:txBody>
                  <a:tcPr marL="54864" marR="54864" marT="27432" marB="27432">
                    <a:solidFill>
                      <a:srgbClr val="FFFFFF"/>
                    </a:solidFill>
                  </a:tcPr>
                </a:tc>
                <a:tc>
                  <a:txBody>
                    <a:bodyPr wrap="square"/>
                    <a:lstStyle/>
                    <a:p>
                      <a:pPr algn="r"/>
                      <a:r>
                        <a:rPr sz="1100" b="0">
                          <a:solidFill>
                            <a:srgbClr val="1F2A44"/>
                          </a:solidFill>
                          <a:latin typeface="Courier New"/>
                        </a:rPr>
                        <a:t>-26.1</a:t>
                      </a:r>
                    </a:p>
                  </a:txBody>
                  <a:tcPr marL="54864" marR="54864" marT="27432" marB="27432">
                    <a:solidFill>
                      <a:srgbClr val="FFFFFF"/>
                    </a:solidFill>
                  </a:tcPr>
                </a:tc>
              </a:tr>
              <a:tr h="301752">
                <a:tc>
                  <a:txBody>
                    <a:bodyPr wrap="square"/>
                    <a:lstStyle/>
                    <a:p>
                      <a:pPr algn="l"/>
                      <a:r>
                        <a:rPr sz="1100" b="0">
                          <a:solidFill>
                            <a:srgbClr val="1F2A44"/>
                          </a:solidFill>
                          <a:latin typeface="Calibri"/>
                        </a:rPr>
                        <a:t>Luhya</a:t>
                      </a:r>
                    </a:p>
                  </a:txBody>
                  <a:tcPr marL="54864" marR="54864" marT="27432" marB="27432">
                    <a:solidFill>
                      <a:srgbClr val="FFFFFF"/>
                    </a:solidFill>
                  </a:tcPr>
                </a:tc>
                <a:tc>
                  <a:txBody>
                    <a:bodyPr wrap="square"/>
                    <a:lstStyle/>
                    <a:p>
                      <a:pPr algn="l"/>
                      <a:r>
                        <a:rPr sz="1100" b="0">
                          <a:solidFill>
                            <a:srgbClr val="1F2A44"/>
                          </a:solidFill>
                          <a:latin typeface="Calibri"/>
                        </a:rPr>
                        <a:t>mulembe</a:t>
                      </a:r>
                    </a:p>
                  </a:txBody>
                  <a:tcPr marL="54864" marR="54864" marT="27432" marB="27432">
                    <a:solidFill>
                      <a:srgbClr val="FFFFFF"/>
                    </a:solidFill>
                  </a:tcPr>
                </a:tc>
                <a:tc>
                  <a:txBody>
                    <a:bodyPr wrap="square"/>
                    <a:lstStyle/>
                    <a:p>
                      <a:pPr algn="r"/>
                      <a:r>
                        <a:rPr sz="1100" b="0">
                          <a:solidFill>
                            <a:srgbClr val="1F2A44"/>
                          </a:solidFill>
                          <a:latin typeface="Courier New"/>
                        </a:rPr>
                        <a:t>3344</a:t>
                      </a:r>
                    </a:p>
                  </a:txBody>
                  <a:tcPr marL="54864" marR="54864" marT="27432" marB="27432">
                    <a:solidFill>
                      <a:srgbClr val="FFFFFF"/>
                    </a:solidFill>
                  </a:tcPr>
                </a:tc>
                <a:tc>
                  <a:txBody>
                    <a:bodyPr wrap="square"/>
                    <a:lstStyle/>
                    <a:p>
                      <a:pPr algn="r"/>
                      <a:r>
                        <a:rPr sz="1100" b="0">
                          <a:solidFill>
                            <a:srgbClr val="1F2A44"/>
                          </a:solidFill>
                          <a:latin typeface="Courier New"/>
                        </a:rPr>
                        <a:t>371.8</a:t>
                      </a:r>
                    </a:p>
                  </a:txBody>
                  <a:tcPr marL="54864" marR="54864" marT="27432" marB="27432">
                    <a:solidFill>
                      <a:srgbClr val="FFFFFF"/>
                    </a:solidFill>
                  </a:tcPr>
                </a:tc>
                <a:tc>
                  <a:txBody>
                    <a:bodyPr wrap="square"/>
                    <a:lstStyle/>
                    <a:p>
                      <a:pPr algn="r"/>
                      <a:r>
                        <a:rPr sz="1100" b="0">
                          <a:solidFill>
                            <a:srgbClr val="1F2A44"/>
                          </a:solidFill>
                          <a:latin typeface="Courier New"/>
                        </a:rPr>
                        <a:t>13849</a:t>
                      </a:r>
                    </a:p>
                  </a:txBody>
                  <a:tcPr marL="54864" marR="54864" marT="27432" marB="27432">
                    <a:solidFill>
                      <a:srgbClr val="FFFFFF"/>
                    </a:solidFill>
                  </a:tcPr>
                </a:tc>
                <a:tc>
                  <a:txBody>
                    <a:bodyPr wrap="square"/>
                    <a:lstStyle/>
                    <a:p>
                      <a:pPr algn="r"/>
                      <a:r>
                        <a:rPr sz="1100" b="0">
                          <a:solidFill>
                            <a:srgbClr val="1F2A44"/>
                          </a:solidFill>
                          <a:latin typeface="Courier New"/>
                        </a:rPr>
                        <a:t>21.5</a:t>
                      </a:r>
                    </a:p>
                  </a:txBody>
                  <a:tcPr marL="54864" marR="54864" marT="27432" marB="27432">
                    <a:solidFill>
                      <a:srgbClr val="FFFFFF"/>
                    </a:solidFill>
                  </a:tcPr>
                </a:tc>
              </a:tr>
              <a:tr h="301752">
                <a:tc>
                  <a:txBody>
                    <a:bodyPr wrap="square"/>
                    <a:lstStyle/>
                    <a:p>
                      <a:pPr algn="l"/>
                      <a:r>
                        <a:rPr sz="1100" b="0">
                          <a:solidFill>
                            <a:srgbClr val="1F2A44"/>
                          </a:solidFill>
                          <a:latin typeface="Calibri"/>
                        </a:rPr>
                        <a:t>Luo</a:t>
                      </a:r>
                    </a:p>
                  </a:txBody>
                  <a:tcPr marL="54864" marR="54864" marT="27432" marB="27432">
                    <a:solidFill>
                      <a:srgbClr val="FFFFFF"/>
                    </a:solidFill>
                  </a:tcPr>
                </a:tc>
                <a:tc>
                  <a:txBody>
                    <a:bodyPr wrap="square"/>
                    <a:lstStyle/>
                    <a:p>
                      <a:pPr algn="l"/>
                      <a:r>
                        <a:rPr sz="1100" b="0">
                          <a:solidFill>
                            <a:srgbClr val="1F2A44"/>
                          </a:solidFill>
                          <a:latin typeface="Calibri"/>
                        </a:rPr>
                        <a:t>Ramogi</a:t>
                      </a:r>
                    </a:p>
                  </a:txBody>
                  <a:tcPr marL="54864" marR="54864" marT="27432" marB="27432">
                    <a:solidFill>
                      <a:srgbClr val="FFFFFF"/>
                    </a:solidFill>
                  </a:tcPr>
                </a:tc>
                <a:tc>
                  <a:txBody>
                    <a:bodyPr wrap="square"/>
                    <a:lstStyle/>
                    <a:p>
                      <a:pPr algn="r"/>
                      <a:r>
                        <a:rPr sz="1100" b="0">
                          <a:solidFill>
                            <a:srgbClr val="1F2A44"/>
                          </a:solidFill>
                          <a:latin typeface="Courier New"/>
                        </a:rPr>
                        <a:t>3228</a:t>
                      </a:r>
                    </a:p>
                  </a:txBody>
                  <a:tcPr marL="54864" marR="54864" marT="27432" marB="27432">
                    <a:solidFill>
                      <a:srgbClr val="FFFFFF"/>
                    </a:solidFill>
                  </a:tcPr>
                </a:tc>
                <a:tc>
                  <a:txBody>
                    <a:bodyPr wrap="square"/>
                    <a:lstStyle/>
                    <a:p>
                      <a:pPr algn="r"/>
                      <a:r>
                        <a:rPr sz="1100" b="0">
                          <a:solidFill>
                            <a:srgbClr val="1F2A44"/>
                          </a:solidFill>
                          <a:latin typeface="Courier New"/>
                        </a:rPr>
                        <a:t>359.9</a:t>
                      </a:r>
                    </a:p>
                  </a:txBody>
                  <a:tcPr marL="54864" marR="54864" marT="27432" marB="27432">
                    <a:solidFill>
                      <a:srgbClr val="FFFFFF"/>
                    </a:solidFill>
                  </a:tcPr>
                </a:tc>
                <a:tc>
                  <a:txBody>
                    <a:bodyPr wrap="square"/>
                    <a:lstStyle/>
                    <a:p>
                      <a:pPr algn="r"/>
                      <a:r>
                        <a:rPr sz="1100" b="0">
                          <a:solidFill>
                            <a:srgbClr val="1F2A44"/>
                          </a:solidFill>
                          <a:latin typeface="Courier New"/>
                        </a:rPr>
                        <a:t>22805</a:t>
                      </a:r>
                    </a:p>
                  </a:txBody>
                  <a:tcPr marL="54864" marR="54864" marT="27432" marB="27432">
                    <a:solidFill>
                      <a:srgbClr val="FFFFFF"/>
                    </a:solidFill>
                  </a:tcPr>
                </a:tc>
                <a:tc>
                  <a:txBody>
                    <a:bodyPr wrap="square"/>
                    <a:lstStyle/>
                    <a:p>
                      <a:pPr algn="r"/>
                      <a:r>
                        <a:rPr sz="1100" b="0">
                          <a:solidFill>
                            <a:srgbClr val="1F2A44"/>
                          </a:solidFill>
                          <a:latin typeface="Courier New"/>
                        </a:rPr>
                        <a:t>320.6</a:t>
                      </a:r>
                    </a:p>
                  </a:txBody>
                  <a:tcPr marL="54864" marR="54864" marT="27432" marB="27432">
                    <a:solidFill>
                      <a:srgbClr val="FFFFFF"/>
                    </a:solidFill>
                  </a:tcPr>
                </a:tc>
              </a:tr>
              <a:tr h="301752">
                <a:tc>
                  <a:txBody>
                    <a:bodyPr wrap="square"/>
                    <a:lstStyle/>
                    <a:p>
                      <a:pPr algn="l"/>
                      <a:r>
                        <a:rPr sz="1100" b="0">
                          <a:solidFill>
                            <a:srgbClr val="1F2A44"/>
                          </a:solidFill>
                          <a:latin typeface="Calibri"/>
                        </a:rPr>
                        <a:t>Maragoli</a:t>
                      </a:r>
                    </a:p>
                  </a:txBody>
                  <a:tcPr marL="54864" marR="54864" marT="27432" marB="27432">
                    <a:solidFill>
                      <a:srgbClr val="FFFFFF"/>
                    </a:solidFill>
                  </a:tcPr>
                </a:tc>
                <a:tc>
                  <a:txBody>
                    <a:bodyPr wrap="square"/>
                    <a:lstStyle/>
                    <a:p>
                      <a:pPr algn="l"/>
                      <a:r>
                        <a:rPr sz="1100" b="0">
                          <a:solidFill>
                            <a:srgbClr val="1F2A44"/>
                          </a:solidFill>
                          <a:latin typeface="Calibri"/>
                        </a:rPr>
                        <a:t>Vuuka</a:t>
                      </a:r>
                    </a:p>
                  </a:txBody>
                  <a:tcPr marL="54864" marR="54864" marT="27432" marB="27432">
                    <a:solidFill>
                      <a:srgbClr val="FFFFFF"/>
                    </a:solidFill>
                  </a:tcPr>
                </a:tc>
                <a:tc>
                  <a:txBody>
                    <a:bodyPr wrap="square"/>
                    <a:lstStyle/>
                    <a:p>
                      <a:pPr algn="r"/>
                      <a:r>
                        <a:rPr sz="1100" b="0">
                          <a:solidFill>
                            <a:srgbClr val="1F2A44"/>
                          </a:solidFill>
                          <a:latin typeface="Courier New"/>
                        </a:rPr>
                        <a:t>3017</a:t>
                      </a:r>
                    </a:p>
                  </a:txBody>
                  <a:tcPr marL="54864" marR="54864" marT="27432" marB="27432">
                    <a:solidFill>
                      <a:srgbClr val="FFFFFF"/>
                    </a:solidFill>
                  </a:tcPr>
                </a:tc>
                <a:tc>
                  <a:txBody>
                    <a:bodyPr wrap="square"/>
                    <a:lstStyle/>
                    <a:p>
                      <a:pPr algn="r"/>
                      <a:r>
                        <a:rPr sz="1100" b="0">
                          <a:solidFill>
                            <a:srgbClr val="1F2A44"/>
                          </a:solidFill>
                          <a:latin typeface="Courier New"/>
                        </a:rPr>
                        <a:t>311.6</a:t>
                      </a:r>
                    </a:p>
                  </a:txBody>
                  <a:tcPr marL="54864" marR="54864" marT="27432" marB="27432">
                    <a:solidFill>
                      <a:srgbClr val="FFFFFF"/>
                    </a:solidFill>
                  </a:tcPr>
                </a:tc>
                <a:tc>
                  <a:txBody>
                    <a:bodyPr wrap="square"/>
                    <a:lstStyle/>
                    <a:p>
                      <a:pPr algn="r"/>
                      <a:r>
                        <a:rPr sz="1100" b="0">
                          <a:solidFill>
                            <a:srgbClr val="1F2A44"/>
                          </a:solidFill>
                          <a:latin typeface="Courier New"/>
                        </a:rPr>
                        <a:t>0</a:t>
                      </a:r>
                    </a:p>
                  </a:txBody>
                  <a:tcPr marL="54864" marR="54864" marT="27432" marB="27432">
                    <a:solidFill>
                      <a:srgbClr val="FFFFFF"/>
                    </a:solidFill>
                  </a:tcPr>
                </a:tc>
                <a:tc>
                  <a:txBody>
                    <a:bodyPr wrap="square"/>
                    <a:lstStyle/>
                    <a:p>
                      <a:pPr algn="r"/>
                      <a:r>
                        <a:rPr sz="1100" b="0">
                          <a:solidFill>
                            <a:srgbClr val="1F2A44"/>
                          </a:solidFill>
                          <a:latin typeface="Courier New"/>
                        </a:rPr>
                        <a:t>0.0</a:t>
                      </a:r>
                    </a:p>
                  </a:txBody>
                  <a:tcPr marL="54864" marR="54864" marT="27432" marB="27432">
                    <a:solidFill>
                      <a:srgbClr val="FFFFFF"/>
                    </a:solidFill>
                  </a:tcPr>
                </a:tc>
              </a:tr>
              <a:tr h="301752">
                <a:tc>
                  <a:txBody>
                    <a:bodyPr wrap="square"/>
                    <a:lstStyle/>
                    <a:p>
                      <a:pPr algn="l"/>
                      <a:r>
                        <a:rPr sz="1100" b="0">
                          <a:solidFill>
                            <a:srgbClr val="1F2A44"/>
                          </a:solidFill>
                          <a:latin typeface="Calibri"/>
                        </a:rPr>
                        <a:t>Kalenjin</a:t>
                      </a:r>
                    </a:p>
                  </a:txBody>
                  <a:tcPr marL="54864" marR="54864" marT="27432" marB="27432">
                    <a:solidFill>
                      <a:srgbClr val="FFFFFF"/>
                    </a:solidFill>
                  </a:tcPr>
                </a:tc>
                <a:tc>
                  <a:txBody>
                    <a:bodyPr wrap="square"/>
                    <a:lstStyle/>
                    <a:p>
                      <a:pPr algn="l"/>
                      <a:r>
                        <a:rPr sz="1100" b="0">
                          <a:solidFill>
                            <a:srgbClr val="1F2A44"/>
                          </a:solidFill>
                          <a:latin typeface="Calibri"/>
                        </a:rPr>
                        <a:t>Chamgei</a:t>
                      </a:r>
                    </a:p>
                  </a:txBody>
                  <a:tcPr marL="54864" marR="54864" marT="27432" marB="27432">
                    <a:solidFill>
                      <a:srgbClr val="FFFFFF"/>
                    </a:solidFill>
                  </a:tcPr>
                </a:tc>
                <a:tc>
                  <a:txBody>
                    <a:bodyPr wrap="square"/>
                    <a:lstStyle/>
                    <a:p>
                      <a:pPr algn="r"/>
                      <a:r>
                        <a:rPr sz="1100" b="0">
                          <a:solidFill>
                            <a:srgbClr val="1F2A44"/>
                          </a:solidFill>
                          <a:latin typeface="Courier New"/>
                        </a:rPr>
                        <a:t>841</a:t>
                      </a:r>
                    </a:p>
                  </a:txBody>
                  <a:tcPr marL="54864" marR="54864" marT="27432" marB="27432">
                    <a:solidFill>
                      <a:srgbClr val="FFFFFF"/>
                    </a:solidFill>
                  </a:tcPr>
                </a:tc>
                <a:tc>
                  <a:txBody>
                    <a:bodyPr wrap="square"/>
                    <a:lstStyle/>
                    <a:p>
                      <a:pPr algn="r"/>
                      <a:r>
                        <a:rPr sz="1100" b="0">
                          <a:solidFill>
                            <a:srgbClr val="1F2A44"/>
                          </a:solidFill>
                          <a:latin typeface="Courier New"/>
                        </a:rPr>
                        <a:t>300.8</a:t>
                      </a:r>
                    </a:p>
                  </a:txBody>
                  <a:tcPr marL="54864" marR="54864" marT="27432" marB="27432">
                    <a:solidFill>
                      <a:srgbClr val="FFFFFF"/>
                    </a:solidFill>
                  </a:tcPr>
                </a:tc>
                <a:tc>
                  <a:txBody>
                    <a:bodyPr wrap="square"/>
                    <a:lstStyle/>
                    <a:p>
                      <a:pPr algn="r"/>
                      <a:r>
                        <a:rPr sz="1100" b="0">
                          <a:solidFill>
                            <a:srgbClr val="1F2A44"/>
                          </a:solidFill>
                          <a:latin typeface="Courier New"/>
                        </a:rPr>
                        <a:t>22301</a:t>
                      </a:r>
                    </a:p>
                  </a:txBody>
                  <a:tcPr marL="54864" marR="54864" marT="27432" marB="27432">
                    <a:solidFill>
                      <a:srgbClr val="FFFFFF"/>
                    </a:solidFill>
                  </a:tcPr>
                </a:tc>
                <a:tc>
                  <a:txBody>
                    <a:bodyPr wrap="square"/>
                    <a:lstStyle/>
                    <a:p>
                      <a:pPr algn="r"/>
                      <a:r>
                        <a:rPr sz="1100" b="0">
                          <a:solidFill>
                            <a:srgbClr val="1F2A44"/>
                          </a:solidFill>
                          <a:latin typeface="Courier New"/>
                        </a:rPr>
                        <a:t>18.0</a:t>
                      </a:r>
                    </a:p>
                  </a:txBody>
                  <a:tcPr marL="54864" marR="54864" marT="27432" marB="27432">
                    <a:solidFill>
                      <a:srgbClr val="FFFFFF"/>
                    </a:solidFill>
                  </a:tcPr>
                </a:tc>
              </a:tr>
              <a:tr h="301752">
                <a:tc>
                  <a:txBody>
                    <a:bodyPr wrap="square"/>
                    <a:lstStyle/>
                    <a:p>
                      <a:pPr algn="l"/>
                      <a:r>
                        <a:rPr sz="1100" b="0">
                          <a:solidFill>
                            <a:srgbClr val="1F2A44"/>
                          </a:solidFill>
                          <a:latin typeface="Calibri"/>
                        </a:rPr>
                        <a:t>Meru</a:t>
                      </a:r>
                    </a:p>
                  </a:txBody>
                  <a:tcPr marL="54864" marR="54864" marT="27432" marB="27432">
                    <a:solidFill>
                      <a:srgbClr val="FFFFFF"/>
                    </a:solidFill>
                  </a:tcPr>
                </a:tc>
                <a:tc>
                  <a:txBody>
                    <a:bodyPr wrap="square"/>
                    <a:lstStyle/>
                    <a:p>
                      <a:pPr algn="l"/>
                      <a:r>
                        <a:rPr sz="1100" b="0">
                          <a:solidFill>
                            <a:srgbClr val="1F2A44"/>
                          </a:solidFill>
                          <a:latin typeface="Calibri"/>
                        </a:rPr>
                        <a:t>Muuga</a:t>
                      </a:r>
                    </a:p>
                  </a:txBody>
                  <a:tcPr marL="54864" marR="54864" marT="27432" marB="27432">
                    <a:solidFill>
                      <a:srgbClr val="FFFFFF"/>
                    </a:solidFill>
                  </a:tcPr>
                </a:tc>
                <a:tc>
                  <a:txBody>
                    <a:bodyPr wrap="square"/>
                    <a:lstStyle/>
                    <a:p>
                      <a:pPr algn="r"/>
                      <a:r>
                        <a:rPr sz="1100" b="0">
                          <a:solidFill>
                            <a:srgbClr val="1F2A44"/>
                          </a:solidFill>
                          <a:latin typeface="Courier New"/>
                        </a:rPr>
                        <a:t>1973</a:t>
                      </a:r>
                    </a:p>
                  </a:txBody>
                  <a:tcPr marL="54864" marR="54864" marT="27432" marB="27432">
                    <a:solidFill>
                      <a:srgbClr val="FFFFFF"/>
                    </a:solidFill>
                  </a:tcPr>
                </a:tc>
                <a:tc>
                  <a:txBody>
                    <a:bodyPr wrap="square"/>
                    <a:lstStyle/>
                    <a:p>
                      <a:pPr algn="r"/>
                      <a:r>
                        <a:rPr sz="1100" b="0">
                          <a:solidFill>
                            <a:srgbClr val="1F2A44"/>
                          </a:solidFill>
                          <a:latin typeface="Courier New"/>
                        </a:rPr>
                        <a:t>282.6</a:t>
                      </a:r>
                    </a:p>
                  </a:txBody>
                  <a:tcPr marL="54864" marR="54864" marT="27432" marB="27432">
                    <a:solidFill>
                      <a:srgbClr val="FFFFFF"/>
                    </a:solidFill>
                  </a:tcPr>
                </a:tc>
                <a:tc>
                  <a:txBody>
                    <a:bodyPr wrap="square"/>
                    <a:lstStyle/>
                    <a:p>
                      <a:pPr algn="r"/>
                      <a:r>
                        <a:rPr sz="1100" b="0">
                          <a:solidFill>
                            <a:srgbClr val="1F2A44"/>
                          </a:solidFill>
                          <a:latin typeface="Courier New"/>
                        </a:rPr>
                        <a:t>0</a:t>
                      </a:r>
                    </a:p>
                  </a:txBody>
                  <a:tcPr marL="54864" marR="54864" marT="27432" marB="27432">
                    <a:solidFill>
                      <a:srgbClr val="FFFFFF"/>
                    </a:solidFill>
                  </a:tcPr>
                </a:tc>
                <a:tc>
                  <a:txBody>
                    <a:bodyPr wrap="square"/>
                    <a:lstStyle/>
                    <a:p>
                      <a:pPr algn="r"/>
                      <a:r>
                        <a:rPr sz="1100" b="0">
                          <a:solidFill>
                            <a:srgbClr val="1F2A44"/>
                          </a:solidFill>
                          <a:latin typeface="Courier New"/>
                        </a:rPr>
                        <a:t>0.0</a:t>
                      </a:r>
                    </a:p>
                  </a:txBody>
                  <a:tcPr marL="54864" marR="54864" marT="27432" marB="27432">
                    <a:solidFill>
                      <a:srgbClr val="FFFFFF"/>
                    </a:solidFill>
                  </a:tcPr>
                </a:tc>
              </a:tr>
              <a:tr h="301752">
                <a:tc>
                  <a:txBody>
                    <a:bodyPr wrap="square"/>
                    <a:lstStyle/>
                    <a:p>
                      <a:pPr algn="l"/>
                      <a:r>
                        <a:rPr sz="1100" b="0">
                          <a:solidFill>
                            <a:srgbClr val="1F2A44"/>
                          </a:solidFill>
                          <a:latin typeface="Calibri"/>
                        </a:rPr>
                        <a:t>Embu</a:t>
                      </a:r>
                    </a:p>
                  </a:txBody>
                  <a:tcPr marL="54864" marR="54864" marT="27432" marB="27432">
                    <a:solidFill>
                      <a:srgbClr val="FFFFFF"/>
                    </a:solidFill>
                  </a:tcPr>
                </a:tc>
                <a:tc>
                  <a:txBody>
                    <a:bodyPr wrap="square"/>
                    <a:lstStyle/>
                    <a:p>
                      <a:pPr algn="l"/>
                      <a:r>
                        <a:rPr sz="1100" b="0">
                          <a:solidFill>
                            <a:srgbClr val="1F2A44"/>
                          </a:solidFill>
                          <a:latin typeface="Calibri"/>
                        </a:rPr>
                        <a:t>wimwaro</a:t>
                      </a:r>
                    </a:p>
                  </a:txBody>
                  <a:tcPr marL="54864" marR="54864" marT="27432" marB="27432">
                    <a:solidFill>
                      <a:srgbClr val="FFFFFF"/>
                    </a:solidFill>
                  </a:tcPr>
                </a:tc>
                <a:tc>
                  <a:txBody>
                    <a:bodyPr wrap="square"/>
                    <a:lstStyle/>
                    <a:p>
                      <a:pPr algn="r"/>
                      <a:r>
                        <a:rPr sz="1100" b="0">
                          <a:solidFill>
                            <a:srgbClr val="1F2A44"/>
                          </a:solidFill>
                          <a:latin typeface="Courier New"/>
                        </a:rPr>
                        <a:t>1501</a:t>
                      </a:r>
                    </a:p>
                  </a:txBody>
                  <a:tcPr marL="54864" marR="54864" marT="27432" marB="27432">
                    <a:solidFill>
                      <a:srgbClr val="FFFFFF"/>
                    </a:solidFill>
                  </a:tcPr>
                </a:tc>
                <a:tc>
                  <a:txBody>
                    <a:bodyPr wrap="square"/>
                    <a:lstStyle/>
                    <a:p>
                      <a:pPr algn="r"/>
                      <a:r>
                        <a:rPr sz="1100" b="0">
                          <a:solidFill>
                            <a:srgbClr val="1F2A44"/>
                          </a:solidFill>
                          <a:latin typeface="Courier New"/>
                        </a:rPr>
                        <a:t>276.4</a:t>
                      </a:r>
                    </a:p>
                  </a:txBody>
                  <a:tcPr marL="54864" marR="54864" marT="27432" marB="27432">
                    <a:solidFill>
                      <a:srgbClr val="FFFFFF"/>
                    </a:solidFill>
                  </a:tcPr>
                </a:tc>
                <a:tc>
                  <a:txBody>
                    <a:bodyPr wrap="square"/>
                    <a:lstStyle/>
                    <a:p>
                      <a:pPr algn="r"/>
                      <a:r>
                        <a:rPr sz="1100" b="0">
                          <a:solidFill>
                            <a:srgbClr val="1F2A44"/>
                          </a:solidFill>
                          <a:latin typeface="Courier New"/>
                        </a:rPr>
                        <a:t>0</a:t>
                      </a:r>
                    </a:p>
                  </a:txBody>
                  <a:tcPr marL="54864" marR="54864" marT="27432" marB="27432">
                    <a:solidFill>
                      <a:srgbClr val="FFFFFF"/>
                    </a:solidFill>
                  </a:tcPr>
                </a:tc>
                <a:tc>
                  <a:txBody>
                    <a:bodyPr wrap="square"/>
                    <a:lstStyle/>
                    <a:p>
                      <a:pPr algn="r"/>
                      <a:r>
                        <a:rPr sz="1100" b="0">
                          <a:solidFill>
                            <a:srgbClr val="1F2A44"/>
                          </a:solidFill>
                          <a:latin typeface="Courier New"/>
                        </a:rPr>
                        <a:t>0.0</a:t>
                      </a:r>
                    </a:p>
                  </a:txBody>
                  <a:tcPr marL="54864" marR="54864" marT="27432" marB="2743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C8102E"/>
                </a:solidFill>
                <a:latin typeface="Calibri"/>
              </a:rPr>
              <a:t>The workbench registers recordings per language with their length and whether a transcript was produced; transcript hours are the summed segment spans.</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[measured]  Receipt R08: Aggregate-only database reading etx-81e10befe6e0: news_vault.stories (script, title, date, hour_id) → news_vault.hours (station_id, time, type_id) → news_vault.stations (name); news_vault.news (2022 bulletins); local.uploaded_files (language_id, audio_length, status) ← local.transcripts (file_id, start_time, end_time, transcript) ; local.folder_languages (Language, code, station)</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1920240"/>
            <a:ext cx="2613355" cy="1885492"/>
          </a:xfrm>
          <a:prstGeom prst="rect">
            <a:avLst/>
          </a:prstGeom>
          <a:noFill/>
        </p:spPr>
        <p:txBody>
          <a:bodyPr wrap="square" lIns="0" rIns="0" tIns="0" bIns="0" anchor="ctr">
            <a:spAutoFit/>
          </a:bodyPr>
          <a:lstStyle/>
          <a:p>
            <a:pPr algn="l"/>
            <a:r>
              <a:rPr sz="9600" b="0" i="0">
                <a:solidFill>
                  <a:srgbClr val="C8102E"/>
                </a:solidFill>
                <a:latin typeface="Courier New"/>
              </a:rPr>
              <a:t>07</a:t>
            </a:r>
          </a:p>
        </p:txBody>
      </p:sp>
      <p:sp>
        <p:nvSpPr>
          <p:cNvPr id="3" name="TextBox 2"/>
          <p:cNvSpPr txBox="1"/>
          <p:nvPr/>
        </p:nvSpPr>
        <p:spPr>
          <a:xfrm>
            <a:off x="3390595" y="2297887"/>
            <a:ext cx="8206740" cy="1508760"/>
          </a:xfrm>
          <a:prstGeom prst="rect">
            <a:avLst/>
          </a:prstGeom>
          <a:noFill/>
        </p:spPr>
        <p:txBody>
          <a:bodyPr wrap="square" lIns="0" rIns="0" tIns="0" bIns="0" anchor="ctr">
            <a:spAutoFit/>
          </a:bodyPr>
          <a:lstStyle/>
          <a:p>
            <a:pPr algn="l"/>
            <a:r>
              <a:rPr sz="3200" b="0" i="0">
                <a:solidFill>
                  <a:srgbClr val="1F2A44"/>
                </a:solidFill>
                <a:latin typeface="Cambria"/>
              </a:rPr>
              <a:t>Readable media stores and the unreadable ones</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HOURS BY BUCKET</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Readable buckets hold an estimated 41,098.4 hours, concentrated in a few buckets</a:t>
            </a:r>
          </a:p>
        </p:txBody>
      </p:sp>
      <p:graphicFrame>
        <p:nvGraphicFramePr>
          <p:cNvPr id="4" name="Chart 3"/>
          <p:cNvGraphicFramePr>
            <a:graphicFrameLocks noGrp="1"/>
          </p:cNvGraphicFramePr>
          <p:nvPr/>
        </p:nvGraphicFramePr>
        <p:xfrm>
          <a:off x="594360" y="1920240"/>
          <a:ext cx="11002975" cy="3394252"/>
        </p:xfrm>
        <a:graphic>
          <a:graphicData uri="http://schemas.openxmlformats.org/drawingml/2006/chart">
            <c:chart xmlns:c="http://schemas.openxmlformats.org/drawingml/2006/chart" r:id="rId2"/>
          </a:graphicData>
        </a:graphic>
      </p:graphicFrame>
      <p:sp>
        <p:nvSpPr>
          <p:cNvPr id="5" name="TextBox 4"/>
          <p:cNvSpPr txBox="1"/>
          <p:nvPr/>
        </p:nvSpPr>
        <p:spPr>
          <a:xfrm>
            <a:off x="594360" y="5314492"/>
            <a:ext cx="8206740" cy="376732"/>
          </a:xfrm>
          <a:prstGeom prst="rect">
            <a:avLst/>
          </a:prstGeom>
          <a:noFill/>
        </p:spPr>
        <p:txBody>
          <a:bodyPr wrap="square" lIns="0" rIns="0" tIns="0" bIns="0" anchor="b">
            <a:spAutoFit/>
          </a:bodyPr>
          <a:lstStyle/>
          <a:p>
            <a:pPr algn="l"/>
            <a:r>
              <a:rPr sz="1400" b="0" i="1">
                <a:solidFill>
                  <a:srgbClr val="C8102E"/>
                </a:solidFill>
                <a:latin typeface="Calibri"/>
              </a:rPr>
              <a:t>Hours rest on file headers plus per-folder extrapolation; they are not decoded hours, and validation should follow scale.</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[estimated]  Receipt R10: Interim tiered content census (content_sample); snapshots OBS 2026-10-03T01:40:08.564624+00:00; NAS 2026-10-03T01:38:24.195696+00:00; receipts cr-81526aa143aa, cr-8640b1cbcbc6, cr-aa33fffba60e, cr-bbf71c8d905a, cr-cf4eef79995b, cr-f1415e395361 on akki-vm and akki-vm-ii. Resumable listing, header probes of accessible audio and a per-folder video sample (ranged reads → ffprobe), with unprobed durations extrapolated where possible; a seeded stratified sample of files per folder read byte for byte, verified against the listing and judged on every two-second window by the admitted music detector and the current audio language model; ratio estimators with finite-population correction give the 95 % intervals. Listing, probing and sampling are incomplete. Model readings, not human labels; intervals exclude model error and inaccessible or unsampled content.</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44</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SPEECH BY LANGUAGE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Kiswahili and Gikuyu lead estimated speech hours across the readable stores</a:t>
            </a:r>
          </a:p>
        </p:txBody>
      </p:sp>
      <p:graphicFrame>
        <p:nvGraphicFramePr>
          <p:cNvPr id="4" name="Chart 3"/>
          <p:cNvGraphicFramePr>
            <a:graphicFrameLocks noGrp="1"/>
          </p:cNvGraphicFramePr>
          <p:nvPr/>
        </p:nvGraphicFramePr>
        <p:xfrm>
          <a:off x="594360" y="1920240"/>
          <a:ext cx="11002975" cy="3394252"/>
        </p:xfrm>
        <a:graphic>
          <a:graphicData uri="http://schemas.openxmlformats.org/drawingml/2006/chart">
            <c:chart xmlns:c="http://schemas.openxmlformats.org/drawingml/2006/chart" r:id="rId2"/>
          </a:graphicData>
        </a:graphic>
      </p:graphicFrame>
      <p:sp>
        <p:nvSpPr>
          <p:cNvPr id="5" name="TextBox 4"/>
          <p:cNvSpPr txBox="1"/>
          <p:nvPr/>
        </p:nvSpPr>
        <p:spPr>
          <a:xfrm>
            <a:off x="594360" y="5314492"/>
            <a:ext cx="8206740" cy="376732"/>
          </a:xfrm>
          <a:prstGeom prst="rect">
            <a:avLst/>
          </a:prstGeom>
          <a:noFill/>
        </p:spPr>
        <p:txBody>
          <a:bodyPr wrap="square" lIns="0" rIns="0" tIns="0" bIns="0" anchor="b">
            <a:spAutoFit/>
          </a:bodyPr>
          <a:lstStyle/>
          <a:p>
            <a:pPr algn="l"/>
            <a:r>
              <a:rPr sz="1400" b="0" i="1">
                <a:solidFill>
                  <a:srgbClr val="C8102E"/>
                </a:solidFill>
                <a:latin typeface="Calibri"/>
              </a:rPr>
              <a:t>Abstentions and unsupported languages are not redistributed, and sampling intervals exclude classification error.</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[estimated]  Receipt R10: Interim tiered content census (content_sample); snapshots OBS 2026-10-03T01:40:08.564624+00:00; NAS 2026-10-03T01:38:24.195696+00:00; receipts cr-81526aa143aa, cr-8640b1cbcbc6, cr-aa33fffba60e, cr-bbf71c8d905a, cr-cf4eef79995b, cr-f1415e395361 on akki-vm and akki-vm-ii. Resumable listing, header probes of accessible audio and a per-folder video sample (ranged reads → ffprobe), with unprobed durations extrapolated where possible; a seeded stratified sample of files per folder read byte for byte, verified against the listing and judged on every two-second window by the admitted music detector and the current audio language model; ratio estimators with finite-population correction give the 95 % intervals. Listing, probing and sampling are incomplete. Model readings, not human labels; intervals exclude model error and inaccessible or unsampled content.</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45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READABLE SCOPE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90.7% of listed object-store media files are beyond the census key's reach</a:t>
            </a:r>
          </a:p>
        </p:txBody>
      </p:sp>
      <p:sp>
        <p:nvSpPr>
          <p:cNvPr id="4" name="TextBox 3"/>
          <p:cNvSpPr txBox="1"/>
          <p:nvPr/>
        </p:nvSpPr>
        <p:spPr>
          <a:xfrm>
            <a:off x="594360" y="1920240"/>
            <a:ext cx="640080" cy="942975"/>
          </a:xfrm>
          <a:prstGeom prst="rect">
            <a:avLst/>
          </a:prstGeom>
          <a:noFill/>
        </p:spPr>
        <p:txBody>
          <a:bodyPr wrap="square" lIns="0" rIns="0" tIns="0" bIns="0" anchor="t">
            <a:spAutoFit/>
          </a:bodyPr>
          <a:lstStyle/>
          <a:p>
            <a:pPr algn="l"/>
            <a:r>
              <a:rPr sz="2600" b="0" i="0">
                <a:solidFill>
                  <a:srgbClr val="C8102E"/>
                </a:solidFill>
                <a:latin typeface="Courier New"/>
              </a:rPr>
              <a:t>01</a:t>
            </a:r>
          </a:p>
        </p:txBody>
      </p:sp>
      <p:sp>
        <p:nvSpPr>
          <p:cNvPr id="5" name="TextBox 4"/>
          <p:cNvSpPr txBox="1"/>
          <p:nvPr/>
        </p:nvSpPr>
        <p:spPr>
          <a:xfrm>
            <a:off x="1417320" y="1993392"/>
            <a:ext cx="10180015" cy="851535"/>
          </a:xfrm>
          <a:prstGeom prst="rect">
            <a:avLst/>
          </a:prstGeom>
          <a:noFill/>
        </p:spPr>
        <p:txBody>
          <a:bodyPr wrap="square" lIns="0" rIns="0" tIns="0" bIns="0" anchor="t">
            <a:spAutoFit/>
          </a:bodyPr>
          <a:lstStyle/>
          <a:p>
            <a:pPr algn="l"/>
            <a:r>
              <a:rPr sz="1400" b="0" i="0">
                <a:solidFill>
                  <a:srgbClr val="1F2A44"/>
                </a:solidFill>
                <a:latin typeface="Calibri"/>
              </a:rPr>
              <a:t>0.4m media files sit in readable buckets; 4.2m files, 120.7 TiB, sit in buckets the key cannot read. These are counted, never estimated.</a:t>
            </a:r>
          </a:p>
        </p:txBody>
      </p:sp>
      <p:cxnSp>
        <p:nvCxnSpPr>
          <p:cNvPr id="6" name="Connector 5"/>
          <p:cNvCxnSpPr/>
          <p:nvPr/>
        </p:nvCxnSpPr>
        <p:spPr>
          <a:xfrm>
            <a:off x="594360" y="2753487"/>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2863215"/>
            <a:ext cx="640080" cy="942975"/>
          </a:xfrm>
          <a:prstGeom prst="rect">
            <a:avLst/>
          </a:prstGeom>
          <a:noFill/>
        </p:spPr>
        <p:txBody>
          <a:bodyPr wrap="square" lIns="0" rIns="0" tIns="0" bIns="0" anchor="t">
            <a:spAutoFit/>
          </a:bodyPr>
          <a:lstStyle/>
          <a:p>
            <a:pPr algn="l"/>
            <a:r>
              <a:rPr sz="2600" b="0" i="0">
                <a:solidFill>
                  <a:srgbClr val="C8102E"/>
                </a:solidFill>
                <a:latin typeface="Courier New"/>
              </a:rPr>
              <a:t>02</a:t>
            </a:r>
          </a:p>
        </p:txBody>
      </p:sp>
      <p:sp>
        <p:nvSpPr>
          <p:cNvPr id="8" name="TextBox 7"/>
          <p:cNvSpPr txBox="1"/>
          <p:nvPr/>
        </p:nvSpPr>
        <p:spPr>
          <a:xfrm>
            <a:off x="1417320" y="2936367"/>
            <a:ext cx="10180015" cy="851535"/>
          </a:xfrm>
          <a:prstGeom prst="rect">
            <a:avLst/>
          </a:prstGeom>
          <a:noFill/>
        </p:spPr>
        <p:txBody>
          <a:bodyPr wrap="square" lIns="0" rIns="0" tIns="0" bIns="0" anchor="t">
            <a:spAutoFit/>
          </a:bodyPr>
          <a:lstStyle/>
          <a:p>
            <a:pPr algn="l"/>
            <a:r>
              <a:rPr sz="1400" b="0" i="0">
                <a:solidFill>
                  <a:srgbClr val="1F2A44"/>
                </a:solidFill>
                <a:latin typeface="Calibri"/>
              </a:rPr>
              <a:t>15 buckets refuse object reads and 2 need a restore first; access grants and a restore decision come next.</a:t>
            </a:r>
          </a:p>
        </p:txBody>
      </p:sp>
      <p:cxnSp>
        <p:nvCxnSpPr>
          <p:cNvPr id="9" name="Connector 8"/>
          <p:cNvCxnSpPr/>
          <p:nvPr/>
        </p:nvCxnSpPr>
        <p:spPr>
          <a:xfrm>
            <a:off x="594360" y="3696461"/>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94360" y="3806189"/>
            <a:ext cx="640080" cy="942975"/>
          </a:xfrm>
          <a:prstGeom prst="rect">
            <a:avLst/>
          </a:prstGeom>
          <a:noFill/>
        </p:spPr>
        <p:txBody>
          <a:bodyPr wrap="square" lIns="0" rIns="0" tIns="0" bIns="0" anchor="t">
            <a:spAutoFit/>
          </a:bodyPr>
          <a:lstStyle/>
          <a:p>
            <a:pPr algn="l"/>
            <a:r>
              <a:rPr sz="2600" b="0" i="0">
                <a:solidFill>
                  <a:srgbClr val="C8102E"/>
                </a:solidFill>
                <a:latin typeface="Courier New"/>
              </a:rPr>
              <a:t>03</a:t>
            </a:r>
          </a:p>
        </p:txBody>
      </p:sp>
      <p:sp>
        <p:nvSpPr>
          <p:cNvPr id="11" name="TextBox 10"/>
          <p:cNvSpPr txBox="1"/>
          <p:nvPr/>
        </p:nvSpPr>
        <p:spPr>
          <a:xfrm>
            <a:off x="1417320" y="3879341"/>
            <a:ext cx="10180015" cy="851535"/>
          </a:xfrm>
          <a:prstGeom prst="rect">
            <a:avLst/>
          </a:prstGeom>
          <a:noFill/>
        </p:spPr>
        <p:txBody>
          <a:bodyPr wrap="square" lIns="0" rIns="0" tIns="0" bIns="0" anchor="t">
            <a:spAutoFit/>
          </a:bodyPr>
          <a:lstStyle/>
          <a:p>
            <a:pPr algn="l"/>
            <a:r>
              <a:rPr sz="1400" b="0" i="0">
                <a:solidFill>
                  <a:srgbClr val="1F2A44"/>
                </a:solidFill>
                <a:latin typeface="Calibri"/>
              </a:rPr>
              <a:t>Readable scope is estimated at 41,098.4 hours, with 22,464.9 speech and 19,833.7 music; the estimators need not add to the header total.</a:t>
            </a:r>
          </a:p>
        </p:txBody>
      </p:sp>
      <p:cxnSp>
        <p:nvCxnSpPr>
          <p:cNvPr id="12" name="Connector 11"/>
          <p:cNvCxnSpPr/>
          <p:nvPr/>
        </p:nvCxnSpPr>
        <p:spPr>
          <a:xfrm>
            <a:off x="594360" y="4639437"/>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594360" y="4749165"/>
            <a:ext cx="640080" cy="942975"/>
          </a:xfrm>
          <a:prstGeom prst="rect">
            <a:avLst/>
          </a:prstGeom>
          <a:noFill/>
        </p:spPr>
        <p:txBody>
          <a:bodyPr wrap="square" lIns="0" rIns="0" tIns="0" bIns="0" anchor="t">
            <a:spAutoFit/>
          </a:bodyPr>
          <a:lstStyle/>
          <a:p>
            <a:pPr algn="l"/>
            <a:r>
              <a:rPr sz="2600" b="0" i="0">
                <a:solidFill>
                  <a:srgbClr val="C8102E"/>
                </a:solidFill>
                <a:latin typeface="Courier New"/>
              </a:rPr>
              <a:t>04</a:t>
            </a:r>
          </a:p>
        </p:txBody>
      </p:sp>
      <p:sp>
        <p:nvSpPr>
          <p:cNvPr id="14" name="TextBox 13"/>
          <p:cNvSpPr txBox="1"/>
          <p:nvPr/>
        </p:nvSpPr>
        <p:spPr>
          <a:xfrm>
            <a:off x="1417320" y="4822317"/>
            <a:ext cx="10180015" cy="851535"/>
          </a:xfrm>
          <a:prstGeom prst="rect">
            <a:avLst/>
          </a:prstGeom>
          <a:noFill/>
        </p:spPr>
        <p:txBody>
          <a:bodyPr wrap="square" lIns="0" rIns="0" tIns="0" bIns="0" anchor="t">
            <a:spAutoFit/>
          </a:bodyPr>
          <a:lstStyle/>
          <a:p>
            <a:pPr algn="l"/>
            <a:r>
              <a:rPr sz="1400" b="0" i="0">
                <a:solidFill>
                  <a:srgbClr val="1F2A44"/>
                </a:solidFill>
                <a:latin typeface="Calibri"/>
              </a:rPr>
              <a:t>These rest on 7523 files read in full and 242569 header-probed; sampling is unfinished and intervals exclude model error.</a:t>
            </a:r>
          </a:p>
        </p:txBody>
      </p:sp>
      <p:cxnSp>
        <p:nvCxnSpPr>
          <p:cNvPr id="15" name="Connector 14"/>
          <p:cNvCxnSpPr/>
          <p:nvPr/>
        </p:nvCxnSpPr>
        <p:spPr>
          <a:xfrm>
            <a:off x="594360" y="5582412"/>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17" name="TextBox 16"/>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18" name="TextBox 17"/>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46</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EVIDENCE BY NAME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Media stores — what was listed, what could be read, hours held and what the sample says (largest first)</a:t>
            </a:r>
          </a:p>
        </p:txBody>
      </p:sp>
      <p:graphicFrame>
        <p:nvGraphicFramePr>
          <p:cNvPr id="4" name="Table 3"/>
          <p:cNvGraphicFramePr>
            <a:graphicFrameLocks noGrp="1"/>
          </p:cNvGraphicFramePr>
          <p:nvPr/>
        </p:nvGraphicFramePr>
        <p:xfrm>
          <a:off x="594360" y="1920240"/>
          <a:ext cx="11002971" cy="3017520"/>
        </p:xfrm>
        <a:graphic>
          <a:graphicData uri="http://schemas.openxmlformats.org/drawingml/2006/table">
            <a:tbl>
              <a:tblPr firstRow="1" bandRow="1">
                <a:tableStyleId>{5C22544A-7EE6-4342-B048-85BDC9FD1C3A}</a:tableStyleId>
              </a:tblPr>
              <a:tblGrid>
                <a:gridCol w="1080046"/>
                <a:gridCol w="1147549"/>
                <a:gridCol w="945040"/>
                <a:gridCol w="1890081"/>
                <a:gridCol w="1687572"/>
                <a:gridCol w="2835122"/>
                <a:gridCol w="1417561"/>
              </a:tblGrid>
              <a:tr h="301752">
                <a:tc>
                  <a:txBody>
                    <a:bodyPr wrap="square"/>
                    <a:lstStyle/>
                    <a:p>
                      <a:pPr algn="l"/>
                      <a:r>
                        <a:rPr sz="1100" b="1">
                          <a:solidFill>
                            <a:srgbClr val="1F2A44"/>
                          </a:solidFill>
                          <a:latin typeface="Calibri"/>
                        </a:rPr>
                        <a:t>Bucket / share</a:t>
                      </a:r>
                    </a:p>
                  </a:txBody>
                  <a:tcPr marL="54864" marR="54864" marT="27432" marB="27432">
                    <a:solidFill>
                      <a:srgbClr val="E9ECF1"/>
                    </a:solidFill>
                  </a:tcPr>
                </a:tc>
                <a:tc>
                  <a:txBody>
                    <a:bodyPr wrap="square"/>
                    <a:lstStyle/>
                    <a:p>
                      <a:pPr algn="l"/>
                      <a:r>
                        <a:rPr sz="1100" b="1">
                          <a:solidFill>
                            <a:srgbClr val="1F2A44"/>
                          </a:solidFill>
                          <a:latin typeface="Calibri"/>
                        </a:rPr>
                        <a:t>Access</a:t>
                      </a:r>
                    </a:p>
                  </a:txBody>
                  <a:tcPr marL="54864" marR="54864" marT="27432" marB="27432">
                    <a:solidFill>
                      <a:srgbClr val="E9ECF1"/>
                    </a:solidFill>
                  </a:tcPr>
                </a:tc>
                <a:tc>
                  <a:txBody>
                    <a:bodyPr wrap="square"/>
                    <a:lstStyle/>
                    <a:p>
                      <a:pPr algn="l"/>
                      <a:r>
                        <a:rPr sz="1100" b="1">
                          <a:solidFill>
                            <a:srgbClr val="1F2A44"/>
                          </a:solidFill>
                          <a:latin typeface="Calibri"/>
                        </a:rPr>
                        <a:t>Media files</a:t>
                      </a:r>
                    </a:p>
                  </a:txBody>
                  <a:tcPr marL="54864" marR="54864" marT="27432" marB="27432">
                    <a:solidFill>
                      <a:srgbClr val="E9ECF1"/>
                    </a:solidFill>
                  </a:tcPr>
                </a:tc>
                <a:tc>
                  <a:txBody>
                    <a:bodyPr wrap="square"/>
                    <a:lstStyle/>
                    <a:p>
                      <a:pPr algn="l"/>
                      <a:r>
                        <a:rPr sz="1100" b="1">
                          <a:solidFill>
                            <a:srgbClr val="1F2A44"/>
                          </a:solidFill>
                          <a:latin typeface="Calibri"/>
                        </a:rPr>
                        <a:t>Hours held (95 %)</a:t>
                      </a:r>
                    </a:p>
                  </a:txBody>
                  <a:tcPr marL="54864" marR="54864" marT="27432" marB="27432">
                    <a:solidFill>
                      <a:srgbClr val="E9ECF1"/>
                    </a:solidFill>
                  </a:tcPr>
                </a:tc>
                <a:tc>
                  <a:txBody>
                    <a:bodyPr wrap="square"/>
                    <a:lstStyle/>
                    <a:p>
                      <a:pPr algn="l"/>
                      <a:r>
                        <a:rPr sz="1100" b="1">
                          <a:solidFill>
                            <a:srgbClr val="1F2A44"/>
                          </a:solidFill>
                          <a:latin typeface="Calibri"/>
                        </a:rPr>
                        <a:t>Speech hours (95 %)</a:t>
                      </a:r>
                    </a:p>
                  </a:txBody>
                  <a:tcPr marL="54864" marR="54864" marT="27432" marB="27432">
                    <a:solidFill>
                      <a:srgbClr val="E9ECF1"/>
                    </a:solidFill>
                  </a:tcPr>
                </a:tc>
                <a:tc>
                  <a:txBody>
                    <a:bodyPr wrap="square"/>
                    <a:lstStyle/>
                    <a:p>
                      <a:pPr algn="l"/>
                      <a:r>
                        <a:rPr sz="1100" b="1">
                          <a:solidFill>
                            <a:srgbClr val="1F2A44"/>
                          </a:solidFill>
                          <a:latin typeface="Calibri"/>
                        </a:rPr>
                        <a:t>Top languages (speech hours)</a:t>
                      </a:r>
                    </a:p>
                  </a:txBody>
                  <a:tcPr marL="54864" marR="54864" marT="27432" marB="27432">
                    <a:solidFill>
                      <a:srgbClr val="E9ECF1"/>
                    </a:solidFill>
                  </a:tcPr>
                </a:tc>
                <a:tc>
                  <a:txBody>
                    <a:bodyPr wrap="square"/>
                    <a:lstStyle/>
                    <a:p>
                      <a:pPr algn="l"/>
                      <a:r>
                        <a:rPr sz="1100" b="1">
                          <a:solidFill>
                            <a:srgbClr val="1F2A44"/>
                          </a:solidFill>
                          <a:latin typeface="Calibri"/>
                        </a:rPr>
                        <a:t>Sample read / planned</a:t>
                      </a:r>
                    </a:p>
                  </a:txBody>
                  <a:tcPr marL="54864" marR="54864" marT="27432" marB="27432">
                    <a:solidFill>
                      <a:srgbClr val="E9ECF1"/>
                    </a:solidFill>
                  </a:tcPr>
                </a:tc>
              </a:tr>
              <a:tr h="301752">
                <a:tc>
                  <a:txBody>
                    <a:bodyPr wrap="square"/>
                    <a:lstStyle/>
                    <a:p>
                      <a:pPr algn="l"/>
                      <a:r>
                        <a:rPr sz="1100" b="0">
                          <a:solidFill>
                            <a:srgbClr val="1F2A44"/>
                          </a:solidFill>
                          <a:latin typeface="Calibri"/>
                        </a:rPr>
                        <a:t>2024offairrecs</a:t>
                      </a:r>
                    </a:p>
                  </a:txBody>
                  <a:tcPr marL="54864" marR="54864" marT="27432" marB="27432">
                    <a:solidFill>
                      <a:srgbClr val="FFFFFF"/>
                    </a:solidFill>
                  </a:tcPr>
                </a:tc>
                <a:tc>
                  <a:txBody>
                    <a:bodyPr wrap="square"/>
                    <a:lstStyle/>
                    <a:p>
                      <a:pPr algn="l"/>
                      <a:r>
                        <a:rPr sz="1100" b="0">
                          <a:solidFill>
                            <a:srgbClr val="1F2A44"/>
                          </a:solidFill>
                          <a:latin typeface="Calibri"/>
                        </a:rPr>
                        <a:t>key refused (403)</a:t>
                      </a:r>
                    </a:p>
                  </a:txBody>
                  <a:tcPr marL="54864" marR="54864" marT="27432" marB="27432">
                    <a:solidFill>
                      <a:srgbClr val="FFFFFF"/>
                    </a:solidFill>
                  </a:tcPr>
                </a:tc>
                <a:tc>
                  <a:txBody>
                    <a:bodyPr wrap="square"/>
                    <a:lstStyle/>
                    <a:p>
                      <a:pPr algn="r"/>
                      <a:r>
                        <a:rPr sz="1100" b="0">
                          <a:solidFill>
                            <a:srgbClr val="1F2A44"/>
                          </a:solidFill>
                          <a:latin typeface="Courier New"/>
                        </a:rPr>
                        <a:t>3,178,461</a:t>
                      </a:r>
                    </a:p>
                  </a:txBody>
                  <a:tcPr marL="54864" marR="54864" marT="27432" marB="27432">
                    <a:solidFill>
                      <a:srgbClr val="FFFFFF"/>
                    </a:solidFill>
                  </a:tcPr>
                </a:tc>
                <a:tc>
                  <a:txBody>
                    <a:bodyPr wrap="square"/>
                    <a:lstStyle/>
                    <a:p>
                      <a:pPr algn="r"/>
                      <a:r>
                        <a:rPr sz="1100" b="0">
                          <a:solidFill>
                            <a:srgbClr val="1F2A44"/>
                          </a:solidFill>
                          <a:latin typeface="Courier New"/>
                        </a:rPr>
                        <a:t>not measurable</a:t>
                      </a:r>
                    </a:p>
                  </a:txBody>
                  <a:tcPr marL="54864" marR="54864" marT="27432" marB="27432">
                    <a:solidFill>
                      <a:srgbClr val="FFFFFF"/>
                    </a:solidFill>
                  </a:tcPr>
                </a:tc>
                <a:tc>
                  <a:txBody>
                    <a:bodyPr wrap="square"/>
                    <a:lstStyle/>
                    <a:p>
                      <a:pPr algn="r"/>
                      <a:r>
                        <a:rPr sz="1100" b="0">
                          <a:solidFill>
                            <a:srgbClr val="1F2A44"/>
                          </a:solidFill>
                          <a:latin typeface="Courier New"/>
                        </a:rPr>
                        <a:t>—</a:t>
                      </a:r>
                    </a:p>
                  </a:txBody>
                  <a:tcPr marL="54864" marR="54864" marT="27432" marB="27432">
                    <a:solidFill>
                      <a:srgbClr val="FFFFFF"/>
                    </a:solidFill>
                  </a:tcPr>
                </a:tc>
                <a:tc>
                  <a:txBody>
                    <a:bodyPr wrap="square"/>
                    <a:lstStyle/>
                    <a:p>
                      <a:pPr algn="r"/>
                      <a:r>
                        <a:rPr sz="1100" b="0">
                          <a:solidFill>
                            <a:srgbClr val="1F2A44"/>
                          </a:solidFill>
                          <a:latin typeface="Courier New"/>
                        </a:rPr>
                        <a:t>—</a:t>
                      </a:r>
                    </a:p>
                  </a:txBody>
                  <a:tcPr marL="54864" marR="54864" marT="27432" marB="27432">
                    <a:solidFill>
                      <a:srgbClr val="FFFFFF"/>
                    </a:solidFill>
                  </a:tcPr>
                </a:tc>
                <a:tc>
                  <a:txBody>
                    <a:bodyPr wrap="square"/>
                    <a:lstStyle/>
                    <a:p>
                      <a:pPr algn="r"/>
                      <a:r>
                        <a:rPr sz="1100" b="0">
                          <a:solidFill>
                            <a:srgbClr val="1F2A44"/>
                          </a:solidFill>
                          <a:latin typeface="Courier New"/>
                        </a:rPr>
                        <a:t>0 / 12,497</a:t>
                      </a:r>
                    </a:p>
                  </a:txBody>
                  <a:tcPr marL="54864" marR="54864" marT="27432" marB="27432">
                    <a:solidFill>
                      <a:srgbClr val="FFFFFF"/>
                    </a:solidFill>
                  </a:tcPr>
                </a:tc>
              </a:tr>
              <a:tr h="301752">
                <a:tc>
                  <a:txBody>
                    <a:bodyPr wrap="square"/>
                    <a:lstStyle/>
                    <a:p>
                      <a:pPr algn="l"/>
                      <a:r>
                        <a:rPr sz="1100" b="0">
                          <a:solidFill>
                            <a:srgbClr val="1F2A44"/>
                          </a:solidFill>
                          <a:latin typeface="Calibri"/>
                        </a:rPr>
                        <a:t>music-bucket-rms</a:t>
                      </a:r>
                    </a:p>
                  </a:txBody>
                  <a:tcPr marL="54864" marR="54864" marT="27432" marB="27432">
                    <a:solidFill>
                      <a:srgbClr val="FFFFFF"/>
                    </a:solidFill>
                  </a:tcPr>
                </a:tc>
                <a:tc>
                  <a:txBody>
                    <a:bodyPr wrap="square"/>
                    <a:lstStyle/>
                    <a:p>
                      <a:pPr algn="l"/>
                      <a:r>
                        <a:rPr sz="1100" b="0">
                          <a:solidFill>
                            <a:srgbClr val="1F2A44"/>
                          </a:solidFill>
                          <a:latin typeface="Calibri"/>
                        </a:rPr>
                        <a:t>readable</a:t>
                      </a:r>
                    </a:p>
                  </a:txBody>
                  <a:tcPr marL="54864" marR="54864" marT="27432" marB="27432">
                    <a:solidFill>
                      <a:srgbClr val="FFFFFF"/>
                    </a:solidFill>
                  </a:tcPr>
                </a:tc>
                <a:tc>
                  <a:txBody>
                    <a:bodyPr wrap="square"/>
                    <a:lstStyle/>
                    <a:p>
                      <a:pPr algn="r"/>
                      <a:r>
                        <a:rPr sz="1100" b="0">
                          <a:solidFill>
                            <a:srgbClr val="1F2A44"/>
                          </a:solidFill>
                          <a:latin typeface="Courier New"/>
                        </a:rPr>
                        <a:t>147,127</a:t>
                      </a:r>
                    </a:p>
                  </a:txBody>
                  <a:tcPr marL="54864" marR="54864" marT="27432" marB="27432">
                    <a:solidFill>
                      <a:srgbClr val="FFFFFF"/>
                    </a:solidFill>
                  </a:tcPr>
                </a:tc>
                <a:tc>
                  <a:txBody>
                    <a:bodyPr wrap="square"/>
                    <a:lstStyle/>
                    <a:p>
                      <a:pPr algn="r"/>
                      <a:r>
                        <a:rPr sz="1100" b="0">
                          <a:solidFill>
                            <a:srgbClr val="1F2A44"/>
                          </a:solidFill>
                          <a:latin typeface="Courier New"/>
                        </a:rPr>
                        <a:t>12,392.8 (11,317.5–13,468.1)</a:t>
                      </a:r>
                    </a:p>
                  </a:txBody>
                  <a:tcPr marL="54864" marR="54864" marT="27432" marB="27432">
                    <a:solidFill>
                      <a:srgbClr val="FFFFFF"/>
                    </a:solidFill>
                  </a:tcPr>
                </a:tc>
                <a:tc>
                  <a:txBody>
                    <a:bodyPr wrap="square"/>
                    <a:lstStyle/>
                    <a:p>
                      <a:pPr algn="r"/>
                      <a:r>
                        <a:rPr sz="1100" b="0">
                          <a:solidFill>
                            <a:srgbClr val="1F2A44"/>
                          </a:solidFill>
                          <a:latin typeface="Courier New"/>
                        </a:rPr>
                        <a:t>1,844.5 (1,560.9–2,128.1)</a:t>
                      </a:r>
                    </a:p>
                  </a:txBody>
                  <a:tcPr marL="54864" marR="54864" marT="27432" marB="27432">
                    <a:solidFill>
                      <a:srgbClr val="FFFFFF"/>
                    </a:solidFill>
                  </a:tcPr>
                </a:tc>
                <a:tc>
                  <a:txBody>
                    <a:bodyPr wrap="square"/>
                    <a:lstStyle/>
                    <a:p>
                      <a:pPr algn="r"/>
                      <a:r>
                        <a:rPr sz="1100" b="0">
                          <a:solidFill>
                            <a:srgbClr val="1F2A44"/>
                          </a:solidFill>
                          <a:latin typeface="Courier New"/>
                        </a:rPr>
                        <a:t>Gikuyu (Kikuyu) 312 h; Kalenjin 240 h; Kikamba (Kamba) 159 h</a:t>
                      </a:r>
                    </a:p>
                  </a:txBody>
                  <a:tcPr marL="54864" marR="54864" marT="27432" marB="27432">
                    <a:solidFill>
                      <a:srgbClr val="FFFFFF"/>
                    </a:solidFill>
                  </a:tcPr>
                </a:tc>
                <a:tc>
                  <a:txBody>
                    <a:bodyPr wrap="square"/>
                    <a:lstStyle/>
                    <a:p>
                      <a:pPr algn="r"/>
                      <a:r>
                        <a:rPr sz="1100" b="0">
                          <a:solidFill>
                            <a:srgbClr val="1F2A44"/>
                          </a:solidFill>
                          <a:latin typeface="Courier New"/>
                        </a:rPr>
                        <a:t>630 / 630</a:t>
                      </a:r>
                    </a:p>
                  </a:txBody>
                  <a:tcPr marL="54864" marR="54864" marT="27432" marB="27432">
                    <a:solidFill>
                      <a:srgbClr val="FFFFFF"/>
                    </a:solidFill>
                  </a:tcPr>
                </a:tc>
              </a:tr>
              <a:tr h="301752">
                <a:tc>
                  <a:txBody>
                    <a:bodyPr wrap="square"/>
                    <a:lstStyle/>
                    <a:p>
                      <a:pPr algn="l"/>
                      <a:r>
                        <a:rPr sz="1100" b="0">
                          <a:solidFill>
                            <a:srgbClr val="1F2A44"/>
                          </a:solidFill>
                          <a:latin typeface="Calibri"/>
                        </a:rPr>
                        <a:t>na7p43do</a:t>
                      </a:r>
                    </a:p>
                  </a:txBody>
                  <a:tcPr marL="54864" marR="54864" marT="27432" marB="27432">
                    <a:solidFill>
                      <a:srgbClr val="FFFFFF"/>
                    </a:solidFill>
                  </a:tcPr>
                </a:tc>
                <a:tc>
                  <a:txBody>
                    <a:bodyPr wrap="square"/>
                    <a:lstStyle/>
                    <a:p>
                      <a:pPr algn="l"/>
                      <a:r>
                        <a:rPr sz="1100" b="0">
                          <a:solidFill>
                            <a:srgbClr val="1F2A44"/>
                          </a:solidFill>
                          <a:latin typeface="Calibri"/>
                        </a:rPr>
                        <a:t>key refused (403)</a:t>
                      </a:r>
                    </a:p>
                  </a:txBody>
                  <a:tcPr marL="54864" marR="54864" marT="27432" marB="27432">
                    <a:solidFill>
                      <a:srgbClr val="FFFFFF"/>
                    </a:solidFill>
                  </a:tcPr>
                </a:tc>
                <a:tc>
                  <a:txBody>
                    <a:bodyPr wrap="square"/>
                    <a:lstStyle/>
                    <a:p>
                      <a:pPr algn="r"/>
                      <a:r>
                        <a:rPr sz="1100" b="0">
                          <a:solidFill>
                            <a:srgbClr val="1F2A44"/>
                          </a:solidFill>
                          <a:latin typeface="Courier New"/>
                        </a:rPr>
                        <a:t>384,572</a:t>
                      </a:r>
                    </a:p>
                  </a:txBody>
                  <a:tcPr marL="54864" marR="54864" marT="27432" marB="27432">
                    <a:solidFill>
                      <a:srgbClr val="FFFFFF"/>
                    </a:solidFill>
                  </a:tcPr>
                </a:tc>
                <a:tc>
                  <a:txBody>
                    <a:bodyPr wrap="square"/>
                    <a:lstStyle/>
                    <a:p>
                      <a:pPr algn="r"/>
                      <a:r>
                        <a:rPr sz="1100" b="0">
                          <a:solidFill>
                            <a:srgbClr val="1F2A44"/>
                          </a:solidFill>
                          <a:latin typeface="Courier New"/>
                        </a:rPr>
                        <a:t>not measurable</a:t>
                      </a:r>
                    </a:p>
                  </a:txBody>
                  <a:tcPr marL="54864" marR="54864" marT="27432" marB="27432">
                    <a:solidFill>
                      <a:srgbClr val="FFFFFF"/>
                    </a:solidFill>
                  </a:tcPr>
                </a:tc>
                <a:tc>
                  <a:txBody>
                    <a:bodyPr wrap="square"/>
                    <a:lstStyle/>
                    <a:p>
                      <a:pPr algn="r"/>
                      <a:r>
                        <a:rPr sz="1100" b="0">
                          <a:solidFill>
                            <a:srgbClr val="1F2A44"/>
                          </a:solidFill>
                          <a:latin typeface="Courier New"/>
                        </a:rPr>
                        <a:t>—</a:t>
                      </a:r>
                    </a:p>
                  </a:txBody>
                  <a:tcPr marL="54864" marR="54864" marT="27432" marB="27432">
                    <a:solidFill>
                      <a:srgbClr val="FFFFFF"/>
                    </a:solidFill>
                  </a:tcPr>
                </a:tc>
                <a:tc>
                  <a:txBody>
                    <a:bodyPr wrap="square"/>
                    <a:lstStyle/>
                    <a:p>
                      <a:pPr algn="r"/>
                      <a:r>
                        <a:rPr sz="1100" b="0">
                          <a:solidFill>
                            <a:srgbClr val="1F2A44"/>
                          </a:solidFill>
                          <a:latin typeface="Courier New"/>
                        </a:rPr>
                        <a:t>—</a:t>
                      </a:r>
                    </a:p>
                  </a:txBody>
                  <a:tcPr marL="54864" marR="54864" marT="27432" marB="27432">
                    <a:solidFill>
                      <a:srgbClr val="FFFFFF"/>
                    </a:solidFill>
                  </a:tcPr>
                </a:tc>
                <a:tc>
                  <a:txBody>
                    <a:bodyPr wrap="square"/>
                    <a:lstStyle/>
                    <a:p>
                      <a:pPr algn="r"/>
                      <a:r>
                        <a:rPr sz="1100" b="0">
                          <a:solidFill>
                            <a:srgbClr val="1F2A44"/>
                          </a:solidFill>
                          <a:latin typeface="Courier New"/>
                        </a:rPr>
                        <a:t>0 / 981</a:t>
                      </a:r>
                    </a:p>
                  </a:txBody>
                  <a:tcPr marL="54864" marR="54864" marT="27432" marB="27432">
                    <a:solidFill>
                      <a:srgbClr val="FFFFFF"/>
                    </a:solidFill>
                  </a:tcPr>
                </a:tc>
              </a:tr>
              <a:tr h="301752">
                <a:tc>
                  <a:txBody>
                    <a:bodyPr wrap="square"/>
                    <a:lstStyle/>
                    <a:p>
                      <a:pPr algn="l"/>
                      <a:r>
                        <a:rPr sz="1100" b="0">
                          <a:solidFill>
                            <a:srgbClr val="1F2A44"/>
                          </a:solidFill>
                          <a:latin typeface="Calibri"/>
                        </a:rPr>
                        <a:t>na7p43js</a:t>
                      </a:r>
                    </a:p>
                  </a:txBody>
                  <a:tcPr marL="54864" marR="54864" marT="27432" marB="27432">
                    <a:solidFill>
                      <a:srgbClr val="FFFFFF"/>
                    </a:solidFill>
                  </a:tcPr>
                </a:tc>
                <a:tc>
                  <a:txBody>
                    <a:bodyPr wrap="square"/>
                    <a:lstStyle/>
                    <a:p>
                      <a:pPr algn="l"/>
                      <a:r>
                        <a:rPr sz="1100" b="0">
                          <a:solidFill>
                            <a:srgbClr val="1F2A44"/>
                          </a:solidFill>
                          <a:latin typeface="Calibri"/>
                        </a:rPr>
                        <a:t>key refused (403)</a:t>
                      </a:r>
                    </a:p>
                  </a:txBody>
                  <a:tcPr marL="54864" marR="54864" marT="27432" marB="27432">
                    <a:solidFill>
                      <a:srgbClr val="FFFFFF"/>
                    </a:solidFill>
                  </a:tcPr>
                </a:tc>
                <a:tc>
                  <a:txBody>
                    <a:bodyPr wrap="square"/>
                    <a:lstStyle/>
                    <a:p>
                      <a:pPr algn="r"/>
                      <a:r>
                        <a:rPr sz="1100" b="0">
                          <a:solidFill>
                            <a:srgbClr val="1F2A44"/>
                          </a:solidFill>
                          <a:latin typeface="Courier New"/>
                        </a:rPr>
                        <a:t>238,007</a:t>
                      </a:r>
                    </a:p>
                  </a:txBody>
                  <a:tcPr marL="54864" marR="54864" marT="27432" marB="27432">
                    <a:solidFill>
                      <a:srgbClr val="FFFFFF"/>
                    </a:solidFill>
                  </a:tcPr>
                </a:tc>
                <a:tc>
                  <a:txBody>
                    <a:bodyPr wrap="square"/>
                    <a:lstStyle/>
                    <a:p>
                      <a:pPr algn="r"/>
                      <a:r>
                        <a:rPr sz="1100" b="0">
                          <a:solidFill>
                            <a:srgbClr val="1F2A44"/>
                          </a:solidFill>
                          <a:latin typeface="Courier New"/>
                        </a:rPr>
                        <a:t>not measurable</a:t>
                      </a:r>
                    </a:p>
                  </a:txBody>
                  <a:tcPr marL="54864" marR="54864" marT="27432" marB="27432">
                    <a:solidFill>
                      <a:srgbClr val="FFFFFF"/>
                    </a:solidFill>
                  </a:tcPr>
                </a:tc>
                <a:tc>
                  <a:txBody>
                    <a:bodyPr wrap="square"/>
                    <a:lstStyle/>
                    <a:p>
                      <a:pPr algn="r"/>
                      <a:r>
                        <a:rPr sz="1100" b="0">
                          <a:solidFill>
                            <a:srgbClr val="1F2A44"/>
                          </a:solidFill>
                          <a:latin typeface="Courier New"/>
                        </a:rPr>
                        <a:t>—</a:t>
                      </a:r>
                    </a:p>
                  </a:txBody>
                  <a:tcPr marL="54864" marR="54864" marT="27432" marB="27432">
                    <a:solidFill>
                      <a:srgbClr val="FFFFFF"/>
                    </a:solidFill>
                  </a:tcPr>
                </a:tc>
                <a:tc>
                  <a:txBody>
                    <a:bodyPr wrap="square"/>
                    <a:lstStyle/>
                    <a:p>
                      <a:pPr algn="r"/>
                      <a:r>
                        <a:rPr sz="1100" b="0">
                          <a:solidFill>
                            <a:srgbClr val="1F2A44"/>
                          </a:solidFill>
                          <a:latin typeface="Courier New"/>
                        </a:rPr>
                        <a:t>—</a:t>
                      </a:r>
                    </a:p>
                  </a:txBody>
                  <a:tcPr marL="54864" marR="54864" marT="27432" marB="27432">
                    <a:solidFill>
                      <a:srgbClr val="FFFFFF"/>
                    </a:solidFill>
                  </a:tcPr>
                </a:tc>
                <a:tc>
                  <a:txBody>
                    <a:bodyPr wrap="square"/>
                    <a:lstStyle/>
                    <a:p>
                      <a:pPr algn="r"/>
                      <a:r>
                        <a:rPr sz="1100" b="0">
                          <a:solidFill>
                            <a:srgbClr val="1F2A44"/>
                          </a:solidFill>
                          <a:latin typeface="Courier New"/>
                        </a:rPr>
                        <a:t>0 / 713</a:t>
                      </a:r>
                    </a:p>
                  </a:txBody>
                  <a:tcPr marL="54864" marR="54864" marT="27432" marB="27432">
                    <a:solidFill>
                      <a:srgbClr val="FFFFFF"/>
                    </a:solidFill>
                  </a:tcPr>
                </a:tc>
              </a:tr>
              <a:tr h="301752">
                <a:tc>
                  <a:txBody>
                    <a:bodyPr wrap="square"/>
                    <a:lstStyle/>
                    <a:p>
                      <a:pPr algn="l"/>
                      <a:r>
                        <a:rPr sz="1100" b="0">
                          <a:solidFill>
                            <a:srgbClr val="1F2A44"/>
                          </a:solidFill>
                          <a:latin typeface="Calibri"/>
                        </a:rPr>
                        <a:t>na7p434j</a:t>
                      </a:r>
                    </a:p>
                  </a:txBody>
                  <a:tcPr marL="54864" marR="54864" marT="27432" marB="27432">
                    <a:solidFill>
                      <a:srgbClr val="FFFFFF"/>
                    </a:solidFill>
                  </a:tcPr>
                </a:tc>
                <a:tc>
                  <a:txBody>
                    <a:bodyPr wrap="square"/>
                    <a:lstStyle/>
                    <a:p>
                      <a:pPr algn="l"/>
                      <a:r>
                        <a:rPr sz="1100" b="0">
                          <a:solidFill>
                            <a:srgbClr val="1F2A44"/>
                          </a:solidFill>
                          <a:latin typeface="Calibri"/>
                        </a:rPr>
                        <a:t>key refused (403)</a:t>
                      </a:r>
                    </a:p>
                  </a:txBody>
                  <a:tcPr marL="54864" marR="54864" marT="27432" marB="27432">
                    <a:solidFill>
                      <a:srgbClr val="FFFFFF"/>
                    </a:solidFill>
                  </a:tcPr>
                </a:tc>
                <a:tc>
                  <a:txBody>
                    <a:bodyPr wrap="square"/>
                    <a:lstStyle/>
                    <a:p>
                      <a:pPr algn="r"/>
                      <a:r>
                        <a:rPr sz="1100" b="0">
                          <a:solidFill>
                            <a:srgbClr val="1F2A44"/>
                          </a:solidFill>
                          <a:latin typeface="Courier New"/>
                        </a:rPr>
                        <a:t>10,750</a:t>
                      </a:r>
                    </a:p>
                  </a:txBody>
                  <a:tcPr marL="54864" marR="54864" marT="27432" marB="27432">
                    <a:solidFill>
                      <a:srgbClr val="FFFFFF"/>
                    </a:solidFill>
                  </a:tcPr>
                </a:tc>
                <a:tc>
                  <a:txBody>
                    <a:bodyPr wrap="square"/>
                    <a:lstStyle/>
                    <a:p>
                      <a:pPr algn="r"/>
                      <a:r>
                        <a:rPr sz="1100" b="0">
                          <a:solidFill>
                            <a:srgbClr val="1F2A44"/>
                          </a:solidFill>
                          <a:latin typeface="Courier New"/>
                        </a:rPr>
                        <a:t>not measurable</a:t>
                      </a:r>
                    </a:p>
                  </a:txBody>
                  <a:tcPr marL="54864" marR="54864" marT="27432" marB="27432">
                    <a:solidFill>
                      <a:srgbClr val="FFFFFF"/>
                    </a:solidFill>
                  </a:tcPr>
                </a:tc>
                <a:tc>
                  <a:txBody>
                    <a:bodyPr wrap="square"/>
                    <a:lstStyle/>
                    <a:p>
                      <a:pPr algn="r"/>
                      <a:r>
                        <a:rPr sz="1100" b="0">
                          <a:solidFill>
                            <a:srgbClr val="1F2A44"/>
                          </a:solidFill>
                          <a:latin typeface="Courier New"/>
                        </a:rPr>
                        <a:t>—</a:t>
                      </a:r>
                    </a:p>
                  </a:txBody>
                  <a:tcPr marL="54864" marR="54864" marT="27432" marB="27432">
                    <a:solidFill>
                      <a:srgbClr val="FFFFFF"/>
                    </a:solidFill>
                  </a:tcPr>
                </a:tc>
                <a:tc>
                  <a:txBody>
                    <a:bodyPr wrap="square"/>
                    <a:lstStyle/>
                    <a:p>
                      <a:pPr algn="r"/>
                      <a:r>
                        <a:rPr sz="1100" b="0">
                          <a:solidFill>
                            <a:srgbClr val="1F2A44"/>
                          </a:solidFill>
                          <a:latin typeface="Courier New"/>
                        </a:rPr>
                        <a:t>—</a:t>
                      </a:r>
                    </a:p>
                  </a:txBody>
                  <a:tcPr marL="54864" marR="54864" marT="27432" marB="27432">
                    <a:solidFill>
                      <a:srgbClr val="FFFFFF"/>
                    </a:solidFill>
                  </a:tcPr>
                </a:tc>
                <a:tc>
                  <a:txBody>
                    <a:bodyPr wrap="square"/>
                    <a:lstStyle/>
                    <a:p>
                      <a:pPr algn="r"/>
                      <a:r>
                        <a:rPr sz="1100" b="0">
                          <a:solidFill>
                            <a:srgbClr val="1F2A44"/>
                          </a:solidFill>
                          <a:latin typeface="Courier New"/>
                        </a:rPr>
                        <a:t>0 / 1,661</a:t>
                      </a:r>
                    </a:p>
                  </a:txBody>
                  <a:tcPr marL="54864" marR="54864" marT="27432" marB="27432">
                    <a:solidFill>
                      <a:srgbClr val="FFFFFF"/>
                    </a:solidFill>
                  </a:tcPr>
                </a:tc>
              </a:tr>
              <a:tr h="301752">
                <a:tc>
                  <a:txBody>
                    <a:bodyPr wrap="square"/>
                    <a:lstStyle/>
                    <a:p>
                      <a:pPr algn="l"/>
                      <a:r>
                        <a:rPr sz="1100" b="0">
                          <a:solidFill>
                            <a:srgbClr val="1F2A44"/>
                          </a:solidFill>
                          <a:latin typeface="Calibri"/>
                        </a:rPr>
                        <a:t>na7p41hj</a:t>
                      </a:r>
                    </a:p>
                  </a:txBody>
                  <a:tcPr marL="54864" marR="54864" marT="27432" marB="27432">
                    <a:solidFill>
                      <a:srgbClr val="FFFFFF"/>
                    </a:solidFill>
                  </a:tcPr>
                </a:tc>
                <a:tc>
                  <a:txBody>
                    <a:bodyPr wrap="square"/>
                    <a:lstStyle/>
                    <a:p>
                      <a:pPr algn="l"/>
                      <a:r>
                        <a:rPr sz="1100" b="0">
                          <a:solidFill>
                            <a:srgbClr val="1F2A44"/>
                          </a:solidFill>
                          <a:latin typeface="Calibri"/>
                        </a:rPr>
                        <a:t>key refused (403)</a:t>
                      </a:r>
                    </a:p>
                  </a:txBody>
                  <a:tcPr marL="54864" marR="54864" marT="27432" marB="27432">
                    <a:solidFill>
                      <a:srgbClr val="FFFFFF"/>
                    </a:solidFill>
                  </a:tcPr>
                </a:tc>
                <a:tc>
                  <a:txBody>
                    <a:bodyPr wrap="square"/>
                    <a:lstStyle/>
                    <a:p>
                      <a:pPr algn="r"/>
                      <a:r>
                        <a:rPr sz="1100" b="0">
                          <a:solidFill>
                            <a:srgbClr val="1F2A44"/>
                          </a:solidFill>
                          <a:latin typeface="Courier New"/>
                        </a:rPr>
                        <a:t>14,145</a:t>
                      </a:r>
                    </a:p>
                  </a:txBody>
                  <a:tcPr marL="54864" marR="54864" marT="27432" marB="27432">
                    <a:solidFill>
                      <a:srgbClr val="FFFFFF"/>
                    </a:solidFill>
                  </a:tcPr>
                </a:tc>
                <a:tc>
                  <a:txBody>
                    <a:bodyPr wrap="square"/>
                    <a:lstStyle/>
                    <a:p>
                      <a:pPr algn="r"/>
                      <a:r>
                        <a:rPr sz="1100" b="0">
                          <a:solidFill>
                            <a:srgbClr val="1F2A44"/>
                          </a:solidFill>
                          <a:latin typeface="Courier New"/>
                        </a:rPr>
                        <a:t>not measurable</a:t>
                      </a:r>
                    </a:p>
                  </a:txBody>
                  <a:tcPr marL="54864" marR="54864" marT="27432" marB="27432">
                    <a:solidFill>
                      <a:srgbClr val="FFFFFF"/>
                    </a:solidFill>
                  </a:tcPr>
                </a:tc>
                <a:tc>
                  <a:txBody>
                    <a:bodyPr wrap="square"/>
                    <a:lstStyle/>
                    <a:p>
                      <a:pPr algn="r"/>
                      <a:r>
                        <a:rPr sz="1100" b="0">
                          <a:solidFill>
                            <a:srgbClr val="1F2A44"/>
                          </a:solidFill>
                          <a:latin typeface="Courier New"/>
                        </a:rPr>
                        <a:t>—</a:t>
                      </a:r>
                    </a:p>
                  </a:txBody>
                  <a:tcPr marL="54864" marR="54864" marT="27432" marB="27432">
                    <a:solidFill>
                      <a:srgbClr val="FFFFFF"/>
                    </a:solidFill>
                  </a:tcPr>
                </a:tc>
                <a:tc>
                  <a:txBody>
                    <a:bodyPr wrap="square"/>
                    <a:lstStyle/>
                    <a:p>
                      <a:pPr algn="r"/>
                      <a:r>
                        <a:rPr sz="1100" b="0">
                          <a:solidFill>
                            <a:srgbClr val="1F2A44"/>
                          </a:solidFill>
                          <a:latin typeface="Courier New"/>
                        </a:rPr>
                        <a:t>—</a:t>
                      </a:r>
                    </a:p>
                  </a:txBody>
                  <a:tcPr marL="54864" marR="54864" marT="27432" marB="27432">
                    <a:solidFill>
                      <a:srgbClr val="FFFFFF"/>
                    </a:solidFill>
                  </a:tcPr>
                </a:tc>
                <a:tc>
                  <a:txBody>
                    <a:bodyPr wrap="square"/>
                    <a:lstStyle/>
                    <a:p>
                      <a:pPr algn="r"/>
                      <a:r>
                        <a:rPr sz="1100" b="0">
                          <a:solidFill>
                            <a:srgbClr val="1F2A44"/>
                          </a:solidFill>
                          <a:latin typeface="Courier New"/>
                        </a:rPr>
                        <a:t>0 / 2,347</a:t>
                      </a:r>
                    </a:p>
                  </a:txBody>
                  <a:tcPr marL="54864" marR="54864" marT="27432" marB="27432">
                    <a:solidFill>
                      <a:srgbClr val="FFFFFF"/>
                    </a:solidFill>
                  </a:tcPr>
                </a:tc>
              </a:tr>
              <a:tr h="301752">
                <a:tc>
                  <a:txBody>
                    <a:bodyPr wrap="square"/>
                    <a:lstStyle/>
                    <a:p>
                      <a:pPr algn="l"/>
                      <a:r>
                        <a:rPr sz="1100" b="0">
                          <a:solidFill>
                            <a:srgbClr val="1F2A44"/>
                          </a:solidFill>
                          <a:latin typeface="Calibri"/>
                        </a:rPr>
                        <a:t>na7p42xe</a:t>
                      </a:r>
                    </a:p>
                  </a:txBody>
                  <a:tcPr marL="54864" marR="54864" marT="27432" marB="27432">
                    <a:solidFill>
                      <a:srgbClr val="FFFFFF"/>
                    </a:solidFill>
                  </a:tcPr>
                </a:tc>
                <a:tc>
                  <a:txBody>
                    <a:bodyPr wrap="square"/>
                    <a:lstStyle/>
                    <a:p>
                      <a:pPr algn="l"/>
                      <a:r>
                        <a:rPr sz="1100" b="0">
                          <a:solidFill>
                            <a:srgbClr val="1F2A44"/>
                          </a:solidFill>
                          <a:latin typeface="Calibri"/>
                        </a:rPr>
                        <a:t>key refused (403)</a:t>
                      </a:r>
                    </a:p>
                  </a:txBody>
                  <a:tcPr marL="54864" marR="54864" marT="27432" marB="27432">
                    <a:solidFill>
                      <a:srgbClr val="FFFFFF"/>
                    </a:solidFill>
                  </a:tcPr>
                </a:tc>
                <a:tc>
                  <a:txBody>
                    <a:bodyPr wrap="square"/>
                    <a:lstStyle/>
                    <a:p>
                      <a:pPr algn="r"/>
                      <a:r>
                        <a:rPr sz="1100" b="0">
                          <a:solidFill>
                            <a:srgbClr val="1F2A44"/>
                          </a:solidFill>
                          <a:latin typeface="Courier New"/>
                        </a:rPr>
                        <a:t>12,300</a:t>
                      </a:r>
                    </a:p>
                  </a:txBody>
                  <a:tcPr marL="54864" marR="54864" marT="27432" marB="27432">
                    <a:solidFill>
                      <a:srgbClr val="FFFFFF"/>
                    </a:solidFill>
                  </a:tcPr>
                </a:tc>
                <a:tc>
                  <a:txBody>
                    <a:bodyPr wrap="square"/>
                    <a:lstStyle/>
                    <a:p>
                      <a:pPr algn="r"/>
                      <a:r>
                        <a:rPr sz="1100" b="0">
                          <a:solidFill>
                            <a:srgbClr val="1F2A44"/>
                          </a:solidFill>
                          <a:latin typeface="Courier New"/>
                        </a:rPr>
                        <a:t>not measurable</a:t>
                      </a:r>
                    </a:p>
                  </a:txBody>
                  <a:tcPr marL="54864" marR="54864" marT="27432" marB="27432">
                    <a:solidFill>
                      <a:srgbClr val="FFFFFF"/>
                    </a:solidFill>
                  </a:tcPr>
                </a:tc>
                <a:tc>
                  <a:txBody>
                    <a:bodyPr wrap="square"/>
                    <a:lstStyle/>
                    <a:p>
                      <a:pPr algn="r"/>
                      <a:r>
                        <a:rPr sz="1100" b="0">
                          <a:solidFill>
                            <a:srgbClr val="1F2A44"/>
                          </a:solidFill>
                          <a:latin typeface="Courier New"/>
                        </a:rPr>
                        <a:t>—</a:t>
                      </a:r>
                    </a:p>
                  </a:txBody>
                  <a:tcPr marL="54864" marR="54864" marT="27432" marB="27432">
                    <a:solidFill>
                      <a:srgbClr val="FFFFFF"/>
                    </a:solidFill>
                  </a:tcPr>
                </a:tc>
                <a:tc>
                  <a:txBody>
                    <a:bodyPr wrap="square"/>
                    <a:lstStyle/>
                    <a:p>
                      <a:pPr algn="r"/>
                      <a:r>
                        <a:rPr sz="1100" b="0">
                          <a:solidFill>
                            <a:srgbClr val="1F2A44"/>
                          </a:solidFill>
                          <a:latin typeface="Courier New"/>
                        </a:rPr>
                        <a:t>—</a:t>
                      </a:r>
                    </a:p>
                  </a:txBody>
                  <a:tcPr marL="54864" marR="54864" marT="27432" marB="27432">
                    <a:solidFill>
                      <a:srgbClr val="FFFFFF"/>
                    </a:solidFill>
                  </a:tcPr>
                </a:tc>
                <a:tc>
                  <a:txBody>
                    <a:bodyPr wrap="square"/>
                    <a:lstStyle/>
                    <a:p>
                      <a:pPr algn="r"/>
                      <a:r>
                        <a:rPr sz="1100" b="0">
                          <a:solidFill>
                            <a:srgbClr val="1F2A44"/>
                          </a:solidFill>
                          <a:latin typeface="Courier New"/>
                        </a:rPr>
                        <a:t>0 / 2,915</a:t>
                      </a:r>
                    </a:p>
                  </a:txBody>
                  <a:tcPr marL="54864" marR="54864" marT="27432" marB="27432">
                    <a:solidFill>
                      <a:srgbClr val="FFFFFF"/>
                    </a:solidFill>
                  </a:tcPr>
                </a:tc>
              </a:tr>
              <a:tr h="301752">
                <a:tc>
                  <a:txBody>
                    <a:bodyPr wrap="square"/>
                    <a:lstStyle/>
                    <a:p>
                      <a:pPr algn="l"/>
                      <a:r>
                        <a:rPr sz="1100" b="0">
                          <a:solidFill>
                            <a:srgbClr val="1F2A44"/>
                          </a:solidFill>
                          <a:latin typeface="Calibri"/>
                        </a:rPr>
                        <a:t>na7p42xw</a:t>
                      </a:r>
                    </a:p>
                  </a:txBody>
                  <a:tcPr marL="54864" marR="54864" marT="27432" marB="27432">
                    <a:solidFill>
                      <a:srgbClr val="FFFFFF"/>
                    </a:solidFill>
                  </a:tcPr>
                </a:tc>
                <a:tc>
                  <a:txBody>
                    <a:bodyPr wrap="square"/>
                    <a:lstStyle/>
                    <a:p>
                      <a:pPr algn="l"/>
                      <a:r>
                        <a:rPr sz="1100" b="0">
                          <a:solidFill>
                            <a:srgbClr val="1F2A44"/>
                          </a:solidFill>
                          <a:latin typeface="Calibri"/>
                        </a:rPr>
                        <a:t>key refused (403)</a:t>
                      </a:r>
                    </a:p>
                  </a:txBody>
                  <a:tcPr marL="54864" marR="54864" marT="27432" marB="27432">
                    <a:solidFill>
                      <a:srgbClr val="FFFFFF"/>
                    </a:solidFill>
                  </a:tcPr>
                </a:tc>
                <a:tc>
                  <a:txBody>
                    <a:bodyPr wrap="square"/>
                    <a:lstStyle/>
                    <a:p>
                      <a:pPr algn="r"/>
                      <a:r>
                        <a:rPr sz="1100" b="0">
                          <a:solidFill>
                            <a:srgbClr val="1F2A44"/>
                          </a:solidFill>
                          <a:latin typeface="Courier New"/>
                        </a:rPr>
                        <a:t>20,559</a:t>
                      </a:r>
                    </a:p>
                  </a:txBody>
                  <a:tcPr marL="54864" marR="54864" marT="27432" marB="27432">
                    <a:solidFill>
                      <a:srgbClr val="FFFFFF"/>
                    </a:solidFill>
                  </a:tcPr>
                </a:tc>
                <a:tc>
                  <a:txBody>
                    <a:bodyPr wrap="square"/>
                    <a:lstStyle/>
                    <a:p>
                      <a:pPr algn="r"/>
                      <a:r>
                        <a:rPr sz="1100" b="0">
                          <a:solidFill>
                            <a:srgbClr val="1F2A44"/>
                          </a:solidFill>
                          <a:latin typeface="Courier New"/>
                        </a:rPr>
                        <a:t>not measurable</a:t>
                      </a:r>
                    </a:p>
                  </a:txBody>
                  <a:tcPr marL="54864" marR="54864" marT="27432" marB="27432">
                    <a:solidFill>
                      <a:srgbClr val="FFFFFF"/>
                    </a:solidFill>
                  </a:tcPr>
                </a:tc>
                <a:tc>
                  <a:txBody>
                    <a:bodyPr wrap="square"/>
                    <a:lstStyle/>
                    <a:p>
                      <a:pPr algn="r"/>
                      <a:r>
                        <a:rPr sz="1100" b="0">
                          <a:solidFill>
                            <a:srgbClr val="1F2A44"/>
                          </a:solidFill>
                          <a:latin typeface="Courier New"/>
                        </a:rPr>
                        <a:t>—</a:t>
                      </a:r>
                    </a:p>
                  </a:txBody>
                  <a:tcPr marL="54864" marR="54864" marT="27432" marB="27432">
                    <a:solidFill>
                      <a:srgbClr val="FFFFFF"/>
                    </a:solidFill>
                  </a:tcPr>
                </a:tc>
                <a:tc>
                  <a:txBody>
                    <a:bodyPr wrap="square"/>
                    <a:lstStyle/>
                    <a:p>
                      <a:pPr algn="r"/>
                      <a:r>
                        <a:rPr sz="1100" b="0">
                          <a:solidFill>
                            <a:srgbClr val="1F2A44"/>
                          </a:solidFill>
                          <a:latin typeface="Courier New"/>
                        </a:rPr>
                        <a:t>—</a:t>
                      </a:r>
                    </a:p>
                  </a:txBody>
                  <a:tcPr marL="54864" marR="54864" marT="27432" marB="27432">
                    <a:solidFill>
                      <a:srgbClr val="FFFFFF"/>
                    </a:solidFill>
                  </a:tcPr>
                </a:tc>
                <a:tc>
                  <a:txBody>
                    <a:bodyPr wrap="square"/>
                    <a:lstStyle/>
                    <a:p>
                      <a:pPr algn="r"/>
                      <a:r>
                        <a:rPr sz="1100" b="0">
                          <a:solidFill>
                            <a:srgbClr val="1F2A44"/>
                          </a:solidFill>
                          <a:latin typeface="Courier New"/>
                        </a:rPr>
                        <a:t>0 / 3,647</a:t>
                      </a:r>
                    </a:p>
                  </a:txBody>
                  <a:tcPr marL="54864" marR="54864" marT="27432" marB="27432">
                    <a:solidFill>
                      <a:srgbClr val="FFFFFF"/>
                    </a:solidFill>
                  </a:tcPr>
                </a:tc>
              </a:tr>
              <a:tr h="301752">
                <a:tc>
                  <a:txBody>
                    <a:bodyPr wrap="square"/>
                    <a:lstStyle/>
                    <a:p>
                      <a:pPr algn="l"/>
                      <a:r>
                        <a:rPr sz="1100" b="0">
                          <a:solidFill>
                            <a:srgbClr val="1F2A44"/>
                          </a:solidFill>
                          <a:latin typeface="Calibri"/>
                        </a:rPr>
                        <a:t>na7p42yg</a:t>
                      </a:r>
                    </a:p>
                  </a:txBody>
                  <a:tcPr marL="54864" marR="54864" marT="27432" marB="27432">
                    <a:solidFill>
                      <a:srgbClr val="FFFFFF"/>
                    </a:solidFill>
                  </a:tcPr>
                </a:tc>
                <a:tc>
                  <a:txBody>
                    <a:bodyPr wrap="square"/>
                    <a:lstStyle/>
                    <a:p>
                      <a:pPr algn="l"/>
                      <a:r>
                        <a:rPr sz="1100" b="0">
                          <a:solidFill>
                            <a:srgbClr val="1F2A44"/>
                          </a:solidFill>
                          <a:latin typeface="Calibri"/>
                        </a:rPr>
                        <a:t>key refused (403)</a:t>
                      </a:r>
                    </a:p>
                  </a:txBody>
                  <a:tcPr marL="54864" marR="54864" marT="27432" marB="27432">
                    <a:solidFill>
                      <a:srgbClr val="FFFFFF"/>
                    </a:solidFill>
                  </a:tcPr>
                </a:tc>
                <a:tc>
                  <a:txBody>
                    <a:bodyPr wrap="square"/>
                    <a:lstStyle/>
                    <a:p>
                      <a:pPr algn="r"/>
                      <a:r>
                        <a:rPr sz="1100" b="0">
                          <a:solidFill>
                            <a:srgbClr val="1F2A44"/>
                          </a:solidFill>
                          <a:latin typeface="Courier New"/>
                        </a:rPr>
                        <a:t>23,080</a:t>
                      </a:r>
                    </a:p>
                  </a:txBody>
                  <a:tcPr marL="54864" marR="54864" marT="27432" marB="27432">
                    <a:solidFill>
                      <a:srgbClr val="FFFFFF"/>
                    </a:solidFill>
                  </a:tcPr>
                </a:tc>
                <a:tc>
                  <a:txBody>
                    <a:bodyPr wrap="square"/>
                    <a:lstStyle/>
                    <a:p>
                      <a:pPr algn="r"/>
                      <a:r>
                        <a:rPr sz="1100" b="0">
                          <a:solidFill>
                            <a:srgbClr val="1F2A44"/>
                          </a:solidFill>
                          <a:latin typeface="Courier New"/>
                        </a:rPr>
                        <a:t>not measurable</a:t>
                      </a:r>
                    </a:p>
                  </a:txBody>
                  <a:tcPr marL="54864" marR="54864" marT="27432" marB="27432">
                    <a:solidFill>
                      <a:srgbClr val="FFFFFF"/>
                    </a:solidFill>
                  </a:tcPr>
                </a:tc>
                <a:tc>
                  <a:txBody>
                    <a:bodyPr wrap="square"/>
                    <a:lstStyle/>
                    <a:p>
                      <a:pPr algn="r"/>
                      <a:r>
                        <a:rPr sz="1100" b="0">
                          <a:solidFill>
                            <a:srgbClr val="1F2A44"/>
                          </a:solidFill>
                          <a:latin typeface="Courier New"/>
                        </a:rPr>
                        <a:t>—</a:t>
                      </a:r>
                    </a:p>
                  </a:txBody>
                  <a:tcPr marL="54864" marR="54864" marT="27432" marB="27432">
                    <a:solidFill>
                      <a:srgbClr val="FFFFFF"/>
                    </a:solidFill>
                  </a:tcPr>
                </a:tc>
                <a:tc>
                  <a:txBody>
                    <a:bodyPr wrap="square"/>
                    <a:lstStyle/>
                    <a:p>
                      <a:pPr algn="r"/>
                      <a:r>
                        <a:rPr sz="1100" b="0">
                          <a:solidFill>
                            <a:srgbClr val="1F2A44"/>
                          </a:solidFill>
                          <a:latin typeface="Courier New"/>
                        </a:rPr>
                        <a:t>—</a:t>
                      </a:r>
                    </a:p>
                  </a:txBody>
                  <a:tcPr marL="54864" marR="54864" marT="27432" marB="27432">
                    <a:solidFill>
                      <a:srgbClr val="FFFFFF"/>
                    </a:solidFill>
                  </a:tcPr>
                </a:tc>
                <a:tc>
                  <a:txBody>
                    <a:bodyPr wrap="square"/>
                    <a:lstStyle/>
                    <a:p>
                      <a:pPr algn="r"/>
                      <a:r>
                        <a:rPr sz="1100" b="0">
                          <a:solidFill>
                            <a:srgbClr val="1F2A44"/>
                          </a:solidFill>
                          <a:latin typeface="Courier New"/>
                        </a:rPr>
                        <a:t>0 / 3,567</a:t>
                      </a:r>
                    </a:p>
                  </a:txBody>
                  <a:tcPr marL="54864" marR="54864" marT="27432" marB="2743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C8102E"/>
                </a:solidFill>
                <a:latin typeface="Calibri"/>
              </a:rPr>
              <a:t>Interim accessible-scope baseline, not a completed census.</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[estimated]  Receipt R10: Interim tiered content census (content_sample); snapshots OBS 2026-10-03T01:40:08.564624+00:00; NAS 2026-10-03T01:38:24.195696+00:00; receipts cr-81526aa143aa, cr-8640b1cbcbc6, cr-aa33fffba60e, cr-bbf71c8d905a, cr-cf4eef79995b, cr-f1415e395361 on akki-vm and akki-vm-ii. Resumable listing, header probes of accessible audio and a per-folder video sample (ranged reads → ffprobe), with unprobed durations extrapolated where possible; a seeded stratified sample of files per folder read byte for byte, verified against the listing and judged on every two-second window by the admitted music detector and the current audio language model; ratio estimators with finite-population correction give the 95 % intervals. Listing, probing and sampling are incomplete. Model readings, not human labels; intervals exclude model error and inaccessible or unsampled content.</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47</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EVIDENCE BY NAME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Media stores — what was listed, what could be read, hours held and what the sample says (largest first)</a:t>
            </a:r>
          </a:p>
        </p:txBody>
      </p:sp>
      <p:graphicFrame>
        <p:nvGraphicFramePr>
          <p:cNvPr id="4" name="Table 3"/>
          <p:cNvGraphicFramePr>
            <a:graphicFrameLocks noGrp="1"/>
          </p:cNvGraphicFramePr>
          <p:nvPr/>
        </p:nvGraphicFramePr>
        <p:xfrm>
          <a:off x="594360" y="1920240"/>
          <a:ext cx="11002974" cy="3017520"/>
        </p:xfrm>
        <a:graphic>
          <a:graphicData uri="http://schemas.openxmlformats.org/drawingml/2006/table">
            <a:tbl>
              <a:tblPr firstRow="1" bandRow="1">
                <a:tableStyleId>{5C22544A-7EE6-4342-B048-85BDC9FD1C3A}</a:tableStyleId>
              </a:tblPr>
              <a:tblGrid>
                <a:gridCol w="1571853"/>
                <a:gridCol w="1068860"/>
                <a:gridCol w="880238"/>
                <a:gridCol w="1760476"/>
                <a:gridCol w="1760476"/>
                <a:gridCol w="2640714"/>
                <a:gridCol w="1320357"/>
              </a:tblGrid>
              <a:tr h="301752">
                <a:tc>
                  <a:txBody>
                    <a:bodyPr wrap="square"/>
                    <a:lstStyle/>
                    <a:p>
                      <a:pPr algn="l"/>
                      <a:r>
                        <a:rPr sz="1100" b="1">
                          <a:solidFill>
                            <a:srgbClr val="1F2A44"/>
                          </a:solidFill>
                          <a:latin typeface="Calibri"/>
                        </a:rPr>
                        <a:t>Bucket / share</a:t>
                      </a:r>
                    </a:p>
                  </a:txBody>
                  <a:tcPr marL="54864" marR="54864" marT="27432" marB="27432">
                    <a:solidFill>
                      <a:srgbClr val="E9ECF1"/>
                    </a:solidFill>
                  </a:tcPr>
                </a:tc>
                <a:tc>
                  <a:txBody>
                    <a:bodyPr wrap="square"/>
                    <a:lstStyle/>
                    <a:p>
                      <a:pPr algn="l"/>
                      <a:r>
                        <a:rPr sz="1100" b="1">
                          <a:solidFill>
                            <a:srgbClr val="1F2A44"/>
                          </a:solidFill>
                          <a:latin typeface="Calibri"/>
                        </a:rPr>
                        <a:t>Access</a:t>
                      </a:r>
                    </a:p>
                  </a:txBody>
                  <a:tcPr marL="54864" marR="54864" marT="27432" marB="27432">
                    <a:solidFill>
                      <a:srgbClr val="E9ECF1"/>
                    </a:solidFill>
                  </a:tcPr>
                </a:tc>
                <a:tc>
                  <a:txBody>
                    <a:bodyPr wrap="square"/>
                    <a:lstStyle/>
                    <a:p>
                      <a:pPr algn="l"/>
                      <a:r>
                        <a:rPr sz="1100" b="1">
                          <a:solidFill>
                            <a:srgbClr val="1F2A44"/>
                          </a:solidFill>
                          <a:latin typeface="Calibri"/>
                        </a:rPr>
                        <a:t>Media files</a:t>
                      </a:r>
                    </a:p>
                  </a:txBody>
                  <a:tcPr marL="54864" marR="54864" marT="27432" marB="27432">
                    <a:solidFill>
                      <a:srgbClr val="E9ECF1"/>
                    </a:solidFill>
                  </a:tcPr>
                </a:tc>
                <a:tc>
                  <a:txBody>
                    <a:bodyPr wrap="square"/>
                    <a:lstStyle/>
                    <a:p>
                      <a:pPr algn="l"/>
                      <a:r>
                        <a:rPr sz="1100" b="1">
                          <a:solidFill>
                            <a:srgbClr val="1F2A44"/>
                          </a:solidFill>
                          <a:latin typeface="Calibri"/>
                        </a:rPr>
                        <a:t>Hours held (95 %)</a:t>
                      </a:r>
                    </a:p>
                  </a:txBody>
                  <a:tcPr marL="54864" marR="54864" marT="27432" marB="27432">
                    <a:solidFill>
                      <a:srgbClr val="E9ECF1"/>
                    </a:solidFill>
                  </a:tcPr>
                </a:tc>
                <a:tc>
                  <a:txBody>
                    <a:bodyPr wrap="square"/>
                    <a:lstStyle/>
                    <a:p>
                      <a:pPr algn="l"/>
                      <a:r>
                        <a:rPr sz="1100" b="1">
                          <a:solidFill>
                            <a:srgbClr val="1F2A44"/>
                          </a:solidFill>
                          <a:latin typeface="Calibri"/>
                        </a:rPr>
                        <a:t>Speech hours (95 %)</a:t>
                      </a:r>
                    </a:p>
                  </a:txBody>
                  <a:tcPr marL="54864" marR="54864" marT="27432" marB="27432">
                    <a:solidFill>
                      <a:srgbClr val="E9ECF1"/>
                    </a:solidFill>
                  </a:tcPr>
                </a:tc>
                <a:tc>
                  <a:txBody>
                    <a:bodyPr wrap="square"/>
                    <a:lstStyle/>
                    <a:p>
                      <a:pPr algn="l"/>
                      <a:r>
                        <a:rPr sz="1100" b="1">
                          <a:solidFill>
                            <a:srgbClr val="1F2A44"/>
                          </a:solidFill>
                          <a:latin typeface="Calibri"/>
                        </a:rPr>
                        <a:t>Top languages (speech hours)</a:t>
                      </a:r>
                    </a:p>
                  </a:txBody>
                  <a:tcPr marL="54864" marR="54864" marT="27432" marB="27432">
                    <a:solidFill>
                      <a:srgbClr val="E9ECF1"/>
                    </a:solidFill>
                  </a:tcPr>
                </a:tc>
                <a:tc>
                  <a:txBody>
                    <a:bodyPr wrap="square"/>
                    <a:lstStyle/>
                    <a:p>
                      <a:pPr algn="l"/>
                      <a:r>
                        <a:rPr sz="1100" b="1">
                          <a:solidFill>
                            <a:srgbClr val="1F2A44"/>
                          </a:solidFill>
                          <a:latin typeface="Calibri"/>
                        </a:rPr>
                        <a:t>Sample read / planned</a:t>
                      </a:r>
                    </a:p>
                  </a:txBody>
                  <a:tcPr marL="54864" marR="54864" marT="27432" marB="27432">
                    <a:solidFill>
                      <a:srgbClr val="E9ECF1"/>
                    </a:solidFill>
                  </a:tcPr>
                </a:tc>
              </a:tr>
              <a:tr h="301752">
                <a:tc>
                  <a:txBody>
                    <a:bodyPr wrap="square"/>
                    <a:lstStyle/>
                    <a:p>
                      <a:pPr algn="l"/>
                      <a:r>
                        <a:rPr sz="1100" b="0">
                          <a:solidFill>
                            <a:srgbClr val="1F2A44"/>
                          </a:solidFill>
                          <a:latin typeface="Calibri"/>
                        </a:rPr>
                        <a:t>na7p43d3</a:t>
                      </a:r>
                    </a:p>
                  </a:txBody>
                  <a:tcPr marL="54864" marR="54864" marT="27432" marB="27432">
                    <a:solidFill>
                      <a:srgbClr val="FFFFFF"/>
                    </a:solidFill>
                  </a:tcPr>
                </a:tc>
                <a:tc>
                  <a:txBody>
                    <a:bodyPr wrap="square"/>
                    <a:lstStyle/>
                    <a:p>
                      <a:pPr algn="l"/>
                      <a:r>
                        <a:rPr sz="1100" b="0">
                          <a:solidFill>
                            <a:srgbClr val="1F2A44"/>
                          </a:solidFill>
                          <a:latin typeface="Calibri"/>
                        </a:rPr>
                        <a:t>key refused (403)</a:t>
                      </a:r>
                    </a:p>
                  </a:txBody>
                  <a:tcPr marL="54864" marR="54864" marT="27432" marB="27432">
                    <a:solidFill>
                      <a:srgbClr val="FFFFFF"/>
                    </a:solidFill>
                  </a:tcPr>
                </a:tc>
                <a:tc>
                  <a:txBody>
                    <a:bodyPr wrap="square"/>
                    <a:lstStyle/>
                    <a:p>
                      <a:pPr algn="r"/>
                      <a:r>
                        <a:rPr sz="1100" b="0">
                          <a:solidFill>
                            <a:srgbClr val="1F2A44"/>
                          </a:solidFill>
                          <a:latin typeface="Courier New"/>
                        </a:rPr>
                        <a:t>13,318</a:t>
                      </a:r>
                    </a:p>
                  </a:txBody>
                  <a:tcPr marL="54864" marR="54864" marT="27432" marB="27432">
                    <a:solidFill>
                      <a:srgbClr val="FFFFFF"/>
                    </a:solidFill>
                  </a:tcPr>
                </a:tc>
                <a:tc>
                  <a:txBody>
                    <a:bodyPr wrap="square"/>
                    <a:lstStyle/>
                    <a:p>
                      <a:pPr algn="r"/>
                      <a:r>
                        <a:rPr sz="1100" b="0">
                          <a:solidFill>
                            <a:srgbClr val="1F2A44"/>
                          </a:solidFill>
                          <a:latin typeface="Courier New"/>
                        </a:rPr>
                        <a:t>not measurable</a:t>
                      </a:r>
                    </a:p>
                  </a:txBody>
                  <a:tcPr marL="54864" marR="54864" marT="27432" marB="27432">
                    <a:solidFill>
                      <a:srgbClr val="FFFFFF"/>
                    </a:solidFill>
                  </a:tcPr>
                </a:tc>
                <a:tc>
                  <a:txBody>
                    <a:bodyPr wrap="square"/>
                    <a:lstStyle/>
                    <a:p>
                      <a:pPr algn="r"/>
                      <a:r>
                        <a:rPr sz="1100" b="0">
                          <a:solidFill>
                            <a:srgbClr val="1F2A44"/>
                          </a:solidFill>
                          <a:latin typeface="Courier New"/>
                        </a:rPr>
                        <a:t>—</a:t>
                      </a:r>
                    </a:p>
                  </a:txBody>
                  <a:tcPr marL="54864" marR="54864" marT="27432" marB="27432">
                    <a:solidFill>
                      <a:srgbClr val="FFFFFF"/>
                    </a:solidFill>
                  </a:tcPr>
                </a:tc>
                <a:tc>
                  <a:txBody>
                    <a:bodyPr wrap="square"/>
                    <a:lstStyle/>
                    <a:p>
                      <a:pPr algn="r"/>
                      <a:r>
                        <a:rPr sz="1100" b="0">
                          <a:solidFill>
                            <a:srgbClr val="1F2A44"/>
                          </a:solidFill>
                          <a:latin typeface="Courier New"/>
                        </a:rPr>
                        <a:t>—</a:t>
                      </a:r>
                    </a:p>
                  </a:txBody>
                  <a:tcPr marL="54864" marR="54864" marT="27432" marB="27432">
                    <a:solidFill>
                      <a:srgbClr val="FFFFFF"/>
                    </a:solidFill>
                  </a:tcPr>
                </a:tc>
                <a:tc>
                  <a:txBody>
                    <a:bodyPr wrap="square"/>
                    <a:lstStyle/>
                    <a:p>
                      <a:pPr algn="r"/>
                      <a:r>
                        <a:rPr sz="1100" b="0">
                          <a:solidFill>
                            <a:srgbClr val="1F2A44"/>
                          </a:solidFill>
                          <a:latin typeface="Courier New"/>
                        </a:rPr>
                        <a:t>0 / 1,111</a:t>
                      </a:r>
                    </a:p>
                  </a:txBody>
                  <a:tcPr marL="54864" marR="54864" marT="27432" marB="27432">
                    <a:solidFill>
                      <a:srgbClr val="FFFFFF"/>
                    </a:solidFill>
                  </a:tcPr>
                </a:tc>
              </a:tr>
              <a:tr h="301752">
                <a:tc>
                  <a:txBody>
                    <a:bodyPr wrap="square"/>
                    <a:lstStyle/>
                    <a:p>
                      <a:pPr algn="l"/>
                      <a:r>
                        <a:rPr sz="1100" b="0">
                          <a:solidFill>
                            <a:srgbClr val="1F2A44"/>
                          </a:solidFill>
                          <a:latin typeface="Calibri"/>
                        </a:rPr>
                        <a:t>na7p4oco</a:t>
                      </a:r>
                    </a:p>
                  </a:txBody>
                  <a:tcPr marL="54864" marR="54864" marT="27432" marB="27432">
                    <a:solidFill>
                      <a:srgbClr val="FFFFFF"/>
                    </a:solidFill>
                  </a:tcPr>
                </a:tc>
                <a:tc>
                  <a:txBody>
                    <a:bodyPr wrap="square"/>
                    <a:lstStyle/>
                    <a:p>
                      <a:pPr algn="l"/>
                      <a:r>
                        <a:rPr sz="1100" b="0">
                          <a:solidFill>
                            <a:srgbClr val="1F2A44"/>
                          </a:solidFill>
                          <a:latin typeface="Calibri"/>
                        </a:rPr>
                        <a:t>key refused (403)</a:t>
                      </a:r>
                    </a:p>
                  </a:txBody>
                  <a:tcPr marL="54864" marR="54864" marT="27432" marB="27432">
                    <a:solidFill>
                      <a:srgbClr val="FFFFFF"/>
                    </a:solidFill>
                  </a:tcPr>
                </a:tc>
                <a:tc>
                  <a:txBody>
                    <a:bodyPr wrap="square"/>
                    <a:lstStyle/>
                    <a:p>
                      <a:pPr algn="r"/>
                      <a:r>
                        <a:rPr sz="1100" b="0">
                          <a:solidFill>
                            <a:srgbClr val="1F2A44"/>
                          </a:solidFill>
                          <a:latin typeface="Courier New"/>
                        </a:rPr>
                        <a:t>272,080</a:t>
                      </a:r>
                    </a:p>
                  </a:txBody>
                  <a:tcPr marL="54864" marR="54864" marT="27432" marB="27432">
                    <a:solidFill>
                      <a:srgbClr val="FFFFFF"/>
                    </a:solidFill>
                  </a:tcPr>
                </a:tc>
                <a:tc>
                  <a:txBody>
                    <a:bodyPr wrap="square"/>
                    <a:lstStyle/>
                    <a:p>
                      <a:pPr algn="r"/>
                      <a:r>
                        <a:rPr sz="1100" b="0">
                          <a:solidFill>
                            <a:srgbClr val="1F2A44"/>
                          </a:solidFill>
                          <a:latin typeface="Courier New"/>
                        </a:rPr>
                        <a:t>not measurable</a:t>
                      </a:r>
                    </a:p>
                  </a:txBody>
                  <a:tcPr marL="54864" marR="54864" marT="27432" marB="27432">
                    <a:solidFill>
                      <a:srgbClr val="FFFFFF"/>
                    </a:solidFill>
                  </a:tcPr>
                </a:tc>
                <a:tc>
                  <a:txBody>
                    <a:bodyPr wrap="square"/>
                    <a:lstStyle/>
                    <a:p>
                      <a:pPr algn="r"/>
                      <a:r>
                        <a:rPr sz="1100" b="0">
                          <a:solidFill>
                            <a:srgbClr val="1F2A44"/>
                          </a:solidFill>
                          <a:latin typeface="Courier New"/>
                        </a:rPr>
                        <a:t>—</a:t>
                      </a:r>
                    </a:p>
                  </a:txBody>
                  <a:tcPr marL="54864" marR="54864" marT="27432" marB="27432">
                    <a:solidFill>
                      <a:srgbClr val="FFFFFF"/>
                    </a:solidFill>
                  </a:tcPr>
                </a:tc>
                <a:tc>
                  <a:txBody>
                    <a:bodyPr wrap="square"/>
                    <a:lstStyle/>
                    <a:p>
                      <a:pPr algn="r"/>
                      <a:r>
                        <a:rPr sz="1100" b="0">
                          <a:solidFill>
                            <a:srgbClr val="1F2A44"/>
                          </a:solidFill>
                          <a:latin typeface="Courier New"/>
                        </a:rPr>
                        <a:t>—</a:t>
                      </a:r>
                    </a:p>
                  </a:txBody>
                  <a:tcPr marL="54864" marR="54864" marT="27432" marB="27432">
                    <a:solidFill>
                      <a:srgbClr val="FFFFFF"/>
                    </a:solidFill>
                  </a:tcPr>
                </a:tc>
                <a:tc>
                  <a:txBody>
                    <a:bodyPr wrap="square"/>
                    <a:lstStyle/>
                    <a:p>
                      <a:pPr algn="r"/>
                      <a:r>
                        <a:rPr sz="1100" b="0">
                          <a:solidFill>
                            <a:srgbClr val="1F2A44"/>
                          </a:solidFill>
                          <a:latin typeface="Courier New"/>
                        </a:rPr>
                        <a:t>0 / 925</a:t>
                      </a:r>
                    </a:p>
                  </a:txBody>
                  <a:tcPr marL="54864" marR="54864" marT="27432" marB="27432">
                    <a:solidFill>
                      <a:srgbClr val="FFFFFF"/>
                    </a:solidFill>
                  </a:tcPr>
                </a:tc>
              </a:tr>
              <a:tr h="301752">
                <a:tc>
                  <a:txBody>
                    <a:bodyPr wrap="square"/>
                    <a:lstStyle/>
                    <a:p>
                      <a:pPr algn="l"/>
                      <a:r>
                        <a:rPr sz="1100" b="0">
                          <a:solidFill>
                            <a:srgbClr val="1F2A44"/>
                          </a:solidFill>
                          <a:latin typeface="Calibri"/>
                        </a:rPr>
                        <a:t>rmsbroadcast</a:t>
                      </a:r>
                    </a:p>
                  </a:txBody>
                  <a:tcPr marL="54864" marR="54864" marT="27432" marB="27432">
                    <a:solidFill>
                      <a:srgbClr val="FFFFFF"/>
                    </a:solidFill>
                  </a:tcPr>
                </a:tc>
                <a:tc>
                  <a:txBody>
                    <a:bodyPr wrap="square"/>
                    <a:lstStyle/>
                    <a:p>
                      <a:pPr algn="l"/>
                      <a:r>
                        <a:rPr sz="1100" b="0">
                          <a:solidFill>
                            <a:srgbClr val="1F2A44"/>
                          </a:solidFill>
                          <a:latin typeface="Calibri"/>
                        </a:rPr>
                        <a:t>readable</a:t>
                      </a:r>
                    </a:p>
                  </a:txBody>
                  <a:tcPr marL="54864" marR="54864" marT="27432" marB="27432">
                    <a:solidFill>
                      <a:srgbClr val="FFFFFF"/>
                    </a:solidFill>
                  </a:tcPr>
                </a:tc>
                <a:tc>
                  <a:txBody>
                    <a:bodyPr wrap="square"/>
                    <a:lstStyle/>
                    <a:p>
                      <a:pPr algn="r"/>
                      <a:r>
                        <a:rPr sz="1100" b="0">
                          <a:solidFill>
                            <a:srgbClr val="1F2A44"/>
                          </a:solidFill>
                          <a:latin typeface="Courier New"/>
                        </a:rPr>
                        <a:t>141,564</a:t>
                      </a:r>
                    </a:p>
                  </a:txBody>
                  <a:tcPr marL="54864" marR="54864" marT="27432" marB="27432">
                    <a:solidFill>
                      <a:srgbClr val="FFFFFF"/>
                    </a:solidFill>
                  </a:tcPr>
                </a:tc>
                <a:tc>
                  <a:txBody>
                    <a:bodyPr wrap="square"/>
                    <a:lstStyle/>
                    <a:p>
                      <a:pPr algn="r"/>
                      <a:r>
                        <a:rPr sz="1100" b="0">
                          <a:solidFill>
                            <a:srgbClr val="1F2A44"/>
                          </a:solidFill>
                          <a:latin typeface="Courier New"/>
                        </a:rPr>
                        <a:t>18,983.2 (18,950.7–19,015.8)</a:t>
                      </a:r>
                    </a:p>
                  </a:txBody>
                  <a:tcPr marL="54864" marR="54864" marT="27432" marB="27432">
                    <a:solidFill>
                      <a:srgbClr val="FFFFFF"/>
                    </a:solidFill>
                  </a:tcPr>
                </a:tc>
                <a:tc>
                  <a:txBody>
                    <a:bodyPr wrap="square"/>
                    <a:lstStyle/>
                    <a:p>
                      <a:pPr algn="r"/>
                      <a:r>
                        <a:rPr sz="1100" b="0">
                          <a:solidFill>
                            <a:srgbClr val="1F2A44"/>
                          </a:solidFill>
                          <a:latin typeface="Courier New"/>
                        </a:rPr>
                        <a:t>13,928.7 (13,433.2–14,424.1)</a:t>
                      </a:r>
                    </a:p>
                  </a:txBody>
                  <a:tcPr marL="54864" marR="54864" marT="27432" marB="27432">
                    <a:solidFill>
                      <a:srgbClr val="FFFFFF"/>
                    </a:solidFill>
                  </a:tcPr>
                </a:tc>
                <a:tc>
                  <a:txBody>
                    <a:bodyPr wrap="square"/>
                    <a:lstStyle/>
                    <a:p>
                      <a:pPr algn="r"/>
                      <a:r>
                        <a:rPr sz="1100" b="0">
                          <a:solidFill>
                            <a:srgbClr val="1F2A44"/>
                          </a:solidFill>
                          <a:latin typeface="Courier New"/>
                        </a:rPr>
                        <a:t>Gikuyu (Kikuyu) 2,473 h; Ekegusii (Kisii) 1,971 h; Kalenjin 1,527 h</a:t>
                      </a:r>
                    </a:p>
                  </a:txBody>
                  <a:tcPr marL="54864" marR="54864" marT="27432" marB="27432">
                    <a:solidFill>
                      <a:srgbClr val="FFFFFF"/>
                    </a:solidFill>
                  </a:tcPr>
                </a:tc>
                <a:tc>
                  <a:txBody>
                    <a:bodyPr wrap="square"/>
                    <a:lstStyle/>
                    <a:p>
                      <a:pPr algn="r"/>
                      <a:r>
                        <a:rPr sz="1100" b="0">
                          <a:solidFill>
                            <a:srgbClr val="1F2A44"/>
                          </a:solidFill>
                          <a:latin typeface="Courier New"/>
                        </a:rPr>
                        <a:t>1,799 / 1,800</a:t>
                      </a:r>
                    </a:p>
                  </a:txBody>
                  <a:tcPr marL="54864" marR="54864" marT="27432" marB="27432">
                    <a:solidFill>
                      <a:srgbClr val="FFFFFF"/>
                    </a:solidFill>
                  </a:tcPr>
                </a:tc>
              </a:tr>
              <a:tr h="301752">
                <a:tc>
                  <a:txBody>
                    <a:bodyPr wrap="square"/>
                    <a:lstStyle/>
                    <a:p>
                      <a:pPr algn="l"/>
                      <a:r>
                        <a:rPr sz="1100" b="0">
                          <a:solidFill>
                            <a:srgbClr val="1F2A44"/>
                          </a:solidFill>
                          <a:latin typeface="Calibri"/>
                        </a:rPr>
                        <a:t>na7p4357</a:t>
                      </a:r>
                    </a:p>
                  </a:txBody>
                  <a:tcPr marL="54864" marR="54864" marT="27432" marB="27432">
                    <a:solidFill>
                      <a:srgbClr val="FFFFFF"/>
                    </a:solidFill>
                  </a:tcPr>
                </a:tc>
                <a:tc>
                  <a:txBody>
                    <a:bodyPr wrap="square"/>
                    <a:lstStyle/>
                    <a:p>
                      <a:pPr algn="l"/>
                      <a:r>
                        <a:rPr sz="1100" b="0">
                          <a:solidFill>
                            <a:srgbClr val="1F2A44"/>
                          </a:solidFill>
                          <a:latin typeface="Calibri"/>
                        </a:rPr>
                        <a:t>key refused (403)</a:t>
                      </a:r>
                    </a:p>
                  </a:txBody>
                  <a:tcPr marL="54864" marR="54864" marT="27432" marB="27432">
                    <a:solidFill>
                      <a:srgbClr val="FFFFFF"/>
                    </a:solidFill>
                  </a:tcPr>
                </a:tc>
                <a:tc>
                  <a:txBody>
                    <a:bodyPr wrap="square"/>
                    <a:lstStyle/>
                    <a:p>
                      <a:pPr algn="r"/>
                      <a:r>
                        <a:rPr sz="1100" b="0">
                          <a:solidFill>
                            <a:srgbClr val="1F2A44"/>
                          </a:solidFill>
                          <a:latin typeface="Courier New"/>
                        </a:rPr>
                        <a:t>2,228</a:t>
                      </a:r>
                    </a:p>
                  </a:txBody>
                  <a:tcPr marL="54864" marR="54864" marT="27432" marB="27432">
                    <a:solidFill>
                      <a:srgbClr val="FFFFFF"/>
                    </a:solidFill>
                  </a:tcPr>
                </a:tc>
                <a:tc>
                  <a:txBody>
                    <a:bodyPr wrap="square"/>
                    <a:lstStyle/>
                    <a:p>
                      <a:pPr algn="r"/>
                      <a:r>
                        <a:rPr sz="1100" b="0">
                          <a:solidFill>
                            <a:srgbClr val="1F2A44"/>
                          </a:solidFill>
                          <a:latin typeface="Courier New"/>
                        </a:rPr>
                        <a:t>not measurable</a:t>
                      </a:r>
                    </a:p>
                  </a:txBody>
                  <a:tcPr marL="54864" marR="54864" marT="27432" marB="27432">
                    <a:solidFill>
                      <a:srgbClr val="FFFFFF"/>
                    </a:solidFill>
                  </a:tcPr>
                </a:tc>
                <a:tc>
                  <a:txBody>
                    <a:bodyPr wrap="square"/>
                    <a:lstStyle/>
                    <a:p>
                      <a:pPr algn="r"/>
                      <a:r>
                        <a:rPr sz="1100" b="0">
                          <a:solidFill>
                            <a:srgbClr val="1F2A44"/>
                          </a:solidFill>
                          <a:latin typeface="Courier New"/>
                        </a:rPr>
                        <a:t>—</a:t>
                      </a:r>
                    </a:p>
                  </a:txBody>
                  <a:tcPr marL="54864" marR="54864" marT="27432" marB="27432">
                    <a:solidFill>
                      <a:srgbClr val="FFFFFF"/>
                    </a:solidFill>
                  </a:tcPr>
                </a:tc>
                <a:tc>
                  <a:txBody>
                    <a:bodyPr wrap="square"/>
                    <a:lstStyle/>
                    <a:p>
                      <a:pPr algn="r"/>
                      <a:r>
                        <a:rPr sz="1100" b="0">
                          <a:solidFill>
                            <a:srgbClr val="1F2A44"/>
                          </a:solidFill>
                          <a:latin typeface="Courier New"/>
                        </a:rPr>
                        <a:t>—</a:t>
                      </a:r>
                    </a:p>
                  </a:txBody>
                  <a:tcPr marL="54864" marR="54864" marT="27432" marB="27432">
                    <a:solidFill>
                      <a:srgbClr val="FFFFFF"/>
                    </a:solidFill>
                  </a:tcPr>
                </a:tc>
                <a:tc>
                  <a:txBody>
                    <a:bodyPr wrap="square"/>
                    <a:lstStyle/>
                    <a:p>
                      <a:pPr algn="r"/>
                      <a:r>
                        <a:rPr sz="1100" b="0">
                          <a:solidFill>
                            <a:srgbClr val="1F2A44"/>
                          </a:solidFill>
                          <a:latin typeface="Courier New"/>
                        </a:rPr>
                        <a:t>0 / 1,039</a:t>
                      </a:r>
                    </a:p>
                  </a:txBody>
                  <a:tcPr marL="54864" marR="54864" marT="27432" marB="27432">
                    <a:solidFill>
                      <a:srgbClr val="FFFFFF"/>
                    </a:solidFill>
                  </a:tcPr>
                </a:tc>
              </a:tr>
              <a:tr h="301752">
                <a:tc>
                  <a:txBody>
                    <a:bodyPr wrap="square"/>
                    <a:lstStyle/>
                    <a:p>
                      <a:pPr algn="l"/>
                      <a:r>
                        <a:rPr sz="1100" b="0">
                          <a:solidFill>
                            <a:srgbClr val="1F2A44"/>
                          </a:solidFill>
                          <a:latin typeface="Calibri"/>
                        </a:rPr>
                        <a:t>na7p43df</a:t>
                      </a:r>
                    </a:p>
                  </a:txBody>
                  <a:tcPr marL="54864" marR="54864" marT="27432" marB="27432">
                    <a:solidFill>
                      <a:srgbClr val="FFFFFF"/>
                    </a:solidFill>
                  </a:tcPr>
                </a:tc>
                <a:tc>
                  <a:txBody>
                    <a:bodyPr wrap="square"/>
                    <a:lstStyle/>
                    <a:p>
                      <a:pPr algn="l"/>
                      <a:r>
                        <a:rPr sz="1100" b="0">
                          <a:solidFill>
                            <a:srgbClr val="1F2A44"/>
                          </a:solidFill>
                          <a:latin typeface="Calibri"/>
                        </a:rPr>
                        <a:t>key refused (403)</a:t>
                      </a:r>
                    </a:p>
                  </a:txBody>
                  <a:tcPr marL="54864" marR="54864" marT="27432" marB="27432">
                    <a:solidFill>
                      <a:srgbClr val="FFFFFF"/>
                    </a:solidFill>
                  </a:tcPr>
                </a:tc>
                <a:tc>
                  <a:txBody>
                    <a:bodyPr wrap="square"/>
                    <a:lstStyle/>
                    <a:p>
                      <a:pPr algn="r"/>
                      <a:r>
                        <a:rPr sz="1100" b="0">
                          <a:solidFill>
                            <a:srgbClr val="1F2A44"/>
                          </a:solidFill>
                          <a:latin typeface="Courier New"/>
                        </a:rPr>
                        <a:t>1,071</a:t>
                      </a:r>
                    </a:p>
                  </a:txBody>
                  <a:tcPr marL="54864" marR="54864" marT="27432" marB="27432">
                    <a:solidFill>
                      <a:srgbClr val="FFFFFF"/>
                    </a:solidFill>
                  </a:tcPr>
                </a:tc>
                <a:tc>
                  <a:txBody>
                    <a:bodyPr wrap="square"/>
                    <a:lstStyle/>
                    <a:p>
                      <a:pPr algn="r"/>
                      <a:r>
                        <a:rPr sz="1100" b="0">
                          <a:solidFill>
                            <a:srgbClr val="1F2A44"/>
                          </a:solidFill>
                          <a:latin typeface="Courier New"/>
                        </a:rPr>
                        <a:t>not measurable</a:t>
                      </a:r>
                    </a:p>
                  </a:txBody>
                  <a:tcPr marL="54864" marR="54864" marT="27432" marB="27432">
                    <a:solidFill>
                      <a:srgbClr val="FFFFFF"/>
                    </a:solidFill>
                  </a:tcPr>
                </a:tc>
                <a:tc>
                  <a:txBody>
                    <a:bodyPr wrap="square"/>
                    <a:lstStyle/>
                    <a:p>
                      <a:pPr algn="r"/>
                      <a:r>
                        <a:rPr sz="1100" b="0">
                          <a:solidFill>
                            <a:srgbClr val="1F2A44"/>
                          </a:solidFill>
                          <a:latin typeface="Courier New"/>
                        </a:rPr>
                        <a:t>—</a:t>
                      </a:r>
                    </a:p>
                  </a:txBody>
                  <a:tcPr marL="54864" marR="54864" marT="27432" marB="27432">
                    <a:solidFill>
                      <a:srgbClr val="FFFFFF"/>
                    </a:solidFill>
                  </a:tcPr>
                </a:tc>
                <a:tc>
                  <a:txBody>
                    <a:bodyPr wrap="square"/>
                    <a:lstStyle/>
                    <a:p>
                      <a:pPr algn="r"/>
                      <a:r>
                        <a:rPr sz="1100" b="0">
                          <a:solidFill>
                            <a:srgbClr val="1F2A44"/>
                          </a:solidFill>
                          <a:latin typeface="Courier New"/>
                        </a:rPr>
                        <a:t>—</a:t>
                      </a:r>
                    </a:p>
                  </a:txBody>
                  <a:tcPr marL="54864" marR="54864" marT="27432" marB="27432">
                    <a:solidFill>
                      <a:srgbClr val="FFFFFF"/>
                    </a:solidFill>
                  </a:tcPr>
                </a:tc>
                <a:tc>
                  <a:txBody>
                    <a:bodyPr wrap="square"/>
                    <a:lstStyle/>
                    <a:p>
                      <a:pPr algn="r"/>
                      <a:r>
                        <a:rPr sz="1100" b="0">
                          <a:solidFill>
                            <a:srgbClr val="1F2A44"/>
                          </a:solidFill>
                          <a:latin typeface="Courier New"/>
                        </a:rPr>
                        <a:t>0 / 369</a:t>
                      </a:r>
                    </a:p>
                  </a:txBody>
                  <a:tcPr marL="54864" marR="54864" marT="27432" marB="27432">
                    <a:solidFill>
                      <a:srgbClr val="FFFFFF"/>
                    </a:solidFill>
                  </a:tcPr>
                </a:tc>
              </a:tr>
              <a:tr h="301752">
                <a:tc>
                  <a:txBody>
                    <a:bodyPr wrap="square"/>
                    <a:lstStyle/>
                    <a:p>
                      <a:pPr algn="l"/>
                      <a:r>
                        <a:rPr sz="1100" b="0">
                          <a:solidFill>
                            <a:srgbClr val="1F2A44"/>
                          </a:solidFill>
                          <a:latin typeface="Calibri"/>
                        </a:rPr>
                        <a:t>citizen-digital-cms-files</a:t>
                      </a:r>
                    </a:p>
                  </a:txBody>
                  <a:tcPr marL="54864" marR="54864" marT="27432" marB="27432">
                    <a:solidFill>
                      <a:srgbClr val="FFFFFF"/>
                    </a:solidFill>
                  </a:tcPr>
                </a:tc>
                <a:tc>
                  <a:txBody>
                    <a:bodyPr wrap="square"/>
                    <a:lstStyle/>
                    <a:p>
                      <a:pPr algn="l"/>
                      <a:r>
                        <a:rPr sz="1100" b="0">
                          <a:solidFill>
                            <a:srgbClr val="1F2A44"/>
                          </a:solidFill>
                          <a:latin typeface="Calibri"/>
                        </a:rPr>
                        <a:t>readable</a:t>
                      </a:r>
                    </a:p>
                  </a:txBody>
                  <a:tcPr marL="54864" marR="54864" marT="27432" marB="27432">
                    <a:solidFill>
                      <a:srgbClr val="FFFFFF"/>
                    </a:solidFill>
                  </a:tcPr>
                </a:tc>
                <a:tc>
                  <a:txBody>
                    <a:bodyPr wrap="square"/>
                    <a:lstStyle/>
                    <a:p>
                      <a:pPr algn="r"/>
                      <a:r>
                        <a:rPr sz="1100" b="0">
                          <a:solidFill>
                            <a:srgbClr val="1F2A44"/>
                          </a:solidFill>
                          <a:latin typeface="Courier New"/>
                        </a:rPr>
                        <a:t>44,818</a:t>
                      </a:r>
                    </a:p>
                  </a:txBody>
                  <a:tcPr marL="54864" marR="54864" marT="27432" marB="27432">
                    <a:solidFill>
                      <a:srgbClr val="FFFFFF"/>
                    </a:solidFill>
                  </a:tcPr>
                </a:tc>
                <a:tc>
                  <a:txBody>
                    <a:bodyPr wrap="square"/>
                    <a:lstStyle/>
                    <a:p>
                      <a:pPr algn="r"/>
                      <a:r>
                        <a:rPr sz="1100" b="0">
                          <a:solidFill>
                            <a:srgbClr val="1F2A44"/>
                          </a:solidFill>
                          <a:latin typeface="Courier New"/>
                        </a:rPr>
                        <a:t>5,978.6 (5,956.4–6,000.8)</a:t>
                      </a:r>
                    </a:p>
                  </a:txBody>
                  <a:tcPr marL="54864" marR="54864" marT="27432" marB="27432">
                    <a:solidFill>
                      <a:srgbClr val="FFFFFF"/>
                    </a:solidFill>
                  </a:tcPr>
                </a:tc>
                <a:tc>
                  <a:txBody>
                    <a:bodyPr wrap="square"/>
                    <a:lstStyle/>
                    <a:p>
                      <a:pPr algn="r"/>
                      <a:r>
                        <a:rPr sz="1100" b="0">
                          <a:solidFill>
                            <a:srgbClr val="1F2A44"/>
                          </a:solidFill>
                          <a:latin typeface="Courier New"/>
                        </a:rPr>
                        <a:t>4,700.3 (4,567.2–4,833.4)</a:t>
                      </a:r>
                    </a:p>
                  </a:txBody>
                  <a:tcPr marL="54864" marR="54864" marT="27432" marB="27432">
                    <a:solidFill>
                      <a:srgbClr val="FFFFFF"/>
                    </a:solidFill>
                  </a:tcPr>
                </a:tc>
                <a:tc>
                  <a:txBody>
                    <a:bodyPr wrap="square"/>
                    <a:lstStyle/>
                    <a:p>
                      <a:pPr algn="r"/>
                      <a:r>
                        <a:rPr sz="1100" b="0">
                          <a:solidFill>
                            <a:srgbClr val="1F2A44"/>
                          </a:solidFill>
                          <a:latin typeface="Courier New"/>
                        </a:rPr>
                        <a:t>Gikuyu (Kikuyu) 1,058 h; Ekegusii (Kisii) 487 h; Kalenjin 196 h</a:t>
                      </a:r>
                    </a:p>
                  </a:txBody>
                  <a:tcPr marL="54864" marR="54864" marT="27432" marB="27432">
                    <a:solidFill>
                      <a:srgbClr val="FFFFFF"/>
                    </a:solidFill>
                  </a:tcPr>
                </a:tc>
                <a:tc>
                  <a:txBody>
                    <a:bodyPr wrap="square"/>
                    <a:lstStyle/>
                    <a:p>
                      <a:pPr algn="r"/>
                      <a:r>
                        <a:rPr sz="1100" b="0">
                          <a:solidFill>
                            <a:srgbClr val="1F2A44"/>
                          </a:solidFill>
                          <a:latin typeface="Courier New"/>
                        </a:rPr>
                        <a:t>1,330 / 1,336</a:t>
                      </a:r>
                    </a:p>
                  </a:txBody>
                  <a:tcPr marL="54864" marR="54864" marT="27432" marB="27432">
                    <a:solidFill>
                      <a:srgbClr val="FFFFFF"/>
                    </a:solidFill>
                  </a:tcPr>
                </a:tc>
              </a:tr>
              <a:tr h="301752">
                <a:tc>
                  <a:txBody>
                    <a:bodyPr wrap="square"/>
                    <a:lstStyle/>
                    <a:p>
                      <a:pPr algn="l"/>
                      <a:r>
                        <a:rPr sz="1100" b="0">
                          <a:solidFill>
                            <a:srgbClr val="1F2A44"/>
                          </a:solidFill>
                          <a:latin typeface="Calibri"/>
                        </a:rPr>
                        <a:t>na7p43ax</a:t>
                      </a:r>
                    </a:p>
                  </a:txBody>
                  <a:tcPr marL="54864" marR="54864" marT="27432" marB="27432">
                    <a:solidFill>
                      <a:srgbClr val="FFFFFF"/>
                    </a:solidFill>
                  </a:tcPr>
                </a:tc>
                <a:tc>
                  <a:txBody>
                    <a:bodyPr wrap="square"/>
                    <a:lstStyle/>
                    <a:p>
                      <a:pPr algn="l"/>
                      <a:r>
                        <a:rPr sz="1100" b="0">
                          <a:solidFill>
                            <a:srgbClr val="1F2A44"/>
                          </a:solidFill>
                          <a:latin typeface="Calibri"/>
                        </a:rPr>
                        <a:t>key refused (403)</a:t>
                      </a:r>
                    </a:p>
                  </a:txBody>
                  <a:tcPr marL="54864" marR="54864" marT="27432" marB="27432">
                    <a:solidFill>
                      <a:srgbClr val="FFFFFF"/>
                    </a:solidFill>
                  </a:tcPr>
                </a:tc>
                <a:tc>
                  <a:txBody>
                    <a:bodyPr wrap="square"/>
                    <a:lstStyle/>
                    <a:p>
                      <a:pPr algn="r"/>
                      <a:r>
                        <a:rPr sz="1100" b="0">
                          <a:solidFill>
                            <a:srgbClr val="1F2A44"/>
                          </a:solidFill>
                          <a:latin typeface="Courier New"/>
                        </a:rPr>
                        <a:t>767</a:t>
                      </a:r>
                    </a:p>
                  </a:txBody>
                  <a:tcPr marL="54864" marR="54864" marT="27432" marB="27432">
                    <a:solidFill>
                      <a:srgbClr val="FFFFFF"/>
                    </a:solidFill>
                  </a:tcPr>
                </a:tc>
                <a:tc>
                  <a:txBody>
                    <a:bodyPr wrap="square"/>
                    <a:lstStyle/>
                    <a:p>
                      <a:pPr algn="r"/>
                      <a:r>
                        <a:rPr sz="1100" b="0">
                          <a:solidFill>
                            <a:srgbClr val="1F2A44"/>
                          </a:solidFill>
                          <a:latin typeface="Courier New"/>
                        </a:rPr>
                        <a:t>not measurable</a:t>
                      </a:r>
                    </a:p>
                  </a:txBody>
                  <a:tcPr marL="54864" marR="54864" marT="27432" marB="27432">
                    <a:solidFill>
                      <a:srgbClr val="FFFFFF"/>
                    </a:solidFill>
                  </a:tcPr>
                </a:tc>
                <a:tc>
                  <a:txBody>
                    <a:bodyPr wrap="square"/>
                    <a:lstStyle/>
                    <a:p>
                      <a:pPr algn="r"/>
                      <a:r>
                        <a:rPr sz="1100" b="0">
                          <a:solidFill>
                            <a:srgbClr val="1F2A44"/>
                          </a:solidFill>
                          <a:latin typeface="Courier New"/>
                        </a:rPr>
                        <a:t>—</a:t>
                      </a:r>
                    </a:p>
                  </a:txBody>
                  <a:tcPr marL="54864" marR="54864" marT="27432" marB="27432">
                    <a:solidFill>
                      <a:srgbClr val="FFFFFF"/>
                    </a:solidFill>
                  </a:tcPr>
                </a:tc>
                <a:tc>
                  <a:txBody>
                    <a:bodyPr wrap="square"/>
                    <a:lstStyle/>
                    <a:p>
                      <a:pPr algn="r"/>
                      <a:r>
                        <a:rPr sz="1100" b="0">
                          <a:solidFill>
                            <a:srgbClr val="1F2A44"/>
                          </a:solidFill>
                          <a:latin typeface="Courier New"/>
                        </a:rPr>
                        <a:t>—</a:t>
                      </a:r>
                    </a:p>
                  </a:txBody>
                  <a:tcPr marL="54864" marR="54864" marT="27432" marB="27432">
                    <a:solidFill>
                      <a:srgbClr val="FFFFFF"/>
                    </a:solidFill>
                  </a:tcPr>
                </a:tc>
                <a:tc>
                  <a:txBody>
                    <a:bodyPr wrap="square"/>
                    <a:lstStyle/>
                    <a:p>
                      <a:pPr algn="r"/>
                      <a:r>
                        <a:rPr sz="1100" b="0">
                          <a:solidFill>
                            <a:srgbClr val="1F2A44"/>
                          </a:solidFill>
                          <a:latin typeface="Courier New"/>
                        </a:rPr>
                        <a:t>0 / 247</a:t>
                      </a:r>
                    </a:p>
                  </a:txBody>
                  <a:tcPr marL="54864" marR="54864" marT="27432" marB="27432">
                    <a:solidFill>
                      <a:srgbClr val="FFFFFF"/>
                    </a:solidFill>
                  </a:tcPr>
                </a:tc>
              </a:tr>
              <a:tr h="301752">
                <a:tc>
                  <a:txBody>
                    <a:bodyPr wrap="square"/>
                    <a:lstStyle/>
                    <a:p>
                      <a:pPr algn="l"/>
                      <a:r>
                        <a:rPr sz="1100" b="0">
                          <a:solidFill>
                            <a:srgbClr val="1F2A44"/>
                          </a:solidFill>
                          <a:latin typeface="Calibri"/>
                        </a:rPr>
                        <a:t>drivesdata.royalmedia</a:t>
                      </a:r>
                    </a:p>
                  </a:txBody>
                  <a:tcPr marL="54864" marR="54864" marT="27432" marB="27432">
                    <a:solidFill>
                      <a:srgbClr val="FFFFFF"/>
                    </a:solidFill>
                  </a:tcPr>
                </a:tc>
                <a:tc>
                  <a:txBody>
                    <a:bodyPr wrap="square"/>
                    <a:lstStyle/>
                    <a:p>
                      <a:pPr algn="l"/>
                      <a:r>
                        <a:rPr sz="1100" b="0">
                          <a:solidFill>
                            <a:srgbClr val="1F2A44"/>
                          </a:solidFill>
                          <a:latin typeface="Calibri"/>
                        </a:rPr>
                        <a:t>readable</a:t>
                      </a:r>
                    </a:p>
                  </a:txBody>
                  <a:tcPr marL="54864" marR="54864" marT="27432" marB="27432">
                    <a:solidFill>
                      <a:srgbClr val="FFFFFF"/>
                    </a:solidFill>
                  </a:tcPr>
                </a:tc>
                <a:tc>
                  <a:txBody>
                    <a:bodyPr wrap="square"/>
                    <a:lstStyle/>
                    <a:p>
                      <a:pPr algn="r"/>
                      <a:r>
                        <a:rPr sz="1100" b="0">
                          <a:solidFill>
                            <a:srgbClr val="1F2A44"/>
                          </a:solidFill>
                          <a:latin typeface="Courier New"/>
                        </a:rPr>
                        <a:t>538</a:t>
                      </a:r>
                    </a:p>
                  </a:txBody>
                  <a:tcPr marL="54864" marR="54864" marT="27432" marB="27432">
                    <a:solidFill>
                      <a:srgbClr val="FFFFFF"/>
                    </a:solidFill>
                  </a:tcPr>
                </a:tc>
                <a:tc>
                  <a:txBody>
                    <a:bodyPr wrap="square"/>
                    <a:lstStyle/>
                    <a:p>
                      <a:pPr algn="r"/>
                      <a:r>
                        <a:rPr sz="1100" b="0">
                          <a:solidFill>
                            <a:srgbClr val="1F2A44"/>
                          </a:solidFill>
                          <a:latin typeface="Courier New"/>
                        </a:rPr>
                        <a:t>138.5 (137.4–139.6)</a:t>
                      </a:r>
                    </a:p>
                  </a:txBody>
                  <a:tcPr marL="54864" marR="54864" marT="27432" marB="27432">
                    <a:solidFill>
                      <a:srgbClr val="FFFFFF"/>
                    </a:solidFill>
                  </a:tcPr>
                </a:tc>
                <a:tc>
                  <a:txBody>
                    <a:bodyPr wrap="square"/>
                    <a:lstStyle/>
                    <a:p>
                      <a:pPr algn="r"/>
                      <a:r>
                        <a:rPr sz="1100" b="0">
                          <a:solidFill>
                            <a:srgbClr val="1F2A44"/>
                          </a:solidFill>
                          <a:latin typeface="Courier New"/>
                        </a:rPr>
                        <a:t>104.9 (92.0–117.8)</a:t>
                      </a:r>
                    </a:p>
                  </a:txBody>
                  <a:tcPr marL="54864" marR="54864" marT="27432" marB="27432">
                    <a:solidFill>
                      <a:srgbClr val="FFFFFF"/>
                    </a:solidFill>
                  </a:tcPr>
                </a:tc>
                <a:tc>
                  <a:txBody>
                    <a:bodyPr wrap="square"/>
                    <a:lstStyle/>
                    <a:p>
                      <a:pPr algn="r"/>
                      <a:r>
                        <a:rPr sz="1100" b="0">
                          <a:solidFill>
                            <a:srgbClr val="1F2A44"/>
                          </a:solidFill>
                          <a:latin typeface="Courier New"/>
                        </a:rPr>
                        <a:t>Ekegusii (Kisii) 28 h; Kalenjin 5 h; Gikuyu (Kikuyu) 5 h</a:t>
                      </a:r>
                    </a:p>
                  </a:txBody>
                  <a:tcPr marL="54864" marR="54864" marT="27432" marB="27432">
                    <a:solidFill>
                      <a:srgbClr val="FFFFFF"/>
                    </a:solidFill>
                  </a:tcPr>
                </a:tc>
                <a:tc>
                  <a:txBody>
                    <a:bodyPr wrap="square"/>
                    <a:lstStyle/>
                    <a:p>
                      <a:pPr algn="r"/>
                      <a:r>
                        <a:rPr sz="1100" b="0">
                          <a:solidFill>
                            <a:srgbClr val="1F2A44"/>
                          </a:solidFill>
                          <a:latin typeface="Courier New"/>
                        </a:rPr>
                        <a:t>192 / 192</a:t>
                      </a:r>
                    </a:p>
                  </a:txBody>
                  <a:tcPr marL="54864" marR="54864" marT="27432" marB="27432">
                    <a:solidFill>
                      <a:srgbClr val="FFFFFF"/>
                    </a:solidFill>
                  </a:tcPr>
                </a:tc>
              </a:tr>
              <a:tr h="301752">
                <a:tc>
                  <a:txBody>
                    <a:bodyPr wrap="square"/>
                    <a:lstStyle/>
                    <a:p>
                      <a:pPr algn="l"/>
                      <a:r>
                        <a:rPr sz="1100" b="0">
                          <a:solidFill>
                            <a:srgbClr val="1F2A44"/>
                          </a:solidFill>
                          <a:latin typeface="Calibri"/>
                        </a:rPr>
                        <a:t>mar142017</a:t>
                      </a:r>
                    </a:p>
                  </a:txBody>
                  <a:tcPr marL="54864" marR="54864" marT="27432" marB="27432">
                    <a:solidFill>
                      <a:srgbClr val="FFFFFF"/>
                    </a:solidFill>
                  </a:tcPr>
                </a:tc>
                <a:tc>
                  <a:txBody>
                    <a:bodyPr wrap="square"/>
                    <a:lstStyle/>
                    <a:p>
                      <a:pPr algn="l"/>
                      <a:r>
                        <a:rPr sz="1100" b="0">
                          <a:solidFill>
                            <a:srgbClr val="1F2A44"/>
                          </a:solidFill>
                          <a:latin typeface="Calibri"/>
                        </a:rPr>
                        <a:t>readable</a:t>
                      </a:r>
                    </a:p>
                  </a:txBody>
                  <a:tcPr marL="54864" marR="54864" marT="27432" marB="27432">
                    <a:solidFill>
                      <a:srgbClr val="FFFFFF"/>
                    </a:solidFill>
                  </a:tcPr>
                </a:tc>
                <a:tc>
                  <a:txBody>
                    <a:bodyPr wrap="square"/>
                    <a:lstStyle/>
                    <a:p>
                      <a:pPr algn="r"/>
                      <a:r>
                        <a:rPr sz="1100" b="0">
                          <a:solidFill>
                            <a:srgbClr val="1F2A44"/>
                          </a:solidFill>
                          <a:latin typeface="Courier New"/>
                        </a:rPr>
                        <a:t>17</a:t>
                      </a:r>
                    </a:p>
                  </a:txBody>
                  <a:tcPr marL="54864" marR="54864" marT="27432" marB="27432">
                    <a:solidFill>
                      <a:srgbClr val="FFFFFF"/>
                    </a:solidFill>
                  </a:tcPr>
                </a:tc>
                <a:tc>
                  <a:txBody>
                    <a:bodyPr wrap="square"/>
                    <a:lstStyle/>
                    <a:p>
                      <a:pPr algn="r"/>
                      <a:r>
                        <a:rPr sz="1100" b="0">
                          <a:solidFill>
                            <a:srgbClr val="1F2A44"/>
                          </a:solidFill>
                          <a:latin typeface="Courier New"/>
                        </a:rPr>
                        <a:t>13.5</a:t>
                      </a:r>
                    </a:p>
                  </a:txBody>
                  <a:tcPr marL="54864" marR="54864" marT="27432" marB="27432">
                    <a:solidFill>
                      <a:srgbClr val="FFFFFF"/>
                    </a:solidFill>
                  </a:tcPr>
                </a:tc>
                <a:tc>
                  <a:txBody>
                    <a:bodyPr wrap="square"/>
                    <a:lstStyle/>
                    <a:p>
                      <a:pPr algn="r"/>
                      <a:r>
                        <a:rPr sz="1100" b="0">
                          <a:solidFill>
                            <a:srgbClr val="1F2A44"/>
                          </a:solidFill>
                          <a:latin typeface="Courier New"/>
                        </a:rPr>
                        <a:t>11.0</a:t>
                      </a:r>
                    </a:p>
                  </a:txBody>
                  <a:tcPr marL="54864" marR="54864" marT="27432" marB="27432">
                    <a:solidFill>
                      <a:srgbClr val="FFFFFF"/>
                    </a:solidFill>
                  </a:tcPr>
                </a:tc>
                <a:tc>
                  <a:txBody>
                    <a:bodyPr wrap="square"/>
                    <a:lstStyle/>
                    <a:p>
                      <a:pPr algn="r"/>
                      <a:r>
                        <a:rPr sz="1100" b="0">
                          <a:solidFill>
                            <a:srgbClr val="1F2A44"/>
                          </a:solidFill>
                          <a:latin typeface="Courier New"/>
                        </a:rPr>
                        <a:t>Ekegusii (Kisii) 2 h; Gikuyu (Kikuyu) 2 h; Kalenjin 1 h</a:t>
                      </a:r>
                    </a:p>
                  </a:txBody>
                  <a:tcPr marL="54864" marR="54864" marT="27432" marB="27432">
                    <a:solidFill>
                      <a:srgbClr val="FFFFFF"/>
                    </a:solidFill>
                  </a:tcPr>
                </a:tc>
                <a:tc>
                  <a:txBody>
                    <a:bodyPr wrap="square"/>
                    <a:lstStyle/>
                    <a:p>
                      <a:pPr algn="r"/>
                      <a:r>
                        <a:rPr sz="1100" b="0">
                          <a:solidFill>
                            <a:srgbClr val="1F2A44"/>
                          </a:solidFill>
                          <a:latin typeface="Courier New"/>
                        </a:rPr>
                        <a:t>17 / 17</a:t>
                      </a:r>
                    </a:p>
                  </a:txBody>
                  <a:tcPr marL="54864" marR="54864" marT="27432" marB="2743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C8102E"/>
                </a:solidFill>
                <a:latin typeface="Calibri"/>
              </a:rPr>
              <a:t>Interim accessible-scope baseline, not a completed census.</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[estimated]  Receipt R10: Interim tiered content census (content_sample); snapshots OBS 2026-10-03T01:40:08.564624+00:00; NAS 2026-10-03T01:38:24.195696+00:00; receipts cr-81526aa143aa, cr-8640b1cbcbc6, cr-aa33fffba60e, cr-bbf71c8d905a, cr-cf4eef79995b, cr-f1415e395361 on akki-vm and akki-vm-ii. Resumable listing, header probes of accessible audio and a per-folder video sample (ranged reads → ffprobe), with unprobed durations extrapolated where possible; a seeded stratified sample of files per folder read byte for byte, verified against the listing and judged on every two-second window by the admitted music detector and the current audio language model; ratio estimators with finite-population correction give the 95 % intervals. Listing, probing and sampling are incomplete. Model readings, not human labels; intervals exclude model error and inaccessible or unsampled content.</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48</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EVIDENCE BY NAME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Object-store buckets the census key cannot read — counted, never estimated</a:t>
            </a:r>
          </a:p>
        </p:txBody>
      </p:sp>
      <p:graphicFrame>
        <p:nvGraphicFramePr>
          <p:cNvPr id="4" name="Table 3"/>
          <p:cNvGraphicFramePr>
            <a:graphicFrameLocks noGrp="1"/>
          </p:cNvGraphicFramePr>
          <p:nvPr/>
        </p:nvGraphicFramePr>
        <p:xfrm>
          <a:off x="594360" y="1920240"/>
          <a:ext cx="11002972" cy="3017520"/>
        </p:xfrm>
        <a:graphic>
          <a:graphicData uri="http://schemas.openxmlformats.org/drawingml/2006/table">
            <a:tbl>
              <a:tblPr firstRow="1" bandRow="1">
                <a:tableStyleId>{5C22544A-7EE6-4342-B048-85BDC9FD1C3A}</a:tableStyleId>
              </a:tblPr>
              <a:tblGrid>
                <a:gridCol w="1316595"/>
                <a:gridCol w="2821275"/>
                <a:gridCol w="1316595"/>
                <a:gridCol w="1598722"/>
                <a:gridCol w="3949785"/>
              </a:tblGrid>
              <a:tr h="301752">
                <a:tc>
                  <a:txBody>
                    <a:bodyPr wrap="square"/>
                    <a:lstStyle/>
                    <a:p>
                      <a:pPr algn="l"/>
                      <a:r>
                        <a:rPr sz="1100" b="1">
                          <a:solidFill>
                            <a:srgbClr val="1F2A44"/>
                          </a:solidFill>
                          <a:latin typeface="Calibri"/>
                        </a:rPr>
                        <a:t>Bucket</a:t>
                      </a:r>
                    </a:p>
                  </a:txBody>
                  <a:tcPr marL="54864" marR="54864" marT="27432" marB="27432">
                    <a:solidFill>
                      <a:srgbClr val="E9ECF1"/>
                    </a:solidFill>
                  </a:tcPr>
                </a:tc>
                <a:tc>
                  <a:txBody>
                    <a:bodyPr wrap="square"/>
                    <a:lstStyle/>
                    <a:p>
                      <a:pPr algn="l"/>
                      <a:r>
                        <a:rPr sz="1100" b="1">
                          <a:solidFill>
                            <a:srgbClr val="1F2A44"/>
                          </a:solidFill>
                          <a:latin typeface="Calibri"/>
                        </a:rPr>
                        <a:t>State</a:t>
                      </a:r>
                    </a:p>
                  </a:txBody>
                  <a:tcPr marL="54864" marR="54864" marT="27432" marB="27432">
                    <a:solidFill>
                      <a:srgbClr val="E9ECF1"/>
                    </a:solidFill>
                  </a:tcPr>
                </a:tc>
                <a:tc>
                  <a:txBody>
                    <a:bodyPr wrap="square"/>
                    <a:lstStyle/>
                    <a:p>
                      <a:pPr algn="l"/>
                      <a:r>
                        <a:rPr sz="1100" b="1">
                          <a:solidFill>
                            <a:srgbClr val="1F2A44"/>
                          </a:solidFill>
                          <a:latin typeface="Calibri"/>
                        </a:rPr>
                        <a:t>Media files</a:t>
                      </a:r>
                    </a:p>
                  </a:txBody>
                  <a:tcPr marL="54864" marR="54864" marT="27432" marB="27432">
                    <a:solidFill>
                      <a:srgbClr val="E9ECF1"/>
                    </a:solidFill>
                  </a:tcPr>
                </a:tc>
                <a:tc>
                  <a:txBody>
                    <a:bodyPr wrap="square"/>
                    <a:lstStyle/>
                    <a:p>
                      <a:pPr algn="l"/>
                      <a:r>
                        <a:rPr sz="1100" b="1">
                          <a:solidFill>
                            <a:srgbClr val="1F2A44"/>
                          </a:solidFill>
                          <a:latin typeface="Calibri"/>
                        </a:rPr>
                        <a:t>Media bytes (TiB)</a:t>
                      </a:r>
                    </a:p>
                  </a:txBody>
                  <a:tcPr marL="54864" marR="54864" marT="27432" marB="27432">
                    <a:solidFill>
                      <a:srgbClr val="E9ECF1"/>
                    </a:solidFill>
                  </a:tcPr>
                </a:tc>
                <a:tc>
                  <a:txBody>
                    <a:bodyPr wrap="square"/>
                    <a:lstStyle/>
                    <a:p>
                      <a:pPr algn="l"/>
                      <a:r>
                        <a:rPr sz="1100" b="1">
                          <a:solidFill>
                            <a:srgbClr val="1F2A44"/>
                          </a:solidFill>
                          <a:latin typeface="Calibri"/>
                        </a:rPr>
                        <a:t>Action required</a:t>
                      </a:r>
                    </a:p>
                  </a:txBody>
                  <a:tcPr marL="54864" marR="54864" marT="27432" marB="27432">
                    <a:solidFill>
                      <a:srgbClr val="E9ECF1"/>
                    </a:solidFill>
                  </a:tcPr>
                </a:tc>
              </a:tr>
              <a:tr h="301752">
                <a:tc>
                  <a:txBody>
                    <a:bodyPr wrap="square"/>
                    <a:lstStyle/>
                    <a:p>
                      <a:pPr algn="l"/>
                      <a:r>
                        <a:rPr sz="1100" b="0">
                          <a:solidFill>
                            <a:srgbClr val="1F2A44"/>
                          </a:solidFill>
                          <a:latin typeface="Calibri"/>
                        </a:rPr>
                        <a:t>2024offairrecs</a:t>
                      </a:r>
                    </a:p>
                  </a:txBody>
                  <a:tcPr marL="54864" marR="54864" marT="27432" marB="27432">
                    <a:solidFill>
                      <a:srgbClr val="FFFFFF"/>
                    </a:solidFill>
                  </a:tcPr>
                </a:tc>
                <a:tc>
                  <a:txBody>
                    <a:bodyPr wrap="square"/>
                    <a:lstStyle/>
                    <a:p>
                      <a:pPr algn="l"/>
                      <a:r>
                        <a:rPr sz="1100" b="0">
                          <a:solidFill>
                            <a:srgbClr val="1F2A44"/>
                          </a:solidFill>
                          <a:latin typeface="Calibri"/>
                        </a:rPr>
                        <a:t>key refused (403 AccessDenied)</a:t>
                      </a:r>
                    </a:p>
                  </a:txBody>
                  <a:tcPr marL="54864" marR="54864" marT="27432" marB="27432">
                    <a:solidFill>
                      <a:srgbClr val="FFFFFF"/>
                    </a:solidFill>
                  </a:tcPr>
                </a:tc>
                <a:tc>
                  <a:txBody>
                    <a:bodyPr wrap="square"/>
                    <a:lstStyle/>
                    <a:p>
                      <a:pPr algn="r"/>
                      <a:r>
                        <a:rPr sz="1100" b="0">
                          <a:solidFill>
                            <a:srgbClr val="1F2A44"/>
                          </a:solidFill>
                          <a:latin typeface="Courier New"/>
                        </a:rPr>
                        <a:t>3,178,461</a:t>
                      </a:r>
                    </a:p>
                  </a:txBody>
                  <a:tcPr marL="54864" marR="54864" marT="27432" marB="27432">
                    <a:solidFill>
                      <a:srgbClr val="FFFFFF"/>
                    </a:solidFill>
                  </a:tcPr>
                </a:tc>
                <a:tc>
                  <a:txBody>
                    <a:bodyPr wrap="square"/>
                    <a:lstStyle/>
                    <a:p>
                      <a:pPr algn="r"/>
                      <a:r>
                        <a:rPr sz="1100" b="0">
                          <a:solidFill>
                            <a:srgbClr val="1F2A44"/>
                          </a:solidFill>
                          <a:latin typeface="Courier New"/>
                        </a:rPr>
                        <a:t>86.73</a:t>
                      </a:r>
                    </a:p>
                  </a:txBody>
                  <a:tcPr marL="54864" marR="54864" marT="27432" marB="27432">
                    <a:solidFill>
                      <a:srgbClr val="FFFFFF"/>
                    </a:solidFill>
                  </a:tcPr>
                </a:tc>
                <a:tc>
                  <a:txBody>
                    <a:bodyPr wrap="square"/>
                    <a:lstStyle/>
                    <a:p>
                      <a:pPr algn="r"/>
                      <a:r>
                        <a:rPr sz="1100" b="0">
                          <a:solidFill>
                            <a:srgbClr val="1F2A44"/>
                          </a:solidFill>
                          <a:latin typeface="Courier New"/>
                        </a:rPr>
                        <a:t>grant obs:object:GetObject to the census key (IAM or bucket policy)</a:t>
                      </a:r>
                    </a:p>
                  </a:txBody>
                  <a:tcPr marL="54864" marR="54864" marT="27432" marB="27432">
                    <a:solidFill>
                      <a:srgbClr val="FFFFFF"/>
                    </a:solidFill>
                  </a:tcPr>
                </a:tc>
              </a:tr>
              <a:tr h="301752">
                <a:tc>
                  <a:txBody>
                    <a:bodyPr wrap="square"/>
                    <a:lstStyle/>
                    <a:p>
                      <a:pPr algn="l"/>
                      <a:r>
                        <a:rPr sz="1100" b="0">
                          <a:solidFill>
                            <a:srgbClr val="1F2A44"/>
                          </a:solidFill>
                          <a:latin typeface="Calibri"/>
                        </a:rPr>
                        <a:t>na7p43do</a:t>
                      </a:r>
                    </a:p>
                  </a:txBody>
                  <a:tcPr marL="54864" marR="54864" marT="27432" marB="27432">
                    <a:solidFill>
                      <a:srgbClr val="FFFFFF"/>
                    </a:solidFill>
                  </a:tcPr>
                </a:tc>
                <a:tc>
                  <a:txBody>
                    <a:bodyPr wrap="square"/>
                    <a:lstStyle/>
                    <a:p>
                      <a:pPr algn="l"/>
                      <a:r>
                        <a:rPr sz="1100" b="0">
                          <a:solidFill>
                            <a:srgbClr val="1F2A44"/>
                          </a:solidFill>
                          <a:latin typeface="Calibri"/>
                        </a:rPr>
                        <a:t>key refused (403 AccessDenied)</a:t>
                      </a:r>
                    </a:p>
                  </a:txBody>
                  <a:tcPr marL="54864" marR="54864" marT="27432" marB="27432">
                    <a:solidFill>
                      <a:srgbClr val="FFFFFF"/>
                    </a:solidFill>
                  </a:tcPr>
                </a:tc>
                <a:tc>
                  <a:txBody>
                    <a:bodyPr wrap="square"/>
                    <a:lstStyle/>
                    <a:p>
                      <a:pPr algn="r"/>
                      <a:r>
                        <a:rPr sz="1100" b="0">
                          <a:solidFill>
                            <a:srgbClr val="1F2A44"/>
                          </a:solidFill>
                          <a:latin typeface="Courier New"/>
                        </a:rPr>
                        <a:t>384,572</a:t>
                      </a:r>
                    </a:p>
                  </a:txBody>
                  <a:tcPr marL="54864" marR="54864" marT="27432" marB="27432">
                    <a:solidFill>
                      <a:srgbClr val="FFFFFF"/>
                    </a:solidFill>
                  </a:tcPr>
                </a:tc>
                <a:tc>
                  <a:txBody>
                    <a:bodyPr wrap="square"/>
                    <a:lstStyle/>
                    <a:p>
                      <a:pPr algn="r"/>
                      <a:r>
                        <a:rPr sz="1100" b="0">
                          <a:solidFill>
                            <a:srgbClr val="1F2A44"/>
                          </a:solidFill>
                          <a:latin typeface="Courier New"/>
                        </a:rPr>
                        <a:t>3.98</a:t>
                      </a:r>
                    </a:p>
                  </a:txBody>
                  <a:tcPr marL="54864" marR="54864" marT="27432" marB="27432">
                    <a:solidFill>
                      <a:srgbClr val="FFFFFF"/>
                    </a:solidFill>
                  </a:tcPr>
                </a:tc>
                <a:tc>
                  <a:txBody>
                    <a:bodyPr wrap="square"/>
                    <a:lstStyle/>
                    <a:p>
                      <a:pPr algn="r"/>
                      <a:r>
                        <a:rPr sz="1100" b="0">
                          <a:solidFill>
                            <a:srgbClr val="1F2A44"/>
                          </a:solidFill>
                          <a:latin typeface="Courier New"/>
                        </a:rPr>
                        <a:t>grant obs:object:GetObject to the census key (IAM or bucket policy)</a:t>
                      </a:r>
                    </a:p>
                  </a:txBody>
                  <a:tcPr marL="54864" marR="54864" marT="27432" marB="27432">
                    <a:solidFill>
                      <a:srgbClr val="FFFFFF"/>
                    </a:solidFill>
                  </a:tcPr>
                </a:tc>
              </a:tr>
              <a:tr h="301752">
                <a:tc>
                  <a:txBody>
                    <a:bodyPr wrap="square"/>
                    <a:lstStyle/>
                    <a:p>
                      <a:pPr algn="l"/>
                      <a:r>
                        <a:rPr sz="1100" b="0">
                          <a:solidFill>
                            <a:srgbClr val="1F2A44"/>
                          </a:solidFill>
                          <a:latin typeface="Calibri"/>
                        </a:rPr>
                        <a:t>na7p43js</a:t>
                      </a:r>
                    </a:p>
                  </a:txBody>
                  <a:tcPr marL="54864" marR="54864" marT="27432" marB="27432">
                    <a:solidFill>
                      <a:srgbClr val="FFFFFF"/>
                    </a:solidFill>
                  </a:tcPr>
                </a:tc>
                <a:tc>
                  <a:txBody>
                    <a:bodyPr wrap="square"/>
                    <a:lstStyle/>
                    <a:p>
                      <a:pPr algn="l"/>
                      <a:r>
                        <a:rPr sz="1100" b="0">
                          <a:solidFill>
                            <a:srgbClr val="1F2A44"/>
                          </a:solidFill>
                          <a:latin typeface="Calibri"/>
                        </a:rPr>
                        <a:t>key refused (403 AccessDenied)</a:t>
                      </a:r>
                    </a:p>
                  </a:txBody>
                  <a:tcPr marL="54864" marR="54864" marT="27432" marB="27432">
                    <a:solidFill>
                      <a:srgbClr val="FFFFFF"/>
                    </a:solidFill>
                  </a:tcPr>
                </a:tc>
                <a:tc>
                  <a:txBody>
                    <a:bodyPr wrap="square"/>
                    <a:lstStyle/>
                    <a:p>
                      <a:pPr algn="r"/>
                      <a:r>
                        <a:rPr sz="1100" b="0">
                          <a:solidFill>
                            <a:srgbClr val="1F2A44"/>
                          </a:solidFill>
                          <a:latin typeface="Courier New"/>
                        </a:rPr>
                        <a:t>238,007</a:t>
                      </a:r>
                    </a:p>
                  </a:txBody>
                  <a:tcPr marL="54864" marR="54864" marT="27432" marB="27432">
                    <a:solidFill>
                      <a:srgbClr val="FFFFFF"/>
                    </a:solidFill>
                  </a:tcPr>
                </a:tc>
                <a:tc>
                  <a:txBody>
                    <a:bodyPr wrap="square"/>
                    <a:lstStyle/>
                    <a:p>
                      <a:pPr algn="r"/>
                      <a:r>
                        <a:rPr sz="1100" b="0">
                          <a:solidFill>
                            <a:srgbClr val="1F2A44"/>
                          </a:solidFill>
                          <a:latin typeface="Courier New"/>
                        </a:rPr>
                        <a:t>3.54</a:t>
                      </a:r>
                    </a:p>
                  </a:txBody>
                  <a:tcPr marL="54864" marR="54864" marT="27432" marB="27432">
                    <a:solidFill>
                      <a:srgbClr val="FFFFFF"/>
                    </a:solidFill>
                  </a:tcPr>
                </a:tc>
                <a:tc>
                  <a:txBody>
                    <a:bodyPr wrap="square"/>
                    <a:lstStyle/>
                    <a:p>
                      <a:pPr algn="r"/>
                      <a:r>
                        <a:rPr sz="1100" b="0">
                          <a:solidFill>
                            <a:srgbClr val="1F2A44"/>
                          </a:solidFill>
                          <a:latin typeface="Courier New"/>
                        </a:rPr>
                        <a:t>grant obs:object:GetObject to the census key (IAM or bucket policy)</a:t>
                      </a:r>
                    </a:p>
                  </a:txBody>
                  <a:tcPr marL="54864" marR="54864" marT="27432" marB="27432">
                    <a:solidFill>
                      <a:srgbClr val="FFFFFF"/>
                    </a:solidFill>
                  </a:tcPr>
                </a:tc>
              </a:tr>
              <a:tr h="301752">
                <a:tc>
                  <a:txBody>
                    <a:bodyPr wrap="square"/>
                    <a:lstStyle/>
                    <a:p>
                      <a:pPr algn="l"/>
                      <a:r>
                        <a:rPr sz="1100" b="0">
                          <a:solidFill>
                            <a:srgbClr val="1F2A44"/>
                          </a:solidFill>
                          <a:latin typeface="Calibri"/>
                        </a:rPr>
                        <a:t>na7p434j</a:t>
                      </a:r>
                    </a:p>
                  </a:txBody>
                  <a:tcPr marL="54864" marR="54864" marT="27432" marB="27432">
                    <a:solidFill>
                      <a:srgbClr val="FFFFFF"/>
                    </a:solidFill>
                  </a:tcPr>
                </a:tc>
                <a:tc>
                  <a:txBody>
                    <a:bodyPr wrap="square"/>
                    <a:lstStyle/>
                    <a:p>
                      <a:pPr algn="l"/>
                      <a:r>
                        <a:rPr sz="1100" b="0">
                          <a:solidFill>
                            <a:srgbClr val="1F2A44"/>
                          </a:solidFill>
                          <a:latin typeface="Calibri"/>
                        </a:rPr>
                        <a:t>key refused (403 AccessDenied)</a:t>
                      </a:r>
                    </a:p>
                  </a:txBody>
                  <a:tcPr marL="54864" marR="54864" marT="27432" marB="27432">
                    <a:solidFill>
                      <a:srgbClr val="FFFFFF"/>
                    </a:solidFill>
                  </a:tcPr>
                </a:tc>
                <a:tc>
                  <a:txBody>
                    <a:bodyPr wrap="square"/>
                    <a:lstStyle/>
                    <a:p>
                      <a:pPr algn="r"/>
                      <a:r>
                        <a:rPr sz="1100" b="0">
                          <a:solidFill>
                            <a:srgbClr val="1F2A44"/>
                          </a:solidFill>
                          <a:latin typeface="Courier New"/>
                        </a:rPr>
                        <a:t>10,750</a:t>
                      </a:r>
                    </a:p>
                  </a:txBody>
                  <a:tcPr marL="54864" marR="54864" marT="27432" marB="27432">
                    <a:solidFill>
                      <a:srgbClr val="FFFFFF"/>
                    </a:solidFill>
                  </a:tcPr>
                </a:tc>
                <a:tc>
                  <a:txBody>
                    <a:bodyPr wrap="square"/>
                    <a:lstStyle/>
                    <a:p>
                      <a:pPr algn="r"/>
                      <a:r>
                        <a:rPr sz="1100" b="0">
                          <a:solidFill>
                            <a:srgbClr val="1F2A44"/>
                          </a:solidFill>
                          <a:latin typeface="Courier New"/>
                        </a:rPr>
                        <a:t>3.48</a:t>
                      </a:r>
                    </a:p>
                  </a:txBody>
                  <a:tcPr marL="54864" marR="54864" marT="27432" marB="27432">
                    <a:solidFill>
                      <a:srgbClr val="FFFFFF"/>
                    </a:solidFill>
                  </a:tcPr>
                </a:tc>
                <a:tc>
                  <a:txBody>
                    <a:bodyPr wrap="square"/>
                    <a:lstStyle/>
                    <a:p>
                      <a:pPr algn="r"/>
                      <a:r>
                        <a:rPr sz="1100" b="0">
                          <a:solidFill>
                            <a:srgbClr val="1F2A44"/>
                          </a:solidFill>
                          <a:latin typeface="Courier New"/>
                        </a:rPr>
                        <a:t>grant obs:object:GetObject to the census key (IAM or bucket policy)</a:t>
                      </a:r>
                    </a:p>
                  </a:txBody>
                  <a:tcPr marL="54864" marR="54864" marT="27432" marB="27432">
                    <a:solidFill>
                      <a:srgbClr val="FFFFFF"/>
                    </a:solidFill>
                  </a:tcPr>
                </a:tc>
              </a:tr>
              <a:tr h="301752">
                <a:tc>
                  <a:txBody>
                    <a:bodyPr wrap="square"/>
                    <a:lstStyle/>
                    <a:p>
                      <a:pPr algn="l"/>
                      <a:r>
                        <a:rPr sz="1100" b="0">
                          <a:solidFill>
                            <a:srgbClr val="1F2A44"/>
                          </a:solidFill>
                          <a:latin typeface="Calibri"/>
                        </a:rPr>
                        <a:t>na7p41hj</a:t>
                      </a:r>
                    </a:p>
                  </a:txBody>
                  <a:tcPr marL="54864" marR="54864" marT="27432" marB="27432">
                    <a:solidFill>
                      <a:srgbClr val="FFFFFF"/>
                    </a:solidFill>
                  </a:tcPr>
                </a:tc>
                <a:tc>
                  <a:txBody>
                    <a:bodyPr wrap="square"/>
                    <a:lstStyle/>
                    <a:p>
                      <a:pPr algn="l"/>
                      <a:r>
                        <a:rPr sz="1100" b="0">
                          <a:solidFill>
                            <a:srgbClr val="1F2A44"/>
                          </a:solidFill>
                          <a:latin typeface="Calibri"/>
                        </a:rPr>
                        <a:t>key refused (403 AccessDenied)</a:t>
                      </a:r>
                    </a:p>
                  </a:txBody>
                  <a:tcPr marL="54864" marR="54864" marT="27432" marB="27432">
                    <a:solidFill>
                      <a:srgbClr val="FFFFFF"/>
                    </a:solidFill>
                  </a:tcPr>
                </a:tc>
                <a:tc>
                  <a:txBody>
                    <a:bodyPr wrap="square"/>
                    <a:lstStyle/>
                    <a:p>
                      <a:pPr algn="r"/>
                      <a:r>
                        <a:rPr sz="1100" b="0">
                          <a:solidFill>
                            <a:srgbClr val="1F2A44"/>
                          </a:solidFill>
                          <a:latin typeface="Courier New"/>
                        </a:rPr>
                        <a:t>14,145</a:t>
                      </a:r>
                    </a:p>
                  </a:txBody>
                  <a:tcPr marL="54864" marR="54864" marT="27432" marB="27432">
                    <a:solidFill>
                      <a:srgbClr val="FFFFFF"/>
                    </a:solidFill>
                  </a:tcPr>
                </a:tc>
                <a:tc>
                  <a:txBody>
                    <a:bodyPr wrap="square"/>
                    <a:lstStyle/>
                    <a:p>
                      <a:pPr algn="r"/>
                      <a:r>
                        <a:rPr sz="1100" b="0">
                          <a:solidFill>
                            <a:srgbClr val="1F2A44"/>
                          </a:solidFill>
                          <a:latin typeface="Courier New"/>
                        </a:rPr>
                        <a:t>3.47</a:t>
                      </a:r>
                    </a:p>
                  </a:txBody>
                  <a:tcPr marL="54864" marR="54864" marT="27432" marB="27432">
                    <a:solidFill>
                      <a:srgbClr val="FFFFFF"/>
                    </a:solidFill>
                  </a:tcPr>
                </a:tc>
                <a:tc>
                  <a:txBody>
                    <a:bodyPr wrap="square"/>
                    <a:lstStyle/>
                    <a:p>
                      <a:pPr algn="r"/>
                      <a:r>
                        <a:rPr sz="1100" b="0">
                          <a:solidFill>
                            <a:srgbClr val="1F2A44"/>
                          </a:solidFill>
                          <a:latin typeface="Courier New"/>
                        </a:rPr>
                        <a:t>grant obs:object:GetObject to the census key (IAM or bucket policy)</a:t>
                      </a:r>
                    </a:p>
                  </a:txBody>
                  <a:tcPr marL="54864" marR="54864" marT="27432" marB="27432">
                    <a:solidFill>
                      <a:srgbClr val="FFFFFF"/>
                    </a:solidFill>
                  </a:tcPr>
                </a:tc>
              </a:tr>
              <a:tr h="301752">
                <a:tc>
                  <a:txBody>
                    <a:bodyPr wrap="square"/>
                    <a:lstStyle/>
                    <a:p>
                      <a:pPr algn="l"/>
                      <a:r>
                        <a:rPr sz="1100" b="0">
                          <a:solidFill>
                            <a:srgbClr val="1F2A44"/>
                          </a:solidFill>
                          <a:latin typeface="Calibri"/>
                        </a:rPr>
                        <a:t>na7p42xe</a:t>
                      </a:r>
                    </a:p>
                  </a:txBody>
                  <a:tcPr marL="54864" marR="54864" marT="27432" marB="27432">
                    <a:solidFill>
                      <a:srgbClr val="FFFFFF"/>
                    </a:solidFill>
                  </a:tcPr>
                </a:tc>
                <a:tc>
                  <a:txBody>
                    <a:bodyPr wrap="square"/>
                    <a:lstStyle/>
                    <a:p>
                      <a:pPr algn="l"/>
                      <a:r>
                        <a:rPr sz="1100" b="0">
                          <a:solidFill>
                            <a:srgbClr val="1F2A44"/>
                          </a:solidFill>
                          <a:latin typeface="Calibri"/>
                        </a:rPr>
                        <a:t>key refused (403 AccessDenied)</a:t>
                      </a:r>
                    </a:p>
                  </a:txBody>
                  <a:tcPr marL="54864" marR="54864" marT="27432" marB="27432">
                    <a:solidFill>
                      <a:srgbClr val="FFFFFF"/>
                    </a:solidFill>
                  </a:tcPr>
                </a:tc>
                <a:tc>
                  <a:txBody>
                    <a:bodyPr wrap="square"/>
                    <a:lstStyle/>
                    <a:p>
                      <a:pPr algn="r"/>
                      <a:r>
                        <a:rPr sz="1100" b="0">
                          <a:solidFill>
                            <a:srgbClr val="1F2A44"/>
                          </a:solidFill>
                          <a:latin typeface="Courier New"/>
                        </a:rPr>
                        <a:t>12,300</a:t>
                      </a:r>
                    </a:p>
                  </a:txBody>
                  <a:tcPr marL="54864" marR="54864" marT="27432" marB="27432">
                    <a:solidFill>
                      <a:srgbClr val="FFFFFF"/>
                    </a:solidFill>
                  </a:tcPr>
                </a:tc>
                <a:tc>
                  <a:txBody>
                    <a:bodyPr wrap="square"/>
                    <a:lstStyle/>
                    <a:p>
                      <a:pPr algn="r"/>
                      <a:r>
                        <a:rPr sz="1100" b="0">
                          <a:solidFill>
                            <a:srgbClr val="1F2A44"/>
                          </a:solidFill>
                          <a:latin typeface="Courier New"/>
                        </a:rPr>
                        <a:t>3.44</a:t>
                      </a:r>
                    </a:p>
                  </a:txBody>
                  <a:tcPr marL="54864" marR="54864" marT="27432" marB="27432">
                    <a:solidFill>
                      <a:srgbClr val="FFFFFF"/>
                    </a:solidFill>
                  </a:tcPr>
                </a:tc>
                <a:tc>
                  <a:txBody>
                    <a:bodyPr wrap="square"/>
                    <a:lstStyle/>
                    <a:p>
                      <a:pPr algn="r"/>
                      <a:r>
                        <a:rPr sz="1100" b="0">
                          <a:solidFill>
                            <a:srgbClr val="1F2A44"/>
                          </a:solidFill>
                          <a:latin typeface="Courier New"/>
                        </a:rPr>
                        <a:t>grant obs:object:GetObject to the census key (IAM or bucket policy)</a:t>
                      </a:r>
                    </a:p>
                  </a:txBody>
                  <a:tcPr marL="54864" marR="54864" marT="27432" marB="27432">
                    <a:solidFill>
                      <a:srgbClr val="FFFFFF"/>
                    </a:solidFill>
                  </a:tcPr>
                </a:tc>
              </a:tr>
              <a:tr h="301752">
                <a:tc>
                  <a:txBody>
                    <a:bodyPr wrap="square"/>
                    <a:lstStyle/>
                    <a:p>
                      <a:pPr algn="l"/>
                      <a:r>
                        <a:rPr sz="1100" b="0">
                          <a:solidFill>
                            <a:srgbClr val="1F2A44"/>
                          </a:solidFill>
                          <a:latin typeface="Calibri"/>
                        </a:rPr>
                        <a:t>na7p42xw</a:t>
                      </a:r>
                    </a:p>
                  </a:txBody>
                  <a:tcPr marL="54864" marR="54864" marT="27432" marB="27432">
                    <a:solidFill>
                      <a:srgbClr val="FFFFFF"/>
                    </a:solidFill>
                  </a:tcPr>
                </a:tc>
                <a:tc>
                  <a:txBody>
                    <a:bodyPr wrap="square"/>
                    <a:lstStyle/>
                    <a:p>
                      <a:pPr algn="l"/>
                      <a:r>
                        <a:rPr sz="1100" b="0">
                          <a:solidFill>
                            <a:srgbClr val="1F2A44"/>
                          </a:solidFill>
                          <a:latin typeface="Calibri"/>
                        </a:rPr>
                        <a:t>key refused (403 AccessDenied)</a:t>
                      </a:r>
                    </a:p>
                  </a:txBody>
                  <a:tcPr marL="54864" marR="54864" marT="27432" marB="27432">
                    <a:solidFill>
                      <a:srgbClr val="FFFFFF"/>
                    </a:solidFill>
                  </a:tcPr>
                </a:tc>
                <a:tc>
                  <a:txBody>
                    <a:bodyPr wrap="square"/>
                    <a:lstStyle/>
                    <a:p>
                      <a:pPr algn="r"/>
                      <a:r>
                        <a:rPr sz="1100" b="0">
                          <a:solidFill>
                            <a:srgbClr val="1F2A44"/>
                          </a:solidFill>
                          <a:latin typeface="Courier New"/>
                        </a:rPr>
                        <a:t>20,559</a:t>
                      </a:r>
                    </a:p>
                  </a:txBody>
                  <a:tcPr marL="54864" marR="54864" marT="27432" marB="27432">
                    <a:solidFill>
                      <a:srgbClr val="FFFFFF"/>
                    </a:solidFill>
                  </a:tcPr>
                </a:tc>
                <a:tc>
                  <a:txBody>
                    <a:bodyPr wrap="square"/>
                    <a:lstStyle/>
                    <a:p>
                      <a:pPr algn="r"/>
                      <a:r>
                        <a:rPr sz="1100" b="0">
                          <a:solidFill>
                            <a:srgbClr val="1F2A44"/>
                          </a:solidFill>
                          <a:latin typeface="Courier New"/>
                        </a:rPr>
                        <a:t>3.4</a:t>
                      </a:r>
                    </a:p>
                  </a:txBody>
                  <a:tcPr marL="54864" marR="54864" marT="27432" marB="27432">
                    <a:solidFill>
                      <a:srgbClr val="FFFFFF"/>
                    </a:solidFill>
                  </a:tcPr>
                </a:tc>
                <a:tc>
                  <a:txBody>
                    <a:bodyPr wrap="square"/>
                    <a:lstStyle/>
                    <a:p>
                      <a:pPr algn="r"/>
                      <a:r>
                        <a:rPr sz="1100" b="0">
                          <a:solidFill>
                            <a:srgbClr val="1F2A44"/>
                          </a:solidFill>
                          <a:latin typeface="Courier New"/>
                        </a:rPr>
                        <a:t>grant obs:object:GetObject to the census key (IAM or bucket policy)</a:t>
                      </a:r>
                    </a:p>
                  </a:txBody>
                  <a:tcPr marL="54864" marR="54864" marT="27432" marB="27432">
                    <a:solidFill>
                      <a:srgbClr val="FFFFFF"/>
                    </a:solidFill>
                  </a:tcPr>
                </a:tc>
              </a:tr>
              <a:tr h="301752">
                <a:tc>
                  <a:txBody>
                    <a:bodyPr wrap="square"/>
                    <a:lstStyle/>
                    <a:p>
                      <a:pPr algn="l"/>
                      <a:r>
                        <a:rPr sz="1100" b="0">
                          <a:solidFill>
                            <a:srgbClr val="1F2A44"/>
                          </a:solidFill>
                          <a:latin typeface="Calibri"/>
                        </a:rPr>
                        <a:t>na7p42yg</a:t>
                      </a:r>
                    </a:p>
                  </a:txBody>
                  <a:tcPr marL="54864" marR="54864" marT="27432" marB="27432">
                    <a:solidFill>
                      <a:srgbClr val="FFFFFF"/>
                    </a:solidFill>
                  </a:tcPr>
                </a:tc>
                <a:tc>
                  <a:txBody>
                    <a:bodyPr wrap="square"/>
                    <a:lstStyle/>
                    <a:p>
                      <a:pPr algn="l"/>
                      <a:r>
                        <a:rPr sz="1100" b="0">
                          <a:solidFill>
                            <a:srgbClr val="1F2A44"/>
                          </a:solidFill>
                          <a:latin typeface="Calibri"/>
                        </a:rPr>
                        <a:t>key refused (403 AccessDenied)</a:t>
                      </a:r>
                    </a:p>
                  </a:txBody>
                  <a:tcPr marL="54864" marR="54864" marT="27432" marB="27432">
                    <a:solidFill>
                      <a:srgbClr val="FFFFFF"/>
                    </a:solidFill>
                  </a:tcPr>
                </a:tc>
                <a:tc>
                  <a:txBody>
                    <a:bodyPr wrap="square"/>
                    <a:lstStyle/>
                    <a:p>
                      <a:pPr algn="r"/>
                      <a:r>
                        <a:rPr sz="1100" b="0">
                          <a:solidFill>
                            <a:srgbClr val="1F2A44"/>
                          </a:solidFill>
                          <a:latin typeface="Courier New"/>
                        </a:rPr>
                        <a:t>23,080</a:t>
                      </a:r>
                    </a:p>
                  </a:txBody>
                  <a:tcPr marL="54864" marR="54864" marT="27432" marB="27432">
                    <a:solidFill>
                      <a:srgbClr val="FFFFFF"/>
                    </a:solidFill>
                  </a:tcPr>
                </a:tc>
                <a:tc>
                  <a:txBody>
                    <a:bodyPr wrap="square"/>
                    <a:lstStyle/>
                    <a:p>
                      <a:pPr algn="r"/>
                      <a:r>
                        <a:rPr sz="1100" b="0">
                          <a:solidFill>
                            <a:srgbClr val="1F2A44"/>
                          </a:solidFill>
                          <a:latin typeface="Courier New"/>
                        </a:rPr>
                        <a:t>3.28</a:t>
                      </a:r>
                    </a:p>
                  </a:txBody>
                  <a:tcPr marL="54864" marR="54864" marT="27432" marB="27432">
                    <a:solidFill>
                      <a:srgbClr val="FFFFFF"/>
                    </a:solidFill>
                  </a:tcPr>
                </a:tc>
                <a:tc>
                  <a:txBody>
                    <a:bodyPr wrap="square"/>
                    <a:lstStyle/>
                    <a:p>
                      <a:pPr algn="r"/>
                      <a:r>
                        <a:rPr sz="1100" b="0">
                          <a:solidFill>
                            <a:srgbClr val="1F2A44"/>
                          </a:solidFill>
                          <a:latin typeface="Courier New"/>
                        </a:rPr>
                        <a:t>grant obs:object:GetObject to the census key (IAM or bucket policy)</a:t>
                      </a:r>
                    </a:p>
                  </a:txBody>
                  <a:tcPr marL="54864" marR="54864" marT="27432" marB="27432">
                    <a:solidFill>
                      <a:srgbClr val="FFFFFF"/>
                    </a:solidFill>
                  </a:tcPr>
                </a:tc>
              </a:tr>
              <a:tr h="301752">
                <a:tc>
                  <a:txBody>
                    <a:bodyPr wrap="square"/>
                    <a:lstStyle/>
                    <a:p>
                      <a:pPr algn="l"/>
                      <a:r>
                        <a:rPr sz="1100" b="0">
                          <a:solidFill>
                            <a:srgbClr val="1F2A44"/>
                          </a:solidFill>
                          <a:latin typeface="Calibri"/>
                        </a:rPr>
                        <a:t>na7p43d3</a:t>
                      </a:r>
                    </a:p>
                  </a:txBody>
                  <a:tcPr marL="54864" marR="54864" marT="27432" marB="27432">
                    <a:solidFill>
                      <a:srgbClr val="FFFFFF"/>
                    </a:solidFill>
                  </a:tcPr>
                </a:tc>
                <a:tc>
                  <a:txBody>
                    <a:bodyPr wrap="square"/>
                    <a:lstStyle/>
                    <a:p>
                      <a:pPr algn="l"/>
                      <a:r>
                        <a:rPr sz="1100" b="0">
                          <a:solidFill>
                            <a:srgbClr val="1F2A44"/>
                          </a:solidFill>
                          <a:latin typeface="Calibri"/>
                        </a:rPr>
                        <a:t>key refused (403 AccessDenied)</a:t>
                      </a:r>
                    </a:p>
                  </a:txBody>
                  <a:tcPr marL="54864" marR="54864" marT="27432" marB="27432">
                    <a:solidFill>
                      <a:srgbClr val="FFFFFF"/>
                    </a:solidFill>
                  </a:tcPr>
                </a:tc>
                <a:tc>
                  <a:txBody>
                    <a:bodyPr wrap="square"/>
                    <a:lstStyle/>
                    <a:p>
                      <a:pPr algn="r"/>
                      <a:r>
                        <a:rPr sz="1100" b="0">
                          <a:solidFill>
                            <a:srgbClr val="1F2A44"/>
                          </a:solidFill>
                          <a:latin typeface="Courier New"/>
                        </a:rPr>
                        <a:t>13,318</a:t>
                      </a:r>
                    </a:p>
                  </a:txBody>
                  <a:tcPr marL="54864" marR="54864" marT="27432" marB="27432">
                    <a:solidFill>
                      <a:srgbClr val="FFFFFF"/>
                    </a:solidFill>
                  </a:tcPr>
                </a:tc>
                <a:tc>
                  <a:txBody>
                    <a:bodyPr wrap="square"/>
                    <a:lstStyle/>
                    <a:p>
                      <a:pPr algn="r"/>
                      <a:r>
                        <a:rPr sz="1100" b="0">
                          <a:solidFill>
                            <a:srgbClr val="1F2A44"/>
                          </a:solidFill>
                          <a:latin typeface="Courier New"/>
                        </a:rPr>
                        <a:t>2.9</a:t>
                      </a:r>
                    </a:p>
                  </a:txBody>
                  <a:tcPr marL="54864" marR="54864" marT="27432" marB="27432">
                    <a:solidFill>
                      <a:srgbClr val="FFFFFF"/>
                    </a:solidFill>
                  </a:tcPr>
                </a:tc>
                <a:tc>
                  <a:txBody>
                    <a:bodyPr wrap="square"/>
                    <a:lstStyle/>
                    <a:p>
                      <a:pPr algn="r"/>
                      <a:r>
                        <a:rPr sz="1100" b="0">
                          <a:solidFill>
                            <a:srgbClr val="1F2A44"/>
                          </a:solidFill>
                          <a:latin typeface="Courier New"/>
                        </a:rPr>
                        <a:t>grant obs:object:GetObject to the census key (IAM or bucket policy)</a:t>
                      </a:r>
                    </a:p>
                  </a:txBody>
                  <a:tcPr marL="54864" marR="54864" marT="27432" marB="2743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C8102E"/>
                </a:solidFill>
                <a:latin typeface="Calibri"/>
              </a:rPr>
              <a:t>The census key can list these buckets but every HEAD and GET returns 403 AccessDenied (verified from the control plane with a one-byte ranged read; the same account owns the objects).</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[measured]  Receipt R10: Interim tiered content census (content_sample); snapshots OBS 2026-10-03T01:40:08.564624+00:00; NAS 2026-10-03T01:38:24.195696+00:00; receipts cr-81526aa143aa, cr-8640b1cbcbc6, cr-aa33fffba60e, cr-bbf71c8d905a, cr-cf4eef79995b, cr-f1415e395361 on akki-vm and akki-vm-ii. Resumable listing, header probes of accessible audio and a per-folder video sample (ranged reads → ffprobe), with unprobed durations extrapolated where possible; a seeded stratified sample of files per folder read byte for byte, verified against the listing and judged on every two-second window by the admitted music detector and the current audio language model; ratio estimators with finite-population correction give the 95 % intervals. Listing, probing and sampling are incomplete. Model readings, not human labels; intervals exclude model error and inaccessible or unsampled content.</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49</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EVIDENCE BY NAME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Object-store buckets the census key cannot read — counted, never estimated</a:t>
            </a:r>
          </a:p>
        </p:txBody>
      </p:sp>
      <p:graphicFrame>
        <p:nvGraphicFramePr>
          <p:cNvPr id="4" name="Table 3"/>
          <p:cNvGraphicFramePr>
            <a:graphicFrameLocks noGrp="1"/>
          </p:cNvGraphicFramePr>
          <p:nvPr/>
        </p:nvGraphicFramePr>
        <p:xfrm>
          <a:off x="594360" y="1920240"/>
          <a:ext cx="11002972" cy="3017520"/>
        </p:xfrm>
        <a:graphic>
          <a:graphicData uri="http://schemas.openxmlformats.org/drawingml/2006/table">
            <a:tbl>
              <a:tblPr firstRow="1" bandRow="1">
                <a:tableStyleId>{5C22544A-7EE6-4342-B048-85BDC9FD1C3A}</a:tableStyleId>
              </a:tblPr>
              <a:tblGrid>
                <a:gridCol w="1659178"/>
                <a:gridCol w="2969056"/>
                <a:gridCol w="1222552"/>
                <a:gridCol w="1484528"/>
                <a:gridCol w="3667658"/>
              </a:tblGrid>
              <a:tr h="335280">
                <a:tc>
                  <a:txBody>
                    <a:bodyPr wrap="square"/>
                    <a:lstStyle/>
                    <a:p>
                      <a:pPr algn="l"/>
                      <a:r>
                        <a:rPr sz="1100" b="1">
                          <a:solidFill>
                            <a:srgbClr val="1F2A44"/>
                          </a:solidFill>
                          <a:latin typeface="Calibri"/>
                        </a:rPr>
                        <a:t>Bucket</a:t>
                      </a:r>
                    </a:p>
                  </a:txBody>
                  <a:tcPr marL="54864" marR="54864" marT="27432" marB="27432">
                    <a:solidFill>
                      <a:srgbClr val="E9ECF1"/>
                    </a:solidFill>
                  </a:tcPr>
                </a:tc>
                <a:tc>
                  <a:txBody>
                    <a:bodyPr wrap="square"/>
                    <a:lstStyle/>
                    <a:p>
                      <a:pPr algn="l"/>
                      <a:r>
                        <a:rPr sz="1100" b="1">
                          <a:solidFill>
                            <a:srgbClr val="1F2A44"/>
                          </a:solidFill>
                          <a:latin typeface="Calibri"/>
                        </a:rPr>
                        <a:t>State</a:t>
                      </a:r>
                    </a:p>
                  </a:txBody>
                  <a:tcPr marL="54864" marR="54864" marT="27432" marB="27432">
                    <a:solidFill>
                      <a:srgbClr val="E9ECF1"/>
                    </a:solidFill>
                  </a:tcPr>
                </a:tc>
                <a:tc>
                  <a:txBody>
                    <a:bodyPr wrap="square"/>
                    <a:lstStyle/>
                    <a:p>
                      <a:pPr algn="l"/>
                      <a:r>
                        <a:rPr sz="1100" b="1">
                          <a:solidFill>
                            <a:srgbClr val="1F2A44"/>
                          </a:solidFill>
                          <a:latin typeface="Calibri"/>
                        </a:rPr>
                        <a:t>Media files</a:t>
                      </a:r>
                    </a:p>
                  </a:txBody>
                  <a:tcPr marL="54864" marR="54864" marT="27432" marB="27432">
                    <a:solidFill>
                      <a:srgbClr val="E9ECF1"/>
                    </a:solidFill>
                  </a:tcPr>
                </a:tc>
                <a:tc>
                  <a:txBody>
                    <a:bodyPr wrap="square"/>
                    <a:lstStyle/>
                    <a:p>
                      <a:pPr algn="l"/>
                      <a:r>
                        <a:rPr sz="1100" b="1">
                          <a:solidFill>
                            <a:srgbClr val="1F2A44"/>
                          </a:solidFill>
                          <a:latin typeface="Calibri"/>
                        </a:rPr>
                        <a:t>Media bytes (TiB)</a:t>
                      </a:r>
                    </a:p>
                  </a:txBody>
                  <a:tcPr marL="54864" marR="54864" marT="27432" marB="27432">
                    <a:solidFill>
                      <a:srgbClr val="E9ECF1"/>
                    </a:solidFill>
                  </a:tcPr>
                </a:tc>
                <a:tc>
                  <a:txBody>
                    <a:bodyPr wrap="square"/>
                    <a:lstStyle/>
                    <a:p>
                      <a:pPr algn="l"/>
                      <a:r>
                        <a:rPr sz="1100" b="1">
                          <a:solidFill>
                            <a:srgbClr val="1F2A44"/>
                          </a:solidFill>
                          <a:latin typeface="Calibri"/>
                        </a:rPr>
                        <a:t>Action required</a:t>
                      </a:r>
                    </a:p>
                  </a:txBody>
                  <a:tcPr marL="54864" marR="54864" marT="27432" marB="27432">
                    <a:solidFill>
                      <a:srgbClr val="E9ECF1"/>
                    </a:solidFill>
                  </a:tcPr>
                </a:tc>
              </a:tr>
              <a:tr h="335280">
                <a:tc>
                  <a:txBody>
                    <a:bodyPr wrap="square"/>
                    <a:lstStyle/>
                    <a:p>
                      <a:pPr algn="l"/>
                      <a:r>
                        <a:rPr sz="1100" b="0">
                          <a:solidFill>
                            <a:srgbClr val="1F2A44"/>
                          </a:solidFill>
                          <a:latin typeface="Calibri"/>
                        </a:rPr>
                        <a:t>na7p4oco</a:t>
                      </a:r>
                    </a:p>
                  </a:txBody>
                  <a:tcPr marL="54864" marR="54864" marT="27432" marB="27432">
                    <a:solidFill>
                      <a:srgbClr val="FFFFFF"/>
                    </a:solidFill>
                  </a:tcPr>
                </a:tc>
                <a:tc>
                  <a:txBody>
                    <a:bodyPr wrap="square"/>
                    <a:lstStyle/>
                    <a:p>
                      <a:pPr algn="l"/>
                      <a:r>
                        <a:rPr sz="1100" b="0">
                          <a:solidFill>
                            <a:srgbClr val="1F2A44"/>
                          </a:solidFill>
                          <a:latin typeface="Calibri"/>
                        </a:rPr>
                        <a:t>key refused (403 AccessDenied)</a:t>
                      </a:r>
                    </a:p>
                  </a:txBody>
                  <a:tcPr marL="54864" marR="54864" marT="27432" marB="27432">
                    <a:solidFill>
                      <a:srgbClr val="FFFFFF"/>
                    </a:solidFill>
                  </a:tcPr>
                </a:tc>
                <a:tc>
                  <a:txBody>
                    <a:bodyPr wrap="square"/>
                    <a:lstStyle/>
                    <a:p>
                      <a:pPr algn="r"/>
                      <a:r>
                        <a:rPr sz="1100" b="0">
                          <a:solidFill>
                            <a:srgbClr val="1F2A44"/>
                          </a:solidFill>
                          <a:latin typeface="Courier New"/>
                        </a:rPr>
                        <a:t>272,080</a:t>
                      </a:r>
                    </a:p>
                  </a:txBody>
                  <a:tcPr marL="54864" marR="54864" marT="27432" marB="27432">
                    <a:solidFill>
                      <a:srgbClr val="FFFFFF"/>
                    </a:solidFill>
                  </a:tcPr>
                </a:tc>
                <a:tc>
                  <a:txBody>
                    <a:bodyPr wrap="square"/>
                    <a:lstStyle/>
                    <a:p>
                      <a:pPr algn="r"/>
                      <a:r>
                        <a:rPr sz="1100" b="0">
                          <a:solidFill>
                            <a:srgbClr val="1F2A44"/>
                          </a:solidFill>
                          <a:latin typeface="Courier New"/>
                        </a:rPr>
                        <a:t>2.65</a:t>
                      </a:r>
                    </a:p>
                  </a:txBody>
                  <a:tcPr marL="54864" marR="54864" marT="27432" marB="27432">
                    <a:solidFill>
                      <a:srgbClr val="FFFFFF"/>
                    </a:solidFill>
                  </a:tcPr>
                </a:tc>
                <a:tc>
                  <a:txBody>
                    <a:bodyPr wrap="square"/>
                    <a:lstStyle/>
                    <a:p>
                      <a:pPr algn="r"/>
                      <a:r>
                        <a:rPr sz="1100" b="0">
                          <a:solidFill>
                            <a:srgbClr val="1F2A44"/>
                          </a:solidFill>
                          <a:latin typeface="Courier New"/>
                        </a:rPr>
                        <a:t>grant obs:object:GetObject to the census key (IAM or bucket policy)</a:t>
                      </a:r>
                    </a:p>
                  </a:txBody>
                  <a:tcPr marL="54864" marR="54864" marT="27432" marB="27432">
                    <a:solidFill>
                      <a:srgbClr val="FFFFFF"/>
                    </a:solidFill>
                  </a:tcPr>
                </a:tc>
              </a:tr>
              <a:tr h="335280">
                <a:tc>
                  <a:txBody>
                    <a:bodyPr wrap="square"/>
                    <a:lstStyle/>
                    <a:p>
                      <a:pPr algn="l"/>
                      <a:r>
                        <a:rPr sz="1100" b="0">
                          <a:solidFill>
                            <a:srgbClr val="1F2A44"/>
                          </a:solidFill>
                          <a:latin typeface="Calibri"/>
                        </a:rPr>
                        <a:t>na7p4357</a:t>
                      </a:r>
                    </a:p>
                  </a:txBody>
                  <a:tcPr marL="54864" marR="54864" marT="27432" marB="27432">
                    <a:solidFill>
                      <a:srgbClr val="FFFFFF"/>
                    </a:solidFill>
                  </a:tcPr>
                </a:tc>
                <a:tc>
                  <a:txBody>
                    <a:bodyPr wrap="square"/>
                    <a:lstStyle/>
                    <a:p>
                      <a:pPr algn="l"/>
                      <a:r>
                        <a:rPr sz="1100" b="0">
                          <a:solidFill>
                            <a:srgbClr val="1F2A44"/>
                          </a:solidFill>
                          <a:latin typeface="Calibri"/>
                        </a:rPr>
                        <a:t>key refused (403 AccessDenied)</a:t>
                      </a:r>
                    </a:p>
                  </a:txBody>
                  <a:tcPr marL="54864" marR="54864" marT="27432" marB="27432">
                    <a:solidFill>
                      <a:srgbClr val="FFFFFF"/>
                    </a:solidFill>
                  </a:tcPr>
                </a:tc>
                <a:tc>
                  <a:txBody>
                    <a:bodyPr wrap="square"/>
                    <a:lstStyle/>
                    <a:p>
                      <a:pPr algn="r"/>
                      <a:r>
                        <a:rPr sz="1100" b="0">
                          <a:solidFill>
                            <a:srgbClr val="1F2A44"/>
                          </a:solidFill>
                          <a:latin typeface="Courier New"/>
                        </a:rPr>
                        <a:t>2,228</a:t>
                      </a:r>
                    </a:p>
                  </a:txBody>
                  <a:tcPr marL="54864" marR="54864" marT="27432" marB="27432">
                    <a:solidFill>
                      <a:srgbClr val="FFFFFF"/>
                    </a:solidFill>
                  </a:tcPr>
                </a:tc>
                <a:tc>
                  <a:txBody>
                    <a:bodyPr wrap="square"/>
                    <a:lstStyle/>
                    <a:p>
                      <a:pPr algn="r"/>
                      <a:r>
                        <a:rPr sz="1100" b="0">
                          <a:solidFill>
                            <a:srgbClr val="1F2A44"/>
                          </a:solidFill>
                          <a:latin typeface="Courier New"/>
                        </a:rPr>
                        <a:t>1.36</a:t>
                      </a:r>
                    </a:p>
                  </a:txBody>
                  <a:tcPr marL="54864" marR="54864" marT="27432" marB="27432">
                    <a:solidFill>
                      <a:srgbClr val="FFFFFF"/>
                    </a:solidFill>
                  </a:tcPr>
                </a:tc>
                <a:tc>
                  <a:txBody>
                    <a:bodyPr wrap="square"/>
                    <a:lstStyle/>
                    <a:p>
                      <a:pPr algn="r"/>
                      <a:r>
                        <a:rPr sz="1100" b="0">
                          <a:solidFill>
                            <a:srgbClr val="1F2A44"/>
                          </a:solidFill>
                          <a:latin typeface="Courier New"/>
                        </a:rPr>
                        <a:t>grant obs:object:GetObject to the census key (IAM or bucket policy)</a:t>
                      </a:r>
                    </a:p>
                  </a:txBody>
                  <a:tcPr marL="54864" marR="54864" marT="27432" marB="27432">
                    <a:solidFill>
                      <a:srgbClr val="FFFFFF"/>
                    </a:solidFill>
                  </a:tcPr>
                </a:tc>
              </a:tr>
              <a:tr h="335280">
                <a:tc>
                  <a:txBody>
                    <a:bodyPr wrap="square"/>
                    <a:lstStyle/>
                    <a:p>
                      <a:pPr algn="l"/>
                      <a:r>
                        <a:rPr sz="1100" b="0">
                          <a:solidFill>
                            <a:srgbClr val="1F2A44"/>
                          </a:solidFill>
                          <a:latin typeface="Calibri"/>
                        </a:rPr>
                        <a:t>na7p43df</a:t>
                      </a:r>
                    </a:p>
                  </a:txBody>
                  <a:tcPr marL="54864" marR="54864" marT="27432" marB="27432">
                    <a:solidFill>
                      <a:srgbClr val="FFFFFF"/>
                    </a:solidFill>
                  </a:tcPr>
                </a:tc>
                <a:tc>
                  <a:txBody>
                    <a:bodyPr wrap="square"/>
                    <a:lstStyle/>
                    <a:p>
                      <a:pPr algn="l"/>
                      <a:r>
                        <a:rPr sz="1100" b="0">
                          <a:solidFill>
                            <a:srgbClr val="1F2A44"/>
                          </a:solidFill>
                          <a:latin typeface="Calibri"/>
                        </a:rPr>
                        <a:t>key refused (403 AccessDenied)</a:t>
                      </a:r>
                    </a:p>
                  </a:txBody>
                  <a:tcPr marL="54864" marR="54864" marT="27432" marB="27432">
                    <a:solidFill>
                      <a:srgbClr val="FFFFFF"/>
                    </a:solidFill>
                  </a:tcPr>
                </a:tc>
                <a:tc>
                  <a:txBody>
                    <a:bodyPr wrap="square"/>
                    <a:lstStyle/>
                    <a:p>
                      <a:pPr algn="r"/>
                      <a:r>
                        <a:rPr sz="1100" b="0">
                          <a:solidFill>
                            <a:srgbClr val="1F2A44"/>
                          </a:solidFill>
                          <a:latin typeface="Courier New"/>
                        </a:rPr>
                        <a:t>1,071</a:t>
                      </a:r>
                    </a:p>
                  </a:txBody>
                  <a:tcPr marL="54864" marR="54864" marT="27432" marB="27432">
                    <a:solidFill>
                      <a:srgbClr val="FFFFFF"/>
                    </a:solidFill>
                  </a:tcPr>
                </a:tc>
                <a:tc>
                  <a:txBody>
                    <a:bodyPr wrap="square"/>
                    <a:lstStyle/>
                    <a:p>
                      <a:pPr algn="r"/>
                      <a:r>
                        <a:rPr sz="1100" b="0">
                          <a:solidFill>
                            <a:srgbClr val="1F2A44"/>
                          </a:solidFill>
                          <a:latin typeface="Courier New"/>
                        </a:rPr>
                        <a:t>1.36</a:t>
                      </a:r>
                    </a:p>
                  </a:txBody>
                  <a:tcPr marL="54864" marR="54864" marT="27432" marB="27432">
                    <a:solidFill>
                      <a:srgbClr val="FFFFFF"/>
                    </a:solidFill>
                  </a:tcPr>
                </a:tc>
                <a:tc>
                  <a:txBody>
                    <a:bodyPr wrap="square"/>
                    <a:lstStyle/>
                    <a:p>
                      <a:pPr algn="r"/>
                      <a:r>
                        <a:rPr sz="1100" b="0">
                          <a:solidFill>
                            <a:srgbClr val="1F2A44"/>
                          </a:solidFill>
                          <a:latin typeface="Courier New"/>
                        </a:rPr>
                        <a:t>grant obs:object:GetObject to the census key (IAM or bucket policy)</a:t>
                      </a:r>
                    </a:p>
                  </a:txBody>
                  <a:tcPr marL="54864" marR="54864" marT="27432" marB="27432">
                    <a:solidFill>
                      <a:srgbClr val="FFFFFF"/>
                    </a:solidFill>
                  </a:tcPr>
                </a:tc>
              </a:tr>
              <a:tr h="335280">
                <a:tc>
                  <a:txBody>
                    <a:bodyPr wrap="square"/>
                    <a:lstStyle/>
                    <a:p>
                      <a:pPr algn="l"/>
                      <a:r>
                        <a:rPr sz="1100" b="0">
                          <a:solidFill>
                            <a:srgbClr val="1F2A44"/>
                          </a:solidFill>
                          <a:latin typeface="Calibri"/>
                        </a:rPr>
                        <a:t>na7p43ax</a:t>
                      </a:r>
                    </a:p>
                  </a:txBody>
                  <a:tcPr marL="54864" marR="54864" marT="27432" marB="27432">
                    <a:solidFill>
                      <a:srgbClr val="FFFFFF"/>
                    </a:solidFill>
                  </a:tcPr>
                </a:tc>
                <a:tc>
                  <a:txBody>
                    <a:bodyPr wrap="square"/>
                    <a:lstStyle/>
                    <a:p>
                      <a:pPr algn="l"/>
                      <a:r>
                        <a:rPr sz="1100" b="0">
                          <a:solidFill>
                            <a:srgbClr val="1F2A44"/>
                          </a:solidFill>
                          <a:latin typeface="Calibri"/>
                        </a:rPr>
                        <a:t>key refused (403 AccessDenied)</a:t>
                      </a:r>
                    </a:p>
                  </a:txBody>
                  <a:tcPr marL="54864" marR="54864" marT="27432" marB="27432">
                    <a:solidFill>
                      <a:srgbClr val="FFFFFF"/>
                    </a:solidFill>
                  </a:tcPr>
                </a:tc>
                <a:tc>
                  <a:txBody>
                    <a:bodyPr wrap="square"/>
                    <a:lstStyle/>
                    <a:p>
                      <a:pPr algn="r"/>
                      <a:r>
                        <a:rPr sz="1100" b="0">
                          <a:solidFill>
                            <a:srgbClr val="1F2A44"/>
                          </a:solidFill>
                          <a:latin typeface="Courier New"/>
                        </a:rPr>
                        <a:t>767</a:t>
                      </a:r>
                    </a:p>
                  </a:txBody>
                  <a:tcPr marL="54864" marR="54864" marT="27432" marB="27432">
                    <a:solidFill>
                      <a:srgbClr val="FFFFFF"/>
                    </a:solidFill>
                  </a:tcPr>
                </a:tc>
                <a:tc>
                  <a:txBody>
                    <a:bodyPr wrap="square"/>
                    <a:lstStyle/>
                    <a:p>
                      <a:pPr algn="r"/>
                      <a:r>
                        <a:rPr sz="1100" b="0">
                          <a:solidFill>
                            <a:srgbClr val="1F2A44"/>
                          </a:solidFill>
                          <a:latin typeface="Courier New"/>
                        </a:rPr>
                        <a:t>0.92</a:t>
                      </a:r>
                    </a:p>
                  </a:txBody>
                  <a:tcPr marL="54864" marR="54864" marT="27432" marB="27432">
                    <a:solidFill>
                      <a:srgbClr val="FFFFFF"/>
                    </a:solidFill>
                  </a:tcPr>
                </a:tc>
                <a:tc>
                  <a:txBody>
                    <a:bodyPr wrap="square"/>
                    <a:lstStyle/>
                    <a:p>
                      <a:pPr algn="r"/>
                      <a:r>
                        <a:rPr sz="1100" b="0">
                          <a:solidFill>
                            <a:srgbClr val="1F2A44"/>
                          </a:solidFill>
                          <a:latin typeface="Courier New"/>
                        </a:rPr>
                        <a:t>grant obs:object:GetObject to the census key (IAM or bucket policy)</a:t>
                      </a:r>
                    </a:p>
                  </a:txBody>
                  <a:tcPr marL="54864" marR="54864" marT="27432" marB="27432">
                    <a:solidFill>
                      <a:srgbClr val="FFFFFF"/>
                    </a:solidFill>
                  </a:tcPr>
                </a:tc>
              </a:tr>
              <a:tr h="335280">
                <a:tc>
                  <a:txBody>
                    <a:bodyPr wrap="square"/>
                    <a:lstStyle/>
                    <a:p>
                      <a:pPr algn="l"/>
                      <a:r>
                        <a:rPr sz="1100" b="0">
                          <a:solidFill>
                            <a:srgbClr val="1F2A44"/>
                          </a:solidFill>
                          <a:latin typeface="Calibri"/>
                        </a:rPr>
                        <a:t>na7p49p9</a:t>
                      </a:r>
                    </a:p>
                  </a:txBody>
                  <a:tcPr marL="54864" marR="54864" marT="27432" marB="27432">
                    <a:solidFill>
                      <a:srgbClr val="FFFFFF"/>
                    </a:solidFill>
                  </a:tcPr>
                </a:tc>
                <a:tc>
                  <a:txBody>
                    <a:bodyPr wrap="square"/>
                    <a:lstStyle/>
                    <a:p>
                      <a:pPr algn="l"/>
                      <a:r>
                        <a:rPr sz="1100" b="0">
                          <a:solidFill>
                            <a:srgbClr val="1F2A44"/>
                          </a:solidFill>
                          <a:latin typeface="Calibri"/>
                        </a:rPr>
                        <a:t>key refused (403 AccessDenied)</a:t>
                      </a:r>
                    </a:p>
                  </a:txBody>
                  <a:tcPr marL="54864" marR="54864" marT="27432" marB="27432">
                    <a:solidFill>
                      <a:srgbClr val="FFFFFF"/>
                    </a:solidFill>
                  </a:tcPr>
                </a:tc>
                <a:tc>
                  <a:txBody>
                    <a:bodyPr wrap="square"/>
                    <a:lstStyle/>
                    <a:p>
                      <a:pPr algn="r"/>
                      <a:r>
                        <a:rPr sz="1100" b="0">
                          <a:solidFill>
                            <a:srgbClr val="1F2A44"/>
                          </a:solidFill>
                          <a:latin typeface="Courier New"/>
                        </a:rPr>
                        <a:t>1,649</a:t>
                      </a:r>
                    </a:p>
                  </a:txBody>
                  <a:tcPr marL="54864" marR="54864" marT="27432" marB="27432">
                    <a:solidFill>
                      <a:srgbClr val="FFFFFF"/>
                    </a:solidFill>
                  </a:tcPr>
                </a:tc>
                <a:tc>
                  <a:txBody>
                    <a:bodyPr wrap="square"/>
                    <a:lstStyle/>
                    <a:p>
                      <a:pPr algn="r"/>
                      <a:r>
                        <a:rPr sz="1100" b="0">
                          <a:solidFill>
                            <a:srgbClr val="1F2A44"/>
                          </a:solidFill>
                          <a:latin typeface="Courier New"/>
                        </a:rPr>
                        <a:t>0.19</a:t>
                      </a:r>
                    </a:p>
                  </a:txBody>
                  <a:tcPr marL="54864" marR="54864" marT="27432" marB="27432">
                    <a:solidFill>
                      <a:srgbClr val="FFFFFF"/>
                    </a:solidFill>
                  </a:tcPr>
                </a:tc>
                <a:tc>
                  <a:txBody>
                    <a:bodyPr wrap="square"/>
                    <a:lstStyle/>
                    <a:p>
                      <a:pPr algn="r"/>
                      <a:r>
                        <a:rPr sz="1100" b="0">
                          <a:solidFill>
                            <a:srgbClr val="1F2A44"/>
                          </a:solidFill>
                          <a:latin typeface="Courier New"/>
                        </a:rPr>
                        <a:t>grant obs:object:GetObject to the census key (IAM or bucket policy)</a:t>
                      </a:r>
                    </a:p>
                  </a:txBody>
                  <a:tcPr marL="54864" marR="54864" marT="27432" marB="27432">
                    <a:solidFill>
                      <a:srgbClr val="FFFFFF"/>
                    </a:solidFill>
                  </a:tcPr>
                </a:tc>
              </a:tr>
              <a:tr h="335280">
                <a:tc>
                  <a:txBody>
                    <a:bodyPr wrap="square"/>
                    <a:lstStyle/>
                    <a:p>
                      <a:pPr algn="l"/>
                      <a:r>
                        <a:rPr sz="1100" b="0">
                          <a:solidFill>
                            <a:srgbClr val="1F2A44"/>
                          </a:solidFill>
                          <a:latin typeface="Calibri"/>
                        </a:rPr>
                        <a:t>elections-portal</a:t>
                      </a:r>
                    </a:p>
                  </a:txBody>
                  <a:tcPr marL="54864" marR="54864" marT="27432" marB="27432">
                    <a:solidFill>
                      <a:srgbClr val="FFFFFF"/>
                    </a:solidFill>
                  </a:tcPr>
                </a:tc>
                <a:tc>
                  <a:txBody>
                    <a:bodyPr wrap="square"/>
                    <a:lstStyle/>
                    <a:p>
                      <a:pPr algn="l"/>
                      <a:r>
                        <a:rPr sz="1100" b="0">
                          <a:solidFill>
                            <a:srgbClr val="1F2A44"/>
                          </a:solidFill>
                          <a:latin typeface="Calibri"/>
                        </a:rPr>
                        <a:t>key refused (403 AccessDenied)</a:t>
                      </a:r>
                    </a:p>
                  </a:txBody>
                  <a:tcPr marL="54864" marR="54864" marT="27432" marB="27432">
                    <a:solidFill>
                      <a:srgbClr val="FFFFFF"/>
                    </a:solidFill>
                  </a:tcPr>
                </a:tc>
                <a:tc>
                  <a:txBody>
                    <a:bodyPr wrap="square"/>
                    <a:lstStyle/>
                    <a:p>
                      <a:pPr algn="r"/>
                      <a:r>
                        <a:rPr sz="1100" b="0">
                          <a:solidFill>
                            <a:srgbClr val="1F2A44"/>
                          </a:solidFill>
                          <a:latin typeface="Courier New"/>
                        </a:rPr>
                        <a:t>55</a:t>
                      </a:r>
                    </a:p>
                  </a:txBody>
                  <a:tcPr marL="54864" marR="54864" marT="27432" marB="27432">
                    <a:solidFill>
                      <a:srgbClr val="FFFFFF"/>
                    </a:solidFill>
                  </a:tcPr>
                </a:tc>
                <a:tc>
                  <a:txBody>
                    <a:bodyPr wrap="square"/>
                    <a:lstStyle/>
                    <a:p>
                      <a:pPr algn="r"/>
                      <a:r>
                        <a:rPr sz="1100" b="0">
                          <a:solidFill>
                            <a:srgbClr val="1F2A44"/>
                          </a:solidFill>
                          <a:latin typeface="Courier New"/>
                        </a:rPr>
                        <a:t>0.0</a:t>
                      </a:r>
                    </a:p>
                  </a:txBody>
                  <a:tcPr marL="54864" marR="54864" marT="27432" marB="27432">
                    <a:solidFill>
                      <a:srgbClr val="FFFFFF"/>
                    </a:solidFill>
                  </a:tcPr>
                </a:tc>
                <a:tc>
                  <a:txBody>
                    <a:bodyPr wrap="square"/>
                    <a:lstStyle/>
                    <a:p>
                      <a:pPr algn="r"/>
                      <a:r>
                        <a:rPr sz="1100" b="0">
                          <a:solidFill>
                            <a:srgbClr val="1F2A44"/>
                          </a:solidFill>
                          <a:latin typeface="Courier New"/>
                        </a:rPr>
                        <a:t>grant obs:object:GetObject to the census key (IAM or bucket policy)</a:t>
                      </a:r>
                    </a:p>
                  </a:txBody>
                  <a:tcPr marL="54864" marR="54864" marT="27432" marB="27432">
                    <a:solidFill>
                      <a:srgbClr val="FFFFFF"/>
                    </a:solidFill>
                  </a:tcPr>
                </a:tc>
              </a:tr>
              <a:tr h="335280">
                <a:tc>
                  <a:txBody>
                    <a:bodyPr wrap="square"/>
                    <a:lstStyle/>
                    <a:p>
                      <a:pPr algn="l"/>
                      <a:r>
                        <a:rPr sz="1100" b="0">
                          <a:solidFill>
                            <a:srgbClr val="1F2A44"/>
                          </a:solidFill>
                          <a:latin typeface="Calibri"/>
                        </a:rPr>
                        <a:t>test-viusasa-bucket</a:t>
                      </a:r>
                    </a:p>
                  </a:txBody>
                  <a:tcPr marL="54864" marR="54864" marT="27432" marB="27432">
                    <a:solidFill>
                      <a:srgbClr val="FFFFFF"/>
                    </a:solidFill>
                  </a:tcPr>
                </a:tc>
                <a:tc>
                  <a:txBody>
                    <a:bodyPr wrap="square"/>
                    <a:lstStyle/>
                    <a:p>
                      <a:pPr algn="l"/>
                      <a:r>
                        <a:rPr sz="1100" b="0">
                          <a:solidFill>
                            <a:srgbClr val="1F2A44"/>
                          </a:solidFill>
                          <a:latin typeface="Calibri"/>
                        </a:rPr>
                        <a:t>Archive class · InvalidObjectState</a:t>
                      </a:r>
                    </a:p>
                  </a:txBody>
                  <a:tcPr marL="54864" marR="54864" marT="27432" marB="27432">
                    <a:solidFill>
                      <a:srgbClr val="FFFFFF"/>
                    </a:solidFill>
                  </a:tcPr>
                </a:tc>
                <a:tc>
                  <a:txBody>
                    <a:bodyPr wrap="square"/>
                    <a:lstStyle/>
                    <a:p>
                      <a:pPr algn="r"/>
                      <a:r>
                        <a:rPr sz="1100" b="0">
                          <a:solidFill>
                            <a:srgbClr val="1F2A44"/>
                          </a:solidFill>
                          <a:latin typeface="Courier New"/>
                        </a:rPr>
                        <a:t>582</a:t>
                      </a:r>
                    </a:p>
                  </a:txBody>
                  <a:tcPr marL="54864" marR="54864" marT="27432" marB="27432">
                    <a:solidFill>
                      <a:srgbClr val="FFFFFF"/>
                    </a:solidFill>
                  </a:tcPr>
                </a:tc>
                <a:tc>
                  <a:txBody>
                    <a:bodyPr wrap="square"/>
                    <a:lstStyle/>
                    <a:p>
                      <a:pPr algn="r"/>
                      <a:r>
                        <a:rPr sz="1100" b="0">
                          <a:solidFill>
                            <a:srgbClr val="1F2A44"/>
                          </a:solidFill>
                          <a:latin typeface="Courier New"/>
                        </a:rPr>
                        <a:t>0.0</a:t>
                      </a:r>
                    </a:p>
                  </a:txBody>
                  <a:tcPr marL="54864" marR="54864" marT="27432" marB="27432">
                    <a:solidFill>
                      <a:srgbClr val="FFFFFF"/>
                    </a:solidFill>
                  </a:tcPr>
                </a:tc>
                <a:tc>
                  <a:txBody>
                    <a:bodyPr wrap="square"/>
                    <a:lstStyle/>
                    <a:p>
                      <a:pPr algn="r"/>
                      <a:r>
                        <a:rPr sz="1100" b="0">
                          <a:solidFill>
                            <a:srgbClr val="1F2A44"/>
                          </a:solidFill>
                          <a:latin typeface="Courier New"/>
                        </a:rPr>
                        <a:t>decide: restore (fee) or leave counted only</a:t>
                      </a:r>
                    </a:p>
                  </a:txBody>
                  <a:tcPr marL="54864" marR="54864" marT="27432" marB="27432">
                    <a:solidFill>
                      <a:srgbClr val="FFFFFF"/>
                    </a:solidFill>
                  </a:tcPr>
                </a:tc>
              </a:tr>
              <a:tr h="335280">
                <a:tc>
                  <a:txBody>
                    <a:bodyPr wrap="square"/>
                    <a:lstStyle/>
                    <a:p>
                      <a:pPr algn="l"/>
                      <a:r>
                        <a:rPr sz="1100" b="0">
                          <a:solidFill>
                            <a:srgbClr val="1F2A44"/>
                          </a:solidFill>
                          <a:latin typeface="Calibri"/>
                        </a:rPr>
                        <a:t>fast-channels</a:t>
                      </a:r>
                    </a:p>
                  </a:txBody>
                  <a:tcPr marL="54864" marR="54864" marT="27432" marB="27432">
                    <a:solidFill>
                      <a:srgbClr val="FFFFFF"/>
                    </a:solidFill>
                  </a:tcPr>
                </a:tc>
                <a:tc>
                  <a:txBody>
                    <a:bodyPr wrap="square"/>
                    <a:lstStyle/>
                    <a:p>
                      <a:pPr algn="l"/>
                      <a:r>
                        <a:rPr sz="1100" b="0">
                          <a:solidFill>
                            <a:srgbClr val="1F2A44"/>
                          </a:solidFill>
                          <a:latin typeface="Calibri"/>
                        </a:rPr>
                        <a:t>Archive class · InvalidObjectState</a:t>
                      </a:r>
                    </a:p>
                  </a:txBody>
                  <a:tcPr marL="54864" marR="54864" marT="27432" marB="27432">
                    <a:solidFill>
                      <a:srgbClr val="FFFFFF"/>
                    </a:solidFill>
                  </a:tcPr>
                </a:tc>
                <a:tc>
                  <a:txBody>
                    <a:bodyPr wrap="square"/>
                    <a:lstStyle/>
                    <a:p>
                      <a:pPr algn="r"/>
                      <a:r>
                        <a:rPr sz="1100" b="0">
                          <a:solidFill>
                            <a:srgbClr val="1F2A44"/>
                          </a:solidFill>
                          <a:latin typeface="Courier New"/>
                        </a:rPr>
                        <a:t>2</a:t>
                      </a:r>
                    </a:p>
                  </a:txBody>
                  <a:tcPr marL="54864" marR="54864" marT="27432" marB="27432">
                    <a:solidFill>
                      <a:srgbClr val="FFFFFF"/>
                    </a:solidFill>
                  </a:tcPr>
                </a:tc>
                <a:tc>
                  <a:txBody>
                    <a:bodyPr wrap="square"/>
                    <a:lstStyle/>
                    <a:p>
                      <a:pPr algn="r"/>
                      <a:r>
                        <a:rPr sz="1100" b="0">
                          <a:solidFill>
                            <a:srgbClr val="1F2A44"/>
                          </a:solidFill>
                          <a:latin typeface="Courier New"/>
                        </a:rPr>
                        <a:t>0.0</a:t>
                      </a:r>
                    </a:p>
                  </a:txBody>
                  <a:tcPr marL="54864" marR="54864" marT="27432" marB="27432">
                    <a:solidFill>
                      <a:srgbClr val="FFFFFF"/>
                    </a:solidFill>
                  </a:tcPr>
                </a:tc>
                <a:tc>
                  <a:txBody>
                    <a:bodyPr wrap="square"/>
                    <a:lstStyle/>
                    <a:p>
                      <a:pPr algn="r"/>
                      <a:r>
                        <a:rPr sz="1100" b="0">
                          <a:solidFill>
                            <a:srgbClr val="1F2A44"/>
                          </a:solidFill>
                          <a:latin typeface="Courier New"/>
                        </a:rPr>
                        <a:t>decide: restore (fee) or leave counted only</a:t>
                      </a:r>
                    </a:p>
                  </a:txBody>
                  <a:tcPr marL="54864" marR="54864" marT="27432" marB="2743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C8102E"/>
                </a:solidFill>
                <a:latin typeface="Calibri"/>
              </a:rPr>
              <a:t>The census key can list these buckets but every HEAD and GET returns 403 AccessDenied (verified from the control plane with a one-byte ranged read; the same account owns the objects).</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[measured]  Receipt R10: Interim tiered content census (content_sample); snapshots OBS 2026-10-03T01:40:08.564624+00:00; NAS 2026-10-03T01:38:24.195696+00:00; receipts cr-81526aa143aa, cr-8640b1cbcbc6, cr-aa33fffba60e, cr-bbf71c8d905a, cr-cf4eef79995b, cr-f1415e395361 on akki-vm and akki-vm-ii. Resumable listing, header probes of accessible audio and a per-folder video sample (ranged reads → ffprobe), with unprobed durations extrapolated where possible; a seeded stratified sample of files per folder read byte for byte, verified against the listing and judged on every two-second window by the admitted music detector and the current audio language model; ratio estimators with finite-population correction give the 95 % intervals. Listing, probing and sampling are incomplete. Model readings, not human labels; intervals exclude model error and inaccessible or unsampled content.</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50</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EVIDENCE BY NAME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Folders sampled — hours held, speech, music and languages with 95 % intervals (ranked by estimated speech hours)</a:t>
            </a:r>
          </a:p>
        </p:txBody>
      </p:sp>
      <p:graphicFrame>
        <p:nvGraphicFramePr>
          <p:cNvPr id="4" name="Table 3"/>
          <p:cNvGraphicFramePr>
            <a:graphicFrameLocks noGrp="1"/>
          </p:cNvGraphicFramePr>
          <p:nvPr/>
        </p:nvGraphicFramePr>
        <p:xfrm>
          <a:off x="594360" y="1920240"/>
          <a:ext cx="11002971" cy="3017520"/>
        </p:xfrm>
        <a:graphic>
          <a:graphicData uri="http://schemas.openxmlformats.org/drawingml/2006/table">
            <a:tbl>
              <a:tblPr firstRow="1" bandRow="1">
                <a:tableStyleId>{5C22544A-7EE6-4342-B048-85BDC9FD1C3A}</a:tableStyleId>
              </a:tblPr>
              <a:tblGrid>
                <a:gridCol w="2888280"/>
                <a:gridCol w="962760"/>
                <a:gridCol w="962760"/>
                <a:gridCol w="1925520"/>
                <a:gridCol w="2888280"/>
                <a:gridCol w="1375371"/>
              </a:tblGrid>
              <a:tr h="301752">
                <a:tc>
                  <a:txBody>
                    <a:bodyPr wrap="square"/>
                    <a:lstStyle/>
                    <a:p>
                      <a:pPr algn="l"/>
                      <a:r>
                        <a:rPr sz="1100" b="1">
                          <a:solidFill>
                            <a:srgbClr val="1F2A44"/>
                          </a:solidFill>
                          <a:latin typeface="Calibri"/>
                        </a:rPr>
                        <a:t>Folder</a:t>
                      </a:r>
                    </a:p>
                  </a:txBody>
                  <a:tcPr marL="54864" marR="54864" marT="27432" marB="27432">
                    <a:solidFill>
                      <a:srgbClr val="E9ECF1"/>
                    </a:solidFill>
                  </a:tcPr>
                </a:tc>
                <a:tc>
                  <a:txBody>
                    <a:bodyPr wrap="square"/>
                    <a:lstStyle/>
                    <a:p>
                      <a:pPr algn="l"/>
                      <a:r>
                        <a:rPr sz="1100" b="1">
                          <a:solidFill>
                            <a:srgbClr val="1F2A44"/>
                          </a:solidFill>
                          <a:latin typeface="Calibri"/>
                        </a:rPr>
                        <a:t>Files</a:t>
                      </a:r>
                    </a:p>
                  </a:txBody>
                  <a:tcPr marL="54864" marR="54864" marT="27432" marB="27432">
                    <a:solidFill>
                      <a:srgbClr val="E9ECF1"/>
                    </a:solidFill>
                  </a:tcPr>
                </a:tc>
                <a:tc>
                  <a:txBody>
                    <a:bodyPr wrap="square"/>
                    <a:lstStyle/>
                    <a:p>
                      <a:pPr algn="l"/>
                      <a:r>
                        <a:rPr sz="1100" b="1">
                          <a:solidFill>
                            <a:srgbClr val="1F2A44"/>
                          </a:solidFill>
                          <a:latin typeface="Calibri"/>
                        </a:rPr>
                        <a:t>Hours held</a:t>
                      </a:r>
                    </a:p>
                  </a:txBody>
                  <a:tcPr marL="54864" marR="54864" marT="27432" marB="27432">
                    <a:solidFill>
                      <a:srgbClr val="E9ECF1"/>
                    </a:solidFill>
                  </a:tcPr>
                </a:tc>
                <a:tc>
                  <a:txBody>
                    <a:bodyPr wrap="square"/>
                    <a:lstStyle/>
                    <a:p>
                      <a:pPr algn="l"/>
                      <a:r>
                        <a:rPr sz="1100" b="1">
                          <a:solidFill>
                            <a:srgbClr val="1F2A44"/>
                          </a:solidFill>
                          <a:latin typeface="Calibri"/>
                        </a:rPr>
                        <a:t>Speech hours (95 %)</a:t>
                      </a:r>
                    </a:p>
                  </a:txBody>
                  <a:tcPr marL="54864" marR="54864" marT="27432" marB="27432">
                    <a:solidFill>
                      <a:srgbClr val="E9ECF1"/>
                    </a:solidFill>
                  </a:tcPr>
                </a:tc>
                <a:tc>
                  <a:txBody>
                    <a:bodyPr wrap="square"/>
                    <a:lstStyle/>
                    <a:p>
                      <a:pPr algn="l"/>
                      <a:r>
                        <a:rPr sz="1100" b="1">
                          <a:solidFill>
                            <a:srgbClr val="1F2A44"/>
                          </a:solidFill>
                          <a:latin typeface="Calibri"/>
                        </a:rPr>
                        <a:t>Languages (speech hours)</a:t>
                      </a:r>
                    </a:p>
                  </a:txBody>
                  <a:tcPr marL="54864" marR="54864" marT="27432" marB="27432">
                    <a:solidFill>
                      <a:srgbClr val="E9ECF1"/>
                    </a:solidFill>
                  </a:tcPr>
                </a:tc>
                <a:tc>
                  <a:txBody>
                    <a:bodyPr wrap="square"/>
                    <a:lstStyle/>
                    <a:p>
                      <a:pPr algn="l"/>
                      <a:r>
                        <a:rPr sz="1100" b="1">
                          <a:solidFill>
                            <a:srgbClr val="1F2A44"/>
                          </a:solidFill>
                          <a:latin typeface="Calibri"/>
                        </a:rPr>
                        <a:t>Files read / planned</a:t>
                      </a:r>
                    </a:p>
                  </a:txBody>
                  <a:tcPr marL="54864" marR="54864" marT="27432" marB="27432">
                    <a:solidFill>
                      <a:srgbClr val="E9ECF1"/>
                    </a:solidFill>
                  </a:tcPr>
                </a:tc>
              </a:tr>
              <a:tr h="301752">
                <a:tc>
                  <a:txBody>
                    <a:bodyPr wrap="square"/>
                    <a:lstStyle/>
                    <a:p>
                      <a:pPr algn="l"/>
                      <a:r>
                        <a:rPr sz="1100" b="0">
                          <a:solidFill>
                            <a:srgbClr val="1F2A44"/>
                          </a:solidFill>
                          <a:latin typeface="Calibri"/>
                        </a:rPr>
                        <a:t>rmsradio/podcasts/uploads/podcasts · audio</a:t>
                      </a:r>
                    </a:p>
                  </a:txBody>
                  <a:tcPr marL="54864" marR="54864" marT="27432" marB="27432">
                    <a:solidFill>
                      <a:srgbClr val="FFFFFF"/>
                    </a:solidFill>
                  </a:tcPr>
                </a:tc>
                <a:tc>
                  <a:txBody>
                    <a:bodyPr wrap="square"/>
                    <a:lstStyle/>
                    <a:p>
                      <a:pPr algn="r"/>
                      <a:r>
                        <a:rPr sz="1100" b="0">
                          <a:solidFill>
                            <a:srgbClr val="1F2A44"/>
                          </a:solidFill>
                          <a:latin typeface="Courier New"/>
                        </a:rPr>
                        <a:t>128,167</a:t>
                      </a:r>
                    </a:p>
                  </a:txBody>
                  <a:tcPr marL="54864" marR="54864" marT="27432" marB="27432">
                    <a:solidFill>
                      <a:srgbClr val="FFFFFF"/>
                    </a:solidFill>
                  </a:tcPr>
                </a:tc>
                <a:tc>
                  <a:txBody>
                    <a:bodyPr wrap="square"/>
                    <a:lstStyle/>
                    <a:p>
                      <a:pPr algn="r"/>
                      <a:r>
                        <a:rPr sz="1100" b="0">
                          <a:solidFill>
                            <a:srgbClr val="1F2A44"/>
                          </a:solidFill>
                          <a:latin typeface="Courier New"/>
                        </a:rPr>
                        <a:t>18,217.5</a:t>
                      </a:r>
                    </a:p>
                  </a:txBody>
                  <a:tcPr marL="54864" marR="54864" marT="27432" marB="27432">
                    <a:solidFill>
                      <a:srgbClr val="FFFFFF"/>
                    </a:solidFill>
                  </a:tcPr>
                </a:tc>
                <a:tc>
                  <a:txBody>
                    <a:bodyPr wrap="square"/>
                    <a:lstStyle/>
                    <a:p>
                      <a:pPr algn="r"/>
                      <a:r>
                        <a:rPr sz="1100" b="0">
                          <a:solidFill>
                            <a:srgbClr val="1F2A44"/>
                          </a:solidFill>
                          <a:latin typeface="Courier New"/>
                        </a:rPr>
                        <a:t>13,156.6 (12,665.3–13,648.0)</a:t>
                      </a:r>
                    </a:p>
                  </a:txBody>
                  <a:tcPr marL="54864" marR="54864" marT="27432" marB="27432">
                    <a:solidFill>
                      <a:srgbClr val="FFFFFF"/>
                    </a:solidFill>
                  </a:tcPr>
                </a:tc>
                <a:tc>
                  <a:txBody>
                    <a:bodyPr wrap="square"/>
                    <a:lstStyle/>
                    <a:p>
                      <a:pPr algn="r"/>
                      <a:r>
                        <a:rPr sz="1100" b="0">
                          <a:solidFill>
                            <a:srgbClr val="1F2A44"/>
                          </a:solidFill>
                          <a:latin typeface="Courier New"/>
                        </a:rPr>
                        <a:t>Gikuyu (Kikuyu) 2,355 h; Kiswahili 1,974 h; Ekegusii (Kisii) 1,902 h</a:t>
                      </a:r>
                    </a:p>
                  </a:txBody>
                  <a:tcPr marL="54864" marR="54864" marT="27432" marB="27432">
                    <a:solidFill>
                      <a:srgbClr val="FFFFFF"/>
                    </a:solidFill>
                  </a:tcPr>
                </a:tc>
                <a:tc>
                  <a:txBody>
                    <a:bodyPr wrap="square"/>
                    <a:lstStyle/>
                    <a:p>
                      <a:pPr algn="r"/>
                      <a:r>
                        <a:rPr sz="1100" b="0">
                          <a:solidFill>
                            <a:srgbClr val="1F2A44"/>
                          </a:solidFill>
                          <a:latin typeface="Courier New"/>
                        </a:rPr>
                        <a:t>600 / 600</a:t>
                      </a:r>
                    </a:p>
                  </a:txBody>
                  <a:tcPr marL="54864" marR="54864" marT="27432" marB="27432">
                    <a:solidFill>
                      <a:srgbClr val="FFFFFF"/>
                    </a:solidFill>
                  </a:tcPr>
                </a:tc>
              </a:tr>
              <a:tr h="301752">
                <a:tc>
                  <a:txBody>
                    <a:bodyPr wrap="square"/>
                    <a:lstStyle/>
                    <a:p>
                      <a:pPr algn="l"/>
                      <a:r>
                        <a:rPr sz="1100" b="0">
                          <a:solidFill>
                            <a:srgbClr val="1F2A44"/>
                          </a:solidFill>
                          <a:latin typeface="Calibri"/>
                        </a:rPr>
                        <a:t>(44,766 folders) · audio · 2024</a:t>
                      </a:r>
                    </a:p>
                  </a:txBody>
                  <a:tcPr marL="54864" marR="54864" marT="27432" marB="27432">
                    <a:solidFill>
                      <a:srgbClr val="FFFFFF"/>
                    </a:solidFill>
                  </a:tcPr>
                </a:tc>
                <a:tc>
                  <a:txBody>
                    <a:bodyPr wrap="square"/>
                    <a:lstStyle/>
                    <a:p>
                      <a:pPr algn="r"/>
                      <a:r>
                        <a:rPr sz="1100" b="0">
                          <a:solidFill>
                            <a:srgbClr val="1F2A44"/>
                          </a:solidFill>
                          <a:latin typeface="Courier New"/>
                        </a:rPr>
                        <a:t>28,882</a:t>
                      </a:r>
                    </a:p>
                  </a:txBody>
                  <a:tcPr marL="54864" marR="54864" marT="27432" marB="27432">
                    <a:solidFill>
                      <a:srgbClr val="FFFFFF"/>
                    </a:solidFill>
                  </a:tcPr>
                </a:tc>
                <a:tc>
                  <a:txBody>
                    <a:bodyPr wrap="square"/>
                    <a:lstStyle/>
                    <a:p>
                      <a:pPr algn="r"/>
                      <a:r>
                        <a:rPr sz="1100" b="0">
                          <a:solidFill>
                            <a:srgbClr val="1F2A44"/>
                          </a:solidFill>
                          <a:latin typeface="Courier New"/>
                        </a:rPr>
                        <a:t>5,700.2</a:t>
                      </a:r>
                    </a:p>
                  </a:txBody>
                  <a:tcPr marL="54864" marR="54864" marT="27432" marB="27432">
                    <a:solidFill>
                      <a:srgbClr val="FFFFFF"/>
                    </a:solidFill>
                  </a:tcPr>
                </a:tc>
                <a:tc>
                  <a:txBody>
                    <a:bodyPr wrap="square"/>
                    <a:lstStyle/>
                    <a:p>
                      <a:pPr algn="r"/>
                      <a:r>
                        <a:rPr sz="1100" b="0">
                          <a:solidFill>
                            <a:srgbClr val="1F2A44"/>
                          </a:solidFill>
                          <a:latin typeface="Courier New"/>
                        </a:rPr>
                        <a:t>4,509.4 (4,377.4–4,641.4)</a:t>
                      </a:r>
                    </a:p>
                  </a:txBody>
                  <a:tcPr marL="54864" marR="54864" marT="27432" marB="27432">
                    <a:solidFill>
                      <a:srgbClr val="FFFFFF"/>
                    </a:solidFill>
                  </a:tcPr>
                </a:tc>
                <a:tc>
                  <a:txBody>
                    <a:bodyPr wrap="square"/>
                    <a:lstStyle/>
                    <a:p>
                      <a:pPr algn="r"/>
                      <a:r>
                        <a:rPr sz="1100" b="0">
                          <a:solidFill>
                            <a:srgbClr val="1F2A44"/>
                          </a:solidFill>
                          <a:latin typeface="Courier New"/>
                        </a:rPr>
                        <a:t>Wanga (Luhya) 1,089 h; Gikuyu (Kikuyu) 1,032 h; Kiswahili 617 h</a:t>
                      </a:r>
                    </a:p>
                  </a:txBody>
                  <a:tcPr marL="54864" marR="54864" marT="27432" marB="27432">
                    <a:solidFill>
                      <a:srgbClr val="FFFFFF"/>
                    </a:solidFill>
                  </a:tcPr>
                </a:tc>
                <a:tc>
                  <a:txBody>
                    <a:bodyPr wrap="square"/>
                    <a:lstStyle/>
                    <a:p>
                      <a:pPr algn="r"/>
                      <a:r>
                        <a:rPr sz="1100" b="0">
                          <a:solidFill>
                            <a:srgbClr val="1F2A44"/>
                          </a:solidFill>
                          <a:latin typeface="Courier New"/>
                        </a:rPr>
                        <a:t>600 / 600</a:t>
                      </a:r>
                    </a:p>
                  </a:txBody>
                  <a:tcPr marL="54864" marR="54864" marT="27432" marB="27432">
                    <a:solidFill>
                      <a:srgbClr val="FFFFFF"/>
                    </a:solidFill>
                  </a:tcPr>
                </a:tc>
              </a:tr>
              <a:tr h="301752">
                <a:tc>
                  <a:txBody>
                    <a:bodyPr wrap="square"/>
                    <a:lstStyle/>
                    <a:p>
                      <a:pPr algn="l"/>
                      <a:r>
                        <a:rPr sz="1100" b="0">
                          <a:solidFill>
                            <a:srgbClr val="1F2A44"/>
                          </a:solidFill>
                          <a:latin typeface="Calibri"/>
                        </a:rPr>
                        <a:t>(125 folders) · video · 2024</a:t>
                      </a:r>
                    </a:p>
                  </a:txBody>
                  <a:tcPr marL="54864" marR="54864" marT="27432" marB="27432">
                    <a:solidFill>
                      <a:srgbClr val="FFFFFF"/>
                    </a:solidFill>
                  </a:tcPr>
                </a:tc>
                <a:tc>
                  <a:txBody>
                    <a:bodyPr wrap="square"/>
                    <a:lstStyle/>
                    <a:p>
                      <a:pPr algn="r"/>
                      <a:r>
                        <a:rPr sz="1100" b="0">
                          <a:solidFill>
                            <a:srgbClr val="1F2A44"/>
                          </a:solidFill>
                          <a:latin typeface="Courier New"/>
                        </a:rPr>
                        <a:t>146,617</a:t>
                      </a:r>
                    </a:p>
                  </a:txBody>
                  <a:tcPr marL="54864" marR="54864" marT="27432" marB="27432">
                    <a:solidFill>
                      <a:srgbClr val="FFFFFF"/>
                    </a:solidFill>
                  </a:tcPr>
                </a:tc>
                <a:tc>
                  <a:txBody>
                    <a:bodyPr wrap="square"/>
                    <a:lstStyle/>
                    <a:p>
                      <a:pPr algn="r"/>
                      <a:r>
                        <a:rPr sz="1100" b="0">
                          <a:solidFill>
                            <a:srgbClr val="1F2A44"/>
                          </a:solidFill>
                          <a:latin typeface="Courier New"/>
                        </a:rPr>
                        <a:t>12,351.0</a:t>
                      </a:r>
                    </a:p>
                  </a:txBody>
                  <a:tcPr marL="54864" marR="54864" marT="27432" marB="27432">
                    <a:solidFill>
                      <a:srgbClr val="FFFFFF"/>
                    </a:solidFill>
                  </a:tcPr>
                </a:tc>
                <a:tc>
                  <a:txBody>
                    <a:bodyPr wrap="square"/>
                    <a:lstStyle/>
                    <a:p>
                      <a:pPr algn="r"/>
                      <a:r>
                        <a:rPr sz="1100" b="0">
                          <a:solidFill>
                            <a:srgbClr val="1F2A44"/>
                          </a:solidFill>
                          <a:latin typeface="Courier New"/>
                        </a:rPr>
                        <a:t>1,841.1 (1,557.5–2,124.6)</a:t>
                      </a:r>
                    </a:p>
                  </a:txBody>
                  <a:tcPr marL="54864" marR="54864" marT="27432" marB="27432">
                    <a:solidFill>
                      <a:srgbClr val="FFFFFF"/>
                    </a:solidFill>
                  </a:tcPr>
                </a:tc>
                <a:tc>
                  <a:txBody>
                    <a:bodyPr wrap="square"/>
                    <a:lstStyle/>
                    <a:p>
                      <a:pPr algn="r"/>
                      <a:r>
                        <a:rPr sz="1100" b="0">
                          <a:solidFill>
                            <a:srgbClr val="1F2A44"/>
                          </a:solidFill>
                          <a:latin typeface="Courier New"/>
                        </a:rPr>
                        <a:t>Kiswahili 353 h; Gikuyu (Kikuyu) 311 h; Kalenjin 239 h</a:t>
                      </a:r>
                    </a:p>
                  </a:txBody>
                  <a:tcPr marL="54864" marR="54864" marT="27432" marB="27432">
                    <a:solidFill>
                      <a:srgbClr val="FFFFFF"/>
                    </a:solidFill>
                  </a:tcPr>
                </a:tc>
                <a:tc>
                  <a:txBody>
                    <a:bodyPr wrap="square"/>
                    <a:lstStyle/>
                    <a:p>
                      <a:pPr algn="r"/>
                      <a:r>
                        <a:rPr sz="1100" b="0">
                          <a:solidFill>
                            <a:srgbClr val="1F2A44"/>
                          </a:solidFill>
                          <a:latin typeface="Courier New"/>
                        </a:rPr>
                        <a:t>600 / 600</a:t>
                      </a:r>
                    </a:p>
                  </a:txBody>
                  <a:tcPr marL="54864" marR="54864" marT="27432" marB="27432">
                    <a:solidFill>
                      <a:srgbClr val="FFFFFF"/>
                    </a:solidFill>
                  </a:tcPr>
                </a:tc>
              </a:tr>
              <a:tr h="301752">
                <a:tc>
                  <a:txBody>
                    <a:bodyPr wrap="square"/>
                    <a:lstStyle/>
                    <a:p>
                      <a:pPr algn="l"/>
                      <a:r>
                        <a:rPr sz="1100" b="0">
                          <a:solidFill>
                            <a:srgbClr val="1F2A44"/>
                          </a:solidFill>
                          <a:latin typeface="Calibri"/>
                        </a:rPr>
                        <a:t>Channel13 · 2026 · audio</a:t>
                      </a:r>
                    </a:p>
                  </a:txBody>
                  <a:tcPr marL="54864" marR="54864" marT="27432" marB="27432">
                    <a:solidFill>
                      <a:srgbClr val="FFFFFF"/>
                    </a:solidFill>
                  </a:tcPr>
                </a:tc>
                <a:tc>
                  <a:txBody>
                    <a:bodyPr wrap="square"/>
                    <a:lstStyle/>
                    <a:p>
                      <a:pPr algn="r"/>
                      <a:r>
                        <a:rPr sz="1100" b="0">
                          <a:solidFill>
                            <a:srgbClr val="1F2A44"/>
                          </a:solidFill>
                          <a:latin typeface="Courier New"/>
                        </a:rPr>
                        <a:t>15,657</a:t>
                      </a:r>
                    </a:p>
                  </a:txBody>
                  <a:tcPr marL="54864" marR="54864" marT="27432" marB="27432">
                    <a:solidFill>
                      <a:srgbClr val="FFFFFF"/>
                    </a:solidFill>
                  </a:tcPr>
                </a:tc>
                <a:tc>
                  <a:txBody>
                    <a:bodyPr wrap="square"/>
                    <a:lstStyle/>
                    <a:p>
                      <a:pPr algn="r"/>
                      <a:r>
                        <a:rPr sz="1100" b="0">
                          <a:solidFill>
                            <a:srgbClr val="1F2A44"/>
                          </a:solidFill>
                          <a:latin typeface="Courier New"/>
                        </a:rPr>
                        <a:t>2,608.5</a:t>
                      </a:r>
                    </a:p>
                  </a:txBody>
                  <a:tcPr marL="54864" marR="54864" marT="27432" marB="27432">
                    <a:solidFill>
                      <a:srgbClr val="FFFFFF"/>
                    </a:solidFill>
                  </a:tcPr>
                </a:tc>
                <a:tc>
                  <a:txBody>
                    <a:bodyPr wrap="square"/>
                    <a:lstStyle/>
                    <a:p>
                      <a:pPr algn="r"/>
                      <a:r>
                        <a:rPr sz="1100" b="0">
                          <a:solidFill>
                            <a:srgbClr val="1F2A44"/>
                          </a:solidFill>
                          <a:latin typeface="Courier New"/>
                        </a:rPr>
                        <a:t>1,819.9 (1,571.6–2,068.3)</a:t>
                      </a:r>
                    </a:p>
                  </a:txBody>
                  <a:tcPr marL="54864" marR="54864" marT="27432" marB="27432">
                    <a:solidFill>
                      <a:srgbClr val="FFFFFF"/>
                    </a:solidFill>
                  </a:tcPr>
                </a:tc>
                <a:tc>
                  <a:txBody>
                    <a:bodyPr wrap="square"/>
                    <a:lstStyle/>
                    <a:p>
                      <a:pPr algn="r"/>
                      <a:r>
                        <a:rPr sz="1100" b="0">
                          <a:solidFill>
                            <a:srgbClr val="1F2A44"/>
                          </a:solidFill>
                          <a:latin typeface="Courier New"/>
                        </a:rPr>
                        <a:t>Kiswahili 773 h; Kikamba (Kamba) 403 h; Dholuo (Luo) 136 h</a:t>
                      </a:r>
                    </a:p>
                  </a:txBody>
                  <a:tcPr marL="54864" marR="54864" marT="27432" marB="27432">
                    <a:solidFill>
                      <a:srgbClr val="FFFFFF"/>
                    </a:solidFill>
                  </a:tcPr>
                </a:tc>
                <a:tc>
                  <a:txBody>
                    <a:bodyPr wrap="square"/>
                    <a:lstStyle/>
                    <a:p>
                      <a:pPr algn="r"/>
                      <a:r>
                        <a:rPr sz="1100" b="0">
                          <a:solidFill>
                            <a:srgbClr val="1F2A44"/>
                          </a:solidFill>
                          <a:latin typeface="Courier New"/>
                        </a:rPr>
                        <a:t>30 / 30</a:t>
                      </a:r>
                    </a:p>
                  </a:txBody>
                  <a:tcPr marL="54864" marR="54864" marT="27432" marB="27432">
                    <a:solidFill>
                      <a:srgbClr val="FFFFFF"/>
                    </a:solidFill>
                  </a:tcPr>
                </a:tc>
              </a:tr>
              <a:tr h="301752">
                <a:tc>
                  <a:txBody>
                    <a:bodyPr wrap="square"/>
                    <a:lstStyle/>
                    <a:p>
                      <a:pPr algn="l"/>
                      <a:r>
                        <a:rPr sz="1100" b="0">
                          <a:solidFill>
                            <a:srgbClr val="1F2A44"/>
                          </a:solidFill>
                          <a:latin typeface="Calibri"/>
                        </a:rPr>
                        <a:t>public · 2026 · audio</a:t>
                      </a:r>
                    </a:p>
                  </a:txBody>
                  <a:tcPr marL="54864" marR="54864" marT="27432" marB="27432">
                    <a:solidFill>
                      <a:srgbClr val="FFFFFF"/>
                    </a:solidFill>
                  </a:tcPr>
                </a:tc>
                <a:tc>
                  <a:txBody>
                    <a:bodyPr wrap="square"/>
                    <a:lstStyle/>
                    <a:p>
                      <a:pPr algn="r"/>
                      <a:r>
                        <a:rPr sz="1100" b="0">
                          <a:solidFill>
                            <a:srgbClr val="1F2A44"/>
                          </a:solidFill>
                          <a:latin typeface="Courier New"/>
                        </a:rPr>
                        <a:t>63,769</a:t>
                      </a:r>
                    </a:p>
                  </a:txBody>
                  <a:tcPr marL="54864" marR="54864" marT="27432" marB="27432">
                    <a:solidFill>
                      <a:srgbClr val="FFFFFF"/>
                    </a:solidFill>
                  </a:tcPr>
                </a:tc>
                <a:tc>
                  <a:txBody>
                    <a:bodyPr wrap="square"/>
                    <a:lstStyle/>
                    <a:p>
                      <a:pPr algn="r"/>
                      <a:r>
                        <a:rPr sz="1100" b="0">
                          <a:solidFill>
                            <a:srgbClr val="1F2A44"/>
                          </a:solidFill>
                          <a:latin typeface="Courier New"/>
                        </a:rPr>
                        <a:t>1,302.0</a:t>
                      </a:r>
                    </a:p>
                  </a:txBody>
                  <a:tcPr marL="54864" marR="54864" marT="27432" marB="27432">
                    <a:solidFill>
                      <a:srgbClr val="FFFFFF"/>
                    </a:solidFill>
                  </a:tcPr>
                </a:tc>
                <a:tc>
                  <a:txBody>
                    <a:bodyPr wrap="square"/>
                    <a:lstStyle/>
                    <a:p>
                      <a:pPr algn="r"/>
                      <a:r>
                        <a:rPr sz="1100" b="0">
                          <a:solidFill>
                            <a:srgbClr val="1F2A44"/>
                          </a:solidFill>
                          <a:latin typeface="Courier New"/>
                        </a:rPr>
                        <a:t>1,108.8 (1,084.3–1,133.3)</a:t>
                      </a:r>
                    </a:p>
                  </a:txBody>
                  <a:tcPr marL="54864" marR="54864" marT="27432" marB="27432">
                    <a:solidFill>
                      <a:srgbClr val="FFFFFF"/>
                    </a:solidFill>
                  </a:tcPr>
                </a:tc>
                <a:tc>
                  <a:txBody>
                    <a:bodyPr wrap="square"/>
                    <a:lstStyle/>
                    <a:p>
                      <a:pPr algn="r"/>
                      <a:r>
                        <a:rPr sz="1100" b="0">
                          <a:solidFill>
                            <a:srgbClr val="1F2A44"/>
                          </a:solidFill>
                          <a:latin typeface="Courier New"/>
                        </a:rPr>
                        <a:t>Gikuyu (Kikuyu) 282 h; Kiswahili 270 h; Wanga (Luhya) 103 h</a:t>
                      </a:r>
                    </a:p>
                  </a:txBody>
                  <a:tcPr marL="54864" marR="54864" marT="27432" marB="27432">
                    <a:solidFill>
                      <a:srgbClr val="FFFFFF"/>
                    </a:solidFill>
                  </a:tcPr>
                </a:tc>
                <a:tc>
                  <a:txBody>
                    <a:bodyPr wrap="square"/>
                    <a:lstStyle/>
                    <a:p>
                      <a:pPr algn="r"/>
                      <a:r>
                        <a:rPr sz="1100" b="0">
                          <a:solidFill>
                            <a:srgbClr val="1F2A44"/>
                          </a:solidFill>
                          <a:latin typeface="Courier New"/>
                        </a:rPr>
                        <a:t>600 / 600</a:t>
                      </a:r>
                    </a:p>
                  </a:txBody>
                  <a:tcPr marL="54864" marR="54864" marT="27432" marB="27432">
                    <a:solidFill>
                      <a:srgbClr val="FFFFFF"/>
                    </a:solidFill>
                  </a:tcPr>
                </a:tc>
              </a:tr>
              <a:tr h="301752">
                <a:tc>
                  <a:txBody>
                    <a:bodyPr wrap="square"/>
                    <a:lstStyle/>
                    <a:p>
                      <a:pPr algn="l"/>
                      <a:r>
                        <a:rPr sz="1100" b="0">
                          <a:solidFill>
                            <a:srgbClr val="1F2A44"/>
                          </a:solidFill>
                          <a:latin typeface="Calibri"/>
                        </a:rPr>
                        <a:t>rmsradio/podcasts/uploads/podcasts · video</a:t>
                      </a:r>
                    </a:p>
                  </a:txBody>
                  <a:tcPr marL="54864" marR="54864" marT="27432" marB="27432">
                    <a:solidFill>
                      <a:srgbClr val="FFFFFF"/>
                    </a:solidFill>
                  </a:tcPr>
                </a:tc>
                <a:tc>
                  <a:txBody>
                    <a:bodyPr wrap="square"/>
                    <a:lstStyle/>
                    <a:p>
                      <a:pPr algn="r"/>
                      <a:r>
                        <a:rPr sz="1100" b="0">
                          <a:solidFill>
                            <a:srgbClr val="1F2A44"/>
                          </a:solidFill>
                          <a:latin typeface="Courier New"/>
                        </a:rPr>
                        <a:t>13,397</a:t>
                      </a:r>
                    </a:p>
                  </a:txBody>
                  <a:tcPr marL="54864" marR="54864" marT="27432" marB="27432">
                    <a:solidFill>
                      <a:srgbClr val="FFFFFF"/>
                    </a:solidFill>
                  </a:tcPr>
                </a:tc>
                <a:tc>
                  <a:txBody>
                    <a:bodyPr wrap="square"/>
                    <a:lstStyle/>
                    <a:p>
                      <a:pPr algn="r"/>
                      <a:r>
                        <a:rPr sz="1100" b="0">
                          <a:solidFill>
                            <a:srgbClr val="1F2A44"/>
                          </a:solidFill>
                          <a:latin typeface="Courier New"/>
                        </a:rPr>
                        <a:t>765.7</a:t>
                      </a:r>
                    </a:p>
                  </a:txBody>
                  <a:tcPr marL="54864" marR="54864" marT="27432" marB="27432">
                    <a:solidFill>
                      <a:srgbClr val="FFFFFF"/>
                    </a:solidFill>
                  </a:tcPr>
                </a:tc>
                <a:tc>
                  <a:txBody>
                    <a:bodyPr wrap="square"/>
                    <a:lstStyle/>
                    <a:p>
                      <a:pPr algn="r"/>
                      <a:r>
                        <a:rPr sz="1100" b="0">
                          <a:solidFill>
                            <a:srgbClr val="1F2A44"/>
                          </a:solidFill>
                          <a:latin typeface="Courier New"/>
                        </a:rPr>
                        <a:t>772.0 (708.3–835.7)</a:t>
                      </a:r>
                    </a:p>
                  </a:txBody>
                  <a:tcPr marL="54864" marR="54864" marT="27432" marB="27432">
                    <a:solidFill>
                      <a:srgbClr val="FFFFFF"/>
                    </a:solidFill>
                  </a:tcPr>
                </a:tc>
                <a:tc>
                  <a:txBody>
                    <a:bodyPr wrap="square"/>
                    <a:lstStyle/>
                    <a:p>
                      <a:pPr algn="r"/>
                      <a:r>
                        <a:rPr sz="1100" b="0">
                          <a:solidFill>
                            <a:srgbClr val="1F2A44"/>
                          </a:solidFill>
                          <a:latin typeface="Courier New"/>
                        </a:rPr>
                        <a:t>Kiswahili 223 h; Gikuyu (Kikuyu) 118 h; Ekegusii (Kisii) 69 h</a:t>
                      </a:r>
                    </a:p>
                  </a:txBody>
                  <a:tcPr marL="54864" marR="54864" marT="27432" marB="27432">
                    <a:solidFill>
                      <a:srgbClr val="FFFFFF"/>
                    </a:solidFill>
                  </a:tcPr>
                </a:tc>
                <a:tc>
                  <a:txBody>
                    <a:bodyPr wrap="square"/>
                    <a:lstStyle/>
                    <a:p>
                      <a:pPr algn="r"/>
                      <a:r>
                        <a:rPr sz="1100" b="0">
                          <a:solidFill>
                            <a:srgbClr val="1F2A44"/>
                          </a:solidFill>
                          <a:latin typeface="Courier New"/>
                        </a:rPr>
                        <a:t>1,199 / 1,200</a:t>
                      </a:r>
                    </a:p>
                  </a:txBody>
                  <a:tcPr marL="54864" marR="54864" marT="27432" marB="27432">
                    <a:solidFill>
                      <a:srgbClr val="FFFFFF"/>
                    </a:solidFill>
                  </a:tcPr>
                </a:tc>
              </a:tr>
              <a:tr h="301752">
                <a:tc>
                  <a:txBody>
                    <a:bodyPr wrap="square"/>
                    <a:lstStyle/>
                    <a:p>
                      <a:pPr algn="l"/>
                      <a:r>
                        <a:rPr sz="1100" b="0">
                          <a:solidFill>
                            <a:srgbClr val="1F2A44"/>
                          </a:solidFill>
                          <a:latin typeface="Calibri"/>
                        </a:rPr>
                        <a:t>uploads · 2024 · audio</a:t>
                      </a:r>
                    </a:p>
                  </a:txBody>
                  <a:tcPr marL="54864" marR="54864" marT="27432" marB="27432">
                    <a:solidFill>
                      <a:srgbClr val="FFFFFF"/>
                    </a:solidFill>
                  </a:tcPr>
                </a:tc>
                <a:tc>
                  <a:txBody>
                    <a:bodyPr wrap="square"/>
                    <a:lstStyle/>
                    <a:p>
                      <a:pPr algn="r"/>
                      <a:r>
                        <a:rPr sz="1100" b="0">
                          <a:solidFill>
                            <a:srgbClr val="1F2A44"/>
                          </a:solidFill>
                          <a:latin typeface="Courier New"/>
                        </a:rPr>
                        <a:t>8,745</a:t>
                      </a:r>
                    </a:p>
                  </a:txBody>
                  <a:tcPr marL="54864" marR="54864" marT="27432" marB="27432">
                    <a:solidFill>
                      <a:srgbClr val="FFFFFF"/>
                    </a:solidFill>
                  </a:tcPr>
                </a:tc>
                <a:tc>
                  <a:txBody>
                    <a:bodyPr wrap="square"/>
                    <a:lstStyle/>
                    <a:p>
                      <a:pPr algn="r"/>
                      <a:r>
                        <a:rPr sz="1100" b="0">
                          <a:solidFill>
                            <a:srgbClr val="1F2A44"/>
                          </a:solidFill>
                          <a:latin typeface="Courier New"/>
                        </a:rPr>
                        <a:t>244.0</a:t>
                      </a:r>
                    </a:p>
                  </a:txBody>
                  <a:tcPr marL="54864" marR="54864" marT="27432" marB="27432">
                    <a:solidFill>
                      <a:srgbClr val="FFFFFF"/>
                    </a:solidFill>
                  </a:tcPr>
                </a:tc>
                <a:tc>
                  <a:txBody>
                    <a:bodyPr wrap="square"/>
                    <a:lstStyle/>
                    <a:p>
                      <a:pPr algn="r"/>
                      <a:r>
                        <a:rPr sz="1100" b="0">
                          <a:solidFill>
                            <a:srgbClr val="1F2A44"/>
                          </a:solidFill>
                          <a:latin typeface="Courier New"/>
                        </a:rPr>
                        <a:t>183.2 (173.2–193.2)</a:t>
                      </a:r>
                    </a:p>
                  </a:txBody>
                  <a:tcPr marL="54864" marR="54864" marT="27432" marB="27432">
                    <a:solidFill>
                      <a:srgbClr val="FFFFFF"/>
                    </a:solidFill>
                  </a:tcPr>
                </a:tc>
                <a:tc>
                  <a:txBody>
                    <a:bodyPr wrap="square"/>
                    <a:lstStyle/>
                    <a:p>
                      <a:pPr algn="r"/>
                      <a:r>
                        <a:rPr sz="1100" b="0">
                          <a:solidFill>
                            <a:srgbClr val="1F2A44"/>
                          </a:solidFill>
                          <a:latin typeface="Courier New"/>
                        </a:rPr>
                        <a:t>Gikuyu (Kikuyu) 53 h; Kiswahili 39 h; Wanga (Luhya) 19 h</a:t>
                      </a:r>
                    </a:p>
                  </a:txBody>
                  <a:tcPr marL="54864" marR="54864" marT="27432" marB="27432">
                    <a:solidFill>
                      <a:srgbClr val="FFFFFF"/>
                    </a:solidFill>
                  </a:tcPr>
                </a:tc>
                <a:tc>
                  <a:txBody>
                    <a:bodyPr wrap="square"/>
                    <a:lstStyle/>
                    <a:p>
                      <a:pPr algn="r"/>
                      <a:r>
                        <a:rPr sz="1100" b="0">
                          <a:solidFill>
                            <a:srgbClr val="1F2A44"/>
                          </a:solidFill>
                          <a:latin typeface="Courier New"/>
                        </a:rPr>
                        <a:t>678 / 678</a:t>
                      </a:r>
                    </a:p>
                  </a:txBody>
                  <a:tcPr marL="54864" marR="54864" marT="27432" marB="27432">
                    <a:solidFill>
                      <a:srgbClr val="FFFFFF"/>
                    </a:solidFill>
                  </a:tcPr>
                </a:tc>
              </a:tr>
              <a:tr h="301752">
                <a:tc>
                  <a:txBody>
                    <a:bodyPr wrap="square"/>
                    <a:lstStyle/>
                    <a:p>
                      <a:pPr algn="l"/>
                      <a:r>
                        <a:rPr sz="1100" b="0">
                          <a:solidFill>
                            <a:srgbClr val="1F2A44"/>
                          </a:solidFill>
                          <a:latin typeface="Calibri"/>
                        </a:rPr>
                        <a:t>(44,766 folders) · video · 2024</a:t>
                      </a:r>
                    </a:p>
                  </a:txBody>
                  <a:tcPr marL="54864" marR="54864" marT="27432" marB="27432">
                    <a:solidFill>
                      <a:srgbClr val="FFFFFF"/>
                    </a:solidFill>
                  </a:tcPr>
                </a:tc>
                <a:tc>
                  <a:txBody>
                    <a:bodyPr wrap="square"/>
                    <a:lstStyle/>
                    <a:p>
                      <a:pPr algn="r"/>
                      <a:r>
                        <a:rPr sz="1100" b="0">
                          <a:solidFill>
                            <a:srgbClr val="1F2A44"/>
                          </a:solidFill>
                          <a:latin typeface="Courier New"/>
                        </a:rPr>
                        <a:t>14,230</a:t>
                      </a:r>
                    </a:p>
                  </a:txBody>
                  <a:tcPr marL="54864" marR="54864" marT="27432" marB="27432">
                    <a:solidFill>
                      <a:srgbClr val="FFFFFF"/>
                    </a:solidFill>
                  </a:tcPr>
                </a:tc>
                <a:tc>
                  <a:txBody>
                    <a:bodyPr wrap="square"/>
                    <a:lstStyle/>
                    <a:p>
                      <a:pPr algn="r"/>
                      <a:r>
                        <a:rPr sz="1100" b="0">
                          <a:solidFill>
                            <a:srgbClr val="1F2A44"/>
                          </a:solidFill>
                          <a:latin typeface="Courier New"/>
                        </a:rPr>
                        <a:t>212.4</a:t>
                      </a:r>
                    </a:p>
                  </a:txBody>
                  <a:tcPr marL="54864" marR="54864" marT="27432" marB="27432">
                    <a:solidFill>
                      <a:srgbClr val="FFFFFF"/>
                    </a:solidFill>
                  </a:tcPr>
                </a:tc>
                <a:tc>
                  <a:txBody>
                    <a:bodyPr wrap="square"/>
                    <a:lstStyle/>
                    <a:p>
                      <a:pPr algn="r"/>
                      <a:r>
                        <a:rPr sz="1100" b="0">
                          <a:solidFill>
                            <a:srgbClr val="1F2A44"/>
                          </a:solidFill>
                          <a:latin typeface="Courier New"/>
                        </a:rPr>
                        <a:t>134.2 (117.3–151.2)</a:t>
                      </a:r>
                    </a:p>
                  </a:txBody>
                  <a:tcPr marL="54864" marR="54864" marT="27432" marB="27432">
                    <a:solidFill>
                      <a:srgbClr val="FFFFFF"/>
                    </a:solidFill>
                  </a:tcPr>
                </a:tc>
                <a:tc>
                  <a:txBody>
                    <a:bodyPr wrap="square"/>
                    <a:lstStyle/>
                    <a:p>
                      <a:pPr algn="r"/>
                      <a:r>
                        <a:rPr sz="1100" b="0">
                          <a:solidFill>
                            <a:srgbClr val="1F2A44"/>
                          </a:solidFill>
                          <a:latin typeface="Courier New"/>
                        </a:rPr>
                        <a:t>Dholuo (Luo) 24 h; Kiswahili 19 h; Gikuyu (Kikuyu) 18 h</a:t>
                      </a:r>
                    </a:p>
                  </a:txBody>
                  <a:tcPr marL="54864" marR="54864" marT="27432" marB="27432">
                    <a:solidFill>
                      <a:srgbClr val="FFFFFF"/>
                    </a:solidFill>
                  </a:tcPr>
                </a:tc>
                <a:tc>
                  <a:txBody>
                    <a:bodyPr wrap="square"/>
                    <a:lstStyle/>
                    <a:p>
                      <a:pPr algn="r"/>
                      <a:r>
                        <a:rPr sz="1100" b="0">
                          <a:solidFill>
                            <a:srgbClr val="1F2A44"/>
                          </a:solidFill>
                          <a:latin typeface="Courier New"/>
                        </a:rPr>
                        <a:t>586 / 590</a:t>
                      </a:r>
                    </a:p>
                  </a:txBody>
                  <a:tcPr marL="54864" marR="54864" marT="27432" marB="27432">
                    <a:solidFill>
                      <a:srgbClr val="FFFFFF"/>
                    </a:solidFill>
                  </a:tcPr>
                </a:tc>
              </a:tr>
              <a:tr h="301752">
                <a:tc>
                  <a:txBody>
                    <a:bodyPr wrap="square"/>
                    <a:lstStyle/>
                    <a:p>
                      <a:pPr algn="l"/>
                      <a:r>
                        <a:rPr sz="1100" b="0">
                          <a:solidFill>
                            <a:srgbClr val="1F2A44"/>
                          </a:solidFill>
                          <a:latin typeface="Calibri"/>
                        </a:rPr>
                        <a:t>CHAMGEI/MAIN/AUDIO O/Audio</a:t>
                      </a:r>
                    </a:p>
                  </a:txBody>
                  <a:tcPr marL="54864" marR="54864" marT="27432" marB="27432">
                    <a:solidFill>
                      <a:srgbClr val="FFFFFF"/>
                    </a:solidFill>
                  </a:tcPr>
                </a:tc>
                <a:tc>
                  <a:txBody>
                    <a:bodyPr wrap="square"/>
                    <a:lstStyle/>
                    <a:p>
                      <a:pPr algn="r"/>
                      <a:r>
                        <a:rPr sz="1100" b="0">
                          <a:solidFill>
                            <a:srgbClr val="1F2A44"/>
                          </a:solidFill>
                          <a:latin typeface="Courier New"/>
                        </a:rPr>
                        <a:t>12,523</a:t>
                      </a:r>
                    </a:p>
                  </a:txBody>
                  <a:tcPr marL="54864" marR="54864" marT="27432" marB="27432">
                    <a:solidFill>
                      <a:srgbClr val="FFFFFF"/>
                    </a:solidFill>
                  </a:tcPr>
                </a:tc>
                <a:tc>
                  <a:txBody>
                    <a:bodyPr wrap="square"/>
                    <a:lstStyle/>
                    <a:p>
                      <a:pPr algn="r"/>
                      <a:r>
                        <a:rPr sz="1100" b="0">
                          <a:solidFill>
                            <a:srgbClr val="1F2A44"/>
                          </a:solidFill>
                          <a:latin typeface="Courier New"/>
                        </a:rPr>
                        <a:t>1,116.1</a:t>
                      </a:r>
                    </a:p>
                  </a:txBody>
                  <a:tcPr marL="54864" marR="54864" marT="27432" marB="27432">
                    <a:solidFill>
                      <a:srgbClr val="FFFFFF"/>
                    </a:solidFill>
                  </a:tcPr>
                </a:tc>
                <a:tc>
                  <a:txBody>
                    <a:bodyPr wrap="square"/>
                    <a:lstStyle/>
                    <a:p>
                      <a:pPr algn="r"/>
                      <a:r>
                        <a:rPr sz="1100" b="0">
                          <a:solidFill>
                            <a:srgbClr val="1F2A44"/>
                          </a:solidFill>
                          <a:latin typeface="Courier New"/>
                        </a:rPr>
                        <a:t>120.8 (105.2–136.4)</a:t>
                      </a:r>
                    </a:p>
                  </a:txBody>
                  <a:tcPr marL="54864" marR="54864" marT="27432" marB="27432">
                    <a:solidFill>
                      <a:srgbClr val="FFFFFF"/>
                    </a:solidFill>
                  </a:tcPr>
                </a:tc>
                <a:tc>
                  <a:txBody>
                    <a:bodyPr wrap="square"/>
                    <a:lstStyle/>
                    <a:p>
                      <a:pPr algn="r"/>
                      <a:r>
                        <a:rPr sz="1100" b="0">
                          <a:solidFill>
                            <a:srgbClr val="1F2A44"/>
                          </a:solidFill>
                          <a:latin typeface="Courier New"/>
                        </a:rPr>
                        <a:t>Kalenjin 21 h; Gikuyu (Kikuyu) 21 h; Dholuo (Luo) 17 h</a:t>
                      </a:r>
                    </a:p>
                  </a:txBody>
                  <a:tcPr marL="54864" marR="54864" marT="27432" marB="27432">
                    <a:solidFill>
                      <a:srgbClr val="FFFFFF"/>
                    </a:solidFill>
                  </a:tcPr>
                </a:tc>
                <a:tc>
                  <a:txBody>
                    <a:bodyPr wrap="square"/>
                    <a:lstStyle/>
                    <a:p>
                      <a:pPr algn="r"/>
                      <a:r>
                        <a:rPr sz="1100" b="0">
                          <a:solidFill>
                            <a:srgbClr val="1F2A44"/>
                          </a:solidFill>
                          <a:latin typeface="Courier New"/>
                        </a:rPr>
                        <a:t>600 / 600</a:t>
                      </a:r>
                    </a:p>
                  </a:txBody>
                  <a:tcPr marL="54864" marR="54864" marT="27432" marB="2743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C8102E"/>
                </a:solidFill>
                <a:latin typeface="Calibri"/>
              </a:rPr>
              <a:t>One row per folder stratum with reads, ranked by estimated speech hours.</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[estimated]  Receipt R10: Interim tiered content census (content_sample); snapshots OBS 2026-10-03T01:40:08.564624+00:00; NAS 2026-10-03T01:38:24.195696+00:00; receipts cr-81526aa143aa, cr-8640b1cbcbc6, cr-aa33fffba60e, cr-bbf71c8d905a, cr-cf4eef79995b, cr-f1415e395361 on akki-vm and akki-vm-ii. Resumable listing, header probes of accessible audio and a per-folder video sample (ranged reads → ffprobe), with unprobed durations extrapolated where possible; a seeded stratified sample of files per folder read byte for byte, verified against the listing and judged on every two-second window by the admitted music detector and the current audio language model; ratio estimators with finite-population correction give the 95 % intervals. Listing, probing and sampling are incomplete. Model readings, not human labels; intervals exclude model error and inaccessible or unsampled content.</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51</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EVIDENCE BY NAME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Folders sampled — hours held, speech, music and languages with 95 % intervals (ranked by estimated speech hours)</a:t>
            </a:r>
          </a:p>
        </p:txBody>
      </p:sp>
      <p:graphicFrame>
        <p:nvGraphicFramePr>
          <p:cNvPr id="4" name="Table 3"/>
          <p:cNvGraphicFramePr>
            <a:graphicFrameLocks noGrp="1"/>
          </p:cNvGraphicFramePr>
          <p:nvPr/>
        </p:nvGraphicFramePr>
        <p:xfrm>
          <a:off x="594360" y="1920240"/>
          <a:ext cx="11002972" cy="3017520"/>
        </p:xfrm>
        <a:graphic>
          <a:graphicData uri="http://schemas.openxmlformats.org/drawingml/2006/table">
            <a:tbl>
              <a:tblPr firstRow="1" bandRow="1">
                <a:tableStyleId>{5C22544A-7EE6-4342-B048-85BDC9FD1C3A}</a:tableStyleId>
              </a:tblPr>
              <a:tblGrid>
                <a:gridCol w="2436373"/>
                <a:gridCol w="1100297"/>
                <a:gridCol w="1100297"/>
                <a:gridCol w="1493260"/>
                <a:gridCol w="3300892"/>
                <a:gridCol w="1571853"/>
              </a:tblGrid>
              <a:tr h="301752">
                <a:tc>
                  <a:txBody>
                    <a:bodyPr wrap="square"/>
                    <a:lstStyle/>
                    <a:p>
                      <a:pPr algn="l"/>
                      <a:r>
                        <a:rPr sz="1100" b="1">
                          <a:solidFill>
                            <a:srgbClr val="1F2A44"/>
                          </a:solidFill>
                          <a:latin typeface="Calibri"/>
                        </a:rPr>
                        <a:t>Folder</a:t>
                      </a:r>
                    </a:p>
                  </a:txBody>
                  <a:tcPr marL="54864" marR="54864" marT="27432" marB="27432">
                    <a:solidFill>
                      <a:srgbClr val="E9ECF1"/>
                    </a:solidFill>
                  </a:tcPr>
                </a:tc>
                <a:tc>
                  <a:txBody>
                    <a:bodyPr wrap="square"/>
                    <a:lstStyle/>
                    <a:p>
                      <a:pPr algn="l"/>
                      <a:r>
                        <a:rPr sz="1100" b="1">
                          <a:solidFill>
                            <a:srgbClr val="1F2A44"/>
                          </a:solidFill>
                          <a:latin typeface="Calibri"/>
                        </a:rPr>
                        <a:t>Files</a:t>
                      </a:r>
                    </a:p>
                  </a:txBody>
                  <a:tcPr marL="54864" marR="54864" marT="27432" marB="27432">
                    <a:solidFill>
                      <a:srgbClr val="E9ECF1"/>
                    </a:solidFill>
                  </a:tcPr>
                </a:tc>
                <a:tc>
                  <a:txBody>
                    <a:bodyPr wrap="square"/>
                    <a:lstStyle/>
                    <a:p>
                      <a:pPr algn="l"/>
                      <a:r>
                        <a:rPr sz="1100" b="1">
                          <a:solidFill>
                            <a:srgbClr val="1F2A44"/>
                          </a:solidFill>
                          <a:latin typeface="Calibri"/>
                        </a:rPr>
                        <a:t>Hours held</a:t>
                      </a:r>
                    </a:p>
                  </a:txBody>
                  <a:tcPr marL="54864" marR="54864" marT="27432" marB="27432">
                    <a:solidFill>
                      <a:srgbClr val="E9ECF1"/>
                    </a:solidFill>
                  </a:tcPr>
                </a:tc>
                <a:tc>
                  <a:txBody>
                    <a:bodyPr wrap="square"/>
                    <a:lstStyle/>
                    <a:p>
                      <a:pPr algn="l"/>
                      <a:r>
                        <a:rPr sz="1100" b="1">
                          <a:solidFill>
                            <a:srgbClr val="1F2A44"/>
                          </a:solidFill>
                          <a:latin typeface="Calibri"/>
                        </a:rPr>
                        <a:t>Speech hours (95 %)</a:t>
                      </a:r>
                    </a:p>
                  </a:txBody>
                  <a:tcPr marL="54864" marR="54864" marT="27432" marB="27432">
                    <a:solidFill>
                      <a:srgbClr val="E9ECF1"/>
                    </a:solidFill>
                  </a:tcPr>
                </a:tc>
                <a:tc>
                  <a:txBody>
                    <a:bodyPr wrap="square"/>
                    <a:lstStyle/>
                    <a:p>
                      <a:pPr algn="l"/>
                      <a:r>
                        <a:rPr sz="1100" b="1">
                          <a:solidFill>
                            <a:srgbClr val="1F2A44"/>
                          </a:solidFill>
                          <a:latin typeface="Calibri"/>
                        </a:rPr>
                        <a:t>Languages (speech hours)</a:t>
                      </a:r>
                    </a:p>
                  </a:txBody>
                  <a:tcPr marL="54864" marR="54864" marT="27432" marB="27432">
                    <a:solidFill>
                      <a:srgbClr val="E9ECF1"/>
                    </a:solidFill>
                  </a:tcPr>
                </a:tc>
                <a:tc>
                  <a:txBody>
                    <a:bodyPr wrap="square"/>
                    <a:lstStyle/>
                    <a:p>
                      <a:pPr algn="l"/>
                      <a:r>
                        <a:rPr sz="1100" b="1">
                          <a:solidFill>
                            <a:srgbClr val="1F2A44"/>
                          </a:solidFill>
                          <a:latin typeface="Calibri"/>
                        </a:rPr>
                        <a:t>Files read / planned</a:t>
                      </a:r>
                    </a:p>
                  </a:txBody>
                  <a:tcPr marL="54864" marR="54864" marT="27432" marB="27432">
                    <a:solidFill>
                      <a:srgbClr val="E9ECF1"/>
                    </a:solidFill>
                  </a:tcPr>
                </a:tc>
              </a:tr>
              <a:tr h="301752">
                <a:tc>
                  <a:txBody>
                    <a:bodyPr wrap="square"/>
                    <a:lstStyle/>
                    <a:p>
                      <a:pPr algn="l"/>
                      <a:r>
                        <a:rPr sz="1100" b="0">
                          <a:solidFill>
                            <a:srgbClr val="1F2A44"/>
                          </a:solidFill>
                          <a:latin typeface="Calibri"/>
                        </a:rPr>
                        <a:t>datasets/swa</a:t>
                      </a:r>
                    </a:p>
                  </a:txBody>
                  <a:tcPr marL="54864" marR="54864" marT="27432" marB="27432">
                    <a:solidFill>
                      <a:srgbClr val="FFFFFF"/>
                    </a:solidFill>
                  </a:tcPr>
                </a:tc>
                <a:tc>
                  <a:txBody>
                    <a:bodyPr wrap="square"/>
                    <a:lstStyle/>
                    <a:p>
                      <a:pPr algn="r"/>
                      <a:r>
                        <a:rPr sz="1100" b="0">
                          <a:solidFill>
                            <a:srgbClr val="1F2A44"/>
                          </a:solidFill>
                          <a:latin typeface="Courier New"/>
                        </a:rPr>
                        <a:t>550</a:t>
                      </a:r>
                    </a:p>
                  </a:txBody>
                  <a:tcPr marL="54864" marR="54864" marT="27432" marB="27432">
                    <a:solidFill>
                      <a:srgbClr val="FFFFFF"/>
                    </a:solidFill>
                  </a:tcPr>
                </a:tc>
                <a:tc>
                  <a:txBody>
                    <a:bodyPr wrap="square"/>
                    <a:lstStyle/>
                    <a:p>
                      <a:pPr algn="r"/>
                      <a:r>
                        <a:rPr sz="1100" b="0">
                          <a:solidFill>
                            <a:srgbClr val="1F2A44"/>
                          </a:solidFill>
                          <a:latin typeface="Courier New"/>
                        </a:rPr>
                        <a:t>87.8</a:t>
                      </a:r>
                    </a:p>
                  </a:txBody>
                  <a:tcPr marL="54864" marR="54864" marT="27432" marB="27432">
                    <a:solidFill>
                      <a:srgbClr val="FFFFFF"/>
                    </a:solidFill>
                  </a:tcPr>
                </a:tc>
                <a:tc>
                  <a:txBody>
                    <a:bodyPr wrap="square"/>
                    <a:lstStyle/>
                    <a:p>
                      <a:pPr algn="r"/>
                      <a:r>
                        <a:rPr sz="1100" b="0">
                          <a:solidFill>
                            <a:srgbClr val="1F2A44"/>
                          </a:solidFill>
                          <a:latin typeface="Courier New"/>
                        </a:rPr>
                        <a:t>80.3 (78.1–82.5)</a:t>
                      </a:r>
                    </a:p>
                  </a:txBody>
                  <a:tcPr marL="54864" marR="54864" marT="27432" marB="27432">
                    <a:solidFill>
                      <a:srgbClr val="FFFFFF"/>
                    </a:solidFill>
                  </a:tcPr>
                </a:tc>
                <a:tc>
                  <a:txBody>
                    <a:bodyPr wrap="square"/>
                    <a:lstStyle/>
                    <a:p>
                      <a:pPr algn="r"/>
                      <a:r>
                        <a:rPr sz="1100" b="0">
                          <a:solidFill>
                            <a:srgbClr val="1F2A44"/>
                          </a:solidFill>
                          <a:latin typeface="Courier New"/>
                        </a:rPr>
                        <a:t>Kiswahili 56 h; Dholuo (Luo) 4 h; Gikuyu (Kikuyu) 4 h</a:t>
                      </a:r>
                    </a:p>
                  </a:txBody>
                  <a:tcPr marL="54864" marR="54864" marT="27432" marB="27432">
                    <a:solidFill>
                      <a:srgbClr val="FFFFFF"/>
                    </a:solidFill>
                  </a:tcPr>
                </a:tc>
                <a:tc>
                  <a:txBody>
                    <a:bodyPr wrap="square"/>
                    <a:lstStyle/>
                    <a:p>
                      <a:pPr algn="r"/>
                      <a:r>
                        <a:rPr sz="1100" b="0">
                          <a:solidFill>
                            <a:srgbClr val="1F2A44"/>
                          </a:solidFill>
                          <a:latin typeface="Courier New"/>
                        </a:rPr>
                        <a:t>122 / 122</a:t>
                      </a:r>
                    </a:p>
                  </a:txBody>
                  <a:tcPr marL="54864" marR="54864" marT="27432" marB="27432">
                    <a:solidFill>
                      <a:srgbClr val="FFFFFF"/>
                    </a:solidFill>
                  </a:tcPr>
                </a:tc>
              </a:tr>
              <a:tr h="301752">
                <a:tc>
                  <a:txBody>
                    <a:bodyPr wrap="square"/>
                    <a:lstStyle/>
                    <a:p>
                      <a:pPr algn="l"/>
                      <a:r>
                        <a:rPr sz="1100" b="0">
                          <a:solidFill>
                            <a:srgbClr val="1F2A44"/>
                          </a:solidFill>
                          <a:latin typeface="Calibri"/>
                        </a:rPr>
                        <a:t>DR007</a:t>
                      </a:r>
                    </a:p>
                  </a:txBody>
                  <a:tcPr marL="54864" marR="54864" marT="27432" marB="27432">
                    <a:solidFill>
                      <a:srgbClr val="FFFFFF"/>
                    </a:solidFill>
                  </a:tcPr>
                </a:tc>
                <a:tc>
                  <a:txBody>
                    <a:bodyPr wrap="square"/>
                    <a:lstStyle/>
                    <a:p>
                      <a:pPr algn="r"/>
                      <a:r>
                        <a:rPr sz="1100" b="0">
                          <a:solidFill>
                            <a:srgbClr val="1F2A44"/>
                          </a:solidFill>
                          <a:latin typeface="Courier New"/>
                        </a:rPr>
                        <a:t>330</a:t>
                      </a:r>
                    </a:p>
                  </a:txBody>
                  <a:tcPr marL="54864" marR="54864" marT="27432" marB="27432">
                    <a:solidFill>
                      <a:srgbClr val="FFFFFF"/>
                    </a:solidFill>
                  </a:tcPr>
                </a:tc>
                <a:tc>
                  <a:txBody>
                    <a:bodyPr wrap="square"/>
                    <a:lstStyle/>
                    <a:p>
                      <a:pPr algn="r"/>
                      <a:r>
                        <a:rPr sz="1100" b="0">
                          <a:solidFill>
                            <a:srgbClr val="1F2A44"/>
                          </a:solidFill>
                          <a:latin typeface="Courier New"/>
                        </a:rPr>
                        <a:t>99.3</a:t>
                      </a:r>
                    </a:p>
                  </a:txBody>
                  <a:tcPr marL="54864" marR="54864" marT="27432" marB="27432">
                    <a:solidFill>
                      <a:srgbClr val="FFFFFF"/>
                    </a:solidFill>
                  </a:tcPr>
                </a:tc>
                <a:tc>
                  <a:txBody>
                    <a:bodyPr wrap="square"/>
                    <a:lstStyle/>
                    <a:p>
                      <a:pPr algn="r"/>
                      <a:r>
                        <a:rPr sz="1100" b="0">
                          <a:solidFill>
                            <a:srgbClr val="1F2A44"/>
                          </a:solidFill>
                          <a:latin typeface="Courier New"/>
                        </a:rPr>
                        <a:t>79.2 (70.6–87.9)</a:t>
                      </a:r>
                    </a:p>
                  </a:txBody>
                  <a:tcPr marL="54864" marR="54864" marT="27432" marB="27432">
                    <a:solidFill>
                      <a:srgbClr val="FFFFFF"/>
                    </a:solidFill>
                  </a:tcPr>
                </a:tc>
                <a:tc>
                  <a:txBody>
                    <a:bodyPr wrap="square"/>
                    <a:lstStyle/>
                    <a:p>
                      <a:pPr algn="r"/>
                      <a:r>
                        <a:rPr sz="1100" b="0">
                          <a:solidFill>
                            <a:srgbClr val="1F2A44"/>
                          </a:solidFill>
                          <a:latin typeface="Courier New"/>
                        </a:rPr>
                        <a:t>Ekegusii (Kisii) 22 h; Dholuo (Luo) 22 h; Kiswahili 7 h</a:t>
                      </a:r>
                    </a:p>
                  </a:txBody>
                  <a:tcPr marL="54864" marR="54864" marT="27432" marB="27432">
                    <a:solidFill>
                      <a:srgbClr val="FFFFFF"/>
                    </a:solidFill>
                  </a:tcPr>
                </a:tc>
                <a:tc>
                  <a:txBody>
                    <a:bodyPr wrap="square"/>
                    <a:lstStyle/>
                    <a:p>
                      <a:pPr algn="r"/>
                      <a:r>
                        <a:rPr sz="1100" b="0">
                          <a:solidFill>
                            <a:srgbClr val="1F2A44"/>
                          </a:solidFill>
                          <a:latin typeface="Courier New"/>
                        </a:rPr>
                        <a:t>138 / 138</a:t>
                      </a:r>
                    </a:p>
                  </a:txBody>
                  <a:tcPr marL="54864" marR="54864" marT="27432" marB="27432">
                    <a:solidFill>
                      <a:srgbClr val="FFFFFF"/>
                    </a:solidFill>
                  </a:tcPr>
                </a:tc>
              </a:tr>
              <a:tr h="301752">
                <a:tc>
                  <a:txBody>
                    <a:bodyPr wrap="square"/>
                    <a:lstStyle/>
                    <a:p>
                      <a:pPr algn="l"/>
                      <a:r>
                        <a:rPr sz="1100" b="0">
                          <a:solidFill>
                            <a:srgbClr val="1F2A44"/>
                          </a:solidFill>
                          <a:latin typeface="Calibri"/>
                        </a:rPr>
                        <a:t>datasets/kln</a:t>
                      </a:r>
                    </a:p>
                  </a:txBody>
                  <a:tcPr marL="54864" marR="54864" marT="27432" marB="27432">
                    <a:solidFill>
                      <a:srgbClr val="FFFFFF"/>
                    </a:solidFill>
                  </a:tcPr>
                </a:tc>
                <a:tc>
                  <a:txBody>
                    <a:bodyPr wrap="square"/>
                    <a:lstStyle/>
                    <a:p>
                      <a:pPr algn="r"/>
                      <a:r>
                        <a:rPr sz="1100" b="0">
                          <a:solidFill>
                            <a:srgbClr val="1F2A44"/>
                          </a:solidFill>
                          <a:latin typeface="Courier New"/>
                        </a:rPr>
                        <a:t>311</a:t>
                      </a:r>
                    </a:p>
                  </a:txBody>
                  <a:tcPr marL="54864" marR="54864" marT="27432" marB="27432">
                    <a:solidFill>
                      <a:srgbClr val="FFFFFF"/>
                    </a:solidFill>
                  </a:tcPr>
                </a:tc>
                <a:tc>
                  <a:txBody>
                    <a:bodyPr wrap="square"/>
                    <a:lstStyle/>
                    <a:p>
                      <a:pPr algn="r"/>
                      <a:r>
                        <a:rPr sz="1100" b="0">
                          <a:solidFill>
                            <a:srgbClr val="1F2A44"/>
                          </a:solidFill>
                          <a:latin typeface="Courier New"/>
                        </a:rPr>
                        <a:t>96.3</a:t>
                      </a:r>
                    </a:p>
                  </a:txBody>
                  <a:tcPr marL="54864" marR="54864" marT="27432" marB="27432">
                    <a:solidFill>
                      <a:srgbClr val="FFFFFF"/>
                    </a:solidFill>
                  </a:tcPr>
                </a:tc>
                <a:tc>
                  <a:txBody>
                    <a:bodyPr wrap="square"/>
                    <a:lstStyle/>
                    <a:p>
                      <a:pPr algn="r"/>
                      <a:r>
                        <a:rPr sz="1100" b="0">
                          <a:solidFill>
                            <a:srgbClr val="1F2A44"/>
                          </a:solidFill>
                          <a:latin typeface="Courier New"/>
                        </a:rPr>
                        <a:t>77.2 (74.0–80.4)</a:t>
                      </a:r>
                    </a:p>
                  </a:txBody>
                  <a:tcPr marL="54864" marR="54864" marT="27432" marB="27432">
                    <a:solidFill>
                      <a:srgbClr val="FFFFFF"/>
                    </a:solidFill>
                  </a:tcPr>
                </a:tc>
                <a:tc>
                  <a:txBody>
                    <a:bodyPr wrap="square"/>
                    <a:lstStyle/>
                    <a:p>
                      <a:pPr algn="r"/>
                      <a:r>
                        <a:rPr sz="1100" b="0">
                          <a:solidFill>
                            <a:srgbClr val="1F2A44"/>
                          </a:solidFill>
                          <a:latin typeface="Courier New"/>
                        </a:rPr>
                        <a:t>Kalenjin 64 h; Wanga (Luhya) 2 h; Gikuyu (Kikuyu) 2 h</a:t>
                      </a:r>
                    </a:p>
                  </a:txBody>
                  <a:tcPr marL="54864" marR="54864" marT="27432" marB="27432">
                    <a:solidFill>
                      <a:srgbClr val="FFFFFF"/>
                    </a:solidFill>
                  </a:tcPr>
                </a:tc>
                <a:tc>
                  <a:txBody>
                    <a:bodyPr wrap="square"/>
                    <a:lstStyle/>
                    <a:p>
                      <a:pPr algn="r"/>
                      <a:r>
                        <a:rPr sz="1100" b="0">
                          <a:solidFill>
                            <a:srgbClr val="1F2A44"/>
                          </a:solidFill>
                          <a:latin typeface="Courier New"/>
                        </a:rPr>
                        <a:t>134 / 134</a:t>
                      </a:r>
                    </a:p>
                  </a:txBody>
                  <a:tcPr marL="54864" marR="54864" marT="27432" marB="27432">
                    <a:solidFill>
                      <a:srgbClr val="FFFFFF"/>
                    </a:solidFill>
                  </a:tcPr>
                </a:tc>
              </a:tr>
              <a:tr h="301752">
                <a:tc>
                  <a:txBody>
                    <a:bodyPr wrap="square"/>
                    <a:lstStyle/>
                    <a:p>
                      <a:pPr algn="l"/>
                      <a:r>
                        <a:rPr sz="1100" b="0">
                          <a:solidFill>
                            <a:srgbClr val="1F2A44"/>
                          </a:solidFill>
                          <a:latin typeface="Calibri"/>
                        </a:rPr>
                        <a:t>datasets/kik</a:t>
                      </a:r>
                    </a:p>
                  </a:txBody>
                  <a:tcPr marL="54864" marR="54864" marT="27432" marB="27432">
                    <a:solidFill>
                      <a:srgbClr val="FFFFFF"/>
                    </a:solidFill>
                  </a:tcPr>
                </a:tc>
                <a:tc>
                  <a:txBody>
                    <a:bodyPr wrap="square"/>
                    <a:lstStyle/>
                    <a:p>
                      <a:pPr algn="r"/>
                      <a:r>
                        <a:rPr sz="1100" b="0">
                          <a:solidFill>
                            <a:srgbClr val="1F2A44"/>
                          </a:solidFill>
                          <a:latin typeface="Courier New"/>
                        </a:rPr>
                        <a:t>606</a:t>
                      </a:r>
                    </a:p>
                  </a:txBody>
                  <a:tcPr marL="54864" marR="54864" marT="27432" marB="27432">
                    <a:solidFill>
                      <a:srgbClr val="FFFFFF"/>
                    </a:solidFill>
                  </a:tcPr>
                </a:tc>
                <a:tc>
                  <a:txBody>
                    <a:bodyPr wrap="square"/>
                    <a:lstStyle/>
                    <a:p>
                      <a:pPr algn="r"/>
                      <a:r>
                        <a:rPr sz="1100" b="0">
                          <a:solidFill>
                            <a:srgbClr val="1F2A44"/>
                          </a:solidFill>
                          <a:latin typeface="Courier New"/>
                        </a:rPr>
                        <a:t>87.7</a:t>
                      </a:r>
                    </a:p>
                  </a:txBody>
                  <a:tcPr marL="54864" marR="54864" marT="27432" marB="27432">
                    <a:solidFill>
                      <a:srgbClr val="FFFFFF"/>
                    </a:solidFill>
                  </a:tcPr>
                </a:tc>
                <a:tc>
                  <a:txBody>
                    <a:bodyPr wrap="square"/>
                    <a:lstStyle/>
                    <a:p>
                      <a:pPr algn="r"/>
                      <a:r>
                        <a:rPr sz="1100" b="0">
                          <a:solidFill>
                            <a:srgbClr val="1F2A44"/>
                          </a:solidFill>
                          <a:latin typeface="Courier New"/>
                        </a:rPr>
                        <a:t>70.0 (66.0–74.0)</a:t>
                      </a:r>
                    </a:p>
                  </a:txBody>
                  <a:tcPr marL="54864" marR="54864" marT="27432" marB="27432">
                    <a:solidFill>
                      <a:srgbClr val="FFFFFF"/>
                    </a:solidFill>
                  </a:tcPr>
                </a:tc>
                <a:tc>
                  <a:txBody>
                    <a:bodyPr wrap="square"/>
                    <a:lstStyle/>
                    <a:p>
                      <a:pPr algn="r"/>
                      <a:r>
                        <a:rPr sz="1100" b="0">
                          <a:solidFill>
                            <a:srgbClr val="1F2A44"/>
                          </a:solidFill>
                          <a:latin typeface="Courier New"/>
                        </a:rPr>
                        <a:t>Gikuyu (Kikuyu) 48 h; Ekegusii (Kisii) 5 h; Kiswahili 2 h</a:t>
                      </a:r>
                    </a:p>
                  </a:txBody>
                  <a:tcPr marL="54864" marR="54864" marT="27432" marB="27432">
                    <a:solidFill>
                      <a:srgbClr val="FFFFFF"/>
                    </a:solidFill>
                  </a:tcPr>
                </a:tc>
                <a:tc>
                  <a:txBody>
                    <a:bodyPr wrap="square"/>
                    <a:lstStyle/>
                    <a:p>
                      <a:pPr algn="r"/>
                      <a:r>
                        <a:rPr sz="1100" b="0">
                          <a:solidFill>
                            <a:srgbClr val="1F2A44"/>
                          </a:solidFill>
                          <a:latin typeface="Courier New"/>
                        </a:rPr>
                        <a:t>122 / 122</a:t>
                      </a:r>
                    </a:p>
                  </a:txBody>
                  <a:tcPr marL="54864" marR="54864" marT="27432" marB="27432">
                    <a:solidFill>
                      <a:srgbClr val="FFFFFF"/>
                    </a:solidFill>
                  </a:tcPr>
                </a:tc>
              </a:tr>
              <a:tr h="301752">
                <a:tc>
                  <a:txBody>
                    <a:bodyPr wrap="square"/>
                    <a:lstStyle/>
                    <a:p>
                      <a:pPr algn="l"/>
                      <a:r>
                        <a:rPr sz="1100" b="0">
                          <a:solidFill>
                            <a:srgbClr val="1F2A44"/>
                          </a:solidFill>
                          <a:latin typeface="Calibri"/>
                        </a:rPr>
                        <a:t>datasets/guz</a:t>
                      </a:r>
                    </a:p>
                  </a:txBody>
                  <a:tcPr marL="54864" marR="54864" marT="27432" marB="27432">
                    <a:solidFill>
                      <a:srgbClr val="FFFFFF"/>
                    </a:solidFill>
                  </a:tcPr>
                </a:tc>
                <a:tc>
                  <a:txBody>
                    <a:bodyPr wrap="square"/>
                    <a:lstStyle/>
                    <a:p>
                      <a:pPr algn="r"/>
                      <a:r>
                        <a:rPr sz="1100" b="0">
                          <a:solidFill>
                            <a:srgbClr val="1F2A44"/>
                          </a:solidFill>
                          <a:latin typeface="Courier New"/>
                        </a:rPr>
                        <a:t>676</a:t>
                      </a:r>
                    </a:p>
                  </a:txBody>
                  <a:tcPr marL="54864" marR="54864" marT="27432" marB="27432">
                    <a:solidFill>
                      <a:srgbClr val="FFFFFF"/>
                    </a:solidFill>
                  </a:tcPr>
                </a:tc>
                <a:tc>
                  <a:txBody>
                    <a:bodyPr wrap="square"/>
                    <a:lstStyle/>
                    <a:p>
                      <a:pPr algn="r"/>
                      <a:r>
                        <a:rPr sz="1100" b="0">
                          <a:solidFill>
                            <a:srgbClr val="1F2A44"/>
                          </a:solidFill>
                          <a:latin typeface="Courier New"/>
                        </a:rPr>
                        <a:t>85.5</a:t>
                      </a:r>
                    </a:p>
                  </a:txBody>
                  <a:tcPr marL="54864" marR="54864" marT="27432" marB="27432">
                    <a:solidFill>
                      <a:srgbClr val="FFFFFF"/>
                    </a:solidFill>
                  </a:tcPr>
                </a:tc>
                <a:tc>
                  <a:txBody>
                    <a:bodyPr wrap="square"/>
                    <a:lstStyle/>
                    <a:p>
                      <a:pPr algn="r"/>
                      <a:r>
                        <a:rPr sz="1100" b="0">
                          <a:solidFill>
                            <a:srgbClr val="1F2A44"/>
                          </a:solidFill>
                          <a:latin typeface="Courier New"/>
                        </a:rPr>
                        <a:t>67.6 (64.9–70.4)</a:t>
                      </a:r>
                    </a:p>
                  </a:txBody>
                  <a:tcPr marL="54864" marR="54864" marT="27432" marB="27432">
                    <a:solidFill>
                      <a:srgbClr val="FFFFFF"/>
                    </a:solidFill>
                  </a:tcPr>
                </a:tc>
                <a:tc>
                  <a:txBody>
                    <a:bodyPr wrap="square"/>
                    <a:lstStyle/>
                    <a:p>
                      <a:pPr algn="r"/>
                      <a:r>
                        <a:rPr sz="1100" b="0">
                          <a:solidFill>
                            <a:srgbClr val="1F2A44"/>
                          </a:solidFill>
                          <a:latin typeface="Courier New"/>
                        </a:rPr>
                        <a:t>Ekegusii (Kisii) 52 h; Wanga (Luhya) 3 h; Kalenjin 3 h</a:t>
                      </a:r>
                    </a:p>
                  </a:txBody>
                  <a:tcPr marL="54864" marR="54864" marT="27432" marB="27432">
                    <a:solidFill>
                      <a:srgbClr val="FFFFFF"/>
                    </a:solidFill>
                  </a:tcPr>
                </a:tc>
                <a:tc>
                  <a:txBody>
                    <a:bodyPr wrap="square"/>
                    <a:lstStyle/>
                    <a:p>
                      <a:pPr algn="r"/>
                      <a:r>
                        <a:rPr sz="1100" b="0">
                          <a:solidFill>
                            <a:srgbClr val="1F2A44"/>
                          </a:solidFill>
                          <a:latin typeface="Courier New"/>
                        </a:rPr>
                        <a:t>119 / 119</a:t>
                      </a:r>
                    </a:p>
                  </a:txBody>
                  <a:tcPr marL="54864" marR="54864" marT="27432" marB="27432">
                    <a:solidFill>
                      <a:srgbClr val="FFFFFF"/>
                    </a:solidFill>
                  </a:tcPr>
                </a:tc>
              </a:tr>
              <a:tr h="301752">
                <a:tc>
                  <a:txBody>
                    <a:bodyPr wrap="square"/>
                    <a:lstStyle/>
                    <a:p>
                      <a:pPr algn="l"/>
                      <a:r>
                        <a:rPr sz="1100" b="0">
                          <a:solidFill>
                            <a:srgbClr val="1F2A44"/>
                          </a:solidFill>
                          <a:latin typeface="Calibri"/>
                        </a:rPr>
                        <a:t>datasets/kam</a:t>
                      </a:r>
                    </a:p>
                  </a:txBody>
                  <a:tcPr marL="54864" marR="54864" marT="27432" marB="27432">
                    <a:solidFill>
                      <a:srgbClr val="FFFFFF"/>
                    </a:solidFill>
                  </a:tcPr>
                </a:tc>
                <a:tc>
                  <a:txBody>
                    <a:bodyPr wrap="square"/>
                    <a:lstStyle/>
                    <a:p>
                      <a:pPr algn="r"/>
                      <a:r>
                        <a:rPr sz="1100" b="0">
                          <a:solidFill>
                            <a:srgbClr val="1F2A44"/>
                          </a:solidFill>
                          <a:latin typeface="Courier New"/>
                        </a:rPr>
                        <a:t>1,061</a:t>
                      </a:r>
                    </a:p>
                  </a:txBody>
                  <a:tcPr marL="54864" marR="54864" marT="27432" marB="27432">
                    <a:solidFill>
                      <a:srgbClr val="FFFFFF"/>
                    </a:solidFill>
                  </a:tcPr>
                </a:tc>
                <a:tc>
                  <a:txBody>
                    <a:bodyPr wrap="square"/>
                    <a:lstStyle/>
                    <a:p>
                      <a:pPr algn="r"/>
                      <a:r>
                        <a:rPr sz="1100" b="0">
                          <a:solidFill>
                            <a:srgbClr val="1F2A44"/>
                          </a:solidFill>
                          <a:latin typeface="Courier New"/>
                        </a:rPr>
                        <a:t>81.0</a:t>
                      </a:r>
                    </a:p>
                  </a:txBody>
                  <a:tcPr marL="54864" marR="54864" marT="27432" marB="27432">
                    <a:solidFill>
                      <a:srgbClr val="FFFFFF"/>
                    </a:solidFill>
                  </a:tcPr>
                </a:tc>
                <a:tc>
                  <a:txBody>
                    <a:bodyPr wrap="square"/>
                    <a:lstStyle/>
                    <a:p>
                      <a:pPr algn="r"/>
                      <a:r>
                        <a:rPr sz="1100" b="0">
                          <a:solidFill>
                            <a:srgbClr val="1F2A44"/>
                          </a:solidFill>
                          <a:latin typeface="Courier New"/>
                        </a:rPr>
                        <a:t>65.0 (60.3–69.6)</a:t>
                      </a:r>
                    </a:p>
                  </a:txBody>
                  <a:tcPr marL="54864" marR="54864" marT="27432" marB="27432">
                    <a:solidFill>
                      <a:srgbClr val="FFFFFF"/>
                    </a:solidFill>
                  </a:tcPr>
                </a:tc>
                <a:tc>
                  <a:txBody>
                    <a:bodyPr wrap="square"/>
                    <a:lstStyle/>
                    <a:p>
                      <a:pPr algn="r"/>
                      <a:r>
                        <a:rPr sz="1100" b="0">
                          <a:solidFill>
                            <a:srgbClr val="1F2A44"/>
                          </a:solidFill>
                          <a:latin typeface="Courier New"/>
                        </a:rPr>
                        <a:t>Kikamba (Kamba) 41 h; Ekegusii (Kisii) 6 h; Dholuo (Luo) 3 h</a:t>
                      </a:r>
                    </a:p>
                  </a:txBody>
                  <a:tcPr marL="54864" marR="54864" marT="27432" marB="27432">
                    <a:solidFill>
                      <a:srgbClr val="FFFFFF"/>
                    </a:solidFill>
                  </a:tcPr>
                </a:tc>
                <a:tc>
                  <a:txBody>
                    <a:bodyPr wrap="square"/>
                    <a:lstStyle/>
                    <a:p>
                      <a:pPr algn="r"/>
                      <a:r>
                        <a:rPr sz="1100" b="0">
                          <a:solidFill>
                            <a:srgbClr val="1F2A44"/>
                          </a:solidFill>
                          <a:latin typeface="Courier New"/>
                        </a:rPr>
                        <a:t>112 / 112</a:t>
                      </a:r>
                    </a:p>
                  </a:txBody>
                  <a:tcPr marL="54864" marR="54864" marT="27432" marB="27432">
                    <a:solidFill>
                      <a:srgbClr val="FFFFFF"/>
                    </a:solidFill>
                  </a:tcPr>
                </a:tc>
              </a:tr>
              <a:tr h="301752">
                <a:tc>
                  <a:txBody>
                    <a:bodyPr wrap="square"/>
                    <a:lstStyle/>
                    <a:p>
                      <a:pPr algn="l"/>
                      <a:r>
                        <a:rPr sz="1100" b="0">
                          <a:solidFill>
                            <a:srgbClr val="1F2A44"/>
                          </a:solidFill>
                          <a:latin typeface="Calibri"/>
                        </a:rPr>
                        <a:t>datasets/luo</a:t>
                      </a:r>
                    </a:p>
                  </a:txBody>
                  <a:tcPr marL="54864" marR="54864" marT="27432" marB="27432">
                    <a:solidFill>
                      <a:srgbClr val="FFFFFF"/>
                    </a:solidFill>
                  </a:tcPr>
                </a:tc>
                <a:tc>
                  <a:txBody>
                    <a:bodyPr wrap="square"/>
                    <a:lstStyle/>
                    <a:p>
                      <a:pPr algn="r"/>
                      <a:r>
                        <a:rPr sz="1100" b="0">
                          <a:solidFill>
                            <a:srgbClr val="1F2A44"/>
                          </a:solidFill>
                          <a:latin typeface="Courier New"/>
                        </a:rPr>
                        <a:t>555</a:t>
                      </a:r>
                    </a:p>
                  </a:txBody>
                  <a:tcPr marL="54864" marR="54864" marT="27432" marB="27432">
                    <a:solidFill>
                      <a:srgbClr val="FFFFFF"/>
                    </a:solidFill>
                  </a:tcPr>
                </a:tc>
                <a:tc>
                  <a:txBody>
                    <a:bodyPr wrap="square"/>
                    <a:lstStyle/>
                    <a:p>
                      <a:pPr algn="r"/>
                      <a:r>
                        <a:rPr sz="1100" b="0">
                          <a:solidFill>
                            <a:srgbClr val="1F2A44"/>
                          </a:solidFill>
                          <a:latin typeface="Courier New"/>
                        </a:rPr>
                        <a:t>81.7</a:t>
                      </a:r>
                    </a:p>
                  </a:txBody>
                  <a:tcPr marL="54864" marR="54864" marT="27432" marB="27432">
                    <a:solidFill>
                      <a:srgbClr val="FFFFFF"/>
                    </a:solidFill>
                  </a:tcPr>
                </a:tc>
                <a:tc>
                  <a:txBody>
                    <a:bodyPr wrap="square"/>
                    <a:lstStyle/>
                    <a:p>
                      <a:pPr algn="r"/>
                      <a:r>
                        <a:rPr sz="1100" b="0">
                          <a:solidFill>
                            <a:srgbClr val="1F2A44"/>
                          </a:solidFill>
                          <a:latin typeface="Courier New"/>
                        </a:rPr>
                        <a:t>49.6 (45.5–53.7)</a:t>
                      </a:r>
                    </a:p>
                  </a:txBody>
                  <a:tcPr marL="54864" marR="54864" marT="27432" marB="27432">
                    <a:solidFill>
                      <a:srgbClr val="FFFFFF"/>
                    </a:solidFill>
                  </a:tcPr>
                </a:tc>
                <a:tc>
                  <a:txBody>
                    <a:bodyPr wrap="square"/>
                    <a:lstStyle/>
                    <a:p>
                      <a:pPr algn="r"/>
                      <a:r>
                        <a:rPr sz="1100" b="0">
                          <a:solidFill>
                            <a:srgbClr val="1F2A44"/>
                          </a:solidFill>
                          <a:latin typeface="Courier New"/>
                        </a:rPr>
                        <a:t>Dholuo (Luo) 41 h; Ekegusii (Kisii) 2 h; Gikuyu (Kikuyu) 1 h</a:t>
                      </a:r>
                    </a:p>
                  </a:txBody>
                  <a:tcPr marL="54864" marR="54864" marT="27432" marB="27432">
                    <a:solidFill>
                      <a:srgbClr val="FFFFFF"/>
                    </a:solidFill>
                  </a:tcPr>
                </a:tc>
                <a:tc>
                  <a:txBody>
                    <a:bodyPr wrap="square"/>
                    <a:lstStyle/>
                    <a:p>
                      <a:pPr algn="r"/>
                      <a:r>
                        <a:rPr sz="1100" b="0">
                          <a:solidFill>
                            <a:srgbClr val="1F2A44"/>
                          </a:solidFill>
                          <a:latin typeface="Courier New"/>
                        </a:rPr>
                        <a:t>113 / 113</a:t>
                      </a:r>
                    </a:p>
                  </a:txBody>
                  <a:tcPr marL="54864" marR="54864" marT="27432" marB="27432">
                    <a:solidFill>
                      <a:srgbClr val="FFFFFF"/>
                    </a:solidFill>
                  </a:tcPr>
                </a:tc>
              </a:tr>
              <a:tr h="301752">
                <a:tc>
                  <a:txBody>
                    <a:bodyPr wrap="square"/>
                    <a:lstStyle/>
                    <a:p>
                      <a:pPr algn="l"/>
                      <a:r>
                        <a:rPr sz="1100" b="0">
                          <a:solidFill>
                            <a:srgbClr val="1F2A44"/>
                          </a:solidFill>
                          <a:latin typeface="Calibri"/>
                        </a:rPr>
                        <a:t>DR005</a:t>
                      </a:r>
                    </a:p>
                  </a:txBody>
                  <a:tcPr marL="54864" marR="54864" marT="27432" marB="27432">
                    <a:solidFill>
                      <a:srgbClr val="FFFFFF"/>
                    </a:solidFill>
                  </a:tcPr>
                </a:tc>
                <a:tc>
                  <a:txBody>
                    <a:bodyPr wrap="square"/>
                    <a:lstStyle/>
                    <a:p>
                      <a:pPr algn="r"/>
                      <a:r>
                        <a:rPr sz="1100" b="0">
                          <a:solidFill>
                            <a:srgbClr val="1F2A44"/>
                          </a:solidFill>
                          <a:latin typeface="Courier New"/>
                        </a:rPr>
                        <a:t>208</a:t>
                      </a:r>
                    </a:p>
                  </a:txBody>
                  <a:tcPr marL="54864" marR="54864" marT="27432" marB="27432">
                    <a:solidFill>
                      <a:srgbClr val="FFFFFF"/>
                    </a:solidFill>
                  </a:tcPr>
                </a:tc>
                <a:tc>
                  <a:txBody>
                    <a:bodyPr wrap="square"/>
                    <a:lstStyle/>
                    <a:p>
                      <a:pPr algn="r"/>
                      <a:r>
                        <a:rPr sz="1100" b="0">
                          <a:solidFill>
                            <a:srgbClr val="1F2A44"/>
                          </a:solidFill>
                          <a:latin typeface="Courier New"/>
                        </a:rPr>
                        <a:t>39.2</a:t>
                      </a:r>
                    </a:p>
                  </a:txBody>
                  <a:tcPr marL="54864" marR="54864" marT="27432" marB="27432">
                    <a:solidFill>
                      <a:srgbClr val="FFFFFF"/>
                    </a:solidFill>
                  </a:tcPr>
                </a:tc>
                <a:tc>
                  <a:txBody>
                    <a:bodyPr wrap="square"/>
                    <a:lstStyle/>
                    <a:p>
                      <a:pPr algn="r"/>
                      <a:r>
                        <a:rPr sz="1100" b="0">
                          <a:solidFill>
                            <a:srgbClr val="1F2A44"/>
                          </a:solidFill>
                          <a:latin typeface="Courier New"/>
                        </a:rPr>
                        <a:t>25.6 (16.1–35.2)</a:t>
                      </a:r>
                    </a:p>
                  </a:txBody>
                  <a:tcPr marL="54864" marR="54864" marT="27432" marB="27432">
                    <a:solidFill>
                      <a:srgbClr val="FFFFFF"/>
                    </a:solidFill>
                  </a:tcPr>
                </a:tc>
                <a:tc>
                  <a:txBody>
                    <a:bodyPr wrap="square"/>
                    <a:lstStyle/>
                    <a:p>
                      <a:pPr algn="r"/>
                      <a:r>
                        <a:rPr sz="1100" b="0">
                          <a:solidFill>
                            <a:srgbClr val="1F2A44"/>
                          </a:solidFill>
                          <a:latin typeface="Courier New"/>
                        </a:rPr>
                        <a:t>Ekegusii (Kisii) 6 h; Dholuo (Luo) 5 h; Kiswahili 4 h</a:t>
                      </a:r>
                    </a:p>
                  </a:txBody>
                  <a:tcPr marL="54864" marR="54864" marT="27432" marB="27432">
                    <a:solidFill>
                      <a:srgbClr val="FFFFFF"/>
                    </a:solidFill>
                  </a:tcPr>
                </a:tc>
                <a:tc>
                  <a:txBody>
                    <a:bodyPr wrap="square"/>
                    <a:lstStyle/>
                    <a:p>
                      <a:pPr algn="r"/>
                      <a:r>
                        <a:rPr sz="1100" b="0">
                          <a:solidFill>
                            <a:srgbClr val="1F2A44"/>
                          </a:solidFill>
                          <a:latin typeface="Courier New"/>
                        </a:rPr>
                        <a:t>54 / 54</a:t>
                      </a:r>
                    </a:p>
                  </a:txBody>
                  <a:tcPr marL="54864" marR="54864" marT="27432" marB="27432">
                    <a:solidFill>
                      <a:srgbClr val="FFFFFF"/>
                    </a:solidFill>
                  </a:tcPr>
                </a:tc>
              </a:tr>
              <a:tr h="301752">
                <a:tc>
                  <a:txBody>
                    <a:bodyPr wrap="square"/>
                    <a:lstStyle/>
                    <a:p>
                      <a:pPr algn="l"/>
                      <a:r>
                        <a:rPr sz="1100" b="0">
                          <a:solidFill>
                            <a:srgbClr val="1F2A44"/>
                          </a:solidFill>
                          <a:latin typeface="Calibri"/>
                        </a:rPr>
                        <a:t>(44,766 folders) · audio · 2026</a:t>
                      </a:r>
                    </a:p>
                  </a:txBody>
                  <a:tcPr marL="54864" marR="54864" marT="27432" marB="27432">
                    <a:solidFill>
                      <a:srgbClr val="FFFFFF"/>
                    </a:solidFill>
                  </a:tcPr>
                </a:tc>
                <a:tc>
                  <a:txBody>
                    <a:bodyPr wrap="square"/>
                    <a:lstStyle/>
                    <a:p>
                      <a:pPr algn="r"/>
                      <a:r>
                        <a:rPr sz="1100" b="0">
                          <a:solidFill>
                            <a:srgbClr val="1F2A44"/>
                          </a:solidFill>
                          <a:latin typeface="Courier New"/>
                        </a:rPr>
                        <a:t>159</a:t>
                      </a:r>
                    </a:p>
                  </a:txBody>
                  <a:tcPr marL="54864" marR="54864" marT="27432" marB="27432">
                    <a:solidFill>
                      <a:srgbClr val="FFFFFF"/>
                    </a:solidFill>
                  </a:tcPr>
                </a:tc>
                <a:tc>
                  <a:txBody>
                    <a:bodyPr wrap="square"/>
                    <a:lstStyle/>
                    <a:p>
                      <a:pPr algn="r"/>
                      <a:r>
                        <a:rPr sz="1100" b="0">
                          <a:solidFill>
                            <a:srgbClr val="1F2A44"/>
                          </a:solidFill>
                          <a:latin typeface="Courier New"/>
                        </a:rPr>
                        <a:t>27.3</a:t>
                      </a:r>
                    </a:p>
                  </a:txBody>
                  <a:tcPr marL="54864" marR="54864" marT="27432" marB="27432">
                    <a:solidFill>
                      <a:srgbClr val="FFFFFF"/>
                    </a:solidFill>
                  </a:tcPr>
                </a:tc>
                <a:tc>
                  <a:txBody>
                    <a:bodyPr wrap="square"/>
                    <a:lstStyle/>
                    <a:p>
                      <a:pPr algn="r"/>
                      <a:r>
                        <a:rPr sz="1100" b="0">
                          <a:solidFill>
                            <a:srgbClr val="1F2A44"/>
                          </a:solidFill>
                          <a:latin typeface="Courier New"/>
                        </a:rPr>
                        <a:t>24.7 (23.7–25.7)</a:t>
                      </a:r>
                    </a:p>
                  </a:txBody>
                  <a:tcPr marL="54864" marR="54864" marT="27432" marB="27432">
                    <a:solidFill>
                      <a:srgbClr val="FFFFFF"/>
                    </a:solidFill>
                  </a:tcPr>
                </a:tc>
                <a:tc>
                  <a:txBody>
                    <a:bodyPr wrap="square"/>
                    <a:lstStyle/>
                    <a:p>
                      <a:pPr algn="r"/>
                      <a:r>
                        <a:rPr sz="1100" b="0">
                          <a:solidFill>
                            <a:srgbClr val="1F2A44"/>
                          </a:solidFill>
                          <a:latin typeface="Courier New"/>
                        </a:rPr>
                        <a:t>Kiswahili 13 h; Gikuyu (Kikuyu) 3 h; Dholuo (Luo) 2 h</a:t>
                      </a:r>
                    </a:p>
                  </a:txBody>
                  <a:tcPr marL="54864" marR="54864" marT="27432" marB="27432">
                    <a:solidFill>
                      <a:srgbClr val="FFFFFF"/>
                    </a:solidFill>
                  </a:tcPr>
                </a:tc>
                <a:tc>
                  <a:txBody>
                    <a:bodyPr wrap="square"/>
                    <a:lstStyle/>
                    <a:p>
                      <a:pPr algn="r"/>
                      <a:r>
                        <a:rPr sz="1100" b="0">
                          <a:solidFill>
                            <a:srgbClr val="1F2A44"/>
                          </a:solidFill>
                          <a:latin typeface="Courier New"/>
                        </a:rPr>
                        <a:t>38 / 38</a:t>
                      </a:r>
                    </a:p>
                  </a:txBody>
                  <a:tcPr marL="54864" marR="54864" marT="27432" marB="2743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C8102E"/>
                </a:solidFill>
                <a:latin typeface="Calibri"/>
              </a:rPr>
              <a:t>One row per folder stratum with reads, ranked by estimated speech hours.</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[estimated]  Receipt R10: Interim tiered content census (content_sample); snapshots OBS 2026-10-03T01:40:08.564624+00:00; NAS 2026-10-03T01:38:24.195696+00:00; receipts cr-81526aa143aa, cr-8640b1cbcbc6, cr-aa33fffba60e, cr-bbf71c8d905a, cr-cf4eef79995b, cr-f1415e395361 on akki-vm and akki-vm-ii. Resumable listing, header probes of accessible audio and a per-folder video sample (ranged reads → ffprobe), with unprobed durations extrapolated where possible; a seeded stratified sample of files per folder read byte for byte, verified against the listing and judged on every two-second window by the admitted music detector and the current audio language model; ratio estimators with finite-population correction give the 95 % intervals. Listing, probing and sampling are incomplete. Model readings, not human labels; intervals exclude model error and inaccessible or unsampled content.</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52</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EVIDENCE BY NAME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Sampling coverage and what would improve this baseline</a:t>
            </a:r>
          </a:p>
        </p:txBody>
      </p:sp>
      <p:graphicFrame>
        <p:nvGraphicFramePr>
          <p:cNvPr id="4" name="Table 3"/>
          <p:cNvGraphicFramePr>
            <a:graphicFrameLocks noGrp="1"/>
          </p:cNvGraphicFramePr>
          <p:nvPr/>
        </p:nvGraphicFramePr>
        <p:xfrm>
          <a:off x="594360" y="1920240"/>
          <a:ext cx="11002972" cy="1152144"/>
        </p:xfrm>
        <a:graphic>
          <a:graphicData uri="http://schemas.openxmlformats.org/drawingml/2006/table">
            <a:tbl>
              <a:tblPr firstRow="1" bandRow="1">
                <a:tableStyleId>{5C22544A-7EE6-4342-B048-85BDC9FD1C3A}</a:tableStyleId>
              </a:tblPr>
              <a:tblGrid>
                <a:gridCol w="1141049"/>
                <a:gridCol w="1467063"/>
                <a:gridCol w="1141049"/>
                <a:gridCol w="1711573"/>
                <a:gridCol w="2119091"/>
                <a:gridCol w="3423147"/>
              </a:tblGrid>
              <a:tr h="384048">
                <a:tc>
                  <a:txBody>
                    <a:bodyPr wrap="square"/>
                    <a:lstStyle/>
                    <a:p>
                      <a:pPr algn="l"/>
                      <a:r>
                        <a:rPr sz="1200" b="1">
                          <a:solidFill>
                            <a:srgbClr val="1F2A44"/>
                          </a:solidFill>
                          <a:latin typeface="Calibri"/>
                        </a:rPr>
                        <a:t>Store</a:t>
                      </a:r>
                    </a:p>
                  </a:txBody>
                  <a:tcPr marL="54864" marR="54864" marT="27432" marB="27432">
                    <a:solidFill>
                      <a:srgbClr val="E9ECF1"/>
                    </a:solidFill>
                  </a:tcPr>
                </a:tc>
                <a:tc>
                  <a:txBody>
                    <a:bodyPr wrap="square"/>
                    <a:lstStyle/>
                    <a:p>
                      <a:pPr algn="l"/>
                      <a:r>
                        <a:rPr sz="1200" b="1">
                          <a:solidFill>
                            <a:srgbClr val="1F2A44"/>
                          </a:solidFill>
                          <a:latin typeface="Calibri"/>
                        </a:rPr>
                        <a:t>Media files listed</a:t>
                      </a:r>
                    </a:p>
                  </a:txBody>
                  <a:tcPr marL="54864" marR="54864" marT="27432" marB="27432">
                    <a:solidFill>
                      <a:srgbClr val="E9ECF1"/>
                    </a:solidFill>
                  </a:tcPr>
                </a:tc>
                <a:tc>
                  <a:txBody>
                    <a:bodyPr wrap="square"/>
                    <a:lstStyle/>
                    <a:p>
                      <a:pPr algn="l"/>
                      <a:r>
                        <a:rPr sz="1200" b="1">
                          <a:solidFill>
                            <a:srgbClr val="1F2A44"/>
                          </a:solidFill>
                          <a:latin typeface="Calibri"/>
                        </a:rPr>
                        <a:t>Headers probed</a:t>
                      </a:r>
                    </a:p>
                  </a:txBody>
                  <a:tcPr marL="54864" marR="54864" marT="27432" marB="27432">
                    <a:solidFill>
                      <a:srgbClr val="E9ECF1"/>
                    </a:solidFill>
                  </a:tcPr>
                </a:tc>
                <a:tc>
                  <a:txBody>
                    <a:bodyPr wrap="square"/>
                    <a:lstStyle/>
                    <a:p>
                      <a:pPr algn="l"/>
                      <a:r>
                        <a:rPr sz="1200" b="1">
                          <a:solidFill>
                            <a:srgbClr val="1F2A44"/>
                          </a:solidFill>
                          <a:latin typeface="Calibri"/>
                        </a:rPr>
                        <a:t>Sample read / planned</a:t>
                      </a:r>
                    </a:p>
                  </a:txBody>
                  <a:tcPr marL="54864" marR="54864" marT="27432" marB="27432">
                    <a:solidFill>
                      <a:srgbClr val="E9ECF1"/>
                    </a:solidFill>
                  </a:tcPr>
                </a:tc>
                <a:tc>
                  <a:txBody>
                    <a:bodyPr wrap="square"/>
                    <a:lstStyle/>
                    <a:p>
                      <a:pPr algn="l"/>
                      <a:r>
                        <a:rPr sz="1200" b="1">
                          <a:solidFill>
                            <a:srgbClr val="1F2A44"/>
                          </a:solidFill>
                          <a:latin typeface="Calibri"/>
                        </a:rPr>
                        <a:t>Header / sample completion</a:t>
                      </a:r>
                    </a:p>
                  </a:txBody>
                  <a:tcPr marL="54864" marR="54864" marT="27432" marB="27432">
                    <a:solidFill>
                      <a:srgbClr val="E9ECF1"/>
                    </a:solidFill>
                  </a:tcPr>
                </a:tc>
                <a:tc>
                  <a:txBody>
                    <a:bodyPr wrap="square"/>
                    <a:lstStyle/>
                    <a:p>
                      <a:pPr algn="l"/>
                      <a:r>
                        <a:rPr sz="1200" b="1">
                          <a:solidFill>
                            <a:srgbClr val="1F2A44"/>
                          </a:solidFill>
                          <a:latin typeface="Calibri"/>
                        </a:rPr>
                        <a:t>Next evidence step</a:t>
                      </a:r>
                    </a:p>
                  </a:txBody>
                  <a:tcPr marL="54864" marR="54864" marT="27432" marB="27432">
                    <a:solidFill>
                      <a:srgbClr val="E9ECF1"/>
                    </a:solidFill>
                  </a:tcPr>
                </a:tc>
              </a:tr>
              <a:tr h="384048">
                <a:tc>
                  <a:txBody>
                    <a:bodyPr wrap="square"/>
                    <a:lstStyle/>
                    <a:p>
                      <a:pPr algn="l"/>
                      <a:r>
                        <a:rPr sz="1200" b="0">
                          <a:solidFill>
                            <a:srgbClr val="1F2A44"/>
                          </a:solidFill>
                          <a:latin typeface="Calibri"/>
                        </a:rPr>
                        <a:t>OBS</a:t>
                      </a:r>
                    </a:p>
                  </a:txBody>
                  <a:tcPr marL="54864" marR="54864" marT="27432" marB="27432">
                    <a:solidFill>
                      <a:srgbClr val="FFFFFF"/>
                    </a:solidFill>
                  </a:tcPr>
                </a:tc>
                <a:tc>
                  <a:txBody>
                    <a:bodyPr wrap="square"/>
                    <a:lstStyle/>
                    <a:p>
                      <a:pPr algn="l"/>
                      <a:r>
                        <a:rPr sz="1200" b="0">
                          <a:solidFill>
                            <a:srgbClr val="1F2A44"/>
                          </a:solidFill>
                          <a:latin typeface="Calibri"/>
                        </a:rPr>
                        <a:t>4,601,133</a:t>
                      </a:r>
                    </a:p>
                  </a:txBody>
                  <a:tcPr marL="54864" marR="54864" marT="27432" marB="27432">
                    <a:solidFill>
                      <a:srgbClr val="FFFFFF"/>
                    </a:solidFill>
                  </a:tcPr>
                </a:tc>
                <a:tc>
                  <a:txBody>
                    <a:bodyPr wrap="square"/>
                    <a:lstStyle/>
                    <a:p>
                      <a:pPr algn="l"/>
                      <a:r>
                        <a:rPr sz="1200" b="0">
                          <a:solidFill>
                            <a:srgbClr val="1F2A44"/>
                          </a:solidFill>
                          <a:latin typeface="Calibri"/>
                        </a:rPr>
                        <a:t>242,569</a:t>
                      </a:r>
                    </a:p>
                  </a:txBody>
                  <a:tcPr marL="54864" marR="54864" marT="27432" marB="27432">
                    <a:solidFill>
                      <a:srgbClr val="FFFFFF"/>
                    </a:solidFill>
                  </a:tcPr>
                </a:tc>
                <a:tc>
                  <a:txBody>
                    <a:bodyPr wrap="square"/>
                    <a:lstStyle/>
                    <a:p>
                      <a:pPr algn="l"/>
                      <a:r>
                        <a:rPr sz="1200" b="0">
                          <a:solidFill>
                            <a:srgbClr val="1F2A44"/>
                          </a:solidFill>
                          <a:latin typeface="Calibri"/>
                        </a:rPr>
                        <a:t>7,523 / 40,715</a:t>
                      </a:r>
                    </a:p>
                  </a:txBody>
                  <a:tcPr marL="54864" marR="54864" marT="27432" marB="27432">
                    <a:solidFill>
                      <a:srgbClr val="FFFFFF"/>
                    </a:solidFill>
                  </a:tcPr>
                </a:tc>
                <a:tc>
                  <a:txBody>
                    <a:bodyPr wrap="square"/>
                    <a:lstStyle/>
                    <a:p>
                      <a:pPr algn="l"/>
                      <a:r>
                        <a:rPr sz="1200" b="0">
                          <a:solidFill>
                            <a:srgbClr val="1F2A44"/>
                          </a:solidFill>
                          <a:latin typeface="Calibri"/>
                        </a:rPr>
                        <a:t>incomplete / incomplete</a:t>
                      </a:r>
                    </a:p>
                  </a:txBody>
                  <a:tcPr marL="54864" marR="54864" marT="27432" marB="27432">
                    <a:solidFill>
                      <a:srgbClr val="FFFFFF"/>
                    </a:solidFill>
                  </a:tcPr>
                </a:tc>
                <a:tc>
                  <a:txBody>
                    <a:bodyPr wrap="square"/>
                    <a:lstStyle/>
                    <a:p>
                      <a:pPr algn="l"/>
                      <a:r>
                        <a:rPr sz="1200" b="0">
                          <a:solidFill>
                            <a:srgbClr val="1F2A44"/>
                          </a:solidFill>
                          <a:latin typeface="Calibri"/>
                        </a:rPr>
                        <a:t>Finish accessible-folder samples; target wide intervals; independently check model labels and duration estimates</a:t>
                      </a:r>
                    </a:p>
                  </a:txBody>
                  <a:tcPr marL="54864" marR="54864" marT="27432" marB="27432">
                    <a:solidFill>
                      <a:srgbClr val="FFFFFF"/>
                    </a:solidFill>
                  </a:tcPr>
                </a:tc>
              </a:tr>
              <a:tr h="384048">
                <a:tc>
                  <a:txBody>
                    <a:bodyPr wrap="square"/>
                    <a:lstStyle/>
                    <a:p>
                      <a:pPr algn="l"/>
                      <a:r>
                        <a:rPr sz="1200" b="0">
                          <a:solidFill>
                            <a:srgbClr val="1F2A44"/>
                          </a:solidFill>
                          <a:latin typeface="Calibri"/>
                        </a:rPr>
                        <a:t>NAS</a:t>
                      </a:r>
                    </a:p>
                  </a:txBody>
                  <a:tcPr marL="54864" marR="54864" marT="27432" marB="27432">
                    <a:solidFill>
                      <a:srgbClr val="FFFFFF"/>
                    </a:solidFill>
                  </a:tcPr>
                </a:tc>
                <a:tc>
                  <a:txBody>
                    <a:bodyPr wrap="square"/>
                    <a:lstStyle/>
                    <a:p>
                      <a:pPr algn="l"/>
                      <a:r>
                        <a:rPr sz="1200" b="0">
                          <a:solidFill>
                            <a:srgbClr val="1F2A44"/>
                          </a:solidFill>
                          <a:latin typeface="Calibri"/>
                        </a:rPr>
                        <a:t>1,088,056</a:t>
                      </a:r>
                    </a:p>
                  </a:txBody>
                  <a:tcPr marL="54864" marR="54864" marT="27432" marB="27432">
                    <a:solidFill>
                      <a:srgbClr val="FFFFFF"/>
                    </a:solidFill>
                  </a:tcPr>
                </a:tc>
                <a:tc>
                  <a:txBody>
                    <a:bodyPr wrap="square"/>
                    <a:lstStyle/>
                    <a:p>
                      <a:pPr algn="l"/>
                      <a:r>
                        <a:rPr sz="1200" b="0">
                          <a:solidFill>
                            <a:srgbClr val="1F2A44"/>
                          </a:solidFill>
                          <a:latin typeface="Calibri"/>
                        </a:rPr>
                        <a:t>7,262</a:t>
                      </a:r>
                    </a:p>
                  </a:txBody>
                  <a:tcPr marL="54864" marR="54864" marT="27432" marB="27432">
                    <a:solidFill>
                      <a:srgbClr val="FFFFFF"/>
                    </a:solidFill>
                  </a:tcPr>
                </a:tc>
                <a:tc>
                  <a:txBody>
                    <a:bodyPr wrap="square"/>
                    <a:lstStyle/>
                    <a:p>
                      <a:pPr algn="l"/>
                      <a:r>
                        <a:rPr sz="1200" b="0">
                          <a:solidFill>
                            <a:srgbClr val="1F2A44"/>
                          </a:solidFill>
                          <a:latin typeface="Calibri"/>
                        </a:rPr>
                        <a:t>185 / 10,487</a:t>
                      </a:r>
                    </a:p>
                  </a:txBody>
                  <a:tcPr marL="54864" marR="54864" marT="27432" marB="27432">
                    <a:solidFill>
                      <a:srgbClr val="FFFFFF"/>
                    </a:solidFill>
                  </a:tcPr>
                </a:tc>
                <a:tc>
                  <a:txBody>
                    <a:bodyPr wrap="square"/>
                    <a:lstStyle/>
                    <a:p>
                      <a:pPr algn="l"/>
                      <a:r>
                        <a:rPr sz="1200" b="0">
                          <a:solidFill>
                            <a:srgbClr val="1F2A44"/>
                          </a:solidFill>
                          <a:latin typeface="Calibri"/>
                        </a:rPr>
                        <a:t>incomplete / incomplete</a:t>
                      </a:r>
                    </a:p>
                  </a:txBody>
                  <a:tcPr marL="54864" marR="54864" marT="27432" marB="27432">
                    <a:solidFill>
                      <a:srgbClr val="FFFFFF"/>
                    </a:solidFill>
                  </a:tcPr>
                </a:tc>
                <a:tc>
                  <a:txBody>
                    <a:bodyPr wrap="square"/>
                    <a:lstStyle/>
                    <a:p>
                      <a:pPr algn="l"/>
                      <a:r>
                        <a:rPr sz="1200" b="0">
                          <a:solidFill>
                            <a:srgbClr val="1F2A44"/>
                          </a:solidFill>
                          <a:latin typeface="Calibri"/>
                        </a:rPr>
                        <a:t>Finish accessible-folder samples; target wide intervals; independently check model labels and duration estimates</a:t>
                      </a:r>
                    </a:p>
                  </a:txBody>
                  <a:tcPr marL="54864" marR="54864" marT="27432" marB="2743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C8102E"/>
                </a:solidFill>
                <a:latin typeface="Calibri"/>
              </a:rPr>
              <a:t>Listed media, files with header probes and files read in full are different populations.</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[measured]  Receipt R10: Interim tiered content census (content_sample); snapshots OBS 2026-10-03T01:40:08.564624+00:00; NAS 2026-10-03T01:38:24.195696+00:00; receipts cr-81526aa143aa, cr-8640b1cbcbc6, cr-aa33fffba60e, cr-bbf71c8d905a, cr-cf4eef79995b, cr-f1415e395361 on akki-vm and akki-vm-ii. Resumable listing, header probes of accessible audio and a per-folder video sample (ranged reads → ffprobe), with unprobed durations extrapolated where possible; a seeded stratified sample of files per folder read byte for byte, verified against the listing and judged on every two-second window by the admitted music detector and the current audio language model; ratio estimators with finite-population correction give the 95 % intervals. Listing, probing and sampling are incomplete. Model readings, not human labels; intervals exclude model error and inaccessible or unsampled content.</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53</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EVIDENCE BY NAME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Estimated speech hours by language in the currently covered readable scope</a:t>
            </a:r>
          </a:p>
        </p:txBody>
      </p:sp>
      <p:graphicFrame>
        <p:nvGraphicFramePr>
          <p:cNvPr id="4" name="Table 3"/>
          <p:cNvGraphicFramePr>
            <a:graphicFrameLocks noGrp="1"/>
          </p:cNvGraphicFramePr>
          <p:nvPr/>
        </p:nvGraphicFramePr>
        <p:xfrm>
          <a:off x="594360" y="1920240"/>
          <a:ext cx="11002974" cy="3017520"/>
        </p:xfrm>
        <a:graphic>
          <a:graphicData uri="http://schemas.openxmlformats.org/drawingml/2006/table">
            <a:tbl>
              <a:tblPr firstRow="1" bandRow="1">
                <a:tableStyleId>{5C22544A-7EE6-4342-B048-85BDC9FD1C3A}</a:tableStyleId>
              </a:tblPr>
              <a:tblGrid>
                <a:gridCol w="2800757"/>
                <a:gridCol w="3200865"/>
                <a:gridCol w="5001352"/>
              </a:tblGrid>
              <a:tr h="301752">
                <a:tc>
                  <a:txBody>
                    <a:bodyPr wrap="square"/>
                    <a:lstStyle/>
                    <a:p>
                      <a:pPr algn="l"/>
                      <a:r>
                        <a:rPr sz="1200" b="1">
                          <a:solidFill>
                            <a:srgbClr val="1F2A44"/>
                          </a:solidFill>
                          <a:latin typeface="Calibri"/>
                        </a:rPr>
                        <a:t>Store</a:t>
                      </a:r>
                    </a:p>
                  </a:txBody>
                  <a:tcPr marL="54864" marR="54864" marT="27432" marB="27432">
                    <a:solidFill>
                      <a:srgbClr val="E9ECF1"/>
                    </a:solidFill>
                  </a:tcPr>
                </a:tc>
                <a:tc>
                  <a:txBody>
                    <a:bodyPr wrap="square"/>
                    <a:lstStyle/>
                    <a:p>
                      <a:pPr algn="l"/>
                      <a:r>
                        <a:rPr sz="1200" b="1">
                          <a:solidFill>
                            <a:srgbClr val="1F2A44"/>
                          </a:solidFill>
                          <a:latin typeface="Calibri"/>
                        </a:rPr>
                        <a:t>Model language</a:t>
                      </a:r>
                    </a:p>
                  </a:txBody>
                  <a:tcPr marL="54864" marR="54864" marT="27432" marB="27432">
                    <a:solidFill>
                      <a:srgbClr val="E9ECF1"/>
                    </a:solidFill>
                  </a:tcPr>
                </a:tc>
                <a:tc>
                  <a:txBody>
                    <a:bodyPr wrap="square"/>
                    <a:lstStyle/>
                    <a:p>
                      <a:pPr algn="l"/>
                      <a:r>
                        <a:rPr sz="1200" b="1">
                          <a:solidFill>
                            <a:srgbClr val="1F2A44"/>
                          </a:solidFill>
                          <a:latin typeface="Calibri"/>
                        </a:rPr>
                        <a:t>Speech hours (95 %)</a:t>
                      </a:r>
                    </a:p>
                  </a:txBody>
                  <a:tcPr marL="54864" marR="54864" marT="27432" marB="27432">
                    <a:solidFill>
                      <a:srgbClr val="E9ECF1"/>
                    </a:solidFill>
                  </a:tcPr>
                </a:tc>
              </a:tr>
              <a:tr h="301752">
                <a:tc>
                  <a:txBody>
                    <a:bodyPr wrap="square"/>
                    <a:lstStyle/>
                    <a:p>
                      <a:pPr algn="l"/>
                      <a:r>
                        <a:rPr sz="1200" b="0">
                          <a:solidFill>
                            <a:srgbClr val="1F2A44"/>
                          </a:solidFill>
                          <a:latin typeface="Calibri"/>
                        </a:rPr>
                        <a:t>OBS</a:t>
                      </a:r>
                    </a:p>
                  </a:txBody>
                  <a:tcPr marL="54864" marR="54864" marT="27432" marB="27432">
                    <a:solidFill>
                      <a:srgbClr val="FFFFFF"/>
                    </a:solidFill>
                  </a:tcPr>
                </a:tc>
                <a:tc>
                  <a:txBody>
                    <a:bodyPr wrap="square"/>
                    <a:lstStyle/>
                    <a:p>
                      <a:pPr algn="l"/>
                      <a:r>
                        <a:rPr sz="1200" b="0">
                          <a:solidFill>
                            <a:srgbClr val="1F2A44"/>
                          </a:solidFill>
                          <a:latin typeface="Calibri"/>
                        </a:rPr>
                        <a:t>Gikuyu (Kikuyu)</a:t>
                      </a:r>
                    </a:p>
                  </a:txBody>
                  <a:tcPr marL="54864" marR="54864" marT="27432" marB="27432">
                    <a:solidFill>
                      <a:srgbClr val="FFFFFF"/>
                    </a:solidFill>
                  </a:tcPr>
                </a:tc>
                <a:tc>
                  <a:txBody>
                    <a:bodyPr wrap="square"/>
                    <a:lstStyle/>
                    <a:p>
                      <a:pPr algn="r"/>
                      <a:r>
                        <a:rPr sz="1200" b="0">
                          <a:solidFill>
                            <a:srgbClr val="1F2A44"/>
                          </a:solidFill>
                          <a:latin typeface="Courier New"/>
                        </a:rPr>
                        <a:t>4,270.2 (3,870.6–4,669.8)</a:t>
                      </a:r>
                    </a:p>
                  </a:txBody>
                  <a:tcPr marL="54864" marR="54864" marT="27432" marB="27432">
                    <a:solidFill>
                      <a:srgbClr val="FFFFFF"/>
                    </a:solidFill>
                  </a:tcPr>
                </a:tc>
              </a:tr>
              <a:tr h="301752">
                <a:tc>
                  <a:txBody>
                    <a:bodyPr wrap="square"/>
                    <a:lstStyle/>
                    <a:p>
                      <a:pPr algn="l"/>
                      <a:r>
                        <a:rPr sz="1200" b="0">
                          <a:solidFill>
                            <a:srgbClr val="1F2A44"/>
                          </a:solidFill>
                          <a:latin typeface="Calibri"/>
                        </a:rPr>
                        <a:t>OBS</a:t>
                      </a:r>
                    </a:p>
                  </a:txBody>
                  <a:tcPr marL="54864" marR="54864" marT="27432" marB="27432">
                    <a:solidFill>
                      <a:srgbClr val="FFFFFF"/>
                    </a:solidFill>
                  </a:tcPr>
                </a:tc>
                <a:tc>
                  <a:txBody>
                    <a:bodyPr wrap="square"/>
                    <a:lstStyle/>
                    <a:p>
                      <a:pPr algn="l"/>
                      <a:r>
                        <a:rPr sz="1200" b="0">
                          <a:solidFill>
                            <a:srgbClr val="1F2A44"/>
                          </a:solidFill>
                          <a:latin typeface="Calibri"/>
                        </a:rPr>
                        <a:t>Kiswahili</a:t>
                      </a:r>
                    </a:p>
                  </a:txBody>
                  <a:tcPr marL="54864" marR="54864" marT="27432" marB="27432">
                    <a:solidFill>
                      <a:srgbClr val="FFFFFF"/>
                    </a:solidFill>
                  </a:tcPr>
                </a:tc>
                <a:tc>
                  <a:txBody>
                    <a:bodyPr wrap="square"/>
                    <a:lstStyle/>
                    <a:p>
                      <a:pPr algn="r"/>
                      <a:r>
                        <a:rPr sz="1200" b="0">
                          <a:solidFill>
                            <a:srgbClr val="1F2A44"/>
                          </a:solidFill>
                          <a:latin typeface="Courier New"/>
                        </a:rPr>
                        <a:t>3,613.5 (3,346.5–3,880.5)</a:t>
                      </a:r>
                    </a:p>
                  </a:txBody>
                  <a:tcPr marL="54864" marR="54864" marT="27432" marB="27432">
                    <a:solidFill>
                      <a:srgbClr val="FFFFFF"/>
                    </a:solidFill>
                  </a:tcPr>
                </a:tc>
              </a:tr>
              <a:tr h="301752">
                <a:tc>
                  <a:txBody>
                    <a:bodyPr wrap="square"/>
                    <a:lstStyle/>
                    <a:p>
                      <a:pPr algn="l"/>
                      <a:r>
                        <a:rPr sz="1200" b="0">
                          <a:solidFill>
                            <a:srgbClr val="1F2A44"/>
                          </a:solidFill>
                          <a:latin typeface="Calibri"/>
                        </a:rPr>
                        <a:t>OBS</a:t>
                      </a:r>
                    </a:p>
                  </a:txBody>
                  <a:tcPr marL="54864" marR="54864" marT="27432" marB="27432">
                    <a:solidFill>
                      <a:srgbClr val="FFFFFF"/>
                    </a:solidFill>
                  </a:tcPr>
                </a:tc>
                <a:tc>
                  <a:txBody>
                    <a:bodyPr wrap="square"/>
                    <a:lstStyle/>
                    <a:p>
                      <a:pPr algn="l"/>
                      <a:r>
                        <a:rPr sz="1200" b="0">
                          <a:solidFill>
                            <a:srgbClr val="1F2A44"/>
                          </a:solidFill>
                          <a:latin typeface="Calibri"/>
                        </a:rPr>
                        <a:t>Ekegusii (Kisii)</a:t>
                      </a:r>
                    </a:p>
                  </a:txBody>
                  <a:tcPr marL="54864" marR="54864" marT="27432" marB="27432">
                    <a:solidFill>
                      <a:srgbClr val="FFFFFF"/>
                    </a:solidFill>
                  </a:tcPr>
                </a:tc>
                <a:tc>
                  <a:txBody>
                    <a:bodyPr wrap="square"/>
                    <a:lstStyle/>
                    <a:p>
                      <a:pPr algn="r"/>
                      <a:r>
                        <a:rPr sz="1200" b="0">
                          <a:solidFill>
                            <a:srgbClr val="1F2A44"/>
                          </a:solidFill>
                          <a:latin typeface="Courier New"/>
                        </a:rPr>
                        <a:t>2,699.6 (2,412.4–2,986.7)</a:t>
                      </a:r>
                    </a:p>
                  </a:txBody>
                  <a:tcPr marL="54864" marR="54864" marT="27432" marB="27432">
                    <a:solidFill>
                      <a:srgbClr val="FFFFFF"/>
                    </a:solidFill>
                  </a:tcPr>
                </a:tc>
              </a:tr>
              <a:tr h="301752">
                <a:tc>
                  <a:txBody>
                    <a:bodyPr wrap="square"/>
                    <a:lstStyle/>
                    <a:p>
                      <a:pPr algn="l"/>
                      <a:r>
                        <a:rPr sz="1200" b="0">
                          <a:solidFill>
                            <a:srgbClr val="1F2A44"/>
                          </a:solidFill>
                          <a:latin typeface="Calibri"/>
                        </a:rPr>
                        <a:t>OBS</a:t>
                      </a:r>
                    </a:p>
                  </a:txBody>
                  <a:tcPr marL="54864" marR="54864" marT="27432" marB="27432">
                    <a:solidFill>
                      <a:srgbClr val="FFFFFF"/>
                    </a:solidFill>
                  </a:tcPr>
                </a:tc>
                <a:tc>
                  <a:txBody>
                    <a:bodyPr wrap="square"/>
                    <a:lstStyle/>
                    <a:p>
                      <a:pPr algn="l"/>
                      <a:r>
                        <a:rPr sz="1200" b="0">
                          <a:solidFill>
                            <a:srgbClr val="1F2A44"/>
                          </a:solidFill>
                          <a:latin typeface="Calibri"/>
                        </a:rPr>
                        <a:t>Wanga (Luhya)</a:t>
                      </a:r>
                    </a:p>
                  </a:txBody>
                  <a:tcPr marL="54864" marR="54864" marT="27432" marB="27432">
                    <a:solidFill>
                      <a:srgbClr val="FFFFFF"/>
                    </a:solidFill>
                  </a:tcPr>
                </a:tc>
                <a:tc>
                  <a:txBody>
                    <a:bodyPr wrap="square"/>
                    <a:lstStyle/>
                    <a:p>
                      <a:pPr algn="r"/>
                      <a:r>
                        <a:rPr sz="1200" b="0">
                          <a:solidFill>
                            <a:srgbClr val="1F2A44"/>
                          </a:solidFill>
                          <a:latin typeface="Courier New"/>
                        </a:rPr>
                        <a:t>2,682.5 (2,428.9–2,936.1)</a:t>
                      </a:r>
                    </a:p>
                  </a:txBody>
                  <a:tcPr marL="54864" marR="54864" marT="27432" marB="27432">
                    <a:solidFill>
                      <a:srgbClr val="FFFFFF"/>
                    </a:solidFill>
                  </a:tcPr>
                </a:tc>
              </a:tr>
              <a:tr h="301752">
                <a:tc>
                  <a:txBody>
                    <a:bodyPr wrap="square"/>
                    <a:lstStyle/>
                    <a:p>
                      <a:pPr algn="l"/>
                      <a:r>
                        <a:rPr sz="1200" b="0">
                          <a:solidFill>
                            <a:srgbClr val="1F2A44"/>
                          </a:solidFill>
                          <a:latin typeface="Calibri"/>
                        </a:rPr>
                        <a:t>OBS</a:t>
                      </a:r>
                    </a:p>
                  </a:txBody>
                  <a:tcPr marL="54864" marR="54864" marT="27432" marB="27432">
                    <a:solidFill>
                      <a:srgbClr val="FFFFFF"/>
                    </a:solidFill>
                  </a:tcPr>
                </a:tc>
                <a:tc>
                  <a:txBody>
                    <a:bodyPr wrap="square"/>
                    <a:lstStyle/>
                    <a:p>
                      <a:pPr algn="l"/>
                      <a:r>
                        <a:rPr sz="1200" b="0">
                          <a:solidFill>
                            <a:srgbClr val="1F2A44"/>
                          </a:solidFill>
                          <a:latin typeface="Calibri"/>
                        </a:rPr>
                        <a:t>Kalenjin</a:t>
                      </a:r>
                    </a:p>
                  </a:txBody>
                  <a:tcPr marL="54864" marR="54864" marT="27432" marB="27432">
                    <a:solidFill>
                      <a:srgbClr val="FFFFFF"/>
                    </a:solidFill>
                  </a:tcPr>
                </a:tc>
                <a:tc>
                  <a:txBody>
                    <a:bodyPr wrap="square"/>
                    <a:lstStyle/>
                    <a:p>
                      <a:pPr algn="r"/>
                      <a:r>
                        <a:rPr sz="1200" b="0">
                          <a:solidFill>
                            <a:srgbClr val="1F2A44"/>
                          </a:solidFill>
                          <a:latin typeface="Courier New"/>
                        </a:rPr>
                        <a:t>2,145.1 (1,594.9–2,695.3)</a:t>
                      </a:r>
                    </a:p>
                  </a:txBody>
                  <a:tcPr marL="54864" marR="54864" marT="27432" marB="27432">
                    <a:solidFill>
                      <a:srgbClr val="FFFFFF"/>
                    </a:solidFill>
                  </a:tcPr>
                </a:tc>
              </a:tr>
              <a:tr h="301752">
                <a:tc>
                  <a:txBody>
                    <a:bodyPr wrap="square"/>
                    <a:lstStyle/>
                    <a:p>
                      <a:pPr algn="l"/>
                      <a:r>
                        <a:rPr sz="1200" b="0">
                          <a:solidFill>
                            <a:srgbClr val="1F2A44"/>
                          </a:solidFill>
                          <a:latin typeface="Calibri"/>
                        </a:rPr>
                        <a:t>OBS</a:t>
                      </a:r>
                    </a:p>
                  </a:txBody>
                  <a:tcPr marL="54864" marR="54864" marT="27432" marB="27432">
                    <a:solidFill>
                      <a:srgbClr val="FFFFFF"/>
                    </a:solidFill>
                  </a:tcPr>
                </a:tc>
                <a:tc>
                  <a:txBody>
                    <a:bodyPr wrap="square"/>
                    <a:lstStyle/>
                    <a:p>
                      <a:pPr algn="l"/>
                      <a:r>
                        <a:rPr sz="1200" b="0">
                          <a:solidFill>
                            <a:srgbClr val="1F2A44"/>
                          </a:solidFill>
                          <a:latin typeface="Calibri"/>
                        </a:rPr>
                        <a:t>Dholuo (Luo)</a:t>
                      </a:r>
                    </a:p>
                  </a:txBody>
                  <a:tcPr marL="54864" marR="54864" marT="27432" marB="27432">
                    <a:solidFill>
                      <a:srgbClr val="FFFFFF"/>
                    </a:solidFill>
                  </a:tcPr>
                </a:tc>
                <a:tc>
                  <a:txBody>
                    <a:bodyPr wrap="square"/>
                    <a:lstStyle/>
                    <a:p>
                      <a:pPr algn="r"/>
                      <a:r>
                        <a:rPr sz="1200" b="0">
                          <a:solidFill>
                            <a:srgbClr val="1F2A44"/>
                          </a:solidFill>
                          <a:latin typeface="Courier New"/>
                        </a:rPr>
                        <a:t>1,761.0 (1,539.1–1,982.9)</a:t>
                      </a:r>
                    </a:p>
                  </a:txBody>
                  <a:tcPr marL="54864" marR="54864" marT="27432" marB="27432">
                    <a:solidFill>
                      <a:srgbClr val="FFFFFF"/>
                    </a:solidFill>
                  </a:tcPr>
                </a:tc>
              </a:tr>
              <a:tr h="301752">
                <a:tc>
                  <a:txBody>
                    <a:bodyPr wrap="square"/>
                    <a:lstStyle/>
                    <a:p>
                      <a:pPr algn="l"/>
                      <a:r>
                        <a:rPr sz="1200" b="0">
                          <a:solidFill>
                            <a:srgbClr val="1F2A44"/>
                          </a:solidFill>
                          <a:latin typeface="Calibri"/>
                        </a:rPr>
                        <a:t>OBS</a:t>
                      </a:r>
                    </a:p>
                  </a:txBody>
                  <a:tcPr marL="54864" marR="54864" marT="27432" marB="27432">
                    <a:solidFill>
                      <a:srgbClr val="FFFFFF"/>
                    </a:solidFill>
                  </a:tcPr>
                </a:tc>
                <a:tc>
                  <a:txBody>
                    <a:bodyPr wrap="square"/>
                    <a:lstStyle/>
                    <a:p>
                      <a:pPr algn="l"/>
                      <a:r>
                        <a:rPr sz="1200" b="0">
                          <a:solidFill>
                            <a:srgbClr val="1F2A44"/>
                          </a:solidFill>
                          <a:latin typeface="Calibri"/>
                        </a:rPr>
                        <a:t>Kikamba (Kamba)</a:t>
                      </a:r>
                    </a:p>
                  </a:txBody>
                  <a:tcPr marL="54864" marR="54864" marT="27432" marB="27432">
                    <a:solidFill>
                      <a:srgbClr val="FFFFFF"/>
                    </a:solidFill>
                  </a:tcPr>
                </a:tc>
                <a:tc>
                  <a:txBody>
                    <a:bodyPr wrap="square"/>
                    <a:lstStyle/>
                    <a:p>
                      <a:pPr algn="r"/>
                      <a:r>
                        <a:rPr sz="1200" b="0">
                          <a:solidFill>
                            <a:srgbClr val="1F2A44"/>
                          </a:solidFill>
                          <a:latin typeface="Courier New"/>
                        </a:rPr>
                        <a:t>949.0 (844.2–1,053.8)</a:t>
                      </a:r>
                    </a:p>
                  </a:txBody>
                  <a:tcPr marL="54864" marR="54864" marT="27432" marB="27432">
                    <a:solidFill>
                      <a:srgbClr val="FFFFFF"/>
                    </a:solidFill>
                  </a:tcPr>
                </a:tc>
              </a:tr>
              <a:tr h="301752">
                <a:tc>
                  <a:txBody>
                    <a:bodyPr wrap="square"/>
                    <a:lstStyle/>
                    <a:p>
                      <a:pPr algn="l"/>
                      <a:r>
                        <a:rPr sz="1200" b="0">
                          <a:solidFill>
                            <a:srgbClr val="1F2A44"/>
                          </a:solidFill>
                          <a:latin typeface="Calibri"/>
                        </a:rPr>
                        <a:t>NAS</a:t>
                      </a:r>
                    </a:p>
                  </a:txBody>
                  <a:tcPr marL="54864" marR="54864" marT="27432" marB="27432">
                    <a:solidFill>
                      <a:srgbClr val="FFFFFF"/>
                    </a:solidFill>
                  </a:tcPr>
                </a:tc>
                <a:tc>
                  <a:txBody>
                    <a:bodyPr wrap="square"/>
                    <a:lstStyle/>
                    <a:p>
                      <a:pPr algn="l"/>
                      <a:r>
                        <a:rPr sz="1200" b="0">
                          <a:solidFill>
                            <a:srgbClr val="1F2A44"/>
                          </a:solidFill>
                          <a:latin typeface="Calibri"/>
                        </a:rPr>
                        <a:t>Kiswahili</a:t>
                      </a:r>
                    </a:p>
                  </a:txBody>
                  <a:tcPr marL="54864" marR="54864" marT="27432" marB="27432">
                    <a:solidFill>
                      <a:srgbClr val="FFFFFF"/>
                    </a:solidFill>
                  </a:tcPr>
                </a:tc>
                <a:tc>
                  <a:txBody>
                    <a:bodyPr wrap="square"/>
                    <a:lstStyle/>
                    <a:p>
                      <a:pPr algn="r"/>
                      <a:r>
                        <a:rPr sz="1200" b="0">
                          <a:solidFill>
                            <a:srgbClr val="1F2A44"/>
                          </a:solidFill>
                          <a:latin typeface="Courier New"/>
                        </a:rPr>
                        <a:t>773.5 (639.7–907.2)</a:t>
                      </a:r>
                    </a:p>
                  </a:txBody>
                  <a:tcPr marL="54864" marR="54864" marT="27432" marB="27432">
                    <a:solidFill>
                      <a:srgbClr val="FFFFFF"/>
                    </a:solidFill>
                  </a:tcPr>
                </a:tc>
              </a:tr>
              <a:tr h="301752">
                <a:tc>
                  <a:txBody>
                    <a:bodyPr wrap="square"/>
                    <a:lstStyle/>
                    <a:p>
                      <a:pPr algn="l"/>
                      <a:r>
                        <a:rPr sz="1200" b="0">
                          <a:solidFill>
                            <a:srgbClr val="1F2A44"/>
                          </a:solidFill>
                          <a:latin typeface="Calibri"/>
                        </a:rPr>
                        <a:t>NAS</a:t>
                      </a:r>
                    </a:p>
                  </a:txBody>
                  <a:tcPr marL="54864" marR="54864" marT="27432" marB="27432">
                    <a:solidFill>
                      <a:srgbClr val="FFFFFF"/>
                    </a:solidFill>
                  </a:tcPr>
                </a:tc>
                <a:tc>
                  <a:txBody>
                    <a:bodyPr wrap="square"/>
                    <a:lstStyle/>
                    <a:p>
                      <a:pPr algn="l"/>
                      <a:r>
                        <a:rPr sz="1200" b="0">
                          <a:solidFill>
                            <a:srgbClr val="1F2A44"/>
                          </a:solidFill>
                          <a:latin typeface="Calibri"/>
                        </a:rPr>
                        <a:t>Kikamba (Kamba)</a:t>
                      </a:r>
                    </a:p>
                  </a:txBody>
                  <a:tcPr marL="54864" marR="54864" marT="27432" marB="27432">
                    <a:solidFill>
                      <a:srgbClr val="FFFFFF"/>
                    </a:solidFill>
                  </a:tcPr>
                </a:tc>
                <a:tc>
                  <a:txBody>
                    <a:bodyPr wrap="square"/>
                    <a:lstStyle/>
                    <a:p>
                      <a:pPr algn="r"/>
                      <a:r>
                        <a:rPr sz="1200" b="0">
                          <a:solidFill>
                            <a:srgbClr val="1F2A44"/>
                          </a:solidFill>
                          <a:latin typeface="Courier New"/>
                        </a:rPr>
                        <a:t>402.5 (289.8–515.2)</a:t>
                      </a:r>
                    </a:p>
                  </a:txBody>
                  <a:tcPr marL="54864" marR="54864" marT="27432" marB="2743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C8102E"/>
                </a:solidFill>
                <a:latin typeface="Calibri"/>
              </a:rPr>
              <a:t>All model-reported languages, separately by store; 95 % sampling intervals do not include classification error.</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[estimated]  Receipt R10: Interim tiered content census (content_sample); snapshots OBS 2026-10-03T01:40:08.564624+00:00; NAS 2026-10-03T01:38:24.195696+00:00; receipts cr-81526aa143aa, cr-8640b1cbcbc6, cr-aa33fffba60e, cr-bbf71c8d905a, cr-cf4eef79995b, cr-f1415e395361 on akki-vm and akki-vm-ii. Resumable listing, header probes of accessible audio and a per-folder video sample (ranged reads → ffprobe), with unprobed durations extrapolated where possible; a seeded stratified sample of files per folder read byte for byte, verified against the listing and judged on every two-second window by the admitted music detector and the current audio language model; ratio estimators with finite-population correction give the 95 % intervals. Listing, probing and sampling are incomplete. Model readings, not human labels; intervals exclude model error and inaccessible or unsampled content.</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54</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EVIDENCE BY NAME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Estimated speech hours by language in the currently covered readable scope</a:t>
            </a:r>
          </a:p>
        </p:txBody>
      </p:sp>
      <p:graphicFrame>
        <p:nvGraphicFramePr>
          <p:cNvPr id="4" name="Table 3"/>
          <p:cNvGraphicFramePr>
            <a:graphicFrameLocks noGrp="1"/>
          </p:cNvGraphicFramePr>
          <p:nvPr/>
        </p:nvGraphicFramePr>
        <p:xfrm>
          <a:off x="594360" y="1920240"/>
          <a:ext cx="11002974" cy="2304288"/>
        </p:xfrm>
        <a:graphic>
          <a:graphicData uri="http://schemas.openxmlformats.org/drawingml/2006/table">
            <a:tbl>
              <a:tblPr firstRow="1" bandRow="1">
                <a:tableStyleId>{5C22544A-7EE6-4342-B048-85BDC9FD1C3A}</a:tableStyleId>
              </a:tblPr>
              <a:tblGrid>
                <a:gridCol w="3143707"/>
                <a:gridCol w="3592808"/>
                <a:gridCol w="4266459"/>
              </a:tblGrid>
              <a:tr h="384048">
                <a:tc>
                  <a:txBody>
                    <a:bodyPr wrap="square"/>
                    <a:lstStyle/>
                    <a:p>
                      <a:pPr algn="l"/>
                      <a:r>
                        <a:rPr sz="1300" b="1">
                          <a:solidFill>
                            <a:srgbClr val="1F2A44"/>
                          </a:solidFill>
                          <a:latin typeface="Calibri"/>
                        </a:rPr>
                        <a:t>Store</a:t>
                      </a:r>
                    </a:p>
                  </a:txBody>
                  <a:tcPr marL="54864" marR="54864" marT="27432" marB="27432">
                    <a:solidFill>
                      <a:srgbClr val="E9ECF1"/>
                    </a:solidFill>
                  </a:tcPr>
                </a:tc>
                <a:tc>
                  <a:txBody>
                    <a:bodyPr wrap="square"/>
                    <a:lstStyle/>
                    <a:p>
                      <a:pPr algn="l"/>
                      <a:r>
                        <a:rPr sz="1300" b="1">
                          <a:solidFill>
                            <a:srgbClr val="1F2A44"/>
                          </a:solidFill>
                          <a:latin typeface="Calibri"/>
                        </a:rPr>
                        <a:t>Model language</a:t>
                      </a:r>
                    </a:p>
                  </a:txBody>
                  <a:tcPr marL="54864" marR="54864" marT="27432" marB="27432">
                    <a:solidFill>
                      <a:srgbClr val="E9ECF1"/>
                    </a:solidFill>
                  </a:tcPr>
                </a:tc>
                <a:tc>
                  <a:txBody>
                    <a:bodyPr wrap="square"/>
                    <a:lstStyle/>
                    <a:p>
                      <a:pPr algn="l"/>
                      <a:r>
                        <a:rPr sz="1300" b="1">
                          <a:solidFill>
                            <a:srgbClr val="1F2A44"/>
                          </a:solidFill>
                          <a:latin typeface="Calibri"/>
                        </a:rPr>
                        <a:t>Speech hours (95 %)</a:t>
                      </a:r>
                    </a:p>
                  </a:txBody>
                  <a:tcPr marL="54864" marR="54864" marT="27432" marB="27432">
                    <a:solidFill>
                      <a:srgbClr val="E9ECF1"/>
                    </a:solidFill>
                  </a:tcPr>
                </a:tc>
              </a:tr>
              <a:tr h="384048">
                <a:tc>
                  <a:txBody>
                    <a:bodyPr wrap="square"/>
                    <a:lstStyle/>
                    <a:p>
                      <a:pPr algn="l"/>
                      <a:r>
                        <a:rPr sz="1300" b="0">
                          <a:solidFill>
                            <a:srgbClr val="1F2A44"/>
                          </a:solidFill>
                          <a:latin typeface="Calibri"/>
                        </a:rPr>
                        <a:t>NAS</a:t>
                      </a:r>
                    </a:p>
                  </a:txBody>
                  <a:tcPr marL="54864" marR="54864" marT="27432" marB="27432">
                    <a:solidFill>
                      <a:srgbClr val="FFFFFF"/>
                    </a:solidFill>
                  </a:tcPr>
                </a:tc>
                <a:tc>
                  <a:txBody>
                    <a:bodyPr wrap="square"/>
                    <a:lstStyle/>
                    <a:p>
                      <a:pPr algn="l"/>
                      <a:r>
                        <a:rPr sz="1300" b="0">
                          <a:solidFill>
                            <a:srgbClr val="1F2A44"/>
                          </a:solidFill>
                          <a:latin typeface="Calibri"/>
                        </a:rPr>
                        <a:t>Dholuo (Luo)</a:t>
                      </a:r>
                    </a:p>
                  </a:txBody>
                  <a:tcPr marL="54864" marR="54864" marT="27432" marB="27432">
                    <a:solidFill>
                      <a:srgbClr val="FFFFFF"/>
                    </a:solidFill>
                  </a:tcPr>
                </a:tc>
                <a:tc>
                  <a:txBody>
                    <a:bodyPr wrap="square"/>
                    <a:lstStyle/>
                    <a:p>
                      <a:pPr algn="r"/>
                      <a:r>
                        <a:rPr sz="1300" b="0">
                          <a:solidFill>
                            <a:srgbClr val="1F2A44"/>
                          </a:solidFill>
                          <a:latin typeface="Courier New"/>
                        </a:rPr>
                        <a:t>136.2 (102.7–169.8)</a:t>
                      </a:r>
                    </a:p>
                  </a:txBody>
                  <a:tcPr marL="54864" marR="54864" marT="27432" marB="27432">
                    <a:solidFill>
                      <a:srgbClr val="FFFFFF"/>
                    </a:solidFill>
                  </a:tcPr>
                </a:tc>
              </a:tr>
              <a:tr h="384048">
                <a:tc>
                  <a:txBody>
                    <a:bodyPr wrap="square"/>
                    <a:lstStyle/>
                    <a:p>
                      <a:pPr algn="l"/>
                      <a:r>
                        <a:rPr sz="1300" b="0">
                          <a:solidFill>
                            <a:srgbClr val="1F2A44"/>
                          </a:solidFill>
                          <a:latin typeface="Calibri"/>
                        </a:rPr>
                        <a:t>NAS</a:t>
                      </a:r>
                    </a:p>
                  </a:txBody>
                  <a:tcPr marL="54864" marR="54864" marT="27432" marB="27432">
                    <a:solidFill>
                      <a:srgbClr val="FFFFFF"/>
                    </a:solidFill>
                  </a:tcPr>
                </a:tc>
                <a:tc>
                  <a:txBody>
                    <a:bodyPr wrap="square"/>
                    <a:lstStyle/>
                    <a:p>
                      <a:pPr algn="l"/>
                      <a:r>
                        <a:rPr sz="1300" b="0">
                          <a:solidFill>
                            <a:srgbClr val="1F2A44"/>
                          </a:solidFill>
                          <a:latin typeface="Calibri"/>
                        </a:rPr>
                        <a:t>Gikuyu (Kikuyu)</a:t>
                      </a:r>
                    </a:p>
                  </a:txBody>
                  <a:tcPr marL="54864" marR="54864" marT="27432" marB="27432">
                    <a:solidFill>
                      <a:srgbClr val="FFFFFF"/>
                    </a:solidFill>
                  </a:tcPr>
                </a:tc>
                <a:tc>
                  <a:txBody>
                    <a:bodyPr wrap="square"/>
                    <a:lstStyle/>
                    <a:p>
                      <a:pPr algn="r"/>
                      <a:r>
                        <a:rPr sz="1300" b="0">
                          <a:solidFill>
                            <a:srgbClr val="1F2A44"/>
                          </a:solidFill>
                          <a:latin typeface="Courier New"/>
                        </a:rPr>
                        <a:t>103.8 (73.0–134.5)</a:t>
                      </a:r>
                    </a:p>
                  </a:txBody>
                  <a:tcPr marL="54864" marR="54864" marT="27432" marB="27432">
                    <a:solidFill>
                      <a:srgbClr val="FFFFFF"/>
                    </a:solidFill>
                  </a:tcPr>
                </a:tc>
              </a:tr>
              <a:tr h="384048">
                <a:tc>
                  <a:txBody>
                    <a:bodyPr wrap="square"/>
                    <a:lstStyle/>
                    <a:p>
                      <a:pPr algn="l"/>
                      <a:r>
                        <a:rPr sz="1300" b="0">
                          <a:solidFill>
                            <a:srgbClr val="1F2A44"/>
                          </a:solidFill>
                          <a:latin typeface="Calibri"/>
                        </a:rPr>
                        <a:t>NAS</a:t>
                      </a:r>
                    </a:p>
                  </a:txBody>
                  <a:tcPr marL="54864" marR="54864" marT="27432" marB="27432">
                    <a:solidFill>
                      <a:srgbClr val="FFFFFF"/>
                    </a:solidFill>
                  </a:tcPr>
                </a:tc>
                <a:tc>
                  <a:txBody>
                    <a:bodyPr wrap="square"/>
                    <a:lstStyle/>
                    <a:p>
                      <a:pPr algn="l"/>
                      <a:r>
                        <a:rPr sz="1300" b="0">
                          <a:solidFill>
                            <a:srgbClr val="1F2A44"/>
                          </a:solidFill>
                          <a:latin typeface="Calibri"/>
                        </a:rPr>
                        <a:t>Kalenjin</a:t>
                      </a:r>
                    </a:p>
                  </a:txBody>
                  <a:tcPr marL="54864" marR="54864" marT="27432" marB="27432">
                    <a:solidFill>
                      <a:srgbClr val="FFFFFF"/>
                    </a:solidFill>
                  </a:tcPr>
                </a:tc>
                <a:tc>
                  <a:txBody>
                    <a:bodyPr wrap="square"/>
                    <a:lstStyle/>
                    <a:p>
                      <a:pPr algn="r"/>
                      <a:r>
                        <a:rPr sz="1300" b="0">
                          <a:solidFill>
                            <a:srgbClr val="1F2A44"/>
                          </a:solidFill>
                          <a:latin typeface="Courier New"/>
                        </a:rPr>
                        <a:t>41.7 (23.5–60.0)</a:t>
                      </a:r>
                    </a:p>
                  </a:txBody>
                  <a:tcPr marL="54864" marR="54864" marT="27432" marB="27432">
                    <a:solidFill>
                      <a:srgbClr val="FFFFFF"/>
                    </a:solidFill>
                  </a:tcPr>
                </a:tc>
              </a:tr>
              <a:tr h="384048">
                <a:tc>
                  <a:txBody>
                    <a:bodyPr wrap="square"/>
                    <a:lstStyle/>
                    <a:p>
                      <a:pPr algn="l"/>
                      <a:r>
                        <a:rPr sz="1300" b="0">
                          <a:solidFill>
                            <a:srgbClr val="1F2A44"/>
                          </a:solidFill>
                          <a:latin typeface="Calibri"/>
                        </a:rPr>
                        <a:t>NAS</a:t>
                      </a:r>
                    </a:p>
                  </a:txBody>
                  <a:tcPr marL="54864" marR="54864" marT="27432" marB="27432">
                    <a:solidFill>
                      <a:srgbClr val="FFFFFF"/>
                    </a:solidFill>
                  </a:tcPr>
                </a:tc>
                <a:tc>
                  <a:txBody>
                    <a:bodyPr wrap="square"/>
                    <a:lstStyle/>
                    <a:p>
                      <a:pPr algn="l"/>
                      <a:r>
                        <a:rPr sz="1300" b="0">
                          <a:solidFill>
                            <a:srgbClr val="1F2A44"/>
                          </a:solidFill>
                          <a:latin typeface="Calibri"/>
                        </a:rPr>
                        <a:t>Wanga (Luhya)</a:t>
                      </a:r>
                    </a:p>
                  </a:txBody>
                  <a:tcPr marL="54864" marR="54864" marT="27432" marB="27432">
                    <a:solidFill>
                      <a:srgbClr val="FFFFFF"/>
                    </a:solidFill>
                  </a:tcPr>
                </a:tc>
                <a:tc>
                  <a:txBody>
                    <a:bodyPr wrap="square"/>
                    <a:lstStyle/>
                    <a:p>
                      <a:pPr algn="r"/>
                      <a:r>
                        <a:rPr sz="1300" b="0">
                          <a:solidFill>
                            <a:srgbClr val="1F2A44"/>
                          </a:solidFill>
                          <a:latin typeface="Courier New"/>
                        </a:rPr>
                        <a:t>9.3 (3.3–15.2)</a:t>
                      </a:r>
                    </a:p>
                  </a:txBody>
                  <a:tcPr marL="54864" marR="54864" marT="27432" marB="27432">
                    <a:solidFill>
                      <a:srgbClr val="FFFFFF"/>
                    </a:solidFill>
                  </a:tcPr>
                </a:tc>
              </a:tr>
              <a:tr h="384048">
                <a:tc>
                  <a:txBody>
                    <a:bodyPr wrap="square"/>
                    <a:lstStyle/>
                    <a:p>
                      <a:pPr algn="l"/>
                      <a:r>
                        <a:rPr sz="1300" b="0">
                          <a:solidFill>
                            <a:srgbClr val="1F2A44"/>
                          </a:solidFill>
                          <a:latin typeface="Calibri"/>
                        </a:rPr>
                        <a:t>NAS</a:t>
                      </a:r>
                    </a:p>
                  </a:txBody>
                  <a:tcPr marL="54864" marR="54864" marT="27432" marB="27432">
                    <a:solidFill>
                      <a:srgbClr val="FFFFFF"/>
                    </a:solidFill>
                  </a:tcPr>
                </a:tc>
                <a:tc>
                  <a:txBody>
                    <a:bodyPr wrap="square"/>
                    <a:lstStyle/>
                    <a:p>
                      <a:pPr algn="l"/>
                      <a:r>
                        <a:rPr sz="1300" b="0">
                          <a:solidFill>
                            <a:srgbClr val="1F2A44"/>
                          </a:solidFill>
                          <a:latin typeface="Calibri"/>
                        </a:rPr>
                        <a:t>Ekegusii (Kisii)</a:t>
                      </a:r>
                    </a:p>
                  </a:txBody>
                  <a:tcPr marL="54864" marR="54864" marT="27432" marB="27432">
                    <a:solidFill>
                      <a:srgbClr val="FFFFFF"/>
                    </a:solidFill>
                  </a:tcPr>
                </a:tc>
                <a:tc>
                  <a:txBody>
                    <a:bodyPr wrap="square"/>
                    <a:lstStyle/>
                    <a:p>
                      <a:pPr algn="r"/>
                      <a:r>
                        <a:rPr sz="1300" b="0">
                          <a:solidFill>
                            <a:srgbClr val="1F2A44"/>
                          </a:solidFill>
                          <a:latin typeface="Courier New"/>
                        </a:rPr>
                        <a:t>4.6 (1.7–7.6)</a:t>
                      </a:r>
                    </a:p>
                  </a:txBody>
                  <a:tcPr marL="54864" marR="54864" marT="27432" marB="2743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C8102E"/>
                </a:solidFill>
                <a:latin typeface="Calibri"/>
              </a:rPr>
              <a:t>All model-reported languages, separately by store; 95 % sampling intervals do not include classification error.</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[estimated]  Receipt R10: Interim tiered content census (content_sample); snapshots OBS 2026-10-03T01:40:08.564624+00:00; NAS 2026-10-03T01:38:24.195696+00:00; receipts cr-81526aa143aa, cr-8640b1cbcbc6, cr-aa33fffba60e, cr-bbf71c8d905a, cr-cf4eef79995b, cr-f1415e395361 on akki-vm and akki-vm-ii. Resumable listing, header probes of accessible audio and a per-folder video sample (ranged reads → ffprobe), with unprobed durations extrapolated where possible; a seeded stratified sample of files per folder read byte for byte, verified against the listing and judged on every two-second window by the admitted music detector and the current audio language model; ratio estimators with finite-population correction give the 95 % intervals. Listing, probing and sampling are incomplete. Model readings, not human labels; intervals exclude model error and inaccessible or unsampled content.</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55</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1920240"/>
            <a:ext cx="2613355" cy="1885492"/>
          </a:xfrm>
          <a:prstGeom prst="rect">
            <a:avLst/>
          </a:prstGeom>
          <a:noFill/>
        </p:spPr>
        <p:txBody>
          <a:bodyPr wrap="square" lIns="0" rIns="0" tIns="0" bIns="0" anchor="ctr">
            <a:spAutoFit/>
          </a:bodyPr>
          <a:lstStyle/>
          <a:p>
            <a:pPr algn="l"/>
            <a:r>
              <a:rPr sz="9600" b="0" i="0">
                <a:solidFill>
                  <a:srgbClr val="C8102E"/>
                </a:solidFill>
                <a:latin typeface="Courier New"/>
              </a:rPr>
              <a:t>08</a:t>
            </a:r>
          </a:p>
        </p:txBody>
      </p:sp>
      <p:sp>
        <p:nvSpPr>
          <p:cNvPr id="3" name="TextBox 2"/>
          <p:cNvSpPr txBox="1"/>
          <p:nvPr/>
        </p:nvSpPr>
        <p:spPr>
          <a:xfrm>
            <a:off x="3390595" y="2297887"/>
            <a:ext cx="8206740" cy="1508760"/>
          </a:xfrm>
          <a:prstGeom prst="rect">
            <a:avLst/>
          </a:prstGeom>
          <a:noFill/>
        </p:spPr>
        <p:txBody>
          <a:bodyPr wrap="square" lIns="0" rIns="0" tIns="0" bIns="0" anchor="ctr">
            <a:spAutoFit/>
          </a:bodyPr>
          <a:lstStyle/>
          <a:p>
            <a:pPr algn="l"/>
            <a:r>
              <a:rPr sz="3200" b="0" i="0">
                <a:solidFill>
                  <a:srgbClr val="1F2A44"/>
                </a:solidFill>
                <a:latin typeface="Cambria"/>
              </a:rPr>
              <a:t>Storage class, reading cost and file-share progress</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STORAGE CLASS AND COST</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Class data covers a subset, and reading has cost 77.0 USD at an assumed tariff</a:t>
            </a:r>
          </a:p>
        </p:txBody>
      </p:sp>
      <p:sp>
        <p:nvSpPr>
          <p:cNvPr id="4" name="TextBox 3"/>
          <p:cNvSpPr txBox="1"/>
          <p:nvPr/>
        </p:nvSpPr>
        <p:spPr>
          <a:xfrm>
            <a:off x="594360" y="1920240"/>
            <a:ext cx="640080" cy="942975"/>
          </a:xfrm>
          <a:prstGeom prst="rect">
            <a:avLst/>
          </a:prstGeom>
          <a:noFill/>
        </p:spPr>
        <p:txBody>
          <a:bodyPr wrap="square" lIns="0" rIns="0" tIns="0" bIns="0" anchor="t">
            <a:spAutoFit/>
          </a:bodyPr>
          <a:lstStyle/>
          <a:p>
            <a:pPr algn="l"/>
            <a:r>
              <a:rPr sz="2600" b="0" i="0">
                <a:solidFill>
                  <a:srgbClr val="C8102E"/>
                </a:solidFill>
                <a:latin typeface="Courier New"/>
              </a:rPr>
              <a:t>01</a:t>
            </a:r>
          </a:p>
        </p:txBody>
      </p:sp>
      <p:sp>
        <p:nvSpPr>
          <p:cNvPr id="5" name="TextBox 4"/>
          <p:cNvSpPr txBox="1"/>
          <p:nvPr/>
        </p:nvSpPr>
        <p:spPr>
          <a:xfrm>
            <a:off x="1417320" y="1993392"/>
            <a:ext cx="10180015" cy="851535"/>
          </a:xfrm>
          <a:prstGeom prst="rect">
            <a:avLst/>
          </a:prstGeom>
          <a:noFill/>
        </p:spPr>
        <p:txBody>
          <a:bodyPr wrap="square" lIns="0" rIns="0" tIns="0" bIns="0" anchor="t">
            <a:spAutoFit/>
          </a:bodyPr>
          <a:lstStyle/>
          <a:p>
            <a:pPr algn="l"/>
            <a:r>
              <a:rPr sz="1400" b="0" i="0">
                <a:solidFill>
                  <a:srgbClr val="1F2A44"/>
                </a:solidFill>
                <a:latin typeface="Calibri"/>
              </a:rPr>
              <a:t>97.1% of bytes are archive class, but only in the subset with recorded classes; it does not describe the whole object store.</a:t>
            </a:r>
          </a:p>
        </p:txBody>
      </p:sp>
      <p:cxnSp>
        <p:nvCxnSpPr>
          <p:cNvPr id="6" name="Connector 5"/>
          <p:cNvCxnSpPr/>
          <p:nvPr/>
        </p:nvCxnSpPr>
        <p:spPr>
          <a:xfrm>
            <a:off x="594360" y="2753487"/>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2863215"/>
            <a:ext cx="640080" cy="942975"/>
          </a:xfrm>
          <a:prstGeom prst="rect">
            <a:avLst/>
          </a:prstGeom>
          <a:noFill/>
        </p:spPr>
        <p:txBody>
          <a:bodyPr wrap="square" lIns="0" rIns="0" tIns="0" bIns="0" anchor="t">
            <a:spAutoFit/>
          </a:bodyPr>
          <a:lstStyle/>
          <a:p>
            <a:pPr algn="l"/>
            <a:r>
              <a:rPr sz="2600" b="0" i="0">
                <a:solidFill>
                  <a:srgbClr val="C8102E"/>
                </a:solidFill>
                <a:latin typeface="Courier New"/>
              </a:rPr>
              <a:t>02</a:t>
            </a:r>
          </a:p>
        </p:txBody>
      </p:sp>
      <p:sp>
        <p:nvSpPr>
          <p:cNvPr id="8" name="TextBox 7"/>
          <p:cNvSpPr txBox="1"/>
          <p:nvPr/>
        </p:nvSpPr>
        <p:spPr>
          <a:xfrm>
            <a:off x="1417320" y="2936367"/>
            <a:ext cx="10180015" cy="851535"/>
          </a:xfrm>
          <a:prstGeom prst="rect">
            <a:avLst/>
          </a:prstGeom>
          <a:noFill/>
        </p:spPr>
        <p:txBody>
          <a:bodyPr wrap="square" lIns="0" rIns="0" tIns="0" bIns="0" anchor="t">
            <a:spAutoFit/>
          </a:bodyPr>
          <a:lstStyle/>
          <a:p>
            <a:pPr algn="l"/>
            <a:r>
              <a:rPr sz="1400" b="0" i="0">
                <a:solidFill>
                  <a:srgbClr val="1F2A44"/>
                </a:solidFill>
                <a:latin typeface="Calibri"/>
              </a:rPr>
              <a:t>Bytes already archived have no Standard-to-Archive saving left; unknown classes are assumed to be neither Standard nor Archive.</a:t>
            </a:r>
          </a:p>
        </p:txBody>
      </p:sp>
      <p:cxnSp>
        <p:nvCxnSpPr>
          <p:cNvPr id="9" name="Connector 8"/>
          <p:cNvCxnSpPr/>
          <p:nvPr/>
        </p:nvCxnSpPr>
        <p:spPr>
          <a:xfrm>
            <a:off x="594360" y="3696461"/>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94360" y="3806189"/>
            <a:ext cx="640080" cy="942975"/>
          </a:xfrm>
          <a:prstGeom prst="rect">
            <a:avLst/>
          </a:prstGeom>
          <a:noFill/>
        </p:spPr>
        <p:txBody>
          <a:bodyPr wrap="square" lIns="0" rIns="0" tIns="0" bIns="0" anchor="t">
            <a:spAutoFit/>
          </a:bodyPr>
          <a:lstStyle/>
          <a:p>
            <a:pPr algn="l"/>
            <a:r>
              <a:rPr sz="2600" b="0" i="0">
                <a:solidFill>
                  <a:srgbClr val="C8102E"/>
                </a:solidFill>
                <a:latin typeface="Courier New"/>
              </a:rPr>
              <a:t>03</a:t>
            </a:r>
          </a:p>
        </p:txBody>
      </p:sp>
      <p:sp>
        <p:nvSpPr>
          <p:cNvPr id="11" name="TextBox 10"/>
          <p:cNvSpPr txBox="1"/>
          <p:nvPr/>
        </p:nvSpPr>
        <p:spPr>
          <a:xfrm>
            <a:off x="1417320" y="3879341"/>
            <a:ext cx="10180015" cy="851535"/>
          </a:xfrm>
          <a:prstGeom prst="rect">
            <a:avLst/>
          </a:prstGeom>
          <a:noFill/>
        </p:spPr>
        <p:txBody>
          <a:bodyPr wrap="square" lIns="0" rIns="0" tIns="0" bIns="0" anchor="t">
            <a:spAutoFit/>
          </a:bodyPr>
          <a:lstStyle/>
          <a:p>
            <a:pPr algn="l"/>
            <a:r>
              <a:rPr sz="1400" b="0" i="0">
                <a:solidFill>
                  <a:srgbClr val="1F2A44"/>
                </a:solidFill>
                <a:latin typeface="Calibri"/>
              </a:rPr>
              <a:t>Reading has cost 77.0 USD of egress at an assumed tariff; archive-class retrieval fees are not priced.</a:t>
            </a:r>
          </a:p>
        </p:txBody>
      </p:sp>
      <p:cxnSp>
        <p:nvCxnSpPr>
          <p:cNvPr id="12" name="Connector 11"/>
          <p:cNvCxnSpPr/>
          <p:nvPr/>
        </p:nvCxnSpPr>
        <p:spPr>
          <a:xfrm>
            <a:off x="594360" y="4639437"/>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594360" y="4749165"/>
            <a:ext cx="640080" cy="942975"/>
          </a:xfrm>
          <a:prstGeom prst="rect">
            <a:avLst/>
          </a:prstGeom>
          <a:noFill/>
        </p:spPr>
        <p:txBody>
          <a:bodyPr wrap="square" lIns="0" rIns="0" tIns="0" bIns="0" anchor="t">
            <a:spAutoFit/>
          </a:bodyPr>
          <a:lstStyle/>
          <a:p>
            <a:pPr algn="l"/>
            <a:r>
              <a:rPr sz="2600" b="0" i="0">
                <a:solidFill>
                  <a:srgbClr val="C8102E"/>
                </a:solidFill>
                <a:latin typeface="Courier New"/>
              </a:rPr>
              <a:t>04</a:t>
            </a:r>
          </a:p>
        </p:txBody>
      </p:sp>
      <p:sp>
        <p:nvSpPr>
          <p:cNvPr id="14" name="TextBox 13"/>
          <p:cNvSpPr txBox="1"/>
          <p:nvPr/>
        </p:nvSpPr>
        <p:spPr>
          <a:xfrm>
            <a:off x="1417320" y="4822317"/>
            <a:ext cx="10180015" cy="851535"/>
          </a:xfrm>
          <a:prstGeom prst="rect">
            <a:avLst/>
          </a:prstGeom>
          <a:noFill/>
        </p:spPr>
        <p:txBody>
          <a:bodyPr wrap="square" lIns="0" rIns="0" tIns="0" bIns="0" anchor="t">
            <a:spAutoFit/>
          </a:bodyPr>
          <a:lstStyle/>
          <a:p>
            <a:pPr algn="l"/>
            <a:r>
              <a:rPr sz="1400" b="0" i="0">
                <a:solidFill>
                  <a:srgbClr val="1F2A44"/>
                </a:solidFill>
                <a:latin typeface="Calibri"/>
              </a:rPr>
              <a:t>File shares measured so far hold 2,608.5 hours, 1,819.9 of them speech, from 185 files read; 13 shares are still listing or probing.</a:t>
            </a:r>
          </a:p>
        </p:txBody>
      </p:sp>
      <p:cxnSp>
        <p:nvCxnSpPr>
          <p:cNvPr id="15" name="Connector 14"/>
          <p:cNvCxnSpPr/>
          <p:nvPr/>
        </p:nvCxnSpPr>
        <p:spPr>
          <a:xfrm>
            <a:off x="594360" y="5582412"/>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17" name="TextBox 16"/>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18" name="TextBox 17"/>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57</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EVIDENCE BY NAME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Storage class by bucket — what is already in Archive class</a:t>
            </a:r>
          </a:p>
        </p:txBody>
      </p:sp>
      <p:graphicFrame>
        <p:nvGraphicFramePr>
          <p:cNvPr id="4" name="Table 3"/>
          <p:cNvGraphicFramePr>
            <a:graphicFrameLocks noGrp="1"/>
          </p:cNvGraphicFramePr>
          <p:nvPr/>
        </p:nvGraphicFramePr>
        <p:xfrm>
          <a:off x="594360" y="1920240"/>
          <a:ext cx="11002973" cy="3017520"/>
        </p:xfrm>
        <a:graphic>
          <a:graphicData uri="http://schemas.openxmlformats.org/drawingml/2006/table">
            <a:tbl>
              <a:tblPr firstRow="1" bandRow="1">
                <a:tableStyleId>{5C22544A-7EE6-4342-B048-85BDC9FD1C3A}</a:tableStyleId>
              </a:tblPr>
              <a:tblGrid>
                <a:gridCol w="2648864"/>
                <a:gridCol w="1833829"/>
                <a:gridCol w="1935708"/>
                <a:gridCol w="1426311"/>
                <a:gridCol w="3158261"/>
              </a:tblGrid>
              <a:tr h="335280">
                <a:tc>
                  <a:txBody>
                    <a:bodyPr wrap="square"/>
                    <a:lstStyle/>
                    <a:p>
                      <a:pPr algn="l"/>
                      <a:r>
                        <a:rPr sz="1100" b="1">
                          <a:solidFill>
                            <a:srgbClr val="1F2A44"/>
                          </a:solidFill>
                          <a:latin typeface="Calibri"/>
                        </a:rPr>
                        <a:t>Bucket</a:t>
                      </a:r>
                    </a:p>
                  </a:txBody>
                  <a:tcPr marL="54864" marR="54864" marT="27432" marB="27432">
                    <a:solidFill>
                      <a:srgbClr val="E9ECF1"/>
                    </a:solidFill>
                  </a:tcPr>
                </a:tc>
                <a:tc>
                  <a:txBody>
                    <a:bodyPr wrap="square"/>
                    <a:lstStyle/>
                    <a:p>
                      <a:pPr algn="l"/>
                      <a:r>
                        <a:rPr sz="1100" b="1">
                          <a:solidFill>
                            <a:srgbClr val="1F2A44"/>
                          </a:solidFill>
                          <a:latin typeface="Calibri"/>
                        </a:rPr>
                        <a:t>Bytes listed (TiB)</a:t>
                      </a:r>
                    </a:p>
                  </a:txBody>
                  <a:tcPr marL="54864" marR="54864" marT="27432" marB="27432">
                    <a:solidFill>
                      <a:srgbClr val="E9ECF1"/>
                    </a:solidFill>
                  </a:tcPr>
                </a:tc>
                <a:tc>
                  <a:txBody>
                    <a:bodyPr wrap="square"/>
                    <a:lstStyle/>
                    <a:p>
                      <a:pPr algn="l"/>
                      <a:r>
                        <a:rPr sz="1100" b="1">
                          <a:solidFill>
                            <a:srgbClr val="1F2A44"/>
                          </a:solidFill>
                          <a:latin typeface="Calibri"/>
                        </a:rPr>
                        <a:t>Archive class (TiB)</a:t>
                      </a:r>
                    </a:p>
                  </a:txBody>
                  <a:tcPr marL="54864" marR="54864" marT="27432" marB="27432">
                    <a:solidFill>
                      <a:srgbClr val="E9ECF1"/>
                    </a:solidFill>
                  </a:tcPr>
                </a:tc>
                <a:tc>
                  <a:txBody>
                    <a:bodyPr wrap="square"/>
                    <a:lstStyle/>
                    <a:p>
                      <a:pPr algn="l"/>
                      <a:r>
                        <a:rPr sz="1100" b="1">
                          <a:solidFill>
                            <a:srgbClr val="1F2A44"/>
                          </a:solidFill>
                          <a:latin typeface="Calibri"/>
                        </a:rPr>
                        <a:t>Archive share</a:t>
                      </a:r>
                    </a:p>
                  </a:txBody>
                  <a:tcPr marL="54864" marR="54864" marT="27432" marB="27432">
                    <a:solidFill>
                      <a:srgbClr val="E9ECF1"/>
                    </a:solidFill>
                  </a:tcPr>
                </a:tc>
                <a:tc>
                  <a:txBody>
                    <a:bodyPr wrap="square"/>
                    <a:lstStyle/>
                    <a:p>
                      <a:pPr algn="l"/>
                      <a:r>
                        <a:rPr sz="1100" b="1">
                          <a:solidFill>
                            <a:srgbClr val="1F2A44"/>
                          </a:solidFill>
                          <a:latin typeface="Calibri"/>
                        </a:rPr>
                        <a:t>Classes seen</a:t>
                      </a:r>
                    </a:p>
                  </a:txBody>
                  <a:tcPr marL="54864" marR="54864" marT="27432" marB="27432">
                    <a:solidFill>
                      <a:srgbClr val="E9ECF1"/>
                    </a:solidFill>
                  </a:tcPr>
                </a:tc>
              </a:tr>
              <a:tr h="335280">
                <a:tc>
                  <a:txBody>
                    <a:bodyPr wrap="square"/>
                    <a:lstStyle/>
                    <a:p>
                      <a:pPr algn="l"/>
                      <a:r>
                        <a:rPr sz="1100" b="0">
                          <a:solidFill>
                            <a:srgbClr val="1F2A44"/>
                          </a:solidFill>
                          <a:latin typeface="Calibri"/>
                        </a:rPr>
                        <a:t>rmsbroadcast</a:t>
                      </a:r>
                    </a:p>
                  </a:txBody>
                  <a:tcPr marL="54864" marR="54864" marT="27432" marB="27432">
                    <a:solidFill>
                      <a:srgbClr val="FFFFFF"/>
                    </a:solidFill>
                  </a:tcPr>
                </a:tc>
                <a:tc>
                  <a:txBody>
                    <a:bodyPr wrap="square"/>
                    <a:lstStyle/>
                    <a:p>
                      <a:pPr algn="r"/>
                      <a:r>
                        <a:rPr sz="1100" b="0">
                          <a:solidFill>
                            <a:srgbClr val="1F2A44"/>
                          </a:solidFill>
                          <a:latin typeface="Courier New"/>
                        </a:rPr>
                        <a:t>1.49</a:t>
                      </a:r>
                    </a:p>
                  </a:txBody>
                  <a:tcPr marL="54864" marR="54864" marT="27432" marB="27432">
                    <a:solidFill>
                      <a:srgbClr val="FFFFFF"/>
                    </a:solidFill>
                  </a:tcPr>
                </a:tc>
                <a:tc>
                  <a:txBody>
                    <a:bodyPr wrap="square"/>
                    <a:lstStyle/>
                    <a:p>
                      <a:pPr algn="r"/>
                      <a:r>
                        <a:rPr sz="1100" b="0">
                          <a:solidFill>
                            <a:srgbClr val="1F2A44"/>
                          </a:solidFill>
                          <a:latin typeface="Courier New"/>
                        </a:rPr>
                        <a:t>1.49</a:t>
                      </a:r>
                    </a:p>
                  </a:txBody>
                  <a:tcPr marL="54864" marR="54864" marT="27432" marB="27432">
                    <a:solidFill>
                      <a:srgbClr val="FFFFFF"/>
                    </a:solidFill>
                  </a:tcPr>
                </a:tc>
                <a:tc>
                  <a:txBody>
                    <a:bodyPr wrap="square"/>
                    <a:lstStyle/>
                    <a:p>
                      <a:pPr algn="r"/>
                      <a:r>
                        <a:rPr sz="1100" b="0">
                          <a:solidFill>
                            <a:srgbClr val="1F2A44"/>
                          </a:solidFill>
                          <a:latin typeface="Courier New"/>
                        </a:rPr>
                        <a:t>100.0%</a:t>
                      </a:r>
                    </a:p>
                  </a:txBody>
                  <a:tcPr marL="54864" marR="54864" marT="27432" marB="27432">
                    <a:solidFill>
                      <a:srgbClr val="FFFFFF"/>
                    </a:solidFill>
                  </a:tcPr>
                </a:tc>
                <a:tc>
                  <a:txBody>
                    <a:bodyPr wrap="square"/>
                    <a:lstStyle/>
                    <a:p>
                      <a:pPr algn="r"/>
                      <a:r>
                        <a:rPr sz="1100" b="0">
                          <a:solidFill>
                            <a:srgbClr val="1F2A44"/>
                          </a:solidFill>
                          <a:latin typeface="Courier New"/>
                        </a:rPr>
                        <a:t>GLACIER 142,739</a:t>
                      </a:r>
                    </a:p>
                  </a:txBody>
                  <a:tcPr marL="54864" marR="54864" marT="27432" marB="27432">
                    <a:solidFill>
                      <a:srgbClr val="FFFFFF"/>
                    </a:solidFill>
                  </a:tcPr>
                </a:tc>
              </a:tr>
              <a:tr h="335280">
                <a:tc>
                  <a:txBody>
                    <a:bodyPr wrap="square"/>
                    <a:lstStyle/>
                    <a:p>
                      <a:pPr algn="l"/>
                      <a:r>
                        <a:rPr sz="1100" b="0">
                          <a:solidFill>
                            <a:srgbClr val="1F2A44"/>
                          </a:solidFill>
                          <a:latin typeface="Calibri"/>
                        </a:rPr>
                        <a:t>citizen-digital-cms-files</a:t>
                      </a:r>
                    </a:p>
                  </a:txBody>
                  <a:tcPr marL="54864" marR="54864" marT="27432" marB="27432">
                    <a:solidFill>
                      <a:srgbClr val="FFFFFF"/>
                    </a:solidFill>
                  </a:tcPr>
                </a:tc>
                <a:tc>
                  <a:txBody>
                    <a:bodyPr wrap="square"/>
                    <a:lstStyle/>
                    <a:p>
                      <a:pPr algn="r"/>
                      <a:r>
                        <a:rPr sz="1100" b="0">
                          <a:solidFill>
                            <a:srgbClr val="1F2A44"/>
                          </a:solidFill>
                          <a:latin typeface="Courier New"/>
                        </a:rPr>
                        <a:t>1.18</a:t>
                      </a:r>
                    </a:p>
                  </a:txBody>
                  <a:tcPr marL="54864" marR="54864" marT="27432" marB="27432">
                    <a:solidFill>
                      <a:srgbClr val="FFFFFF"/>
                    </a:solidFill>
                  </a:tcPr>
                </a:tc>
                <a:tc>
                  <a:txBody>
                    <a:bodyPr wrap="square"/>
                    <a:lstStyle/>
                    <a:p>
                      <a:pPr algn="r"/>
                      <a:r>
                        <a:rPr sz="1100" b="0">
                          <a:solidFill>
                            <a:srgbClr val="1F2A44"/>
                          </a:solidFill>
                          <a:latin typeface="Courier New"/>
                        </a:rPr>
                        <a:t>1.16</a:t>
                      </a:r>
                    </a:p>
                  </a:txBody>
                  <a:tcPr marL="54864" marR="54864" marT="27432" marB="27432">
                    <a:solidFill>
                      <a:srgbClr val="FFFFFF"/>
                    </a:solidFill>
                  </a:tcPr>
                </a:tc>
                <a:tc>
                  <a:txBody>
                    <a:bodyPr wrap="square"/>
                    <a:lstStyle/>
                    <a:p>
                      <a:pPr algn="r"/>
                      <a:r>
                        <a:rPr sz="1100" b="0">
                          <a:solidFill>
                            <a:srgbClr val="1F2A44"/>
                          </a:solidFill>
                          <a:latin typeface="Courier New"/>
                        </a:rPr>
                        <a:t>98.7%</a:t>
                      </a:r>
                    </a:p>
                  </a:txBody>
                  <a:tcPr marL="54864" marR="54864" marT="27432" marB="27432">
                    <a:solidFill>
                      <a:srgbClr val="FFFFFF"/>
                    </a:solidFill>
                  </a:tcPr>
                </a:tc>
                <a:tc>
                  <a:txBody>
                    <a:bodyPr wrap="square"/>
                    <a:lstStyle/>
                    <a:p>
                      <a:pPr algn="r"/>
                      <a:r>
                        <a:rPr sz="1100" b="0">
                          <a:solidFill>
                            <a:srgbClr val="1F2A44"/>
                          </a:solidFill>
                          <a:latin typeface="Courier New"/>
                        </a:rPr>
                        <a:t>GLACIER 186,872, STANDARD 2,641</a:t>
                      </a:r>
                    </a:p>
                  </a:txBody>
                  <a:tcPr marL="54864" marR="54864" marT="27432" marB="27432">
                    <a:solidFill>
                      <a:srgbClr val="FFFFFF"/>
                    </a:solidFill>
                  </a:tcPr>
                </a:tc>
              </a:tr>
              <a:tr h="335280">
                <a:tc>
                  <a:txBody>
                    <a:bodyPr wrap="square"/>
                    <a:lstStyle/>
                    <a:p>
                      <a:pPr algn="l"/>
                      <a:r>
                        <a:rPr sz="1100" b="0">
                          <a:solidFill>
                            <a:srgbClr val="1F2A44"/>
                          </a:solidFill>
                          <a:latin typeface="Calibri"/>
                        </a:rPr>
                        <a:t>drivesdata.royalmedia</a:t>
                      </a:r>
                    </a:p>
                  </a:txBody>
                  <a:tcPr marL="54864" marR="54864" marT="27432" marB="27432">
                    <a:solidFill>
                      <a:srgbClr val="FFFFFF"/>
                    </a:solidFill>
                  </a:tcPr>
                </a:tc>
                <a:tc>
                  <a:txBody>
                    <a:bodyPr wrap="square"/>
                    <a:lstStyle/>
                    <a:p>
                      <a:pPr algn="r"/>
                      <a:r>
                        <a:rPr sz="1100" b="0">
                          <a:solidFill>
                            <a:srgbClr val="1F2A44"/>
                          </a:solidFill>
                          <a:latin typeface="Courier New"/>
                        </a:rPr>
                        <a:t>0.42</a:t>
                      </a:r>
                    </a:p>
                  </a:txBody>
                  <a:tcPr marL="54864" marR="54864" marT="27432" marB="27432">
                    <a:solidFill>
                      <a:srgbClr val="FFFFFF"/>
                    </a:solidFill>
                  </a:tcPr>
                </a:tc>
                <a:tc>
                  <a:txBody>
                    <a:bodyPr wrap="square"/>
                    <a:lstStyle/>
                    <a:p>
                      <a:pPr algn="r"/>
                      <a:r>
                        <a:rPr sz="1100" b="0">
                          <a:solidFill>
                            <a:srgbClr val="1F2A44"/>
                          </a:solidFill>
                          <a:latin typeface="Courier New"/>
                        </a:rPr>
                        <a:t>0.42</a:t>
                      </a:r>
                    </a:p>
                  </a:txBody>
                  <a:tcPr marL="54864" marR="54864" marT="27432" marB="27432">
                    <a:solidFill>
                      <a:srgbClr val="FFFFFF"/>
                    </a:solidFill>
                  </a:tcPr>
                </a:tc>
                <a:tc>
                  <a:txBody>
                    <a:bodyPr wrap="square"/>
                    <a:lstStyle/>
                    <a:p>
                      <a:pPr algn="r"/>
                      <a:r>
                        <a:rPr sz="1100" b="0">
                          <a:solidFill>
                            <a:srgbClr val="1F2A44"/>
                          </a:solidFill>
                          <a:latin typeface="Courier New"/>
                        </a:rPr>
                        <a:t>100.0%</a:t>
                      </a:r>
                    </a:p>
                  </a:txBody>
                  <a:tcPr marL="54864" marR="54864" marT="27432" marB="27432">
                    <a:solidFill>
                      <a:srgbClr val="FFFFFF"/>
                    </a:solidFill>
                  </a:tcPr>
                </a:tc>
                <a:tc>
                  <a:txBody>
                    <a:bodyPr wrap="square"/>
                    <a:lstStyle/>
                    <a:p>
                      <a:pPr algn="r"/>
                      <a:r>
                        <a:rPr sz="1100" b="0">
                          <a:solidFill>
                            <a:srgbClr val="1F2A44"/>
                          </a:solidFill>
                          <a:latin typeface="Courier New"/>
                        </a:rPr>
                        <a:t>GLACIER 874</a:t>
                      </a:r>
                    </a:p>
                  </a:txBody>
                  <a:tcPr marL="54864" marR="54864" marT="27432" marB="27432">
                    <a:solidFill>
                      <a:srgbClr val="FFFFFF"/>
                    </a:solidFill>
                  </a:tcPr>
                </a:tc>
              </a:tr>
              <a:tr h="335280">
                <a:tc>
                  <a:txBody>
                    <a:bodyPr wrap="square"/>
                    <a:lstStyle/>
                    <a:p>
                      <a:pPr algn="l"/>
                      <a:r>
                        <a:rPr sz="1100" b="0">
                          <a:solidFill>
                            <a:srgbClr val="1F2A44"/>
                          </a:solidFill>
                          <a:latin typeface="Calibri"/>
                        </a:rPr>
                        <a:t>mar142017</a:t>
                      </a:r>
                    </a:p>
                  </a:txBody>
                  <a:tcPr marL="54864" marR="54864" marT="27432" marB="27432">
                    <a:solidFill>
                      <a:srgbClr val="FFFFFF"/>
                    </a:solidFill>
                  </a:tcPr>
                </a:tc>
                <a:tc>
                  <a:txBody>
                    <a:bodyPr wrap="square"/>
                    <a:lstStyle/>
                    <a:p>
                      <a:pPr algn="r"/>
                      <a:r>
                        <a:rPr sz="1100" b="0">
                          <a:solidFill>
                            <a:srgbClr val="1F2A44"/>
                          </a:solidFill>
                          <a:latin typeface="Courier New"/>
                        </a:rPr>
                        <a:t>0.27</a:t>
                      </a:r>
                    </a:p>
                  </a:txBody>
                  <a:tcPr marL="54864" marR="54864" marT="27432" marB="27432">
                    <a:solidFill>
                      <a:srgbClr val="FFFFFF"/>
                    </a:solidFill>
                  </a:tcPr>
                </a:tc>
                <a:tc>
                  <a:txBody>
                    <a:bodyPr wrap="square"/>
                    <a:lstStyle/>
                    <a:p>
                      <a:pPr algn="r"/>
                      <a:r>
                        <a:rPr sz="1100" b="0">
                          <a:solidFill>
                            <a:srgbClr val="1F2A44"/>
                          </a:solidFill>
                          <a:latin typeface="Courier New"/>
                        </a:rPr>
                        <a:t>0.27</a:t>
                      </a:r>
                    </a:p>
                  </a:txBody>
                  <a:tcPr marL="54864" marR="54864" marT="27432" marB="27432">
                    <a:solidFill>
                      <a:srgbClr val="FFFFFF"/>
                    </a:solidFill>
                  </a:tcPr>
                </a:tc>
                <a:tc>
                  <a:txBody>
                    <a:bodyPr wrap="square"/>
                    <a:lstStyle/>
                    <a:p>
                      <a:pPr algn="r"/>
                      <a:r>
                        <a:rPr sz="1100" b="0">
                          <a:solidFill>
                            <a:srgbClr val="1F2A44"/>
                          </a:solidFill>
                          <a:latin typeface="Courier New"/>
                        </a:rPr>
                        <a:t>100.0%</a:t>
                      </a:r>
                    </a:p>
                  </a:txBody>
                  <a:tcPr marL="54864" marR="54864" marT="27432" marB="27432">
                    <a:solidFill>
                      <a:srgbClr val="FFFFFF"/>
                    </a:solidFill>
                  </a:tcPr>
                </a:tc>
                <a:tc>
                  <a:txBody>
                    <a:bodyPr wrap="square"/>
                    <a:lstStyle/>
                    <a:p>
                      <a:pPr algn="r"/>
                      <a:r>
                        <a:rPr sz="1100" b="0">
                          <a:solidFill>
                            <a:srgbClr val="1F2A44"/>
                          </a:solidFill>
                          <a:latin typeface="Courier New"/>
                        </a:rPr>
                        <a:t>GLACIER 292,036</a:t>
                      </a:r>
                    </a:p>
                  </a:txBody>
                  <a:tcPr marL="54864" marR="54864" marT="27432" marB="27432">
                    <a:solidFill>
                      <a:srgbClr val="FFFFFF"/>
                    </a:solidFill>
                  </a:tcPr>
                </a:tc>
              </a:tr>
              <a:tr h="335280">
                <a:tc>
                  <a:txBody>
                    <a:bodyPr wrap="square"/>
                    <a:lstStyle/>
                    <a:p>
                      <a:pPr algn="l"/>
                      <a:r>
                        <a:rPr sz="1100" b="0">
                          <a:solidFill>
                            <a:srgbClr val="1F2A44"/>
                          </a:solidFill>
                          <a:latin typeface="Calibri"/>
                        </a:rPr>
                        <a:t>news-vault</a:t>
                      </a:r>
                    </a:p>
                  </a:txBody>
                  <a:tcPr marL="54864" marR="54864" marT="27432" marB="27432">
                    <a:solidFill>
                      <a:srgbClr val="FFFFFF"/>
                    </a:solidFill>
                  </a:tcPr>
                </a:tc>
                <a:tc>
                  <a:txBody>
                    <a:bodyPr wrap="square"/>
                    <a:lstStyle/>
                    <a:p>
                      <a:pPr algn="r"/>
                      <a:r>
                        <a:rPr sz="1100" b="0">
                          <a:solidFill>
                            <a:srgbClr val="1F2A44"/>
                          </a:solidFill>
                          <a:latin typeface="Courier New"/>
                        </a:rPr>
                        <a:t>0.21</a:t>
                      </a:r>
                    </a:p>
                  </a:txBody>
                  <a:tcPr marL="54864" marR="54864" marT="27432" marB="27432">
                    <a:solidFill>
                      <a:srgbClr val="FFFFFF"/>
                    </a:solidFill>
                  </a:tcPr>
                </a:tc>
                <a:tc>
                  <a:txBody>
                    <a:bodyPr wrap="square"/>
                    <a:lstStyle/>
                    <a:p>
                      <a:pPr algn="r"/>
                      <a:r>
                        <a:rPr sz="1100" b="0">
                          <a:solidFill>
                            <a:srgbClr val="1F2A44"/>
                          </a:solidFill>
                          <a:latin typeface="Courier New"/>
                        </a:rPr>
                        <a:t>0.11</a:t>
                      </a:r>
                    </a:p>
                  </a:txBody>
                  <a:tcPr marL="54864" marR="54864" marT="27432" marB="27432">
                    <a:solidFill>
                      <a:srgbClr val="FFFFFF"/>
                    </a:solidFill>
                  </a:tcPr>
                </a:tc>
                <a:tc>
                  <a:txBody>
                    <a:bodyPr wrap="square"/>
                    <a:lstStyle/>
                    <a:p>
                      <a:pPr algn="r"/>
                      <a:r>
                        <a:rPr sz="1100" b="0">
                          <a:solidFill>
                            <a:srgbClr val="1F2A44"/>
                          </a:solidFill>
                          <a:latin typeface="Courier New"/>
                        </a:rPr>
                        <a:t>53.0%</a:t>
                      </a:r>
                    </a:p>
                  </a:txBody>
                  <a:tcPr marL="54864" marR="54864" marT="27432" marB="27432">
                    <a:solidFill>
                      <a:srgbClr val="FFFFFF"/>
                    </a:solidFill>
                  </a:tcPr>
                </a:tc>
                <a:tc>
                  <a:txBody>
                    <a:bodyPr wrap="square"/>
                    <a:lstStyle/>
                    <a:p>
                      <a:pPr algn="r"/>
                      <a:r>
                        <a:rPr sz="1100" b="0">
                          <a:solidFill>
                            <a:srgbClr val="1F2A44"/>
                          </a:solidFill>
                          <a:latin typeface="Courier New"/>
                        </a:rPr>
                        <a:t>GLACIER 72,637, STANDARD 118</a:t>
                      </a:r>
                    </a:p>
                  </a:txBody>
                  <a:tcPr marL="54864" marR="54864" marT="27432" marB="27432">
                    <a:solidFill>
                      <a:srgbClr val="FFFFFF"/>
                    </a:solidFill>
                  </a:tcPr>
                </a:tc>
              </a:tr>
              <a:tr h="335280">
                <a:tc>
                  <a:txBody>
                    <a:bodyPr wrap="square"/>
                    <a:lstStyle/>
                    <a:p>
                      <a:pPr algn="l"/>
                      <a:r>
                        <a:rPr sz="1100" b="0">
                          <a:solidFill>
                            <a:srgbClr val="1F2A44"/>
                          </a:solidFill>
                          <a:latin typeface="Calibri"/>
                        </a:rPr>
                        <a:t>datauploadroyalmedia.co.ke</a:t>
                      </a:r>
                    </a:p>
                  </a:txBody>
                  <a:tcPr marL="54864" marR="54864" marT="27432" marB="27432">
                    <a:solidFill>
                      <a:srgbClr val="FFFFFF"/>
                    </a:solidFill>
                  </a:tcPr>
                </a:tc>
                <a:tc>
                  <a:txBody>
                    <a:bodyPr wrap="square"/>
                    <a:lstStyle/>
                    <a:p>
                      <a:pPr algn="r"/>
                      <a:r>
                        <a:rPr sz="1100" b="0">
                          <a:solidFill>
                            <a:srgbClr val="1F2A44"/>
                          </a:solidFill>
                          <a:latin typeface="Courier New"/>
                        </a:rPr>
                        <a:t>0.19</a:t>
                      </a:r>
                    </a:p>
                  </a:txBody>
                  <a:tcPr marL="54864" marR="54864" marT="27432" marB="27432">
                    <a:solidFill>
                      <a:srgbClr val="FFFFFF"/>
                    </a:solidFill>
                  </a:tcPr>
                </a:tc>
                <a:tc>
                  <a:txBody>
                    <a:bodyPr wrap="square"/>
                    <a:lstStyle/>
                    <a:p>
                      <a:pPr algn="r"/>
                      <a:r>
                        <a:rPr sz="1100" b="0">
                          <a:solidFill>
                            <a:srgbClr val="1F2A44"/>
                          </a:solidFill>
                          <a:latin typeface="Courier New"/>
                        </a:rPr>
                        <a:t>0.19</a:t>
                      </a:r>
                    </a:p>
                  </a:txBody>
                  <a:tcPr marL="54864" marR="54864" marT="27432" marB="27432">
                    <a:solidFill>
                      <a:srgbClr val="FFFFFF"/>
                    </a:solidFill>
                  </a:tcPr>
                </a:tc>
                <a:tc>
                  <a:txBody>
                    <a:bodyPr wrap="square"/>
                    <a:lstStyle/>
                    <a:p>
                      <a:pPr algn="r"/>
                      <a:r>
                        <a:rPr sz="1100" b="0">
                          <a:solidFill>
                            <a:srgbClr val="1F2A44"/>
                          </a:solidFill>
                          <a:latin typeface="Courier New"/>
                        </a:rPr>
                        <a:t>100.0%</a:t>
                      </a:r>
                    </a:p>
                  </a:txBody>
                  <a:tcPr marL="54864" marR="54864" marT="27432" marB="27432">
                    <a:solidFill>
                      <a:srgbClr val="FFFFFF"/>
                    </a:solidFill>
                  </a:tcPr>
                </a:tc>
                <a:tc>
                  <a:txBody>
                    <a:bodyPr wrap="square"/>
                    <a:lstStyle/>
                    <a:p>
                      <a:pPr algn="r"/>
                      <a:r>
                        <a:rPr sz="1100" b="0">
                          <a:solidFill>
                            <a:srgbClr val="1F2A44"/>
                          </a:solidFill>
                          <a:latin typeface="Courier New"/>
                        </a:rPr>
                        <a:t>GLACIER 972</a:t>
                      </a:r>
                    </a:p>
                  </a:txBody>
                  <a:tcPr marL="54864" marR="54864" marT="27432" marB="27432">
                    <a:solidFill>
                      <a:srgbClr val="FFFFFF"/>
                    </a:solidFill>
                  </a:tcPr>
                </a:tc>
              </a:tr>
              <a:tr h="335280">
                <a:tc>
                  <a:txBody>
                    <a:bodyPr wrap="square"/>
                    <a:lstStyle/>
                    <a:p>
                      <a:pPr algn="l"/>
                      <a:r>
                        <a:rPr sz="1100" b="0">
                          <a:solidFill>
                            <a:srgbClr val="1F2A44"/>
                          </a:solidFill>
                          <a:latin typeface="Calibri"/>
                        </a:rPr>
                        <a:t>chamgei-backup</a:t>
                      </a:r>
                    </a:p>
                  </a:txBody>
                  <a:tcPr marL="54864" marR="54864" marT="27432" marB="27432">
                    <a:solidFill>
                      <a:srgbClr val="FFFFFF"/>
                    </a:solidFill>
                  </a:tcPr>
                </a:tc>
                <a:tc>
                  <a:txBody>
                    <a:bodyPr wrap="square"/>
                    <a:lstStyle/>
                    <a:p>
                      <a:pPr algn="r"/>
                      <a:r>
                        <a:rPr sz="1100" b="0">
                          <a:solidFill>
                            <a:srgbClr val="1F2A44"/>
                          </a:solidFill>
                          <a:latin typeface="Courier New"/>
                        </a:rPr>
                        <a:t>0.15</a:t>
                      </a:r>
                    </a:p>
                  </a:txBody>
                  <a:tcPr marL="54864" marR="54864" marT="27432" marB="27432">
                    <a:solidFill>
                      <a:srgbClr val="FFFFFF"/>
                    </a:solidFill>
                  </a:tcPr>
                </a:tc>
                <a:tc>
                  <a:txBody>
                    <a:bodyPr wrap="square"/>
                    <a:lstStyle/>
                    <a:p>
                      <a:pPr algn="r"/>
                      <a:r>
                        <a:rPr sz="1100" b="0">
                          <a:solidFill>
                            <a:srgbClr val="1F2A44"/>
                          </a:solidFill>
                          <a:latin typeface="Courier New"/>
                        </a:rPr>
                        <a:t>0.15</a:t>
                      </a:r>
                    </a:p>
                  </a:txBody>
                  <a:tcPr marL="54864" marR="54864" marT="27432" marB="27432">
                    <a:solidFill>
                      <a:srgbClr val="FFFFFF"/>
                    </a:solidFill>
                  </a:tcPr>
                </a:tc>
                <a:tc>
                  <a:txBody>
                    <a:bodyPr wrap="square"/>
                    <a:lstStyle/>
                    <a:p>
                      <a:pPr algn="r"/>
                      <a:r>
                        <a:rPr sz="1100" b="0">
                          <a:solidFill>
                            <a:srgbClr val="1F2A44"/>
                          </a:solidFill>
                          <a:latin typeface="Courier New"/>
                        </a:rPr>
                        <a:t>100.0%</a:t>
                      </a:r>
                    </a:p>
                  </a:txBody>
                  <a:tcPr marL="54864" marR="54864" marT="27432" marB="27432">
                    <a:solidFill>
                      <a:srgbClr val="FFFFFF"/>
                    </a:solidFill>
                  </a:tcPr>
                </a:tc>
                <a:tc>
                  <a:txBody>
                    <a:bodyPr wrap="square"/>
                    <a:lstStyle/>
                    <a:p>
                      <a:pPr algn="r"/>
                      <a:r>
                        <a:rPr sz="1100" b="0">
                          <a:solidFill>
                            <a:srgbClr val="1F2A44"/>
                          </a:solidFill>
                          <a:latin typeface="Courier New"/>
                        </a:rPr>
                        <a:t>GLACIER 29,561</a:t>
                      </a:r>
                    </a:p>
                  </a:txBody>
                  <a:tcPr marL="54864" marR="54864" marT="27432" marB="27432">
                    <a:solidFill>
                      <a:srgbClr val="FFFFFF"/>
                    </a:solidFill>
                  </a:tcPr>
                </a:tc>
              </a:tr>
              <a:tr h="335280">
                <a:tc>
                  <a:txBody>
                    <a:bodyPr wrap="square"/>
                    <a:lstStyle/>
                    <a:p>
                      <a:pPr algn="l"/>
                      <a:r>
                        <a:rPr sz="1100" b="0">
                          <a:solidFill>
                            <a:srgbClr val="1F2A44"/>
                          </a:solidFill>
                          <a:latin typeface="Calibri"/>
                        </a:rPr>
                        <a:t>google-transcripts</a:t>
                      </a:r>
                    </a:p>
                  </a:txBody>
                  <a:tcPr marL="54864" marR="54864" marT="27432" marB="27432">
                    <a:solidFill>
                      <a:srgbClr val="FFFFFF"/>
                    </a:solidFill>
                  </a:tcPr>
                </a:tc>
                <a:tc>
                  <a:txBody>
                    <a:bodyPr wrap="square"/>
                    <a:lstStyle/>
                    <a:p>
                      <a:pPr algn="r"/>
                      <a:r>
                        <a:rPr sz="1100" b="0">
                          <a:solidFill>
                            <a:srgbClr val="1F2A44"/>
                          </a:solidFill>
                          <a:latin typeface="Courier New"/>
                        </a:rPr>
                        <a:t>0.05</a:t>
                      </a:r>
                    </a:p>
                  </a:txBody>
                  <a:tcPr marL="54864" marR="54864" marT="27432" marB="27432">
                    <a:solidFill>
                      <a:srgbClr val="FFFFFF"/>
                    </a:solidFill>
                  </a:tcPr>
                </a:tc>
                <a:tc>
                  <a:txBody>
                    <a:bodyPr wrap="square"/>
                    <a:lstStyle/>
                    <a:p>
                      <a:pPr algn="r"/>
                      <a:r>
                        <a:rPr sz="1100" b="0">
                          <a:solidFill>
                            <a:srgbClr val="1F2A44"/>
                          </a:solidFill>
                          <a:latin typeface="Courier New"/>
                        </a:rPr>
                        <a:t>0.05</a:t>
                      </a:r>
                    </a:p>
                  </a:txBody>
                  <a:tcPr marL="54864" marR="54864" marT="27432" marB="27432">
                    <a:solidFill>
                      <a:srgbClr val="FFFFFF"/>
                    </a:solidFill>
                  </a:tcPr>
                </a:tc>
                <a:tc>
                  <a:txBody>
                    <a:bodyPr wrap="square"/>
                    <a:lstStyle/>
                    <a:p>
                      <a:pPr algn="r"/>
                      <a:r>
                        <a:rPr sz="1100" b="0">
                          <a:solidFill>
                            <a:srgbClr val="1F2A44"/>
                          </a:solidFill>
                          <a:latin typeface="Courier New"/>
                        </a:rPr>
                        <a:t>100.0%</a:t>
                      </a:r>
                    </a:p>
                  </a:txBody>
                  <a:tcPr marL="54864" marR="54864" marT="27432" marB="27432">
                    <a:solidFill>
                      <a:srgbClr val="FFFFFF"/>
                    </a:solidFill>
                  </a:tcPr>
                </a:tc>
                <a:tc>
                  <a:txBody>
                    <a:bodyPr wrap="square"/>
                    <a:lstStyle/>
                    <a:p>
                      <a:pPr algn="r"/>
                      <a:r>
                        <a:rPr sz="1100" b="0">
                          <a:solidFill>
                            <a:srgbClr val="1F2A44"/>
                          </a:solidFill>
                          <a:latin typeface="Courier New"/>
                        </a:rPr>
                        <a:t>GLACIER 23,635</a:t>
                      </a:r>
                    </a:p>
                  </a:txBody>
                  <a:tcPr marL="54864" marR="54864" marT="27432" marB="2743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C8102E"/>
                </a:solidFill>
                <a:latin typeface="Calibri"/>
              </a:rPr>
              <a:t>Read from the object listing.</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[measured]  Receipt R10: Interim tiered content census (content_sample); snapshots OBS 2026-10-03T01:40:08.564624+00:00; NAS 2026-10-03T01:38:24.195696+00:00; receipts cr-81526aa143aa, cr-8640b1cbcbc6, cr-aa33fffba60e, cr-bbf71c8d905a, cr-cf4eef79995b, cr-f1415e395361 on akki-vm and akki-vm-ii. Resumable listing, header probes of accessible audio and a per-folder video sample (ranged reads → ffprobe), with unprobed durations extrapolated where possible; a seeded stratified sample of files per folder read byte for byte, verified against the listing and judged on every two-second window by the admitted music detector and the current audio language model; ratio estimators with finite-population correction give the 95 % intervals. Listing, probing and sampling are incomplete. Model readings, not human labels; intervals exclude model error and inaccessible or unsampled content.</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58</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EVIDENCE BY NAME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What the content census has cost to read so far, by bucket</a:t>
            </a:r>
          </a:p>
        </p:txBody>
      </p:sp>
      <p:graphicFrame>
        <p:nvGraphicFramePr>
          <p:cNvPr id="4" name="Table 3"/>
          <p:cNvGraphicFramePr>
            <a:graphicFrameLocks noGrp="1"/>
          </p:cNvGraphicFramePr>
          <p:nvPr/>
        </p:nvGraphicFramePr>
        <p:xfrm>
          <a:off x="594360" y="1920240"/>
          <a:ext cx="11002973" cy="3017520"/>
        </p:xfrm>
        <a:graphic>
          <a:graphicData uri="http://schemas.openxmlformats.org/drawingml/2006/table">
            <a:tbl>
              <a:tblPr firstRow="1" bandRow="1">
                <a:tableStyleId>{5C22544A-7EE6-4342-B048-85BDC9FD1C3A}</a:tableStyleId>
              </a:tblPr>
              <a:tblGrid>
                <a:gridCol w="3889940"/>
                <a:gridCol w="1667117"/>
                <a:gridCol w="2333964"/>
                <a:gridCol w="1555976"/>
                <a:gridCol w="1555976"/>
              </a:tblGrid>
              <a:tr h="301752">
                <a:tc>
                  <a:txBody>
                    <a:bodyPr wrap="square"/>
                    <a:lstStyle/>
                    <a:p>
                      <a:pPr algn="l"/>
                      <a:r>
                        <a:rPr sz="1100" b="1">
                          <a:solidFill>
                            <a:srgbClr val="1F2A44"/>
                          </a:solidFill>
                          <a:latin typeface="Calibri"/>
                        </a:rPr>
                        <a:t>Bucket</a:t>
                      </a:r>
                    </a:p>
                  </a:txBody>
                  <a:tcPr marL="54864" marR="54864" marT="27432" marB="27432">
                    <a:solidFill>
                      <a:srgbClr val="E9ECF1"/>
                    </a:solidFill>
                  </a:tcPr>
                </a:tc>
                <a:tc>
                  <a:txBody>
                    <a:bodyPr wrap="square"/>
                    <a:lstStyle/>
                    <a:p>
                      <a:pPr algn="l"/>
                      <a:r>
                        <a:rPr sz="1100" b="1">
                          <a:solidFill>
                            <a:srgbClr val="1F2A44"/>
                          </a:solidFill>
                          <a:latin typeface="Calibri"/>
                        </a:rPr>
                        <a:t>Bytes read (GB)</a:t>
                      </a:r>
                    </a:p>
                  </a:txBody>
                  <a:tcPr marL="54864" marR="54864" marT="27432" marB="27432">
                    <a:solidFill>
                      <a:srgbClr val="E9ECF1"/>
                    </a:solidFill>
                  </a:tcPr>
                </a:tc>
                <a:tc>
                  <a:txBody>
                    <a:bodyPr wrap="square"/>
                    <a:lstStyle/>
                    <a:p>
                      <a:pPr algn="l"/>
                      <a:r>
                        <a:rPr sz="1100" b="1">
                          <a:solidFill>
                            <a:srgbClr val="1F2A44"/>
                          </a:solidFill>
                          <a:latin typeface="Calibri"/>
                        </a:rPr>
                        <a:t>Egress (USD, assumed)</a:t>
                      </a:r>
                    </a:p>
                  </a:txBody>
                  <a:tcPr marL="54864" marR="54864" marT="27432" marB="27432">
                    <a:solidFill>
                      <a:srgbClr val="E9ECF1"/>
                    </a:solidFill>
                  </a:tcPr>
                </a:tc>
                <a:tc>
                  <a:txBody>
                    <a:bodyPr wrap="square"/>
                    <a:lstStyle/>
                    <a:p>
                      <a:pPr algn="l"/>
                      <a:r>
                        <a:rPr sz="1100" b="1">
                          <a:solidFill>
                            <a:srgbClr val="1F2A44"/>
                          </a:solidFill>
                          <a:latin typeface="Calibri"/>
                        </a:rPr>
                        <a:t>Files read</a:t>
                      </a:r>
                    </a:p>
                  </a:txBody>
                  <a:tcPr marL="54864" marR="54864" marT="27432" marB="27432">
                    <a:solidFill>
                      <a:srgbClr val="E9ECF1"/>
                    </a:solidFill>
                  </a:tcPr>
                </a:tc>
                <a:tc>
                  <a:txBody>
                    <a:bodyPr wrap="square"/>
                    <a:lstStyle/>
                    <a:p>
                      <a:pPr algn="l"/>
                      <a:r>
                        <a:rPr sz="1100" b="1">
                          <a:solidFill>
                            <a:srgbClr val="1F2A44"/>
                          </a:solidFill>
                          <a:latin typeface="Calibri"/>
                        </a:rPr>
                        <a:t>Read failures</a:t>
                      </a:r>
                    </a:p>
                  </a:txBody>
                  <a:tcPr marL="54864" marR="54864" marT="27432" marB="27432">
                    <a:solidFill>
                      <a:srgbClr val="E9ECF1"/>
                    </a:solidFill>
                  </a:tcPr>
                </a:tc>
              </a:tr>
              <a:tr h="301752">
                <a:tc>
                  <a:txBody>
                    <a:bodyPr wrap="square"/>
                    <a:lstStyle/>
                    <a:p>
                      <a:pPr algn="l"/>
                      <a:r>
                        <a:rPr sz="1100" b="0">
                          <a:solidFill>
                            <a:srgbClr val="1F2A44"/>
                          </a:solidFill>
                          <a:latin typeface="Calibri"/>
                        </a:rPr>
                        <a:t>mar142017</a:t>
                      </a:r>
                    </a:p>
                  </a:txBody>
                  <a:tcPr marL="54864" marR="54864" marT="27432" marB="27432">
                    <a:solidFill>
                      <a:srgbClr val="FFFFFF"/>
                    </a:solidFill>
                  </a:tcPr>
                </a:tc>
                <a:tc>
                  <a:txBody>
                    <a:bodyPr wrap="square"/>
                    <a:lstStyle/>
                    <a:p>
                      <a:pPr algn="r"/>
                      <a:r>
                        <a:rPr sz="1100" b="0">
                          <a:solidFill>
                            <a:srgbClr val="1F2A44"/>
                          </a:solidFill>
                          <a:latin typeface="Courier New"/>
                        </a:rPr>
                        <a:t>299.9</a:t>
                      </a:r>
                    </a:p>
                  </a:txBody>
                  <a:tcPr marL="54864" marR="54864" marT="27432" marB="27432">
                    <a:solidFill>
                      <a:srgbClr val="FFFFFF"/>
                    </a:solidFill>
                  </a:tcPr>
                </a:tc>
                <a:tc>
                  <a:txBody>
                    <a:bodyPr wrap="square"/>
                    <a:lstStyle/>
                    <a:p>
                      <a:pPr algn="r"/>
                      <a:r>
                        <a:rPr sz="1100" b="0">
                          <a:solidFill>
                            <a:srgbClr val="1F2A44"/>
                          </a:solidFill>
                          <a:latin typeface="Courier New"/>
                        </a:rPr>
                        <a:t>30.00</a:t>
                      </a:r>
                    </a:p>
                  </a:txBody>
                  <a:tcPr marL="54864" marR="54864" marT="27432" marB="27432">
                    <a:solidFill>
                      <a:srgbClr val="FFFFFF"/>
                    </a:solidFill>
                  </a:tcPr>
                </a:tc>
                <a:tc>
                  <a:txBody>
                    <a:bodyPr wrap="square"/>
                    <a:lstStyle/>
                    <a:p>
                      <a:pPr algn="r"/>
                      <a:r>
                        <a:rPr sz="1100" b="0">
                          <a:solidFill>
                            <a:srgbClr val="1F2A44"/>
                          </a:solidFill>
                          <a:latin typeface="Courier New"/>
                        </a:rPr>
                        <a:t>17</a:t>
                      </a:r>
                    </a:p>
                  </a:txBody>
                  <a:tcPr marL="54864" marR="54864" marT="27432" marB="27432">
                    <a:solidFill>
                      <a:srgbClr val="FFFFFF"/>
                    </a:solidFill>
                  </a:tcPr>
                </a:tc>
                <a:tc>
                  <a:txBody>
                    <a:bodyPr wrap="square"/>
                    <a:lstStyle/>
                    <a:p>
                      <a:pPr algn="r"/>
                      <a:r>
                        <a:rPr sz="1100" b="0">
                          <a:solidFill>
                            <a:srgbClr val="1F2A44"/>
                          </a:solidFill>
                          <a:latin typeface="Courier New"/>
                        </a:rPr>
                        <a:t>0</a:t>
                      </a:r>
                    </a:p>
                  </a:txBody>
                  <a:tcPr marL="54864" marR="54864" marT="27432" marB="27432">
                    <a:solidFill>
                      <a:srgbClr val="FFFFFF"/>
                    </a:solidFill>
                  </a:tcPr>
                </a:tc>
              </a:tr>
              <a:tr h="301752">
                <a:tc>
                  <a:txBody>
                    <a:bodyPr wrap="square"/>
                    <a:lstStyle/>
                    <a:p>
                      <a:pPr algn="l"/>
                      <a:r>
                        <a:rPr sz="1100" b="0">
                          <a:solidFill>
                            <a:srgbClr val="1F2A44"/>
                          </a:solidFill>
                          <a:latin typeface="Calibri"/>
                        </a:rPr>
                        <a:t>drivesdata.royalmedia</a:t>
                      </a:r>
                    </a:p>
                  </a:txBody>
                  <a:tcPr marL="54864" marR="54864" marT="27432" marB="27432">
                    <a:solidFill>
                      <a:srgbClr val="FFFFFF"/>
                    </a:solidFill>
                  </a:tcPr>
                </a:tc>
                <a:tc>
                  <a:txBody>
                    <a:bodyPr wrap="square"/>
                    <a:lstStyle/>
                    <a:p>
                      <a:pPr algn="r"/>
                      <a:r>
                        <a:rPr sz="1100" b="0">
                          <a:solidFill>
                            <a:srgbClr val="1F2A44"/>
                          </a:solidFill>
                          <a:latin typeface="Courier New"/>
                        </a:rPr>
                        <a:t>190.4</a:t>
                      </a:r>
                    </a:p>
                  </a:txBody>
                  <a:tcPr marL="54864" marR="54864" marT="27432" marB="27432">
                    <a:solidFill>
                      <a:srgbClr val="FFFFFF"/>
                    </a:solidFill>
                  </a:tcPr>
                </a:tc>
                <a:tc>
                  <a:txBody>
                    <a:bodyPr wrap="square"/>
                    <a:lstStyle/>
                    <a:p>
                      <a:pPr algn="r"/>
                      <a:r>
                        <a:rPr sz="1100" b="0">
                          <a:solidFill>
                            <a:srgbClr val="1F2A44"/>
                          </a:solidFill>
                          <a:latin typeface="Courier New"/>
                        </a:rPr>
                        <a:t>19.13</a:t>
                      </a:r>
                    </a:p>
                  </a:txBody>
                  <a:tcPr marL="54864" marR="54864" marT="27432" marB="27432">
                    <a:solidFill>
                      <a:srgbClr val="FFFFFF"/>
                    </a:solidFill>
                  </a:tcPr>
                </a:tc>
                <a:tc>
                  <a:txBody>
                    <a:bodyPr wrap="square"/>
                    <a:lstStyle/>
                    <a:p>
                      <a:pPr algn="r"/>
                      <a:r>
                        <a:rPr sz="1100" b="0">
                          <a:solidFill>
                            <a:srgbClr val="1F2A44"/>
                          </a:solidFill>
                          <a:latin typeface="Courier New"/>
                        </a:rPr>
                        <a:t>192</a:t>
                      </a:r>
                    </a:p>
                  </a:txBody>
                  <a:tcPr marL="54864" marR="54864" marT="27432" marB="27432">
                    <a:solidFill>
                      <a:srgbClr val="FFFFFF"/>
                    </a:solidFill>
                  </a:tcPr>
                </a:tc>
                <a:tc>
                  <a:txBody>
                    <a:bodyPr wrap="square"/>
                    <a:lstStyle/>
                    <a:p>
                      <a:pPr algn="r"/>
                      <a:r>
                        <a:rPr sz="1100" b="0">
                          <a:solidFill>
                            <a:srgbClr val="1F2A44"/>
                          </a:solidFill>
                          <a:latin typeface="Courier New"/>
                        </a:rPr>
                        <a:t>0</a:t>
                      </a:r>
                    </a:p>
                  </a:txBody>
                  <a:tcPr marL="54864" marR="54864" marT="27432" marB="27432">
                    <a:solidFill>
                      <a:srgbClr val="FFFFFF"/>
                    </a:solidFill>
                  </a:tcPr>
                </a:tc>
              </a:tr>
              <a:tr h="301752">
                <a:tc>
                  <a:txBody>
                    <a:bodyPr wrap="square"/>
                    <a:lstStyle/>
                    <a:p>
                      <a:pPr algn="l"/>
                      <a:r>
                        <a:rPr sz="1100" b="0">
                          <a:solidFill>
                            <a:srgbClr val="1F2A44"/>
                          </a:solidFill>
                          <a:latin typeface="Calibri"/>
                        </a:rPr>
                        <a:t>citizen-digital-cms-files</a:t>
                      </a:r>
                    </a:p>
                  </a:txBody>
                  <a:tcPr marL="54864" marR="54864" marT="27432" marB="27432">
                    <a:solidFill>
                      <a:srgbClr val="FFFFFF"/>
                    </a:solidFill>
                  </a:tcPr>
                </a:tc>
                <a:tc>
                  <a:txBody>
                    <a:bodyPr wrap="square"/>
                    <a:lstStyle/>
                    <a:p>
                      <a:pPr algn="r"/>
                      <a:r>
                        <a:rPr sz="1100" b="0">
                          <a:solidFill>
                            <a:srgbClr val="1F2A44"/>
                          </a:solidFill>
                          <a:latin typeface="Courier New"/>
                        </a:rPr>
                        <a:t>59.6</a:t>
                      </a:r>
                    </a:p>
                  </a:txBody>
                  <a:tcPr marL="54864" marR="54864" marT="27432" marB="27432">
                    <a:solidFill>
                      <a:srgbClr val="FFFFFF"/>
                    </a:solidFill>
                  </a:tcPr>
                </a:tc>
                <a:tc>
                  <a:txBody>
                    <a:bodyPr wrap="square"/>
                    <a:lstStyle/>
                    <a:p>
                      <a:pPr algn="r"/>
                      <a:r>
                        <a:rPr sz="1100" b="0">
                          <a:solidFill>
                            <a:srgbClr val="1F2A44"/>
                          </a:solidFill>
                          <a:latin typeface="Courier New"/>
                        </a:rPr>
                        <a:t>6.33</a:t>
                      </a:r>
                    </a:p>
                  </a:txBody>
                  <a:tcPr marL="54864" marR="54864" marT="27432" marB="27432">
                    <a:solidFill>
                      <a:srgbClr val="FFFFFF"/>
                    </a:solidFill>
                  </a:tcPr>
                </a:tc>
                <a:tc>
                  <a:txBody>
                    <a:bodyPr wrap="square"/>
                    <a:lstStyle/>
                    <a:p>
                      <a:pPr algn="r"/>
                      <a:r>
                        <a:rPr sz="1100" b="0">
                          <a:solidFill>
                            <a:srgbClr val="1F2A44"/>
                          </a:solidFill>
                          <a:latin typeface="Courier New"/>
                        </a:rPr>
                        <a:t>2,205</a:t>
                      </a:r>
                    </a:p>
                  </a:txBody>
                  <a:tcPr marL="54864" marR="54864" marT="27432" marB="27432">
                    <a:solidFill>
                      <a:srgbClr val="FFFFFF"/>
                    </a:solidFill>
                  </a:tcPr>
                </a:tc>
                <a:tc>
                  <a:txBody>
                    <a:bodyPr wrap="square"/>
                    <a:lstStyle/>
                    <a:p>
                      <a:pPr algn="r"/>
                      <a:r>
                        <a:rPr sz="1100" b="0">
                          <a:solidFill>
                            <a:srgbClr val="1F2A44"/>
                          </a:solidFill>
                          <a:latin typeface="Courier New"/>
                        </a:rPr>
                        <a:t>6</a:t>
                      </a:r>
                    </a:p>
                  </a:txBody>
                  <a:tcPr marL="54864" marR="54864" marT="27432" marB="27432">
                    <a:solidFill>
                      <a:srgbClr val="FFFFFF"/>
                    </a:solidFill>
                  </a:tcPr>
                </a:tc>
              </a:tr>
              <a:tr h="301752">
                <a:tc>
                  <a:txBody>
                    <a:bodyPr wrap="square"/>
                    <a:lstStyle/>
                    <a:p>
                      <a:pPr algn="l"/>
                      <a:r>
                        <a:rPr sz="1100" b="0">
                          <a:solidFill>
                            <a:srgbClr val="1F2A44"/>
                          </a:solidFill>
                          <a:latin typeface="Calibri"/>
                        </a:rPr>
                        <a:t>datauploadroyalmedia.co.ke</a:t>
                      </a:r>
                    </a:p>
                  </a:txBody>
                  <a:tcPr marL="54864" marR="54864" marT="27432" marB="27432">
                    <a:solidFill>
                      <a:srgbClr val="FFFFFF"/>
                    </a:solidFill>
                  </a:tcPr>
                </a:tc>
                <a:tc>
                  <a:txBody>
                    <a:bodyPr wrap="square"/>
                    <a:lstStyle/>
                    <a:p>
                      <a:pPr algn="r"/>
                      <a:r>
                        <a:rPr sz="1100" b="0">
                          <a:solidFill>
                            <a:srgbClr val="1F2A44"/>
                          </a:solidFill>
                          <a:latin typeface="Courier New"/>
                        </a:rPr>
                        <a:t>58.1</a:t>
                      </a:r>
                    </a:p>
                  </a:txBody>
                  <a:tcPr marL="54864" marR="54864" marT="27432" marB="27432">
                    <a:solidFill>
                      <a:srgbClr val="FFFFFF"/>
                    </a:solidFill>
                  </a:tcPr>
                </a:tc>
                <a:tc>
                  <a:txBody>
                    <a:bodyPr wrap="square"/>
                    <a:lstStyle/>
                    <a:p>
                      <a:pPr algn="r"/>
                      <a:r>
                        <a:rPr sz="1100" b="0">
                          <a:solidFill>
                            <a:srgbClr val="1F2A44"/>
                          </a:solidFill>
                          <a:latin typeface="Courier New"/>
                        </a:rPr>
                        <a:t>5.82</a:t>
                      </a:r>
                    </a:p>
                  </a:txBody>
                  <a:tcPr marL="54864" marR="54864" marT="27432" marB="27432">
                    <a:solidFill>
                      <a:srgbClr val="FFFFFF"/>
                    </a:solidFill>
                  </a:tcPr>
                </a:tc>
                <a:tc>
                  <a:txBody>
                    <a:bodyPr wrap="square"/>
                    <a:lstStyle/>
                    <a:p>
                      <a:pPr algn="r"/>
                      <a:r>
                        <a:rPr sz="1100" b="0">
                          <a:solidFill>
                            <a:srgbClr val="1F2A44"/>
                          </a:solidFill>
                          <a:latin typeface="Courier New"/>
                        </a:rPr>
                        <a:t>30</a:t>
                      </a:r>
                    </a:p>
                  </a:txBody>
                  <a:tcPr marL="54864" marR="54864" marT="27432" marB="27432">
                    <a:solidFill>
                      <a:srgbClr val="FFFFFF"/>
                    </a:solidFill>
                  </a:tcPr>
                </a:tc>
                <a:tc>
                  <a:txBody>
                    <a:bodyPr wrap="square"/>
                    <a:lstStyle/>
                    <a:p>
                      <a:pPr algn="r"/>
                      <a:r>
                        <a:rPr sz="1100" b="0">
                          <a:solidFill>
                            <a:srgbClr val="1F2A44"/>
                          </a:solidFill>
                          <a:latin typeface="Courier New"/>
                        </a:rPr>
                        <a:t>0</a:t>
                      </a:r>
                    </a:p>
                  </a:txBody>
                  <a:tcPr marL="54864" marR="54864" marT="27432" marB="27432">
                    <a:solidFill>
                      <a:srgbClr val="FFFFFF"/>
                    </a:solidFill>
                  </a:tcPr>
                </a:tc>
              </a:tr>
              <a:tr h="301752">
                <a:tc>
                  <a:txBody>
                    <a:bodyPr wrap="square"/>
                    <a:lstStyle/>
                    <a:p>
                      <a:pPr algn="l"/>
                      <a:r>
                        <a:rPr sz="1100" b="0">
                          <a:solidFill>
                            <a:srgbClr val="1F2A44"/>
                          </a:solidFill>
                          <a:latin typeface="Calibri"/>
                        </a:rPr>
                        <a:t>chamgei-backup</a:t>
                      </a:r>
                    </a:p>
                  </a:txBody>
                  <a:tcPr marL="54864" marR="54864" marT="27432" marB="27432">
                    <a:solidFill>
                      <a:srgbClr val="FFFFFF"/>
                    </a:solidFill>
                  </a:tcPr>
                </a:tc>
                <a:tc>
                  <a:txBody>
                    <a:bodyPr wrap="square"/>
                    <a:lstStyle/>
                    <a:p>
                      <a:pPr algn="r"/>
                      <a:r>
                        <a:rPr sz="1100" b="0">
                          <a:solidFill>
                            <a:srgbClr val="1F2A44"/>
                          </a:solidFill>
                          <a:latin typeface="Courier New"/>
                        </a:rPr>
                        <a:t>39.9</a:t>
                      </a:r>
                    </a:p>
                  </a:txBody>
                  <a:tcPr marL="54864" marR="54864" marT="27432" marB="27432">
                    <a:solidFill>
                      <a:srgbClr val="FFFFFF"/>
                    </a:solidFill>
                  </a:tcPr>
                </a:tc>
                <a:tc>
                  <a:txBody>
                    <a:bodyPr wrap="square"/>
                    <a:lstStyle/>
                    <a:p>
                      <a:pPr algn="r"/>
                      <a:r>
                        <a:rPr sz="1100" b="0">
                          <a:solidFill>
                            <a:srgbClr val="1F2A44"/>
                          </a:solidFill>
                          <a:latin typeface="Courier New"/>
                        </a:rPr>
                        <a:t>4.05</a:t>
                      </a:r>
                    </a:p>
                  </a:txBody>
                  <a:tcPr marL="54864" marR="54864" marT="27432" marB="27432">
                    <a:solidFill>
                      <a:srgbClr val="FFFFFF"/>
                    </a:solidFill>
                  </a:tcPr>
                </a:tc>
                <a:tc>
                  <a:txBody>
                    <a:bodyPr wrap="square"/>
                    <a:lstStyle/>
                    <a:p>
                      <a:pPr algn="r"/>
                      <a:r>
                        <a:rPr sz="1100" b="0">
                          <a:solidFill>
                            <a:srgbClr val="1F2A44"/>
                          </a:solidFill>
                          <a:latin typeface="Courier New"/>
                        </a:rPr>
                        <a:t>4,379</a:t>
                      </a:r>
                    </a:p>
                  </a:txBody>
                  <a:tcPr marL="54864" marR="54864" marT="27432" marB="27432">
                    <a:solidFill>
                      <a:srgbClr val="FFFFFF"/>
                    </a:solidFill>
                  </a:tcPr>
                </a:tc>
                <a:tc>
                  <a:txBody>
                    <a:bodyPr wrap="square"/>
                    <a:lstStyle/>
                    <a:p>
                      <a:pPr algn="r"/>
                      <a:r>
                        <a:rPr sz="1100" b="0">
                          <a:solidFill>
                            <a:srgbClr val="1F2A44"/>
                          </a:solidFill>
                          <a:latin typeface="Courier New"/>
                        </a:rPr>
                        <a:t>0</a:t>
                      </a:r>
                    </a:p>
                  </a:txBody>
                  <a:tcPr marL="54864" marR="54864" marT="27432" marB="27432">
                    <a:solidFill>
                      <a:srgbClr val="FFFFFF"/>
                    </a:solidFill>
                  </a:tcPr>
                </a:tc>
              </a:tr>
              <a:tr h="301752">
                <a:tc>
                  <a:txBody>
                    <a:bodyPr wrap="square"/>
                    <a:lstStyle/>
                    <a:p>
                      <a:pPr algn="l"/>
                      <a:r>
                        <a:rPr sz="1100" b="0">
                          <a:solidFill>
                            <a:srgbClr val="1F2A44"/>
                          </a:solidFill>
                          <a:latin typeface="Calibri"/>
                        </a:rPr>
                        <a:t>rmsbroadcast</a:t>
                      </a:r>
                    </a:p>
                  </a:txBody>
                  <a:tcPr marL="54864" marR="54864" marT="27432" marB="27432">
                    <a:solidFill>
                      <a:srgbClr val="FFFFFF"/>
                    </a:solidFill>
                  </a:tcPr>
                </a:tc>
                <a:tc>
                  <a:txBody>
                    <a:bodyPr wrap="square"/>
                    <a:lstStyle/>
                    <a:p>
                      <a:pPr algn="r"/>
                      <a:r>
                        <a:rPr sz="1100" b="0">
                          <a:solidFill>
                            <a:srgbClr val="1F2A44"/>
                          </a:solidFill>
                          <a:latin typeface="Courier New"/>
                        </a:rPr>
                        <a:t>34.3</a:t>
                      </a:r>
                    </a:p>
                  </a:txBody>
                  <a:tcPr marL="54864" marR="54864" marT="27432" marB="27432">
                    <a:solidFill>
                      <a:srgbClr val="FFFFFF"/>
                    </a:solidFill>
                  </a:tcPr>
                </a:tc>
                <a:tc>
                  <a:txBody>
                    <a:bodyPr wrap="square"/>
                    <a:lstStyle/>
                    <a:p>
                      <a:pPr algn="r"/>
                      <a:r>
                        <a:rPr sz="1100" b="0">
                          <a:solidFill>
                            <a:srgbClr val="1F2A44"/>
                          </a:solidFill>
                          <a:latin typeface="Courier New"/>
                        </a:rPr>
                        <a:t>4.85</a:t>
                      </a:r>
                    </a:p>
                  </a:txBody>
                  <a:tcPr marL="54864" marR="54864" marT="27432" marB="27432">
                    <a:solidFill>
                      <a:srgbClr val="FFFFFF"/>
                    </a:solidFill>
                  </a:tcPr>
                </a:tc>
                <a:tc>
                  <a:txBody>
                    <a:bodyPr wrap="square"/>
                    <a:lstStyle/>
                    <a:p>
                      <a:pPr algn="r"/>
                      <a:r>
                        <a:rPr sz="1100" b="0">
                          <a:solidFill>
                            <a:srgbClr val="1F2A44"/>
                          </a:solidFill>
                          <a:latin typeface="Courier New"/>
                        </a:rPr>
                        <a:t>1,799</a:t>
                      </a:r>
                    </a:p>
                  </a:txBody>
                  <a:tcPr marL="54864" marR="54864" marT="27432" marB="27432">
                    <a:solidFill>
                      <a:srgbClr val="FFFFFF"/>
                    </a:solidFill>
                  </a:tcPr>
                </a:tc>
                <a:tc>
                  <a:txBody>
                    <a:bodyPr wrap="square"/>
                    <a:lstStyle/>
                    <a:p>
                      <a:pPr algn="r"/>
                      <a:r>
                        <a:rPr sz="1100" b="0">
                          <a:solidFill>
                            <a:srgbClr val="1F2A44"/>
                          </a:solidFill>
                          <a:latin typeface="Courier New"/>
                        </a:rPr>
                        <a:t>1</a:t>
                      </a:r>
                    </a:p>
                  </a:txBody>
                  <a:tcPr marL="54864" marR="54864" marT="27432" marB="27432">
                    <a:solidFill>
                      <a:srgbClr val="FFFFFF"/>
                    </a:solidFill>
                  </a:tcPr>
                </a:tc>
              </a:tr>
              <a:tr h="301752">
                <a:tc>
                  <a:txBody>
                    <a:bodyPr wrap="square"/>
                    <a:lstStyle/>
                    <a:p>
                      <a:pPr algn="l"/>
                      <a:r>
                        <a:rPr sz="1100" b="0">
                          <a:solidFill>
                            <a:srgbClr val="1F2A44"/>
                          </a:solidFill>
                          <a:latin typeface="Calibri"/>
                        </a:rPr>
                        <a:t>music-bucket-rms</a:t>
                      </a:r>
                    </a:p>
                  </a:txBody>
                  <a:tcPr marL="54864" marR="54864" marT="27432" marB="27432">
                    <a:solidFill>
                      <a:srgbClr val="FFFFFF"/>
                    </a:solidFill>
                  </a:tcPr>
                </a:tc>
                <a:tc>
                  <a:txBody>
                    <a:bodyPr wrap="square"/>
                    <a:lstStyle/>
                    <a:p>
                      <a:pPr algn="r"/>
                      <a:r>
                        <a:rPr sz="1100" b="0">
                          <a:solidFill>
                            <a:srgbClr val="1F2A44"/>
                          </a:solidFill>
                          <a:latin typeface="Courier New"/>
                        </a:rPr>
                        <a:t>22.4</a:t>
                      </a:r>
                    </a:p>
                  </a:txBody>
                  <a:tcPr marL="54864" marR="54864" marT="27432" marB="27432">
                    <a:solidFill>
                      <a:srgbClr val="FFFFFF"/>
                    </a:solidFill>
                  </a:tcPr>
                </a:tc>
                <a:tc>
                  <a:txBody>
                    <a:bodyPr wrap="square"/>
                    <a:lstStyle/>
                    <a:p>
                      <a:pPr algn="r"/>
                      <a:r>
                        <a:rPr sz="1100" b="0">
                          <a:solidFill>
                            <a:srgbClr val="1F2A44"/>
                          </a:solidFill>
                          <a:latin typeface="Courier New"/>
                        </a:rPr>
                        <a:t>2.27</a:t>
                      </a:r>
                    </a:p>
                  </a:txBody>
                  <a:tcPr marL="54864" marR="54864" marT="27432" marB="27432">
                    <a:solidFill>
                      <a:srgbClr val="FFFFFF"/>
                    </a:solidFill>
                  </a:tcPr>
                </a:tc>
                <a:tc>
                  <a:txBody>
                    <a:bodyPr wrap="square"/>
                    <a:lstStyle/>
                    <a:p>
                      <a:pPr algn="r"/>
                      <a:r>
                        <a:rPr sz="1100" b="0">
                          <a:solidFill>
                            <a:srgbClr val="1F2A44"/>
                          </a:solidFill>
                          <a:latin typeface="Courier New"/>
                        </a:rPr>
                        <a:t>630</a:t>
                      </a:r>
                    </a:p>
                  </a:txBody>
                  <a:tcPr marL="54864" marR="54864" marT="27432" marB="27432">
                    <a:solidFill>
                      <a:srgbClr val="FFFFFF"/>
                    </a:solidFill>
                  </a:tcPr>
                </a:tc>
                <a:tc>
                  <a:txBody>
                    <a:bodyPr wrap="square"/>
                    <a:lstStyle/>
                    <a:p>
                      <a:pPr algn="r"/>
                      <a:r>
                        <a:rPr sz="1100" b="0">
                          <a:solidFill>
                            <a:srgbClr val="1F2A44"/>
                          </a:solidFill>
                          <a:latin typeface="Courier New"/>
                        </a:rPr>
                        <a:t>0</a:t>
                      </a:r>
                    </a:p>
                  </a:txBody>
                  <a:tcPr marL="54864" marR="54864" marT="27432" marB="27432">
                    <a:solidFill>
                      <a:srgbClr val="FFFFFF"/>
                    </a:solidFill>
                  </a:tcPr>
                </a:tc>
              </a:tr>
              <a:tr h="301752">
                <a:tc>
                  <a:txBody>
                    <a:bodyPr wrap="square"/>
                    <a:lstStyle/>
                    <a:p>
                      <a:pPr algn="l"/>
                      <a:r>
                        <a:rPr sz="1100" b="0">
                          <a:solidFill>
                            <a:srgbClr val="1F2A44"/>
                          </a:solidFill>
                          <a:latin typeface="Calibri"/>
                        </a:rPr>
                        <a:t>razuna-ireland-replication-7sep2017</a:t>
                      </a:r>
                    </a:p>
                  </a:txBody>
                  <a:tcPr marL="54864" marR="54864" marT="27432" marB="27432">
                    <a:solidFill>
                      <a:srgbClr val="FFFFFF"/>
                    </a:solidFill>
                  </a:tcPr>
                </a:tc>
                <a:tc>
                  <a:txBody>
                    <a:bodyPr wrap="square"/>
                    <a:lstStyle/>
                    <a:p>
                      <a:pPr algn="r"/>
                      <a:r>
                        <a:rPr sz="1100" b="0">
                          <a:solidFill>
                            <a:srgbClr val="1F2A44"/>
                          </a:solidFill>
                          <a:latin typeface="Courier New"/>
                        </a:rPr>
                        <a:t>15.2</a:t>
                      </a:r>
                    </a:p>
                  </a:txBody>
                  <a:tcPr marL="54864" marR="54864" marT="27432" marB="27432">
                    <a:solidFill>
                      <a:srgbClr val="FFFFFF"/>
                    </a:solidFill>
                  </a:tcPr>
                </a:tc>
                <a:tc>
                  <a:txBody>
                    <a:bodyPr wrap="square"/>
                    <a:lstStyle/>
                    <a:p>
                      <a:pPr algn="r"/>
                      <a:r>
                        <a:rPr sz="1100" b="0">
                          <a:solidFill>
                            <a:srgbClr val="1F2A44"/>
                          </a:solidFill>
                          <a:latin typeface="Courier New"/>
                        </a:rPr>
                        <a:t>1.52</a:t>
                      </a:r>
                    </a:p>
                  </a:txBody>
                  <a:tcPr marL="54864" marR="54864" marT="27432" marB="27432">
                    <a:solidFill>
                      <a:srgbClr val="FFFFFF"/>
                    </a:solidFill>
                  </a:tcPr>
                </a:tc>
                <a:tc>
                  <a:txBody>
                    <a:bodyPr wrap="square"/>
                    <a:lstStyle/>
                    <a:p>
                      <a:pPr algn="r"/>
                      <a:r>
                        <a:rPr sz="1100" b="0">
                          <a:solidFill>
                            <a:srgbClr val="1F2A44"/>
                          </a:solidFill>
                          <a:latin typeface="Courier New"/>
                        </a:rPr>
                        <a:t>48</a:t>
                      </a:r>
                    </a:p>
                  </a:txBody>
                  <a:tcPr marL="54864" marR="54864" marT="27432" marB="27432">
                    <a:solidFill>
                      <a:srgbClr val="FFFFFF"/>
                    </a:solidFill>
                  </a:tcPr>
                </a:tc>
                <a:tc>
                  <a:txBody>
                    <a:bodyPr wrap="square"/>
                    <a:lstStyle/>
                    <a:p>
                      <a:pPr algn="r"/>
                      <a:r>
                        <a:rPr sz="1100" b="0">
                          <a:solidFill>
                            <a:srgbClr val="1F2A44"/>
                          </a:solidFill>
                          <a:latin typeface="Courier New"/>
                        </a:rPr>
                        <a:t>0</a:t>
                      </a:r>
                    </a:p>
                  </a:txBody>
                  <a:tcPr marL="54864" marR="54864" marT="27432" marB="27432">
                    <a:solidFill>
                      <a:srgbClr val="FFFFFF"/>
                    </a:solidFill>
                  </a:tcPr>
                </a:tc>
              </a:tr>
              <a:tr h="301752">
                <a:tc>
                  <a:txBody>
                    <a:bodyPr wrap="square"/>
                    <a:lstStyle/>
                    <a:p>
                      <a:pPr algn="l"/>
                      <a:r>
                        <a:rPr sz="1100" b="0">
                          <a:solidFill>
                            <a:srgbClr val="1F2A44"/>
                          </a:solidFill>
                          <a:latin typeface="Calibri"/>
                        </a:rPr>
                        <a:t>google-transcripts</a:t>
                      </a:r>
                    </a:p>
                  </a:txBody>
                  <a:tcPr marL="54864" marR="54864" marT="27432" marB="27432">
                    <a:solidFill>
                      <a:srgbClr val="FFFFFF"/>
                    </a:solidFill>
                  </a:tcPr>
                </a:tc>
                <a:tc>
                  <a:txBody>
                    <a:bodyPr wrap="square"/>
                    <a:lstStyle/>
                    <a:p>
                      <a:pPr algn="r"/>
                      <a:r>
                        <a:rPr sz="1100" b="0">
                          <a:solidFill>
                            <a:srgbClr val="1F2A44"/>
                          </a:solidFill>
                          <a:latin typeface="Courier New"/>
                        </a:rPr>
                        <a:t>9.1</a:t>
                      </a:r>
                    </a:p>
                  </a:txBody>
                  <a:tcPr marL="54864" marR="54864" marT="27432" marB="27432">
                    <a:solidFill>
                      <a:srgbClr val="FFFFFF"/>
                    </a:solidFill>
                  </a:tcPr>
                </a:tc>
                <a:tc>
                  <a:txBody>
                    <a:bodyPr wrap="square"/>
                    <a:lstStyle/>
                    <a:p>
                      <a:pPr algn="r"/>
                      <a:r>
                        <a:rPr sz="1100" b="0">
                          <a:solidFill>
                            <a:srgbClr val="1F2A44"/>
                          </a:solidFill>
                          <a:latin typeface="Courier New"/>
                        </a:rPr>
                        <a:t>0.95</a:t>
                      </a:r>
                    </a:p>
                  </a:txBody>
                  <a:tcPr marL="54864" marR="54864" marT="27432" marB="27432">
                    <a:solidFill>
                      <a:srgbClr val="FFFFFF"/>
                    </a:solidFill>
                  </a:tcPr>
                </a:tc>
                <a:tc>
                  <a:txBody>
                    <a:bodyPr wrap="square"/>
                    <a:lstStyle/>
                    <a:p>
                      <a:pPr algn="r"/>
                      <a:r>
                        <a:rPr sz="1100" b="0">
                          <a:solidFill>
                            <a:srgbClr val="1F2A44"/>
                          </a:solidFill>
                          <a:latin typeface="Courier New"/>
                        </a:rPr>
                        <a:t>796</a:t>
                      </a:r>
                    </a:p>
                  </a:txBody>
                  <a:tcPr marL="54864" marR="54864" marT="27432" marB="27432">
                    <a:solidFill>
                      <a:srgbClr val="FFFFFF"/>
                    </a:solidFill>
                  </a:tcPr>
                </a:tc>
                <a:tc>
                  <a:txBody>
                    <a:bodyPr wrap="square"/>
                    <a:lstStyle/>
                    <a:p>
                      <a:pPr algn="r"/>
                      <a:r>
                        <a:rPr sz="1100" b="0">
                          <a:solidFill>
                            <a:srgbClr val="1F2A44"/>
                          </a:solidFill>
                          <a:latin typeface="Courier New"/>
                        </a:rPr>
                        <a:t>0</a:t>
                      </a:r>
                    </a:p>
                  </a:txBody>
                  <a:tcPr marL="54864" marR="54864" marT="27432" marB="2743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C8102E"/>
                </a:solidFill>
                <a:latin typeface="Calibri"/>
              </a:rPr>
              <a:t>Egress at an assumed 0.1 USD per GB billed to the RMS Huawei account; Archive-class direct reads carry a retrieval fee on top that is not priced here.</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[estimated]  Receipt R10: Interim tiered content census (content_sample); snapshots OBS 2026-10-03T01:40:08.564624+00:00; NAS 2026-10-03T01:38:24.195696+00:00; receipts cr-81526aa143aa, cr-8640b1cbcbc6, cr-aa33fffba60e, cr-bbf71c8d905a, cr-cf4eef79995b, cr-f1415e395361 on akki-vm and akki-vm-ii. Resumable listing, header probes of accessible audio and a per-folder video sample (ranged reads → ffprobe), with unprobed durations extrapolated where possible; a seeded stratified sample of files per folder read byte for byte, verified against the listing and judged on every two-second window by the admitted music detector and the current audio language model; ratio estimators with finite-population correction give the 95 % intervals. Listing, probing and sampling are incomplete. Model readings, not human labels; intervals exclude model error and inaccessible or unsampled content.</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59</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EVIDENCE BY NAME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What the content census has cost to read so far, by bucket</a:t>
            </a:r>
          </a:p>
        </p:txBody>
      </p:sp>
      <p:graphicFrame>
        <p:nvGraphicFramePr>
          <p:cNvPr id="4" name="Table 3"/>
          <p:cNvGraphicFramePr>
            <a:graphicFrameLocks noGrp="1"/>
          </p:cNvGraphicFramePr>
          <p:nvPr/>
        </p:nvGraphicFramePr>
        <p:xfrm>
          <a:off x="594360" y="1920240"/>
          <a:ext cx="11002973" cy="3017520"/>
        </p:xfrm>
        <a:graphic>
          <a:graphicData uri="http://schemas.openxmlformats.org/drawingml/2006/table">
            <a:tbl>
              <a:tblPr firstRow="1" bandRow="1">
                <a:tableStyleId>{5C22544A-7EE6-4342-B048-85BDC9FD1C3A}</a:tableStyleId>
              </a:tblPr>
              <a:tblGrid>
                <a:gridCol w="4359669"/>
                <a:gridCol w="1557024"/>
                <a:gridCol w="2179834"/>
                <a:gridCol w="1453223"/>
                <a:gridCol w="1453223"/>
              </a:tblGrid>
              <a:tr h="301752">
                <a:tc>
                  <a:txBody>
                    <a:bodyPr wrap="square"/>
                    <a:lstStyle/>
                    <a:p>
                      <a:pPr algn="l"/>
                      <a:r>
                        <a:rPr sz="1100" b="1">
                          <a:solidFill>
                            <a:srgbClr val="1F2A44"/>
                          </a:solidFill>
                          <a:latin typeface="Calibri"/>
                        </a:rPr>
                        <a:t>Bucket</a:t>
                      </a:r>
                    </a:p>
                  </a:txBody>
                  <a:tcPr marL="54864" marR="54864" marT="27432" marB="27432">
                    <a:solidFill>
                      <a:srgbClr val="E9ECF1"/>
                    </a:solidFill>
                  </a:tcPr>
                </a:tc>
                <a:tc>
                  <a:txBody>
                    <a:bodyPr wrap="square"/>
                    <a:lstStyle/>
                    <a:p>
                      <a:pPr algn="l"/>
                      <a:r>
                        <a:rPr sz="1100" b="1">
                          <a:solidFill>
                            <a:srgbClr val="1F2A44"/>
                          </a:solidFill>
                          <a:latin typeface="Calibri"/>
                        </a:rPr>
                        <a:t>Bytes read (GB)</a:t>
                      </a:r>
                    </a:p>
                  </a:txBody>
                  <a:tcPr marL="54864" marR="54864" marT="27432" marB="27432">
                    <a:solidFill>
                      <a:srgbClr val="E9ECF1"/>
                    </a:solidFill>
                  </a:tcPr>
                </a:tc>
                <a:tc>
                  <a:txBody>
                    <a:bodyPr wrap="square"/>
                    <a:lstStyle/>
                    <a:p>
                      <a:pPr algn="l"/>
                      <a:r>
                        <a:rPr sz="1100" b="1">
                          <a:solidFill>
                            <a:srgbClr val="1F2A44"/>
                          </a:solidFill>
                          <a:latin typeface="Calibri"/>
                        </a:rPr>
                        <a:t>Egress (USD, assumed)</a:t>
                      </a:r>
                    </a:p>
                  </a:txBody>
                  <a:tcPr marL="54864" marR="54864" marT="27432" marB="27432">
                    <a:solidFill>
                      <a:srgbClr val="E9ECF1"/>
                    </a:solidFill>
                  </a:tcPr>
                </a:tc>
                <a:tc>
                  <a:txBody>
                    <a:bodyPr wrap="square"/>
                    <a:lstStyle/>
                    <a:p>
                      <a:pPr algn="l"/>
                      <a:r>
                        <a:rPr sz="1100" b="1">
                          <a:solidFill>
                            <a:srgbClr val="1F2A44"/>
                          </a:solidFill>
                          <a:latin typeface="Calibri"/>
                        </a:rPr>
                        <a:t>Files read</a:t>
                      </a:r>
                    </a:p>
                  </a:txBody>
                  <a:tcPr marL="54864" marR="54864" marT="27432" marB="27432">
                    <a:solidFill>
                      <a:srgbClr val="E9ECF1"/>
                    </a:solidFill>
                  </a:tcPr>
                </a:tc>
                <a:tc>
                  <a:txBody>
                    <a:bodyPr wrap="square"/>
                    <a:lstStyle/>
                    <a:p>
                      <a:pPr algn="l"/>
                      <a:r>
                        <a:rPr sz="1100" b="1">
                          <a:solidFill>
                            <a:srgbClr val="1F2A44"/>
                          </a:solidFill>
                          <a:latin typeface="Calibri"/>
                        </a:rPr>
                        <a:t>Read failures</a:t>
                      </a:r>
                    </a:p>
                  </a:txBody>
                  <a:tcPr marL="54864" marR="54864" marT="27432" marB="27432">
                    <a:solidFill>
                      <a:srgbClr val="E9ECF1"/>
                    </a:solidFill>
                  </a:tcPr>
                </a:tc>
              </a:tr>
              <a:tr h="301752">
                <a:tc>
                  <a:txBody>
                    <a:bodyPr wrap="square"/>
                    <a:lstStyle/>
                    <a:p>
                      <a:pPr algn="l"/>
                      <a:r>
                        <a:rPr sz="1100" b="0">
                          <a:solidFill>
                            <a:srgbClr val="1F2A44"/>
                          </a:solidFill>
                          <a:latin typeface="Calibri"/>
                        </a:rPr>
                        <a:t>news-vault</a:t>
                      </a:r>
                    </a:p>
                  </a:txBody>
                  <a:tcPr marL="54864" marR="54864" marT="27432" marB="27432">
                    <a:solidFill>
                      <a:srgbClr val="FFFFFF"/>
                    </a:solidFill>
                  </a:tcPr>
                </a:tc>
                <a:tc>
                  <a:txBody>
                    <a:bodyPr wrap="square"/>
                    <a:lstStyle/>
                    <a:p>
                      <a:pPr algn="r"/>
                      <a:r>
                        <a:rPr sz="1100" b="0">
                          <a:solidFill>
                            <a:srgbClr val="1F2A44"/>
                          </a:solidFill>
                          <a:latin typeface="Courier New"/>
                        </a:rPr>
                        <a:t>6.4</a:t>
                      </a:r>
                    </a:p>
                  </a:txBody>
                  <a:tcPr marL="54864" marR="54864" marT="27432" marB="27432">
                    <a:solidFill>
                      <a:srgbClr val="FFFFFF"/>
                    </a:solidFill>
                  </a:tcPr>
                </a:tc>
                <a:tc>
                  <a:txBody>
                    <a:bodyPr wrap="square"/>
                    <a:lstStyle/>
                    <a:p>
                      <a:pPr algn="r"/>
                      <a:r>
                        <a:rPr sz="1100" b="0">
                          <a:solidFill>
                            <a:srgbClr val="1F2A44"/>
                          </a:solidFill>
                          <a:latin typeface="Courier New"/>
                        </a:rPr>
                        <a:t>1.64</a:t>
                      </a:r>
                    </a:p>
                  </a:txBody>
                  <a:tcPr marL="54864" marR="54864" marT="27432" marB="27432">
                    <a:solidFill>
                      <a:srgbClr val="FFFFFF"/>
                    </a:solidFill>
                  </a:tcPr>
                </a:tc>
                <a:tc>
                  <a:txBody>
                    <a:bodyPr wrap="square"/>
                    <a:lstStyle/>
                    <a:p>
                      <a:pPr algn="r"/>
                      <a:r>
                        <a:rPr sz="1100" b="0">
                          <a:solidFill>
                            <a:srgbClr val="1F2A44"/>
                          </a:solidFill>
                          <a:latin typeface="Courier New"/>
                        </a:rPr>
                        <a:t>1,349</a:t>
                      </a:r>
                    </a:p>
                  </a:txBody>
                  <a:tcPr marL="54864" marR="54864" marT="27432" marB="27432">
                    <a:solidFill>
                      <a:srgbClr val="FFFFFF"/>
                    </a:solidFill>
                  </a:tcPr>
                </a:tc>
                <a:tc>
                  <a:txBody>
                    <a:bodyPr wrap="square"/>
                    <a:lstStyle/>
                    <a:p>
                      <a:pPr algn="r"/>
                      <a:r>
                        <a:rPr sz="1100" b="0">
                          <a:solidFill>
                            <a:srgbClr val="1F2A44"/>
                          </a:solidFill>
                          <a:latin typeface="Courier New"/>
                        </a:rPr>
                        <a:t>3</a:t>
                      </a:r>
                    </a:p>
                  </a:txBody>
                  <a:tcPr marL="54864" marR="54864" marT="27432" marB="27432">
                    <a:solidFill>
                      <a:srgbClr val="FFFFFF"/>
                    </a:solidFill>
                  </a:tcPr>
                </a:tc>
              </a:tr>
              <a:tr h="301752">
                <a:tc>
                  <a:txBody>
                    <a:bodyPr wrap="square"/>
                    <a:lstStyle/>
                    <a:p>
                      <a:pPr algn="l"/>
                      <a:r>
                        <a:rPr sz="1100" b="0">
                          <a:solidFill>
                            <a:srgbClr val="1F2A44"/>
                          </a:solidFill>
                          <a:latin typeface="Calibri"/>
                        </a:rPr>
                        <a:t>citizentv</a:t>
                      </a:r>
                    </a:p>
                  </a:txBody>
                  <a:tcPr marL="54864" marR="54864" marT="27432" marB="27432">
                    <a:solidFill>
                      <a:srgbClr val="FFFFFF"/>
                    </a:solidFill>
                  </a:tcPr>
                </a:tc>
                <a:tc>
                  <a:txBody>
                    <a:bodyPr wrap="square"/>
                    <a:lstStyle/>
                    <a:p>
                      <a:pPr algn="r"/>
                      <a:r>
                        <a:rPr sz="1100" b="0">
                          <a:solidFill>
                            <a:srgbClr val="1F2A44"/>
                          </a:solidFill>
                          <a:latin typeface="Courier New"/>
                        </a:rPr>
                        <a:t>2.7</a:t>
                      </a:r>
                    </a:p>
                  </a:txBody>
                  <a:tcPr marL="54864" marR="54864" marT="27432" marB="27432">
                    <a:solidFill>
                      <a:srgbClr val="FFFFFF"/>
                    </a:solidFill>
                  </a:tcPr>
                </a:tc>
                <a:tc>
                  <a:txBody>
                    <a:bodyPr wrap="square"/>
                    <a:lstStyle/>
                    <a:p>
                      <a:pPr algn="r"/>
                      <a:r>
                        <a:rPr sz="1100" b="0">
                          <a:solidFill>
                            <a:srgbClr val="1F2A44"/>
                          </a:solidFill>
                          <a:latin typeface="Courier New"/>
                        </a:rPr>
                        <a:t>0.28</a:t>
                      </a:r>
                    </a:p>
                  </a:txBody>
                  <a:tcPr marL="54864" marR="54864" marT="27432" marB="27432">
                    <a:solidFill>
                      <a:srgbClr val="FFFFFF"/>
                    </a:solidFill>
                  </a:tcPr>
                </a:tc>
                <a:tc>
                  <a:txBody>
                    <a:bodyPr wrap="square"/>
                    <a:lstStyle/>
                    <a:p>
                      <a:pPr algn="r"/>
                      <a:r>
                        <a:rPr sz="1100" b="0">
                          <a:solidFill>
                            <a:srgbClr val="1F2A44"/>
                          </a:solidFill>
                          <a:latin typeface="Courier New"/>
                        </a:rPr>
                        <a:t>206</a:t>
                      </a:r>
                    </a:p>
                  </a:txBody>
                  <a:tcPr marL="54864" marR="54864" marT="27432" marB="27432">
                    <a:solidFill>
                      <a:srgbClr val="FFFFFF"/>
                    </a:solidFill>
                  </a:tcPr>
                </a:tc>
                <a:tc>
                  <a:txBody>
                    <a:bodyPr wrap="square"/>
                    <a:lstStyle/>
                    <a:p>
                      <a:pPr algn="r"/>
                      <a:r>
                        <a:rPr sz="1100" b="0">
                          <a:solidFill>
                            <a:srgbClr val="1F2A44"/>
                          </a:solidFill>
                          <a:latin typeface="Courier New"/>
                        </a:rPr>
                        <a:t>9</a:t>
                      </a:r>
                    </a:p>
                  </a:txBody>
                  <a:tcPr marL="54864" marR="54864" marT="27432" marB="27432">
                    <a:solidFill>
                      <a:srgbClr val="FFFFFF"/>
                    </a:solidFill>
                  </a:tcPr>
                </a:tc>
              </a:tr>
              <a:tr h="301752">
                <a:tc>
                  <a:txBody>
                    <a:bodyPr wrap="square"/>
                    <a:lstStyle/>
                    <a:p>
                      <a:pPr algn="l"/>
                      <a:r>
                        <a:rPr sz="1100" b="0">
                          <a:solidFill>
                            <a:srgbClr val="1F2A44"/>
                          </a:solidFill>
                          <a:latin typeface="Calibri"/>
                        </a:rPr>
                        <a:t>razuna.royalmedia</a:t>
                      </a:r>
                    </a:p>
                  </a:txBody>
                  <a:tcPr marL="54864" marR="54864" marT="27432" marB="27432">
                    <a:solidFill>
                      <a:srgbClr val="FFFFFF"/>
                    </a:solidFill>
                  </a:tcPr>
                </a:tc>
                <a:tc>
                  <a:txBody>
                    <a:bodyPr wrap="square"/>
                    <a:lstStyle/>
                    <a:p>
                      <a:pPr algn="r"/>
                      <a:r>
                        <a:rPr sz="1100" b="0">
                          <a:solidFill>
                            <a:srgbClr val="1F2A44"/>
                          </a:solidFill>
                          <a:latin typeface="Courier New"/>
                        </a:rPr>
                        <a:t>1.0</a:t>
                      </a:r>
                    </a:p>
                  </a:txBody>
                  <a:tcPr marL="54864" marR="54864" marT="27432" marB="27432">
                    <a:solidFill>
                      <a:srgbClr val="FFFFFF"/>
                    </a:solidFill>
                  </a:tcPr>
                </a:tc>
                <a:tc>
                  <a:txBody>
                    <a:bodyPr wrap="square"/>
                    <a:lstStyle/>
                    <a:p>
                      <a:pPr algn="r"/>
                      <a:r>
                        <a:rPr sz="1100" b="0">
                          <a:solidFill>
                            <a:srgbClr val="1F2A44"/>
                          </a:solidFill>
                          <a:latin typeface="Courier New"/>
                        </a:rPr>
                        <a:t>0.10</a:t>
                      </a:r>
                    </a:p>
                  </a:txBody>
                  <a:tcPr marL="54864" marR="54864" marT="27432" marB="27432">
                    <a:solidFill>
                      <a:srgbClr val="FFFFFF"/>
                    </a:solidFill>
                  </a:tcPr>
                </a:tc>
                <a:tc>
                  <a:txBody>
                    <a:bodyPr wrap="square"/>
                    <a:lstStyle/>
                    <a:p>
                      <a:pPr algn="r"/>
                      <a:r>
                        <a:rPr sz="1100" b="0">
                          <a:solidFill>
                            <a:srgbClr val="1F2A44"/>
                          </a:solidFill>
                          <a:latin typeface="Courier New"/>
                        </a:rPr>
                        <a:t>5</a:t>
                      </a:r>
                    </a:p>
                  </a:txBody>
                  <a:tcPr marL="54864" marR="54864" marT="27432" marB="27432">
                    <a:solidFill>
                      <a:srgbClr val="FFFFFF"/>
                    </a:solidFill>
                  </a:tcPr>
                </a:tc>
                <a:tc>
                  <a:txBody>
                    <a:bodyPr wrap="square"/>
                    <a:lstStyle/>
                    <a:p>
                      <a:pPr algn="r"/>
                      <a:r>
                        <a:rPr sz="1100" b="0">
                          <a:solidFill>
                            <a:srgbClr val="1F2A44"/>
                          </a:solidFill>
                          <a:latin typeface="Courier New"/>
                        </a:rPr>
                        <a:t>0</a:t>
                      </a:r>
                    </a:p>
                  </a:txBody>
                  <a:tcPr marL="54864" marR="54864" marT="27432" marB="27432">
                    <a:solidFill>
                      <a:srgbClr val="FFFFFF"/>
                    </a:solidFill>
                  </a:tcPr>
                </a:tc>
              </a:tr>
              <a:tr h="301752">
                <a:tc>
                  <a:txBody>
                    <a:bodyPr wrap="square"/>
                    <a:lstStyle/>
                    <a:p>
                      <a:pPr algn="l"/>
                      <a:r>
                        <a:rPr sz="1100" b="0">
                          <a:solidFill>
                            <a:srgbClr val="1F2A44"/>
                          </a:solidFill>
                          <a:latin typeface="Calibri"/>
                        </a:rPr>
                        <a:t>test-regionireland</a:t>
                      </a:r>
                    </a:p>
                  </a:txBody>
                  <a:tcPr marL="54864" marR="54864" marT="27432" marB="27432">
                    <a:solidFill>
                      <a:srgbClr val="FFFFFF"/>
                    </a:solidFill>
                  </a:tcPr>
                </a:tc>
                <a:tc>
                  <a:txBody>
                    <a:bodyPr wrap="square"/>
                    <a:lstStyle/>
                    <a:p>
                      <a:pPr algn="r"/>
                      <a:r>
                        <a:rPr sz="1100" b="0">
                          <a:solidFill>
                            <a:srgbClr val="1F2A44"/>
                          </a:solidFill>
                          <a:latin typeface="Courier New"/>
                        </a:rPr>
                        <a:t>0.3</a:t>
                      </a:r>
                    </a:p>
                  </a:txBody>
                  <a:tcPr marL="54864" marR="54864" marT="27432" marB="27432">
                    <a:solidFill>
                      <a:srgbClr val="FFFFFF"/>
                    </a:solidFill>
                  </a:tcPr>
                </a:tc>
                <a:tc>
                  <a:txBody>
                    <a:bodyPr wrap="square"/>
                    <a:lstStyle/>
                    <a:p>
                      <a:pPr algn="r"/>
                      <a:r>
                        <a:rPr sz="1100" b="0">
                          <a:solidFill>
                            <a:srgbClr val="1F2A44"/>
                          </a:solidFill>
                          <a:latin typeface="Courier New"/>
                        </a:rPr>
                        <a:t>0.03</a:t>
                      </a:r>
                    </a:p>
                  </a:txBody>
                  <a:tcPr marL="54864" marR="54864" marT="27432" marB="27432">
                    <a:solidFill>
                      <a:srgbClr val="FFFFFF"/>
                    </a:solidFill>
                  </a:tcPr>
                </a:tc>
                <a:tc>
                  <a:txBody>
                    <a:bodyPr wrap="square"/>
                    <a:lstStyle/>
                    <a:p>
                      <a:pPr algn="r"/>
                      <a:r>
                        <a:rPr sz="1100" b="0">
                          <a:solidFill>
                            <a:srgbClr val="1F2A44"/>
                          </a:solidFill>
                          <a:latin typeface="Courier New"/>
                        </a:rPr>
                        <a:t>1</a:t>
                      </a:r>
                    </a:p>
                  </a:txBody>
                  <a:tcPr marL="54864" marR="54864" marT="27432" marB="27432">
                    <a:solidFill>
                      <a:srgbClr val="FFFFFF"/>
                    </a:solidFill>
                  </a:tcPr>
                </a:tc>
                <a:tc>
                  <a:txBody>
                    <a:bodyPr wrap="square"/>
                    <a:lstStyle/>
                    <a:p>
                      <a:pPr algn="r"/>
                      <a:r>
                        <a:rPr sz="1100" b="0">
                          <a:solidFill>
                            <a:srgbClr val="1F2A44"/>
                          </a:solidFill>
                          <a:latin typeface="Courier New"/>
                        </a:rPr>
                        <a:t>1</a:t>
                      </a:r>
                    </a:p>
                  </a:txBody>
                  <a:tcPr marL="54864" marR="54864" marT="27432" marB="27432">
                    <a:solidFill>
                      <a:srgbClr val="FFFFFF"/>
                    </a:solidFill>
                  </a:tcPr>
                </a:tc>
              </a:tr>
              <a:tr h="301752">
                <a:tc>
                  <a:txBody>
                    <a:bodyPr wrap="square"/>
                    <a:lstStyle/>
                    <a:p>
                      <a:pPr algn="l"/>
                      <a:r>
                        <a:rPr sz="1100" b="0">
                          <a:solidFill>
                            <a:srgbClr val="1F2A44"/>
                          </a:solidFill>
                          <a:latin typeface="Calibri"/>
                        </a:rPr>
                        <a:t>viusasanews</a:t>
                      </a:r>
                    </a:p>
                  </a:txBody>
                  <a:tcPr marL="54864" marR="54864" marT="27432" marB="27432">
                    <a:solidFill>
                      <a:srgbClr val="FFFFFF"/>
                    </a:solidFill>
                  </a:tcPr>
                </a:tc>
                <a:tc>
                  <a:txBody>
                    <a:bodyPr wrap="square"/>
                    <a:lstStyle/>
                    <a:p>
                      <a:pPr algn="r"/>
                      <a:r>
                        <a:rPr sz="1100" b="0">
                          <a:solidFill>
                            <a:srgbClr val="1F2A44"/>
                          </a:solidFill>
                          <a:latin typeface="Courier New"/>
                        </a:rPr>
                        <a:t>0.2</a:t>
                      </a:r>
                    </a:p>
                  </a:txBody>
                  <a:tcPr marL="54864" marR="54864" marT="27432" marB="27432">
                    <a:solidFill>
                      <a:srgbClr val="FFFFFF"/>
                    </a:solidFill>
                  </a:tcPr>
                </a:tc>
                <a:tc>
                  <a:txBody>
                    <a:bodyPr wrap="square"/>
                    <a:lstStyle/>
                    <a:p>
                      <a:pPr algn="r"/>
                      <a:r>
                        <a:rPr sz="1100" b="0">
                          <a:solidFill>
                            <a:srgbClr val="1F2A44"/>
                          </a:solidFill>
                          <a:latin typeface="Courier New"/>
                        </a:rPr>
                        <a:t>0.02</a:t>
                      </a:r>
                    </a:p>
                  </a:txBody>
                  <a:tcPr marL="54864" marR="54864" marT="27432" marB="27432">
                    <a:solidFill>
                      <a:srgbClr val="FFFFFF"/>
                    </a:solidFill>
                  </a:tcPr>
                </a:tc>
                <a:tc>
                  <a:txBody>
                    <a:bodyPr wrap="square"/>
                    <a:lstStyle/>
                    <a:p>
                      <a:pPr algn="r"/>
                      <a:r>
                        <a:rPr sz="1100" b="0">
                          <a:solidFill>
                            <a:srgbClr val="1F2A44"/>
                          </a:solidFill>
                          <a:latin typeface="Courier New"/>
                        </a:rPr>
                        <a:t>33</a:t>
                      </a:r>
                    </a:p>
                  </a:txBody>
                  <a:tcPr marL="54864" marR="54864" marT="27432" marB="27432">
                    <a:solidFill>
                      <a:srgbClr val="FFFFFF"/>
                    </a:solidFill>
                  </a:tcPr>
                </a:tc>
                <a:tc>
                  <a:txBody>
                    <a:bodyPr wrap="square"/>
                    <a:lstStyle/>
                    <a:p>
                      <a:pPr algn="r"/>
                      <a:r>
                        <a:rPr sz="1100" b="0">
                          <a:solidFill>
                            <a:srgbClr val="1F2A44"/>
                          </a:solidFill>
                          <a:latin typeface="Courier New"/>
                        </a:rPr>
                        <a:t>0</a:t>
                      </a:r>
                    </a:p>
                  </a:txBody>
                  <a:tcPr marL="54864" marR="54864" marT="27432" marB="27432">
                    <a:solidFill>
                      <a:srgbClr val="FFFFFF"/>
                    </a:solidFill>
                  </a:tcPr>
                </a:tc>
              </a:tr>
              <a:tr h="301752">
                <a:tc>
                  <a:txBody>
                    <a:bodyPr wrap="square"/>
                    <a:lstStyle/>
                    <a:p>
                      <a:pPr algn="l"/>
                      <a:r>
                        <a:rPr sz="1100" b="0">
                          <a:solidFill>
                            <a:srgbClr val="1F2A44"/>
                          </a:solidFill>
                          <a:latin typeface="Calibri"/>
                        </a:rPr>
                        <a:t>edailynew</a:t>
                      </a:r>
                    </a:p>
                  </a:txBody>
                  <a:tcPr marL="54864" marR="54864" marT="27432" marB="27432">
                    <a:solidFill>
                      <a:srgbClr val="FFFFFF"/>
                    </a:solidFill>
                  </a:tcPr>
                </a:tc>
                <a:tc>
                  <a:txBody>
                    <a:bodyPr wrap="square"/>
                    <a:lstStyle/>
                    <a:p>
                      <a:pPr algn="r"/>
                      <a:r>
                        <a:rPr sz="1100" b="0">
                          <a:solidFill>
                            <a:srgbClr val="1F2A44"/>
                          </a:solidFill>
                          <a:latin typeface="Courier New"/>
                        </a:rPr>
                        <a:t>0.2</a:t>
                      </a:r>
                    </a:p>
                  </a:txBody>
                  <a:tcPr marL="54864" marR="54864" marT="27432" marB="27432">
                    <a:solidFill>
                      <a:srgbClr val="FFFFFF"/>
                    </a:solidFill>
                  </a:tcPr>
                </a:tc>
                <a:tc>
                  <a:txBody>
                    <a:bodyPr wrap="square"/>
                    <a:lstStyle/>
                    <a:p>
                      <a:pPr algn="r"/>
                      <a:r>
                        <a:rPr sz="1100" b="0">
                          <a:solidFill>
                            <a:srgbClr val="1F2A44"/>
                          </a:solidFill>
                          <a:latin typeface="Courier New"/>
                        </a:rPr>
                        <a:t>0.02</a:t>
                      </a:r>
                    </a:p>
                  </a:txBody>
                  <a:tcPr marL="54864" marR="54864" marT="27432" marB="27432">
                    <a:solidFill>
                      <a:srgbClr val="FFFFFF"/>
                    </a:solidFill>
                  </a:tcPr>
                </a:tc>
                <a:tc>
                  <a:txBody>
                    <a:bodyPr wrap="square"/>
                    <a:lstStyle/>
                    <a:p>
                      <a:pPr algn="r"/>
                      <a:r>
                        <a:rPr sz="1100" b="0">
                          <a:solidFill>
                            <a:srgbClr val="1F2A44"/>
                          </a:solidFill>
                          <a:latin typeface="Courier New"/>
                        </a:rPr>
                        <a:t>27</a:t>
                      </a:r>
                    </a:p>
                  </a:txBody>
                  <a:tcPr marL="54864" marR="54864" marT="27432" marB="27432">
                    <a:solidFill>
                      <a:srgbClr val="FFFFFF"/>
                    </a:solidFill>
                  </a:tcPr>
                </a:tc>
                <a:tc>
                  <a:txBody>
                    <a:bodyPr wrap="square"/>
                    <a:lstStyle/>
                    <a:p>
                      <a:pPr algn="r"/>
                      <a:r>
                        <a:rPr sz="1100" b="0">
                          <a:solidFill>
                            <a:srgbClr val="1F2A44"/>
                          </a:solidFill>
                          <a:latin typeface="Courier New"/>
                        </a:rPr>
                        <a:t>2</a:t>
                      </a:r>
                    </a:p>
                  </a:txBody>
                  <a:tcPr marL="54864" marR="54864" marT="27432" marB="27432">
                    <a:solidFill>
                      <a:srgbClr val="FFFFFF"/>
                    </a:solidFill>
                  </a:tcPr>
                </a:tc>
              </a:tr>
              <a:tr h="301752">
                <a:tc>
                  <a:txBody>
                    <a:bodyPr wrap="square"/>
                    <a:lstStyle/>
                    <a:p>
                      <a:pPr algn="l"/>
                      <a:r>
                        <a:rPr sz="1100" b="0">
                          <a:solidFill>
                            <a:srgbClr val="1F2A44"/>
                          </a:solidFill>
                          <a:latin typeface="Calibri"/>
                        </a:rPr>
                        <a:t>citizen-classifieds</a:t>
                      </a:r>
                    </a:p>
                  </a:txBody>
                  <a:tcPr marL="54864" marR="54864" marT="27432" marB="27432">
                    <a:solidFill>
                      <a:srgbClr val="FFFFFF"/>
                    </a:solidFill>
                  </a:tcPr>
                </a:tc>
                <a:tc>
                  <a:txBody>
                    <a:bodyPr wrap="square"/>
                    <a:lstStyle/>
                    <a:p>
                      <a:pPr algn="r"/>
                      <a:r>
                        <a:rPr sz="1100" b="0">
                          <a:solidFill>
                            <a:srgbClr val="1F2A44"/>
                          </a:solidFill>
                          <a:latin typeface="Courier New"/>
                        </a:rPr>
                        <a:t>0.1</a:t>
                      </a:r>
                    </a:p>
                  </a:txBody>
                  <a:tcPr marL="54864" marR="54864" marT="27432" marB="27432">
                    <a:solidFill>
                      <a:srgbClr val="FFFFFF"/>
                    </a:solidFill>
                  </a:tcPr>
                </a:tc>
                <a:tc>
                  <a:txBody>
                    <a:bodyPr wrap="square"/>
                    <a:lstStyle/>
                    <a:p>
                      <a:pPr algn="r"/>
                      <a:r>
                        <a:rPr sz="1100" b="0">
                          <a:solidFill>
                            <a:srgbClr val="1F2A44"/>
                          </a:solidFill>
                          <a:latin typeface="Courier New"/>
                        </a:rPr>
                        <a:t>0.01</a:t>
                      </a:r>
                    </a:p>
                  </a:txBody>
                  <a:tcPr marL="54864" marR="54864" marT="27432" marB="27432">
                    <a:solidFill>
                      <a:srgbClr val="FFFFFF"/>
                    </a:solidFill>
                  </a:tcPr>
                </a:tc>
                <a:tc>
                  <a:txBody>
                    <a:bodyPr wrap="square"/>
                    <a:lstStyle/>
                    <a:p>
                      <a:pPr algn="r"/>
                      <a:r>
                        <a:rPr sz="1100" b="0">
                          <a:solidFill>
                            <a:srgbClr val="1F2A44"/>
                          </a:solidFill>
                          <a:latin typeface="Courier New"/>
                        </a:rPr>
                        <a:t>5</a:t>
                      </a:r>
                    </a:p>
                  </a:txBody>
                  <a:tcPr marL="54864" marR="54864" marT="27432" marB="27432">
                    <a:solidFill>
                      <a:srgbClr val="FFFFFF"/>
                    </a:solidFill>
                  </a:tcPr>
                </a:tc>
                <a:tc>
                  <a:txBody>
                    <a:bodyPr wrap="square"/>
                    <a:lstStyle/>
                    <a:p>
                      <a:pPr algn="r"/>
                      <a:r>
                        <a:rPr sz="1100" b="0">
                          <a:solidFill>
                            <a:srgbClr val="1F2A44"/>
                          </a:solidFill>
                          <a:latin typeface="Courier New"/>
                        </a:rPr>
                        <a:t>36</a:t>
                      </a:r>
                    </a:p>
                  </a:txBody>
                  <a:tcPr marL="54864" marR="54864" marT="27432" marB="27432">
                    <a:solidFill>
                      <a:srgbClr val="FFFFFF"/>
                    </a:solidFill>
                  </a:tcPr>
                </a:tc>
              </a:tr>
              <a:tr h="301752">
                <a:tc>
                  <a:txBody>
                    <a:bodyPr wrap="square"/>
                    <a:lstStyle/>
                    <a:p>
                      <a:pPr algn="l"/>
                      <a:r>
                        <a:rPr sz="1100" b="0">
                          <a:solidFill>
                            <a:srgbClr val="1F2A44"/>
                          </a:solidFill>
                          <a:latin typeface="Calibri"/>
                        </a:rPr>
                        <a:t>skizaaudio</a:t>
                      </a:r>
                    </a:p>
                  </a:txBody>
                  <a:tcPr marL="54864" marR="54864" marT="27432" marB="27432">
                    <a:solidFill>
                      <a:srgbClr val="FFFFFF"/>
                    </a:solidFill>
                  </a:tcPr>
                </a:tc>
                <a:tc>
                  <a:txBody>
                    <a:bodyPr wrap="square"/>
                    <a:lstStyle/>
                    <a:p>
                      <a:pPr algn="r"/>
                      <a:r>
                        <a:rPr sz="1100" b="0">
                          <a:solidFill>
                            <a:srgbClr val="1F2A44"/>
                          </a:solidFill>
                          <a:latin typeface="Courier New"/>
                        </a:rPr>
                        <a:t>0.0</a:t>
                      </a:r>
                    </a:p>
                  </a:txBody>
                  <a:tcPr marL="54864" marR="54864" marT="27432" marB="27432">
                    <a:solidFill>
                      <a:srgbClr val="FFFFFF"/>
                    </a:solidFill>
                  </a:tcPr>
                </a:tc>
                <a:tc>
                  <a:txBody>
                    <a:bodyPr wrap="square"/>
                    <a:lstStyle/>
                    <a:p>
                      <a:pPr algn="r"/>
                      <a:r>
                        <a:rPr sz="1100" b="0">
                          <a:solidFill>
                            <a:srgbClr val="1F2A44"/>
                          </a:solidFill>
                          <a:latin typeface="Courier New"/>
                        </a:rPr>
                        <a:t>0.01</a:t>
                      </a:r>
                    </a:p>
                  </a:txBody>
                  <a:tcPr marL="54864" marR="54864" marT="27432" marB="27432">
                    <a:solidFill>
                      <a:srgbClr val="FFFFFF"/>
                    </a:solidFill>
                  </a:tcPr>
                </a:tc>
                <a:tc>
                  <a:txBody>
                    <a:bodyPr wrap="square"/>
                    <a:lstStyle/>
                    <a:p>
                      <a:pPr algn="r"/>
                      <a:r>
                        <a:rPr sz="1100" b="0">
                          <a:solidFill>
                            <a:srgbClr val="1F2A44"/>
                          </a:solidFill>
                          <a:latin typeface="Courier New"/>
                        </a:rPr>
                        <a:t>114</a:t>
                      </a:r>
                    </a:p>
                  </a:txBody>
                  <a:tcPr marL="54864" marR="54864" marT="27432" marB="27432">
                    <a:solidFill>
                      <a:srgbClr val="FFFFFF"/>
                    </a:solidFill>
                  </a:tcPr>
                </a:tc>
                <a:tc>
                  <a:txBody>
                    <a:bodyPr wrap="square"/>
                    <a:lstStyle/>
                    <a:p>
                      <a:pPr algn="r"/>
                      <a:r>
                        <a:rPr sz="1100" b="0">
                          <a:solidFill>
                            <a:srgbClr val="1F2A44"/>
                          </a:solidFill>
                          <a:latin typeface="Courier New"/>
                        </a:rPr>
                        <a:t>0</a:t>
                      </a:r>
                    </a:p>
                  </a:txBody>
                  <a:tcPr marL="54864" marR="54864" marT="27432" marB="27432">
                    <a:solidFill>
                      <a:srgbClr val="FFFFFF"/>
                    </a:solidFill>
                  </a:tcPr>
                </a:tc>
              </a:tr>
              <a:tr h="301752">
                <a:tc>
                  <a:txBody>
                    <a:bodyPr wrap="square"/>
                    <a:lstStyle/>
                    <a:p>
                      <a:pPr algn="l"/>
                      <a:r>
                        <a:rPr sz="1100" b="0">
                          <a:solidFill>
                            <a:srgbClr val="1F2A44"/>
                          </a:solidFill>
                          <a:latin typeface="Calibri"/>
                        </a:rPr>
                        <a:t>rekognition-video-console-demo-dub-917562226170-nm20tsok0pm1ea</a:t>
                      </a:r>
                    </a:p>
                  </a:txBody>
                  <a:tcPr marL="54864" marR="54864" marT="27432" marB="27432">
                    <a:solidFill>
                      <a:srgbClr val="FFFFFF"/>
                    </a:solidFill>
                  </a:tcPr>
                </a:tc>
                <a:tc>
                  <a:txBody>
                    <a:bodyPr wrap="square"/>
                    <a:lstStyle/>
                    <a:p>
                      <a:pPr algn="r"/>
                      <a:r>
                        <a:rPr sz="1100" b="0">
                          <a:solidFill>
                            <a:srgbClr val="1F2A44"/>
                          </a:solidFill>
                          <a:latin typeface="Courier New"/>
                        </a:rPr>
                        <a:t>0.0</a:t>
                      </a:r>
                    </a:p>
                  </a:txBody>
                  <a:tcPr marL="54864" marR="54864" marT="27432" marB="27432">
                    <a:solidFill>
                      <a:srgbClr val="FFFFFF"/>
                    </a:solidFill>
                  </a:tcPr>
                </a:tc>
                <a:tc>
                  <a:txBody>
                    <a:bodyPr wrap="square"/>
                    <a:lstStyle/>
                    <a:p>
                      <a:pPr algn="r"/>
                      <a:r>
                        <a:rPr sz="1100" b="0">
                          <a:solidFill>
                            <a:srgbClr val="1F2A44"/>
                          </a:solidFill>
                          <a:latin typeface="Courier New"/>
                        </a:rPr>
                        <a:t>0.00</a:t>
                      </a:r>
                    </a:p>
                  </a:txBody>
                  <a:tcPr marL="54864" marR="54864" marT="27432" marB="27432">
                    <a:solidFill>
                      <a:srgbClr val="FFFFFF"/>
                    </a:solidFill>
                  </a:tcPr>
                </a:tc>
                <a:tc>
                  <a:txBody>
                    <a:bodyPr wrap="square"/>
                    <a:lstStyle/>
                    <a:p>
                      <a:pPr algn="r"/>
                      <a:r>
                        <a:rPr sz="1100" b="0">
                          <a:solidFill>
                            <a:srgbClr val="1F2A44"/>
                          </a:solidFill>
                          <a:latin typeface="Courier New"/>
                        </a:rPr>
                        <a:t>1</a:t>
                      </a:r>
                    </a:p>
                  </a:txBody>
                  <a:tcPr marL="54864" marR="54864" marT="27432" marB="27432">
                    <a:solidFill>
                      <a:srgbClr val="FFFFFF"/>
                    </a:solidFill>
                  </a:tcPr>
                </a:tc>
                <a:tc>
                  <a:txBody>
                    <a:bodyPr wrap="square"/>
                    <a:lstStyle/>
                    <a:p>
                      <a:pPr algn="r"/>
                      <a:r>
                        <a:rPr sz="1100" b="0">
                          <a:solidFill>
                            <a:srgbClr val="1F2A44"/>
                          </a:solidFill>
                          <a:latin typeface="Courier New"/>
                        </a:rPr>
                        <a:t>0</a:t>
                      </a:r>
                    </a:p>
                  </a:txBody>
                  <a:tcPr marL="54864" marR="54864" marT="27432" marB="2743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C8102E"/>
                </a:solidFill>
                <a:latin typeface="Calibri"/>
              </a:rPr>
              <a:t>Egress at an assumed 0.1 USD per GB billed to the RMS Huawei account; Archive-class direct reads carry a retrieval fee on top that is not priced here.</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[estimated]  Receipt R10: Interim tiered content census (content_sample); snapshots OBS 2026-10-03T01:40:08.564624+00:00; NAS 2026-10-03T01:38:24.195696+00:00; receipts cr-81526aa143aa, cr-8640b1cbcbc6, cr-aa33fffba60e, cr-bbf71c8d905a, cr-cf4eef79995b, cr-f1415e395361 on akki-vm and akki-vm-ii. Resumable listing, header probes of accessible audio and a per-folder video sample (ranged reads → ffprobe), with unprobed durations extrapolated where possible; a seeded stratified sample of files per folder read byte for byte, verified against the listing and judged on every two-second window by the admitted music detector and the current audio language model; ratio estimators with finite-population correction give the 95 % intervals. Listing, probing and sampling are incomplete. Model readings, not human labels; intervals exclude model error and inaccessible or unsampled content.</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60</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1920240"/>
            <a:ext cx="2613355" cy="1885492"/>
          </a:xfrm>
          <a:prstGeom prst="rect">
            <a:avLst/>
          </a:prstGeom>
          <a:noFill/>
        </p:spPr>
        <p:txBody>
          <a:bodyPr wrap="square" lIns="0" rIns="0" tIns="0" bIns="0" anchor="ctr">
            <a:spAutoFit/>
          </a:bodyPr>
          <a:lstStyle/>
          <a:p>
            <a:pPr algn="l"/>
            <a:r>
              <a:rPr sz="9600" b="0" i="0">
                <a:solidFill>
                  <a:srgbClr val="C8102E"/>
                </a:solidFill>
                <a:latin typeface="Courier New"/>
              </a:rPr>
              <a:t>09</a:t>
            </a:r>
          </a:p>
        </p:txBody>
      </p:sp>
      <p:sp>
        <p:nvSpPr>
          <p:cNvPr id="3" name="TextBox 2"/>
          <p:cNvSpPr txBox="1"/>
          <p:nvPr/>
        </p:nvSpPr>
        <p:spPr>
          <a:xfrm>
            <a:off x="3390595" y="2297887"/>
            <a:ext cx="8206740" cy="1508760"/>
          </a:xfrm>
          <a:prstGeom prst="rect">
            <a:avLst/>
          </a:prstGeom>
          <a:noFill/>
        </p:spPr>
        <p:txBody>
          <a:bodyPr wrap="square" lIns="0" rIns="0" tIns="0" bIns="0" anchor="ctr">
            <a:spAutoFit/>
          </a:bodyPr>
          <a:lstStyle/>
          <a:p>
            <a:pPr algn="l"/>
            <a:r>
              <a:rPr sz="3200" b="0" i="0">
                <a:solidFill>
                  <a:srgbClr val="1F2A44"/>
                </a:solidFill>
                <a:latin typeface="Cambria"/>
              </a:rPr>
              <a:t>First data products</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PRODUCT PILOTS</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Start with reference, content-catalogue and channel products, each prepared first</a:t>
            </a:r>
          </a:p>
        </p:txBody>
      </p:sp>
      <p:sp>
        <p:nvSpPr>
          <p:cNvPr id="4" name="TextBox 3"/>
          <p:cNvSpPr txBox="1"/>
          <p:nvPr/>
        </p:nvSpPr>
        <p:spPr>
          <a:xfrm>
            <a:off x="594360" y="1920240"/>
            <a:ext cx="640080" cy="942975"/>
          </a:xfrm>
          <a:prstGeom prst="rect">
            <a:avLst/>
          </a:prstGeom>
          <a:noFill/>
        </p:spPr>
        <p:txBody>
          <a:bodyPr wrap="square" lIns="0" rIns="0" tIns="0" bIns="0" anchor="t">
            <a:spAutoFit/>
          </a:bodyPr>
          <a:lstStyle/>
          <a:p>
            <a:pPr algn="l"/>
            <a:r>
              <a:rPr sz="2600" b="0" i="0">
                <a:solidFill>
                  <a:srgbClr val="C8102E"/>
                </a:solidFill>
                <a:latin typeface="Courier New"/>
              </a:rPr>
              <a:t>01</a:t>
            </a:r>
          </a:p>
        </p:txBody>
      </p:sp>
      <p:sp>
        <p:nvSpPr>
          <p:cNvPr id="5" name="TextBox 4"/>
          <p:cNvSpPr txBox="1"/>
          <p:nvPr/>
        </p:nvSpPr>
        <p:spPr>
          <a:xfrm>
            <a:off x="1417320" y="1993392"/>
            <a:ext cx="10180015" cy="851535"/>
          </a:xfrm>
          <a:prstGeom prst="rect">
            <a:avLst/>
          </a:prstGeom>
          <a:noFill/>
        </p:spPr>
        <p:txBody>
          <a:bodyPr wrap="square" lIns="0" rIns="0" tIns="0" bIns="0" anchor="t">
            <a:spAutoFit/>
          </a:bodyPr>
          <a:lstStyle/>
          <a:p>
            <a:pPr algn="l"/>
            <a:r>
              <a:rPr sz="1400" b="0" i="0">
                <a:solidFill>
                  <a:srgbClr val="1F2A44"/>
                </a:solidFill>
                <a:latin typeface="Calibri"/>
              </a:rPr>
              <a:t>8 product candidates are scored. Reference and master data, content catalogue and channel engagement are all graded C and form the proposed pilot sequence.</a:t>
            </a:r>
          </a:p>
        </p:txBody>
      </p:sp>
      <p:cxnSp>
        <p:nvCxnSpPr>
          <p:cNvPr id="6" name="Connector 5"/>
          <p:cNvCxnSpPr/>
          <p:nvPr/>
        </p:nvCxnSpPr>
        <p:spPr>
          <a:xfrm>
            <a:off x="594360" y="2753487"/>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2863215"/>
            <a:ext cx="640080" cy="942975"/>
          </a:xfrm>
          <a:prstGeom prst="rect">
            <a:avLst/>
          </a:prstGeom>
          <a:noFill/>
        </p:spPr>
        <p:txBody>
          <a:bodyPr wrap="square" lIns="0" rIns="0" tIns="0" bIns="0" anchor="t">
            <a:spAutoFit/>
          </a:bodyPr>
          <a:lstStyle/>
          <a:p>
            <a:pPr algn="l"/>
            <a:r>
              <a:rPr sz="2600" b="0" i="0">
                <a:solidFill>
                  <a:srgbClr val="C8102E"/>
                </a:solidFill>
                <a:latin typeface="Courier New"/>
              </a:rPr>
              <a:t>02</a:t>
            </a:r>
          </a:p>
        </p:txBody>
      </p:sp>
      <p:sp>
        <p:nvSpPr>
          <p:cNvPr id="8" name="TextBox 7"/>
          <p:cNvSpPr txBox="1"/>
          <p:nvPr/>
        </p:nvSpPr>
        <p:spPr>
          <a:xfrm>
            <a:off x="1417320" y="2936367"/>
            <a:ext cx="10180015" cy="851535"/>
          </a:xfrm>
          <a:prstGeom prst="rect">
            <a:avLst/>
          </a:prstGeom>
          <a:noFill/>
        </p:spPr>
        <p:txBody>
          <a:bodyPr wrap="square" lIns="0" rIns="0" tIns="0" bIns="0" anchor="t">
            <a:spAutoFit/>
          </a:bodyPr>
          <a:lstStyle/>
          <a:p>
            <a:pPr algn="l"/>
            <a:r>
              <a:rPr sz="1400" b="0" i="0">
                <a:solidFill>
                  <a:srgbClr val="1F2A44"/>
                </a:solidFill>
                <a:latin typeface="Calibri"/>
              </a:rPr>
              <a:t>Each needs de-identification or aggregation first, since personal-data markers are widespread in supporting tables; this is preparation, not a rights question.</a:t>
            </a:r>
          </a:p>
        </p:txBody>
      </p:sp>
      <p:cxnSp>
        <p:nvCxnSpPr>
          <p:cNvPr id="9" name="Connector 8"/>
          <p:cNvCxnSpPr/>
          <p:nvPr/>
        </p:nvCxnSpPr>
        <p:spPr>
          <a:xfrm>
            <a:off x="594360" y="3696461"/>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94360" y="3806189"/>
            <a:ext cx="640080" cy="942975"/>
          </a:xfrm>
          <a:prstGeom prst="rect">
            <a:avLst/>
          </a:prstGeom>
          <a:noFill/>
        </p:spPr>
        <p:txBody>
          <a:bodyPr wrap="square" lIns="0" rIns="0" tIns="0" bIns="0" anchor="t">
            <a:spAutoFit/>
          </a:bodyPr>
          <a:lstStyle/>
          <a:p>
            <a:pPr algn="l"/>
            <a:r>
              <a:rPr sz="2600" b="0" i="0">
                <a:solidFill>
                  <a:srgbClr val="C8102E"/>
                </a:solidFill>
                <a:latin typeface="Courier New"/>
              </a:rPr>
              <a:t>03</a:t>
            </a:r>
          </a:p>
        </p:txBody>
      </p:sp>
      <p:sp>
        <p:nvSpPr>
          <p:cNvPr id="11" name="TextBox 10"/>
          <p:cNvSpPr txBox="1"/>
          <p:nvPr/>
        </p:nvSpPr>
        <p:spPr>
          <a:xfrm>
            <a:off x="1417320" y="3879341"/>
            <a:ext cx="10180015" cy="851535"/>
          </a:xfrm>
          <a:prstGeom prst="rect">
            <a:avLst/>
          </a:prstGeom>
          <a:noFill/>
        </p:spPr>
        <p:txBody>
          <a:bodyPr wrap="square" lIns="0" rIns="0" tIns="0" bIns="0" anchor="t">
            <a:spAutoFit/>
          </a:bodyPr>
          <a:lstStyle/>
          <a:p>
            <a:pPr algn="l"/>
            <a:r>
              <a:rPr sz="1400" b="0" i="0">
                <a:solidFill>
                  <a:srgbClr val="1F2A44"/>
                </a:solidFill>
                <a:latin typeface="Calibri"/>
              </a:rPr>
              <a:t>Candidates with weaker grades, stale supporting tables or heavier cleansing conditions should follow the pilots.</a:t>
            </a:r>
          </a:p>
        </p:txBody>
      </p:sp>
      <p:cxnSp>
        <p:nvCxnSpPr>
          <p:cNvPr id="12" name="Connector 11"/>
          <p:cNvCxnSpPr/>
          <p:nvPr/>
        </p:nvCxnSpPr>
        <p:spPr>
          <a:xfrm>
            <a:off x="594360" y="4639437"/>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594360" y="4749165"/>
            <a:ext cx="640080" cy="942975"/>
          </a:xfrm>
          <a:prstGeom prst="rect">
            <a:avLst/>
          </a:prstGeom>
          <a:noFill/>
        </p:spPr>
        <p:txBody>
          <a:bodyPr wrap="square" lIns="0" rIns="0" tIns="0" bIns="0" anchor="t">
            <a:spAutoFit/>
          </a:bodyPr>
          <a:lstStyle/>
          <a:p>
            <a:pPr algn="l"/>
            <a:r>
              <a:rPr sz="2600" b="0" i="0">
                <a:solidFill>
                  <a:srgbClr val="C8102E"/>
                </a:solidFill>
                <a:latin typeface="Courier New"/>
              </a:rPr>
              <a:t>04</a:t>
            </a:r>
          </a:p>
        </p:txBody>
      </p:sp>
      <p:sp>
        <p:nvSpPr>
          <p:cNvPr id="14" name="TextBox 13"/>
          <p:cNvSpPr txBox="1"/>
          <p:nvPr/>
        </p:nvSpPr>
        <p:spPr>
          <a:xfrm>
            <a:off x="1417320" y="4822317"/>
            <a:ext cx="10180015" cy="851535"/>
          </a:xfrm>
          <a:prstGeom prst="rect">
            <a:avLst/>
          </a:prstGeom>
          <a:noFill/>
        </p:spPr>
        <p:txBody>
          <a:bodyPr wrap="square" lIns="0" rIns="0" tIns="0" bIns="0" anchor="t">
            <a:spAutoFit/>
          </a:bodyPr>
          <a:lstStyle/>
          <a:p>
            <a:pPr algn="l"/>
            <a:r>
              <a:rPr sz="1400" b="0" i="0">
                <a:solidFill>
                  <a:srgbClr val="1F2A44"/>
                </a:solidFill>
                <a:latin typeface="Calibri"/>
              </a:rPr>
              <a:t>Audio and text holdings could extend a pilot as model-read, uncertified material. The order is a recommendation to test with buyers, not a commercial ranking.</a:t>
            </a:r>
          </a:p>
        </p:txBody>
      </p:sp>
      <p:cxnSp>
        <p:nvCxnSpPr>
          <p:cNvPr id="15" name="Connector 14"/>
          <p:cNvCxnSpPr/>
          <p:nvPr/>
        </p:nvCxnSpPr>
        <p:spPr>
          <a:xfrm>
            <a:off x="594360" y="5582412"/>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17" name="TextBox 16"/>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18" name="TextBox 17"/>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62</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1920240"/>
            <a:ext cx="2613355" cy="1885492"/>
          </a:xfrm>
          <a:prstGeom prst="rect">
            <a:avLst/>
          </a:prstGeom>
          <a:noFill/>
        </p:spPr>
        <p:txBody>
          <a:bodyPr wrap="square" lIns="0" rIns="0" tIns="0" bIns="0" anchor="ctr">
            <a:spAutoFit/>
          </a:bodyPr>
          <a:lstStyle/>
          <a:p>
            <a:pPr algn="l"/>
            <a:r>
              <a:rPr sz="9600" b="0" i="0">
                <a:solidFill>
                  <a:srgbClr val="C8102E"/>
                </a:solidFill>
                <a:latin typeface="Courier New"/>
              </a:rPr>
              <a:t>10</a:t>
            </a:r>
          </a:p>
        </p:txBody>
      </p:sp>
      <p:sp>
        <p:nvSpPr>
          <p:cNvPr id="3" name="TextBox 2"/>
          <p:cNvSpPr txBox="1"/>
          <p:nvPr/>
        </p:nvSpPr>
        <p:spPr>
          <a:xfrm>
            <a:off x="3390595" y="2297887"/>
            <a:ext cx="8206740" cy="1508760"/>
          </a:xfrm>
          <a:prstGeom prst="rect">
            <a:avLst/>
          </a:prstGeom>
          <a:noFill/>
        </p:spPr>
        <p:txBody>
          <a:bodyPr wrap="square" lIns="0" rIns="0" tIns="0" bIns="0" anchor="ctr">
            <a:spAutoFit/>
          </a:bodyPr>
          <a:lstStyle/>
          <a:p>
            <a:pPr algn="l"/>
            <a:r>
              <a:rPr sz="3200" b="0" i="0">
                <a:solidFill>
                  <a:srgbClr val="1F2A44"/>
                </a:solidFill>
                <a:latin typeface="Cambria"/>
              </a:rPr>
              <a:t>Decisions requested</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DECISIONS</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The executive is asked for a register of decisions, each with a named source and gate</a:t>
            </a:r>
          </a:p>
        </p:txBody>
      </p:sp>
      <p:sp>
        <p:nvSpPr>
          <p:cNvPr id="4" name="TextBox 3"/>
          <p:cNvSpPr txBox="1"/>
          <p:nvPr/>
        </p:nvSpPr>
        <p:spPr>
          <a:xfrm>
            <a:off x="594360" y="1920240"/>
            <a:ext cx="640080" cy="942975"/>
          </a:xfrm>
          <a:prstGeom prst="rect">
            <a:avLst/>
          </a:prstGeom>
          <a:noFill/>
        </p:spPr>
        <p:txBody>
          <a:bodyPr wrap="square" lIns="0" rIns="0" tIns="0" bIns="0" anchor="t">
            <a:spAutoFit/>
          </a:bodyPr>
          <a:lstStyle/>
          <a:p>
            <a:pPr algn="l"/>
            <a:r>
              <a:rPr sz="2600" b="0" i="0">
                <a:solidFill>
                  <a:srgbClr val="C8102E"/>
                </a:solidFill>
                <a:latin typeface="Courier New"/>
              </a:rPr>
              <a:t>01</a:t>
            </a:r>
          </a:p>
        </p:txBody>
      </p:sp>
      <p:sp>
        <p:nvSpPr>
          <p:cNvPr id="5" name="TextBox 4"/>
          <p:cNvSpPr txBox="1"/>
          <p:nvPr/>
        </p:nvSpPr>
        <p:spPr>
          <a:xfrm>
            <a:off x="1417320" y="1993392"/>
            <a:ext cx="10180015" cy="851535"/>
          </a:xfrm>
          <a:prstGeom prst="rect">
            <a:avLst/>
          </a:prstGeom>
          <a:noFill/>
        </p:spPr>
        <p:txBody>
          <a:bodyPr wrap="square" lIns="0" rIns="0" tIns="0" bIns="0" anchor="t">
            <a:spAutoFit/>
          </a:bodyPr>
          <a:lstStyle/>
          <a:p>
            <a:pPr algn="l"/>
            <a:r>
              <a:rPr sz="1400" b="0" i="0">
                <a:solidFill>
                  <a:srgbClr val="1F2A44"/>
                </a:solidFill>
                <a:latin typeface="Calibri"/>
              </a:rPr>
              <a:t>Cost decisions rest on 41.9 TiB of cold bytes and 7.7 TiB of duplicate candidates; both need verification before action.</a:t>
            </a:r>
          </a:p>
        </p:txBody>
      </p:sp>
      <p:cxnSp>
        <p:nvCxnSpPr>
          <p:cNvPr id="6" name="Connector 5"/>
          <p:cNvCxnSpPr/>
          <p:nvPr/>
        </p:nvCxnSpPr>
        <p:spPr>
          <a:xfrm>
            <a:off x="594360" y="2753487"/>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2863215"/>
            <a:ext cx="640080" cy="942975"/>
          </a:xfrm>
          <a:prstGeom prst="rect">
            <a:avLst/>
          </a:prstGeom>
          <a:noFill/>
        </p:spPr>
        <p:txBody>
          <a:bodyPr wrap="square" lIns="0" rIns="0" tIns="0" bIns="0" anchor="t">
            <a:spAutoFit/>
          </a:bodyPr>
          <a:lstStyle/>
          <a:p>
            <a:pPr algn="l"/>
            <a:r>
              <a:rPr sz="2600" b="0" i="0">
                <a:solidFill>
                  <a:srgbClr val="C8102E"/>
                </a:solidFill>
                <a:latin typeface="Courier New"/>
              </a:rPr>
              <a:t>02</a:t>
            </a:r>
          </a:p>
        </p:txBody>
      </p:sp>
      <p:sp>
        <p:nvSpPr>
          <p:cNvPr id="8" name="TextBox 7"/>
          <p:cNvSpPr txBox="1"/>
          <p:nvPr/>
        </p:nvSpPr>
        <p:spPr>
          <a:xfrm>
            <a:off x="1417320" y="2936367"/>
            <a:ext cx="10180015" cy="851535"/>
          </a:xfrm>
          <a:prstGeom prst="rect">
            <a:avLst/>
          </a:prstGeom>
          <a:noFill/>
        </p:spPr>
        <p:txBody>
          <a:bodyPr wrap="square" lIns="0" rIns="0" tIns="0" bIns="0" anchor="t">
            <a:spAutoFit/>
          </a:bodyPr>
          <a:lstStyle/>
          <a:p>
            <a:pPr algn="l"/>
            <a:r>
              <a:rPr sz="1400" b="0" i="0">
                <a:solidFill>
                  <a:srgbClr val="1F2A44"/>
                </a:solidFill>
                <a:latin typeface="Calibri"/>
              </a:rPr>
              <a:t>Inventory reconciliation rests on 40 unlistable buckets, which are distinct from read refusals and restore needs.</a:t>
            </a:r>
          </a:p>
        </p:txBody>
      </p:sp>
      <p:cxnSp>
        <p:nvCxnSpPr>
          <p:cNvPr id="9" name="Connector 8"/>
          <p:cNvCxnSpPr/>
          <p:nvPr/>
        </p:nvCxnSpPr>
        <p:spPr>
          <a:xfrm>
            <a:off x="594360" y="3696461"/>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94360" y="3806189"/>
            <a:ext cx="640080" cy="942975"/>
          </a:xfrm>
          <a:prstGeom prst="rect">
            <a:avLst/>
          </a:prstGeom>
          <a:noFill/>
        </p:spPr>
        <p:txBody>
          <a:bodyPr wrap="square" lIns="0" rIns="0" tIns="0" bIns="0" anchor="t">
            <a:spAutoFit/>
          </a:bodyPr>
          <a:lstStyle/>
          <a:p>
            <a:pPr algn="l"/>
            <a:r>
              <a:rPr sz="2600" b="0" i="0">
                <a:solidFill>
                  <a:srgbClr val="C8102E"/>
                </a:solidFill>
                <a:latin typeface="Courier New"/>
              </a:rPr>
              <a:t>03</a:t>
            </a:r>
          </a:p>
        </p:txBody>
      </p:sp>
      <p:sp>
        <p:nvSpPr>
          <p:cNvPr id="11" name="TextBox 10"/>
          <p:cNvSpPr txBox="1"/>
          <p:nvPr/>
        </p:nvSpPr>
        <p:spPr>
          <a:xfrm>
            <a:off x="1417320" y="3879341"/>
            <a:ext cx="10180015" cy="851535"/>
          </a:xfrm>
          <a:prstGeom prst="rect">
            <a:avLst/>
          </a:prstGeom>
          <a:noFill/>
        </p:spPr>
        <p:txBody>
          <a:bodyPr wrap="square" lIns="0" rIns="0" tIns="0" bIns="0" anchor="t">
            <a:spAutoFit/>
          </a:bodyPr>
          <a:lstStyle/>
          <a:p>
            <a:pPr algn="l"/>
            <a:r>
              <a:rPr sz="1400" b="0" i="0">
                <a:solidFill>
                  <a:srgbClr val="1F2A44"/>
                </a:solidFill>
                <a:latin typeface="Calibri"/>
              </a:rPr>
              <a:t>1,174.4 USD a month is a legacy ceiling, not a budget commitment or a realised saving.</a:t>
            </a:r>
          </a:p>
        </p:txBody>
      </p:sp>
      <p:cxnSp>
        <p:nvCxnSpPr>
          <p:cNvPr id="12" name="Connector 11"/>
          <p:cNvCxnSpPr/>
          <p:nvPr/>
        </p:nvCxnSpPr>
        <p:spPr>
          <a:xfrm>
            <a:off x="594360" y="4639437"/>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594360" y="4749165"/>
            <a:ext cx="640080" cy="942975"/>
          </a:xfrm>
          <a:prstGeom prst="rect">
            <a:avLst/>
          </a:prstGeom>
          <a:noFill/>
        </p:spPr>
        <p:txBody>
          <a:bodyPr wrap="square" lIns="0" rIns="0" tIns="0" bIns="0" anchor="t">
            <a:spAutoFit/>
          </a:bodyPr>
          <a:lstStyle/>
          <a:p>
            <a:pPr algn="l"/>
            <a:r>
              <a:rPr sz="2600" b="0" i="0">
                <a:solidFill>
                  <a:srgbClr val="C8102E"/>
                </a:solidFill>
                <a:latin typeface="Courier New"/>
              </a:rPr>
              <a:t>04</a:t>
            </a:r>
          </a:p>
        </p:txBody>
      </p:sp>
      <p:sp>
        <p:nvSpPr>
          <p:cNvPr id="14" name="TextBox 13"/>
          <p:cNvSpPr txBox="1"/>
          <p:nvPr/>
        </p:nvSpPr>
        <p:spPr>
          <a:xfrm>
            <a:off x="1417320" y="4822317"/>
            <a:ext cx="10180015" cy="851535"/>
          </a:xfrm>
          <a:prstGeom prst="rect">
            <a:avLst/>
          </a:prstGeom>
          <a:noFill/>
        </p:spPr>
        <p:txBody>
          <a:bodyPr wrap="square" lIns="0" rIns="0" tIns="0" bIns="0" anchor="t">
            <a:spAutoFit/>
          </a:bodyPr>
          <a:lstStyle/>
          <a:p>
            <a:pPr algn="l"/>
            <a:r>
              <a:rPr sz="1400" b="0" i="0">
                <a:solidFill>
                  <a:srgbClr val="1F2A44"/>
                </a:solidFill>
                <a:latin typeface="Calibri"/>
              </a:rPr>
              <a:t>Corpus preparation rests on 529.5 staged audio hours. The decisions table names each role, rule and what remains to verify.</a:t>
            </a:r>
          </a:p>
        </p:txBody>
      </p:sp>
      <p:cxnSp>
        <p:nvCxnSpPr>
          <p:cNvPr id="15" name="Connector 14"/>
          <p:cNvCxnSpPr/>
          <p:nvPr/>
        </p:nvCxnSpPr>
        <p:spPr>
          <a:xfrm>
            <a:off x="594360" y="5582412"/>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17" name="TextBox 16"/>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18" name="TextBox 17"/>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64</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EVIDENCE BY NAME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Executive decisions requested — one row each</a:t>
            </a:r>
          </a:p>
        </p:txBody>
      </p:sp>
      <p:graphicFrame>
        <p:nvGraphicFramePr>
          <p:cNvPr id="4" name="Table 3"/>
          <p:cNvGraphicFramePr>
            <a:graphicFrameLocks noGrp="1"/>
          </p:cNvGraphicFramePr>
          <p:nvPr/>
        </p:nvGraphicFramePr>
        <p:xfrm>
          <a:off x="594360" y="1920240"/>
          <a:ext cx="11002970" cy="3017520"/>
        </p:xfrm>
        <a:graphic>
          <a:graphicData uri="http://schemas.openxmlformats.org/drawingml/2006/table">
            <a:tbl>
              <a:tblPr firstRow="1" bandRow="1">
                <a:tableStyleId>{5C22544A-7EE6-4342-B048-85BDC9FD1C3A}</a:tableStyleId>
              </a:tblPr>
              <a:tblGrid>
                <a:gridCol w="687685"/>
                <a:gridCol w="2063057"/>
                <a:gridCol w="2063057"/>
                <a:gridCol w="2063057"/>
                <a:gridCol w="2063057"/>
                <a:gridCol w="2063057"/>
              </a:tblGrid>
              <a:tr h="301752">
                <a:tc>
                  <a:txBody>
                    <a:bodyPr wrap="square"/>
                    <a:lstStyle/>
                    <a:p>
                      <a:pPr algn="l"/>
                      <a:r>
                        <a:rPr sz="1100" b="1">
                          <a:solidFill>
                            <a:srgbClr val="1F2A44"/>
                          </a:solidFill>
                          <a:latin typeface="Calibri"/>
                        </a:rPr>
                        <a:t>No.</a:t>
                      </a:r>
                    </a:p>
                  </a:txBody>
                  <a:tcPr marL="54864" marR="54864" marT="27432" marB="27432">
                    <a:solidFill>
                      <a:srgbClr val="E9ECF1"/>
                    </a:solidFill>
                  </a:tcPr>
                </a:tc>
                <a:tc>
                  <a:txBody>
                    <a:bodyPr wrap="square"/>
                    <a:lstStyle/>
                    <a:p>
                      <a:pPr algn="l"/>
                      <a:r>
                        <a:rPr sz="1100" b="1">
                          <a:solidFill>
                            <a:srgbClr val="1F2A44"/>
                          </a:solidFill>
                          <a:latin typeface="Calibri"/>
                        </a:rPr>
                        <a:t>Decision requested</a:t>
                      </a:r>
                    </a:p>
                  </a:txBody>
                  <a:tcPr marL="54864" marR="54864" marT="27432" marB="27432">
                    <a:solidFill>
                      <a:srgbClr val="E9ECF1"/>
                    </a:solidFill>
                  </a:tcPr>
                </a:tc>
                <a:tc>
                  <a:txBody>
                    <a:bodyPr wrap="square"/>
                    <a:lstStyle/>
                    <a:p>
                      <a:pPr algn="l"/>
                      <a:r>
                        <a:rPr sz="1100" b="1">
                          <a:solidFill>
                            <a:srgbClr val="1F2A44"/>
                          </a:solidFill>
                          <a:latin typeface="Calibri"/>
                        </a:rPr>
                        <a:t>Exact source</a:t>
                      </a:r>
                    </a:p>
                  </a:txBody>
                  <a:tcPr marL="54864" marR="54864" marT="27432" marB="27432">
                    <a:solidFill>
                      <a:srgbClr val="E9ECF1"/>
                    </a:solidFill>
                  </a:tcPr>
                </a:tc>
                <a:tc>
                  <a:txBody>
                    <a:bodyPr wrap="square"/>
                    <a:lstStyle/>
                    <a:p>
                      <a:pPr algn="l"/>
                      <a:r>
                        <a:rPr sz="1100" b="1">
                          <a:solidFill>
                            <a:srgbClr val="1F2A44"/>
                          </a:solidFill>
                          <a:latin typeface="Calibri"/>
                        </a:rPr>
                        <a:t>Proposed destination or rule</a:t>
                      </a:r>
                    </a:p>
                  </a:txBody>
                  <a:tcPr marL="54864" marR="54864" marT="27432" marB="27432">
                    <a:solidFill>
                      <a:srgbClr val="E9ECF1"/>
                    </a:solidFill>
                  </a:tcPr>
                </a:tc>
                <a:tc>
                  <a:txBody>
                    <a:bodyPr wrap="square"/>
                    <a:lstStyle/>
                    <a:p>
                      <a:pPr algn="l"/>
                      <a:r>
                        <a:rPr sz="1100" b="1">
                          <a:solidFill>
                            <a:srgbClr val="1F2A44"/>
                          </a:solidFill>
                          <a:latin typeface="Calibri"/>
                        </a:rPr>
                        <a:t>Responsible role</a:t>
                      </a:r>
                    </a:p>
                  </a:txBody>
                  <a:tcPr marL="54864" marR="54864" marT="27432" marB="27432">
                    <a:solidFill>
                      <a:srgbClr val="E9ECF1"/>
                    </a:solidFill>
                  </a:tcPr>
                </a:tc>
                <a:tc>
                  <a:txBody>
                    <a:bodyPr wrap="square"/>
                    <a:lstStyle/>
                    <a:p>
                      <a:pPr algn="l"/>
                      <a:r>
                        <a:rPr sz="1100" b="1">
                          <a:solidFill>
                            <a:srgbClr val="1F2A44"/>
                          </a:solidFill>
                          <a:latin typeface="Calibri"/>
                        </a:rPr>
                        <a:t>Expected benefit</a:t>
                      </a:r>
                    </a:p>
                  </a:txBody>
                  <a:tcPr marL="54864" marR="54864" marT="27432" marB="27432">
                    <a:solidFill>
                      <a:srgbClr val="E9ECF1"/>
                    </a:solidFill>
                  </a:tcPr>
                </a:tc>
              </a:tr>
              <a:tr h="301752">
                <a:tc>
                  <a:txBody>
                    <a:bodyPr wrap="square"/>
                    <a:lstStyle/>
                    <a:p>
                      <a:pPr algn="l"/>
                      <a:r>
                        <a:rPr sz="1100" b="0">
                          <a:solidFill>
                            <a:srgbClr val="1F2A44"/>
                          </a:solidFill>
                          <a:latin typeface="Calibri"/>
                        </a:rPr>
                        <a:t>D1</a:t>
                      </a:r>
                    </a:p>
                  </a:txBody>
                  <a:tcPr marL="54864" marR="54864" marT="27432" marB="27432">
                    <a:solidFill>
                      <a:srgbClr val="FFFFFF"/>
                    </a:solidFill>
                  </a:tcPr>
                </a:tc>
                <a:tc>
                  <a:txBody>
                    <a:bodyPr wrap="square"/>
                    <a:lstStyle/>
                    <a:p>
                      <a:pPr algn="l"/>
                      <a:r>
                        <a:rPr sz="1100" b="0">
                          <a:solidFill>
                            <a:srgbClr val="1F2A44"/>
                          </a:solidFill>
                          <a:latin typeface="Calibri"/>
                        </a:rPr>
                        <a:t>Verify cold-bucket storage classes before approving tiering</a:t>
                      </a:r>
                    </a:p>
                  </a:txBody>
                  <a:tcPr marL="54864" marR="54864" marT="27432" marB="27432">
                    <a:solidFill>
                      <a:srgbClr val="FFFFFF"/>
                    </a:solidFill>
                  </a:tcPr>
                </a:tc>
                <a:tc>
                  <a:txBody>
                    <a:bodyPr wrap="square"/>
                    <a:lstStyle/>
                    <a:p>
                      <a:pPr algn="l"/>
                      <a:r>
                        <a:rPr sz="1100" b="0">
                          <a:solidFill>
                            <a:srgbClr val="1F2A44"/>
                          </a:solidFill>
                          <a:latin typeface="Calibri"/>
                        </a:rPr>
                        <a:t>43 buckets, e.g. music-bucket-rms, na7p43do, na7p43js, na7p434j, na7p41hj</a:t>
                      </a:r>
                    </a:p>
                  </a:txBody>
                  <a:tcPr marL="54864" marR="54864" marT="27432" marB="27432">
                    <a:solidFill>
                      <a:srgbClr val="FFFFFF"/>
                    </a:solidFill>
                  </a:tcPr>
                </a:tc>
                <a:tc>
                  <a:txBody>
                    <a:bodyPr wrap="square"/>
                    <a:lstStyle/>
                    <a:p>
                      <a:pPr algn="l"/>
                      <a:r>
                        <a:rPr sz="1100" b="0">
                          <a:solidFill>
                            <a:srgbClr val="1F2A44"/>
                          </a:solidFill>
                          <a:latin typeface="Calibri"/>
                        </a:rPr>
                        <a:t>same buckets, archive storage class (proposed)</a:t>
                      </a:r>
                    </a:p>
                  </a:txBody>
                  <a:tcPr marL="54864" marR="54864" marT="27432" marB="27432">
                    <a:solidFill>
                      <a:srgbClr val="FFFFFF"/>
                    </a:solidFill>
                  </a:tcPr>
                </a:tc>
                <a:tc>
                  <a:txBody>
                    <a:bodyPr wrap="square"/>
                    <a:lstStyle/>
                    <a:p>
                      <a:pPr algn="l"/>
                      <a:r>
                        <a:rPr sz="1100" b="0">
                          <a:solidFill>
                            <a:srgbClr val="1F2A44"/>
                          </a:solidFill>
                          <a:latin typeface="Calibri"/>
                        </a:rPr>
                        <a:t>Head of Technology (storage owner)</a:t>
                      </a:r>
                    </a:p>
                  </a:txBody>
                  <a:tcPr marL="54864" marR="54864" marT="27432" marB="27432">
                    <a:solidFill>
                      <a:srgbClr val="FFFFFF"/>
                    </a:solidFill>
                  </a:tcPr>
                </a:tc>
                <a:tc>
                  <a:txBody>
                    <a:bodyPr wrap="square"/>
                    <a:lstStyle/>
                    <a:p>
                      <a:pPr algn="l"/>
                      <a:r>
                        <a:rPr sz="1100" b="0">
                          <a:solidFill>
                            <a:srgbClr val="1F2A44"/>
                          </a:solidFill>
                          <a:latin typeface="Calibri"/>
                        </a:rPr>
                        <a:t>net tiering saving unverified; historic full-Standard-price scenarios must be repriced, excluding already Archive bytes</a:t>
                      </a:r>
                    </a:p>
                  </a:txBody>
                  <a:tcPr marL="54864" marR="54864" marT="27432" marB="27432">
                    <a:solidFill>
                      <a:srgbClr val="FFFFFF"/>
                    </a:solidFill>
                  </a:tcPr>
                </a:tc>
              </a:tr>
              <a:tr h="301752">
                <a:tc>
                  <a:txBody>
                    <a:bodyPr wrap="square"/>
                    <a:lstStyle/>
                    <a:p>
                      <a:pPr algn="l"/>
                      <a:r>
                        <a:rPr sz="1100" b="0">
                          <a:solidFill>
                            <a:srgbClr val="1F2A44"/>
                          </a:solidFill>
                          <a:latin typeface="Calibri"/>
                        </a:rPr>
                        <a:t>D2</a:t>
                      </a:r>
                    </a:p>
                  </a:txBody>
                  <a:tcPr marL="54864" marR="54864" marT="27432" marB="27432">
                    <a:solidFill>
                      <a:srgbClr val="FFFFFF"/>
                    </a:solidFill>
                  </a:tcPr>
                </a:tc>
                <a:tc>
                  <a:txBody>
                    <a:bodyPr wrap="square"/>
                    <a:lstStyle/>
                    <a:p>
                      <a:pPr algn="l"/>
                      <a:r>
                        <a:rPr sz="1100" b="0">
                          <a:solidFill>
                            <a:srgbClr val="1F2A44"/>
                          </a:solidFill>
                          <a:latin typeface="Calibri"/>
                        </a:rPr>
                        <a:t>Approve hash confirmation and removal of duplicate objects</a:t>
                      </a:r>
                    </a:p>
                  </a:txBody>
                  <a:tcPr marL="54864" marR="54864" marT="27432" marB="27432">
                    <a:solidFill>
                      <a:srgbClr val="FFFFFF"/>
                    </a:solidFill>
                  </a:tcPr>
                </a:tc>
                <a:tc>
                  <a:txBody>
                    <a:bodyPr wrap="square"/>
                    <a:lstStyle/>
                    <a:p>
                      <a:pPr algn="l"/>
                      <a:r>
                        <a:rPr sz="1100" b="0">
                          <a:solidFill>
                            <a:srgbClr val="1F2A44"/>
                          </a:solidFill>
                          <a:latin typeface="Calibri"/>
                        </a:rPr>
                        <a:t>na7p43do, na7p4oco, music-bucket-rms, 2024offairrecs (1,158,906 candidates across the store)</a:t>
                      </a:r>
                    </a:p>
                  </a:txBody>
                  <a:tcPr marL="54864" marR="54864" marT="27432" marB="27432">
                    <a:solidFill>
                      <a:srgbClr val="FFFFFF"/>
                    </a:solidFill>
                  </a:tcPr>
                </a:tc>
                <a:tc>
                  <a:txBody>
                    <a:bodyPr wrap="square"/>
                    <a:lstStyle/>
                    <a:p>
                      <a:pPr algn="l"/>
                      <a:r>
                        <a:rPr sz="1100" b="0">
                          <a:solidFill>
                            <a:srgbClr val="1F2A44"/>
                          </a:solidFill>
                          <a:latin typeface="Calibri"/>
                        </a:rPr>
                        <a:t>keeper stays in its bucket; duplicates removed after confirmation (proposed)</a:t>
                      </a:r>
                    </a:p>
                  </a:txBody>
                  <a:tcPr marL="54864" marR="54864" marT="27432" marB="27432">
                    <a:solidFill>
                      <a:srgbClr val="FFFFFF"/>
                    </a:solidFill>
                  </a:tcPr>
                </a:tc>
                <a:tc>
                  <a:txBody>
                    <a:bodyPr wrap="square"/>
                    <a:lstStyle/>
                    <a:p>
                      <a:pPr algn="l"/>
                      <a:r>
                        <a:rPr sz="1100" b="0">
                          <a:solidFill>
                            <a:srgbClr val="1F2A44"/>
                          </a:solidFill>
                          <a:latin typeface="Calibri"/>
                        </a:rPr>
                        <a:t>Head of Technology with the content librarian</a:t>
                      </a:r>
                    </a:p>
                  </a:txBody>
                  <a:tcPr marL="54864" marR="54864" marT="27432" marB="27432">
                    <a:solidFill>
                      <a:srgbClr val="FFFFFF"/>
                    </a:solidFill>
                  </a:tcPr>
                </a:tc>
                <a:tc>
                  <a:txBody>
                    <a:bodyPr wrap="square"/>
                    <a:lstStyle/>
                    <a:p>
                      <a:pPr algn="l"/>
                      <a:r>
                        <a:rPr sz="1100" b="0">
                          <a:solidFill>
                            <a:srgbClr val="1F2A44"/>
                          </a:solidFill>
                          <a:latin typeface="Calibri"/>
                        </a:rPr>
                        <a:t>up to 180 USD a month at list price</a:t>
                      </a:r>
                    </a:p>
                  </a:txBody>
                  <a:tcPr marL="54864" marR="54864" marT="27432" marB="27432">
                    <a:solidFill>
                      <a:srgbClr val="FFFFFF"/>
                    </a:solidFill>
                  </a:tcPr>
                </a:tc>
              </a:tr>
              <a:tr h="301752">
                <a:tc>
                  <a:txBody>
                    <a:bodyPr wrap="square"/>
                    <a:lstStyle/>
                    <a:p>
                      <a:pPr algn="l"/>
                      <a:r>
                        <a:rPr sz="1100" b="0">
                          <a:solidFill>
                            <a:srgbClr val="1F2A44"/>
                          </a:solidFill>
                          <a:latin typeface="Calibri"/>
                        </a:rPr>
                        <a:t>D3</a:t>
                      </a:r>
                    </a:p>
                  </a:txBody>
                  <a:tcPr marL="54864" marR="54864" marT="27432" marB="27432">
                    <a:solidFill>
                      <a:srgbClr val="FFFFFF"/>
                    </a:solidFill>
                  </a:tcPr>
                </a:tc>
                <a:tc>
                  <a:txBody>
                    <a:bodyPr wrap="square"/>
                    <a:lstStyle/>
                    <a:p>
                      <a:pPr algn="l"/>
                      <a:r>
                        <a:rPr sz="1100" b="0">
                          <a:solidFill>
                            <a:srgbClr val="1F2A44"/>
                          </a:solidFill>
                          <a:latin typeface="Calibri"/>
                        </a:rPr>
                        <a:t>Instruct reconciliation of the unreadable buckets</a:t>
                      </a:r>
                    </a:p>
                  </a:txBody>
                  <a:tcPr marL="54864" marR="54864" marT="27432" marB="27432">
                    <a:solidFill>
                      <a:srgbClr val="FFFFFF"/>
                    </a:solidFill>
                  </a:tcPr>
                </a:tc>
                <a:tc>
                  <a:txBody>
                    <a:bodyPr wrap="square"/>
                    <a:lstStyle/>
                    <a:p>
                      <a:pPr algn="l"/>
                      <a:r>
                        <a:rPr sz="1100" b="0">
                          <a:solidFill>
                            <a:srgbClr val="1F2A44"/>
                          </a:solidFill>
                          <a:latin typeface="Calibri"/>
                        </a:rPr>
                        <a:t>40 buckets, e.g. apr252017, citizen-vod, elections, feb272017, instore-radio-items</a:t>
                      </a:r>
                    </a:p>
                  </a:txBody>
                  <a:tcPr marL="54864" marR="54864" marT="27432" marB="27432">
                    <a:solidFill>
                      <a:srgbClr val="FFFFFF"/>
                    </a:solidFill>
                  </a:tcPr>
                </a:tc>
                <a:tc>
                  <a:txBody>
                    <a:bodyPr wrap="square"/>
                    <a:lstStyle/>
                    <a:p>
                      <a:pPr algn="l"/>
                      <a:r>
                        <a:rPr sz="1100" b="0">
                          <a:solidFill>
                            <a:srgbClr val="1F2A44"/>
                          </a:solidFill>
                          <a:latin typeface="Calibri"/>
                        </a:rPr>
                        <a:t>inventory register corrected (proposed)</a:t>
                      </a:r>
                    </a:p>
                  </a:txBody>
                  <a:tcPr marL="54864" marR="54864" marT="27432" marB="27432">
                    <a:solidFill>
                      <a:srgbClr val="FFFFFF"/>
                    </a:solidFill>
                  </a:tcPr>
                </a:tc>
                <a:tc>
                  <a:txBody>
                    <a:bodyPr wrap="square"/>
                    <a:lstStyle/>
                    <a:p>
                      <a:pPr algn="l"/>
                      <a:r>
                        <a:rPr sz="1100" b="0">
                          <a:solidFill>
                            <a:srgbClr val="1F2A44"/>
                          </a:solidFill>
                          <a:latin typeface="Calibri"/>
                        </a:rPr>
                        <a:t>Cloud account owner</a:t>
                      </a:r>
                    </a:p>
                  </a:txBody>
                  <a:tcPr marL="54864" marR="54864" marT="27432" marB="27432">
                    <a:solidFill>
                      <a:srgbClr val="FFFFFF"/>
                    </a:solidFill>
                  </a:tcPr>
                </a:tc>
                <a:tc>
                  <a:txBody>
                    <a:bodyPr wrap="square"/>
                    <a:lstStyle/>
                    <a:p>
                      <a:pPr algn="l"/>
                      <a:r>
                        <a:rPr sz="1100" b="0">
                          <a:solidFill>
                            <a:srgbClr val="1F2A44"/>
                          </a:solidFill>
                          <a:latin typeface="Calibri"/>
                        </a:rPr>
                        <a:t>an inventory the next census can trust</a:t>
                      </a:r>
                    </a:p>
                  </a:txBody>
                  <a:tcPr marL="54864" marR="54864" marT="27432" marB="27432">
                    <a:solidFill>
                      <a:srgbClr val="FFFFFF"/>
                    </a:solidFill>
                  </a:tcPr>
                </a:tc>
              </a:tr>
              <a:tr h="301752">
                <a:tc>
                  <a:txBody>
                    <a:bodyPr wrap="square"/>
                    <a:lstStyle/>
                    <a:p>
                      <a:pPr algn="l"/>
                      <a:r>
                        <a:rPr sz="1100" b="0">
                          <a:solidFill>
                            <a:srgbClr val="1F2A44"/>
                          </a:solidFill>
                          <a:latin typeface="Calibri"/>
                        </a:rPr>
                        <a:t>D4</a:t>
                      </a:r>
                    </a:p>
                  </a:txBody>
                  <a:tcPr marL="54864" marR="54864" marT="27432" marB="27432">
                    <a:solidFill>
                      <a:srgbClr val="FFFFFF"/>
                    </a:solidFill>
                  </a:tcPr>
                </a:tc>
                <a:tc>
                  <a:txBody>
                    <a:bodyPr wrap="square"/>
                    <a:lstStyle/>
                    <a:p>
                      <a:pPr algn="l"/>
                      <a:r>
                        <a:rPr sz="1100" b="0">
                          <a:solidFill>
                            <a:srgbClr val="1F2A44"/>
                          </a:solidFill>
                          <a:latin typeface="Calibri"/>
                        </a:rPr>
                        <a:t>Approve cold-table archiving in the databases</a:t>
                      </a:r>
                    </a:p>
                  </a:txBody>
                  <a:tcPr marL="54864" marR="54864" marT="27432" marB="27432">
                    <a:solidFill>
                      <a:srgbClr val="FFFFFF"/>
                    </a:solidFill>
                  </a:tcPr>
                </a:tc>
                <a:tc>
                  <a:txBody>
                    <a:bodyPr wrap="square"/>
                    <a:lstStyle/>
                    <a:p>
                      <a:pPr algn="l"/>
                      <a:r>
                        <a:rPr sz="1100" b="0">
                          <a:solidFill>
                            <a:srgbClr val="1F2A44"/>
                          </a:solidFill>
                          <a:latin typeface="Calibri"/>
                        </a:rPr>
                        <a:t>6 tables, e.g. viusasa_staging.audits, viusasa_staging.master_payments, razuna.raz1_videos, viusasa_staging.payment_requests</a:t>
                      </a:r>
                    </a:p>
                  </a:txBody>
                  <a:tcPr marL="54864" marR="54864" marT="27432" marB="27432">
                    <a:solidFill>
                      <a:srgbClr val="FFFFFF"/>
                    </a:solidFill>
                  </a:tcPr>
                </a:tc>
                <a:tc>
                  <a:txBody>
                    <a:bodyPr wrap="square"/>
                    <a:lstStyle/>
                    <a:p>
                      <a:pPr algn="l"/>
                      <a:r>
                        <a:rPr sz="1100" b="0">
                          <a:solidFill>
                            <a:srgbClr val="1F2A44"/>
                          </a:solidFill>
                          <a:latin typeface="Calibri"/>
                        </a:rPr>
                        <a:t>object store, archive class, one prefix per database (proposed)</a:t>
                      </a:r>
                    </a:p>
                  </a:txBody>
                  <a:tcPr marL="54864" marR="54864" marT="27432" marB="27432">
                    <a:solidFill>
                      <a:srgbClr val="FFFFFF"/>
                    </a:solidFill>
                  </a:tcPr>
                </a:tc>
                <a:tc>
                  <a:txBody>
                    <a:bodyPr wrap="square"/>
                    <a:lstStyle/>
                    <a:p>
                      <a:pPr algn="l"/>
                      <a:r>
                        <a:rPr sz="1100" b="0">
                          <a:solidFill>
                            <a:srgbClr val="1F2A44"/>
                          </a:solidFill>
                          <a:latin typeface="Calibri"/>
                        </a:rPr>
                        <a:t>Database administrator</a:t>
                      </a:r>
                    </a:p>
                  </a:txBody>
                  <a:tcPr marL="54864" marR="54864" marT="27432" marB="27432">
                    <a:solidFill>
                      <a:srgbClr val="FFFFFF"/>
                    </a:solidFill>
                  </a:tcPr>
                </a:tc>
                <a:tc>
                  <a:txBody>
                    <a:bodyPr wrap="square"/>
                    <a:lstStyle/>
                    <a:p>
                      <a:pPr algn="l"/>
                      <a:r>
                        <a:rPr sz="1100" b="0">
                          <a:solidFill>
                            <a:srgbClr val="1F2A44"/>
                          </a:solidFill>
                          <a:latin typeface="Calibri"/>
                        </a:rPr>
                        <a:t>up to 6 USD a month at list price</a:t>
                      </a:r>
                    </a:p>
                  </a:txBody>
                  <a:tcPr marL="54864" marR="54864" marT="27432" marB="27432">
                    <a:solidFill>
                      <a:srgbClr val="FFFFFF"/>
                    </a:solidFill>
                  </a:tcPr>
                </a:tc>
              </a:tr>
              <a:tr h="301752">
                <a:tc>
                  <a:txBody>
                    <a:bodyPr wrap="square"/>
                    <a:lstStyle/>
                    <a:p>
                      <a:pPr algn="l"/>
                      <a:r>
                        <a:rPr sz="1100" b="0">
                          <a:solidFill>
                            <a:srgbClr val="1F2A44"/>
                          </a:solidFill>
                          <a:latin typeface="Calibri"/>
                        </a:rPr>
                        <a:t>D5</a:t>
                      </a:r>
                    </a:p>
                  </a:txBody>
                  <a:tcPr marL="54864" marR="54864" marT="27432" marB="27432">
                    <a:solidFill>
                      <a:srgbClr val="FFFFFF"/>
                    </a:solidFill>
                  </a:tcPr>
                </a:tc>
                <a:tc>
                  <a:txBody>
                    <a:bodyPr wrap="square"/>
                    <a:lstStyle/>
                    <a:p>
                      <a:pPr algn="l"/>
                      <a:r>
                        <a:rPr sz="1100" b="0">
                          <a:solidFill>
                            <a:srgbClr val="1F2A44"/>
                          </a:solidFill>
                          <a:latin typeface="Calibri"/>
                        </a:rPr>
                        <a:t>Decide one authoritative copy for each duplicated table pair</a:t>
                      </a:r>
                    </a:p>
                  </a:txBody>
                  <a:tcPr marL="54864" marR="54864" marT="27432" marB="27432">
                    <a:solidFill>
                      <a:srgbClr val="FFFFFF"/>
                    </a:solidFill>
                  </a:tcPr>
                </a:tc>
                <a:tc>
                  <a:txBody>
                    <a:bodyPr wrap="square"/>
                    <a:lstStyle/>
                    <a:p>
                      <a:pPr algn="l"/>
                      <a:r>
                        <a:rPr sz="1100" b="0">
                          <a:solidFill>
                            <a:srgbClr val="1F2A44"/>
                          </a:solidFill>
                          <a:latin typeface="Calibri"/>
                        </a:rPr>
                        <a:t>71 pairs, e.g. iebc_forms/viupay.failed_jobs ↔ viupay/viupay.failed_jobs; iebc_forms/viutickets.movies ↔ viupay/viutickets.movies; iebc_forms/viutickets.ussd_hits ↔ viupay/viutickets.ussd_hits</a:t>
                      </a:r>
                    </a:p>
                  </a:txBody>
                  <a:tcPr marL="54864" marR="54864" marT="27432" marB="27432">
                    <a:solidFill>
                      <a:srgbClr val="FFFFFF"/>
                    </a:solidFill>
                  </a:tcPr>
                </a:tc>
                <a:tc>
                  <a:txBody>
                    <a:bodyPr wrap="square"/>
                    <a:lstStyle/>
                    <a:p>
                      <a:pPr algn="l"/>
                      <a:r>
                        <a:rPr sz="1100" b="0">
                          <a:solidFill>
                            <a:srgbClr val="1F2A44"/>
                          </a:solidFill>
                          <a:latin typeface="Calibri"/>
                        </a:rPr>
                        <a:t>master stays; copy retired (proposed)</a:t>
                      </a:r>
                    </a:p>
                  </a:txBody>
                  <a:tcPr marL="54864" marR="54864" marT="27432" marB="27432">
                    <a:solidFill>
                      <a:srgbClr val="FFFFFF"/>
                    </a:solidFill>
                  </a:tcPr>
                </a:tc>
                <a:tc>
                  <a:txBody>
                    <a:bodyPr wrap="square"/>
                    <a:lstStyle/>
                    <a:p>
                      <a:pPr algn="l"/>
                      <a:r>
                        <a:rPr sz="1100" b="0">
                          <a:solidFill>
                            <a:srgbClr val="1F2A44"/>
                          </a:solidFill>
                          <a:latin typeface="Calibri"/>
                        </a:rPr>
                        <a:t>Database administrator with the application owners</a:t>
                      </a:r>
                    </a:p>
                  </a:txBody>
                  <a:tcPr marL="54864" marR="54864" marT="27432" marB="27432">
                    <a:solidFill>
                      <a:srgbClr val="FFFFFF"/>
                    </a:solidFill>
                  </a:tcPr>
                </a:tc>
                <a:tc>
                  <a:txBody>
                    <a:bodyPr wrap="square"/>
                    <a:lstStyle/>
                    <a:p>
                      <a:pPr algn="l"/>
                      <a:r>
                        <a:rPr sz="1100" b="0">
                          <a:solidFill>
                            <a:srgbClr val="1F2A44"/>
                          </a:solidFill>
                          <a:latin typeface="Calibri"/>
                        </a:rPr>
                        <a:t>up to 0 USD a month at list price</a:t>
                      </a:r>
                    </a:p>
                  </a:txBody>
                  <a:tcPr marL="54864" marR="54864" marT="27432" marB="27432">
                    <a:solidFill>
                      <a:srgbClr val="FFFFFF"/>
                    </a:solidFill>
                  </a:tcPr>
                </a:tc>
              </a:tr>
              <a:tr h="301752">
                <a:tc>
                  <a:txBody>
                    <a:bodyPr wrap="square"/>
                    <a:lstStyle/>
                    <a:p>
                      <a:pPr algn="l"/>
                      <a:r>
                        <a:rPr sz="1100" b="0">
                          <a:solidFill>
                            <a:srgbClr val="1F2A44"/>
                          </a:solidFill>
                          <a:latin typeface="Calibri"/>
                        </a:rPr>
                        <a:t>D6</a:t>
                      </a:r>
                    </a:p>
                  </a:txBody>
                  <a:tcPr marL="54864" marR="54864" marT="27432" marB="27432">
                    <a:solidFill>
                      <a:srgbClr val="FFFFFF"/>
                    </a:solidFill>
                  </a:tcPr>
                </a:tc>
                <a:tc>
                  <a:txBody>
                    <a:bodyPr wrap="square"/>
                    <a:lstStyle/>
                    <a:p>
                      <a:pPr algn="l"/>
                      <a:r>
                        <a:rPr sz="1100" b="0">
                          <a:solidFill>
                            <a:srgbClr val="1F2A44"/>
                          </a:solidFill>
                          <a:latin typeface="Calibri"/>
                        </a:rPr>
                        <a:t>Approve the housekeeping list: empty tables, redundant indexes, repeated rows</a:t>
                      </a:r>
                    </a:p>
                  </a:txBody>
                  <a:tcPr marL="54864" marR="54864" marT="27432" marB="27432">
                    <a:solidFill>
                      <a:srgbClr val="FFFFFF"/>
                    </a:solidFill>
                  </a:tcPr>
                </a:tc>
                <a:tc>
                  <a:txBody>
                    <a:bodyPr wrap="square"/>
                    <a:lstStyle/>
                    <a:p>
                      <a:pPr algn="l"/>
                      <a:r>
                        <a:rPr sz="1100" b="0">
                          <a:solidFill>
                            <a:srgbClr val="1F2A44"/>
                          </a:solidFill>
                          <a:latin typeface="Calibri"/>
                        </a:rPr>
                        <a:t>368 empty tables; redundant indexes and repeated rows named in the table list</a:t>
                      </a:r>
                    </a:p>
                  </a:txBody>
                  <a:tcPr marL="54864" marR="54864" marT="27432" marB="27432">
                    <a:solidFill>
                      <a:srgbClr val="FFFFFF"/>
                    </a:solidFill>
                  </a:tcPr>
                </a:tc>
                <a:tc>
                  <a:txBody>
                    <a:bodyPr wrap="square"/>
                    <a:lstStyle/>
                    <a:p>
                      <a:pPr algn="l"/>
                      <a:r>
                        <a:rPr sz="1100" b="0">
                          <a:solidFill>
                            <a:srgbClr val="1F2A44"/>
                          </a:solidFill>
                          <a:latin typeface="Calibri"/>
                        </a:rPr>
                        <a:t>no destination — removal in place after confirmation (proposed)</a:t>
                      </a:r>
                    </a:p>
                  </a:txBody>
                  <a:tcPr marL="54864" marR="54864" marT="27432" marB="27432">
                    <a:solidFill>
                      <a:srgbClr val="FFFFFF"/>
                    </a:solidFill>
                  </a:tcPr>
                </a:tc>
                <a:tc>
                  <a:txBody>
                    <a:bodyPr wrap="square"/>
                    <a:lstStyle/>
                    <a:p>
                      <a:pPr algn="l"/>
                      <a:r>
                        <a:rPr sz="1100" b="0">
                          <a:solidFill>
                            <a:srgbClr val="1F2A44"/>
                          </a:solidFill>
                          <a:latin typeface="Calibri"/>
                        </a:rPr>
                        <a:t>Database administrator</a:t>
                      </a:r>
                    </a:p>
                  </a:txBody>
                  <a:tcPr marL="54864" marR="54864" marT="27432" marB="27432">
                    <a:solidFill>
                      <a:srgbClr val="FFFFFF"/>
                    </a:solidFill>
                  </a:tcPr>
                </a:tc>
                <a:tc>
                  <a:txBody>
                    <a:bodyPr wrap="square"/>
                    <a:lstStyle/>
                    <a:p>
                      <a:pPr algn="l"/>
                      <a:r>
                        <a:rPr sz="1100" b="0">
                          <a:solidFill>
                            <a:srgbClr val="1F2A44"/>
                          </a:solidFill>
                          <a:latin typeface="Calibri"/>
                        </a:rPr>
                        <a:t>up to 2 USD a month at list price plus up to 0 USD a month at list price</a:t>
                      </a:r>
                    </a:p>
                  </a:txBody>
                  <a:tcPr marL="54864" marR="54864" marT="27432" marB="27432">
                    <a:solidFill>
                      <a:srgbClr val="FFFFFF"/>
                    </a:solidFill>
                  </a:tcPr>
                </a:tc>
              </a:tr>
              <a:tr h="301752">
                <a:tc>
                  <a:txBody>
                    <a:bodyPr wrap="square"/>
                    <a:lstStyle/>
                    <a:p>
                      <a:pPr algn="l"/>
                      <a:r>
                        <a:rPr sz="1100" b="0">
                          <a:solidFill>
                            <a:srgbClr val="1F2A44"/>
                          </a:solidFill>
                          <a:latin typeface="Calibri"/>
                        </a:rPr>
                        <a:t>D7</a:t>
                      </a:r>
                    </a:p>
                  </a:txBody>
                  <a:tcPr marL="54864" marR="54864" marT="27432" marB="27432">
                    <a:solidFill>
                      <a:srgbClr val="FFFFFF"/>
                    </a:solidFill>
                  </a:tcPr>
                </a:tc>
                <a:tc>
                  <a:txBody>
                    <a:bodyPr wrap="square"/>
                    <a:lstStyle/>
                    <a:p>
                      <a:pPr algn="l"/>
                      <a:r>
                        <a:rPr sz="1100" b="0">
                          <a:solidFill>
                            <a:srgbClr val="1F2A44"/>
                          </a:solidFill>
                          <a:latin typeface="Calibri"/>
                        </a:rPr>
                        <a:t>Order a fingerprint pass over the file shares</a:t>
                      </a:r>
                    </a:p>
                  </a:txBody>
                  <a:tcPr marL="54864" marR="54864" marT="27432" marB="27432">
                    <a:solidFill>
                      <a:srgbClr val="FFFFFF"/>
                    </a:solidFill>
                  </a:tcPr>
                </a:tc>
                <a:tc>
                  <a:txBody>
                    <a:bodyPr wrap="square"/>
                    <a:lstStyle/>
                    <a:p>
                      <a:pPr algn="l"/>
                      <a:r>
                        <a:rPr sz="1100" b="0">
                          <a:solidFill>
                            <a:srgbClr val="1F2A44"/>
                          </a:solidFill>
                          <a:latin typeface="Calibri"/>
                        </a:rPr>
                        <a:t>16 NAS shares holding 43.9 TiB (channel01 … channel16)</a:t>
                      </a:r>
                    </a:p>
                  </a:txBody>
                  <a:tcPr marL="54864" marR="54864" marT="27432" marB="27432">
                    <a:solidFill>
                      <a:srgbClr val="FFFFFF"/>
                    </a:solidFill>
                  </a:tcPr>
                </a:tc>
                <a:tc>
                  <a:txBody>
                    <a:bodyPr wrap="square"/>
                    <a:lstStyle/>
                    <a:p>
                      <a:pPr algn="l"/>
                      <a:r>
                        <a:rPr sz="1100" b="0">
                          <a:solidFill>
                            <a:srgbClr val="1F2A44"/>
                          </a:solidFill>
                          <a:latin typeface="Calibri"/>
                        </a:rPr>
                        <a:t>none yet — measurement first</a:t>
                      </a:r>
                    </a:p>
                  </a:txBody>
                  <a:tcPr marL="54864" marR="54864" marT="27432" marB="27432">
                    <a:solidFill>
                      <a:srgbClr val="FFFFFF"/>
                    </a:solidFill>
                  </a:tcPr>
                </a:tc>
                <a:tc>
                  <a:txBody>
                    <a:bodyPr wrap="square"/>
                    <a:lstStyle/>
                    <a:p>
                      <a:pPr algn="l"/>
                      <a:r>
                        <a:rPr sz="1100" b="0">
                          <a:solidFill>
                            <a:srgbClr val="1F2A44"/>
                          </a:solidFill>
                          <a:latin typeface="Calibri"/>
                        </a:rPr>
                        <a:t>Head of Technology</a:t>
                      </a:r>
                    </a:p>
                  </a:txBody>
                  <a:tcPr marL="54864" marR="54864" marT="27432" marB="27432">
                    <a:solidFill>
                      <a:srgbClr val="FFFFFF"/>
                    </a:solidFill>
                  </a:tcPr>
                </a:tc>
                <a:tc>
                  <a:txBody>
                    <a:bodyPr wrap="square"/>
                    <a:lstStyle/>
                    <a:p>
                      <a:pPr algn="l"/>
                      <a:r>
                        <a:rPr sz="1100" b="0">
                          <a:solidFill>
                            <a:srgbClr val="1F2A44"/>
                          </a:solidFill>
                          <a:latin typeface="Calibri"/>
                        </a:rPr>
                        <a:t>a measured duplication figure for the largest unmeasured store</a:t>
                      </a:r>
                    </a:p>
                  </a:txBody>
                  <a:tcPr marL="54864" marR="54864" marT="27432" marB="27432">
                    <a:solidFill>
                      <a:srgbClr val="FFFFFF"/>
                    </a:solidFill>
                  </a:tcPr>
                </a:tc>
              </a:tr>
              <a:tr h="301752">
                <a:tc>
                  <a:txBody>
                    <a:bodyPr wrap="square"/>
                    <a:lstStyle/>
                    <a:p>
                      <a:pPr algn="l"/>
                      <a:r>
                        <a:rPr sz="1100" b="0">
                          <a:solidFill>
                            <a:srgbClr val="1F2A44"/>
                          </a:solidFill>
                          <a:latin typeface="Calibri"/>
                        </a:rPr>
                        <a:t>D8</a:t>
                      </a:r>
                    </a:p>
                  </a:txBody>
                  <a:tcPr marL="54864" marR="54864" marT="27432" marB="27432">
                    <a:solidFill>
                      <a:srgbClr val="FFFFFF"/>
                    </a:solidFill>
                  </a:tcPr>
                </a:tc>
                <a:tc>
                  <a:txBody>
                    <a:bodyPr wrap="square"/>
                    <a:lstStyle/>
                    <a:p>
                      <a:pPr algn="l"/>
                      <a:r>
                        <a:rPr sz="1100" b="0">
                          <a:solidFill>
                            <a:srgbClr val="1F2A44"/>
                          </a:solidFill>
                          <a:latin typeface="Calibri"/>
                        </a:rPr>
                        <a:t>Adopt naming and ownership rules for storage</a:t>
                      </a:r>
                    </a:p>
                  </a:txBody>
                  <a:tcPr marL="54864" marR="54864" marT="27432" marB="27432">
                    <a:solidFill>
                      <a:srgbClr val="FFFFFF"/>
                    </a:solidFill>
                  </a:tcPr>
                </a:tc>
                <a:tc>
                  <a:txBody>
                    <a:bodyPr wrap="square"/>
                    <a:lstStyle/>
                    <a:p>
                      <a:pPr algn="l"/>
                      <a:r>
                        <a:rPr sz="1100" b="0">
                          <a:solidFill>
                            <a:srgbClr val="1F2A44"/>
                          </a:solidFill>
                          <a:latin typeface="Calibri"/>
                        </a:rPr>
                        <a:t>machine-named buckets (na7p4…), channel shares, staging copies</a:t>
                      </a:r>
                    </a:p>
                  </a:txBody>
                  <a:tcPr marL="54864" marR="54864" marT="27432" marB="27432">
                    <a:solidFill>
                      <a:srgbClr val="FFFFFF"/>
                    </a:solidFill>
                  </a:tcPr>
                </a:tc>
                <a:tc>
                  <a:txBody>
                    <a:bodyPr wrap="square"/>
                    <a:lstStyle/>
                    <a:p>
                      <a:pPr algn="l"/>
                      <a:r>
                        <a:rPr sz="1100" b="0">
                          <a:solidFill>
                            <a:srgbClr val="1F2A44"/>
                          </a:solidFill>
                          <a:latin typeface="Calibri"/>
                        </a:rPr>
                        <a:t>register maintained by the storage owner (proposed)</a:t>
                      </a:r>
                    </a:p>
                  </a:txBody>
                  <a:tcPr marL="54864" marR="54864" marT="27432" marB="27432">
                    <a:solidFill>
                      <a:srgbClr val="FFFFFF"/>
                    </a:solidFill>
                  </a:tcPr>
                </a:tc>
                <a:tc>
                  <a:txBody>
                    <a:bodyPr wrap="square"/>
                    <a:lstStyle/>
                    <a:p>
                      <a:pPr algn="l"/>
                      <a:r>
                        <a:rPr sz="1100" b="0">
                          <a:solidFill>
                            <a:srgbClr val="1F2A44"/>
                          </a:solidFill>
                          <a:latin typeface="Calibri"/>
                        </a:rPr>
                        <a:t>Chief Operating Officer</a:t>
                      </a:r>
                    </a:p>
                  </a:txBody>
                  <a:tcPr marL="54864" marR="54864" marT="27432" marB="27432">
                    <a:solidFill>
                      <a:srgbClr val="FFFFFF"/>
                    </a:solidFill>
                  </a:tcPr>
                </a:tc>
                <a:tc>
                  <a:txBody>
                    <a:bodyPr wrap="square"/>
                    <a:lstStyle/>
                    <a:p>
                      <a:pPr algn="l"/>
                      <a:r>
                        <a:rPr sz="1100" b="0">
                          <a:solidFill>
                            <a:srgbClr val="1F2A44"/>
                          </a:solidFill>
                          <a:latin typeface="Calibri"/>
                        </a:rPr>
                        <a:t>fewer orphaned stores and faster decisions at the next census</a:t>
                      </a:r>
                    </a:p>
                  </a:txBody>
                  <a:tcPr marL="54864" marR="54864" marT="27432" marB="27432">
                    <a:solidFill>
                      <a:srgbClr val="FFFFFF"/>
                    </a:solidFill>
                  </a:tcPr>
                </a:tc>
              </a:tr>
              <a:tr h="301752">
                <a:tc>
                  <a:txBody>
                    <a:bodyPr wrap="square"/>
                    <a:lstStyle/>
                    <a:p>
                      <a:pPr algn="l"/>
                      <a:r>
                        <a:rPr sz="1100" b="0">
                          <a:solidFill>
                            <a:srgbClr val="1F2A44"/>
                          </a:solidFill>
                          <a:latin typeface="Calibri"/>
                        </a:rPr>
                        <a:t>D9</a:t>
                      </a:r>
                    </a:p>
                  </a:txBody>
                  <a:tcPr marL="54864" marR="54864" marT="27432" marB="27432">
                    <a:solidFill>
                      <a:srgbClr val="FFFFFF"/>
                    </a:solidFill>
                  </a:tcPr>
                </a:tc>
                <a:tc>
                  <a:txBody>
                    <a:bodyPr wrap="square"/>
                    <a:lstStyle/>
                    <a:p>
                      <a:pPr algn="l"/>
                      <a:r>
                        <a:rPr sz="1100" b="0">
                          <a:solidFill>
                            <a:srgbClr val="1F2A44"/>
                          </a:solidFill>
                          <a:latin typeface="Calibri"/>
                        </a:rPr>
                        <a:t>Register the language assets as governed data products</a:t>
                      </a:r>
                    </a:p>
                  </a:txBody>
                  <a:tcPr marL="54864" marR="54864" marT="27432" marB="27432">
                    <a:solidFill>
                      <a:srgbClr val="FFFFFF"/>
                    </a:solidFill>
                  </a:tcPr>
                </a:tc>
                <a:tc>
                  <a:txBody>
                    <a:bodyPr wrap="square"/>
                    <a:lstStyle/>
                    <a:p>
                      <a:pPr algn="l"/>
                      <a:r>
                        <a:rPr sz="1100" b="0">
                          <a:solidFill>
                            <a:srgbClr val="1F2A44"/>
                          </a:solidFill>
                          <a:latin typeface="Calibri"/>
                        </a:rPr>
                        <a:t>staged corpus by language folder (T020), news scripts by station (T022), transcription workbench (T023)</a:t>
                      </a:r>
                    </a:p>
                  </a:txBody>
                  <a:tcPr marL="54864" marR="54864" marT="27432" marB="27432">
                    <a:solidFill>
                      <a:srgbClr val="FFFFFF"/>
                    </a:solidFill>
                  </a:tcPr>
                </a:tc>
                <a:tc>
                  <a:txBody>
                    <a:bodyPr wrap="square"/>
                    <a:lstStyle/>
                    <a:p>
                      <a:pPr algn="l"/>
                      <a:r>
                        <a:rPr sz="1100" b="0">
                          <a:solidFill>
                            <a:srgbClr val="1F2A44"/>
                          </a:solidFill>
                          <a:latin typeface="Calibri"/>
                        </a:rPr>
                        <a:t>governed asset register (proposed)</a:t>
                      </a:r>
                    </a:p>
                  </a:txBody>
                  <a:tcPr marL="54864" marR="54864" marT="27432" marB="27432">
                    <a:solidFill>
                      <a:srgbClr val="FFFFFF"/>
                    </a:solidFill>
                  </a:tcPr>
                </a:tc>
                <a:tc>
                  <a:txBody>
                    <a:bodyPr wrap="square"/>
                    <a:lstStyle/>
                    <a:p>
                      <a:pPr algn="l"/>
                      <a:r>
                        <a:rPr sz="1100" b="0">
                          <a:solidFill>
                            <a:srgbClr val="1F2A44"/>
                          </a:solidFill>
                          <a:latin typeface="Calibri"/>
                        </a:rPr>
                        <a:t>Head of Data with the newsroom</a:t>
                      </a:r>
                    </a:p>
                  </a:txBody>
                  <a:tcPr marL="54864" marR="54864" marT="27432" marB="27432">
                    <a:solidFill>
                      <a:srgbClr val="FFFFFF"/>
                    </a:solidFill>
                  </a:tcPr>
                </a:tc>
                <a:tc>
                  <a:txBody>
                    <a:bodyPr wrap="square"/>
                    <a:lstStyle/>
                    <a:p>
                      <a:pPr algn="l"/>
                      <a:r>
                        <a:rPr sz="1100" b="0">
                          <a:solidFill>
                            <a:srgbClr val="1F2A44"/>
                          </a:solidFill>
                          <a:latin typeface="Calibri"/>
                        </a:rPr>
                        <a:t>a licensable, evidenced inventory of non-English speech and text</a:t>
                      </a:r>
                    </a:p>
                  </a:txBody>
                  <a:tcPr marL="54864" marR="54864" marT="27432" marB="2743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C8102E"/>
                </a:solidFill>
                <a:latin typeface="Calibri"/>
              </a:rPr>
              <a:t>Each decision names the exact source it rests on, the action, the proposed destination or rule, who carries it, the benefit stated as an upper bound where it is money, the evidence it rests on and what still has to be verified.</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[estimated]  Receipt R02: Estate intelligence census eij-1b359b3cbd2e, cost_strategies priced at reference list prices, not the owner's invoice: Huawei Cloud RDS for MySQL cloud SSD AF-Johannesburg 0.00015 USD/GB-hour x 730 h; OBS Standard 0.023 USD/GB-month</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65</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EVIDENCE BY NAME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Executive decisions requested — one row each</a:t>
            </a:r>
          </a:p>
        </p:txBody>
      </p:sp>
      <p:graphicFrame>
        <p:nvGraphicFramePr>
          <p:cNvPr id="4" name="Table 3"/>
          <p:cNvGraphicFramePr>
            <a:graphicFrameLocks noGrp="1"/>
          </p:cNvGraphicFramePr>
          <p:nvPr/>
        </p:nvGraphicFramePr>
        <p:xfrm>
          <a:off x="594360" y="1920240"/>
          <a:ext cx="11002972" cy="1536192"/>
        </p:xfrm>
        <a:graphic>
          <a:graphicData uri="http://schemas.openxmlformats.org/drawingml/2006/table">
            <a:tbl>
              <a:tblPr firstRow="1" bandRow="1">
                <a:tableStyleId>{5C22544A-7EE6-4342-B048-85BDC9FD1C3A}</a:tableStyleId>
              </a:tblPr>
              <a:tblGrid>
                <a:gridCol w="713155"/>
                <a:gridCol w="2139467"/>
                <a:gridCol w="2139467"/>
                <a:gridCol w="2139467"/>
                <a:gridCol w="1731949"/>
                <a:gridCol w="2139467"/>
              </a:tblGrid>
              <a:tr h="384048">
                <a:tc>
                  <a:txBody>
                    <a:bodyPr wrap="square"/>
                    <a:lstStyle/>
                    <a:p>
                      <a:pPr algn="l"/>
                      <a:r>
                        <a:rPr sz="1200" b="1">
                          <a:solidFill>
                            <a:srgbClr val="1F2A44"/>
                          </a:solidFill>
                          <a:latin typeface="Calibri"/>
                        </a:rPr>
                        <a:t>No.</a:t>
                      </a:r>
                    </a:p>
                  </a:txBody>
                  <a:tcPr marL="54864" marR="54864" marT="27432" marB="27432">
                    <a:solidFill>
                      <a:srgbClr val="E9ECF1"/>
                    </a:solidFill>
                  </a:tcPr>
                </a:tc>
                <a:tc>
                  <a:txBody>
                    <a:bodyPr wrap="square"/>
                    <a:lstStyle/>
                    <a:p>
                      <a:pPr algn="l"/>
                      <a:r>
                        <a:rPr sz="1200" b="1">
                          <a:solidFill>
                            <a:srgbClr val="1F2A44"/>
                          </a:solidFill>
                          <a:latin typeface="Calibri"/>
                        </a:rPr>
                        <a:t>Decision requested</a:t>
                      </a:r>
                    </a:p>
                  </a:txBody>
                  <a:tcPr marL="54864" marR="54864" marT="27432" marB="27432">
                    <a:solidFill>
                      <a:srgbClr val="E9ECF1"/>
                    </a:solidFill>
                  </a:tcPr>
                </a:tc>
                <a:tc>
                  <a:txBody>
                    <a:bodyPr wrap="square"/>
                    <a:lstStyle/>
                    <a:p>
                      <a:pPr algn="l"/>
                      <a:r>
                        <a:rPr sz="1200" b="1">
                          <a:solidFill>
                            <a:srgbClr val="1F2A44"/>
                          </a:solidFill>
                          <a:latin typeface="Calibri"/>
                        </a:rPr>
                        <a:t>Exact source</a:t>
                      </a:r>
                    </a:p>
                  </a:txBody>
                  <a:tcPr marL="54864" marR="54864" marT="27432" marB="27432">
                    <a:solidFill>
                      <a:srgbClr val="E9ECF1"/>
                    </a:solidFill>
                  </a:tcPr>
                </a:tc>
                <a:tc>
                  <a:txBody>
                    <a:bodyPr wrap="square"/>
                    <a:lstStyle/>
                    <a:p>
                      <a:pPr algn="l"/>
                      <a:r>
                        <a:rPr sz="1200" b="1">
                          <a:solidFill>
                            <a:srgbClr val="1F2A44"/>
                          </a:solidFill>
                          <a:latin typeface="Calibri"/>
                        </a:rPr>
                        <a:t>Proposed destination or rule</a:t>
                      </a:r>
                    </a:p>
                  </a:txBody>
                  <a:tcPr marL="54864" marR="54864" marT="27432" marB="27432">
                    <a:solidFill>
                      <a:srgbClr val="E9ECF1"/>
                    </a:solidFill>
                  </a:tcPr>
                </a:tc>
                <a:tc>
                  <a:txBody>
                    <a:bodyPr wrap="square"/>
                    <a:lstStyle/>
                    <a:p>
                      <a:pPr algn="l"/>
                      <a:r>
                        <a:rPr sz="1200" b="1">
                          <a:solidFill>
                            <a:srgbClr val="1F2A44"/>
                          </a:solidFill>
                          <a:latin typeface="Calibri"/>
                        </a:rPr>
                        <a:t>Responsible role</a:t>
                      </a:r>
                    </a:p>
                  </a:txBody>
                  <a:tcPr marL="54864" marR="54864" marT="27432" marB="27432">
                    <a:solidFill>
                      <a:srgbClr val="E9ECF1"/>
                    </a:solidFill>
                  </a:tcPr>
                </a:tc>
                <a:tc>
                  <a:txBody>
                    <a:bodyPr wrap="square"/>
                    <a:lstStyle/>
                    <a:p>
                      <a:pPr algn="l"/>
                      <a:r>
                        <a:rPr sz="1200" b="1">
                          <a:solidFill>
                            <a:srgbClr val="1F2A44"/>
                          </a:solidFill>
                          <a:latin typeface="Calibri"/>
                        </a:rPr>
                        <a:t>Expected benefit</a:t>
                      </a:r>
                    </a:p>
                  </a:txBody>
                  <a:tcPr marL="54864" marR="54864" marT="27432" marB="27432">
                    <a:solidFill>
                      <a:srgbClr val="E9ECF1"/>
                    </a:solidFill>
                  </a:tcPr>
                </a:tc>
              </a:tr>
              <a:tr h="384048">
                <a:tc>
                  <a:txBody>
                    <a:bodyPr wrap="square"/>
                    <a:lstStyle/>
                    <a:p>
                      <a:pPr algn="l"/>
                      <a:r>
                        <a:rPr sz="1200" b="0">
                          <a:solidFill>
                            <a:srgbClr val="1F2A44"/>
                          </a:solidFill>
                          <a:latin typeface="Calibri"/>
                        </a:rPr>
                        <a:t>D10</a:t>
                      </a:r>
                    </a:p>
                  </a:txBody>
                  <a:tcPr marL="54864" marR="54864" marT="27432" marB="27432">
                    <a:solidFill>
                      <a:srgbClr val="FFFFFF"/>
                    </a:solidFill>
                  </a:tcPr>
                </a:tc>
                <a:tc>
                  <a:txBody>
                    <a:bodyPr wrap="square"/>
                    <a:lstStyle/>
                    <a:p>
                      <a:pPr algn="l"/>
                      <a:r>
                        <a:rPr sz="1200" b="0">
                          <a:solidFill>
                            <a:srgbClr val="1F2A44"/>
                          </a:solidFill>
                          <a:latin typeface="Calibri"/>
                        </a:rPr>
                        <a:t>Commission the de-identified reference products the census ranks first</a:t>
                      </a:r>
                    </a:p>
                  </a:txBody>
                  <a:tcPr marL="54864" marR="54864" marT="27432" marB="27432">
                    <a:solidFill>
                      <a:srgbClr val="FFFFFF"/>
                    </a:solidFill>
                  </a:tcPr>
                </a:tc>
                <a:tc>
                  <a:txBody>
                    <a:bodyPr wrap="square"/>
                    <a:lstStyle/>
                    <a:p>
                      <a:pPr algn="l"/>
                      <a:r>
                        <a:rPr sz="1200" b="0">
                          <a:solidFill>
                            <a:srgbClr val="1F2A44"/>
                          </a:solidFill>
                          <a:latin typeface="Calibri"/>
                        </a:rPr>
                        <a:t>the three leading product candidates in the census</a:t>
                      </a:r>
                    </a:p>
                  </a:txBody>
                  <a:tcPr marL="54864" marR="54864" marT="27432" marB="27432">
                    <a:solidFill>
                      <a:srgbClr val="FFFFFF"/>
                    </a:solidFill>
                  </a:tcPr>
                </a:tc>
                <a:tc>
                  <a:txBody>
                    <a:bodyPr wrap="square"/>
                    <a:lstStyle/>
                    <a:p>
                      <a:pPr algn="l"/>
                      <a:r>
                        <a:rPr sz="1200" b="0">
                          <a:solidFill>
                            <a:srgbClr val="1F2A44"/>
                          </a:solidFill>
                          <a:latin typeface="Calibri"/>
                        </a:rPr>
                        <a:t>product workspace (proposed)</a:t>
                      </a:r>
                    </a:p>
                  </a:txBody>
                  <a:tcPr marL="54864" marR="54864" marT="27432" marB="27432">
                    <a:solidFill>
                      <a:srgbClr val="FFFFFF"/>
                    </a:solidFill>
                  </a:tcPr>
                </a:tc>
                <a:tc>
                  <a:txBody>
                    <a:bodyPr wrap="square"/>
                    <a:lstStyle/>
                    <a:p>
                      <a:pPr algn="l"/>
                      <a:r>
                        <a:rPr sz="1200" b="0">
                          <a:solidFill>
                            <a:srgbClr val="1F2A44"/>
                          </a:solidFill>
                          <a:latin typeface="Calibri"/>
                        </a:rPr>
                        <a:t>Head of Data</a:t>
                      </a:r>
                    </a:p>
                  </a:txBody>
                  <a:tcPr marL="54864" marR="54864" marT="27432" marB="27432">
                    <a:solidFill>
                      <a:srgbClr val="FFFFFF"/>
                    </a:solidFill>
                  </a:tcPr>
                </a:tc>
                <a:tc>
                  <a:txBody>
                    <a:bodyPr wrap="square"/>
                    <a:lstStyle/>
                    <a:p>
                      <a:pPr algn="l"/>
                      <a:r>
                        <a:rPr sz="1200" b="0">
                          <a:solidFill>
                            <a:srgbClr val="1F2A44"/>
                          </a:solidFill>
                          <a:latin typeface="Calibri"/>
                        </a:rPr>
                        <a:t>first revenue-bearing use of the estate's data</a:t>
                      </a:r>
                    </a:p>
                  </a:txBody>
                  <a:tcPr marL="54864" marR="54864" marT="27432" marB="27432">
                    <a:solidFill>
                      <a:srgbClr val="FFFFFF"/>
                    </a:solidFill>
                  </a:tcPr>
                </a:tc>
              </a:tr>
              <a:tr h="384048">
                <a:tc>
                  <a:txBody>
                    <a:bodyPr wrap="square"/>
                    <a:lstStyle/>
                    <a:p>
                      <a:pPr algn="l"/>
                      <a:r>
                        <a:rPr sz="1200" b="0">
                          <a:solidFill>
                            <a:srgbClr val="1F2A44"/>
                          </a:solidFill>
                          <a:latin typeface="Calibri"/>
                        </a:rPr>
                        <a:t>D11</a:t>
                      </a:r>
                    </a:p>
                  </a:txBody>
                  <a:tcPr marL="54864" marR="54864" marT="27432" marB="27432">
                    <a:solidFill>
                      <a:srgbClr val="FFFFFF"/>
                    </a:solidFill>
                  </a:tcPr>
                </a:tc>
                <a:tc>
                  <a:txBody>
                    <a:bodyPr wrap="square"/>
                    <a:lstStyle/>
                    <a:p>
                      <a:pPr algn="l"/>
                      <a:r>
                        <a:rPr sz="1200" b="0">
                          <a:solidFill>
                            <a:srgbClr val="1F2A44"/>
                          </a:solidFill>
                          <a:latin typeface="Calibri"/>
                        </a:rPr>
                        <a:t>Grant the census key object read on the buckets that refuse it</a:t>
                      </a:r>
                    </a:p>
                  </a:txBody>
                  <a:tcPr marL="54864" marR="54864" marT="27432" marB="27432">
                    <a:solidFill>
                      <a:srgbClr val="FFFFFF"/>
                    </a:solidFill>
                  </a:tcPr>
                </a:tc>
                <a:tc>
                  <a:txBody>
                    <a:bodyPr wrap="square"/>
                    <a:lstStyle/>
                    <a:p>
                      <a:pPr algn="l"/>
                      <a:r>
                        <a:rPr sz="1200" b="0">
                          <a:solidFill>
                            <a:srgbClr val="1F2A44"/>
                          </a:solidFill>
                          <a:latin typeface="Calibri"/>
                        </a:rPr>
                        <a:t>15 buckets, e.g. 2024offairrecs, na7p43do, na7p43js, na7p434j, na7p41hj, na7p42xe, na7p42xw, na7p42yg, na7p43d3, na7p4oco, na7p4357, na7p (4,173,626 media files, 120.71 TiB)</a:t>
                      </a:r>
                    </a:p>
                  </a:txBody>
                  <a:tcPr marL="54864" marR="54864" marT="27432" marB="27432">
                    <a:solidFill>
                      <a:srgbClr val="FFFFFF"/>
                    </a:solidFill>
                  </a:tcPr>
                </a:tc>
                <a:tc>
                  <a:txBody>
                    <a:bodyPr wrap="square"/>
                    <a:lstStyle/>
                    <a:p>
                      <a:pPr algn="l"/>
                      <a:r>
                        <a:rPr sz="1200" b="0">
                          <a:solidFill>
                            <a:srgbClr val="1F2A44"/>
                          </a:solidFill>
                          <a:latin typeface="Calibri"/>
                        </a:rPr>
                        <a:t>no data moves; access only (proposed)</a:t>
                      </a:r>
                    </a:p>
                  </a:txBody>
                  <a:tcPr marL="54864" marR="54864" marT="27432" marB="27432">
                    <a:solidFill>
                      <a:srgbClr val="FFFFFF"/>
                    </a:solidFill>
                  </a:tcPr>
                </a:tc>
                <a:tc>
                  <a:txBody>
                    <a:bodyPr wrap="square"/>
                    <a:lstStyle/>
                    <a:p>
                      <a:pPr algn="l"/>
                      <a:r>
                        <a:rPr sz="1200" b="0">
                          <a:solidFill>
                            <a:srgbClr val="1F2A44"/>
                          </a:solidFill>
                          <a:latin typeface="Calibri"/>
                        </a:rPr>
                        <a:t>Cloud account owner</a:t>
                      </a:r>
                    </a:p>
                  </a:txBody>
                  <a:tcPr marL="54864" marR="54864" marT="27432" marB="27432">
                    <a:solidFill>
                      <a:srgbClr val="FFFFFF"/>
                    </a:solidFill>
                  </a:tcPr>
                </a:tc>
                <a:tc>
                  <a:txBody>
                    <a:bodyPr wrap="square"/>
                    <a:lstStyle/>
                    <a:p>
                      <a:pPr algn="l"/>
                      <a:r>
                        <a:rPr sz="1200" b="0">
                          <a:solidFill>
                            <a:srgbClr val="1F2A44"/>
                          </a:solidFill>
                          <a:latin typeface="Calibri"/>
                        </a:rPr>
                        <a:t>hours, speech and languages for the larger part of the media estate, measured instead of unknown</a:t>
                      </a:r>
                    </a:p>
                  </a:txBody>
                  <a:tcPr marL="54864" marR="54864" marT="27432" marB="27432">
                    <a:solidFill>
                      <a:srgbClr val="FFFFFF"/>
                    </a:solidFill>
                  </a:tcPr>
                </a:tc>
              </a:tr>
              <a:tr h="384048">
                <a:tc>
                  <a:txBody>
                    <a:bodyPr wrap="square"/>
                    <a:lstStyle/>
                    <a:p>
                      <a:pPr algn="l"/>
                      <a:r>
                        <a:rPr sz="1200" b="0">
                          <a:solidFill>
                            <a:srgbClr val="1F2A44"/>
                          </a:solidFill>
                          <a:latin typeface="Calibri"/>
                        </a:rPr>
                        <a:t>D12</a:t>
                      </a:r>
                    </a:p>
                  </a:txBody>
                  <a:tcPr marL="54864" marR="54864" marT="27432" marB="27432">
                    <a:solidFill>
                      <a:srgbClr val="FFFFFF"/>
                    </a:solidFill>
                  </a:tcPr>
                </a:tc>
                <a:tc>
                  <a:txBody>
                    <a:bodyPr wrap="square"/>
                    <a:lstStyle/>
                    <a:p>
                      <a:pPr algn="l"/>
                      <a:r>
                        <a:rPr sz="1200" b="0">
                          <a:solidFill>
                            <a:srgbClr val="1F2A44"/>
                          </a:solidFill>
                          <a:latin typeface="Calibri"/>
                        </a:rPr>
                        <a:t>Decide whether to restore the Archive-class buckets that cannot be read directly</a:t>
                      </a:r>
                    </a:p>
                  </a:txBody>
                  <a:tcPr marL="54864" marR="54864" marT="27432" marB="27432">
                    <a:solidFill>
                      <a:srgbClr val="FFFFFF"/>
                    </a:solidFill>
                  </a:tcPr>
                </a:tc>
                <a:tc>
                  <a:txBody>
                    <a:bodyPr wrap="square"/>
                    <a:lstStyle/>
                    <a:p>
                      <a:pPr algn="l"/>
                      <a:r>
                        <a:rPr sz="1200" b="0">
                          <a:solidFill>
                            <a:srgbClr val="1F2A44"/>
                          </a:solidFill>
                          <a:latin typeface="Calibri"/>
                        </a:rPr>
                        <a:t>2 buckets, e.g. test-viusasa-bucket, fast-channels</a:t>
                      </a:r>
                    </a:p>
                  </a:txBody>
                  <a:tcPr marL="54864" marR="54864" marT="27432" marB="27432">
                    <a:solidFill>
                      <a:srgbClr val="FFFFFF"/>
                    </a:solidFill>
                  </a:tcPr>
                </a:tc>
                <a:tc>
                  <a:txBody>
                    <a:bodyPr wrap="square"/>
                    <a:lstStyle/>
                    <a:p>
                      <a:pPr algn="l"/>
                      <a:r>
                        <a:rPr sz="1200" b="0">
                          <a:solidFill>
                            <a:srgbClr val="1F2A44"/>
                          </a:solidFill>
                          <a:latin typeface="Calibri"/>
                        </a:rPr>
                        <a:t>same buckets; restored copies temporary (proposed)</a:t>
                      </a:r>
                    </a:p>
                  </a:txBody>
                  <a:tcPr marL="54864" marR="54864" marT="27432" marB="27432">
                    <a:solidFill>
                      <a:srgbClr val="FFFFFF"/>
                    </a:solidFill>
                  </a:tcPr>
                </a:tc>
                <a:tc>
                  <a:txBody>
                    <a:bodyPr wrap="square"/>
                    <a:lstStyle/>
                    <a:p>
                      <a:pPr algn="l"/>
                      <a:r>
                        <a:rPr sz="1200" b="0">
                          <a:solidFill>
                            <a:srgbClr val="1F2A44"/>
                          </a:solidFill>
                          <a:latin typeface="Calibri"/>
                        </a:rPr>
                        <a:t>Head of Technology (storage owner)</a:t>
                      </a:r>
                    </a:p>
                  </a:txBody>
                  <a:tcPr marL="54864" marR="54864" marT="27432" marB="27432">
                    <a:solidFill>
                      <a:srgbClr val="FFFFFF"/>
                    </a:solidFill>
                  </a:tcPr>
                </a:tc>
                <a:tc>
                  <a:txBody>
                    <a:bodyPr wrap="square"/>
                    <a:lstStyle/>
                    <a:p>
                      <a:pPr algn="l"/>
                      <a:r>
                        <a:rPr sz="1200" b="0">
                          <a:solidFill>
                            <a:srgbClr val="1F2A44"/>
                          </a:solidFill>
                          <a:latin typeface="Calibri"/>
                        </a:rPr>
                        <a:t>a measured reading of otherwise dark buckets, at a known retrieval cost</a:t>
                      </a:r>
                    </a:p>
                  </a:txBody>
                  <a:tcPr marL="54864" marR="54864" marT="27432" marB="2743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C8102E"/>
                </a:solidFill>
                <a:latin typeface="Calibri"/>
              </a:rPr>
              <a:t>Each decision names the exact source it rests on, the action, the proposed destination or rule, who carries it, the benefit stated as an upper bound where it is money, the evidence it rests on and what still has to be verified.</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[estimated]  Receipt R02: Estate intelligence census eij-1b359b3cbd2e, cost_strategies priced at reference list prices, not the owner's invoice: Huawei Cloud RDS for MySQL cloud SSD AF-Johannesburg 0.00015 USD/GB-hour x 730 h; OBS Standard 0.023 USD/GB-month</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66</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1920240"/>
            <a:ext cx="2613355" cy="1885492"/>
          </a:xfrm>
          <a:prstGeom prst="rect">
            <a:avLst/>
          </a:prstGeom>
          <a:noFill/>
        </p:spPr>
        <p:txBody>
          <a:bodyPr wrap="square" lIns="0" rIns="0" tIns="0" bIns="0" anchor="ctr">
            <a:spAutoFit/>
          </a:bodyPr>
          <a:lstStyle/>
          <a:p>
            <a:pPr algn="l"/>
            <a:r>
              <a:rPr sz="9600" b="0" i="0">
                <a:solidFill>
                  <a:srgbClr val="C8102E"/>
                </a:solidFill>
                <a:latin typeface="Courier New"/>
              </a:rPr>
              <a:t>11</a:t>
            </a:r>
          </a:p>
        </p:txBody>
      </p:sp>
      <p:sp>
        <p:nvSpPr>
          <p:cNvPr id="3" name="TextBox 2"/>
          <p:cNvSpPr txBox="1"/>
          <p:nvPr/>
        </p:nvSpPr>
        <p:spPr>
          <a:xfrm>
            <a:off x="3390595" y="2297887"/>
            <a:ext cx="8206740" cy="1508760"/>
          </a:xfrm>
          <a:prstGeom prst="rect">
            <a:avLst/>
          </a:prstGeom>
          <a:noFill/>
        </p:spPr>
        <p:txBody>
          <a:bodyPr wrap="square" lIns="0" rIns="0" tIns="0" bIns="0" anchor="ctr">
            <a:spAutoFit/>
          </a:bodyPr>
          <a:lstStyle/>
          <a:p>
            <a:pPr algn="l"/>
            <a:r>
              <a:rPr sz="3200" b="0" i="0">
                <a:solidFill>
                  <a:srgbClr val="1F2A44"/>
                </a:solidFill>
                <a:latin typeface="Cambria"/>
              </a:rPr>
              <a:t>What is still unmeasured</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COVERAGE LEDGER</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Much of the estate is unmeasured, and each gap has a closing step</a:t>
            </a:r>
          </a:p>
        </p:txBody>
      </p:sp>
      <p:sp>
        <p:nvSpPr>
          <p:cNvPr id="4" name="TextBox 3"/>
          <p:cNvSpPr txBox="1"/>
          <p:nvPr/>
        </p:nvSpPr>
        <p:spPr>
          <a:xfrm>
            <a:off x="594360" y="1920240"/>
            <a:ext cx="640080" cy="754380"/>
          </a:xfrm>
          <a:prstGeom prst="rect">
            <a:avLst/>
          </a:prstGeom>
          <a:noFill/>
        </p:spPr>
        <p:txBody>
          <a:bodyPr wrap="square" lIns="0" rIns="0" tIns="0" bIns="0" anchor="t">
            <a:spAutoFit/>
          </a:bodyPr>
          <a:lstStyle/>
          <a:p>
            <a:pPr algn="l"/>
            <a:r>
              <a:rPr sz="2600" b="0" i="0">
                <a:solidFill>
                  <a:srgbClr val="C8102E"/>
                </a:solidFill>
                <a:latin typeface="Courier New"/>
              </a:rPr>
              <a:t>01</a:t>
            </a:r>
          </a:p>
        </p:txBody>
      </p:sp>
      <p:sp>
        <p:nvSpPr>
          <p:cNvPr id="5" name="TextBox 4"/>
          <p:cNvSpPr txBox="1"/>
          <p:nvPr/>
        </p:nvSpPr>
        <p:spPr>
          <a:xfrm>
            <a:off x="1417320" y="1993392"/>
            <a:ext cx="10180015" cy="662940"/>
          </a:xfrm>
          <a:prstGeom prst="rect">
            <a:avLst/>
          </a:prstGeom>
          <a:noFill/>
        </p:spPr>
        <p:txBody>
          <a:bodyPr wrap="square" lIns="0" rIns="0" tIns="0" bIns="0" anchor="t">
            <a:spAutoFit/>
          </a:bodyPr>
          <a:lstStyle/>
          <a:p>
            <a:pPr algn="l"/>
            <a:r>
              <a:rPr sz="1400" b="0" i="0">
                <a:solidFill>
                  <a:srgbClr val="1F2A44"/>
                </a:solidFill>
                <a:latin typeface="Calibri"/>
              </a:rPr>
              <a:t>Only 638 of 1006 tables were measured, and one database connection awaits a read grant; a complete-pass census closes this.</a:t>
            </a:r>
          </a:p>
        </p:txBody>
      </p:sp>
      <p:cxnSp>
        <p:nvCxnSpPr>
          <p:cNvPr id="6" name="Connector 5"/>
          <p:cNvCxnSpPr/>
          <p:nvPr/>
        </p:nvCxnSpPr>
        <p:spPr>
          <a:xfrm>
            <a:off x="594360" y="2564891"/>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2674620"/>
            <a:ext cx="640080" cy="754380"/>
          </a:xfrm>
          <a:prstGeom prst="rect">
            <a:avLst/>
          </a:prstGeom>
          <a:noFill/>
        </p:spPr>
        <p:txBody>
          <a:bodyPr wrap="square" lIns="0" rIns="0" tIns="0" bIns="0" anchor="t">
            <a:spAutoFit/>
          </a:bodyPr>
          <a:lstStyle/>
          <a:p>
            <a:pPr algn="l"/>
            <a:r>
              <a:rPr sz="2600" b="0" i="0">
                <a:solidFill>
                  <a:srgbClr val="C8102E"/>
                </a:solidFill>
                <a:latin typeface="Courier New"/>
              </a:rPr>
              <a:t>02</a:t>
            </a:r>
          </a:p>
        </p:txBody>
      </p:sp>
      <p:sp>
        <p:nvSpPr>
          <p:cNvPr id="8" name="TextBox 7"/>
          <p:cNvSpPr txBox="1"/>
          <p:nvPr/>
        </p:nvSpPr>
        <p:spPr>
          <a:xfrm>
            <a:off x="1417320" y="2747772"/>
            <a:ext cx="10180015" cy="662940"/>
          </a:xfrm>
          <a:prstGeom prst="rect">
            <a:avLst/>
          </a:prstGeom>
          <a:noFill/>
        </p:spPr>
        <p:txBody>
          <a:bodyPr wrap="square" lIns="0" rIns="0" tIns="0" bIns="0" anchor="t">
            <a:spAutoFit/>
          </a:bodyPr>
          <a:lstStyle/>
          <a:p>
            <a:pPr algn="l"/>
            <a:r>
              <a:rPr sz="1400" b="0" i="0">
                <a:solidFill>
                  <a:srgbClr val="1F2A44"/>
                </a:solidFill>
                <a:latin typeface="Calibri"/>
              </a:rPr>
              <a:t>40 buckets are unlistable; reconcile the bucket inventory with the provider.</a:t>
            </a:r>
          </a:p>
        </p:txBody>
      </p:sp>
      <p:cxnSp>
        <p:nvCxnSpPr>
          <p:cNvPr id="9" name="Connector 8"/>
          <p:cNvCxnSpPr/>
          <p:nvPr/>
        </p:nvCxnSpPr>
        <p:spPr>
          <a:xfrm>
            <a:off x="594360" y="3319272"/>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94360" y="3429000"/>
            <a:ext cx="640080" cy="754380"/>
          </a:xfrm>
          <a:prstGeom prst="rect">
            <a:avLst/>
          </a:prstGeom>
          <a:noFill/>
        </p:spPr>
        <p:txBody>
          <a:bodyPr wrap="square" lIns="0" rIns="0" tIns="0" bIns="0" anchor="t">
            <a:spAutoFit/>
          </a:bodyPr>
          <a:lstStyle/>
          <a:p>
            <a:pPr algn="l"/>
            <a:r>
              <a:rPr sz="2600" b="0" i="0">
                <a:solidFill>
                  <a:srgbClr val="C8102E"/>
                </a:solidFill>
                <a:latin typeface="Courier New"/>
              </a:rPr>
              <a:t>03</a:t>
            </a:r>
          </a:p>
        </p:txBody>
      </p:sp>
      <p:sp>
        <p:nvSpPr>
          <p:cNvPr id="11" name="TextBox 10"/>
          <p:cNvSpPr txBox="1"/>
          <p:nvPr/>
        </p:nvSpPr>
        <p:spPr>
          <a:xfrm>
            <a:off x="1417320" y="3502152"/>
            <a:ext cx="10180015" cy="662940"/>
          </a:xfrm>
          <a:prstGeom prst="rect">
            <a:avLst/>
          </a:prstGeom>
          <a:noFill/>
        </p:spPr>
        <p:txBody>
          <a:bodyPr wrap="square" lIns="0" rIns="0" tIns="0" bIns="0" anchor="t">
            <a:spAutoFit/>
          </a:bodyPr>
          <a:lstStyle/>
          <a:p>
            <a:pPr algn="l"/>
            <a:r>
              <a:rPr sz="1400" b="0" i="0">
                <a:solidFill>
                  <a:srgbClr val="1F2A44"/>
                </a:solidFill>
                <a:latin typeface="Calibri"/>
              </a:rPr>
              <a:t>File shares of 43.9 TiB and 1.5m files lack content fingerprints, so duplication stays unmeasured until a fingerprinting pass runs.</a:t>
            </a:r>
          </a:p>
        </p:txBody>
      </p:sp>
      <p:cxnSp>
        <p:nvCxnSpPr>
          <p:cNvPr id="12" name="Connector 11"/>
          <p:cNvCxnSpPr/>
          <p:nvPr/>
        </p:nvCxnSpPr>
        <p:spPr>
          <a:xfrm>
            <a:off x="594360" y="4073652"/>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594360" y="4183379"/>
            <a:ext cx="640080" cy="754380"/>
          </a:xfrm>
          <a:prstGeom prst="rect">
            <a:avLst/>
          </a:prstGeom>
          <a:noFill/>
        </p:spPr>
        <p:txBody>
          <a:bodyPr wrap="square" lIns="0" rIns="0" tIns="0" bIns="0" anchor="t">
            <a:spAutoFit/>
          </a:bodyPr>
          <a:lstStyle/>
          <a:p>
            <a:pPr algn="l"/>
            <a:r>
              <a:rPr sz="2600" b="0" i="0">
                <a:solidFill>
                  <a:srgbClr val="C8102E"/>
                </a:solidFill>
                <a:latin typeface="Courier New"/>
              </a:rPr>
              <a:t>04</a:t>
            </a:r>
          </a:p>
        </p:txBody>
      </p:sp>
      <p:sp>
        <p:nvSpPr>
          <p:cNvPr id="14" name="TextBox 13"/>
          <p:cNvSpPr txBox="1"/>
          <p:nvPr/>
        </p:nvSpPr>
        <p:spPr>
          <a:xfrm>
            <a:off x="1417320" y="4256531"/>
            <a:ext cx="10180015" cy="662940"/>
          </a:xfrm>
          <a:prstGeom prst="rect">
            <a:avLst/>
          </a:prstGeom>
          <a:noFill/>
        </p:spPr>
        <p:txBody>
          <a:bodyPr wrap="square" lIns="0" rIns="0" tIns="0" bIns="0" anchor="t">
            <a:spAutoFit/>
          </a:bodyPr>
          <a:lstStyle/>
          <a:p>
            <a:pPr algn="l"/>
            <a:r>
              <a:rPr sz="1400" b="0" i="0">
                <a:solidFill>
                  <a:srgbClr val="1F2A44"/>
                </a:solidFill>
                <a:latin typeface="Calibri"/>
              </a:rPr>
              <a:t>1694 transcripts were unread and script languages are station metadata; a text-model pass closes both.</a:t>
            </a:r>
          </a:p>
        </p:txBody>
      </p:sp>
      <p:cxnSp>
        <p:nvCxnSpPr>
          <p:cNvPr id="15" name="Connector 14"/>
          <p:cNvCxnSpPr/>
          <p:nvPr/>
        </p:nvCxnSpPr>
        <p:spPr>
          <a:xfrm>
            <a:off x="594360" y="4828031"/>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94360" y="4937760"/>
            <a:ext cx="640080" cy="754380"/>
          </a:xfrm>
          <a:prstGeom prst="rect">
            <a:avLst/>
          </a:prstGeom>
          <a:noFill/>
        </p:spPr>
        <p:txBody>
          <a:bodyPr wrap="square" lIns="0" rIns="0" tIns="0" bIns="0" anchor="t">
            <a:spAutoFit/>
          </a:bodyPr>
          <a:lstStyle/>
          <a:p>
            <a:pPr algn="l"/>
            <a:r>
              <a:rPr sz="2600" b="0" i="0">
                <a:solidFill>
                  <a:srgbClr val="C8102E"/>
                </a:solidFill>
                <a:latin typeface="Courier New"/>
              </a:rPr>
              <a:t>05</a:t>
            </a:r>
          </a:p>
        </p:txBody>
      </p:sp>
      <p:sp>
        <p:nvSpPr>
          <p:cNvPr id="17" name="TextBox 16"/>
          <p:cNvSpPr txBox="1"/>
          <p:nvPr/>
        </p:nvSpPr>
        <p:spPr>
          <a:xfrm>
            <a:off x="1417320" y="5010912"/>
            <a:ext cx="10180015" cy="662940"/>
          </a:xfrm>
          <a:prstGeom prst="rect">
            <a:avLst/>
          </a:prstGeom>
          <a:noFill/>
        </p:spPr>
        <p:txBody>
          <a:bodyPr wrap="square" lIns="0" rIns="0" tIns="0" bIns="0" anchor="t">
            <a:spAutoFit/>
          </a:bodyPr>
          <a:lstStyle/>
          <a:p>
            <a:pPr algn="l"/>
            <a:r>
              <a:rPr sz="1400" b="0" i="0">
                <a:solidFill>
                  <a:srgbClr val="1F2A44"/>
                </a:solidFill>
                <a:latin typeface="Calibri"/>
              </a:rPr>
              <a:t>The authoring table discloses who wrote this pack; it does not establish accuracy.</a:t>
            </a:r>
          </a:p>
        </p:txBody>
      </p:sp>
      <p:cxnSp>
        <p:nvCxnSpPr>
          <p:cNvPr id="18" name="Connector 17"/>
          <p:cNvCxnSpPr/>
          <p:nvPr/>
        </p:nvCxnSpPr>
        <p:spPr>
          <a:xfrm>
            <a:off x="594360" y="5582412"/>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20" name="TextBox 19"/>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21" name="TextBox 20"/>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68</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EVIDENCE BY NAME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Who wrote this pack — model roles by task strength</a:t>
            </a:r>
          </a:p>
        </p:txBody>
      </p:sp>
      <p:graphicFrame>
        <p:nvGraphicFramePr>
          <p:cNvPr id="4" name="Table 3"/>
          <p:cNvGraphicFramePr>
            <a:graphicFrameLocks noGrp="1"/>
          </p:cNvGraphicFramePr>
          <p:nvPr/>
        </p:nvGraphicFramePr>
        <p:xfrm>
          <a:off x="594360" y="1920240"/>
          <a:ext cx="11002973" cy="1920240"/>
        </p:xfrm>
        <a:graphic>
          <a:graphicData uri="http://schemas.openxmlformats.org/drawingml/2006/table">
            <a:tbl>
              <a:tblPr firstRow="1" bandRow="1">
                <a:tableStyleId>{5C22544A-7EE6-4342-B048-85BDC9FD1C3A}</a:tableStyleId>
              </a:tblPr>
              <a:tblGrid>
                <a:gridCol w="1770593"/>
                <a:gridCol w="2150006"/>
                <a:gridCol w="1770593"/>
                <a:gridCol w="5311781"/>
              </a:tblGrid>
              <a:tr h="384048">
                <a:tc>
                  <a:txBody>
                    <a:bodyPr wrap="square"/>
                    <a:lstStyle/>
                    <a:p>
                      <a:pPr algn="l"/>
                      <a:r>
                        <a:rPr sz="1300" b="1">
                          <a:solidFill>
                            <a:srgbClr val="1F2A44"/>
                          </a:solidFill>
                          <a:latin typeface="Calibri"/>
                        </a:rPr>
                        <a:t>Role</a:t>
                      </a:r>
                    </a:p>
                  </a:txBody>
                  <a:tcPr marL="54864" marR="54864" marT="27432" marB="27432">
                    <a:solidFill>
                      <a:srgbClr val="E9ECF1"/>
                    </a:solidFill>
                  </a:tcPr>
                </a:tc>
                <a:tc>
                  <a:txBody>
                    <a:bodyPr wrap="square"/>
                    <a:lstStyle/>
                    <a:p>
                      <a:pPr algn="l"/>
                      <a:r>
                        <a:rPr sz="1300" b="1">
                          <a:solidFill>
                            <a:srgbClr val="1F2A44"/>
                          </a:solidFill>
                          <a:latin typeface="Calibri"/>
                        </a:rPr>
                        <a:t>Model</a:t>
                      </a:r>
                    </a:p>
                  </a:txBody>
                  <a:tcPr marL="54864" marR="54864" marT="27432" marB="27432">
                    <a:solidFill>
                      <a:srgbClr val="E9ECF1"/>
                    </a:solidFill>
                  </a:tcPr>
                </a:tc>
                <a:tc>
                  <a:txBody>
                    <a:bodyPr wrap="square"/>
                    <a:lstStyle/>
                    <a:p>
                      <a:pPr algn="l"/>
                      <a:r>
                        <a:rPr sz="1300" b="1">
                          <a:solidFill>
                            <a:srgbClr val="1F2A44"/>
                          </a:solidFill>
                          <a:latin typeface="Calibri"/>
                        </a:rPr>
                        <a:t>Family</a:t>
                      </a:r>
                    </a:p>
                  </a:txBody>
                  <a:tcPr marL="54864" marR="54864" marT="27432" marB="27432">
                    <a:solidFill>
                      <a:srgbClr val="E9ECF1"/>
                    </a:solidFill>
                  </a:tcPr>
                </a:tc>
                <a:tc>
                  <a:txBody>
                    <a:bodyPr wrap="square"/>
                    <a:lstStyle/>
                    <a:p>
                      <a:pPr algn="l"/>
                      <a:r>
                        <a:rPr sz="1300" b="1">
                          <a:solidFill>
                            <a:srgbClr val="1F2A44"/>
                          </a:solidFill>
                          <a:latin typeface="Calibri"/>
                        </a:rPr>
                        <a:t>Job</a:t>
                      </a:r>
                    </a:p>
                  </a:txBody>
                  <a:tcPr marL="54864" marR="54864" marT="27432" marB="27432">
                    <a:solidFill>
                      <a:srgbClr val="E9ECF1"/>
                    </a:solidFill>
                  </a:tcPr>
                </a:tc>
              </a:tr>
              <a:tr h="384048">
                <a:tc>
                  <a:txBody>
                    <a:bodyPr wrap="square"/>
                    <a:lstStyle/>
                    <a:p>
                      <a:pPr algn="l"/>
                      <a:r>
                        <a:rPr sz="1300" b="0">
                          <a:solidFill>
                            <a:srgbClr val="1F2A44"/>
                          </a:solidFill>
                          <a:latin typeface="Calibri"/>
                        </a:rPr>
                        <a:t>assistant</a:t>
                      </a:r>
                    </a:p>
                  </a:txBody>
                  <a:tcPr marL="54864" marR="54864" marT="27432" marB="27432">
                    <a:solidFill>
                      <a:srgbClr val="FFFFFF"/>
                    </a:solidFill>
                  </a:tcPr>
                </a:tc>
                <a:tc>
                  <a:txBody>
                    <a:bodyPr wrap="square"/>
                    <a:lstStyle/>
                    <a:p>
                      <a:pPr algn="l"/>
                      <a:r>
                        <a:rPr sz="1300" b="0">
                          <a:solidFill>
                            <a:srgbClr val="1F2A44"/>
                          </a:solidFill>
                          <a:latin typeface="Calibri"/>
                        </a:rPr>
                        <a:t>gpt-6-astra</a:t>
                      </a:r>
                    </a:p>
                  </a:txBody>
                  <a:tcPr marL="54864" marR="54864" marT="27432" marB="27432">
                    <a:solidFill>
                      <a:srgbClr val="FFFFFF"/>
                    </a:solidFill>
                  </a:tcPr>
                </a:tc>
                <a:tc>
                  <a:txBody>
                    <a:bodyPr wrap="square"/>
                    <a:lstStyle/>
                    <a:p>
                      <a:pPr algn="l"/>
                      <a:r>
                        <a:rPr sz="1300" b="0">
                          <a:solidFill>
                            <a:srgbClr val="1F2A44"/>
                          </a:solidFill>
                          <a:latin typeface="Calibri"/>
                        </a:rPr>
                        <a:t>openai</a:t>
                      </a:r>
                    </a:p>
                  </a:txBody>
                  <a:tcPr marL="54864" marR="54864" marT="27432" marB="27432">
                    <a:solidFill>
                      <a:srgbClr val="FFFFFF"/>
                    </a:solidFill>
                  </a:tcPr>
                </a:tc>
                <a:tc>
                  <a:txBody>
                    <a:bodyPr wrap="square"/>
                    <a:lstStyle/>
                    <a:p>
                      <a:pPr algn="l"/>
                      <a:r>
                        <a:rPr sz="1300" b="0">
                          <a:solidFill>
                            <a:srgbClr val="1F2A44"/>
                          </a:solidFill>
                          <a:latin typeface="Calibri"/>
                        </a:rPr>
                        <a:t>planning collaborator in Train Models: reads the run record, plans the next bounded step, proposes one action</a:t>
                      </a:r>
                    </a:p>
                  </a:txBody>
                  <a:tcPr marL="54864" marR="54864" marT="27432" marB="27432">
                    <a:solidFill>
                      <a:srgbClr val="FFFFFF"/>
                    </a:solidFill>
                  </a:tcPr>
                </a:tc>
              </a:tr>
              <a:tr h="384048">
                <a:tc>
                  <a:txBody>
                    <a:bodyPr wrap="square"/>
                    <a:lstStyle/>
                    <a:p>
                      <a:pPr algn="l"/>
                      <a:r>
                        <a:rPr sz="1300" b="0">
                          <a:solidFill>
                            <a:srgbClr val="1F2A44"/>
                          </a:solidFill>
                          <a:latin typeface="Calibri"/>
                        </a:rPr>
                        <a:t>planner</a:t>
                      </a:r>
                    </a:p>
                  </a:txBody>
                  <a:tcPr marL="54864" marR="54864" marT="27432" marB="27432">
                    <a:solidFill>
                      <a:srgbClr val="FFFFFF"/>
                    </a:solidFill>
                  </a:tcPr>
                </a:tc>
                <a:tc>
                  <a:txBody>
                    <a:bodyPr wrap="square"/>
                    <a:lstStyle/>
                    <a:p>
                      <a:pPr algn="l"/>
                      <a:r>
                        <a:rPr sz="1300" b="0">
                          <a:solidFill>
                            <a:srgbClr val="1F2A44"/>
                          </a:solidFill>
                          <a:latin typeface="Calibri"/>
                        </a:rPr>
                        <a:t>gpt-6-astra</a:t>
                      </a:r>
                    </a:p>
                  </a:txBody>
                  <a:tcPr marL="54864" marR="54864" marT="27432" marB="27432">
                    <a:solidFill>
                      <a:srgbClr val="FFFFFF"/>
                    </a:solidFill>
                  </a:tcPr>
                </a:tc>
                <a:tc>
                  <a:txBody>
                    <a:bodyPr wrap="square"/>
                    <a:lstStyle/>
                    <a:p>
                      <a:pPr algn="l"/>
                      <a:r>
                        <a:rPr sz="1300" b="0">
                          <a:solidFill>
                            <a:srgbClr val="1F2A44"/>
                          </a:solidFill>
                          <a:latin typeface="Calibri"/>
                        </a:rPr>
                        <a:t>openai</a:t>
                      </a:r>
                    </a:p>
                  </a:txBody>
                  <a:tcPr marL="54864" marR="54864" marT="27432" marB="27432">
                    <a:solidFill>
                      <a:srgbClr val="FFFFFF"/>
                    </a:solidFill>
                  </a:tcPr>
                </a:tc>
                <a:tc>
                  <a:txBody>
                    <a:bodyPr wrap="square"/>
                    <a:lstStyle/>
                    <a:p>
                      <a:pPr algn="l"/>
                      <a:r>
                        <a:rPr sz="1300" b="0">
                          <a:solidFill>
                            <a:srgbClr val="1F2A44"/>
                          </a:solidFill>
                          <a:latin typeface="Calibri"/>
                        </a:rPr>
                        <a:t>plans and orchestrates multi-step work (document story, measurement order, task decomposition)</a:t>
                      </a:r>
                    </a:p>
                  </a:txBody>
                  <a:tcPr marL="54864" marR="54864" marT="27432" marB="27432">
                    <a:solidFill>
                      <a:srgbClr val="FFFFFF"/>
                    </a:solidFill>
                  </a:tcPr>
                </a:tc>
              </a:tr>
              <a:tr h="384048">
                <a:tc>
                  <a:txBody>
                    <a:bodyPr wrap="square"/>
                    <a:lstStyle/>
                    <a:p>
                      <a:pPr algn="l"/>
                      <a:r>
                        <a:rPr sz="1300" b="0">
                          <a:solidFill>
                            <a:srgbClr val="1F2A44"/>
                          </a:solidFill>
                          <a:latin typeface="Calibri"/>
                        </a:rPr>
                        <a:t>reviewer</a:t>
                      </a:r>
                    </a:p>
                  </a:txBody>
                  <a:tcPr marL="54864" marR="54864" marT="27432" marB="27432">
                    <a:solidFill>
                      <a:srgbClr val="FFFFFF"/>
                    </a:solidFill>
                  </a:tcPr>
                </a:tc>
                <a:tc>
                  <a:txBody>
                    <a:bodyPr wrap="square"/>
                    <a:lstStyle/>
                    <a:p>
                      <a:pPr algn="l"/>
                      <a:r>
                        <a:rPr sz="1300" b="0">
                          <a:solidFill>
                            <a:srgbClr val="1F2A44"/>
                          </a:solidFill>
                          <a:latin typeface="Calibri"/>
                        </a:rPr>
                        <a:t>claude-fable-5-1</a:t>
                      </a:r>
                    </a:p>
                  </a:txBody>
                  <a:tcPr marL="54864" marR="54864" marT="27432" marB="27432">
                    <a:solidFill>
                      <a:srgbClr val="FFFFFF"/>
                    </a:solidFill>
                  </a:tcPr>
                </a:tc>
                <a:tc>
                  <a:txBody>
                    <a:bodyPr wrap="square"/>
                    <a:lstStyle/>
                    <a:p>
                      <a:pPr algn="l"/>
                      <a:r>
                        <a:rPr sz="1300" b="0">
                          <a:solidFill>
                            <a:srgbClr val="1F2A44"/>
                          </a:solidFill>
                          <a:latin typeface="Calibri"/>
                        </a:rPr>
                        <a:t>anthropic</a:t>
                      </a:r>
                    </a:p>
                  </a:txBody>
                  <a:tcPr marL="54864" marR="54864" marT="27432" marB="27432">
                    <a:solidFill>
                      <a:srgbClr val="FFFFFF"/>
                    </a:solidFill>
                  </a:tcPr>
                </a:tc>
                <a:tc>
                  <a:txBody>
                    <a:bodyPr wrap="square"/>
                    <a:lstStyle/>
                    <a:p>
                      <a:pPr algn="l"/>
                      <a:r>
                        <a:rPr sz="1300" b="0">
                          <a:solidFill>
                            <a:srgbClr val="1F2A44"/>
                          </a:solidFill>
                          <a:latin typeface="Calibri"/>
                        </a:rPr>
                        <a:t>independent review of complex outputs against source evidence and acceptance criteria; a different family from the planner</a:t>
                      </a:r>
                    </a:p>
                  </a:txBody>
                  <a:tcPr marL="54864" marR="54864" marT="27432" marB="27432">
                    <a:solidFill>
                      <a:srgbClr val="FFFFFF"/>
                    </a:solidFill>
                  </a:tcPr>
                </a:tc>
              </a:tr>
              <a:tr h="384048">
                <a:tc>
                  <a:txBody>
                    <a:bodyPr wrap="square"/>
                    <a:lstStyle/>
                    <a:p>
                      <a:pPr algn="l"/>
                      <a:r>
                        <a:rPr sz="1300" b="0">
                          <a:solidFill>
                            <a:srgbClr val="1F2A44"/>
                          </a:solidFill>
                          <a:latin typeface="Calibri"/>
                        </a:rPr>
                        <a:t>writer</a:t>
                      </a:r>
                    </a:p>
                  </a:txBody>
                  <a:tcPr marL="54864" marR="54864" marT="27432" marB="27432">
                    <a:solidFill>
                      <a:srgbClr val="FFFFFF"/>
                    </a:solidFill>
                  </a:tcPr>
                </a:tc>
                <a:tc>
                  <a:txBody>
                    <a:bodyPr wrap="square"/>
                    <a:lstStyle/>
                    <a:p>
                      <a:pPr algn="l"/>
                      <a:r>
                        <a:rPr sz="1300" b="0">
                          <a:solidFill>
                            <a:srgbClr val="1F2A44"/>
                          </a:solidFill>
                          <a:latin typeface="Calibri"/>
                        </a:rPr>
                        <a:t>claude-sonnet-5-5</a:t>
                      </a:r>
                    </a:p>
                  </a:txBody>
                  <a:tcPr marL="54864" marR="54864" marT="27432" marB="27432">
                    <a:solidFill>
                      <a:srgbClr val="FFFFFF"/>
                    </a:solidFill>
                  </a:tcPr>
                </a:tc>
                <a:tc>
                  <a:txBody>
                    <a:bodyPr wrap="square"/>
                    <a:lstStyle/>
                    <a:p>
                      <a:pPr algn="l"/>
                      <a:r>
                        <a:rPr sz="1300" b="0">
                          <a:solidFill>
                            <a:srgbClr val="1F2A44"/>
                          </a:solidFill>
                          <a:latin typeface="Calibri"/>
                        </a:rPr>
                        <a:t>anthropic</a:t>
                      </a:r>
                    </a:p>
                  </a:txBody>
                  <a:tcPr marL="54864" marR="54864" marT="27432" marB="27432">
                    <a:solidFill>
                      <a:srgbClr val="FFFFFF"/>
                    </a:solidFill>
                  </a:tcPr>
                </a:tc>
                <a:tc>
                  <a:txBody>
                    <a:bodyPr wrap="square"/>
                    <a:lstStyle/>
                    <a:p>
                      <a:pPr algn="l"/>
                      <a:r>
                        <a:rPr sz="1300" b="0">
                          <a:solidFill>
                            <a:srgbClr val="1F2A44"/>
                          </a:solidFill>
                          <a:latin typeface="Calibri"/>
                        </a:rPr>
                        <a:t>writes every sentence the reader sees from evidence tokens under the content-manager gate</a:t>
                      </a:r>
                    </a:p>
                  </a:txBody>
                  <a:tcPr marL="54864" marR="54864" marT="27432" marB="2743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C8102E"/>
                </a:solidFill>
                <a:latin typeface="Calibri"/>
              </a:rPr>
              <a:t>Planner and reviewer come from different model families so the review does not share the planner's blind spots; every call crosses the Shield chokepoint.</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[measured]  Receipt R09: Model role assignments evaluated 2026-10-02: integration model catalogue plus published task benchmarks reviewed on the day; planner/reviewer families kept distinct so the review does not share the planner's blind spots. Not claimed: no independent head-to-head benchmark was run on owner data; assignments are disclosed configuration, re-evaluated when a role under-performs on its own gate</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69</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WHAT TO DO FIRST</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Fix access and inventory first, then validate cost, then prepare the pilots</a:t>
            </a:r>
          </a:p>
        </p:txBody>
      </p:sp>
      <p:sp>
        <p:nvSpPr>
          <p:cNvPr id="4" name="TextBox 3"/>
          <p:cNvSpPr txBox="1"/>
          <p:nvPr/>
        </p:nvSpPr>
        <p:spPr>
          <a:xfrm>
            <a:off x="594360" y="1920240"/>
            <a:ext cx="640080" cy="754380"/>
          </a:xfrm>
          <a:prstGeom prst="rect">
            <a:avLst/>
          </a:prstGeom>
          <a:noFill/>
        </p:spPr>
        <p:txBody>
          <a:bodyPr wrap="square" lIns="0" rIns="0" tIns="0" bIns="0" anchor="t">
            <a:spAutoFit/>
          </a:bodyPr>
          <a:lstStyle/>
          <a:p>
            <a:pPr algn="l"/>
            <a:r>
              <a:rPr sz="2600" b="0" i="0">
                <a:solidFill>
                  <a:srgbClr val="C8102E"/>
                </a:solidFill>
                <a:latin typeface="Courier New"/>
              </a:rPr>
              <a:t>01</a:t>
            </a:r>
          </a:p>
        </p:txBody>
      </p:sp>
      <p:sp>
        <p:nvSpPr>
          <p:cNvPr id="5" name="TextBox 4"/>
          <p:cNvSpPr txBox="1"/>
          <p:nvPr/>
        </p:nvSpPr>
        <p:spPr>
          <a:xfrm>
            <a:off x="1417320" y="1993392"/>
            <a:ext cx="10180015" cy="662940"/>
          </a:xfrm>
          <a:prstGeom prst="rect">
            <a:avLst/>
          </a:prstGeom>
          <a:noFill/>
        </p:spPr>
        <p:txBody>
          <a:bodyPr wrap="square" lIns="0" rIns="0" tIns="0" bIns="0" anchor="t">
            <a:spAutoFit/>
          </a:bodyPr>
          <a:lstStyle/>
          <a:p>
            <a:pPr algn="l"/>
            <a:r>
              <a:rPr sz="1400" b="0" i="0">
                <a:solidFill>
                  <a:srgbClr val="1F2A44"/>
                </a:solidFill>
                <a:latin typeface="Calibri"/>
              </a:rPr>
              <a:t>Have the cloud administrator grant object read on 15 refused buckets and decide on restoring 2 archive buckets, which would open 4.2m files to reading.</a:t>
            </a:r>
          </a:p>
        </p:txBody>
      </p:sp>
      <p:cxnSp>
        <p:nvCxnSpPr>
          <p:cNvPr id="6" name="Connector 5"/>
          <p:cNvCxnSpPr/>
          <p:nvPr/>
        </p:nvCxnSpPr>
        <p:spPr>
          <a:xfrm>
            <a:off x="594360" y="2564891"/>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2674620"/>
            <a:ext cx="640080" cy="754380"/>
          </a:xfrm>
          <a:prstGeom prst="rect">
            <a:avLst/>
          </a:prstGeom>
          <a:noFill/>
        </p:spPr>
        <p:txBody>
          <a:bodyPr wrap="square" lIns="0" rIns="0" tIns="0" bIns="0" anchor="t">
            <a:spAutoFit/>
          </a:bodyPr>
          <a:lstStyle/>
          <a:p>
            <a:pPr algn="l"/>
            <a:r>
              <a:rPr sz="2600" b="0" i="0">
                <a:solidFill>
                  <a:srgbClr val="C8102E"/>
                </a:solidFill>
                <a:latin typeface="Courier New"/>
              </a:rPr>
              <a:t>02</a:t>
            </a:r>
          </a:p>
        </p:txBody>
      </p:sp>
      <p:sp>
        <p:nvSpPr>
          <p:cNvPr id="8" name="TextBox 7"/>
          <p:cNvSpPr txBox="1"/>
          <p:nvPr/>
        </p:nvSpPr>
        <p:spPr>
          <a:xfrm>
            <a:off x="1417320" y="2747772"/>
            <a:ext cx="10180015" cy="662940"/>
          </a:xfrm>
          <a:prstGeom prst="rect">
            <a:avLst/>
          </a:prstGeom>
          <a:noFill/>
        </p:spPr>
        <p:txBody>
          <a:bodyPr wrap="square" lIns="0" rIns="0" tIns="0" bIns="0" anchor="t">
            <a:spAutoFit/>
          </a:bodyPr>
          <a:lstStyle/>
          <a:p>
            <a:pPr algn="l"/>
            <a:r>
              <a:rPr sz="1400" b="0" i="0">
                <a:solidFill>
                  <a:srgbClr val="1F2A44"/>
                </a:solidFill>
                <a:latin typeface="Calibri"/>
              </a:rPr>
              <a:t>Reconcile the 40 unlistable buckets with the provider before any cost decision rests on the inventory.</a:t>
            </a:r>
          </a:p>
        </p:txBody>
      </p:sp>
      <p:cxnSp>
        <p:nvCxnSpPr>
          <p:cNvPr id="9" name="Connector 8"/>
          <p:cNvCxnSpPr/>
          <p:nvPr/>
        </p:nvCxnSpPr>
        <p:spPr>
          <a:xfrm>
            <a:off x="594360" y="3319272"/>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94360" y="3429000"/>
            <a:ext cx="640080" cy="754380"/>
          </a:xfrm>
          <a:prstGeom prst="rect">
            <a:avLst/>
          </a:prstGeom>
          <a:noFill/>
        </p:spPr>
        <p:txBody>
          <a:bodyPr wrap="square" lIns="0" rIns="0" tIns="0" bIns="0" anchor="t">
            <a:spAutoFit/>
          </a:bodyPr>
          <a:lstStyle/>
          <a:p>
            <a:pPr algn="l"/>
            <a:r>
              <a:rPr sz="2600" b="0" i="0">
                <a:solidFill>
                  <a:srgbClr val="C8102E"/>
                </a:solidFill>
                <a:latin typeface="Courier New"/>
              </a:rPr>
              <a:t>03</a:t>
            </a:r>
          </a:p>
        </p:txBody>
      </p:sp>
      <p:sp>
        <p:nvSpPr>
          <p:cNvPr id="11" name="TextBox 10"/>
          <p:cNvSpPr txBox="1"/>
          <p:nvPr/>
        </p:nvSpPr>
        <p:spPr>
          <a:xfrm>
            <a:off x="1417320" y="3502152"/>
            <a:ext cx="10180015" cy="662940"/>
          </a:xfrm>
          <a:prstGeom prst="rect">
            <a:avLst/>
          </a:prstGeom>
          <a:noFill/>
        </p:spPr>
        <p:txBody>
          <a:bodyPr wrap="square" lIns="0" rIns="0" tIns="0" bIns="0" anchor="t">
            <a:spAutoFit/>
          </a:bodyPr>
          <a:lstStyle/>
          <a:p>
            <a:pPr algn="l"/>
            <a:r>
              <a:rPr sz="1400" b="0" i="0">
                <a:solidFill>
                  <a:srgbClr val="1F2A44"/>
                </a:solidFill>
                <a:latin typeface="Calibri"/>
              </a:rPr>
              <a:t>Collect storage class and read demand for 41.9 TiB of cold data, then reprice at actual tariffs; 1,174.4 USD is a legacy ceiling.</a:t>
            </a:r>
          </a:p>
        </p:txBody>
      </p:sp>
      <p:cxnSp>
        <p:nvCxnSpPr>
          <p:cNvPr id="12" name="Connector 11"/>
          <p:cNvCxnSpPr/>
          <p:nvPr/>
        </p:nvCxnSpPr>
        <p:spPr>
          <a:xfrm>
            <a:off x="594360" y="4073652"/>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594360" y="4183379"/>
            <a:ext cx="640080" cy="754380"/>
          </a:xfrm>
          <a:prstGeom prst="rect">
            <a:avLst/>
          </a:prstGeom>
          <a:noFill/>
        </p:spPr>
        <p:txBody>
          <a:bodyPr wrap="square" lIns="0" rIns="0" tIns="0" bIns="0" anchor="t">
            <a:spAutoFit/>
          </a:bodyPr>
          <a:lstStyle/>
          <a:p>
            <a:pPr algn="l"/>
            <a:r>
              <a:rPr sz="2600" b="0" i="0">
                <a:solidFill>
                  <a:srgbClr val="C8102E"/>
                </a:solidFill>
                <a:latin typeface="Courier New"/>
              </a:rPr>
              <a:t>04</a:t>
            </a:r>
          </a:p>
        </p:txBody>
      </p:sp>
      <p:sp>
        <p:nvSpPr>
          <p:cNvPr id="14" name="TextBox 13"/>
          <p:cNvSpPr txBox="1"/>
          <p:nvPr/>
        </p:nvSpPr>
        <p:spPr>
          <a:xfrm>
            <a:off x="1417320" y="4256531"/>
            <a:ext cx="10180015" cy="662940"/>
          </a:xfrm>
          <a:prstGeom prst="rect">
            <a:avLst/>
          </a:prstGeom>
          <a:noFill/>
        </p:spPr>
        <p:txBody>
          <a:bodyPr wrap="square" lIns="0" rIns="0" tIns="0" bIns="0" anchor="t">
            <a:spAutoFit/>
          </a:bodyPr>
          <a:lstStyle/>
          <a:p>
            <a:pPr algn="l"/>
            <a:r>
              <a:rPr sz="1400" b="0" i="0">
                <a:solidFill>
                  <a:srgbClr val="1F2A44"/>
                </a:solidFill>
                <a:latin typeface="Calibri"/>
              </a:rPr>
              <a:t>Hash-confirm 7.7 TiB of duplicate candidates before removing any copy, and fingerprint the file shares.</a:t>
            </a:r>
          </a:p>
        </p:txBody>
      </p:sp>
      <p:cxnSp>
        <p:nvCxnSpPr>
          <p:cNvPr id="15" name="Connector 14"/>
          <p:cNvCxnSpPr/>
          <p:nvPr/>
        </p:nvCxnSpPr>
        <p:spPr>
          <a:xfrm>
            <a:off x="594360" y="4828031"/>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94360" y="4937760"/>
            <a:ext cx="640080" cy="754380"/>
          </a:xfrm>
          <a:prstGeom prst="rect">
            <a:avLst/>
          </a:prstGeom>
          <a:noFill/>
        </p:spPr>
        <p:txBody>
          <a:bodyPr wrap="square" lIns="0" rIns="0" tIns="0" bIns="0" anchor="t">
            <a:spAutoFit/>
          </a:bodyPr>
          <a:lstStyle/>
          <a:p>
            <a:pPr algn="l"/>
            <a:r>
              <a:rPr sz="2600" b="0" i="0">
                <a:solidFill>
                  <a:srgbClr val="C8102E"/>
                </a:solidFill>
                <a:latin typeface="Courier New"/>
              </a:rPr>
              <a:t>05</a:t>
            </a:r>
          </a:p>
        </p:txBody>
      </p:sp>
      <p:sp>
        <p:nvSpPr>
          <p:cNvPr id="17" name="TextBox 16"/>
          <p:cNvSpPr txBox="1"/>
          <p:nvPr/>
        </p:nvSpPr>
        <p:spPr>
          <a:xfrm>
            <a:off x="1417320" y="5010912"/>
            <a:ext cx="10180015" cy="662940"/>
          </a:xfrm>
          <a:prstGeom prst="rect">
            <a:avLst/>
          </a:prstGeom>
          <a:noFill/>
        </p:spPr>
        <p:txBody>
          <a:bodyPr wrap="square" lIns="0" rIns="0" tIns="0" bIns="0" anchor="t">
            <a:spAutoFit/>
          </a:bodyPr>
          <a:lstStyle/>
          <a:p>
            <a:pPr algn="l"/>
            <a:r>
              <a:rPr sz="1400" b="0" i="0">
                <a:solidFill>
                  <a:srgbClr val="1F2A44"/>
                </a:solidFill>
                <a:latin typeface="Calibri"/>
              </a:rPr>
              <a:t>Prepare the pilot products with de-identification or aggregation; finish sampling and the 1694 unread transcripts.</a:t>
            </a:r>
          </a:p>
        </p:txBody>
      </p:sp>
      <p:cxnSp>
        <p:nvCxnSpPr>
          <p:cNvPr id="18" name="Connector 17"/>
          <p:cNvCxnSpPr/>
          <p:nvPr/>
        </p:nvCxnSpPr>
        <p:spPr>
          <a:xfrm>
            <a:off x="594360" y="5582412"/>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20" name="TextBox 19"/>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21" name="TextBox 20"/>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70</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WHAT THE EVIDENCE CANNOT YET SAY</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Coverage, model error and unpriced retrieval limit how far the figures can be pushed</a:t>
            </a:r>
          </a:p>
        </p:txBody>
      </p:sp>
      <p:sp>
        <p:nvSpPr>
          <p:cNvPr id="4" name="TextBox 3"/>
          <p:cNvSpPr txBox="1"/>
          <p:nvPr/>
        </p:nvSpPr>
        <p:spPr>
          <a:xfrm>
            <a:off x="594360" y="1920240"/>
            <a:ext cx="640080" cy="754380"/>
          </a:xfrm>
          <a:prstGeom prst="rect">
            <a:avLst/>
          </a:prstGeom>
          <a:noFill/>
        </p:spPr>
        <p:txBody>
          <a:bodyPr wrap="square" lIns="0" rIns="0" tIns="0" bIns="0" anchor="t">
            <a:spAutoFit/>
          </a:bodyPr>
          <a:lstStyle/>
          <a:p>
            <a:pPr algn="l"/>
            <a:r>
              <a:rPr sz="2600" b="0" i="0">
                <a:solidFill>
                  <a:srgbClr val="C8102E"/>
                </a:solidFill>
                <a:latin typeface="Courier New"/>
              </a:rPr>
              <a:t>01</a:t>
            </a:r>
          </a:p>
        </p:txBody>
      </p:sp>
      <p:sp>
        <p:nvSpPr>
          <p:cNvPr id="5" name="TextBox 4"/>
          <p:cNvSpPr txBox="1"/>
          <p:nvPr/>
        </p:nvSpPr>
        <p:spPr>
          <a:xfrm>
            <a:off x="1417320" y="1993392"/>
            <a:ext cx="10180015" cy="662940"/>
          </a:xfrm>
          <a:prstGeom prst="rect">
            <a:avLst/>
          </a:prstGeom>
          <a:noFill/>
        </p:spPr>
        <p:txBody>
          <a:bodyPr wrap="square" lIns="0" rIns="0" tIns="0" bIns="0" anchor="t">
            <a:spAutoFit/>
          </a:bodyPr>
          <a:lstStyle/>
          <a:p>
            <a:pPr algn="l"/>
            <a:r>
              <a:rPr sz="1400" b="0" i="0">
                <a:solidFill>
                  <a:srgbClr val="1F2A44"/>
                </a:solidFill>
                <a:latin typeface="Calibri"/>
              </a:rPr>
              <a:t>Only 638 of 1006 tables were measured; row-condition ratios are estimates, closed by a complete-pass census.</a:t>
            </a:r>
          </a:p>
        </p:txBody>
      </p:sp>
      <p:cxnSp>
        <p:nvCxnSpPr>
          <p:cNvPr id="6" name="Connector 5"/>
          <p:cNvCxnSpPr/>
          <p:nvPr/>
        </p:nvCxnSpPr>
        <p:spPr>
          <a:xfrm>
            <a:off x="594360" y="2564891"/>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2674620"/>
            <a:ext cx="640080" cy="754380"/>
          </a:xfrm>
          <a:prstGeom prst="rect">
            <a:avLst/>
          </a:prstGeom>
          <a:noFill/>
        </p:spPr>
        <p:txBody>
          <a:bodyPr wrap="square" lIns="0" rIns="0" tIns="0" bIns="0" anchor="t">
            <a:spAutoFit/>
          </a:bodyPr>
          <a:lstStyle/>
          <a:p>
            <a:pPr algn="l"/>
            <a:r>
              <a:rPr sz="2600" b="0" i="0">
                <a:solidFill>
                  <a:srgbClr val="C8102E"/>
                </a:solidFill>
                <a:latin typeface="Courier New"/>
              </a:rPr>
              <a:t>02</a:t>
            </a:r>
          </a:p>
        </p:txBody>
      </p:sp>
      <p:sp>
        <p:nvSpPr>
          <p:cNvPr id="8" name="TextBox 7"/>
          <p:cNvSpPr txBox="1"/>
          <p:nvPr/>
        </p:nvSpPr>
        <p:spPr>
          <a:xfrm>
            <a:off x="1417320" y="2747772"/>
            <a:ext cx="10180015" cy="662940"/>
          </a:xfrm>
          <a:prstGeom prst="rect">
            <a:avLst/>
          </a:prstGeom>
          <a:noFill/>
        </p:spPr>
        <p:txBody>
          <a:bodyPr wrap="square" lIns="0" rIns="0" tIns="0" bIns="0" anchor="t">
            <a:spAutoFit/>
          </a:bodyPr>
          <a:lstStyle/>
          <a:p>
            <a:pPr algn="l"/>
            <a:r>
              <a:rPr sz="1400" b="0" i="0">
                <a:solidFill>
                  <a:srgbClr val="1F2A44"/>
                </a:solidFill>
                <a:latin typeface="Calibri"/>
              </a:rPr>
              <a:t>4.2m files, 120.7 TiB, cannot be read, so their hours, speech and languages stay unknown until access is granted.</a:t>
            </a:r>
          </a:p>
        </p:txBody>
      </p:sp>
      <p:cxnSp>
        <p:nvCxnSpPr>
          <p:cNvPr id="9" name="Connector 8"/>
          <p:cNvCxnSpPr/>
          <p:nvPr/>
        </p:nvCxnSpPr>
        <p:spPr>
          <a:xfrm>
            <a:off x="594360" y="3319272"/>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94360" y="3429000"/>
            <a:ext cx="640080" cy="754380"/>
          </a:xfrm>
          <a:prstGeom prst="rect">
            <a:avLst/>
          </a:prstGeom>
          <a:noFill/>
        </p:spPr>
        <p:txBody>
          <a:bodyPr wrap="square" lIns="0" rIns="0" tIns="0" bIns="0" anchor="t">
            <a:spAutoFit/>
          </a:bodyPr>
          <a:lstStyle/>
          <a:p>
            <a:pPr algn="l"/>
            <a:r>
              <a:rPr sz="2600" b="0" i="0">
                <a:solidFill>
                  <a:srgbClr val="C8102E"/>
                </a:solidFill>
                <a:latin typeface="Courier New"/>
              </a:rPr>
              <a:t>03</a:t>
            </a:r>
          </a:p>
        </p:txBody>
      </p:sp>
      <p:sp>
        <p:nvSpPr>
          <p:cNvPr id="11" name="TextBox 10"/>
          <p:cNvSpPr txBox="1"/>
          <p:nvPr/>
        </p:nvSpPr>
        <p:spPr>
          <a:xfrm>
            <a:off x="1417320" y="3502152"/>
            <a:ext cx="10180015" cy="662940"/>
          </a:xfrm>
          <a:prstGeom prst="rect">
            <a:avLst/>
          </a:prstGeom>
          <a:noFill/>
        </p:spPr>
        <p:txBody>
          <a:bodyPr wrap="square" lIns="0" rIns="0" tIns="0" bIns="0" anchor="t">
            <a:spAutoFit/>
          </a:bodyPr>
          <a:lstStyle/>
          <a:p>
            <a:pPr algn="l"/>
            <a:r>
              <a:rPr sz="1400" b="0" i="0">
                <a:solidFill>
                  <a:srgbClr val="1F2A44"/>
                </a:solidFill>
                <a:latin typeface="Calibri"/>
              </a:rPr>
              <a:t>Sampling intervals exclude model error; human checks including abstentions would calibrate the readings.</a:t>
            </a:r>
          </a:p>
        </p:txBody>
      </p:sp>
      <p:cxnSp>
        <p:nvCxnSpPr>
          <p:cNvPr id="12" name="Connector 11"/>
          <p:cNvCxnSpPr/>
          <p:nvPr/>
        </p:nvCxnSpPr>
        <p:spPr>
          <a:xfrm>
            <a:off x="594360" y="4073652"/>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594360" y="4183379"/>
            <a:ext cx="640080" cy="754380"/>
          </a:xfrm>
          <a:prstGeom prst="rect">
            <a:avLst/>
          </a:prstGeom>
          <a:noFill/>
        </p:spPr>
        <p:txBody>
          <a:bodyPr wrap="square" lIns="0" rIns="0" tIns="0" bIns="0" anchor="t">
            <a:spAutoFit/>
          </a:bodyPr>
          <a:lstStyle/>
          <a:p>
            <a:pPr algn="l"/>
            <a:r>
              <a:rPr sz="2600" b="0" i="0">
                <a:solidFill>
                  <a:srgbClr val="C8102E"/>
                </a:solidFill>
                <a:latin typeface="Courier New"/>
              </a:rPr>
              <a:t>04</a:t>
            </a:r>
          </a:p>
        </p:txBody>
      </p:sp>
      <p:sp>
        <p:nvSpPr>
          <p:cNvPr id="14" name="TextBox 13"/>
          <p:cNvSpPr txBox="1"/>
          <p:nvPr/>
        </p:nvSpPr>
        <p:spPr>
          <a:xfrm>
            <a:off x="1417320" y="4256531"/>
            <a:ext cx="10180015" cy="662940"/>
          </a:xfrm>
          <a:prstGeom prst="rect">
            <a:avLst/>
          </a:prstGeom>
          <a:noFill/>
        </p:spPr>
        <p:txBody>
          <a:bodyPr wrap="square" lIns="0" rIns="0" tIns="0" bIns="0" anchor="t">
            <a:spAutoFit/>
          </a:bodyPr>
          <a:lstStyle/>
          <a:p>
            <a:pPr algn="l"/>
            <a:r>
              <a:rPr sz="1400" b="0" i="0">
                <a:solidFill>
                  <a:srgbClr val="1F2A44"/>
                </a:solidFill>
                <a:latin typeface="Calibri"/>
              </a:rPr>
              <a:t>13 file shares are still listing or probing, and duplication across shares is unmeasured.</a:t>
            </a:r>
          </a:p>
        </p:txBody>
      </p:sp>
      <p:cxnSp>
        <p:nvCxnSpPr>
          <p:cNvPr id="15" name="Connector 14"/>
          <p:cNvCxnSpPr/>
          <p:nvPr/>
        </p:nvCxnSpPr>
        <p:spPr>
          <a:xfrm>
            <a:off x="594360" y="4828031"/>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94360" y="4937760"/>
            <a:ext cx="640080" cy="754380"/>
          </a:xfrm>
          <a:prstGeom prst="rect">
            <a:avLst/>
          </a:prstGeom>
          <a:noFill/>
        </p:spPr>
        <p:txBody>
          <a:bodyPr wrap="square" lIns="0" rIns="0" tIns="0" bIns="0" anchor="t">
            <a:spAutoFit/>
          </a:bodyPr>
          <a:lstStyle/>
          <a:p>
            <a:pPr algn="l"/>
            <a:r>
              <a:rPr sz="2600" b="0" i="0">
                <a:solidFill>
                  <a:srgbClr val="C8102E"/>
                </a:solidFill>
                <a:latin typeface="Courier New"/>
              </a:rPr>
              <a:t>05</a:t>
            </a:r>
          </a:p>
        </p:txBody>
      </p:sp>
      <p:sp>
        <p:nvSpPr>
          <p:cNvPr id="17" name="TextBox 16"/>
          <p:cNvSpPr txBox="1"/>
          <p:nvPr/>
        </p:nvSpPr>
        <p:spPr>
          <a:xfrm>
            <a:off x="1417320" y="5010912"/>
            <a:ext cx="10180015" cy="662940"/>
          </a:xfrm>
          <a:prstGeom prst="rect">
            <a:avLst/>
          </a:prstGeom>
          <a:noFill/>
        </p:spPr>
        <p:txBody>
          <a:bodyPr wrap="square" lIns="0" rIns="0" tIns="0" bIns="0" anchor="t">
            <a:spAutoFit/>
          </a:bodyPr>
          <a:lstStyle/>
          <a:p>
            <a:pPr algn="l"/>
            <a:r>
              <a:rPr sz="1400" b="0" i="0">
                <a:solidFill>
                  <a:srgbClr val="1F2A44"/>
                </a:solidFill>
                <a:latin typeface="Calibri"/>
              </a:rPr>
              <a:t>No invoice baseline exists and retrieval fees are unpriced, so net savings cannot be stated.</a:t>
            </a:r>
          </a:p>
        </p:txBody>
      </p:sp>
      <p:cxnSp>
        <p:nvCxnSpPr>
          <p:cNvPr id="18" name="Connector 17"/>
          <p:cNvCxnSpPr/>
          <p:nvPr/>
        </p:nvCxnSpPr>
        <p:spPr>
          <a:xfrm>
            <a:off x="594360" y="5582412"/>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20" name="TextBox 19"/>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21" name="TextBox 20"/>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71</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COVERAGE AND LIMITS</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What this pack covers, what it cannot say, and what would close each gap</a:t>
            </a:r>
          </a:p>
        </p:txBody>
      </p:sp>
      <p:sp>
        <p:nvSpPr>
          <p:cNvPr id="4" name="TextBox 3"/>
          <p:cNvSpPr txBox="1"/>
          <p:nvPr/>
        </p:nvSpPr>
        <p:spPr>
          <a:xfrm>
            <a:off x="594360" y="1920240"/>
            <a:ext cx="11002975" cy="822960"/>
          </a:xfrm>
          <a:prstGeom prst="rect">
            <a:avLst/>
          </a:prstGeom>
          <a:noFill/>
        </p:spPr>
        <p:txBody>
          <a:bodyPr wrap="square" lIns="0" rIns="0" tIns="0" bIns="0" anchor="t">
            <a:spAutoFit/>
          </a:bodyPr>
          <a:lstStyle/>
          <a:p>
            <a:pPr algn="l"/>
            <a:r>
              <a:rPr sz="1400" b="0" i="0">
                <a:solidFill>
                  <a:srgbClr val="1F2A44"/>
                </a:solidFill>
                <a:latin typeface="Calibri"/>
              </a:rPr>
              <a:t>COVERS</a:t>
            </a:r>
          </a:p>
          <a:p>
            <a:pPr algn="l"/>
            <a:r>
              <a:rPr sz="1400" b="0" i="0">
                <a:solidFill>
                  <a:srgbClr val="1F2A44"/>
                </a:solidFill>
                <a:latin typeface="Calibri"/>
              </a:rPr>
              <a:t>The admitted estate as measured by census eij-1b359b3cbd2e: 20 databases, 1,006 tables (351.3 GiB), the object store, the file shares, the staged language corpus read by both GPUs, the written-word databases read as aggregates, and the tiered content census of the readable media stores (hours on the files' headers, a stratified sample read in full). No row value, script or transcript text is in this pack.</a:t>
            </a:r>
          </a:p>
        </p:txBody>
      </p:sp>
      <p:sp>
        <p:nvSpPr>
          <p:cNvPr id="5" name="TextBox 4"/>
          <p:cNvSpPr txBox="1"/>
          <p:nvPr/>
        </p:nvSpPr>
        <p:spPr>
          <a:xfrm>
            <a:off x="594360" y="2834640"/>
            <a:ext cx="3545738" cy="274320"/>
          </a:xfrm>
          <a:prstGeom prst="rect">
            <a:avLst/>
          </a:prstGeom>
          <a:noFill/>
        </p:spPr>
        <p:txBody>
          <a:bodyPr wrap="square" lIns="0" rIns="0" tIns="0" bIns="0" anchor="t">
            <a:spAutoFit/>
          </a:bodyPr>
          <a:lstStyle/>
          <a:p>
            <a:pPr algn="l"/>
            <a:r>
              <a:rPr sz="1100" b="1" i="0">
                <a:solidFill>
                  <a:srgbClr val="8A94A6"/>
                </a:solidFill>
                <a:latin typeface="Calibri"/>
              </a:rPr>
              <a:t>CANNOT SAY</a:t>
            </a:r>
          </a:p>
        </p:txBody>
      </p:sp>
      <p:sp>
        <p:nvSpPr>
          <p:cNvPr id="6" name="TextBox 5"/>
          <p:cNvSpPr txBox="1"/>
          <p:nvPr/>
        </p:nvSpPr>
        <p:spPr>
          <a:xfrm>
            <a:off x="4322978" y="2834640"/>
            <a:ext cx="3545738" cy="274320"/>
          </a:xfrm>
          <a:prstGeom prst="rect">
            <a:avLst/>
          </a:prstGeom>
          <a:noFill/>
        </p:spPr>
        <p:txBody>
          <a:bodyPr wrap="square" lIns="0" rIns="0" tIns="0" bIns="0" anchor="t">
            <a:spAutoFit/>
          </a:bodyPr>
          <a:lstStyle/>
          <a:p>
            <a:pPr algn="l"/>
            <a:r>
              <a:rPr sz="1100" b="1" i="0">
                <a:solidFill>
                  <a:srgbClr val="8A94A6"/>
                </a:solidFill>
                <a:latin typeface="Calibri"/>
              </a:rPr>
              <a:t>WHY</a:t>
            </a:r>
          </a:p>
        </p:txBody>
      </p:sp>
      <p:sp>
        <p:nvSpPr>
          <p:cNvPr id="7" name="TextBox 6"/>
          <p:cNvSpPr txBox="1"/>
          <p:nvPr/>
        </p:nvSpPr>
        <p:spPr>
          <a:xfrm>
            <a:off x="8051596" y="2834640"/>
            <a:ext cx="3545738" cy="274320"/>
          </a:xfrm>
          <a:prstGeom prst="rect">
            <a:avLst/>
          </a:prstGeom>
          <a:noFill/>
        </p:spPr>
        <p:txBody>
          <a:bodyPr wrap="square" lIns="0" rIns="0" tIns="0" bIns="0" anchor="t">
            <a:spAutoFit/>
          </a:bodyPr>
          <a:lstStyle/>
          <a:p>
            <a:pPr algn="l"/>
            <a:r>
              <a:rPr sz="1100" b="1" i="0">
                <a:solidFill>
                  <a:srgbClr val="8A94A6"/>
                </a:solidFill>
                <a:latin typeface="Calibri"/>
              </a:rPr>
              <a:t>WHAT WOULD CLOSE IT</a:t>
            </a:r>
          </a:p>
        </p:txBody>
      </p:sp>
      <p:cxnSp>
        <p:nvCxnSpPr>
          <p:cNvPr id="8" name="Connector 7"/>
          <p:cNvCxnSpPr/>
          <p:nvPr/>
        </p:nvCxnSpPr>
        <p:spPr>
          <a:xfrm>
            <a:off x="594360" y="3127248"/>
            <a:ext cx="11002975" cy="0"/>
          </a:xfrm>
          <a:prstGeom prst="line">
            <a:avLst/>
          </a:prstGeom>
          <a:ln w="9525">
            <a:solidFill>
              <a:srgbClr val="1F2A44"/>
            </a:solidFill>
          </a:ln>
        </p:spPr>
        <p:style>
          <a:lnRef idx="2">
            <a:schemeClr val="accent1"/>
          </a:lnRef>
          <a:fillRef idx="0">
            <a:schemeClr val="accent1"/>
          </a:fillRef>
          <a:effectRef idx="1">
            <a:schemeClr val="accent1"/>
          </a:effectRef>
          <a:fontRef idx="minor">
            <a:schemeClr val="tx1"/>
          </a:fontRef>
        </p:style>
      </p:cxnSp>
      <p:sp>
        <p:nvSpPr>
          <p:cNvPr id="9" name="Rectangle 8"/>
          <p:cNvSpPr/>
          <p:nvPr/>
        </p:nvSpPr>
        <p:spPr>
          <a:xfrm>
            <a:off x="594360" y="3246120"/>
            <a:ext cx="11002975" cy="786384"/>
          </a:xfrm>
          <a:prstGeom prst="rect">
            <a:avLst/>
          </a:prstGeom>
          <a:pattFill>
            <a:fgClr>
              <a:srgbClr val="E9ECF1"/>
            </a:fgClr>
            <a:bgClr>
              <a:srgbClr val="FFFFFF"/>
            </a:bgClr>
          </a:patt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7512" y="3319272"/>
            <a:ext cx="3399434" cy="658368"/>
          </a:xfrm>
          <a:prstGeom prst="rect">
            <a:avLst/>
          </a:prstGeom>
          <a:noFill/>
        </p:spPr>
        <p:txBody>
          <a:bodyPr wrap="square" lIns="0" rIns="0" tIns="0" bIns="0" anchor="t">
            <a:spAutoFit/>
          </a:bodyPr>
          <a:lstStyle/>
          <a:p>
            <a:pPr algn="l"/>
            <a:r>
              <a:rPr sz="1300" b="0" i="0">
                <a:solidFill>
                  <a:srgbClr val="1F2A44"/>
                </a:solidFill>
                <a:latin typeface="Calibri"/>
              </a:rPr>
              <a:t>Duplicate, damage, empty-field and PII ratios on sampled tables</a:t>
            </a:r>
          </a:p>
        </p:txBody>
      </p:sp>
      <p:sp>
        <p:nvSpPr>
          <p:cNvPr id="11" name="TextBox 10"/>
          <p:cNvSpPr txBox="1"/>
          <p:nvPr/>
        </p:nvSpPr>
        <p:spPr>
          <a:xfrm>
            <a:off x="4396130" y="3319272"/>
            <a:ext cx="3399434" cy="658368"/>
          </a:xfrm>
          <a:prstGeom prst="rect">
            <a:avLst/>
          </a:prstGeom>
          <a:noFill/>
        </p:spPr>
        <p:txBody>
          <a:bodyPr wrap="square" lIns="0" rIns="0" tIns="0" bIns="0" anchor="t">
            <a:spAutoFit/>
          </a:bodyPr>
          <a:lstStyle/>
          <a:p>
            <a:pPr algn="l"/>
            <a:r>
              <a:rPr sz="1300" b="0" i="0">
                <a:solidFill>
                  <a:srgbClr val="1F2A44"/>
                </a:solidFill>
                <a:latin typeface="Calibri"/>
              </a:rPr>
              <a:t>complete passes where the table allowed it, stratified samples elsewhere</a:t>
            </a:r>
          </a:p>
        </p:txBody>
      </p:sp>
      <p:sp>
        <p:nvSpPr>
          <p:cNvPr id="12" name="TextBox 11"/>
          <p:cNvSpPr txBox="1"/>
          <p:nvPr/>
        </p:nvSpPr>
        <p:spPr>
          <a:xfrm>
            <a:off x="8124748" y="3319272"/>
            <a:ext cx="3399434" cy="658368"/>
          </a:xfrm>
          <a:prstGeom prst="rect">
            <a:avLst/>
          </a:prstGeom>
          <a:noFill/>
        </p:spPr>
        <p:txBody>
          <a:bodyPr wrap="square" lIns="0" rIns="0" tIns="0" bIns="0" anchor="t">
            <a:spAutoFit/>
          </a:bodyPr>
          <a:lstStyle/>
          <a:p>
            <a:pPr algn="l"/>
            <a:r>
              <a:rPr sz="1300" b="0" i="0">
                <a:solidFill>
                  <a:srgbClr val="1F2A44"/>
                </a:solidFill>
                <a:latin typeface="Calibri"/>
              </a:rPr>
              <a:t>a complete-pass census on the sampled tables</a:t>
            </a:r>
          </a:p>
        </p:txBody>
      </p:sp>
      <p:sp>
        <p:nvSpPr>
          <p:cNvPr id="13" name="Rectangle 12"/>
          <p:cNvSpPr/>
          <p:nvPr/>
        </p:nvSpPr>
        <p:spPr>
          <a:xfrm>
            <a:off x="594360" y="4123944"/>
            <a:ext cx="11002975" cy="786384"/>
          </a:xfrm>
          <a:prstGeom prst="rect">
            <a:avLst/>
          </a:prstGeom>
          <a:pattFill>
            <a:fgClr>
              <a:srgbClr val="E9ECF1"/>
            </a:fgClr>
            <a:bgClr>
              <a:srgbClr val="FFFFFF"/>
            </a:bgClr>
          </a:patt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7512" y="4197096"/>
            <a:ext cx="3399434" cy="658368"/>
          </a:xfrm>
          <a:prstGeom prst="rect">
            <a:avLst/>
          </a:prstGeom>
          <a:noFill/>
        </p:spPr>
        <p:txBody>
          <a:bodyPr wrap="square" lIns="0" rIns="0" tIns="0" bIns="0" anchor="t">
            <a:spAutoFit/>
          </a:bodyPr>
          <a:lstStyle/>
          <a:p>
            <a:pPr algn="l"/>
            <a:r>
              <a:rPr sz="1300" b="0" i="0">
                <a:solidFill>
                  <a:srgbClr val="1F2A44"/>
                </a:solidFill>
                <a:latin typeface="Calibri"/>
              </a:rPr>
              <a:t>Semantic similarity between candidate datasets and the market</a:t>
            </a:r>
          </a:p>
        </p:txBody>
      </p:sp>
      <p:sp>
        <p:nvSpPr>
          <p:cNvPr id="15" name="TextBox 14"/>
          <p:cNvSpPr txBox="1"/>
          <p:nvPr/>
        </p:nvSpPr>
        <p:spPr>
          <a:xfrm>
            <a:off x="4396130" y="4197096"/>
            <a:ext cx="3399434" cy="658368"/>
          </a:xfrm>
          <a:prstGeom prst="rect">
            <a:avLst/>
          </a:prstGeom>
          <a:noFill/>
        </p:spPr>
        <p:txBody>
          <a:bodyPr wrap="square" lIns="0" rIns="0" tIns="0" bIns="0" anchor="t">
            <a:spAutoFit/>
          </a:bodyPr>
          <a:lstStyle/>
          <a:p>
            <a:pPr algn="l"/>
            <a:r>
              <a:rPr sz="1300" b="0" i="0">
                <a:solidFill>
                  <a:srgbClr val="1F2A44"/>
                </a:solidFill>
                <a:latin typeface="Calibri"/>
              </a:rPr>
              <a:t>not measured; candidates are dimensional readiness only</a:t>
            </a:r>
          </a:p>
        </p:txBody>
      </p:sp>
      <p:sp>
        <p:nvSpPr>
          <p:cNvPr id="16" name="TextBox 15"/>
          <p:cNvSpPr txBox="1"/>
          <p:nvPr/>
        </p:nvSpPr>
        <p:spPr>
          <a:xfrm>
            <a:off x="8124748" y="4197096"/>
            <a:ext cx="3399434" cy="658368"/>
          </a:xfrm>
          <a:prstGeom prst="rect">
            <a:avLst/>
          </a:prstGeom>
          <a:noFill/>
        </p:spPr>
        <p:txBody>
          <a:bodyPr wrap="square" lIns="0" rIns="0" tIns="0" bIns="0" anchor="t">
            <a:spAutoFit/>
          </a:bodyPr>
          <a:lstStyle/>
          <a:p>
            <a:pPr algn="l"/>
            <a:r>
              <a:rPr sz="1300" b="0" i="0">
                <a:solidFill>
                  <a:srgbClr val="1F2A44"/>
                </a:solidFill>
                <a:latin typeface="Calibri"/>
              </a:rPr>
              <a:t>a buyer-side review of each candidate against its intended use</a:t>
            </a:r>
          </a:p>
        </p:txBody>
      </p:sp>
      <p:sp>
        <p:nvSpPr>
          <p:cNvPr id="17" name="Rectangle 16"/>
          <p:cNvSpPr/>
          <p:nvPr/>
        </p:nvSpPr>
        <p:spPr>
          <a:xfrm>
            <a:off x="594360" y="5001768"/>
            <a:ext cx="11002975" cy="786384"/>
          </a:xfrm>
          <a:prstGeom prst="rect">
            <a:avLst/>
          </a:prstGeom>
          <a:pattFill>
            <a:fgClr>
              <a:srgbClr val="E9ECF1"/>
            </a:fgClr>
            <a:bgClr>
              <a:srgbClr val="FFFFFF"/>
            </a:bgClr>
          </a:patt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67512" y="5074920"/>
            <a:ext cx="3399434" cy="658368"/>
          </a:xfrm>
          <a:prstGeom prst="rect">
            <a:avLst/>
          </a:prstGeom>
          <a:noFill/>
        </p:spPr>
        <p:txBody>
          <a:bodyPr wrap="square" lIns="0" rIns="0" tIns="0" bIns="0" anchor="t">
            <a:spAutoFit/>
          </a:bodyPr>
          <a:lstStyle/>
          <a:p>
            <a:pPr algn="l"/>
            <a:r>
              <a:rPr sz="1300" b="0" i="0">
                <a:solidFill>
                  <a:srgbClr val="1F2A44"/>
                </a:solidFill>
                <a:latin typeface="Calibri"/>
              </a:rPr>
              <a:t>Connection artists_app</a:t>
            </a:r>
          </a:p>
        </p:txBody>
      </p:sp>
      <p:sp>
        <p:nvSpPr>
          <p:cNvPr id="19" name="TextBox 18"/>
          <p:cNvSpPr txBox="1"/>
          <p:nvPr/>
        </p:nvSpPr>
        <p:spPr>
          <a:xfrm>
            <a:off x="4396130" y="5074920"/>
            <a:ext cx="3399434" cy="658368"/>
          </a:xfrm>
          <a:prstGeom prst="rect">
            <a:avLst/>
          </a:prstGeom>
          <a:noFill/>
        </p:spPr>
        <p:txBody>
          <a:bodyPr wrap="square" lIns="0" rIns="0" tIns="0" bIns="0" anchor="t">
            <a:spAutoFit/>
          </a:bodyPr>
          <a:lstStyle/>
          <a:p>
            <a:pPr algn="l"/>
            <a:r>
              <a:rPr sz="1300" b="0" i="0">
                <a:solidFill>
                  <a:srgbClr val="1F2A44"/>
                </a:solidFill>
                <a:latin typeface="Calibri"/>
              </a:rPr>
              <a:t>could not be read (MySQL GRANT pending)</a:t>
            </a:r>
          </a:p>
        </p:txBody>
      </p:sp>
      <p:sp>
        <p:nvSpPr>
          <p:cNvPr id="20" name="TextBox 19"/>
          <p:cNvSpPr txBox="1"/>
          <p:nvPr/>
        </p:nvSpPr>
        <p:spPr>
          <a:xfrm>
            <a:off x="8124748" y="5074920"/>
            <a:ext cx="3399434" cy="658368"/>
          </a:xfrm>
          <a:prstGeom prst="rect">
            <a:avLst/>
          </a:prstGeom>
          <a:noFill/>
        </p:spPr>
        <p:txBody>
          <a:bodyPr wrap="square" lIns="0" rIns="0" tIns="0" bIns="0" anchor="t">
            <a:spAutoFit/>
          </a:bodyPr>
          <a:lstStyle/>
          <a:p>
            <a:pPr algn="l"/>
            <a:r>
              <a:rPr sz="1300" b="0" i="0">
                <a:solidFill>
                  <a:srgbClr val="1F2A44"/>
                </a:solidFill>
                <a:latin typeface="Calibri"/>
              </a:rPr>
              <a:t>owner grants read access; re-census</a:t>
            </a:r>
          </a:p>
        </p:txBody>
      </p:sp>
      <p:sp>
        <p:nvSpPr>
          <p:cNvPr id="21" name="Rectangle 20"/>
          <p:cNvSpPr/>
          <p:nvPr/>
        </p:nvSpPr>
        <p:spPr>
          <a:xfrm>
            <a:off x="594360" y="5879592"/>
            <a:ext cx="11002975" cy="786384"/>
          </a:xfrm>
          <a:prstGeom prst="rect">
            <a:avLst/>
          </a:prstGeom>
          <a:pattFill>
            <a:fgClr>
              <a:srgbClr val="E9ECF1"/>
            </a:fgClr>
            <a:bgClr>
              <a:srgbClr val="FFFFFF"/>
            </a:bgClr>
          </a:patt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7512" y="5952744"/>
            <a:ext cx="3399434" cy="658368"/>
          </a:xfrm>
          <a:prstGeom prst="rect">
            <a:avLst/>
          </a:prstGeom>
          <a:noFill/>
        </p:spPr>
        <p:txBody>
          <a:bodyPr wrap="square" lIns="0" rIns="0" tIns="0" bIns="0" anchor="t">
            <a:spAutoFit/>
          </a:bodyPr>
          <a:lstStyle/>
          <a:p>
            <a:pPr algn="l"/>
            <a:r>
              <a:rPr sz="1300" b="0" i="0">
                <a:solidFill>
                  <a:srgbClr val="1F2A44"/>
                </a:solidFill>
                <a:latin typeface="Calibri"/>
              </a:rPr>
              <a:t>NAS duplication</a:t>
            </a:r>
          </a:p>
        </p:txBody>
      </p:sp>
      <p:sp>
        <p:nvSpPr>
          <p:cNvPr id="23" name="TextBox 22"/>
          <p:cNvSpPr txBox="1"/>
          <p:nvPr/>
        </p:nvSpPr>
        <p:spPr>
          <a:xfrm>
            <a:off x="4396130" y="5952744"/>
            <a:ext cx="3399434" cy="658368"/>
          </a:xfrm>
          <a:prstGeom prst="rect">
            <a:avLst/>
          </a:prstGeom>
          <a:noFill/>
        </p:spPr>
        <p:txBody>
          <a:bodyPr wrap="square" lIns="0" rIns="0" tIns="0" bIns="0" anchor="t">
            <a:spAutoFit/>
          </a:bodyPr>
          <a:lstStyle/>
          <a:p>
            <a:pPr algn="l"/>
            <a:r>
              <a:rPr sz="1300" b="0" i="0">
                <a:solidFill>
                  <a:srgbClr val="1F2A44"/>
                </a:solidFill>
                <a:latin typeface="Calibri"/>
              </a:rPr>
              <a:t>the enumeration recorded sizes and dates, not content fingerprints</a:t>
            </a:r>
          </a:p>
        </p:txBody>
      </p:sp>
      <p:sp>
        <p:nvSpPr>
          <p:cNvPr id="24" name="TextBox 23"/>
          <p:cNvSpPr txBox="1"/>
          <p:nvPr/>
        </p:nvSpPr>
        <p:spPr>
          <a:xfrm>
            <a:off x="8124748" y="5952744"/>
            <a:ext cx="3399434" cy="658368"/>
          </a:xfrm>
          <a:prstGeom prst="rect">
            <a:avLst/>
          </a:prstGeom>
          <a:noFill/>
        </p:spPr>
        <p:txBody>
          <a:bodyPr wrap="square" lIns="0" rIns="0" tIns="0" bIns="0" anchor="t">
            <a:spAutoFit/>
          </a:bodyPr>
          <a:lstStyle/>
          <a:p>
            <a:pPr algn="l"/>
            <a:r>
              <a:rPr sz="1300" b="0" i="0">
                <a:solidFill>
                  <a:srgbClr val="1F2A44"/>
                </a:solidFill>
                <a:latin typeface="Calibri"/>
              </a:rPr>
              <a:t>a fingerprinting pass over the NAS shares</a:t>
            </a:r>
          </a:p>
        </p:txBody>
      </p:sp>
      <p:sp>
        <p:nvSpPr>
          <p:cNvPr id="25" name="Rectangle 24"/>
          <p:cNvSpPr/>
          <p:nvPr/>
        </p:nvSpPr>
        <p:spPr>
          <a:xfrm>
            <a:off x="594360" y="6757416"/>
            <a:ext cx="11002975" cy="786384"/>
          </a:xfrm>
          <a:prstGeom prst="rect">
            <a:avLst/>
          </a:prstGeom>
          <a:pattFill>
            <a:fgClr>
              <a:srgbClr val="E9ECF1"/>
            </a:fgClr>
            <a:bgClr>
              <a:srgbClr val="FFFFFF"/>
            </a:bgClr>
          </a:patt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67512" y="6830568"/>
            <a:ext cx="3399434" cy="658368"/>
          </a:xfrm>
          <a:prstGeom prst="rect">
            <a:avLst/>
          </a:prstGeom>
          <a:noFill/>
        </p:spPr>
        <p:txBody>
          <a:bodyPr wrap="square" lIns="0" rIns="0" tIns="0" bIns="0" anchor="t">
            <a:spAutoFit/>
          </a:bodyPr>
          <a:lstStyle/>
          <a:p>
            <a:pPr algn="l"/>
            <a:r>
              <a:rPr sz="1300" b="0" i="0">
                <a:solidFill>
                  <a:srgbClr val="1F2A44"/>
                </a:solidFill>
                <a:latin typeface="Calibri"/>
              </a:rPr>
              <a:t>40 of 106 OBS buckets</a:t>
            </a:r>
          </a:p>
        </p:txBody>
      </p:sp>
      <p:sp>
        <p:nvSpPr>
          <p:cNvPr id="27" name="TextBox 26"/>
          <p:cNvSpPr txBox="1"/>
          <p:nvPr/>
        </p:nvSpPr>
        <p:spPr>
          <a:xfrm>
            <a:off x="4396130" y="6830568"/>
            <a:ext cx="3399434" cy="658368"/>
          </a:xfrm>
          <a:prstGeom prst="rect">
            <a:avLst/>
          </a:prstGeom>
          <a:noFill/>
        </p:spPr>
        <p:txBody>
          <a:bodyPr wrap="square" lIns="0" rIns="0" tIns="0" bIns="0" anchor="t">
            <a:spAutoFit/>
          </a:bodyPr>
          <a:lstStyle/>
          <a:p>
            <a:pPr algn="l"/>
            <a:r>
              <a:rPr sz="1300" b="0" i="0">
                <a:solidFill>
                  <a:srgbClr val="1F2A44"/>
                </a:solidFill>
                <a:latin typeface="Calibri"/>
              </a:rPr>
              <a:t>unreachable (NoSuchBucket / client errors)</a:t>
            </a:r>
          </a:p>
        </p:txBody>
      </p:sp>
      <p:sp>
        <p:nvSpPr>
          <p:cNvPr id="28" name="TextBox 27"/>
          <p:cNvSpPr txBox="1"/>
          <p:nvPr/>
        </p:nvSpPr>
        <p:spPr>
          <a:xfrm>
            <a:off x="8124748" y="6830568"/>
            <a:ext cx="3399434" cy="658368"/>
          </a:xfrm>
          <a:prstGeom prst="rect">
            <a:avLst/>
          </a:prstGeom>
          <a:noFill/>
        </p:spPr>
        <p:txBody>
          <a:bodyPr wrap="square" lIns="0" rIns="0" tIns="0" bIns="0" anchor="t">
            <a:spAutoFit/>
          </a:bodyPr>
          <a:lstStyle/>
          <a:p>
            <a:pPr algn="l"/>
            <a:r>
              <a:rPr sz="1300" b="0" i="0">
                <a:solidFill>
                  <a:srgbClr val="1F2A44"/>
                </a:solidFill>
                <a:latin typeface="Calibri"/>
              </a:rPr>
              <a:t>bucket inventory reconciled with the provider</a:t>
            </a:r>
          </a:p>
        </p:txBody>
      </p:sp>
      <p:sp>
        <p:nvSpPr>
          <p:cNvPr id="29" name="Rectangle 28"/>
          <p:cNvSpPr/>
          <p:nvPr/>
        </p:nvSpPr>
        <p:spPr>
          <a:xfrm>
            <a:off x="594360" y="7635240"/>
            <a:ext cx="11002975" cy="786384"/>
          </a:xfrm>
          <a:prstGeom prst="rect">
            <a:avLst/>
          </a:prstGeom>
          <a:pattFill>
            <a:fgClr>
              <a:srgbClr val="E9ECF1"/>
            </a:fgClr>
            <a:bgClr>
              <a:srgbClr val="FFFFFF"/>
            </a:bgClr>
          </a:patt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67512" y="7708392"/>
            <a:ext cx="3399434" cy="658368"/>
          </a:xfrm>
          <a:prstGeom prst="rect">
            <a:avLst/>
          </a:prstGeom>
          <a:noFill/>
        </p:spPr>
        <p:txBody>
          <a:bodyPr wrap="square" lIns="0" rIns="0" tIns="0" bIns="0" anchor="t">
            <a:spAutoFit/>
          </a:bodyPr>
          <a:lstStyle/>
          <a:p>
            <a:pPr algn="l"/>
            <a:r>
              <a:rPr sz="1300" b="0" i="0">
                <a:solidFill>
                  <a:srgbClr val="1F2A44"/>
                </a:solidFill>
                <a:latin typeface="Calibri"/>
              </a:rPr>
              <a:t>Language of each news script</a:t>
            </a:r>
          </a:p>
        </p:txBody>
      </p:sp>
      <p:sp>
        <p:nvSpPr>
          <p:cNvPr id="31" name="TextBox 30"/>
          <p:cNvSpPr txBox="1"/>
          <p:nvPr/>
        </p:nvSpPr>
        <p:spPr>
          <a:xfrm>
            <a:off x="4396130" y="7708392"/>
            <a:ext cx="3399434" cy="658368"/>
          </a:xfrm>
          <a:prstGeom prst="rect">
            <a:avLst/>
          </a:prstGeom>
          <a:noFill/>
        </p:spPr>
        <p:txBody>
          <a:bodyPr wrap="square" lIns="0" rIns="0" tIns="0" bIns="0" anchor="t">
            <a:spAutoFit/>
          </a:bodyPr>
          <a:lstStyle/>
          <a:p>
            <a:pPr algn="l"/>
            <a:r>
              <a:rPr sz="1300" b="0" i="0">
                <a:solidFill>
                  <a:srgbClr val="1F2A44"/>
                </a:solidFill>
                <a:latin typeface="Calibri"/>
              </a:rPr>
              <a:t>the scripts were counted and sized, not read; the language shown is the station's broadcast language from the estate's own table</a:t>
            </a:r>
          </a:p>
        </p:txBody>
      </p:sp>
      <p:sp>
        <p:nvSpPr>
          <p:cNvPr id="32" name="TextBox 31"/>
          <p:cNvSpPr txBox="1"/>
          <p:nvPr/>
        </p:nvSpPr>
        <p:spPr>
          <a:xfrm>
            <a:off x="8124748" y="7708392"/>
            <a:ext cx="3399434" cy="658368"/>
          </a:xfrm>
          <a:prstGeom prst="rect">
            <a:avLst/>
          </a:prstGeom>
          <a:noFill/>
        </p:spPr>
        <p:txBody>
          <a:bodyPr wrap="square" lIns="0" rIns="0" tIns="0" bIns="0" anchor="t">
            <a:spAutoFit/>
          </a:bodyPr>
          <a:lstStyle/>
          <a:p>
            <a:pPr algn="l"/>
            <a:r>
              <a:rPr sz="1300" b="0" i="0">
                <a:solidFill>
                  <a:srgbClr val="1F2A44"/>
                </a:solidFill>
                <a:latin typeface="Calibri"/>
              </a:rPr>
              <a:t>a text-model pass over the script column under the same aggregate-only seam</a:t>
            </a:r>
          </a:p>
        </p:txBody>
      </p:sp>
      <p:sp>
        <p:nvSpPr>
          <p:cNvPr id="33" name="Rectangle 32"/>
          <p:cNvSpPr/>
          <p:nvPr/>
        </p:nvSpPr>
        <p:spPr>
          <a:xfrm>
            <a:off x="594360" y="8513063"/>
            <a:ext cx="11002975" cy="786384"/>
          </a:xfrm>
          <a:prstGeom prst="rect">
            <a:avLst/>
          </a:prstGeom>
          <a:pattFill>
            <a:fgClr>
              <a:srgbClr val="E9ECF1"/>
            </a:fgClr>
            <a:bgClr>
              <a:srgbClr val="FFFFFF"/>
            </a:bgClr>
          </a:patt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67512" y="8586215"/>
            <a:ext cx="3399434" cy="658368"/>
          </a:xfrm>
          <a:prstGeom prst="rect">
            <a:avLst/>
          </a:prstGeom>
          <a:noFill/>
        </p:spPr>
        <p:txBody>
          <a:bodyPr wrap="square" lIns="0" rIns="0" tIns="0" bIns="0" anchor="t">
            <a:spAutoFit/>
          </a:bodyPr>
          <a:lstStyle/>
          <a:p>
            <a:pPr algn="l"/>
            <a:r>
              <a:rPr sz="1300" b="0" i="0">
                <a:solidFill>
                  <a:srgbClr val="1F2A44"/>
                </a:solidFill>
                <a:latin typeface="Calibri"/>
              </a:rPr>
              <a:t>Overlap between the workbench recordings and the staged corpus</a:t>
            </a:r>
          </a:p>
        </p:txBody>
      </p:sp>
      <p:sp>
        <p:nvSpPr>
          <p:cNvPr id="35" name="TextBox 34"/>
          <p:cNvSpPr txBox="1"/>
          <p:nvPr/>
        </p:nvSpPr>
        <p:spPr>
          <a:xfrm>
            <a:off x="4396130" y="8586215"/>
            <a:ext cx="3399434" cy="658368"/>
          </a:xfrm>
          <a:prstGeom prst="rect">
            <a:avLst/>
          </a:prstGeom>
          <a:noFill/>
        </p:spPr>
        <p:txBody>
          <a:bodyPr wrap="square" lIns="0" rIns="0" tIns="0" bIns="0" anchor="t">
            <a:spAutoFit/>
          </a:bodyPr>
          <a:lstStyle/>
          <a:p>
            <a:pPr algn="l"/>
            <a:r>
              <a:rPr sz="1300" b="0" i="0">
                <a:solidFill>
                  <a:srgbClr val="1F2A44"/>
                </a:solidFill>
                <a:latin typeface="Calibri"/>
              </a:rPr>
              <a:t>both inventories were counted on their own; no file-level join was made</a:t>
            </a:r>
          </a:p>
        </p:txBody>
      </p:sp>
      <p:sp>
        <p:nvSpPr>
          <p:cNvPr id="36" name="TextBox 35"/>
          <p:cNvSpPr txBox="1"/>
          <p:nvPr/>
        </p:nvSpPr>
        <p:spPr>
          <a:xfrm>
            <a:off x="8124748" y="8586215"/>
            <a:ext cx="3399434" cy="658368"/>
          </a:xfrm>
          <a:prstGeom prst="rect">
            <a:avLst/>
          </a:prstGeom>
          <a:noFill/>
        </p:spPr>
        <p:txBody>
          <a:bodyPr wrap="square" lIns="0" rIns="0" tIns="0" bIns="0" anchor="t">
            <a:spAutoFit/>
          </a:bodyPr>
          <a:lstStyle/>
          <a:p>
            <a:pPr algn="l"/>
            <a:r>
              <a:rPr sz="1300" b="0" i="0">
                <a:solidFill>
                  <a:srgbClr val="1F2A44"/>
                </a:solidFill>
                <a:latin typeface="Calibri"/>
              </a:rPr>
              <a:t>a hash join of workbench file locations against the staged corpus paths</a:t>
            </a:r>
          </a:p>
        </p:txBody>
      </p:sp>
      <p:sp>
        <p:nvSpPr>
          <p:cNvPr id="37" name="Rectangle 36"/>
          <p:cNvSpPr/>
          <p:nvPr/>
        </p:nvSpPr>
        <p:spPr>
          <a:xfrm>
            <a:off x="594360" y="9390888"/>
            <a:ext cx="11002975" cy="786384"/>
          </a:xfrm>
          <a:prstGeom prst="rect">
            <a:avLst/>
          </a:prstGeom>
          <a:pattFill>
            <a:fgClr>
              <a:srgbClr val="E9ECF1"/>
            </a:fgClr>
            <a:bgClr>
              <a:srgbClr val="FFFFFF"/>
            </a:bgClr>
          </a:patt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67512" y="9464040"/>
            <a:ext cx="3399434" cy="658368"/>
          </a:xfrm>
          <a:prstGeom prst="rect">
            <a:avLst/>
          </a:prstGeom>
          <a:noFill/>
        </p:spPr>
        <p:txBody>
          <a:bodyPr wrap="square" lIns="0" rIns="0" tIns="0" bIns="0" anchor="t">
            <a:spAutoFit/>
          </a:bodyPr>
          <a:lstStyle/>
          <a:p>
            <a:pPr algn="l"/>
            <a:r>
              <a:rPr sz="1300" b="0" i="0">
                <a:solidFill>
                  <a:srgbClr val="1F2A44"/>
                </a:solidFill>
                <a:latin typeface="Calibri"/>
              </a:rPr>
              <a:t>A completed high-confidence content census of every readable folder</a:t>
            </a:r>
          </a:p>
        </p:txBody>
      </p:sp>
      <p:sp>
        <p:nvSpPr>
          <p:cNvPr id="39" name="TextBox 38"/>
          <p:cNvSpPr txBox="1"/>
          <p:nvPr/>
        </p:nvSpPr>
        <p:spPr>
          <a:xfrm>
            <a:off x="4396130" y="9464040"/>
            <a:ext cx="3399434" cy="658368"/>
          </a:xfrm>
          <a:prstGeom prst="rect">
            <a:avLst/>
          </a:prstGeom>
          <a:noFill/>
        </p:spPr>
        <p:txBody>
          <a:bodyPr wrap="square" lIns="0" rIns="0" tIns="0" bIns="0" anchor="t">
            <a:spAutoFit/>
          </a:bodyPr>
          <a:lstStyle/>
          <a:p>
            <a:pPr algn="l"/>
            <a:r>
              <a:rPr sz="1300" b="0" i="0">
                <a:solidFill>
                  <a:srgbClr val="1F2A44"/>
                </a:solidFill>
                <a:latin typeface="Calibri"/>
              </a:rPr>
              <a:t>Header probing and planned samples are incomplete; current estimates cover only strata with usable evidence, not unsampled folders or inaccessible stores</a:t>
            </a:r>
          </a:p>
        </p:txBody>
      </p:sp>
      <p:sp>
        <p:nvSpPr>
          <p:cNvPr id="40" name="TextBox 39"/>
          <p:cNvSpPr txBox="1"/>
          <p:nvPr/>
        </p:nvSpPr>
        <p:spPr>
          <a:xfrm>
            <a:off x="8124748" y="9464040"/>
            <a:ext cx="3399434" cy="658368"/>
          </a:xfrm>
          <a:prstGeom prst="rect">
            <a:avLst/>
          </a:prstGeom>
          <a:noFill/>
        </p:spPr>
        <p:txBody>
          <a:bodyPr wrap="square" lIns="0" rIns="0" tIns="0" bIns="0" anchor="t">
            <a:spAutoFit/>
          </a:bodyPr>
          <a:lstStyle/>
          <a:p>
            <a:pPr algn="l"/>
            <a:r>
              <a:rPr sz="1300" b="0" i="0">
                <a:solidFill>
                  <a:srgbClr val="1F2A44"/>
                </a:solidFill>
                <a:latin typeface="Calibri"/>
              </a:rPr>
              <a:t>complete the existing per-folder samples; prioritise high-volume and wide-interval strata; report read failures and coverage before combining totals</a:t>
            </a:r>
          </a:p>
        </p:txBody>
      </p:sp>
      <p:sp>
        <p:nvSpPr>
          <p:cNvPr id="41" name="Rectangle 40"/>
          <p:cNvSpPr/>
          <p:nvPr/>
        </p:nvSpPr>
        <p:spPr>
          <a:xfrm>
            <a:off x="594360" y="10268712"/>
            <a:ext cx="11002975" cy="786384"/>
          </a:xfrm>
          <a:prstGeom prst="rect">
            <a:avLst/>
          </a:prstGeom>
          <a:pattFill>
            <a:fgClr>
              <a:srgbClr val="E9ECF1"/>
            </a:fgClr>
            <a:bgClr>
              <a:srgbClr val="FFFFFF"/>
            </a:bgClr>
          </a:patt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67512" y="10341864"/>
            <a:ext cx="3399434" cy="658368"/>
          </a:xfrm>
          <a:prstGeom prst="rect">
            <a:avLst/>
          </a:prstGeom>
          <a:noFill/>
        </p:spPr>
        <p:txBody>
          <a:bodyPr wrap="square" lIns="0" rIns="0" tIns="0" bIns="0" anchor="t">
            <a:spAutoFit/>
          </a:bodyPr>
          <a:lstStyle/>
          <a:p>
            <a:pPr algn="l"/>
            <a:r>
              <a:rPr sz="1300" b="0" i="0">
                <a:solidFill>
                  <a:srgbClr val="1F2A44"/>
                </a:solidFill>
                <a:latin typeface="Calibri"/>
              </a:rPr>
              <a:t>Human-verified speech, music, silence and language quantities</a:t>
            </a:r>
          </a:p>
        </p:txBody>
      </p:sp>
      <p:sp>
        <p:nvSpPr>
          <p:cNvPr id="43" name="TextBox 42"/>
          <p:cNvSpPr txBox="1"/>
          <p:nvPr/>
        </p:nvSpPr>
        <p:spPr>
          <a:xfrm>
            <a:off x="4396130" y="10341864"/>
            <a:ext cx="3399434" cy="658368"/>
          </a:xfrm>
          <a:prstGeom prst="rect">
            <a:avLst/>
          </a:prstGeom>
          <a:noFill/>
        </p:spPr>
        <p:txBody>
          <a:bodyPr wrap="square" lIns="0" rIns="0" tIns="0" bIns="0" anchor="t">
            <a:spAutoFit/>
          </a:bodyPr>
          <a:lstStyle/>
          <a:p>
            <a:pPr algn="l"/>
            <a:r>
              <a:rPr sz="1300" b="0" i="0">
                <a:solidFill>
                  <a:srgbClr val="1F2A44"/>
                </a:solidFill>
                <a:latin typeface="Calibri"/>
              </a:rPr>
              <a:t>Sampling intervals quantify random sampling uncertainty only; model errors, nonresponse and duration-estimation bias are not included. Separate estimators need not sum to the header total</a:t>
            </a:r>
          </a:p>
        </p:txBody>
      </p:sp>
      <p:sp>
        <p:nvSpPr>
          <p:cNvPr id="44" name="TextBox 43"/>
          <p:cNvSpPr txBox="1"/>
          <p:nvPr/>
        </p:nvSpPr>
        <p:spPr>
          <a:xfrm>
            <a:off x="8124748" y="10341864"/>
            <a:ext cx="3399434" cy="658368"/>
          </a:xfrm>
          <a:prstGeom prst="rect">
            <a:avLst/>
          </a:prstGeom>
          <a:noFill/>
        </p:spPr>
        <p:txBody>
          <a:bodyPr wrap="square" lIns="0" rIns="0" tIns="0" bIns="0" anchor="t">
            <a:spAutoFit/>
          </a:bodyPr>
          <a:lstStyle/>
          <a:p>
            <a:pPr algn="l"/>
            <a:r>
              <a:rPr sz="1300" b="0" i="0">
                <a:solidFill>
                  <a:srgbClr val="1F2A44"/>
                </a:solidFill>
                <a:latin typeface="Calibri"/>
              </a:rPr>
              <a:t>independent stratified human checks including abstentions and low-confidence cases; calibrate model errors and reconcile header versus decoded durations</a:t>
            </a:r>
          </a:p>
        </p:txBody>
      </p:sp>
      <p:sp>
        <p:nvSpPr>
          <p:cNvPr id="45" name="Rectangle 44"/>
          <p:cNvSpPr/>
          <p:nvPr/>
        </p:nvSpPr>
        <p:spPr>
          <a:xfrm>
            <a:off x="594360" y="11146536"/>
            <a:ext cx="11002975" cy="786384"/>
          </a:xfrm>
          <a:prstGeom prst="rect">
            <a:avLst/>
          </a:prstGeom>
          <a:pattFill>
            <a:fgClr>
              <a:srgbClr val="E9ECF1"/>
            </a:fgClr>
            <a:bgClr>
              <a:srgbClr val="FFFFFF"/>
            </a:bgClr>
          </a:patt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67512" y="11219688"/>
            <a:ext cx="3399434" cy="658368"/>
          </a:xfrm>
          <a:prstGeom prst="rect">
            <a:avLst/>
          </a:prstGeom>
          <a:noFill/>
        </p:spPr>
        <p:txBody>
          <a:bodyPr wrap="square" lIns="0" rIns="0" tIns="0" bIns="0" anchor="t">
            <a:spAutoFit/>
          </a:bodyPr>
          <a:lstStyle/>
          <a:p>
            <a:pPr algn="l"/>
            <a:r>
              <a:rPr sz="1300" b="0" i="0">
                <a:solidFill>
                  <a:srgbClr val="1F2A44"/>
                </a:solidFill>
                <a:latin typeface="Calibri"/>
              </a:rPr>
              <a:t>Estate-wide archive share and invoice-backed net tiering savings</a:t>
            </a:r>
          </a:p>
        </p:txBody>
      </p:sp>
      <p:sp>
        <p:nvSpPr>
          <p:cNvPr id="47" name="TextBox 46"/>
          <p:cNvSpPr txBox="1"/>
          <p:nvPr/>
        </p:nvSpPr>
        <p:spPr>
          <a:xfrm>
            <a:off x="4396130" y="11219688"/>
            <a:ext cx="3399434" cy="658368"/>
          </a:xfrm>
          <a:prstGeom prst="rect">
            <a:avLst/>
          </a:prstGeom>
          <a:noFill/>
        </p:spPr>
        <p:txBody>
          <a:bodyPr wrap="square" lIns="0" rIns="0" tIns="0" bIns="0" anchor="t">
            <a:spAutoFit/>
          </a:bodyPr>
          <a:lstStyle/>
          <a:p>
            <a:pPr algn="l"/>
            <a:r>
              <a:rPr sz="1300" b="0" i="0">
                <a:solidFill>
                  <a:srgbClr val="1F2A44"/>
                </a:solidFill>
                <a:latin typeface="Calibri"/>
              </a:rPr>
              <a:t>Storage-class metadata covers only a subset; historic full-Standard-price scenarios are not updated invoice savings and omit retrieval and restore costs</a:t>
            </a:r>
          </a:p>
        </p:txBody>
      </p:sp>
      <p:sp>
        <p:nvSpPr>
          <p:cNvPr id="48" name="TextBox 47"/>
          <p:cNvSpPr txBox="1"/>
          <p:nvPr/>
        </p:nvSpPr>
        <p:spPr>
          <a:xfrm>
            <a:off x="8124748" y="11219688"/>
            <a:ext cx="3399434" cy="658368"/>
          </a:xfrm>
          <a:prstGeom prst="rect">
            <a:avLst/>
          </a:prstGeom>
          <a:noFill/>
        </p:spPr>
        <p:txBody>
          <a:bodyPr wrap="square" lIns="0" rIns="0" tIns="0" bIns="0" anchor="t">
            <a:spAutoFit/>
          </a:bodyPr>
          <a:lstStyle/>
          <a:p>
            <a:pPr algn="l"/>
            <a:r>
              <a:rPr sz="1300" b="0" i="0">
                <a:solidFill>
                  <a:srgbClr val="1F2A44"/>
                </a:solidFill>
                <a:latin typeface="Calibri"/>
              </a:rPr>
              <a:t>collect class metadata and read demand per bucket, then reprice only confirmed eligible Standard bytes using actual storage, retrieval and restore tariffs</a:t>
            </a:r>
          </a:p>
        </p:txBody>
      </p:sp>
      <p:sp>
        <p:nvSpPr>
          <p:cNvPr id="49" name="Rectangle 48"/>
          <p:cNvSpPr/>
          <p:nvPr/>
        </p:nvSpPr>
        <p:spPr>
          <a:xfrm>
            <a:off x="594360" y="12024360"/>
            <a:ext cx="11002975" cy="786384"/>
          </a:xfrm>
          <a:prstGeom prst="rect">
            <a:avLst/>
          </a:prstGeom>
          <a:pattFill>
            <a:fgClr>
              <a:srgbClr val="E9ECF1"/>
            </a:fgClr>
            <a:bgClr>
              <a:srgbClr val="FFFFFF"/>
            </a:bgClr>
          </a:patt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67512" y="12097512"/>
            <a:ext cx="3399434" cy="658368"/>
          </a:xfrm>
          <a:prstGeom prst="rect">
            <a:avLst/>
          </a:prstGeom>
          <a:noFill/>
        </p:spPr>
        <p:txBody>
          <a:bodyPr wrap="square" lIns="0" rIns="0" tIns="0" bIns="0" anchor="t">
            <a:spAutoFit/>
          </a:bodyPr>
          <a:lstStyle/>
          <a:p>
            <a:pPr algn="l"/>
            <a:r>
              <a:rPr sz="1300" b="0" i="0">
                <a:solidFill>
                  <a:srgbClr val="1F2A44"/>
                </a:solidFill>
                <a:latin typeface="Calibri"/>
              </a:rPr>
              <a:t>Hours, speech, music and languages in the 15 buckets that refuse object reads (4,173,626 media files, 120.71 TiB)</a:t>
            </a:r>
          </a:p>
        </p:txBody>
      </p:sp>
      <p:sp>
        <p:nvSpPr>
          <p:cNvPr id="51" name="TextBox 50"/>
          <p:cNvSpPr txBox="1"/>
          <p:nvPr/>
        </p:nvSpPr>
        <p:spPr>
          <a:xfrm>
            <a:off x="4396130" y="12097512"/>
            <a:ext cx="3399434" cy="658368"/>
          </a:xfrm>
          <a:prstGeom prst="rect">
            <a:avLst/>
          </a:prstGeom>
          <a:noFill/>
        </p:spPr>
        <p:txBody>
          <a:bodyPr wrap="square" lIns="0" rIns="0" tIns="0" bIns="0" anchor="t">
            <a:spAutoFit/>
          </a:bodyPr>
          <a:lstStyle/>
          <a:p>
            <a:pPr algn="l"/>
            <a:r>
              <a:rPr sz="1300" b="0" i="0">
                <a:solidFill>
                  <a:srgbClr val="1F2A44"/>
                </a:solidFill>
                <a:latin typeface="Calibri"/>
              </a:rPr>
              <a:t>the census key lists them but every HEAD and GET returns 403 AccessDenied</a:t>
            </a:r>
          </a:p>
        </p:txBody>
      </p:sp>
      <p:sp>
        <p:nvSpPr>
          <p:cNvPr id="52" name="TextBox 51"/>
          <p:cNvSpPr txBox="1"/>
          <p:nvPr/>
        </p:nvSpPr>
        <p:spPr>
          <a:xfrm>
            <a:off x="8124748" y="12097512"/>
            <a:ext cx="3399434" cy="658368"/>
          </a:xfrm>
          <a:prstGeom prst="rect">
            <a:avLst/>
          </a:prstGeom>
          <a:noFill/>
        </p:spPr>
        <p:txBody>
          <a:bodyPr wrap="square" lIns="0" rIns="0" tIns="0" bIns="0" anchor="t">
            <a:spAutoFit/>
          </a:bodyPr>
          <a:lstStyle/>
          <a:p>
            <a:pPr algn="l"/>
            <a:r>
              <a:rPr sz="1300" b="0" i="0">
                <a:solidFill>
                  <a:srgbClr val="1F2A44"/>
                </a:solidFill>
                <a:latin typeface="Calibri"/>
              </a:rPr>
              <a:t>an IAM or bucket-policy grant of obs:object:GetObject to the census key; the census re-probes every run and resumes by itself</a:t>
            </a:r>
          </a:p>
        </p:txBody>
      </p:sp>
      <p:sp>
        <p:nvSpPr>
          <p:cNvPr id="53" name="Rectangle 52"/>
          <p:cNvSpPr/>
          <p:nvPr/>
        </p:nvSpPr>
        <p:spPr>
          <a:xfrm>
            <a:off x="594360" y="12902184"/>
            <a:ext cx="11002975" cy="786384"/>
          </a:xfrm>
          <a:prstGeom prst="rect">
            <a:avLst/>
          </a:prstGeom>
          <a:pattFill>
            <a:fgClr>
              <a:srgbClr val="E9ECF1"/>
            </a:fgClr>
            <a:bgClr>
              <a:srgbClr val="FFFFFF"/>
            </a:bgClr>
          </a:patt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667512" y="12975336"/>
            <a:ext cx="3399434" cy="658368"/>
          </a:xfrm>
          <a:prstGeom prst="rect">
            <a:avLst/>
          </a:prstGeom>
          <a:noFill/>
        </p:spPr>
        <p:txBody>
          <a:bodyPr wrap="square" lIns="0" rIns="0" tIns="0" bIns="0" anchor="t">
            <a:spAutoFit/>
          </a:bodyPr>
          <a:lstStyle/>
          <a:p>
            <a:pPr algn="l"/>
            <a:r>
              <a:rPr sz="1300" b="0" i="0">
                <a:solidFill>
                  <a:srgbClr val="1F2A44"/>
                </a:solidFill>
                <a:latin typeface="Calibri"/>
              </a:rPr>
              <a:t>Content of the 2 buckets whose objects answer InvalidObjectState</a:t>
            </a:r>
          </a:p>
        </p:txBody>
      </p:sp>
      <p:sp>
        <p:nvSpPr>
          <p:cNvPr id="55" name="TextBox 54"/>
          <p:cNvSpPr txBox="1"/>
          <p:nvPr/>
        </p:nvSpPr>
        <p:spPr>
          <a:xfrm>
            <a:off x="4396130" y="12975336"/>
            <a:ext cx="3399434" cy="658368"/>
          </a:xfrm>
          <a:prstGeom prst="rect">
            <a:avLst/>
          </a:prstGeom>
          <a:noFill/>
        </p:spPr>
        <p:txBody>
          <a:bodyPr wrap="square" lIns="0" rIns="0" tIns="0" bIns="0" anchor="t">
            <a:spAutoFit/>
          </a:bodyPr>
          <a:lstStyle/>
          <a:p>
            <a:pPr algn="l"/>
            <a:r>
              <a:rPr sz="1300" b="0" i="0">
                <a:solidFill>
                  <a:srgbClr val="1F2A44"/>
                </a:solidFill>
                <a:latin typeface="Calibri"/>
              </a:rPr>
              <a:t>Archive class without direct read; a restore (with its fee) must precede any read</a:t>
            </a:r>
          </a:p>
        </p:txBody>
      </p:sp>
      <p:sp>
        <p:nvSpPr>
          <p:cNvPr id="56" name="TextBox 55"/>
          <p:cNvSpPr txBox="1"/>
          <p:nvPr/>
        </p:nvSpPr>
        <p:spPr>
          <a:xfrm>
            <a:off x="8124748" y="12975336"/>
            <a:ext cx="3399434" cy="658368"/>
          </a:xfrm>
          <a:prstGeom prst="rect">
            <a:avLst/>
          </a:prstGeom>
          <a:noFill/>
        </p:spPr>
        <p:txBody>
          <a:bodyPr wrap="square" lIns="0" rIns="0" tIns="0" bIns="0" anchor="t">
            <a:spAutoFit/>
          </a:bodyPr>
          <a:lstStyle/>
          <a:p>
            <a:pPr algn="l"/>
            <a:r>
              <a:rPr sz="1300" b="0" i="0">
                <a:solidFill>
                  <a:srgbClr val="1F2A44"/>
                </a:solidFill>
                <a:latin typeface="Calibri"/>
              </a:rPr>
              <a:t>an owner decision to restore, or to leave them counted only</a:t>
            </a:r>
          </a:p>
        </p:txBody>
      </p:sp>
      <p:sp>
        <p:nvSpPr>
          <p:cNvPr id="57" name="Rectangle 56"/>
          <p:cNvSpPr/>
          <p:nvPr/>
        </p:nvSpPr>
        <p:spPr>
          <a:xfrm>
            <a:off x="594360" y="13780008"/>
            <a:ext cx="11002975" cy="786384"/>
          </a:xfrm>
          <a:prstGeom prst="rect">
            <a:avLst/>
          </a:prstGeom>
          <a:pattFill>
            <a:fgClr>
              <a:srgbClr val="E9ECF1"/>
            </a:fgClr>
            <a:bgClr>
              <a:srgbClr val="FFFFFF"/>
            </a:bgClr>
          </a:patt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667512" y="13853160"/>
            <a:ext cx="3399434" cy="658368"/>
          </a:xfrm>
          <a:prstGeom prst="rect">
            <a:avLst/>
          </a:prstGeom>
          <a:noFill/>
        </p:spPr>
        <p:txBody>
          <a:bodyPr wrap="square" lIns="0" rIns="0" tIns="0" bIns="0" anchor="t">
            <a:spAutoFit/>
          </a:bodyPr>
          <a:lstStyle/>
          <a:p>
            <a:pPr algn="l"/>
            <a:r>
              <a:rPr sz="1300" b="0" i="0">
                <a:solidFill>
                  <a:srgbClr val="1F2A44"/>
                </a:solidFill>
                <a:latin typeface="Calibri"/>
              </a:rPr>
              <a:t>File-share hours and speech for the shares still listing or probing</a:t>
            </a:r>
          </a:p>
        </p:txBody>
      </p:sp>
      <p:sp>
        <p:nvSpPr>
          <p:cNvPr id="59" name="TextBox 58"/>
          <p:cNvSpPr txBox="1"/>
          <p:nvPr/>
        </p:nvSpPr>
        <p:spPr>
          <a:xfrm>
            <a:off x="4396130" y="13853160"/>
            <a:ext cx="3399434" cy="658368"/>
          </a:xfrm>
          <a:prstGeom prst="rect">
            <a:avLst/>
          </a:prstGeom>
          <a:noFill/>
        </p:spPr>
        <p:txBody>
          <a:bodyPr wrap="square" lIns="0" rIns="0" tIns="0" bIns="0" anchor="t">
            <a:spAutoFit/>
          </a:bodyPr>
          <a:lstStyle/>
          <a:p>
            <a:pPr algn="l"/>
            <a:r>
              <a:rPr sz="1300" b="0" i="0">
                <a:solidFill>
                  <a:srgbClr val="1F2A44"/>
                </a:solidFill>
                <a:latin typeface="Calibri"/>
              </a:rPr>
              <a:t>listing and header probes run through the jump host's SFTP; reads only in the off-peak window</a:t>
            </a:r>
          </a:p>
        </p:txBody>
      </p:sp>
      <p:sp>
        <p:nvSpPr>
          <p:cNvPr id="60" name="TextBox 59"/>
          <p:cNvSpPr txBox="1"/>
          <p:nvPr/>
        </p:nvSpPr>
        <p:spPr>
          <a:xfrm>
            <a:off x="8124748" y="13853160"/>
            <a:ext cx="3399434" cy="658368"/>
          </a:xfrm>
          <a:prstGeom prst="rect">
            <a:avLst/>
          </a:prstGeom>
          <a:noFill/>
        </p:spPr>
        <p:txBody>
          <a:bodyPr wrap="square" lIns="0" rIns="0" tIns="0" bIns="0" anchor="t">
            <a:spAutoFit/>
          </a:bodyPr>
          <a:lstStyle/>
          <a:p>
            <a:pPr algn="l"/>
            <a:r>
              <a:rPr sz="1300" b="0" i="0">
                <a:solidFill>
                  <a:srgbClr val="1F2A44"/>
                </a:solidFill>
                <a:latin typeface="Calibri"/>
              </a:rPr>
              <a:t>the running NAS chain (listing any hour; reads 20:00–06:00 EAT)</a:t>
            </a:r>
          </a:p>
        </p:txBody>
      </p:sp>
      <p:sp>
        <p:nvSpPr>
          <p:cNvPr id="61" name="TextBox 60"/>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62" name="TextBox 61"/>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63" name="TextBox 62"/>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72</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APPENDIX</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Exhibit index with receipts</a:t>
            </a:r>
          </a:p>
        </p:txBody>
      </p:sp>
      <p:sp>
        <p:nvSpPr>
          <p:cNvPr id="4" name="TextBox 3"/>
          <p:cNvSpPr txBox="1"/>
          <p:nvPr/>
        </p:nvSpPr>
        <p:spPr>
          <a:xfrm>
            <a:off x="594360" y="1920240"/>
            <a:ext cx="822960" cy="502920"/>
          </a:xfrm>
          <a:prstGeom prst="rect">
            <a:avLst/>
          </a:prstGeom>
          <a:noFill/>
        </p:spPr>
        <p:txBody>
          <a:bodyPr wrap="square" lIns="0" rIns="0" tIns="0" bIns="0" anchor="t">
            <a:spAutoFit/>
          </a:bodyPr>
          <a:lstStyle/>
          <a:p>
            <a:pPr algn="l"/>
            <a:r>
              <a:rPr sz="1400" b="1" i="0">
                <a:solidFill>
                  <a:srgbClr val="C8102E"/>
                </a:solidFill>
                <a:latin typeface="Courier New"/>
              </a:rPr>
              <a:t>R01</a:t>
            </a:r>
          </a:p>
        </p:txBody>
      </p:sp>
      <p:sp>
        <p:nvSpPr>
          <p:cNvPr id="5" name="TextBox 4"/>
          <p:cNvSpPr txBox="1"/>
          <p:nvPr/>
        </p:nvSpPr>
        <p:spPr>
          <a:xfrm>
            <a:off x="1508760" y="1920240"/>
            <a:ext cx="10088575" cy="502920"/>
          </a:xfrm>
          <a:prstGeom prst="rect">
            <a:avLst/>
          </a:prstGeom>
          <a:noFill/>
        </p:spPr>
        <p:txBody>
          <a:bodyPr wrap="square" lIns="0" rIns="0" tIns="0" bIns="0" anchor="t">
            <a:spAutoFit/>
          </a:bodyPr>
          <a:lstStyle/>
          <a:p>
            <a:pPr algn="l"/>
            <a:r>
              <a:rPr sz="1300" b="0" i="0">
                <a:solidFill>
                  <a:srgbClr val="1F2A44"/>
                </a:solidFill>
                <a:latin typeface="Calibri"/>
              </a:rPr>
              <a:t>Estate intelligence census eij-1b359b3cbd2e, digest-verified report (measured 2026-09-29), headline aggregates and per-database measures</a:t>
            </a:r>
          </a:p>
        </p:txBody>
      </p:sp>
      <p:cxnSp>
        <p:nvCxnSpPr>
          <p:cNvPr id="6" name="Connector 5"/>
          <p:cNvCxnSpPr/>
          <p:nvPr/>
        </p:nvCxnSpPr>
        <p:spPr>
          <a:xfrm>
            <a:off x="594360" y="2441448"/>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2560320"/>
            <a:ext cx="822960" cy="502920"/>
          </a:xfrm>
          <a:prstGeom prst="rect">
            <a:avLst/>
          </a:prstGeom>
          <a:noFill/>
        </p:spPr>
        <p:txBody>
          <a:bodyPr wrap="square" lIns="0" rIns="0" tIns="0" bIns="0" anchor="t">
            <a:spAutoFit/>
          </a:bodyPr>
          <a:lstStyle/>
          <a:p>
            <a:pPr algn="l"/>
            <a:r>
              <a:rPr sz="1400" b="1" i="0">
                <a:solidFill>
                  <a:srgbClr val="C8102E"/>
                </a:solidFill>
                <a:latin typeface="Courier New"/>
              </a:rPr>
              <a:t>R02</a:t>
            </a:r>
          </a:p>
        </p:txBody>
      </p:sp>
      <p:sp>
        <p:nvSpPr>
          <p:cNvPr id="8" name="TextBox 7"/>
          <p:cNvSpPr txBox="1"/>
          <p:nvPr/>
        </p:nvSpPr>
        <p:spPr>
          <a:xfrm>
            <a:off x="1508760" y="2560320"/>
            <a:ext cx="10088575" cy="502920"/>
          </a:xfrm>
          <a:prstGeom prst="rect">
            <a:avLst/>
          </a:prstGeom>
          <a:noFill/>
        </p:spPr>
        <p:txBody>
          <a:bodyPr wrap="square" lIns="0" rIns="0" tIns="0" bIns="0" anchor="t">
            <a:spAutoFit/>
          </a:bodyPr>
          <a:lstStyle/>
          <a:p>
            <a:pPr algn="l"/>
            <a:r>
              <a:rPr sz="1300" b="0" i="0">
                <a:solidFill>
                  <a:srgbClr val="1F2A44"/>
                </a:solidFill>
                <a:latin typeface="Calibri"/>
              </a:rPr>
              <a:t>Estate intelligence census eij-1b359b3cbd2e, cost_strategies priced at reference list prices, not the owner's invoice: Huawei Cloud RDS for MySQL cloud SSD AF-Johannesburg 0.00015 USD/GB-hour x 730 h; OBS Standard 0.023 USD/GB-month</a:t>
            </a:r>
          </a:p>
        </p:txBody>
      </p:sp>
      <p:cxnSp>
        <p:nvCxnSpPr>
          <p:cNvPr id="9" name="Connector 8"/>
          <p:cNvCxnSpPr/>
          <p:nvPr/>
        </p:nvCxnSpPr>
        <p:spPr>
          <a:xfrm>
            <a:off x="594360" y="3081528"/>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94360" y="3200400"/>
            <a:ext cx="822960" cy="365760"/>
          </a:xfrm>
          <a:prstGeom prst="rect">
            <a:avLst/>
          </a:prstGeom>
          <a:noFill/>
        </p:spPr>
        <p:txBody>
          <a:bodyPr wrap="square" lIns="0" rIns="0" tIns="0" bIns="0" anchor="t">
            <a:spAutoFit/>
          </a:bodyPr>
          <a:lstStyle/>
          <a:p>
            <a:pPr algn="l"/>
            <a:r>
              <a:rPr sz="1400" b="1" i="0">
                <a:solidFill>
                  <a:srgbClr val="C8102E"/>
                </a:solidFill>
                <a:latin typeface="Courier New"/>
              </a:rPr>
              <a:t>R03</a:t>
            </a:r>
          </a:p>
        </p:txBody>
      </p:sp>
      <p:sp>
        <p:nvSpPr>
          <p:cNvPr id="11" name="TextBox 10"/>
          <p:cNvSpPr txBox="1"/>
          <p:nvPr/>
        </p:nvSpPr>
        <p:spPr>
          <a:xfrm>
            <a:off x="1508760" y="3200400"/>
            <a:ext cx="10088575" cy="365760"/>
          </a:xfrm>
          <a:prstGeom prst="rect">
            <a:avLst/>
          </a:prstGeom>
          <a:noFill/>
        </p:spPr>
        <p:txBody>
          <a:bodyPr wrap="square" lIns="0" rIns="0" tIns="0" bIns="0" anchor="t">
            <a:spAutoFit/>
          </a:bodyPr>
          <a:lstStyle/>
          <a:p>
            <a:pPr algn="l"/>
            <a:r>
              <a:rPr sz="1300" b="0" i="0">
                <a:solidFill>
                  <a:srgbClr val="1F2A44"/>
                </a:solidFill>
                <a:latin typeface="Calibri"/>
              </a:rPr>
              <a:t>Estate intelligence census eij-1b359b3cbd2e, data_products readiness scoring (dimensions, grades, blockers)</a:t>
            </a:r>
          </a:p>
        </p:txBody>
      </p:sp>
      <p:cxnSp>
        <p:nvCxnSpPr>
          <p:cNvPr id="12" name="Connector 11"/>
          <p:cNvCxnSpPr/>
          <p:nvPr/>
        </p:nvCxnSpPr>
        <p:spPr>
          <a:xfrm>
            <a:off x="594360" y="3584448"/>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594360" y="3703320"/>
            <a:ext cx="822960" cy="365760"/>
          </a:xfrm>
          <a:prstGeom prst="rect">
            <a:avLst/>
          </a:prstGeom>
          <a:noFill/>
        </p:spPr>
        <p:txBody>
          <a:bodyPr wrap="square" lIns="0" rIns="0" tIns="0" bIns="0" anchor="t">
            <a:spAutoFit/>
          </a:bodyPr>
          <a:lstStyle/>
          <a:p>
            <a:pPr algn="l"/>
            <a:r>
              <a:rPr sz="1400" b="1" i="0">
                <a:solidFill>
                  <a:srgbClr val="C8102E"/>
                </a:solidFill>
                <a:latin typeface="Courier New"/>
              </a:rPr>
              <a:t>R04</a:t>
            </a:r>
          </a:p>
        </p:txBody>
      </p:sp>
      <p:sp>
        <p:nvSpPr>
          <p:cNvPr id="14" name="TextBox 13"/>
          <p:cNvSpPr txBox="1"/>
          <p:nvPr/>
        </p:nvSpPr>
        <p:spPr>
          <a:xfrm>
            <a:off x="1508760" y="3703320"/>
            <a:ext cx="10088575" cy="365760"/>
          </a:xfrm>
          <a:prstGeom prst="rect">
            <a:avLst/>
          </a:prstGeom>
          <a:noFill/>
        </p:spPr>
        <p:txBody>
          <a:bodyPr wrap="square" lIns="0" rIns="0" tIns="0" bIns="0" anchor="t">
            <a:spAutoFit/>
          </a:bodyPr>
          <a:lstStyle/>
          <a:p>
            <a:pPr algn="l"/>
            <a:r>
              <a:rPr sz="1300" b="0" i="0">
                <a:solidFill>
                  <a:srgbClr val="1F2A44"/>
                </a:solidFill>
                <a:latin typeface="Calibri"/>
              </a:rPr>
              <a:t>OBS bucket enumeration census run cr-f1415e395361 (22,997,353 objects, 130.8 TiB)</a:t>
            </a:r>
          </a:p>
        </p:txBody>
      </p:sp>
      <p:cxnSp>
        <p:nvCxnSpPr>
          <p:cNvPr id="15" name="Connector 14"/>
          <p:cNvCxnSpPr/>
          <p:nvPr/>
        </p:nvCxnSpPr>
        <p:spPr>
          <a:xfrm>
            <a:off x="594360" y="4087368"/>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94360" y="4206240"/>
            <a:ext cx="822960" cy="365760"/>
          </a:xfrm>
          <a:prstGeom prst="rect">
            <a:avLst/>
          </a:prstGeom>
          <a:noFill/>
        </p:spPr>
        <p:txBody>
          <a:bodyPr wrap="square" lIns="0" rIns="0" tIns="0" bIns="0" anchor="t">
            <a:spAutoFit/>
          </a:bodyPr>
          <a:lstStyle/>
          <a:p>
            <a:pPr algn="l"/>
            <a:r>
              <a:rPr sz="1400" b="1" i="0">
                <a:solidFill>
                  <a:srgbClr val="C8102E"/>
                </a:solidFill>
                <a:latin typeface="Courier New"/>
              </a:rPr>
              <a:t>R05</a:t>
            </a:r>
          </a:p>
        </p:txBody>
      </p:sp>
      <p:sp>
        <p:nvSpPr>
          <p:cNvPr id="17" name="TextBox 16"/>
          <p:cNvSpPr txBox="1"/>
          <p:nvPr/>
        </p:nvSpPr>
        <p:spPr>
          <a:xfrm>
            <a:off x="1508760" y="4206240"/>
            <a:ext cx="10088575" cy="365760"/>
          </a:xfrm>
          <a:prstGeom prst="rect">
            <a:avLst/>
          </a:prstGeom>
          <a:noFill/>
        </p:spPr>
        <p:txBody>
          <a:bodyPr wrap="square" lIns="0" rIns="0" tIns="0" bIns="0" anchor="t">
            <a:spAutoFit/>
          </a:bodyPr>
          <a:lstStyle/>
          <a:p>
            <a:pPr algn="l"/>
            <a:r>
              <a:rPr sz="1300" b="0" i="0">
                <a:solidFill>
                  <a:srgbClr val="1F2A44"/>
                </a:solidFill>
                <a:latin typeface="Calibri"/>
              </a:rPr>
              <a:t>NAS share enumeration census run cr-cf4eef79995b (1,468,510 files, 43.9 TiB)</a:t>
            </a:r>
          </a:p>
        </p:txBody>
      </p:sp>
      <p:cxnSp>
        <p:nvCxnSpPr>
          <p:cNvPr id="18" name="Connector 17"/>
          <p:cNvCxnSpPr/>
          <p:nvPr/>
        </p:nvCxnSpPr>
        <p:spPr>
          <a:xfrm>
            <a:off x="594360" y="4590288"/>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594360" y="4709160"/>
            <a:ext cx="822960" cy="502920"/>
          </a:xfrm>
          <a:prstGeom prst="rect">
            <a:avLst/>
          </a:prstGeom>
          <a:noFill/>
        </p:spPr>
        <p:txBody>
          <a:bodyPr wrap="square" lIns="0" rIns="0" tIns="0" bIns="0" anchor="t">
            <a:spAutoFit/>
          </a:bodyPr>
          <a:lstStyle/>
          <a:p>
            <a:pPr algn="l"/>
            <a:r>
              <a:rPr sz="1400" b="1" i="0">
                <a:solidFill>
                  <a:srgbClr val="C8102E"/>
                </a:solidFill>
                <a:latin typeface="Courier New"/>
              </a:rPr>
              <a:t>R06</a:t>
            </a:r>
          </a:p>
        </p:txBody>
      </p:sp>
      <p:sp>
        <p:nvSpPr>
          <p:cNvPr id="20" name="TextBox 19"/>
          <p:cNvSpPr txBox="1"/>
          <p:nvPr/>
        </p:nvSpPr>
        <p:spPr>
          <a:xfrm>
            <a:off x="1508760" y="4709160"/>
            <a:ext cx="10088575" cy="502920"/>
          </a:xfrm>
          <a:prstGeom prst="rect">
            <a:avLst/>
          </a:prstGeom>
          <a:noFill/>
        </p:spPr>
        <p:txBody>
          <a:bodyPr wrap="square" lIns="0" rIns="0" tIns="0" bIns="0" anchor="t">
            <a:spAutoFit/>
          </a:bodyPr>
          <a:lstStyle/>
          <a:p>
            <a:pPr algn="l"/>
            <a:r>
              <a:rPr sz="1300" b="0" i="0">
                <a:solidFill>
                  <a:srgbClr val="1F2A44"/>
                </a:solidFill>
                <a:latin typeface="Calibri"/>
              </a:rPr>
              <a:t>Estate language reading m9j-9e8fcb46a809 on akki-vm (2 GPUs, 1.034 GPU-h): audio language model lcj-7128593897d4 sha256 5c1feb8497e8…, music detector m9j-686de001bfe7 sha256 0fea3eee0393…; model readings, not human labels</a:t>
            </a:r>
          </a:p>
        </p:txBody>
      </p:sp>
      <p:cxnSp>
        <p:nvCxnSpPr>
          <p:cNvPr id="21" name="Connector 20"/>
          <p:cNvCxnSpPr/>
          <p:nvPr/>
        </p:nvCxnSpPr>
        <p:spPr>
          <a:xfrm>
            <a:off x="594360" y="5230368"/>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594360" y="5349240"/>
            <a:ext cx="822960" cy="502920"/>
          </a:xfrm>
          <a:prstGeom prst="rect">
            <a:avLst/>
          </a:prstGeom>
          <a:noFill/>
        </p:spPr>
        <p:txBody>
          <a:bodyPr wrap="square" lIns="0" rIns="0" tIns="0" bIns="0" anchor="t">
            <a:spAutoFit/>
          </a:bodyPr>
          <a:lstStyle/>
          <a:p>
            <a:pPr algn="l"/>
            <a:r>
              <a:rPr sz="1400" b="1" i="0">
                <a:solidFill>
                  <a:srgbClr val="C8102E"/>
                </a:solidFill>
                <a:latin typeface="Courier New"/>
              </a:rPr>
              <a:t>R07</a:t>
            </a:r>
          </a:p>
        </p:txBody>
      </p:sp>
      <p:sp>
        <p:nvSpPr>
          <p:cNvPr id="23" name="TextBox 22"/>
          <p:cNvSpPr txBox="1"/>
          <p:nvPr/>
        </p:nvSpPr>
        <p:spPr>
          <a:xfrm>
            <a:off x="1508760" y="5349240"/>
            <a:ext cx="10088575" cy="502920"/>
          </a:xfrm>
          <a:prstGeom prst="rect">
            <a:avLst/>
          </a:prstGeom>
          <a:noFill/>
        </p:spPr>
        <p:txBody>
          <a:bodyPr wrap="square" lIns="0" rIns="0" tIns="0" bIns="0" anchor="t">
            <a:spAutoFit/>
          </a:bodyPr>
          <a:lstStyle/>
          <a:p>
            <a:pPr algn="l"/>
            <a:r>
              <a:rPr sz="1300" b="0" i="0">
                <a:solidFill>
                  <a:srgbClr val="1F2A44"/>
                </a:solidFill>
                <a:latin typeface="Calibri"/>
              </a:rPr>
              <a:t>Served text language model m9j-74af7cef0a85 readings of the staged transcripts: jobs m9j-2d43ed6cf567, m9j-8cf6702f8718 (2,245 transcripts read, 3939 present)</a:t>
            </a:r>
          </a:p>
        </p:txBody>
      </p:sp>
      <p:cxnSp>
        <p:nvCxnSpPr>
          <p:cNvPr id="24" name="Connector 23"/>
          <p:cNvCxnSpPr/>
          <p:nvPr/>
        </p:nvCxnSpPr>
        <p:spPr>
          <a:xfrm>
            <a:off x="594360" y="5870448"/>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594360" y="5989320"/>
            <a:ext cx="822960" cy="905256"/>
          </a:xfrm>
          <a:prstGeom prst="rect">
            <a:avLst/>
          </a:prstGeom>
          <a:noFill/>
        </p:spPr>
        <p:txBody>
          <a:bodyPr wrap="square" lIns="0" rIns="0" tIns="0" bIns="0" anchor="t">
            <a:spAutoFit/>
          </a:bodyPr>
          <a:lstStyle/>
          <a:p>
            <a:pPr algn="l"/>
            <a:r>
              <a:rPr sz="1400" b="1" i="0">
                <a:solidFill>
                  <a:srgbClr val="C8102E"/>
                </a:solidFill>
                <a:latin typeface="Courier New"/>
              </a:rPr>
              <a:t>R08</a:t>
            </a:r>
          </a:p>
        </p:txBody>
      </p:sp>
      <p:sp>
        <p:nvSpPr>
          <p:cNvPr id="26" name="TextBox 25"/>
          <p:cNvSpPr txBox="1"/>
          <p:nvPr/>
        </p:nvSpPr>
        <p:spPr>
          <a:xfrm>
            <a:off x="1508760" y="5989320"/>
            <a:ext cx="10088575" cy="905256"/>
          </a:xfrm>
          <a:prstGeom prst="rect">
            <a:avLst/>
          </a:prstGeom>
          <a:noFill/>
        </p:spPr>
        <p:txBody>
          <a:bodyPr wrap="square" lIns="0" rIns="0" tIns="0" bIns="0" anchor="t">
            <a:spAutoFit/>
          </a:bodyPr>
          <a:lstStyle/>
          <a:p>
            <a:pPr algn="l"/>
            <a:r>
              <a:rPr sz="1300" b="0" i="0">
                <a:solidFill>
                  <a:srgbClr val="1F2A44"/>
                </a:solidFill>
                <a:latin typeface="Calibri"/>
              </a:rPr>
              <a:t>Aggregate-only database reading etx-81e10befe6e0: news_vault.stories (script, title, date, hour_id) → news_vault.hours (station_id, time, type_id) → news_vault.stations (name); news_vault.news (2022 bulletins); local.uploaded_files (language_id, audio_length, status) ← local.transcripts (file_id, start_time, end_time, transcript) ; local.folder_languages (Language, code, station)</a:t>
            </a:r>
          </a:p>
        </p:txBody>
      </p:sp>
      <p:cxnSp>
        <p:nvCxnSpPr>
          <p:cNvPr id="27" name="Connector 26"/>
          <p:cNvCxnSpPr/>
          <p:nvPr/>
        </p:nvCxnSpPr>
        <p:spPr>
          <a:xfrm>
            <a:off x="594360" y="6912864"/>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594360" y="7031736"/>
            <a:ext cx="822960" cy="905256"/>
          </a:xfrm>
          <a:prstGeom prst="rect">
            <a:avLst/>
          </a:prstGeom>
          <a:noFill/>
        </p:spPr>
        <p:txBody>
          <a:bodyPr wrap="square" lIns="0" rIns="0" tIns="0" bIns="0" anchor="t">
            <a:spAutoFit/>
          </a:bodyPr>
          <a:lstStyle/>
          <a:p>
            <a:pPr algn="l"/>
            <a:r>
              <a:rPr sz="1400" b="1" i="0">
                <a:solidFill>
                  <a:srgbClr val="C8102E"/>
                </a:solidFill>
                <a:latin typeface="Courier New"/>
              </a:rPr>
              <a:t>R09</a:t>
            </a:r>
          </a:p>
        </p:txBody>
      </p:sp>
      <p:sp>
        <p:nvSpPr>
          <p:cNvPr id="29" name="TextBox 28"/>
          <p:cNvSpPr txBox="1"/>
          <p:nvPr/>
        </p:nvSpPr>
        <p:spPr>
          <a:xfrm>
            <a:off x="1508760" y="7031736"/>
            <a:ext cx="10088575" cy="905256"/>
          </a:xfrm>
          <a:prstGeom prst="rect">
            <a:avLst/>
          </a:prstGeom>
          <a:noFill/>
        </p:spPr>
        <p:txBody>
          <a:bodyPr wrap="square" lIns="0" rIns="0" tIns="0" bIns="0" anchor="t">
            <a:spAutoFit/>
          </a:bodyPr>
          <a:lstStyle/>
          <a:p>
            <a:pPr algn="l"/>
            <a:r>
              <a:rPr sz="1300" b="0" i="0">
                <a:solidFill>
                  <a:srgbClr val="1F2A44"/>
                </a:solidFill>
                <a:latin typeface="Calibri"/>
              </a:rPr>
              <a:t>Model role assignments evaluated 2026-10-02: integration model catalogue plus published task benchmarks reviewed on the day; planner/reviewer families kept distinct so the review does not share the planner's blind spots. Not claimed: no independent head-to-head benchmark was run on owner data; assignments are disclosed configuration, re-evaluated when a role under-performs on its own gate</a:t>
            </a:r>
          </a:p>
        </p:txBody>
      </p:sp>
      <p:cxnSp>
        <p:nvCxnSpPr>
          <p:cNvPr id="30" name="Connector 29"/>
          <p:cNvCxnSpPr/>
          <p:nvPr/>
        </p:nvCxnSpPr>
        <p:spPr>
          <a:xfrm>
            <a:off x="594360" y="7955279"/>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594360" y="8074152"/>
            <a:ext cx="822960" cy="1691640"/>
          </a:xfrm>
          <a:prstGeom prst="rect">
            <a:avLst/>
          </a:prstGeom>
          <a:noFill/>
        </p:spPr>
        <p:txBody>
          <a:bodyPr wrap="square" lIns="0" rIns="0" tIns="0" bIns="0" anchor="t">
            <a:spAutoFit/>
          </a:bodyPr>
          <a:lstStyle/>
          <a:p>
            <a:pPr algn="l"/>
            <a:r>
              <a:rPr sz="1400" b="1" i="0">
                <a:solidFill>
                  <a:srgbClr val="C8102E"/>
                </a:solidFill>
                <a:latin typeface="Courier New"/>
              </a:rPr>
              <a:t>R10</a:t>
            </a:r>
          </a:p>
        </p:txBody>
      </p:sp>
      <p:sp>
        <p:nvSpPr>
          <p:cNvPr id="32" name="TextBox 31"/>
          <p:cNvSpPr txBox="1"/>
          <p:nvPr/>
        </p:nvSpPr>
        <p:spPr>
          <a:xfrm>
            <a:off x="1508760" y="8074152"/>
            <a:ext cx="10088575" cy="1691640"/>
          </a:xfrm>
          <a:prstGeom prst="rect">
            <a:avLst/>
          </a:prstGeom>
          <a:noFill/>
        </p:spPr>
        <p:txBody>
          <a:bodyPr wrap="square" lIns="0" rIns="0" tIns="0" bIns="0" anchor="t">
            <a:spAutoFit/>
          </a:bodyPr>
          <a:lstStyle/>
          <a:p>
            <a:pPr algn="l"/>
            <a:r>
              <a:rPr sz="1300" b="0" i="0">
                <a:solidFill>
                  <a:srgbClr val="1F2A44"/>
                </a:solidFill>
                <a:latin typeface="Calibri"/>
              </a:rPr>
              <a:t>Interim tiered content census (content_sample); snapshots OBS 2026-10-03T01:40:08.564624+00:00; NAS 2026-10-03T01:38:24.195696+00:00; receipts cr-81526aa143aa, cr-8640b1cbcbc6, cr-aa33fffba60e, cr-bbf71c8d905a, cr-cf4eef79995b, cr-f1415e395361 on akki-vm and akki-vm-ii. Resumable listing, header probes of accessible audio and a per-folder video sample (ranged reads → ffprobe), with unprobed durations extrapolated where possible; a seeded stratified sample of files per folder read byte for byte, verified against the listing and judged on every two-second window by the admitted music detector and the current audio language model; ratio estimators with finite-population correction give the 95 % intervals. Listing, probing and sampling are incomplete. Model readings, not human labels; intervals exclude model error and inaccessible or unsampled content.</a:t>
            </a:r>
          </a:p>
        </p:txBody>
      </p:sp>
      <p:cxnSp>
        <p:nvCxnSpPr>
          <p:cNvPr id="33" name="Connector 32"/>
          <p:cNvCxnSpPr/>
          <p:nvPr/>
        </p:nvCxnSpPr>
        <p:spPr>
          <a:xfrm>
            <a:off x="594360" y="9784080"/>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35" name="TextBox 34"/>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36" name="TextBox 35"/>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73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RMS estate baseline: held, costed, and what to do first</dc:title>
  <dc:subject/>
  <dc:creator>doc-studio</dc:creator>
  <cp:keywords/>
  <dc:description>generated using python-pptx</dc:description>
  <cp:lastModifiedBy>doc-studio</cp:lastModifiedBy>
  <cp:revision>1</cp:revision>
  <dcterms:created xsi:type="dcterms:W3CDTF">2026-10-03T01:03:55Z</dcterms:created>
  <dcterms:modified xsi:type="dcterms:W3CDTF">2026-10-03T01:03:55Z</dcterms:modified>
  <cp:category/>
</cp:coreProperties>
</file>