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Sheet1!$A$2:$A$6</c:f>
              <c:strCache>
                <c:ptCount val="5"/>
                <c:pt idx="0">
                  <c:v>read and judged</c:v>
                </c:pt>
                <c:pt idx="1">
                  <c:v>hours measured on headers; content forecast</c:v>
                </c:pt>
                <c:pt idx="2">
                  <c:v>readable, not yet sampled (forecast)</c:v>
                </c:pt>
                <c:pt idx="3">
                  <c:v>key refused (forecast)</c:v>
                </c:pt>
                <c:pt idx="4">
                  <c:v>archive class (forecast)</c:v>
                </c:pt>
              </c:strCache>
            </c:strRef>
          </c:cat>
          <c:val>
            <c:numRef>
              <c:f>Sheet1!$B$2:$B$6</c:f>
              <c:numCache>
                <c:formatCode>General</c:formatCode>
                <c:ptCount val="5"/>
                <c:pt idx="0">
                  <c:v>42454.4</c:v>
                </c:pt>
                <c:pt idx="1">
                  <c:v>1712.2</c:v>
                </c:pt>
                <c:pt idx="2">
                  <c:v>86601.1</c:v>
                </c:pt>
                <c:pt idx="3">
                  <c:v>367222.7</c:v>
                </c:pt>
                <c:pt idx="4">
                  <c:v>2.1</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Sheet1!$A$2:$A$11</c:f>
              <c:strCache>
                <c:ptCount val="10"/>
                <c:pt idx="0">
                  <c:v>2024offairrecs (refused)</c:v>
                </c:pt>
                <c:pt idx="1">
                  <c:v>na7p43do (refused)</c:v>
                </c:pt>
                <c:pt idx="2">
                  <c:v>na7p4oco (refused)</c:v>
                </c:pt>
                <c:pt idx="3">
                  <c:v>na7p43js (refused)</c:v>
                </c:pt>
                <c:pt idx="4">
                  <c:v>rmsbroadcast</c:v>
                </c:pt>
                <c:pt idx="5">
                  <c:v>music-bucket-rms</c:v>
                </c:pt>
                <c:pt idx="6">
                  <c:v>citizen-digital-cms-files</c:v>
                </c:pt>
                <c:pt idx="7">
                  <c:v>channel02</c:v>
                </c:pt>
                <c:pt idx="8">
                  <c:v>na7p42yg (refused)</c:v>
                </c:pt>
                <c:pt idx="9">
                  <c:v>na7p42xw (refused)</c:v>
                </c:pt>
              </c:strCache>
            </c:strRef>
          </c:cat>
          <c:val>
            <c:numRef>
              <c:f>Sheet1!$B$2:$B$11</c:f>
              <c:numCache>
                <c:formatCode>General</c:formatCode>
                <c:ptCount val="10"/>
                <c:pt idx="0">
                  <c:v>251976.0</c:v>
                </c:pt>
                <c:pt idx="1">
                  <c:v>31401.6</c:v>
                </c:pt>
                <c:pt idx="2">
                  <c:v>27524.4</c:v>
                </c:pt>
                <c:pt idx="3">
                  <c:v>19368.9</c:v>
                </c:pt>
                <c:pt idx="4">
                  <c:v>18983.2</c:v>
                </c:pt>
                <c:pt idx="5">
                  <c:v>12851.8</c:v>
                </c:pt>
                <c:pt idx="6">
                  <c:v>5978.8</c:v>
                </c:pt>
                <c:pt idx="7">
                  <c:v>5890.6</c:v>
                </c:pt>
                <c:pt idx="8">
                  <c:v>5727.4</c:v>
                </c:pt>
                <c:pt idx="9">
                  <c:v>5546.5</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Sheet1!$A$2:$A$8</c:f>
              <c:strCache>
                <c:ptCount val="7"/>
                <c:pt idx="0">
                  <c:v>Kiswahili</c:v>
                </c:pt>
                <c:pt idx="1">
                  <c:v>Gikuyu (Kikuyu)</c:v>
                </c:pt>
                <c:pt idx="2">
                  <c:v>Ekegusii (Kisii)</c:v>
                </c:pt>
                <c:pt idx="3">
                  <c:v>Kalenjin</c:v>
                </c:pt>
                <c:pt idx="4">
                  <c:v>Dholuo (Luo)</c:v>
                </c:pt>
                <c:pt idx="5">
                  <c:v>Wanga (Luhya)</c:v>
                </c:pt>
                <c:pt idx="6">
                  <c:v>Kikamba (Kamba)</c:v>
                </c:pt>
              </c:strCache>
            </c:strRef>
          </c:cat>
          <c:val>
            <c:numRef>
              <c:f>Sheet1!$B$2:$B$8</c:f>
              <c:numCache>
                <c:formatCode>General</c:formatCode>
                <c:ptCount val="7"/>
                <c:pt idx="0">
                  <c:v>38788.1</c:v>
                </c:pt>
                <c:pt idx="1">
                  <c:v>32002.9</c:v>
                </c:pt>
                <c:pt idx="2">
                  <c:v>16729.3</c:v>
                </c:pt>
                <c:pt idx="3">
                  <c:v>16171.4</c:v>
                </c:pt>
                <c:pt idx="4">
                  <c:v>15729.1</c:v>
                </c:pt>
                <c:pt idx="5">
                  <c:v>13326.0</c:v>
                </c:pt>
                <c:pt idx="6">
                  <c:v>10533.6</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Hours</c:v>
                </c:pt>
              </c:strCache>
            </c:strRef>
          </c:tx>
          <c:spPr>
            <a:solidFill>
              <a:srgbClr val="C8102E"/>
            </a:solidFill>
          </c:spPr>
          <c:cat>
            <c:strRef>
              <c:f>Sheet1!$A$2:$A$9</c:f>
              <c:strCache>
                <c:ptCount val="8"/>
                <c:pt idx="0">
                  <c:v>Ekegusii (Kisii)</c:v>
                </c:pt>
                <c:pt idx="1">
                  <c:v>Kalenjin</c:v>
                </c:pt>
                <c:pt idx="2">
                  <c:v>Kiswahili</c:v>
                </c:pt>
                <c:pt idx="3">
                  <c:v>Kikamba (Kamba)</c:v>
                </c:pt>
                <c:pt idx="4">
                  <c:v>Gikuyu (Kikuyu)</c:v>
                </c:pt>
                <c:pt idx="5">
                  <c:v>Dholuo (Luo)</c:v>
                </c:pt>
                <c:pt idx="6">
                  <c:v>Wanga (Luhya)</c:v>
                </c:pt>
                <c:pt idx="7">
                  <c:v>Bukusu (Luhya)</c:v>
                </c:pt>
              </c:strCache>
            </c:strRef>
          </c:cat>
          <c:val>
            <c:numRef>
              <c:f>Sheet1!$B$2:$B$9</c:f>
              <c:numCache>
                <c:formatCode>General</c:formatCode>
                <c:ptCount val="8"/>
                <c:pt idx="0">
                  <c:v>76.7</c:v>
                </c:pt>
                <c:pt idx="1">
                  <c:v>73.2</c:v>
                </c:pt>
                <c:pt idx="2">
                  <c:v>78.5</c:v>
                </c:pt>
                <c:pt idx="3">
                  <c:v>67.8</c:v>
                </c:pt>
                <c:pt idx="4">
                  <c:v>65.9</c:v>
                </c:pt>
                <c:pt idx="5">
                  <c:v>51.7</c:v>
                </c:pt>
                <c:pt idx="6">
                  <c:v>6.8</c:v>
                </c:pt>
                <c:pt idx="7">
                  <c:v>0.7</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Sheet1!$A$2:$A$9</c:f>
              <c:strCache>
                <c:ptCount val="8"/>
                <c:pt idx="0">
                  <c:v>2024offairrecs</c:v>
                </c:pt>
                <c:pt idx="1">
                  <c:v>music-bucket-rms (cold)</c:v>
                </c:pt>
                <c:pt idx="2">
                  <c:v>na7p43do (cold)</c:v>
                </c:pt>
                <c:pt idx="3">
                  <c:v>na7p43js (cold)</c:v>
                </c:pt>
                <c:pt idx="4">
                  <c:v>na7p434j (cold)</c:v>
                </c:pt>
                <c:pt idx="5">
                  <c:v>na7p41hj (cold)</c:v>
                </c:pt>
                <c:pt idx="6">
                  <c:v>na7p42xe (cold)</c:v>
                </c:pt>
                <c:pt idx="7">
                  <c:v>na7p42xw (cold)</c:v>
                </c:pt>
              </c:strCache>
            </c:strRef>
          </c:cat>
          <c:val>
            <c:numRef>
              <c:f>Sheet1!$B$2:$B$9</c:f>
              <c:numCache>
                <c:formatCode>General</c:formatCode>
                <c:ptCount val="8"/>
                <c:pt idx="0">
                  <c:v>86.74</c:v>
                </c:pt>
                <c:pt idx="1">
                  <c:v>4.93</c:v>
                </c:pt>
                <c:pt idx="2">
                  <c:v>4.1</c:v>
                </c:pt>
                <c:pt idx="3">
                  <c:v>3.57</c:v>
                </c:pt>
                <c:pt idx="4">
                  <c:v>3.5</c:v>
                </c:pt>
                <c:pt idx="5">
                  <c:v>3.48</c:v>
                </c:pt>
                <c:pt idx="6">
                  <c:v>3.44</c:v>
                </c:pt>
                <c:pt idx="7">
                  <c:v>3.4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TiB</c:v>
                </c:pt>
              </c:strCache>
            </c:strRef>
          </c:tx>
          <c:spPr>
            <a:solidFill>
              <a:srgbClr val="C8102E"/>
            </a:solidFill>
          </c:spPr>
          <c:cat>
            <c:strRef>
              <c:f>Sheet1!$A$2:$A$4</c:f>
              <c:strCache>
                <c:ptCount val="3"/>
                <c:pt idx="0">
                  <c:v>Databases</c:v>
                </c:pt>
                <c:pt idx="1">
                  <c:v>Object store (OBS)</c:v>
                </c:pt>
                <c:pt idx="2">
                  <c:v>File shares (NAS)</c:v>
                </c:pt>
              </c:strCache>
            </c:strRef>
          </c:cat>
          <c:val>
            <c:numRef>
              <c:f>Sheet1!$B$2:$B$4</c:f>
              <c:numCache>
                <c:formatCode>General</c:formatCode>
                <c:ptCount val="3"/>
                <c:pt idx="0">
                  <c:v>0.34</c:v>
                </c:pt>
                <c:pt idx="1">
                  <c:v>130.75</c:v>
                </c:pt>
                <c:pt idx="2">
                  <c:v>43.92</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Files</c:v>
                </c:pt>
              </c:strCache>
            </c:strRef>
          </c:tx>
          <c:spPr>
            <a:solidFill>
              <a:srgbClr val="C8102E"/>
            </a:solidFill>
          </c:spPr>
          <c:cat>
            <c:strRef>
              <c:f>Sheet1!$A$2:$A$4</c:f>
              <c:strCache>
                <c:ptCount val="3"/>
                <c:pt idx="0">
                  <c:v>Readable</c:v>
                </c:pt>
                <c:pt idx="1">
                  <c:v>Key refused (403)</c:v>
                </c:pt>
                <c:pt idx="2">
                  <c:v>Archive class, restore needed</c:v>
                </c:pt>
              </c:strCache>
            </c:strRef>
          </c:cat>
          <c:val>
            <c:numRef>
              <c:f>Sheet1!$B$2:$B$4</c:f>
              <c:numCache>
                <c:formatCode>General</c:formatCode>
                <c:ptCount val="3"/>
                <c:pt idx="0">
                  <c:v>427507</c:v>
                </c:pt>
                <c:pt idx="1">
                  <c:v>4173042</c:v>
                </c:pt>
                <c:pt idx="2">
                  <c:v>584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Share</c:v>
                </c:pt>
              </c:strCache>
            </c:strRef>
          </c:tx>
          <c:spPr>
            <a:solidFill>
              <a:srgbClr val="C8102E"/>
            </a:solidFill>
          </c:spPr>
          <c:cat>
            <c:strRef>
              <c:f>Sheet1!$A$2:$A$6</c:f>
              <c:strCache>
                <c:ptCount val="5"/>
                <c:pt idx="0">
                  <c:v>Exact duplicates</c:v>
                </c:pt>
                <c:pt idx="1">
                  <c:v>Degraded</c:v>
                </c:pt>
                <c:pt idx="2">
                  <c:v>Empty required fields</c:v>
                </c:pt>
                <c:pt idx="3">
                  <c:v>PII markers (sampled)</c:v>
                </c:pt>
                <c:pt idx="4">
                  <c:v>Stale bytes</c:v>
                </c:pt>
              </c:strCache>
            </c:strRef>
          </c:cat>
          <c:val>
            <c:numRef>
              <c:f>Sheet1!$B$2:$B$6</c:f>
              <c:numCache>
                <c:formatCode>General</c:formatCode>
                <c:ptCount val="5"/>
                <c:pt idx="0">
                  <c:v>0.015</c:v>
                </c:pt>
                <c:pt idx="1">
                  <c:v>0.23</c:v>
                </c:pt>
                <c:pt idx="2">
                  <c:v>0.817</c:v>
                </c:pt>
                <c:pt idx="3">
                  <c:v>0.718</c:v>
                </c:pt>
                <c:pt idx="4">
                  <c:v>0.154</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GiB</c:v>
                </c:pt>
              </c:strCache>
            </c:strRef>
          </c:tx>
          <c:spPr>
            <a:solidFill>
              <a:srgbClr val="C8102E"/>
            </a:solidFill>
          </c:spPr>
          <c:cat>
            <c:strRef>
              <c:f>Sheet1!$A$2:$A$8</c:f>
              <c:strCache>
                <c:ptCount val="7"/>
                <c:pt idx="0">
                  <c:v>Move buckets not written for over a year</c:v>
                </c:pt>
                <c:pt idx="1">
                  <c:v>Reconcile duplicate objects across OBS b</c:v>
                </c:pt>
                <c:pt idx="2">
                  <c:v>Move tables not written for over a year </c:v>
                </c:pt>
                <c:pt idx="3">
                  <c:v>Remove redundant (prefix-covered) indexe</c:v>
                </c:pt>
                <c:pt idx="4">
                  <c:v>De-duplicate exact repeated rows inside </c:v>
                </c:pt>
                <c:pt idx="5">
                  <c:v>Consolidate duplicate and staging copies</c:v>
                </c:pt>
                <c:pt idx="6">
                  <c:v>Drop or archive empty tables</c:v>
                </c:pt>
              </c:strCache>
            </c:strRef>
          </c:cat>
          <c:val>
            <c:numRef>
              <c:f>Sheet1!$B$2:$B$8</c:f>
              <c:numCache>
                <c:formatCode>General</c:formatCode>
                <c:ptCount val="7"/>
                <c:pt idx="0">
                  <c:v>42891.0</c:v>
                </c:pt>
                <c:pt idx="1">
                  <c:v>7840.5</c:v>
                </c:pt>
                <c:pt idx="2">
                  <c:v>54.1</c:v>
                </c:pt>
                <c:pt idx="3">
                  <c:v>14.0</c:v>
                </c:pt>
                <c:pt idx="4">
                  <c:v>1.2</c:v>
                </c:pt>
                <c:pt idx="5">
                  <c:v>0.1</c:v>
                </c:pt>
                <c:pt idx="6">
                  <c:v>0.0</c:v>
                </c:pt>
              </c:numCache>
            </c:numRef>
          </c:val>
        </c:ser>
        <c:dLbls>
          <c:numFmt formatCode="#,##0.0" sourceLinked="0"/>
          <c:txPr>
            <a:bodyPr/>
            <a:lstStyle/>
            <a:p>
              <a:pPr>
                <a:defRPr sz="1100">
                  <a:solidFill>
                    <a:srgbClr val="1F2A44"/>
                  </a:solidFill>
                  <a:latin typeface="Courier New"/>
                </a:defRPr>
              </a:pPr>
            </a:p>
          </c:txPr>
          <c:dLblPos val="outEnd"/>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spPr>
          <a:ln>
            <a:solidFill>
              <a:srgbClr val="D5DAE3"/>
            </a:solidFill>
          </a:ln>
        </c:spPr>
        <c:crossAx val="-2113994440"/>
        <c:crosses val="autoZero"/>
        <c:auto val="1"/>
        <c:lblAlgn val="ctr"/>
        <c:lblOffset val="100"/>
        <c:noMultiLvlLbl val="0"/>
      </c:catAx>
      <c:valAx>
        <c:axId val="-2113994440"/>
        <c:scaling/>
        <c:delete val="0"/>
        <c:axPos val="l"/>
        <c:majorGridlines>
          <c:spPr>
            <a:ln>
              <a:solidFill>
                <a:srgbClr val="D5DAE3"/>
              </a:solidFill>
            </a:ln>
          </c:spPr>
        </c:majorGridlines>
        <c:numFmt formatCode="#,##0.0" sourceLinked="0"/>
        <c:majorTickMark val="out"/>
        <c:minorTickMark val="none"/>
        <c:tickLblPos val="nextTo"/>
        <c:spPr>
          <a:ln>
            <a:noFill/>
          </a:ln>
        </c:spPr>
        <c:txPr>
          <a:bodyPr/>
          <a:lstStyle/>
          <a:p>
            <a:pPr>
              <a:defRPr>
                <a:latin typeface="Courier New"/>
              </a:defRPr>
            </a:pPr>
          </a:p>
        </c:txPr>
        <c:crossAx val="-2068027336"/>
        <c:crosses val="autoZero"/>
      </c:valAx>
    </c:plotArea>
    <c:dispBlanksAs val="gap"/>
  </c:chart>
  <c:txPr>
    <a:bodyPr/>
    <a:lstStyle/>
    <a:p>
      <a:pPr>
        <a:defRPr sz="1100">
          <a:solidFill>
            <a:srgbClr val="8A94A6"/>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674620"/>
            <a:ext cx="7274052" cy="1508760"/>
          </a:xfrm>
          <a:prstGeom prst="rect">
            <a:avLst/>
          </a:prstGeom>
          <a:noFill/>
        </p:spPr>
        <p:txBody>
          <a:bodyPr wrap="square" lIns="0" rIns="0" tIns="0" bIns="0" anchor="b">
            <a:spAutoFit/>
          </a:bodyPr>
          <a:lstStyle/>
          <a:p>
            <a:pPr algn="l"/>
            <a:r>
              <a:rPr sz="4000" b="0" i="0">
                <a:solidFill>
                  <a:srgbClr val="1F2A44"/>
                </a:solidFill>
                <a:latin typeface="Cambria"/>
              </a:rPr>
              <a:t>RMS estate: hours, speech and what to decide</a:t>
            </a:r>
          </a:p>
        </p:txBody>
      </p:sp>
      <p:sp>
        <p:nvSpPr>
          <p:cNvPr id="3" name="TextBox 2"/>
          <p:cNvSpPr txBox="1"/>
          <p:nvPr/>
        </p:nvSpPr>
        <p:spPr>
          <a:xfrm>
            <a:off x="594360" y="4183380"/>
            <a:ext cx="7274052" cy="754380"/>
          </a:xfrm>
          <a:prstGeom prst="rect">
            <a:avLst/>
          </a:prstGeom>
          <a:noFill/>
        </p:spPr>
        <p:txBody>
          <a:bodyPr wrap="square" lIns="0" rIns="0" tIns="0" bIns="0" anchor="t">
            <a:spAutoFit/>
          </a:bodyPr>
          <a:lstStyle/>
          <a:p>
            <a:pPr algn="l"/>
            <a:r>
              <a:rPr sz="1800" b="0" i="0">
                <a:solidFill>
                  <a:srgbClr val="8A94A6"/>
                </a:solidFill>
                <a:latin typeface="Calibri"/>
              </a:rPr>
              <a:t>Whole-estate forecast, strongest assets, preparation and the decisions in order</a:t>
            </a:r>
          </a:p>
        </p:txBody>
      </p:sp>
      <p:sp>
        <p:nvSpPr>
          <p:cNvPr id="4" name="TextBox 3"/>
          <p:cNvSpPr txBox="1"/>
          <p:nvPr/>
        </p:nvSpPr>
        <p:spPr>
          <a:xfrm>
            <a:off x="594360" y="5314492"/>
            <a:ext cx="5409590" cy="376732"/>
          </a:xfrm>
          <a:prstGeom prst="rect">
            <a:avLst/>
          </a:prstGeom>
          <a:noFill/>
        </p:spPr>
        <p:txBody>
          <a:bodyPr wrap="square" lIns="0" rIns="0" tIns="0" bIns="0" anchor="t">
            <a:spAutoFit/>
          </a:bodyPr>
          <a:lstStyle/>
          <a:p>
            <a:pPr algn="l"/>
            <a:r>
              <a:rPr sz="1000" b="0" i="0">
                <a:solidFill>
                  <a:srgbClr val="8A94A6"/>
                </a:solidFill>
                <a:latin typeface="Calibri"/>
              </a:rPr>
              <a:t>RMS  ·  Tenant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EXECUTIVE SUMMARY</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most likely holds 500,290.3 hours of media; 73.4% sits behind access limits</a:t>
            </a:r>
          </a:p>
        </p:txBody>
      </p:sp>
      <p:sp>
        <p:nvSpPr>
          <p:cNvPr id="4" name="TextBox 3"/>
          <p:cNvSpPr txBox="1"/>
          <p:nvPr/>
        </p:nvSpPr>
        <p:spPr>
          <a:xfrm>
            <a:off x="594360" y="1920240"/>
            <a:ext cx="1463040" cy="805815"/>
          </a:xfrm>
          <a:prstGeom prst="rect">
            <a:avLst/>
          </a:prstGeom>
          <a:noFill/>
        </p:spPr>
        <p:txBody>
          <a:bodyPr wrap="square" lIns="0" rIns="0" tIns="0" bIns="0" anchor="t">
            <a:spAutoFit/>
          </a:bodyPr>
          <a:lstStyle/>
          <a:p>
            <a:pPr algn="l"/>
            <a:r>
              <a:rPr sz="1100" b="1" i="0">
                <a:solidFill>
                  <a:srgbClr val="8A94A6"/>
                </a:solidFill>
                <a:latin typeface="Calibri"/>
              </a:rPr>
              <a:t>SITUATION</a:t>
            </a:r>
          </a:p>
        </p:txBody>
      </p:sp>
      <p:sp>
        <p:nvSpPr>
          <p:cNvPr id="5" name="TextBox 4"/>
          <p:cNvSpPr txBox="1"/>
          <p:nvPr/>
        </p:nvSpPr>
        <p:spPr>
          <a:xfrm>
            <a:off x="2240280" y="1920240"/>
            <a:ext cx="9357055" cy="805815"/>
          </a:xfrm>
          <a:prstGeom prst="rect">
            <a:avLst/>
          </a:prstGeom>
          <a:noFill/>
        </p:spPr>
        <p:txBody>
          <a:bodyPr wrap="square" lIns="0" rIns="0" tIns="0" bIns="0" anchor="t">
            <a:spAutoFit/>
          </a:bodyPr>
          <a:lstStyle/>
          <a:p>
            <a:pPr algn="l"/>
            <a:r>
              <a:rPr sz="1400" b="0" i="0">
                <a:solidFill>
                  <a:srgbClr val="1F2A44"/>
                </a:solidFill>
                <a:latin typeface="Calibri"/>
              </a:rPr>
              <a:t>RMS holds 175.0 TiB across databases, an object store and file shares. Scaling what the census read in each folder to every listed folder, the estate most likely holds 500,290.3 hours of media: 190,196.8 hours of speech and 341,566.0 hours of music, estimated separately.</a:t>
            </a:r>
          </a:p>
        </p:txBody>
      </p:sp>
      <p:cxnSp>
        <p:nvCxnSpPr>
          <p:cNvPr id="6" name="Connector 5"/>
          <p:cNvCxnSpPr/>
          <p:nvPr/>
        </p:nvCxnSpPr>
        <p:spPr>
          <a:xfrm>
            <a:off x="594360" y="279006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1463040" cy="805815"/>
          </a:xfrm>
          <a:prstGeom prst="rect">
            <a:avLst/>
          </a:prstGeom>
          <a:noFill/>
        </p:spPr>
        <p:txBody>
          <a:bodyPr wrap="square" lIns="0" rIns="0" tIns="0" bIns="0" anchor="t">
            <a:spAutoFit/>
          </a:bodyPr>
          <a:lstStyle/>
          <a:p>
            <a:pPr algn="l"/>
            <a:r>
              <a:rPr sz="1100" b="1" i="0">
                <a:solidFill>
                  <a:srgbClr val="8A94A6"/>
                </a:solidFill>
                <a:latin typeface="Calibri"/>
              </a:rPr>
              <a:t>COMPLICATION</a:t>
            </a:r>
          </a:p>
        </p:txBody>
      </p:sp>
      <p:sp>
        <p:nvSpPr>
          <p:cNvPr id="8" name="TextBox 7"/>
          <p:cNvSpPr txBox="1"/>
          <p:nvPr/>
        </p:nvSpPr>
        <p:spPr>
          <a:xfrm>
            <a:off x="2240280" y="2863215"/>
            <a:ext cx="9357055" cy="805815"/>
          </a:xfrm>
          <a:prstGeom prst="rect">
            <a:avLst/>
          </a:prstGeom>
          <a:noFill/>
        </p:spPr>
        <p:txBody>
          <a:bodyPr wrap="square" lIns="0" rIns="0" tIns="0" bIns="0" anchor="t">
            <a:spAutoFit/>
          </a:bodyPr>
          <a:lstStyle/>
          <a:p>
            <a:pPr algn="l"/>
            <a:r>
              <a:rPr sz="1400" b="0" i="0">
                <a:solidFill>
                  <a:srgbClr val="1F2A44"/>
                </a:solidFill>
                <a:latin typeface="Calibri"/>
              </a:rPr>
              <a:t>Only 8.5% of the forecast hours rest on files read and judged, and 73.4% sit in buckets the census key cannot read. The ninety-five per cent forecast interval spans 212,923.5 hours, 42.6% of the forecast, and excludes model error.</a:t>
            </a:r>
          </a:p>
        </p:txBody>
      </p:sp>
      <p:cxnSp>
        <p:nvCxnSpPr>
          <p:cNvPr id="9" name="Connector 8"/>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1463040" cy="805815"/>
          </a:xfrm>
          <a:prstGeom prst="rect">
            <a:avLst/>
          </a:prstGeom>
          <a:noFill/>
        </p:spPr>
        <p:txBody>
          <a:bodyPr wrap="square" lIns="0" rIns="0" tIns="0" bIns="0" anchor="t">
            <a:spAutoFit/>
          </a:bodyPr>
          <a:lstStyle/>
          <a:p>
            <a:pPr algn="l"/>
            <a:r>
              <a:rPr sz="1100" b="1" i="0">
                <a:solidFill>
                  <a:srgbClr val="8A94A6"/>
                </a:solidFill>
                <a:latin typeface="Calibri"/>
              </a:rPr>
              <a:t>QUESTION</a:t>
            </a:r>
          </a:p>
        </p:txBody>
      </p:sp>
      <p:sp>
        <p:nvSpPr>
          <p:cNvPr id="11" name="TextBox 10"/>
          <p:cNvSpPr txBox="1"/>
          <p:nvPr/>
        </p:nvSpPr>
        <p:spPr>
          <a:xfrm>
            <a:off x="2240280" y="3806189"/>
            <a:ext cx="9357055" cy="805815"/>
          </a:xfrm>
          <a:prstGeom prst="rect">
            <a:avLst/>
          </a:prstGeom>
          <a:noFill/>
        </p:spPr>
        <p:txBody>
          <a:bodyPr wrap="square" lIns="0" rIns="0" tIns="0" bIns="0" anchor="t">
            <a:spAutoFit/>
          </a:bodyPr>
          <a:lstStyle/>
          <a:p>
            <a:pPr algn="l"/>
            <a:r>
              <a:rPr sz="1400" b="0" i="0">
                <a:solidFill>
                  <a:srgbClr val="1F2A44"/>
                </a:solidFill>
                <a:latin typeface="Calibri"/>
              </a:rPr>
              <a:t>What does the estate hold, where does its value sit, and what should management decide first?</a:t>
            </a:r>
          </a:p>
        </p:txBody>
      </p:sp>
      <p:cxnSp>
        <p:nvCxnSpPr>
          <p:cNvPr id="12" name="Connector 11"/>
          <p:cNvCxnSpPr/>
          <p:nvPr/>
        </p:nvCxnSpPr>
        <p:spPr>
          <a:xfrm>
            <a:off x="594360" y="4676013"/>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1463040" cy="805815"/>
          </a:xfrm>
          <a:prstGeom prst="rect">
            <a:avLst/>
          </a:prstGeom>
          <a:noFill/>
        </p:spPr>
        <p:txBody>
          <a:bodyPr wrap="square" lIns="0" rIns="0" tIns="0" bIns="0" anchor="t">
            <a:spAutoFit/>
          </a:bodyPr>
          <a:lstStyle/>
          <a:p>
            <a:pPr algn="l"/>
            <a:r>
              <a:rPr sz="1100" b="1" i="0">
                <a:solidFill>
                  <a:srgbClr val="C8102E"/>
                </a:solidFill>
                <a:latin typeface="Calibri"/>
              </a:rPr>
              <a:t>ANSWER</a:t>
            </a:r>
          </a:p>
        </p:txBody>
      </p:sp>
      <p:sp>
        <p:nvSpPr>
          <p:cNvPr id="14" name="TextBox 13"/>
          <p:cNvSpPr txBox="1"/>
          <p:nvPr/>
        </p:nvSpPr>
        <p:spPr>
          <a:xfrm>
            <a:off x="2240280" y="4749165"/>
            <a:ext cx="9357055" cy="805815"/>
          </a:xfrm>
          <a:prstGeom prst="rect">
            <a:avLst/>
          </a:prstGeom>
          <a:noFill/>
        </p:spPr>
        <p:txBody>
          <a:bodyPr wrap="square" lIns="0" rIns="0" tIns="0" bIns="0" anchor="t">
            <a:spAutoFit/>
          </a:bodyPr>
          <a:lstStyle/>
          <a:p>
            <a:pPr algn="l"/>
            <a:r>
              <a:rPr sz="1400" b="0" i="0">
                <a:solidFill>
                  <a:srgbClr val="1F2A44"/>
                </a:solidFill>
                <a:latin typeface="Calibri"/>
              </a:rPr>
              <a:t>RMS holds a large multilingual speech and text archive. The whole-estate forecast is 500,290.3 hours of media, with 190,196.8 hours of speech and 341,566.0 hours of music, each with its ninety-five per cent forecast interval in the tables beside. Kiswahili (38,788.1 speech hours), Gikuyu (32,002.9) and Ekegusii (16,729.3) lead. One bucket the key cannot read carries 251,976.0 forecast hours, 50.4% of the estate. The first decision is an object-read grant for the census key, which turns that exposure into measurement. Archive tiering and duplicate reconciliation follow once repriced; a speech-and-text pilot is the earning path to scope.</a:t>
            </a:r>
          </a:p>
        </p:txBody>
      </p:sp>
      <p:sp>
        <p:nvSpPr>
          <p:cNvPr id="15" name="TextBox 14"/>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6" name="TextBox 15"/>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7" name="TextBox 16"/>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01</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the whole estate holds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BASIS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Only 8.5% of the forecast hours rest on files read and judged; the rest is forecast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Hours measured directly (42,454.4) anchor the estimate; every other basis names one step that converts it from forecast into measurement.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CONCENTRATION OF HOURS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One refused bucket carries 251,976.0 forecast hours, 50.4% of the estate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 single access grant is the highest-value preparation step, and that bucket's forecast is also the largest single source of uncertainty.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WHOLE ESTATE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estate most likely holds 500,290.3 hours: 190,196.8 of speech and 341,566.0 of music</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Most likely holding: 500,290.3 hours. The ninety-five per cent forecast interval spans 212,923.5 hours, 42.6% of the forecast.</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Speech is 38.0% of hours and music 68.3%; these are separate estimators, not an exact split.</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Measured bytes are firm at 175.0 TiB; only 8.5% of forecast hours rest on files read and judged.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73.4% of forecast hours sit in buckets the census key cannot read.</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 estate by evidence basis — how much is measured and how much is forecast</a:t>
            </a:r>
          </a:p>
        </p:txBody>
      </p:sp>
      <p:graphicFrame>
        <p:nvGraphicFramePr>
          <p:cNvPr id="4" name="Table 3"/>
          <p:cNvGraphicFramePr>
            <a:graphicFrameLocks noGrp="1"/>
          </p:cNvGraphicFramePr>
          <p:nvPr/>
        </p:nvGraphicFramePr>
        <p:xfrm>
          <a:off x="594360" y="1920240"/>
          <a:ext cx="11002972" cy="2852928"/>
        </p:xfrm>
        <a:graphic>
          <a:graphicData uri="http://schemas.openxmlformats.org/drawingml/2006/table">
            <a:tbl>
              <a:tblPr firstRow="1" bandRow="1">
                <a:tableStyleId>{5C22544A-7EE6-4342-B048-85BDC9FD1C3A}</a:tableStyleId>
              </a:tblPr>
              <a:tblGrid>
                <a:gridCol w="2870341"/>
                <a:gridCol w="956780"/>
                <a:gridCol w="956780"/>
                <a:gridCol w="1708536"/>
                <a:gridCol w="1708536"/>
                <a:gridCol w="2801999"/>
              </a:tblGrid>
              <a:tr h="475488">
                <a:tc>
                  <a:txBody>
                    <a:bodyPr wrap="square"/>
                    <a:lstStyle/>
                    <a:p>
                      <a:pPr algn="l"/>
                      <a:r>
                        <a:rPr sz="1200" b="1">
                          <a:solidFill>
                            <a:srgbClr val="1F2A44"/>
                          </a:solidFill>
                          <a:latin typeface="Calibri"/>
                        </a:rPr>
                        <a:t>Evidence basis</a:t>
                      </a:r>
                    </a:p>
                  </a:txBody>
                  <a:tcPr marL="54864" marR="54864" marT="27432" marB="27432">
                    <a:solidFill>
                      <a:srgbClr val="E9ECF1"/>
                    </a:solidFill>
                  </a:tcPr>
                </a:tc>
                <a:tc>
                  <a:txBody>
                    <a:bodyPr wrap="square"/>
                    <a:lstStyle/>
                    <a:p>
                      <a:pPr algn="l"/>
                      <a:r>
                        <a:rPr sz="1200" b="1">
                          <a:solidFill>
                            <a:srgbClr val="1F2A44"/>
                          </a:solidFill>
                          <a:latin typeface="Calibri"/>
                        </a:rPr>
                        <a:t>Folder strata</a:t>
                      </a:r>
                    </a:p>
                  </a:txBody>
                  <a:tcPr marL="54864" marR="54864" marT="27432" marB="27432">
                    <a:solidFill>
                      <a:srgbClr val="E9ECF1"/>
                    </a:solidFill>
                  </a:tcPr>
                </a:tc>
                <a:tc>
                  <a:txBody>
                    <a:bodyPr wrap="square"/>
                    <a:lstStyle/>
                    <a:p>
                      <a:pPr algn="l"/>
                      <a:r>
                        <a:rPr sz="1200" b="1">
                          <a:solidFill>
                            <a:srgbClr val="1F2A44"/>
                          </a:solidFill>
                          <a:latin typeface="Calibri"/>
                        </a:rPr>
                        <a:t>Media files</a:t>
                      </a:r>
                    </a:p>
                  </a:txBody>
                  <a:tcPr marL="54864" marR="54864" marT="27432" marB="27432">
                    <a:solidFill>
                      <a:srgbClr val="E9ECF1"/>
                    </a:solidFill>
                  </a:tcPr>
                </a:tc>
                <a:tc>
                  <a:txBody>
                    <a:bodyPr wrap="square"/>
                    <a:lstStyle/>
                    <a:p>
                      <a:pPr algn="l"/>
                      <a:r>
                        <a:rPr sz="1200" b="1">
                          <a:solidFill>
                            <a:srgbClr val="1F2A44"/>
                          </a:solidFill>
                          <a:latin typeface="Calibri"/>
                        </a:rPr>
                        <a:t>Hours (95 %)</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c>
                  <a:txBody>
                    <a:bodyPr wrap="square"/>
                    <a:lstStyle/>
                    <a:p>
                      <a:pPr algn="l"/>
                      <a:r>
                        <a:rPr sz="1200" b="1">
                          <a:solidFill>
                            <a:srgbClr val="1F2A44"/>
                          </a:solidFill>
                          <a:latin typeface="Calibri"/>
                        </a:rPr>
                        <a:t>What converts it into measurement</a:t>
                      </a:r>
                    </a:p>
                  </a:txBody>
                  <a:tcPr marL="54864" marR="54864" marT="27432" marB="27432">
                    <a:solidFill>
                      <a:srgbClr val="E9ECF1"/>
                    </a:solidFill>
                  </a:tcPr>
                </a:tc>
              </a:tr>
              <a:tr h="475488">
                <a:tc>
                  <a:txBody>
                    <a:bodyPr wrap="square"/>
                    <a:lstStyle/>
                    <a:p>
                      <a:pPr algn="l"/>
                      <a:r>
                        <a:rPr sz="1200" b="0">
                          <a:solidFill>
                            <a:srgbClr val="1F2A44"/>
                          </a:solidFill>
                          <a:latin typeface="Calibri"/>
                        </a:rPr>
                        <a:t>read and judged</a:t>
                      </a:r>
                    </a:p>
                  </a:txBody>
                  <a:tcPr marL="54864" marR="54864" marT="27432" marB="27432">
                    <a:solidFill>
                      <a:srgbClr val="FFFFFF"/>
                    </a:solidFill>
                  </a:tcPr>
                </a:tc>
                <a:tc>
                  <a:txBody>
                    <a:bodyPr wrap="square"/>
                    <a:lstStyle/>
                    <a:p>
                      <a:pPr algn="l"/>
                      <a:r>
                        <a:rPr sz="1200" b="0">
                          <a:solidFill>
                            <a:srgbClr val="1F2A44"/>
                          </a:solidFill>
                          <a:latin typeface="Calibri"/>
                        </a:rPr>
                        <a:t>242</a:t>
                      </a:r>
                    </a:p>
                  </a:txBody>
                  <a:tcPr marL="54864" marR="54864" marT="27432" marB="27432">
                    <a:solidFill>
                      <a:srgbClr val="FFFFFF"/>
                    </a:solidFill>
                  </a:tcPr>
                </a:tc>
                <a:tc>
                  <a:txBody>
                    <a:bodyPr wrap="square"/>
                    <a:lstStyle/>
                    <a:p>
                      <a:pPr algn="r"/>
                      <a:r>
                        <a:rPr sz="1200" b="0">
                          <a:solidFill>
                            <a:srgbClr val="1F2A44"/>
                          </a:solidFill>
                          <a:latin typeface="Courier New"/>
                        </a:rPr>
                        <a:t>432,850</a:t>
                      </a:r>
                    </a:p>
                  </a:txBody>
                  <a:tcPr marL="54864" marR="54864" marT="27432" marB="27432">
                    <a:solidFill>
                      <a:srgbClr val="FFFFFF"/>
                    </a:solidFill>
                  </a:tcPr>
                </a:tc>
                <a:tc>
                  <a:txBody>
                    <a:bodyPr wrap="square"/>
                    <a:lstStyle/>
                    <a:p>
                      <a:pPr algn="r"/>
                      <a:r>
                        <a:rPr sz="1200" b="0">
                          <a:solidFill>
                            <a:srgbClr val="1F2A44"/>
                          </a:solidFill>
                          <a:latin typeface="Courier New"/>
                        </a:rPr>
                        <a:t>42,454 (42,272–42,634)</a:t>
                      </a:r>
                    </a:p>
                  </a:txBody>
                  <a:tcPr marL="54864" marR="54864" marT="27432" marB="27432">
                    <a:solidFill>
                      <a:srgbClr val="FFFFFF"/>
                    </a:solidFill>
                  </a:tcPr>
                </a:tc>
                <a:tc>
                  <a:txBody>
                    <a:bodyPr wrap="square"/>
                    <a:lstStyle/>
                    <a:p>
                      <a:pPr algn="r"/>
                      <a:r>
                        <a:rPr sz="1200" b="0">
                          <a:solidFill>
                            <a:srgbClr val="1F2A44"/>
                          </a:solidFill>
                          <a:latin typeface="Courier New"/>
                        </a:rPr>
                        <a:t>23,349 (22,862–23,879)</a:t>
                      </a:r>
                    </a:p>
                  </a:txBody>
                  <a:tcPr marL="54864" marR="54864" marT="27432" marB="27432">
                    <a:solidFill>
                      <a:srgbClr val="FFFFFF"/>
                    </a:solidFill>
                  </a:tcPr>
                </a:tc>
                <a:tc>
                  <a:txBody>
                    <a:bodyPr wrap="square"/>
                    <a:lstStyle/>
                    <a:p>
                      <a:pPr algn="r"/>
                      <a:r>
                        <a:rPr sz="1200" b="0">
                          <a:solidFill>
                            <a:srgbClr val="1F2A44"/>
                          </a:solidFill>
                          <a:latin typeface="Courier New"/>
                        </a:rPr>
                        <a:t>nothing — measured</a:t>
                      </a:r>
                    </a:p>
                  </a:txBody>
                  <a:tcPr marL="54864" marR="54864" marT="27432" marB="27432">
                    <a:solidFill>
                      <a:srgbClr val="FFFFFF"/>
                    </a:solidFill>
                  </a:tcPr>
                </a:tc>
              </a:tr>
              <a:tr h="475488">
                <a:tc>
                  <a:txBody>
                    <a:bodyPr wrap="square"/>
                    <a:lstStyle/>
                    <a:p>
                      <a:pPr algn="l"/>
                      <a:r>
                        <a:rPr sz="1200" b="0">
                          <a:solidFill>
                            <a:srgbClr val="1F2A44"/>
                          </a:solidFill>
                          <a:latin typeface="Calibri"/>
                        </a:rPr>
                        <a:t>hours measured on headers; content forecast</a:t>
                      </a:r>
                    </a:p>
                  </a:txBody>
                  <a:tcPr marL="54864" marR="54864" marT="27432" marB="27432">
                    <a:solidFill>
                      <a:srgbClr val="FFFFFF"/>
                    </a:solidFill>
                  </a:tcPr>
                </a:tc>
                <a:tc>
                  <a:txBody>
                    <a:bodyPr wrap="square"/>
                    <a:lstStyle/>
                    <a:p>
                      <a:pPr algn="l"/>
                      <a:r>
                        <a:rPr sz="1200" b="0">
                          <a:solidFill>
                            <a:srgbClr val="1F2A44"/>
                          </a:solidFill>
                          <a:latin typeface="Calibri"/>
                        </a:rPr>
                        <a:t>72</a:t>
                      </a:r>
                    </a:p>
                  </a:txBody>
                  <a:tcPr marL="54864" marR="54864" marT="27432" marB="27432">
                    <a:solidFill>
                      <a:srgbClr val="FFFFFF"/>
                    </a:solidFill>
                  </a:tcPr>
                </a:tc>
                <a:tc>
                  <a:txBody>
                    <a:bodyPr wrap="square"/>
                    <a:lstStyle/>
                    <a:p>
                      <a:pPr algn="r"/>
                      <a:r>
                        <a:rPr sz="1200" b="0">
                          <a:solidFill>
                            <a:srgbClr val="1F2A44"/>
                          </a:solidFill>
                          <a:latin typeface="Courier New"/>
                        </a:rPr>
                        <a:t>10,277</a:t>
                      </a:r>
                    </a:p>
                  </a:txBody>
                  <a:tcPr marL="54864" marR="54864" marT="27432" marB="27432">
                    <a:solidFill>
                      <a:srgbClr val="FFFFFF"/>
                    </a:solidFill>
                  </a:tcPr>
                </a:tc>
                <a:tc>
                  <a:txBody>
                    <a:bodyPr wrap="square"/>
                    <a:lstStyle/>
                    <a:p>
                      <a:pPr algn="r"/>
                      <a:r>
                        <a:rPr sz="1200" b="0">
                          <a:solidFill>
                            <a:srgbClr val="1F2A44"/>
                          </a:solidFill>
                          <a:latin typeface="Courier New"/>
                        </a:rPr>
                        <a:t>1,712 (1,712–1,712)</a:t>
                      </a:r>
                    </a:p>
                  </a:txBody>
                  <a:tcPr marL="54864" marR="54864" marT="27432" marB="27432">
                    <a:solidFill>
                      <a:srgbClr val="FFFFFF"/>
                    </a:solidFill>
                  </a:tcPr>
                </a:tc>
                <a:tc>
                  <a:txBody>
                    <a:bodyPr wrap="square"/>
                    <a:lstStyle/>
                    <a:p>
                      <a:pPr algn="r"/>
                      <a:r>
                        <a:rPr sz="1200" b="0">
                          <a:solidFill>
                            <a:srgbClr val="1F2A44"/>
                          </a:solidFill>
                          <a:latin typeface="Courier New"/>
                        </a:rPr>
                        <a:t>1,250 (1,159–1,325)</a:t>
                      </a:r>
                    </a:p>
                  </a:txBody>
                  <a:tcPr marL="54864" marR="54864" marT="27432" marB="27432">
                    <a:solidFill>
                      <a:srgbClr val="FFFFFF"/>
                    </a:solidFill>
                  </a:tcPr>
                </a:tc>
                <a:tc>
                  <a:txBody>
                    <a:bodyPr wrap="square"/>
                    <a:lstStyle/>
                    <a:p>
                      <a:pPr algn="r"/>
                      <a:r>
                        <a:rPr sz="1200" b="0">
                          <a:solidFill>
                            <a:srgbClr val="1F2A44"/>
                          </a:solidFill>
                          <a:latin typeface="Courier New"/>
                        </a:rPr>
                        <a:t>finish the planned folder sample</a:t>
                      </a:r>
                    </a:p>
                  </a:txBody>
                  <a:tcPr marL="54864" marR="54864" marT="27432" marB="27432">
                    <a:solidFill>
                      <a:srgbClr val="FFFFFF"/>
                    </a:solidFill>
                  </a:tcPr>
                </a:tc>
              </a:tr>
              <a:tr h="475488">
                <a:tc>
                  <a:txBody>
                    <a:bodyPr wrap="square"/>
                    <a:lstStyle/>
                    <a:p>
                      <a:pPr algn="l"/>
                      <a:r>
                        <a:rPr sz="1200" b="0">
                          <a:solidFill>
                            <a:srgbClr val="1F2A44"/>
                          </a:solidFill>
                          <a:latin typeface="Calibri"/>
                        </a:rPr>
                        <a:t>readable, not yet sampled (forecast)</a:t>
                      </a:r>
                    </a:p>
                  </a:txBody>
                  <a:tcPr marL="54864" marR="54864" marT="27432" marB="27432">
                    <a:solidFill>
                      <a:srgbClr val="FFFFFF"/>
                    </a:solidFill>
                  </a:tcPr>
                </a:tc>
                <a:tc>
                  <a:txBody>
                    <a:bodyPr wrap="square"/>
                    <a:lstStyle/>
                    <a:p>
                      <a:pPr algn="l"/>
                      <a:r>
                        <a:rPr sz="1200" b="0">
                          <a:solidFill>
                            <a:srgbClr val="1F2A44"/>
                          </a:solidFill>
                          <a:latin typeface="Calibri"/>
                        </a:rPr>
                        <a:t>193</a:t>
                      </a:r>
                    </a:p>
                  </a:txBody>
                  <a:tcPr marL="54864" marR="54864" marT="27432" marB="27432">
                    <a:solidFill>
                      <a:srgbClr val="FFFFFF"/>
                    </a:solidFill>
                  </a:tcPr>
                </a:tc>
                <a:tc>
                  <a:txBody>
                    <a:bodyPr wrap="square"/>
                    <a:lstStyle/>
                    <a:p>
                      <a:pPr algn="r"/>
                      <a:r>
                        <a:rPr sz="1200" b="0">
                          <a:solidFill>
                            <a:srgbClr val="1F2A44"/>
                          </a:solidFill>
                          <a:latin typeface="Courier New"/>
                        </a:rPr>
                        <a:t>1,209,266</a:t>
                      </a:r>
                    </a:p>
                  </a:txBody>
                  <a:tcPr marL="54864" marR="54864" marT="27432" marB="27432">
                    <a:solidFill>
                      <a:srgbClr val="FFFFFF"/>
                    </a:solidFill>
                  </a:tcPr>
                </a:tc>
                <a:tc>
                  <a:txBody>
                    <a:bodyPr wrap="square"/>
                    <a:lstStyle/>
                    <a:p>
                      <a:pPr algn="r"/>
                      <a:r>
                        <a:rPr sz="1200" b="0">
                          <a:solidFill>
                            <a:srgbClr val="1F2A44"/>
                          </a:solidFill>
                          <a:latin typeface="Courier New"/>
                        </a:rPr>
                        <a:t>86,601 (60,888–119,832)</a:t>
                      </a:r>
                    </a:p>
                  </a:txBody>
                  <a:tcPr marL="54864" marR="54864" marT="27432" marB="27432">
                    <a:solidFill>
                      <a:srgbClr val="FFFFFF"/>
                    </a:solidFill>
                  </a:tcPr>
                </a:tc>
                <a:tc>
                  <a:txBody>
                    <a:bodyPr wrap="square"/>
                    <a:lstStyle/>
                    <a:p>
                      <a:pPr algn="r"/>
                      <a:r>
                        <a:rPr sz="1200" b="0">
                          <a:solidFill>
                            <a:srgbClr val="1F2A44"/>
                          </a:solidFill>
                          <a:latin typeface="Courier New"/>
                        </a:rPr>
                        <a:t>25,874 (16,951–37,803)</a:t>
                      </a:r>
                    </a:p>
                  </a:txBody>
                  <a:tcPr marL="54864" marR="54864" marT="27432" marB="27432">
                    <a:solidFill>
                      <a:srgbClr val="FFFFFF"/>
                    </a:solidFill>
                  </a:tcPr>
                </a:tc>
                <a:tc>
                  <a:txBody>
                    <a:bodyPr wrap="square"/>
                    <a:lstStyle/>
                    <a:p>
                      <a:pPr algn="r"/>
                      <a:r>
                        <a:rPr sz="1200" b="0">
                          <a:solidFill>
                            <a:srgbClr val="1F2A44"/>
                          </a:solidFill>
                          <a:latin typeface="Courier New"/>
                        </a:rPr>
                        <a:t>the running listing, probes and sample</a:t>
                      </a:r>
                    </a:p>
                  </a:txBody>
                  <a:tcPr marL="54864" marR="54864" marT="27432" marB="27432">
                    <a:solidFill>
                      <a:srgbClr val="FFFFFF"/>
                    </a:solidFill>
                  </a:tcPr>
                </a:tc>
              </a:tr>
              <a:tr h="475488">
                <a:tc>
                  <a:txBody>
                    <a:bodyPr wrap="square"/>
                    <a:lstStyle/>
                    <a:p>
                      <a:pPr algn="l"/>
                      <a:r>
                        <a:rPr sz="1200" b="0">
                          <a:solidFill>
                            <a:srgbClr val="1F2A44"/>
                          </a:solidFill>
                          <a:latin typeface="Calibri"/>
                        </a:rPr>
                        <a:t>key refused (forecast)</a:t>
                      </a:r>
                    </a:p>
                  </a:txBody>
                  <a:tcPr marL="54864" marR="54864" marT="27432" marB="27432">
                    <a:solidFill>
                      <a:srgbClr val="FFFFFF"/>
                    </a:solidFill>
                  </a:tcPr>
                </a:tc>
                <a:tc>
                  <a:txBody>
                    <a:bodyPr wrap="square"/>
                    <a:lstStyle/>
                    <a:p>
                      <a:pPr algn="l"/>
                      <a:r>
                        <a:rPr sz="1200" b="0">
                          <a:solidFill>
                            <a:srgbClr val="1F2A44"/>
                          </a:solidFill>
                          <a:latin typeface="Calibri"/>
                        </a:rPr>
                        <a:t>825</a:t>
                      </a:r>
                    </a:p>
                  </a:txBody>
                  <a:tcPr marL="54864" marR="54864" marT="27432" marB="27432">
                    <a:solidFill>
                      <a:srgbClr val="FFFFFF"/>
                    </a:solidFill>
                  </a:tcPr>
                </a:tc>
                <a:tc>
                  <a:txBody>
                    <a:bodyPr wrap="square"/>
                    <a:lstStyle/>
                    <a:p>
                      <a:pPr algn="r"/>
                      <a:r>
                        <a:rPr sz="1200" b="0">
                          <a:solidFill>
                            <a:srgbClr val="1F2A44"/>
                          </a:solidFill>
                          <a:latin typeface="Courier New"/>
                        </a:rPr>
                        <a:t>4,172,989</a:t>
                      </a:r>
                    </a:p>
                  </a:txBody>
                  <a:tcPr marL="54864" marR="54864" marT="27432" marB="27432">
                    <a:solidFill>
                      <a:srgbClr val="FFFFFF"/>
                    </a:solidFill>
                  </a:tcPr>
                </a:tc>
                <a:tc>
                  <a:txBody>
                    <a:bodyPr wrap="square"/>
                    <a:lstStyle/>
                    <a:p>
                      <a:pPr algn="r"/>
                      <a:r>
                        <a:rPr sz="1200" b="0">
                          <a:solidFill>
                            <a:srgbClr val="1F2A44"/>
                          </a:solidFill>
                          <a:latin typeface="Courier New"/>
                        </a:rPr>
                        <a:t>367,223 (284,577–492,168)</a:t>
                      </a:r>
                    </a:p>
                  </a:txBody>
                  <a:tcPr marL="54864" marR="54864" marT="27432" marB="27432">
                    <a:solidFill>
                      <a:srgbClr val="FFFFFF"/>
                    </a:solidFill>
                  </a:tcPr>
                </a:tc>
                <a:tc>
                  <a:txBody>
                    <a:bodyPr wrap="square"/>
                    <a:lstStyle/>
                    <a:p>
                      <a:pPr algn="r"/>
                      <a:r>
                        <a:rPr sz="1200" b="0">
                          <a:solidFill>
                            <a:srgbClr val="1F2A44"/>
                          </a:solidFill>
                          <a:latin typeface="Courier New"/>
                        </a:rPr>
                        <a:t>139,340 (103,925–194,851)</a:t>
                      </a:r>
                    </a:p>
                  </a:txBody>
                  <a:tcPr marL="54864" marR="54864" marT="27432" marB="27432">
                    <a:solidFill>
                      <a:srgbClr val="FFFFFF"/>
                    </a:solidFill>
                  </a:tcPr>
                </a:tc>
                <a:tc>
                  <a:txBody>
                    <a:bodyPr wrap="square"/>
                    <a:lstStyle/>
                    <a:p>
                      <a:pPr algn="r"/>
                      <a:r>
                        <a:rPr sz="1200" b="0">
                          <a:solidFill>
                            <a:srgbClr val="1F2A44"/>
                          </a:solidFill>
                          <a:latin typeface="Courier New"/>
                        </a:rPr>
                        <a:t>one object-read grant to the census key</a:t>
                      </a:r>
                    </a:p>
                  </a:txBody>
                  <a:tcPr marL="54864" marR="54864" marT="27432" marB="27432">
                    <a:solidFill>
                      <a:srgbClr val="FFFFFF"/>
                    </a:solidFill>
                  </a:tcPr>
                </a:tc>
              </a:tr>
              <a:tr h="475488">
                <a:tc>
                  <a:txBody>
                    <a:bodyPr wrap="square"/>
                    <a:lstStyle/>
                    <a:p>
                      <a:pPr algn="l"/>
                      <a:r>
                        <a:rPr sz="1200" b="0">
                          <a:solidFill>
                            <a:srgbClr val="1F2A44"/>
                          </a:solidFill>
                          <a:latin typeface="Calibri"/>
                        </a:rPr>
                        <a:t>archive class (forecast)</a:t>
                      </a:r>
                    </a:p>
                  </a:txBody>
                  <a:tcPr marL="54864" marR="54864" marT="27432" marB="27432">
                    <a:solidFill>
                      <a:srgbClr val="FFFFFF"/>
                    </a:solidFill>
                  </a:tcPr>
                </a:tc>
                <a:tc>
                  <a:txBody>
                    <a:bodyPr wrap="square"/>
                    <a:lstStyle/>
                    <a:p>
                      <a:pPr algn="l"/>
                      <a:r>
                        <a:rPr sz="1200" b="0">
                          <a:solidFill>
                            <a:srgbClr val="1F2A44"/>
                          </a:solidFill>
                          <a:latin typeface="Calibri"/>
                        </a:rPr>
                        <a:t>2</a:t>
                      </a:r>
                    </a:p>
                  </a:txBody>
                  <a:tcPr marL="54864" marR="54864" marT="27432" marB="27432">
                    <a:solidFill>
                      <a:srgbClr val="FFFFFF"/>
                    </a:solidFill>
                  </a:tcPr>
                </a:tc>
                <a:tc>
                  <a:txBody>
                    <a:bodyPr wrap="square"/>
                    <a:lstStyle/>
                    <a:p>
                      <a:pPr algn="r"/>
                      <a:r>
                        <a:rPr sz="1200" b="0">
                          <a:solidFill>
                            <a:srgbClr val="1F2A44"/>
                          </a:solidFill>
                          <a:latin typeface="Courier New"/>
                        </a:rPr>
                        <a:t>584</a:t>
                      </a:r>
                    </a:p>
                  </a:txBody>
                  <a:tcPr marL="54864" marR="54864" marT="27432" marB="27432">
                    <a:solidFill>
                      <a:srgbClr val="FFFFFF"/>
                    </a:solidFill>
                  </a:tcPr>
                </a:tc>
                <a:tc>
                  <a:txBody>
                    <a:bodyPr wrap="square"/>
                    <a:lstStyle/>
                    <a:p>
                      <a:pPr algn="r"/>
                      <a:r>
                        <a:rPr sz="1200" b="0">
                          <a:solidFill>
                            <a:srgbClr val="1F2A44"/>
                          </a:solidFill>
                          <a:latin typeface="Courier New"/>
                        </a:rPr>
                        <a:t>2 (1–9)</a:t>
                      </a:r>
                    </a:p>
                  </a:txBody>
                  <a:tcPr marL="54864" marR="54864" marT="27432" marB="27432">
                    <a:solidFill>
                      <a:srgbClr val="FFFFFF"/>
                    </a:solidFill>
                  </a:tcPr>
                </a:tc>
                <a:tc>
                  <a:txBody>
                    <a:bodyPr wrap="square"/>
                    <a:lstStyle/>
                    <a:p>
                      <a:pPr algn="r"/>
                      <a:r>
                        <a:rPr sz="1200" b="0">
                          <a:solidFill>
                            <a:srgbClr val="1F2A44"/>
                          </a:solidFill>
                          <a:latin typeface="Courier New"/>
                        </a:rPr>
                        <a:t>1 (0–7)</a:t>
                      </a:r>
                    </a:p>
                  </a:txBody>
                  <a:tcPr marL="54864" marR="54864" marT="27432" marB="27432">
                    <a:solidFill>
                      <a:srgbClr val="FFFFFF"/>
                    </a:solidFill>
                  </a:tcPr>
                </a:tc>
                <a:tc>
                  <a:txBody>
                    <a:bodyPr wrap="square"/>
                    <a:lstStyle/>
                    <a:p>
                      <a:pPr algn="r"/>
                      <a:r>
                        <a:rPr sz="1200" b="0">
                          <a:solidFill>
                            <a:srgbClr val="1F2A44"/>
                          </a:solidFill>
                          <a:latin typeface="Courier New"/>
                        </a:rPr>
                        <a:t>an owner decision to restore sample files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Read-and-judged strata are measured; everything else is forecast from them.</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1" cy="2761488"/>
        </p:xfrm>
        <a:graphic>
          <a:graphicData uri="http://schemas.openxmlformats.org/drawingml/2006/table">
            <a:tbl>
              <a:tblPr firstRow="1" bandRow="1">
                <a:tableStyleId>{5C22544A-7EE6-4342-B048-85BDC9FD1C3A}</a:tableStyleId>
              </a:tblPr>
              <a:tblGrid>
                <a:gridCol w="1719214"/>
                <a:gridCol w="1169066"/>
                <a:gridCol w="962760"/>
                <a:gridCol w="962760"/>
                <a:gridCol w="1719214"/>
                <a:gridCol w="1581677"/>
                <a:gridCol w="2888280"/>
              </a:tblGrid>
              <a:tr h="310896">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61264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251,976 (174,935–366,723)</a:t>
                      </a:r>
                    </a:p>
                  </a:txBody>
                  <a:tcPr marL="54864" marR="54864" marT="27432" marB="27432">
                    <a:solidFill>
                      <a:srgbClr val="FFFFFF"/>
                    </a:solidFill>
                  </a:tcPr>
                </a:tc>
                <a:tc>
                  <a:txBody>
                    <a:bodyPr wrap="square"/>
                    <a:lstStyle/>
                    <a:p>
                      <a:pPr algn="r"/>
                      <a:r>
                        <a:rPr sz="1100" b="0">
                          <a:solidFill>
                            <a:srgbClr val="1F2A44"/>
                          </a:solidFill>
                          <a:latin typeface="Courier New"/>
                        </a:rPr>
                        <a:t>71,405 (43,767–117,603)</a:t>
                      </a:r>
                    </a:p>
                  </a:txBody>
                  <a:tcPr marL="54864" marR="54864" marT="27432" marB="27432">
                    <a:solidFill>
                      <a:srgbClr val="FFFFFF"/>
                    </a:solidFill>
                  </a:tcPr>
                </a:tc>
                <a:tc>
                  <a:txBody>
                    <a:bodyPr wrap="square"/>
                    <a:lstStyle/>
                    <a:p>
                      <a:pPr algn="r"/>
                      <a:r>
                        <a:rPr sz="1100" b="0">
                          <a:solidFill>
                            <a:srgbClr val="1F2A44"/>
                          </a:solidFill>
                          <a:latin typeface="Courier New"/>
                        </a:rPr>
                        <a:t>Kiswahili 15,692 h; Gikuyu (Kikuyu) 11,442 h; Kalenjin 6,552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31,402 (27,438–86,272)</a:t>
                      </a:r>
                    </a:p>
                  </a:txBody>
                  <a:tcPr marL="54864" marR="54864" marT="27432" marB="27432">
                    <a:solidFill>
                      <a:srgbClr val="FFFFFF"/>
                    </a:solidFill>
                  </a:tcPr>
                </a:tc>
                <a:tc>
                  <a:txBody>
                    <a:bodyPr wrap="square"/>
                    <a:lstStyle/>
                    <a:p>
                      <a:pPr algn="r"/>
                      <a:r>
                        <a:rPr sz="1100" b="0">
                          <a:solidFill>
                            <a:srgbClr val="1F2A44"/>
                          </a:solidFill>
                          <a:latin typeface="Courier New"/>
                        </a:rPr>
                        <a:t>22,428 (10,318–60,184)</a:t>
                      </a:r>
                    </a:p>
                  </a:txBody>
                  <a:tcPr marL="54864" marR="54864" marT="27432" marB="27432">
                    <a:solidFill>
                      <a:srgbClr val="FFFFFF"/>
                    </a:solidFill>
                  </a:tcPr>
                </a:tc>
                <a:tc>
                  <a:txBody>
                    <a:bodyPr wrap="square"/>
                    <a:lstStyle/>
                    <a:p>
                      <a:pPr algn="r"/>
                      <a:r>
                        <a:rPr sz="1100" b="0">
                          <a:solidFill>
                            <a:srgbClr val="1F2A44"/>
                          </a:solidFill>
                          <a:latin typeface="Courier New"/>
                        </a:rPr>
                        <a:t>Gikuyu (Kikuyu) 4,211 h; Kiswahili 3,472 h; Ekegusii (Kisii) 2,339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272,080</a:t>
                      </a:r>
                    </a:p>
                  </a:txBody>
                  <a:tcPr marL="54864" marR="54864" marT="27432" marB="27432">
                    <a:solidFill>
                      <a:srgbClr val="FFFFFF"/>
                    </a:solidFill>
                  </a:tcPr>
                </a:tc>
                <a:tc>
                  <a:txBody>
                    <a:bodyPr wrap="square"/>
                    <a:lstStyle/>
                    <a:p>
                      <a:pPr algn="r"/>
                      <a:r>
                        <a:rPr sz="1100" b="0">
                          <a:solidFill>
                            <a:srgbClr val="1F2A44"/>
                          </a:solidFill>
                          <a:latin typeface="Courier New"/>
                        </a:rPr>
                        <a:t>27,524 (24,787–57,290)</a:t>
                      </a:r>
                    </a:p>
                  </a:txBody>
                  <a:tcPr marL="54864" marR="54864" marT="27432" marB="27432">
                    <a:solidFill>
                      <a:srgbClr val="FFFFFF"/>
                    </a:solidFill>
                  </a:tcPr>
                </a:tc>
                <a:tc>
                  <a:txBody>
                    <a:bodyPr wrap="square"/>
                    <a:lstStyle/>
                    <a:p>
                      <a:pPr algn="r"/>
                      <a:r>
                        <a:rPr sz="1100" b="0">
                          <a:solidFill>
                            <a:srgbClr val="1F2A44"/>
                          </a:solidFill>
                          <a:latin typeface="Courier New"/>
                        </a:rPr>
                        <a:t>19,151 (11,769–38,181)</a:t>
                      </a:r>
                    </a:p>
                  </a:txBody>
                  <a:tcPr marL="54864" marR="54864" marT="27432" marB="27432">
                    <a:solidFill>
                      <a:srgbClr val="FFFFFF"/>
                    </a:solidFill>
                  </a:tcPr>
                </a:tc>
                <a:tc>
                  <a:txBody>
                    <a:bodyPr wrap="square"/>
                    <a:lstStyle/>
                    <a:p>
                      <a:pPr algn="r"/>
                      <a:r>
                        <a:rPr sz="1100" b="0">
                          <a:solidFill>
                            <a:srgbClr val="1F2A44"/>
                          </a:solidFill>
                          <a:latin typeface="Courier New"/>
                        </a:rPr>
                        <a:t>Gikuyu (Kikuyu) 3,556 h; Kiswahili 2,909 h; Wanga (Luhya) 2,130 h</a:t>
                      </a:r>
                    </a:p>
                  </a:txBody>
                  <a:tcPr marL="54864" marR="54864" marT="27432" marB="27432">
                    <a:solidFill>
                      <a:srgbClr val="FFFFFF"/>
                    </a:solidFill>
                  </a:tcPr>
                </a:tc>
              </a:tr>
              <a:tr h="61264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19,369 (17,271–41,908)</a:t>
                      </a:r>
                    </a:p>
                  </a:txBody>
                  <a:tcPr marL="54864" marR="54864" marT="27432" marB="27432">
                    <a:solidFill>
                      <a:srgbClr val="FFFFFF"/>
                    </a:solidFill>
                  </a:tcPr>
                </a:tc>
                <a:tc>
                  <a:txBody>
                    <a:bodyPr wrap="square"/>
                    <a:lstStyle/>
                    <a:p>
                      <a:pPr algn="r"/>
                      <a:r>
                        <a:rPr sz="1100" b="0">
                          <a:solidFill>
                            <a:srgbClr val="1F2A44"/>
                          </a:solidFill>
                          <a:latin typeface="Courier New"/>
                        </a:rPr>
                        <a:t>13,856 (8,162–29,268)</a:t>
                      </a:r>
                    </a:p>
                  </a:txBody>
                  <a:tcPr marL="54864" marR="54864" marT="27432" marB="27432">
                    <a:solidFill>
                      <a:srgbClr val="FFFFFF"/>
                    </a:solidFill>
                  </a:tcPr>
                </a:tc>
                <a:tc>
                  <a:txBody>
                    <a:bodyPr wrap="square"/>
                    <a:lstStyle/>
                    <a:p>
                      <a:pPr algn="r"/>
                      <a:r>
                        <a:rPr sz="1100" b="0">
                          <a:solidFill>
                            <a:srgbClr val="1F2A44"/>
                          </a:solidFill>
                          <a:latin typeface="Courier New"/>
                        </a:rPr>
                        <a:t>Gikuyu (Kikuyu) 2,598 h; Kiswahili 2,221 h; Wanga (Luhya) 1,418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1" cy="2703576"/>
        </p:xfrm>
        <a:graphic>
          <a:graphicData uri="http://schemas.openxmlformats.org/drawingml/2006/table">
            <a:tbl>
              <a:tblPr firstRow="1" bandRow="1">
                <a:tableStyleId>{5C22544A-7EE6-4342-B048-85BDC9FD1C3A}</a:tableStyleId>
              </a:tblPr>
              <a:tblGrid>
                <a:gridCol w="1719214"/>
                <a:gridCol w="1169066"/>
                <a:gridCol w="962760"/>
                <a:gridCol w="962760"/>
                <a:gridCol w="1719214"/>
                <a:gridCol w="1581677"/>
                <a:gridCol w="2888280"/>
              </a:tblGrid>
              <a:tr h="310896">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61264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141,564</a:t>
                      </a:r>
                    </a:p>
                  </a:txBody>
                  <a:tcPr marL="54864" marR="54864" marT="27432" marB="27432">
                    <a:solidFill>
                      <a:srgbClr val="FFFFFF"/>
                    </a:solidFill>
                  </a:tcPr>
                </a:tc>
                <a:tc>
                  <a:txBody>
                    <a:bodyPr wrap="square"/>
                    <a:lstStyle/>
                    <a:p>
                      <a:pPr algn="r"/>
                      <a:r>
                        <a:rPr sz="1100" b="0">
                          <a:solidFill>
                            <a:srgbClr val="1F2A44"/>
                          </a:solidFill>
                          <a:latin typeface="Courier New"/>
                        </a:rPr>
                        <a:t>18,983 (18,951–19,017)</a:t>
                      </a:r>
                    </a:p>
                  </a:txBody>
                  <a:tcPr marL="54864" marR="54864" marT="27432" marB="27432">
                    <a:solidFill>
                      <a:srgbClr val="FFFFFF"/>
                    </a:solidFill>
                  </a:tcPr>
                </a:tc>
                <a:tc>
                  <a:txBody>
                    <a:bodyPr wrap="square"/>
                    <a:lstStyle/>
                    <a:p>
                      <a:pPr algn="r"/>
                      <a:r>
                        <a:rPr sz="1100" b="0">
                          <a:solidFill>
                            <a:srgbClr val="1F2A44"/>
                          </a:solidFill>
                          <a:latin typeface="Courier New"/>
                        </a:rPr>
                        <a:t>13,926 (13,454–14,416)</a:t>
                      </a:r>
                    </a:p>
                  </a:txBody>
                  <a:tcPr marL="54864" marR="54864" marT="27432" marB="27432">
                    <a:solidFill>
                      <a:srgbClr val="FFFFFF"/>
                    </a:solidFill>
                  </a:tcPr>
                </a:tc>
                <a:tc>
                  <a:txBody>
                    <a:bodyPr wrap="square"/>
                    <a:lstStyle/>
                    <a:p>
                      <a:pPr algn="r"/>
                      <a:r>
                        <a:rPr sz="1100" b="0">
                          <a:solidFill>
                            <a:srgbClr val="1F2A44"/>
                          </a:solidFill>
                          <a:latin typeface="Courier New"/>
                        </a:rPr>
                        <a:t>Gikuyu (Kikuyu) 2,471 h; Kiswahili 2,192 h; Ekegusii (Kisii) 1,966 h</a:t>
                      </a:r>
                    </a:p>
                  </a:txBody>
                  <a:tcPr marL="54864" marR="54864" marT="27432" marB="27432">
                    <a:solidFill>
                      <a:srgbClr val="FFFFFF"/>
                    </a:solidFill>
                  </a:tcPr>
                </a:tc>
              </a:tr>
              <a:tr h="44500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147,127</a:t>
                      </a:r>
                    </a:p>
                  </a:txBody>
                  <a:tcPr marL="54864" marR="54864" marT="27432" marB="27432">
                    <a:solidFill>
                      <a:srgbClr val="FFFFFF"/>
                    </a:solidFill>
                  </a:tcPr>
                </a:tc>
                <a:tc>
                  <a:txBody>
                    <a:bodyPr wrap="square"/>
                    <a:lstStyle/>
                    <a:p>
                      <a:pPr algn="r"/>
                      <a:r>
                        <a:rPr sz="1100" b="0">
                          <a:solidFill>
                            <a:srgbClr val="1F2A44"/>
                          </a:solidFill>
                          <a:latin typeface="Courier New"/>
                        </a:rPr>
                        <a:t>12,852 (12,676–13,027)</a:t>
                      </a:r>
                    </a:p>
                  </a:txBody>
                  <a:tcPr marL="54864" marR="54864" marT="27432" marB="27432">
                    <a:solidFill>
                      <a:srgbClr val="FFFFFF"/>
                    </a:solidFill>
                  </a:tcPr>
                </a:tc>
                <a:tc>
                  <a:txBody>
                    <a:bodyPr wrap="square"/>
                    <a:lstStyle/>
                    <a:p>
                      <a:pPr algn="r"/>
                      <a:r>
                        <a:rPr sz="1100" b="0">
                          <a:solidFill>
                            <a:srgbClr val="1F2A44"/>
                          </a:solidFill>
                          <a:latin typeface="Courier New"/>
                        </a:rPr>
                        <a:t>2,103 (2,036–2,168)</a:t>
                      </a:r>
                    </a:p>
                  </a:txBody>
                  <a:tcPr marL="54864" marR="54864" marT="27432" marB="27432">
                    <a:solidFill>
                      <a:srgbClr val="FFFFFF"/>
                    </a:solidFill>
                  </a:tcPr>
                </a:tc>
                <a:tc>
                  <a:txBody>
                    <a:bodyPr wrap="square"/>
                    <a:lstStyle/>
                    <a:p>
                      <a:pPr algn="r"/>
                      <a:r>
                        <a:rPr sz="1100" b="0">
                          <a:solidFill>
                            <a:srgbClr val="1F2A44"/>
                          </a:solidFill>
                          <a:latin typeface="Courier New"/>
                        </a:rPr>
                        <a:t>Kiswahili 391 h; Gikuyu (Kikuyu) 375 h; Kalenjin 277 h</a:t>
                      </a:r>
                    </a:p>
                  </a:txBody>
                  <a:tcPr marL="54864" marR="54864" marT="27432" marB="27432">
                    <a:solidFill>
                      <a:srgbClr val="FFFFFF"/>
                    </a:solidFill>
                  </a:tcPr>
                </a:tc>
              </a:tr>
              <a:tr h="445008">
                <a:tc>
                  <a:txBody>
                    <a:bodyPr wrap="square"/>
                    <a:lstStyle/>
                    <a:p>
                      <a:pPr algn="l"/>
                      <a:r>
                        <a:rPr sz="1100" b="0">
                          <a:solidFill>
                            <a:srgbClr val="1F2A44"/>
                          </a:solidFill>
                          <a:latin typeface="Calibri"/>
                        </a:rPr>
                        <a:t>citizen-digital-cms-files</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measured</a:t>
                      </a:r>
                    </a:p>
                  </a:txBody>
                  <a:tcPr marL="54864" marR="54864" marT="27432" marB="27432">
                    <a:solidFill>
                      <a:srgbClr val="FFFFFF"/>
                    </a:solidFill>
                  </a:tcPr>
                </a:tc>
                <a:tc>
                  <a:txBody>
                    <a:bodyPr wrap="square"/>
                    <a:lstStyle/>
                    <a:p>
                      <a:pPr algn="r"/>
                      <a:r>
                        <a:rPr sz="1100" b="0">
                          <a:solidFill>
                            <a:srgbClr val="1F2A44"/>
                          </a:solidFill>
                          <a:latin typeface="Courier New"/>
                        </a:rPr>
                        <a:t>44,818</a:t>
                      </a:r>
                    </a:p>
                  </a:txBody>
                  <a:tcPr marL="54864" marR="54864" marT="27432" marB="27432">
                    <a:solidFill>
                      <a:srgbClr val="FFFFFF"/>
                    </a:solidFill>
                  </a:tcPr>
                </a:tc>
                <a:tc>
                  <a:txBody>
                    <a:bodyPr wrap="square"/>
                    <a:lstStyle/>
                    <a:p>
                      <a:pPr algn="r"/>
                      <a:r>
                        <a:rPr sz="1100" b="0">
                          <a:solidFill>
                            <a:srgbClr val="1F2A44"/>
                          </a:solidFill>
                          <a:latin typeface="Courier New"/>
                        </a:rPr>
                        <a:t>5,979 (5,957–6,001)</a:t>
                      </a:r>
                    </a:p>
                  </a:txBody>
                  <a:tcPr marL="54864" marR="54864" marT="27432" marB="27432">
                    <a:solidFill>
                      <a:srgbClr val="FFFFFF"/>
                    </a:solidFill>
                  </a:tcPr>
                </a:tc>
                <a:tc>
                  <a:txBody>
                    <a:bodyPr wrap="square"/>
                    <a:lstStyle/>
                    <a:p>
                      <a:pPr algn="r"/>
                      <a:r>
                        <a:rPr sz="1100" b="0">
                          <a:solidFill>
                            <a:srgbClr val="1F2A44"/>
                          </a:solidFill>
                          <a:latin typeface="Courier New"/>
                        </a:rPr>
                        <a:t>4,701 (4,564–4,841)</a:t>
                      </a:r>
                    </a:p>
                  </a:txBody>
                  <a:tcPr marL="54864" marR="54864" marT="27432" marB="27432">
                    <a:solidFill>
                      <a:srgbClr val="FFFFFF"/>
                    </a:solidFill>
                  </a:tcPr>
                </a:tc>
                <a:tc>
                  <a:txBody>
                    <a:bodyPr wrap="square"/>
                    <a:lstStyle/>
                    <a:p>
                      <a:pPr algn="r"/>
                      <a:r>
                        <a:rPr sz="1100" b="0">
                          <a:solidFill>
                            <a:srgbClr val="1F2A44"/>
                          </a:solidFill>
                          <a:latin typeface="Courier New"/>
                        </a:rPr>
                        <a:t>Wanga (Luhya) 1,097 h; Gikuyu (Kikuyu) 1,051 h; Kiswahili 654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36,267</a:t>
                      </a:r>
                    </a:p>
                  </a:txBody>
                  <a:tcPr marL="54864" marR="54864" marT="27432" marB="27432">
                    <a:solidFill>
                      <a:srgbClr val="FFFFFF"/>
                    </a:solidFill>
                  </a:tcPr>
                </a:tc>
                <a:tc>
                  <a:txBody>
                    <a:bodyPr wrap="square"/>
                    <a:lstStyle/>
                    <a:p>
                      <a:pPr algn="r"/>
                      <a:r>
                        <a:rPr sz="1100" b="0">
                          <a:solidFill>
                            <a:srgbClr val="1F2A44"/>
                          </a:solidFill>
                          <a:latin typeface="Courier New"/>
                        </a:rPr>
                        <a:t>5,891 (5,072–6,870)</a:t>
                      </a:r>
                    </a:p>
                  </a:txBody>
                  <a:tcPr marL="54864" marR="54864" marT="27432" marB="27432">
                    <a:solidFill>
                      <a:srgbClr val="FFFFFF"/>
                    </a:solidFill>
                  </a:tcPr>
                </a:tc>
                <a:tc>
                  <a:txBody>
                    <a:bodyPr wrap="square"/>
                    <a:lstStyle/>
                    <a:p>
                      <a:pPr algn="r"/>
                      <a:r>
                        <a:rPr sz="1100" b="0">
                          <a:solidFill>
                            <a:srgbClr val="1F2A44"/>
                          </a:solidFill>
                          <a:latin typeface="Courier New"/>
                        </a:rPr>
                        <a:t>1,759 (1,404–2,209)</a:t>
                      </a:r>
                    </a:p>
                  </a:txBody>
                  <a:tcPr marL="54864" marR="54864" marT="27432" marB="27432">
                    <a:solidFill>
                      <a:srgbClr val="FFFFFF"/>
                    </a:solidFill>
                  </a:tcPr>
                </a:tc>
                <a:tc>
                  <a:txBody>
                    <a:bodyPr wrap="square"/>
                    <a:lstStyle/>
                    <a:p>
                      <a:pPr algn="r"/>
                      <a:r>
                        <a:rPr sz="1100" b="0">
                          <a:solidFill>
                            <a:srgbClr val="1F2A44"/>
                          </a:solidFill>
                          <a:latin typeface="Courier New"/>
                        </a:rPr>
                        <a:t>Kiswahili 392 h; Gikuyu (Kikuyu) 284 h; Kalenjin 160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5,727 (3,393–8,887)</a:t>
                      </a:r>
                    </a:p>
                  </a:txBody>
                  <a:tcPr marL="54864" marR="54864" marT="27432" marB="27432">
                    <a:solidFill>
                      <a:srgbClr val="FFFFFF"/>
                    </a:solidFill>
                  </a:tcPr>
                </a:tc>
                <a:tc>
                  <a:txBody>
                    <a:bodyPr wrap="square"/>
                    <a:lstStyle/>
                    <a:p>
                      <a:pPr algn="r"/>
                      <a:r>
                        <a:rPr sz="1100" b="0">
                          <a:solidFill>
                            <a:srgbClr val="1F2A44"/>
                          </a:solidFill>
                          <a:latin typeface="Courier New"/>
                        </a:rPr>
                        <a:t>1,512 (1,007–3,706)</a:t>
                      </a:r>
                    </a:p>
                  </a:txBody>
                  <a:tcPr marL="54864" marR="54864" marT="27432" marB="27432">
                    <a:solidFill>
                      <a:srgbClr val="FFFFFF"/>
                    </a:solidFill>
                  </a:tcPr>
                </a:tc>
                <a:tc>
                  <a:txBody>
                    <a:bodyPr wrap="square"/>
                    <a:lstStyle/>
                    <a:p>
                      <a:pPr algn="r"/>
                      <a:r>
                        <a:rPr sz="1100" b="0">
                          <a:solidFill>
                            <a:srgbClr val="1F2A44"/>
                          </a:solidFill>
                          <a:latin typeface="Courier New"/>
                        </a:rPr>
                        <a:t>Kiswahili 300 h; Gikuyu (Kikuyu) 249 h; Kalenjin 149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2" cy="2670048"/>
        </p:xfrm>
        <a:graphic>
          <a:graphicData uri="http://schemas.openxmlformats.org/drawingml/2006/table">
            <a:tbl>
              <a:tblPr firstRow="1" bandRow="1">
                <a:tableStyleId>{5C22544A-7EE6-4342-B048-85BDC9FD1C3A}</a:tableStyleId>
              </a:tblPr>
              <a:tblGrid>
                <a:gridCol w="993817"/>
                <a:gridCol w="1206777"/>
                <a:gridCol w="1987634"/>
                <a:gridCol w="993817"/>
                <a:gridCol w="1419738"/>
                <a:gridCol w="1419738"/>
                <a:gridCol w="298145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5,546 (2,898–10,210)</a:t>
                      </a:r>
                    </a:p>
                  </a:txBody>
                  <a:tcPr marL="54864" marR="54864" marT="27432" marB="27432">
                    <a:solidFill>
                      <a:srgbClr val="FFFFFF"/>
                    </a:solidFill>
                  </a:tcPr>
                </a:tc>
                <a:tc>
                  <a:txBody>
                    <a:bodyPr wrap="square"/>
                    <a:lstStyle/>
                    <a:p>
                      <a:pPr algn="r"/>
                      <a:r>
                        <a:rPr sz="1100" b="0">
                          <a:solidFill>
                            <a:srgbClr val="1F2A44"/>
                          </a:solidFill>
                          <a:latin typeface="Courier New"/>
                        </a:rPr>
                        <a:t>1,438 (968–3,703)</a:t>
                      </a:r>
                    </a:p>
                  </a:txBody>
                  <a:tcPr marL="54864" marR="54864" marT="27432" marB="27432">
                    <a:solidFill>
                      <a:srgbClr val="FFFFFF"/>
                    </a:solidFill>
                  </a:tcPr>
                </a:tc>
                <a:tc>
                  <a:txBody>
                    <a:bodyPr wrap="square"/>
                    <a:lstStyle/>
                    <a:p>
                      <a:pPr algn="r"/>
                      <a:r>
                        <a:rPr sz="1100" b="0">
                          <a:solidFill>
                            <a:srgbClr val="1F2A44"/>
                          </a:solidFill>
                          <a:latin typeface="Courier New"/>
                        </a:rPr>
                        <a:t>Kiswahili 275 h; Gikuyu (Kikuyu) 238 h; Kalenjin 145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Channel13</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part measured, part forecast</a:t>
                      </a:r>
                    </a:p>
                  </a:txBody>
                  <a:tcPr marL="54864" marR="54864" marT="27432" marB="27432">
                    <a:solidFill>
                      <a:srgbClr val="FFFFFF"/>
                    </a:solidFill>
                  </a:tcPr>
                </a:tc>
                <a:tc>
                  <a:txBody>
                    <a:bodyPr wrap="square"/>
                    <a:lstStyle/>
                    <a:p>
                      <a:pPr algn="r"/>
                      <a:r>
                        <a:rPr sz="1100" b="0">
                          <a:solidFill>
                            <a:srgbClr val="1F2A44"/>
                          </a:solidFill>
                          <a:latin typeface="Courier New"/>
                        </a:rPr>
                        <a:t>27,246</a:t>
                      </a:r>
                    </a:p>
                  </a:txBody>
                  <a:tcPr marL="54864" marR="54864" marT="27432" marB="27432">
                    <a:solidFill>
                      <a:srgbClr val="FFFFFF"/>
                    </a:solidFill>
                  </a:tcPr>
                </a:tc>
                <a:tc>
                  <a:txBody>
                    <a:bodyPr wrap="square"/>
                    <a:lstStyle/>
                    <a:p>
                      <a:pPr algn="r"/>
                      <a:r>
                        <a:rPr sz="1100" b="0">
                          <a:solidFill>
                            <a:srgbClr val="1F2A44"/>
                          </a:solidFill>
                          <a:latin typeface="Courier New"/>
                        </a:rPr>
                        <a:t>5,414 (4,810–16,009)</a:t>
                      </a:r>
                    </a:p>
                  </a:txBody>
                  <a:tcPr marL="54864" marR="54864" marT="27432" marB="27432">
                    <a:solidFill>
                      <a:srgbClr val="FFFFFF"/>
                    </a:solidFill>
                  </a:tcPr>
                </a:tc>
                <a:tc>
                  <a:txBody>
                    <a:bodyPr wrap="square"/>
                    <a:lstStyle/>
                    <a:p>
                      <a:pPr algn="r"/>
                      <a:r>
                        <a:rPr sz="1100" b="0">
                          <a:solidFill>
                            <a:srgbClr val="1F2A44"/>
                          </a:solidFill>
                          <a:latin typeface="Courier New"/>
                        </a:rPr>
                        <a:t>3,877 (2,034–10,368)</a:t>
                      </a:r>
                    </a:p>
                  </a:txBody>
                  <a:tcPr marL="54864" marR="54864" marT="27432" marB="27432">
                    <a:solidFill>
                      <a:srgbClr val="FFFFFF"/>
                    </a:solidFill>
                  </a:tcPr>
                </a:tc>
                <a:tc>
                  <a:txBody>
                    <a:bodyPr wrap="square"/>
                    <a:lstStyle/>
                    <a:p>
                      <a:pPr algn="r"/>
                      <a:r>
                        <a:rPr sz="1100" b="0">
                          <a:solidFill>
                            <a:srgbClr val="1F2A44"/>
                          </a:solidFill>
                          <a:latin typeface="Courier New"/>
                        </a:rPr>
                        <a:t>Kiswahili 832 h; Gikuyu (Kikuyu) 661 h; Ekegusii (Kisii) 340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99,547</a:t>
                      </a:r>
                    </a:p>
                  </a:txBody>
                  <a:tcPr marL="54864" marR="54864" marT="27432" marB="27432">
                    <a:solidFill>
                      <a:srgbClr val="FFFFFF"/>
                    </a:solidFill>
                  </a:tcPr>
                </a:tc>
                <a:tc>
                  <a:txBody>
                    <a:bodyPr wrap="square"/>
                    <a:lstStyle/>
                    <a:p>
                      <a:pPr algn="r"/>
                      <a:r>
                        <a:rPr sz="1100" b="0">
                          <a:solidFill>
                            <a:srgbClr val="1F2A44"/>
                          </a:solidFill>
                          <a:latin typeface="Courier New"/>
                        </a:rPr>
                        <a:t>5,369 (1,214–17,145)</a:t>
                      </a:r>
                    </a:p>
                  </a:txBody>
                  <a:tcPr marL="54864" marR="54864" marT="27432" marB="27432">
                    <a:solidFill>
                      <a:srgbClr val="FFFFFF"/>
                    </a:solidFill>
                  </a:tcPr>
                </a:tc>
                <a:tc>
                  <a:txBody>
                    <a:bodyPr wrap="square"/>
                    <a:lstStyle/>
                    <a:p>
                      <a:pPr algn="r"/>
                      <a:r>
                        <a:rPr sz="1100" b="0">
                          <a:solidFill>
                            <a:srgbClr val="1F2A44"/>
                          </a:solidFill>
                          <a:latin typeface="Courier New"/>
                        </a:rPr>
                        <a:t>1,287 (410–5,312)</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210 h; Kalenjin 137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96,648</a:t>
                      </a:r>
                    </a:p>
                  </a:txBody>
                  <a:tcPr marL="54864" marR="54864" marT="27432" marB="27432">
                    <a:solidFill>
                      <a:srgbClr val="FFFFFF"/>
                    </a:solidFill>
                  </a:tcPr>
                </a:tc>
                <a:tc>
                  <a:txBody>
                    <a:bodyPr wrap="square"/>
                    <a:lstStyle/>
                    <a:p>
                      <a:pPr algn="r"/>
                      <a:r>
                        <a:rPr sz="1100" b="0">
                          <a:solidFill>
                            <a:srgbClr val="1F2A44"/>
                          </a:solidFill>
                          <a:latin typeface="Courier New"/>
                        </a:rPr>
                        <a:t>5,313 (1,167–16,593)</a:t>
                      </a:r>
                    </a:p>
                  </a:txBody>
                  <a:tcPr marL="54864" marR="54864" marT="27432" marB="27432">
                    <a:solidFill>
                      <a:srgbClr val="FFFFFF"/>
                    </a:solidFill>
                  </a:tcPr>
                </a:tc>
                <a:tc>
                  <a:txBody>
                    <a:bodyPr wrap="square"/>
                    <a:lstStyle/>
                    <a:p>
                      <a:pPr algn="r"/>
                      <a:r>
                        <a:rPr sz="1100" b="0">
                          <a:solidFill>
                            <a:srgbClr val="1F2A44"/>
                          </a:solidFill>
                          <a:latin typeface="Courier New"/>
                        </a:rPr>
                        <a:t>1,264 (398–5,156)</a:t>
                      </a:r>
                    </a:p>
                  </a:txBody>
                  <a:tcPr marL="54864" marR="54864" marT="27432" marB="27432">
                    <a:solidFill>
                      <a:srgbClr val="FFFFFF"/>
                    </a:solidFill>
                  </a:tcPr>
                </a:tc>
                <a:tc>
                  <a:txBody>
                    <a:bodyPr wrap="square"/>
                    <a:lstStyle/>
                    <a:p>
                      <a:pPr algn="r"/>
                      <a:r>
                        <a:rPr sz="1100" b="0">
                          <a:solidFill>
                            <a:srgbClr val="1F2A44"/>
                          </a:solidFill>
                          <a:latin typeface="Courier New"/>
                        </a:rPr>
                        <a:t>Gikuyu (Kikuyu) 205 h; Kiswahili 201 h; Kalenjin 132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96,641</a:t>
                      </a:r>
                    </a:p>
                  </a:txBody>
                  <a:tcPr marL="54864" marR="54864" marT="27432" marB="27432">
                    <a:solidFill>
                      <a:srgbClr val="FFFFFF"/>
                    </a:solidFill>
                  </a:tcPr>
                </a:tc>
                <a:tc>
                  <a:txBody>
                    <a:bodyPr wrap="square"/>
                    <a:lstStyle/>
                    <a:p>
                      <a:pPr algn="r"/>
                      <a:r>
                        <a:rPr sz="1100" b="0">
                          <a:solidFill>
                            <a:srgbClr val="1F2A44"/>
                          </a:solidFill>
                          <a:latin typeface="Courier New"/>
                        </a:rPr>
                        <a:t>5,299 (1,176–16,594)</a:t>
                      </a:r>
                    </a:p>
                  </a:txBody>
                  <a:tcPr marL="54864" marR="54864" marT="27432" marB="27432">
                    <a:solidFill>
                      <a:srgbClr val="FFFFFF"/>
                    </a:solidFill>
                  </a:tcPr>
                </a:tc>
                <a:tc>
                  <a:txBody>
                    <a:bodyPr wrap="square"/>
                    <a:lstStyle/>
                    <a:p>
                      <a:pPr algn="r"/>
                      <a:r>
                        <a:rPr sz="1100" b="0">
                          <a:solidFill>
                            <a:srgbClr val="1F2A44"/>
                          </a:solidFill>
                          <a:latin typeface="Courier New"/>
                        </a:rPr>
                        <a:t>1,276 (398–5,157)</a:t>
                      </a:r>
                    </a:p>
                  </a:txBody>
                  <a:tcPr marL="54864" marR="54864" marT="27432" marB="27432">
                    <a:solidFill>
                      <a:srgbClr val="FFFFFF"/>
                    </a:solidFill>
                  </a:tcPr>
                </a:tc>
                <a:tc>
                  <a:txBody>
                    <a:bodyPr wrap="square"/>
                    <a:lstStyle/>
                    <a:p>
                      <a:pPr algn="r"/>
                      <a:r>
                        <a:rPr sz="1100" b="0">
                          <a:solidFill>
                            <a:srgbClr val="1F2A44"/>
                          </a:solidFill>
                          <a:latin typeface="Courier New"/>
                        </a:rPr>
                        <a:t>Gikuyu (Kikuyu) 210 h; Kiswahili 204 h; Kalenjin 134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Whole-estate forecast by bucket and share — hours, speech, music and languages with 95 % forecast intervals (largest first)</a:t>
            </a:r>
          </a:p>
        </p:txBody>
      </p:sp>
      <p:graphicFrame>
        <p:nvGraphicFramePr>
          <p:cNvPr id="4" name="Table 3"/>
          <p:cNvGraphicFramePr>
            <a:graphicFrameLocks noGrp="1"/>
          </p:cNvGraphicFramePr>
          <p:nvPr/>
        </p:nvGraphicFramePr>
        <p:xfrm>
          <a:off x="594360" y="1920240"/>
          <a:ext cx="11002972" cy="2225040"/>
        </p:xfrm>
        <a:graphic>
          <a:graphicData uri="http://schemas.openxmlformats.org/drawingml/2006/table">
            <a:tbl>
              <a:tblPr firstRow="1" bandRow="1">
                <a:tableStyleId>{5C22544A-7EE6-4342-B048-85BDC9FD1C3A}</a:tableStyleId>
              </a:tblPr>
              <a:tblGrid>
                <a:gridCol w="993817"/>
                <a:gridCol w="1206777"/>
                <a:gridCol w="1987634"/>
                <a:gridCol w="993817"/>
                <a:gridCol w="1419738"/>
                <a:gridCol w="1419738"/>
                <a:gridCol w="2981451"/>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Access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Top languages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channel05</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96,596</a:t>
                      </a:r>
                    </a:p>
                  </a:txBody>
                  <a:tcPr marL="54864" marR="54864" marT="27432" marB="27432">
                    <a:solidFill>
                      <a:srgbClr val="FFFFFF"/>
                    </a:solidFill>
                  </a:tcPr>
                </a:tc>
                <a:tc>
                  <a:txBody>
                    <a:bodyPr wrap="square"/>
                    <a:lstStyle/>
                    <a:p>
                      <a:pPr algn="r"/>
                      <a:r>
                        <a:rPr sz="1100" b="0">
                          <a:solidFill>
                            <a:srgbClr val="1F2A44"/>
                          </a:solidFill>
                          <a:latin typeface="Courier New"/>
                        </a:rPr>
                        <a:t>5,270 (1,171–16,599)</a:t>
                      </a:r>
                    </a:p>
                  </a:txBody>
                  <a:tcPr marL="54864" marR="54864" marT="27432" marB="27432">
                    <a:solidFill>
                      <a:srgbClr val="FFFFFF"/>
                    </a:solidFill>
                  </a:tcPr>
                </a:tc>
                <a:tc>
                  <a:txBody>
                    <a:bodyPr wrap="square"/>
                    <a:lstStyle/>
                    <a:p>
                      <a:pPr algn="r"/>
                      <a:r>
                        <a:rPr sz="1100" b="0">
                          <a:solidFill>
                            <a:srgbClr val="1F2A44"/>
                          </a:solidFill>
                          <a:latin typeface="Courier New"/>
                        </a:rPr>
                        <a:t>1,291 (398–5,154)</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205 h; Kalenjin 132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channel08</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96,382</a:t>
                      </a:r>
                    </a:p>
                  </a:txBody>
                  <a:tcPr marL="54864" marR="54864" marT="27432" marB="27432">
                    <a:solidFill>
                      <a:srgbClr val="FFFFFF"/>
                    </a:solidFill>
                  </a:tcPr>
                </a:tc>
                <a:tc>
                  <a:txBody>
                    <a:bodyPr wrap="square"/>
                    <a:lstStyle/>
                    <a:p>
                      <a:pPr algn="r"/>
                      <a:r>
                        <a:rPr sz="1100" b="0">
                          <a:solidFill>
                            <a:srgbClr val="1F2A44"/>
                          </a:solidFill>
                          <a:latin typeface="Courier New"/>
                        </a:rPr>
                        <a:t>5,262 (1,162–16,580)</a:t>
                      </a:r>
                    </a:p>
                  </a:txBody>
                  <a:tcPr marL="54864" marR="54864" marT="27432" marB="27432">
                    <a:solidFill>
                      <a:srgbClr val="FFFFFF"/>
                    </a:solidFill>
                  </a:tcPr>
                </a:tc>
                <a:tc>
                  <a:txBody>
                    <a:bodyPr wrap="square"/>
                    <a:lstStyle/>
                    <a:p>
                      <a:pPr algn="r"/>
                      <a:r>
                        <a:rPr sz="1100" b="0">
                          <a:solidFill>
                            <a:srgbClr val="1F2A44"/>
                          </a:solidFill>
                          <a:latin typeface="Courier New"/>
                        </a:rPr>
                        <a:t>1,281 (397–5,142)</a:t>
                      </a:r>
                    </a:p>
                  </a:txBody>
                  <a:tcPr marL="54864" marR="54864" marT="27432" marB="27432">
                    <a:solidFill>
                      <a:srgbClr val="FFFFFF"/>
                    </a:solidFill>
                  </a:tcPr>
                </a:tc>
                <a:tc>
                  <a:txBody>
                    <a:bodyPr wrap="square"/>
                    <a:lstStyle/>
                    <a:p>
                      <a:pPr algn="r"/>
                      <a:r>
                        <a:rPr sz="1100" b="0">
                          <a:solidFill>
                            <a:srgbClr val="1F2A44"/>
                          </a:solidFill>
                          <a:latin typeface="Courier New"/>
                        </a:rPr>
                        <a:t>Gikuyu (Kikuyu) 214 h; Kiswahili 204 h; Kalenjin 133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Channel10</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96,271</a:t>
                      </a:r>
                    </a:p>
                  </a:txBody>
                  <a:tcPr marL="54864" marR="54864" marT="27432" marB="27432">
                    <a:solidFill>
                      <a:srgbClr val="FFFFFF"/>
                    </a:solidFill>
                  </a:tcPr>
                </a:tc>
                <a:tc>
                  <a:txBody>
                    <a:bodyPr wrap="square"/>
                    <a:lstStyle/>
                    <a:p>
                      <a:pPr algn="r"/>
                      <a:r>
                        <a:rPr sz="1100" b="0">
                          <a:solidFill>
                            <a:srgbClr val="1F2A44"/>
                          </a:solidFill>
                          <a:latin typeface="Courier New"/>
                        </a:rPr>
                        <a:t>5,260 (1,154–16,559)</a:t>
                      </a:r>
                    </a:p>
                  </a:txBody>
                  <a:tcPr marL="54864" marR="54864" marT="27432" marB="27432">
                    <a:solidFill>
                      <a:srgbClr val="FFFFFF"/>
                    </a:solidFill>
                  </a:tcPr>
                </a:tc>
                <a:tc>
                  <a:txBody>
                    <a:bodyPr wrap="square"/>
                    <a:lstStyle/>
                    <a:p>
                      <a:pPr algn="r"/>
                      <a:r>
                        <a:rPr sz="1100" b="0">
                          <a:solidFill>
                            <a:srgbClr val="1F2A44"/>
                          </a:solidFill>
                          <a:latin typeface="Courier New"/>
                        </a:rPr>
                        <a:t>1,247 (396–5,137)</a:t>
                      </a:r>
                    </a:p>
                  </a:txBody>
                  <a:tcPr marL="54864" marR="54864" marT="27432" marB="27432">
                    <a:solidFill>
                      <a:srgbClr val="FFFFFF"/>
                    </a:solidFill>
                  </a:tcPr>
                </a:tc>
                <a:tc>
                  <a:txBody>
                    <a:bodyPr wrap="square"/>
                    <a:lstStyle/>
                    <a:p>
                      <a:pPr algn="r"/>
                      <a:r>
                        <a:rPr sz="1100" b="0">
                          <a:solidFill>
                            <a:srgbClr val="1F2A44"/>
                          </a:solidFill>
                          <a:latin typeface="Courier New"/>
                        </a:rPr>
                        <a:t>Kiswahili 203 h; Gikuyu (Kikuyu) 202 h; Kalenjin 133 h</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readable</a:t>
                      </a:r>
                    </a:p>
                  </a:txBody>
                  <a:tcPr marL="54864" marR="54864" marT="27432" marB="27432">
                    <a:solidFill>
                      <a:srgbClr val="FFFFFF"/>
                    </a:solidFill>
                  </a:tcPr>
                </a:tc>
                <a:tc>
                  <a:txBody>
                    <a:bodyPr wrap="square"/>
                    <a:lstStyle/>
                    <a:p>
                      <a:pPr algn="l"/>
                      <a:r>
                        <a:rPr sz="1100" b="0">
                          <a:solidFill>
                            <a:srgbClr val="1F2A44"/>
                          </a:solidFill>
                          <a:latin typeface="Calibri"/>
                        </a:rPr>
                        <a:t>forecast</a:t>
                      </a:r>
                    </a:p>
                  </a:txBody>
                  <a:tcPr marL="54864" marR="54864" marT="27432" marB="27432">
                    <a:solidFill>
                      <a:srgbClr val="FFFFFF"/>
                    </a:solidFill>
                  </a:tcPr>
                </a:tc>
                <a:tc>
                  <a:txBody>
                    <a:bodyPr wrap="square"/>
                    <a:lstStyle/>
                    <a:p>
                      <a:pPr algn="r"/>
                      <a:r>
                        <a:rPr sz="1100" b="0">
                          <a:solidFill>
                            <a:srgbClr val="1F2A44"/>
                          </a:solidFill>
                          <a:latin typeface="Courier New"/>
                        </a:rPr>
                        <a:t>96,610</a:t>
                      </a:r>
                    </a:p>
                  </a:txBody>
                  <a:tcPr marL="54864" marR="54864" marT="27432" marB="27432">
                    <a:solidFill>
                      <a:srgbClr val="FFFFFF"/>
                    </a:solidFill>
                  </a:tcPr>
                </a:tc>
                <a:tc>
                  <a:txBody>
                    <a:bodyPr wrap="square"/>
                    <a:lstStyle/>
                    <a:p>
                      <a:pPr algn="r"/>
                      <a:r>
                        <a:rPr sz="1100" b="0">
                          <a:solidFill>
                            <a:srgbClr val="1F2A44"/>
                          </a:solidFill>
                          <a:latin typeface="Courier New"/>
                        </a:rPr>
                        <a:t>5,248 (1,164–16,596)</a:t>
                      </a:r>
                    </a:p>
                  </a:txBody>
                  <a:tcPr marL="54864" marR="54864" marT="27432" marB="27432">
                    <a:solidFill>
                      <a:srgbClr val="FFFFFF"/>
                    </a:solidFill>
                  </a:tcPr>
                </a:tc>
                <a:tc>
                  <a:txBody>
                    <a:bodyPr wrap="square"/>
                    <a:lstStyle/>
                    <a:p>
                      <a:pPr algn="r"/>
                      <a:r>
                        <a:rPr sz="1100" b="0">
                          <a:solidFill>
                            <a:srgbClr val="1F2A44"/>
                          </a:solidFill>
                          <a:latin typeface="Courier New"/>
                        </a:rPr>
                        <a:t>1,292 (398–5,154)</a:t>
                      </a:r>
                    </a:p>
                  </a:txBody>
                  <a:tcPr marL="54864" marR="54864" marT="27432" marB="27432">
                    <a:solidFill>
                      <a:srgbClr val="FFFFFF"/>
                    </a:solidFill>
                  </a:tcPr>
                </a:tc>
                <a:tc>
                  <a:txBody>
                    <a:bodyPr wrap="square"/>
                    <a:lstStyle/>
                    <a:p>
                      <a:pPr algn="r"/>
                      <a:r>
                        <a:rPr sz="1100" b="0">
                          <a:solidFill>
                            <a:srgbClr val="1F2A44"/>
                          </a:solidFill>
                          <a:latin typeface="Courier New"/>
                        </a:rPr>
                        <a:t>Gikuyu (Kikuyu) 211 h; Kiswahili 204 h; Kalenjin 132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listed bucket and share, measured or forecast, so the estate adds up.</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02</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The strongest assets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LANGUAGES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leads whole-estate speech at 38,788.1 hours, with Gikuyu next at 32,002.9</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Seven languages carry forecast speech; the ranking is a model forecast, not a human-certified language inventory.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STAGED CORPUS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staged corpus holds 529.5 hours across 8 language folders; 421.4 are speech</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This narrow, fully read sample is the place to calibrate the models, not a substitute for the estate-wide ranking.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STRONGEST ASSETS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Kiswahili, Gikuyu and Ekegusii lead speech; news scripts add a large text asset</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Forecast speech hours: Kiswahili 38,788.1, Gikuyu 32,002.9, Ekegusii 16,729.3, Kalenjin 16,171.4; further languages and intervals are in the tables.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object store holds 161,898.5 speech hours and the file shares 27,735.3.</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News archive: 248841 live scripts from 13 stations; characters of script text, in millions: 189.3m. The language shown is the station's broadcast language.</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The workbench registers 83014 recordings in 13 languages, a separate inventory, not added to the others.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2" cy="2670048"/>
        </p:xfrm>
        <a:graphic>
          <a:graphicData uri="http://schemas.openxmlformats.org/drawingml/2006/table">
            <a:tbl>
              <a:tblPr firstRow="1" bandRow="1">
                <a:tableStyleId>{5C22544A-7EE6-4342-B048-85BDC9FD1C3A}</a:tableStyleId>
              </a:tblPr>
              <a:tblGrid>
                <a:gridCol w="922405"/>
                <a:gridCol w="2767215"/>
                <a:gridCol w="922405"/>
                <a:gridCol w="1449493"/>
                <a:gridCol w="1449493"/>
                <a:gridCol w="1449493"/>
                <a:gridCol w="2042468"/>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Record/channel02 · 2025</a:t>
                      </a:r>
                    </a:p>
                  </a:txBody>
                  <a:tcPr marL="54864" marR="54864" marT="27432" marB="27432">
                    <a:solidFill>
                      <a:srgbClr val="FFFFFF"/>
                    </a:solidFill>
                  </a:tcPr>
                </a:tc>
                <a:tc>
                  <a:txBody>
                    <a:bodyPr wrap="square"/>
                    <a:lstStyle/>
                    <a:p>
                      <a:pPr algn="r"/>
                      <a:r>
                        <a:rPr sz="1100" b="0">
                          <a:solidFill>
                            <a:srgbClr val="1F2A44"/>
                          </a:solidFill>
                          <a:latin typeface="Courier New"/>
                        </a:rPr>
                        <a:t>192,634</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30,545 (4,539–132,574)</a:t>
                      </a:r>
                    </a:p>
                  </a:txBody>
                  <a:tcPr marL="54864" marR="54864" marT="27432" marB="27432">
                    <a:solidFill>
                      <a:srgbClr val="FFFFFF"/>
                    </a:solidFill>
                  </a:tcPr>
                </a:tc>
                <a:tc>
                  <a:txBody>
                    <a:bodyPr wrap="square"/>
                    <a:lstStyle/>
                    <a:p>
                      <a:pPr algn="r"/>
                      <a:r>
                        <a:rPr sz="1100" b="0">
                          <a:solidFill>
                            <a:srgbClr val="1F2A44"/>
                          </a:solidFill>
                          <a:latin typeface="Courier New"/>
                        </a:rPr>
                        <a:t>5,390 (1,795–37,163)</a:t>
                      </a:r>
                    </a:p>
                  </a:txBody>
                  <a:tcPr marL="54864" marR="54864" marT="27432" marB="27432">
                    <a:solidFill>
                      <a:srgbClr val="FFFFFF"/>
                    </a:solidFill>
                  </a:tcPr>
                </a:tc>
                <a:tc>
                  <a:txBody>
                    <a:bodyPr wrap="square"/>
                    <a:lstStyle/>
                    <a:p>
                      <a:pPr algn="r"/>
                      <a:r>
                        <a:rPr sz="1100" b="0">
                          <a:solidFill>
                            <a:srgbClr val="1F2A44"/>
                          </a:solidFill>
                          <a:latin typeface="Courier New"/>
                        </a:rPr>
                        <a:t>Kiswahili 900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Record/channel01 · 2025</a:t>
                      </a:r>
                    </a:p>
                  </a:txBody>
                  <a:tcPr marL="54864" marR="54864" marT="27432" marB="27432">
                    <a:solidFill>
                      <a:srgbClr val="FFFFFF"/>
                    </a:solidFill>
                  </a:tcPr>
                </a:tc>
                <a:tc>
                  <a:txBody>
                    <a:bodyPr wrap="square"/>
                    <a:lstStyle/>
                    <a:p>
                      <a:pPr algn="r"/>
                      <a:r>
                        <a:rPr sz="1100" b="0">
                          <a:solidFill>
                            <a:srgbClr val="1F2A44"/>
                          </a:solidFill>
                          <a:latin typeface="Courier New"/>
                        </a:rPr>
                        <a:t>150,206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23,841 (3,543–103,478)</a:t>
                      </a:r>
                    </a:p>
                  </a:txBody>
                  <a:tcPr marL="54864" marR="54864" marT="27432" marB="27432">
                    <a:solidFill>
                      <a:srgbClr val="FFFFFF"/>
                    </a:solidFill>
                  </a:tcPr>
                </a:tc>
                <a:tc>
                  <a:txBody>
                    <a:bodyPr wrap="square"/>
                    <a:lstStyle/>
                    <a:p>
                      <a:pPr algn="r"/>
                      <a:r>
                        <a:rPr sz="1100" b="0">
                          <a:solidFill>
                            <a:srgbClr val="1F2A44"/>
                          </a:solidFill>
                          <a:latin typeface="Courier New"/>
                        </a:rPr>
                        <a:t>4,207 (1,740–29,007)</a:t>
                      </a:r>
                    </a:p>
                  </a:txBody>
                  <a:tcPr marL="54864" marR="54864" marT="27432" marB="27432">
                    <a:solidFill>
                      <a:srgbClr val="FFFFFF"/>
                    </a:solidFill>
                  </a:tcPr>
                </a:tc>
                <a:tc>
                  <a:txBody>
                    <a:bodyPr wrap="square"/>
                    <a:lstStyle/>
                    <a:p>
                      <a:pPr algn="r"/>
                      <a:r>
                        <a:rPr sz="1100" b="0">
                          <a:solidFill>
                            <a:srgbClr val="1F2A44"/>
                          </a:solidFill>
                          <a:latin typeface="Courier New"/>
                        </a:rPr>
                        <a:t>Kiswahili 703 h</a:t>
                      </a:r>
                    </a:p>
                  </a:txBody>
                  <a:tcPr marL="54864" marR="54864" marT="27432" marB="27432">
                    <a:solidFill>
                      <a:srgbClr val="FFFFFF"/>
                    </a:solidFill>
                  </a:tcPr>
                </a:tc>
              </a:tr>
              <a:tr h="445008">
                <a:tc>
                  <a:txBody>
                    <a:bodyPr wrap="square"/>
                    <a:lstStyle/>
                    <a:p>
                      <a:pPr algn="l"/>
                      <a:r>
                        <a:rPr sz="1100" b="0">
                          <a:solidFill>
                            <a:srgbClr val="1F2A44"/>
                          </a:solidFill>
                          <a:latin typeface="Calibri"/>
                        </a:rPr>
                        <a:t>rmsbroadcast</a:t>
                      </a:r>
                    </a:p>
                  </a:txBody>
                  <a:tcPr marL="54864" marR="54864" marT="27432" marB="27432">
                    <a:solidFill>
                      <a:srgbClr val="FFFFFF"/>
                    </a:solidFill>
                  </a:tcPr>
                </a:tc>
                <a:tc>
                  <a:txBody>
                    <a:bodyPr wrap="square"/>
                    <a:lstStyle/>
                    <a:p>
                      <a:pPr algn="l"/>
                      <a:r>
                        <a:rPr sz="1100" b="0">
                          <a:solidFill>
                            <a:srgbClr val="1F2A44"/>
                          </a:solidFill>
                          <a:latin typeface="Calibri"/>
                        </a:rPr>
                        <a:t>rmsradio/podcasts/uploads/podcasts · audio</a:t>
                      </a:r>
                    </a:p>
                  </a:txBody>
                  <a:tcPr marL="54864" marR="54864" marT="27432" marB="27432">
                    <a:solidFill>
                      <a:srgbClr val="FFFFFF"/>
                    </a:solidFill>
                  </a:tcPr>
                </a:tc>
                <a:tc>
                  <a:txBody>
                    <a:bodyPr wrap="square"/>
                    <a:lstStyle/>
                    <a:p>
                      <a:pPr algn="r"/>
                      <a:r>
                        <a:rPr sz="1100" b="0">
                          <a:solidFill>
                            <a:srgbClr val="1F2A44"/>
                          </a:solidFill>
                          <a:latin typeface="Courier New"/>
                        </a:rPr>
                        <a:t>128,167</a:t>
                      </a:r>
                    </a:p>
                  </a:txBody>
                  <a:tcPr marL="54864" marR="54864" marT="27432" marB="27432">
                    <a:solidFill>
                      <a:srgbClr val="FFFFFF"/>
                    </a:solidFill>
                  </a:tcPr>
                </a:tc>
                <a:tc>
                  <a:txBody>
                    <a:bodyPr wrap="square"/>
                    <a:lstStyle/>
                    <a:p>
                      <a:pPr algn="r"/>
                      <a:r>
                        <a:rPr sz="1100" b="0">
                          <a:solidFill>
                            <a:srgbClr val="1F2A44"/>
                          </a:solidFill>
                          <a:latin typeface="Courier New"/>
                        </a:rPr>
                        <a:t>read and judged</a:t>
                      </a:r>
                    </a:p>
                  </a:txBody>
                  <a:tcPr marL="54864" marR="54864" marT="27432" marB="27432">
                    <a:solidFill>
                      <a:srgbClr val="FFFFFF"/>
                    </a:solidFill>
                  </a:tcPr>
                </a:tc>
                <a:tc>
                  <a:txBody>
                    <a:bodyPr wrap="square"/>
                    <a:lstStyle/>
                    <a:p>
                      <a:pPr algn="r"/>
                      <a:r>
                        <a:rPr sz="1100" b="0">
                          <a:solidFill>
                            <a:srgbClr val="1F2A44"/>
                          </a:solidFill>
                          <a:latin typeface="Courier New"/>
                        </a:rPr>
                        <a:t>18,218 (18,218–18,218)</a:t>
                      </a:r>
                    </a:p>
                  </a:txBody>
                  <a:tcPr marL="54864" marR="54864" marT="27432" marB="27432">
                    <a:solidFill>
                      <a:srgbClr val="FFFFFF"/>
                    </a:solidFill>
                  </a:tcPr>
                </a:tc>
                <a:tc>
                  <a:txBody>
                    <a:bodyPr wrap="square"/>
                    <a:lstStyle/>
                    <a:p>
                      <a:pPr algn="r"/>
                      <a:r>
                        <a:rPr sz="1100" b="0">
                          <a:solidFill>
                            <a:srgbClr val="1F2A44"/>
                          </a:solidFill>
                          <a:latin typeface="Courier New"/>
                        </a:rPr>
                        <a:t>13,151 (12,692–13,636)</a:t>
                      </a:r>
                    </a:p>
                  </a:txBody>
                  <a:tcPr marL="54864" marR="54864" marT="27432" marB="27432">
                    <a:solidFill>
                      <a:srgbClr val="FFFFFF"/>
                    </a:solidFill>
                  </a:tcPr>
                </a:tc>
                <a:tc>
                  <a:txBody>
                    <a:bodyPr wrap="square"/>
                    <a:lstStyle/>
                    <a:p>
                      <a:pPr algn="r"/>
                      <a:r>
                        <a:rPr sz="1100" b="0">
                          <a:solidFill>
                            <a:srgbClr val="1F2A44"/>
                          </a:solidFill>
                          <a:latin typeface="Courier New"/>
                        </a:rPr>
                        <a:t>Gikuyu (Kikuyu) 2,353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Record/channel16 · 2025</a:t>
                      </a:r>
                    </a:p>
                  </a:txBody>
                  <a:tcPr marL="54864" marR="54864" marT="27432" marB="27432">
                    <a:solidFill>
                      <a:srgbClr val="FFFFFF"/>
                    </a:solidFill>
                  </a:tcPr>
                </a:tc>
                <a:tc>
                  <a:txBody>
                    <a:bodyPr wrap="square"/>
                    <a:lstStyle/>
                    <a:p>
                      <a:pPr algn="r"/>
                      <a:r>
                        <a:rPr sz="1100" b="0">
                          <a:solidFill>
                            <a:srgbClr val="1F2A44"/>
                          </a:solidFill>
                          <a:latin typeface="Courier New"/>
                        </a:rPr>
                        <a:t>98,705</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15,605 (2,319–67,731)</a:t>
                      </a:r>
                    </a:p>
                  </a:txBody>
                  <a:tcPr marL="54864" marR="54864" marT="27432" marB="27432">
                    <a:solidFill>
                      <a:srgbClr val="FFFFFF"/>
                    </a:solidFill>
                  </a:tcPr>
                </a:tc>
                <a:tc>
                  <a:txBody>
                    <a:bodyPr wrap="square"/>
                    <a:lstStyle/>
                    <a:p>
                      <a:pPr algn="r"/>
                      <a:r>
                        <a:rPr sz="1100" b="0">
                          <a:solidFill>
                            <a:srgbClr val="1F2A44"/>
                          </a:solidFill>
                          <a:latin typeface="Courier New"/>
                        </a:rPr>
                        <a:t>2,840 (782–18,986)</a:t>
                      </a:r>
                    </a:p>
                  </a:txBody>
                  <a:tcPr marL="54864" marR="54864" marT="27432" marB="27432">
                    <a:solidFill>
                      <a:srgbClr val="FFFFFF"/>
                    </a:solidFill>
                  </a:tcPr>
                </a:tc>
                <a:tc>
                  <a:txBody>
                    <a:bodyPr wrap="square"/>
                    <a:lstStyle/>
                    <a:p>
                      <a:pPr algn="r"/>
                      <a:r>
                        <a:rPr sz="1100" b="0">
                          <a:solidFill>
                            <a:srgbClr val="1F2A44"/>
                          </a:solidFill>
                          <a:latin typeface="Courier New"/>
                        </a:rPr>
                        <a:t>Kiswahili 460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imported/INOORO/BACKUP/D · audio</a:t>
                      </a:r>
                    </a:p>
                  </a:txBody>
                  <a:tcPr marL="54864" marR="54864" marT="27432" marB="27432">
                    <a:solidFill>
                      <a:srgbClr val="FFFFFF"/>
                    </a:solidFill>
                  </a:tcPr>
                </a:tc>
                <a:tc>
                  <a:txBody>
                    <a:bodyPr wrap="square"/>
                    <a:lstStyle/>
                    <a:p>
                      <a:pPr algn="r"/>
                      <a:r>
                        <a:rPr sz="1100" b="0">
                          <a:solidFill>
                            <a:srgbClr val="1F2A44"/>
                          </a:solidFill>
                          <a:latin typeface="Courier New"/>
                        </a:rPr>
                        <a:t>191,240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13,633 (10,547–68,621)</a:t>
                      </a:r>
                    </a:p>
                  </a:txBody>
                  <a:tcPr marL="54864" marR="54864" marT="27432" marB="27432">
                    <a:solidFill>
                      <a:srgbClr val="FFFFFF"/>
                    </a:solidFill>
                  </a:tcPr>
                </a:tc>
                <a:tc>
                  <a:txBody>
                    <a:bodyPr wrap="square"/>
                    <a:lstStyle/>
                    <a:p>
                      <a:pPr algn="r"/>
                      <a:r>
                        <a:rPr sz="1100" b="0">
                          <a:solidFill>
                            <a:srgbClr val="1F2A44"/>
                          </a:solidFill>
                          <a:latin typeface="Courier New"/>
                        </a:rPr>
                        <a:t>9,845 (635–48,744)</a:t>
                      </a:r>
                    </a:p>
                  </a:txBody>
                  <a:tcPr marL="54864" marR="54864" marT="27432" marB="27432">
                    <a:solidFill>
                      <a:srgbClr val="FFFFFF"/>
                    </a:solidFill>
                  </a:tcPr>
                </a:tc>
                <a:tc>
                  <a:txBody>
                    <a:bodyPr wrap="square"/>
                    <a:lstStyle/>
                    <a:p>
                      <a:pPr algn="r"/>
                      <a:r>
                        <a:rPr sz="1100" b="0">
                          <a:solidFill>
                            <a:srgbClr val="1F2A44"/>
                          </a:solidFill>
                          <a:latin typeface="Courier New"/>
                        </a:rPr>
                        <a:t>Gikuyu (Kikuyu) 1,762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2" cy="2225040"/>
        </p:xfrm>
        <a:graphic>
          <a:graphicData uri="http://schemas.openxmlformats.org/drawingml/2006/table">
            <a:tbl>
              <a:tblPr firstRow="1" bandRow="1">
                <a:tableStyleId>{5C22544A-7EE6-4342-B048-85BDC9FD1C3A}</a:tableStyleId>
              </a:tblPr>
              <a:tblGrid>
                <a:gridCol w="922405"/>
                <a:gridCol w="2767215"/>
                <a:gridCol w="922405"/>
                <a:gridCol w="1449493"/>
                <a:gridCol w="1449493"/>
                <a:gridCol w="1449493"/>
                <a:gridCol w="2042468"/>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Record/Channel15 · 2025</a:t>
                      </a:r>
                    </a:p>
                  </a:txBody>
                  <a:tcPr marL="54864" marR="54864" marT="27432" marB="27432">
                    <a:solidFill>
                      <a:srgbClr val="FFFFFF"/>
                    </a:solidFill>
                  </a:tcPr>
                </a:tc>
                <a:tc>
                  <a:txBody>
                    <a:bodyPr wrap="square"/>
                    <a:lstStyle/>
                    <a:p>
                      <a:pPr algn="r"/>
                      <a:r>
                        <a:rPr sz="1100" b="0">
                          <a:solidFill>
                            <a:srgbClr val="1F2A44"/>
                          </a:solidFill>
                          <a:latin typeface="Courier New"/>
                        </a:rPr>
                        <a:t>192,397</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10,300 (1,258–36,742)</a:t>
                      </a:r>
                    </a:p>
                  </a:txBody>
                  <a:tcPr marL="54864" marR="54864" marT="27432" marB="27432">
                    <a:solidFill>
                      <a:srgbClr val="FFFFFF"/>
                    </a:solidFill>
                  </a:tcPr>
                </a:tc>
                <a:tc>
                  <a:txBody>
                    <a:bodyPr wrap="square"/>
                    <a:lstStyle/>
                    <a:p>
                      <a:pPr algn="r"/>
                      <a:r>
                        <a:rPr sz="1100" b="0">
                          <a:solidFill>
                            <a:srgbClr val="1F2A44"/>
                          </a:solidFill>
                          <a:latin typeface="Courier New"/>
                        </a:rPr>
                        <a:t>2,206 (773–10,300)</a:t>
                      </a:r>
                    </a:p>
                  </a:txBody>
                  <a:tcPr marL="54864" marR="54864" marT="27432" marB="27432">
                    <a:solidFill>
                      <a:srgbClr val="FFFFFF"/>
                    </a:solidFill>
                  </a:tcPr>
                </a:tc>
                <a:tc>
                  <a:txBody>
                    <a:bodyPr wrap="square"/>
                    <a:lstStyle/>
                    <a:p>
                      <a:pPr algn="r"/>
                      <a:r>
                        <a:rPr sz="1100" b="0">
                          <a:solidFill>
                            <a:srgbClr val="1F2A44"/>
                          </a:solidFill>
                          <a:latin typeface="Courier New"/>
                        </a:rPr>
                        <a:t>Kiswahili 407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Record/channel03 · 2025</a:t>
                      </a:r>
                    </a:p>
                  </a:txBody>
                  <a:tcPr marL="54864" marR="54864" marT="27432" marB="27432">
                    <a:solidFill>
                      <a:srgbClr val="FFFFFF"/>
                    </a:solidFill>
                  </a:tcPr>
                </a:tc>
                <a:tc>
                  <a:txBody>
                    <a:bodyPr wrap="square"/>
                    <a:lstStyle/>
                    <a:p>
                      <a:pPr algn="r"/>
                      <a:r>
                        <a:rPr sz="1100" b="0">
                          <a:solidFill>
                            <a:srgbClr val="1F2A44"/>
                          </a:solidFill>
                          <a:latin typeface="Courier New"/>
                        </a:rPr>
                        <a:t>192,721</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10,234 (1,250–36,507)</a:t>
                      </a:r>
                    </a:p>
                  </a:txBody>
                  <a:tcPr marL="54864" marR="54864" marT="27432" marB="27432">
                    <a:solidFill>
                      <a:srgbClr val="FFFFFF"/>
                    </a:solidFill>
                  </a:tcPr>
                </a:tc>
                <a:tc>
                  <a:txBody>
                    <a:bodyPr wrap="square"/>
                    <a:lstStyle/>
                    <a:p>
                      <a:pPr algn="r"/>
                      <a:r>
                        <a:rPr sz="1100" b="0">
                          <a:solidFill>
                            <a:srgbClr val="1F2A44"/>
                          </a:solidFill>
                          <a:latin typeface="Courier New"/>
                        </a:rPr>
                        <a:t>2,240 (768–10,234)</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Record/Channel11 · 2025</a:t>
                      </a:r>
                    </a:p>
                  </a:txBody>
                  <a:tcPr marL="54864" marR="54864" marT="27432" marB="27432">
                    <a:solidFill>
                      <a:srgbClr val="FFFFFF"/>
                    </a:solidFill>
                  </a:tcPr>
                </a:tc>
                <a:tc>
                  <a:txBody>
                    <a:bodyPr wrap="square"/>
                    <a:lstStyle/>
                    <a:p>
                      <a:pPr algn="r"/>
                      <a:r>
                        <a:rPr sz="1100" b="0">
                          <a:solidFill>
                            <a:srgbClr val="1F2A44"/>
                          </a:solidFill>
                          <a:latin typeface="Courier New"/>
                        </a:rPr>
                        <a:t>192,243</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10,224 (1,249–36,474)</a:t>
                      </a:r>
                    </a:p>
                  </a:txBody>
                  <a:tcPr marL="54864" marR="54864" marT="27432" marB="27432">
                    <a:solidFill>
                      <a:srgbClr val="FFFFFF"/>
                    </a:solidFill>
                  </a:tcPr>
                </a:tc>
                <a:tc>
                  <a:txBody>
                    <a:bodyPr wrap="square"/>
                    <a:lstStyle/>
                    <a:p>
                      <a:pPr algn="r"/>
                      <a:r>
                        <a:rPr sz="1100" b="0">
                          <a:solidFill>
                            <a:srgbClr val="1F2A44"/>
                          </a:solidFill>
                          <a:latin typeface="Courier New"/>
                        </a:rPr>
                        <a:t>2,162 (768–10,224)</a:t>
                      </a:r>
                    </a:p>
                  </a:txBody>
                  <a:tcPr marL="54864" marR="54864" marT="27432" marB="27432">
                    <a:solidFill>
                      <a:srgbClr val="FFFFFF"/>
                    </a:solidFill>
                  </a:tcPr>
                </a:tc>
                <a:tc>
                  <a:txBody>
                    <a:bodyPr wrap="square"/>
                    <a:lstStyle/>
                    <a:p>
                      <a:pPr algn="r"/>
                      <a:r>
                        <a:rPr sz="1100" b="0">
                          <a:solidFill>
                            <a:srgbClr val="1F2A44"/>
                          </a:solidFill>
                          <a:latin typeface="Courier New"/>
                        </a:rPr>
                        <a:t>Kiswahili 376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Record/Channel10 · 2025</a:t>
                      </a:r>
                    </a:p>
                  </a:txBody>
                  <a:tcPr marL="54864" marR="54864" marT="27432" marB="27432">
                    <a:solidFill>
                      <a:srgbClr val="FFFFFF"/>
                    </a:solidFill>
                  </a:tcPr>
                </a:tc>
                <a:tc>
                  <a:txBody>
                    <a:bodyPr wrap="square"/>
                    <a:lstStyle/>
                    <a:p>
                      <a:pPr algn="r"/>
                      <a:r>
                        <a:rPr sz="1100" b="0">
                          <a:solidFill>
                            <a:srgbClr val="1F2A44"/>
                          </a:solidFill>
                          <a:latin typeface="Courier New"/>
                        </a:rPr>
                        <a:t>192,385</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10,224 (1,249–36,472)</a:t>
                      </a:r>
                    </a:p>
                  </a:txBody>
                  <a:tcPr marL="54864" marR="54864" marT="27432" marB="27432">
                    <a:solidFill>
                      <a:srgbClr val="FFFFFF"/>
                    </a:solidFill>
                  </a:tcPr>
                </a:tc>
                <a:tc>
                  <a:txBody>
                    <a:bodyPr wrap="square"/>
                    <a:lstStyle/>
                    <a:p>
                      <a:pPr algn="r"/>
                      <a:r>
                        <a:rPr sz="1100" b="0">
                          <a:solidFill>
                            <a:srgbClr val="1F2A44"/>
                          </a:solidFill>
                          <a:latin typeface="Courier New"/>
                        </a:rPr>
                        <a:t>2,162 (768–10,224)</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1" cy="2670048"/>
        </p:xfrm>
        <a:graphic>
          <a:graphicData uri="http://schemas.openxmlformats.org/drawingml/2006/table">
            <a:tbl>
              <a:tblPr firstRow="1" bandRow="1">
                <a:tableStyleId>{5C22544A-7EE6-4342-B048-85BDC9FD1C3A}</a:tableStyleId>
              </a:tblPr>
              <a:tblGrid>
                <a:gridCol w="1000270"/>
                <a:gridCol w="2357780"/>
                <a:gridCol w="1000270"/>
                <a:gridCol w="1571853"/>
                <a:gridCol w="1500405"/>
                <a:gridCol w="1357509"/>
                <a:gridCol w="2214884"/>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Record/channel04 · 2025</a:t>
                      </a:r>
                    </a:p>
                  </a:txBody>
                  <a:tcPr marL="54864" marR="54864" marT="27432" marB="27432">
                    <a:solidFill>
                      <a:srgbClr val="FFFFFF"/>
                    </a:solidFill>
                  </a:tcPr>
                </a:tc>
                <a:tc>
                  <a:txBody>
                    <a:bodyPr wrap="square"/>
                    <a:lstStyle/>
                    <a:p>
                      <a:pPr algn="r"/>
                      <a:r>
                        <a:rPr sz="1100" b="0">
                          <a:solidFill>
                            <a:srgbClr val="1F2A44"/>
                          </a:solidFill>
                          <a:latin typeface="Courier New"/>
                        </a:rPr>
                        <a:t>192,414</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10,223 (1,249–36,470)</a:t>
                      </a:r>
                    </a:p>
                  </a:txBody>
                  <a:tcPr marL="54864" marR="54864" marT="27432" marB="27432">
                    <a:solidFill>
                      <a:srgbClr val="FFFFFF"/>
                    </a:solidFill>
                  </a:tcPr>
                </a:tc>
                <a:tc>
                  <a:txBody>
                    <a:bodyPr wrap="square"/>
                    <a:lstStyle/>
                    <a:p>
                      <a:pPr algn="r"/>
                      <a:r>
                        <a:rPr sz="1100" b="0">
                          <a:solidFill>
                            <a:srgbClr val="1F2A44"/>
                          </a:solidFill>
                          <a:latin typeface="Courier New"/>
                        </a:rPr>
                        <a:t>2,162 (768–10,223)</a:t>
                      </a:r>
                    </a:p>
                  </a:txBody>
                  <a:tcPr marL="54864" marR="54864" marT="27432" marB="27432">
                    <a:solidFill>
                      <a:srgbClr val="FFFFFF"/>
                    </a:solidFill>
                  </a:tcPr>
                </a:tc>
                <a:tc>
                  <a:txBody>
                    <a:bodyPr wrap="square"/>
                    <a:lstStyle/>
                    <a:p>
                      <a:pPr algn="r"/>
                      <a:r>
                        <a:rPr sz="1100" b="0">
                          <a:solidFill>
                            <a:srgbClr val="1F2A44"/>
                          </a:solidFill>
                          <a:latin typeface="Courier New"/>
                        </a:rPr>
                        <a:t>Kiswahili 404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Record/Channel12 · 2025</a:t>
                      </a:r>
                    </a:p>
                  </a:txBody>
                  <a:tcPr marL="54864" marR="54864" marT="27432" marB="27432">
                    <a:solidFill>
                      <a:srgbClr val="FFFFFF"/>
                    </a:solidFill>
                  </a:tcPr>
                </a:tc>
                <a:tc>
                  <a:txBody>
                    <a:bodyPr wrap="square"/>
                    <a:lstStyle/>
                    <a:p>
                      <a:pPr algn="r"/>
                      <a:r>
                        <a:rPr sz="1100" b="0">
                          <a:solidFill>
                            <a:srgbClr val="1F2A44"/>
                          </a:solidFill>
                          <a:latin typeface="Courier New"/>
                        </a:rPr>
                        <a:t>192,220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10,215 (1,248–36,441)</a:t>
                      </a:r>
                    </a:p>
                  </a:txBody>
                  <a:tcPr marL="54864" marR="54864" marT="27432" marB="27432">
                    <a:solidFill>
                      <a:srgbClr val="FFFFFF"/>
                    </a:solidFill>
                  </a:tcPr>
                </a:tc>
                <a:tc>
                  <a:txBody>
                    <a:bodyPr wrap="square"/>
                    <a:lstStyle/>
                    <a:p>
                      <a:pPr algn="r"/>
                      <a:r>
                        <a:rPr sz="1100" b="0">
                          <a:solidFill>
                            <a:srgbClr val="1F2A44"/>
                          </a:solidFill>
                          <a:latin typeface="Courier New"/>
                        </a:rPr>
                        <a:t>2,160 (742–10,215)</a:t>
                      </a:r>
                    </a:p>
                  </a:txBody>
                  <a:tcPr marL="54864" marR="54864" marT="27432" marB="27432">
                    <a:solidFill>
                      <a:srgbClr val="FFFFFF"/>
                    </a:solidFill>
                  </a:tcPr>
                </a:tc>
                <a:tc>
                  <a:txBody>
                    <a:bodyPr wrap="square"/>
                    <a:lstStyle/>
                    <a:p>
                      <a:pPr algn="r"/>
                      <a:r>
                        <a:rPr sz="1100" b="0">
                          <a:solidFill>
                            <a:srgbClr val="1F2A44"/>
                          </a:solidFill>
                          <a:latin typeface="Courier New"/>
                        </a:rPr>
                        <a:t>Kiswahili 402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Record/Channel14 · 2025</a:t>
                      </a:r>
                    </a:p>
                  </a:txBody>
                  <a:tcPr marL="54864" marR="54864" marT="27432" marB="27432">
                    <a:solidFill>
                      <a:srgbClr val="FFFFFF"/>
                    </a:solidFill>
                  </a:tcPr>
                </a:tc>
                <a:tc>
                  <a:txBody>
                    <a:bodyPr wrap="square"/>
                    <a:lstStyle/>
                    <a:p>
                      <a:pPr algn="r"/>
                      <a:r>
                        <a:rPr sz="1100" b="0">
                          <a:solidFill>
                            <a:srgbClr val="1F2A44"/>
                          </a:solidFill>
                          <a:latin typeface="Courier New"/>
                        </a:rPr>
                        <a:t>192,311</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10,212 (1,247–36,429)</a:t>
                      </a:r>
                    </a:p>
                  </a:txBody>
                  <a:tcPr marL="54864" marR="54864" marT="27432" marB="27432">
                    <a:solidFill>
                      <a:srgbClr val="FFFFFF"/>
                    </a:solidFill>
                  </a:tcPr>
                </a:tc>
                <a:tc>
                  <a:txBody>
                    <a:bodyPr wrap="square"/>
                    <a:lstStyle/>
                    <a:p>
                      <a:pPr algn="r"/>
                      <a:r>
                        <a:rPr sz="1100" b="0">
                          <a:solidFill>
                            <a:srgbClr val="1F2A44"/>
                          </a:solidFill>
                          <a:latin typeface="Courier New"/>
                        </a:rPr>
                        <a:t>2,187 (767–10,212)</a:t>
                      </a:r>
                    </a:p>
                  </a:txBody>
                  <a:tcPr marL="54864" marR="54864" marT="27432" marB="27432">
                    <a:solidFill>
                      <a:srgbClr val="FFFFFF"/>
                    </a:solidFill>
                  </a:tcPr>
                </a:tc>
                <a:tc>
                  <a:txBody>
                    <a:bodyPr wrap="square"/>
                    <a:lstStyle/>
                    <a:p>
                      <a:pPr algn="r"/>
                      <a:r>
                        <a:rPr sz="1100" b="0">
                          <a:solidFill>
                            <a:srgbClr val="1F2A44"/>
                          </a:solidFill>
                          <a:latin typeface="Courier New"/>
                        </a:rPr>
                        <a:t>Kiswahili 403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Record/Channel09 · 2025</a:t>
                      </a:r>
                    </a:p>
                  </a:txBody>
                  <a:tcPr marL="54864" marR="54864" marT="27432" marB="27432">
                    <a:solidFill>
                      <a:srgbClr val="FFFFFF"/>
                    </a:solidFill>
                  </a:tcPr>
                </a:tc>
                <a:tc>
                  <a:txBody>
                    <a:bodyPr wrap="square"/>
                    <a:lstStyle/>
                    <a:p>
                      <a:pPr algn="r"/>
                      <a:r>
                        <a:rPr sz="1100" b="0">
                          <a:solidFill>
                            <a:srgbClr val="1F2A44"/>
                          </a:solidFill>
                          <a:latin typeface="Courier New"/>
                        </a:rPr>
                        <a:t>191,556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10,172 (1,242–36,285)</a:t>
                      </a:r>
                    </a:p>
                  </a:txBody>
                  <a:tcPr marL="54864" marR="54864" marT="27432" marB="27432">
                    <a:solidFill>
                      <a:srgbClr val="FFFFFF"/>
                    </a:solidFill>
                  </a:tcPr>
                </a:tc>
                <a:tc>
                  <a:txBody>
                    <a:bodyPr wrap="square"/>
                    <a:lstStyle/>
                    <a:p>
                      <a:pPr algn="r"/>
                      <a:r>
                        <a:rPr sz="1100" b="0">
                          <a:solidFill>
                            <a:srgbClr val="1F2A44"/>
                          </a:solidFill>
                          <a:latin typeface="Courier New"/>
                        </a:rPr>
                        <a:t>2,151 (764–10,172)</a:t>
                      </a:r>
                    </a:p>
                  </a:txBody>
                  <a:tcPr marL="54864" marR="54864" marT="27432" marB="27432">
                    <a:solidFill>
                      <a:srgbClr val="FFFFFF"/>
                    </a:solidFill>
                  </a:tcPr>
                </a:tc>
                <a:tc>
                  <a:txBody>
                    <a:bodyPr wrap="square"/>
                    <a:lstStyle/>
                    <a:p>
                      <a:pPr algn="r"/>
                      <a:r>
                        <a:rPr sz="1100" b="0">
                          <a:solidFill>
                            <a:srgbClr val="1F2A44"/>
                          </a:solidFill>
                          <a:latin typeface="Courier New"/>
                        </a:rPr>
                        <a:t>Kiswahili 400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Record/channel05 · 2025</a:t>
                      </a:r>
                    </a:p>
                  </a:txBody>
                  <a:tcPr marL="54864" marR="54864" marT="27432" marB="27432">
                    <a:solidFill>
                      <a:srgbClr val="FFFFFF"/>
                    </a:solidFill>
                  </a:tcPr>
                </a:tc>
                <a:tc>
                  <a:txBody>
                    <a:bodyPr wrap="square"/>
                    <a:lstStyle/>
                    <a:p>
                      <a:pPr algn="r"/>
                      <a:r>
                        <a:rPr sz="1100" b="0">
                          <a:solidFill>
                            <a:srgbClr val="1F2A44"/>
                          </a:solidFill>
                          <a:latin typeface="Courier New"/>
                        </a:rPr>
                        <a:t>182,000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9,661 (1,180–34,465)</a:t>
                      </a:r>
                    </a:p>
                  </a:txBody>
                  <a:tcPr marL="54864" marR="54864" marT="27432" marB="27432">
                    <a:solidFill>
                      <a:srgbClr val="FFFFFF"/>
                    </a:solidFill>
                  </a:tcPr>
                </a:tc>
                <a:tc>
                  <a:txBody>
                    <a:bodyPr wrap="square"/>
                    <a:lstStyle/>
                    <a:p>
                      <a:pPr algn="r"/>
                      <a:r>
                        <a:rPr sz="1100" b="0">
                          <a:solidFill>
                            <a:srgbClr val="1F2A44"/>
                          </a:solidFill>
                          <a:latin typeface="Courier New"/>
                        </a:rPr>
                        <a:t>2,043 (725–9,661)</a:t>
                      </a:r>
                    </a:p>
                  </a:txBody>
                  <a:tcPr marL="54864" marR="54864" marT="27432" marB="27432">
                    <a:solidFill>
                      <a:srgbClr val="FFFFFF"/>
                    </a:solidFill>
                  </a:tcPr>
                </a:tc>
                <a:tc>
                  <a:txBody>
                    <a:bodyPr wrap="square"/>
                    <a:lstStyle/>
                    <a:p>
                      <a:pPr algn="r"/>
                      <a:r>
                        <a:rPr sz="1100" b="0">
                          <a:solidFill>
                            <a:srgbClr val="1F2A44"/>
                          </a:solidFill>
                          <a:latin typeface="Courier New"/>
                        </a:rPr>
                        <a:t>Kiswahili 382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Folder-level forecast — the largest folders of the estate with 95 % forecast intervals (ranked by forecast hours)</a:t>
            </a:r>
          </a:p>
        </p:txBody>
      </p:sp>
      <p:graphicFrame>
        <p:nvGraphicFramePr>
          <p:cNvPr id="4" name="Table 3"/>
          <p:cNvGraphicFramePr>
            <a:graphicFrameLocks noGrp="1"/>
          </p:cNvGraphicFramePr>
          <p:nvPr/>
        </p:nvGraphicFramePr>
        <p:xfrm>
          <a:off x="594360" y="1920240"/>
          <a:ext cx="11002971" cy="2225040"/>
        </p:xfrm>
        <a:graphic>
          <a:graphicData uri="http://schemas.openxmlformats.org/drawingml/2006/table">
            <a:tbl>
              <a:tblPr firstRow="1" bandRow="1">
                <a:tableStyleId>{5C22544A-7EE6-4342-B048-85BDC9FD1C3A}</a:tableStyleId>
              </a:tblPr>
              <a:tblGrid>
                <a:gridCol w="1000270"/>
                <a:gridCol w="2357780"/>
                <a:gridCol w="1000270"/>
                <a:gridCol w="1571853"/>
                <a:gridCol w="1500405"/>
                <a:gridCol w="1357509"/>
                <a:gridCol w="2214884"/>
              </a:tblGrid>
              <a:tr h="445008">
                <a:tc>
                  <a:txBody>
                    <a:bodyPr wrap="square"/>
                    <a:lstStyle/>
                    <a:p>
                      <a:pPr algn="l"/>
                      <a:r>
                        <a:rPr sz="1100" b="1">
                          <a:solidFill>
                            <a:srgbClr val="1F2A44"/>
                          </a:solidFill>
                          <a:latin typeface="Calibri"/>
                        </a:rPr>
                        <a:t>Bucket / share</a:t>
                      </a:r>
                    </a:p>
                  </a:txBody>
                  <a:tcPr marL="54864" marR="54864" marT="27432" marB="27432">
                    <a:solidFill>
                      <a:srgbClr val="E9ECF1"/>
                    </a:solidFill>
                  </a:tcPr>
                </a:tc>
                <a:tc>
                  <a:txBody>
                    <a:bodyPr wrap="square"/>
                    <a:lstStyle/>
                    <a:p>
                      <a:pPr algn="l"/>
                      <a:r>
                        <a:rPr sz="1100" b="1">
                          <a:solidFill>
                            <a:srgbClr val="1F2A44"/>
                          </a:solidFill>
                          <a:latin typeface="Calibri"/>
                        </a:rPr>
                        <a:t>Folder</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Basis</a:t>
                      </a:r>
                    </a:p>
                  </a:txBody>
                  <a:tcPr marL="54864" marR="54864" marT="27432" marB="27432">
                    <a:solidFill>
                      <a:srgbClr val="E9ECF1"/>
                    </a:solidFill>
                  </a:tcPr>
                </a:tc>
                <a:tc>
                  <a:txBody>
                    <a:bodyPr wrap="square"/>
                    <a:lstStyle/>
                    <a:p>
                      <a:pPr algn="l"/>
                      <a:r>
                        <a:rPr sz="1100" b="1">
                          <a:solidFill>
                            <a:srgbClr val="1F2A44"/>
                          </a:solidFill>
                          <a:latin typeface="Calibri"/>
                        </a:rPr>
                        <a:t>Hours (95 %)</a:t>
                      </a:r>
                    </a:p>
                  </a:txBody>
                  <a:tcPr marL="54864" marR="54864" marT="27432" marB="27432">
                    <a:solidFill>
                      <a:srgbClr val="E9ECF1"/>
                    </a:solidFill>
                  </a:tcPr>
                </a:tc>
                <a:tc>
                  <a:txBody>
                    <a:bodyPr wrap="square"/>
                    <a:lstStyle/>
                    <a:p>
                      <a:pPr algn="l"/>
                      <a:r>
                        <a:rPr sz="1100" b="1">
                          <a:solidFill>
                            <a:srgbClr val="1F2A44"/>
                          </a:solidFill>
                          <a:latin typeface="Calibri"/>
                        </a:rPr>
                        <a:t>Speech hours (95 %)</a:t>
                      </a:r>
                    </a:p>
                  </a:txBody>
                  <a:tcPr marL="54864" marR="54864" marT="27432" marB="27432">
                    <a:solidFill>
                      <a:srgbClr val="E9ECF1"/>
                    </a:solidFill>
                  </a:tcPr>
                </a:tc>
                <a:tc>
                  <a:txBody>
                    <a:bodyPr wrap="square"/>
                    <a:lstStyle/>
                    <a:p>
                      <a:pPr algn="l"/>
                      <a:r>
                        <a:rPr sz="1100" b="1">
                          <a:solidFill>
                            <a:srgbClr val="1F2A44"/>
                          </a:solidFill>
                          <a:latin typeface="Calibri"/>
                        </a:rPr>
                        <a:t>Leading language (speech hours)</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Record/Channel13 · 2025 · video</a:t>
                      </a:r>
                    </a:p>
                  </a:txBody>
                  <a:tcPr marL="54864" marR="54864" marT="27432" marB="27432">
                    <a:solidFill>
                      <a:srgbClr val="FFFFFF"/>
                    </a:solidFill>
                  </a:tcPr>
                </a:tc>
                <a:tc>
                  <a:txBody>
                    <a:bodyPr wrap="square"/>
                    <a:lstStyle/>
                    <a:p>
                      <a:pPr algn="r"/>
                      <a:r>
                        <a:rPr sz="1100" b="0">
                          <a:solidFill>
                            <a:srgbClr val="1F2A44"/>
                          </a:solidFill>
                          <a:latin typeface="Courier New"/>
                        </a:rPr>
                        <a:t>174,070</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9,239 (1,129–32,960)</a:t>
                      </a:r>
                    </a:p>
                  </a:txBody>
                  <a:tcPr marL="54864" marR="54864" marT="27432" marB="27432">
                    <a:solidFill>
                      <a:srgbClr val="FFFFFF"/>
                    </a:solidFill>
                  </a:tcPr>
                </a:tc>
                <a:tc>
                  <a:txBody>
                    <a:bodyPr wrap="square"/>
                    <a:lstStyle/>
                    <a:p>
                      <a:pPr algn="r"/>
                      <a:r>
                        <a:rPr sz="1100" b="0">
                          <a:solidFill>
                            <a:srgbClr val="1F2A44"/>
                          </a:solidFill>
                          <a:latin typeface="Courier New"/>
                        </a:rPr>
                        <a:t>1,979 (694–9,239)</a:t>
                      </a:r>
                    </a:p>
                  </a:txBody>
                  <a:tcPr marL="54864" marR="54864" marT="27432" marB="27432">
                    <a:solidFill>
                      <a:srgbClr val="FFFFFF"/>
                    </a:solidFill>
                  </a:tcPr>
                </a:tc>
                <a:tc>
                  <a:txBody>
                    <a:bodyPr wrap="square"/>
                    <a:lstStyle/>
                    <a:p>
                      <a:pPr algn="r"/>
                      <a:r>
                        <a:rPr sz="1100" b="0">
                          <a:solidFill>
                            <a:srgbClr val="1F2A44"/>
                          </a:solidFill>
                          <a:latin typeface="Courier New"/>
                        </a:rPr>
                        <a:t>Kiswahili 365 h</a:t>
                      </a:r>
                    </a:p>
                  </a:txBody>
                  <a:tcPr marL="54864" marR="54864" marT="27432" marB="27432">
                    <a:solidFill>
                      <a:srgbClr val="FFFFFF"/>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Record/channel06 · 2025</a:t>
                      </a:r>
                    </a:p>
                  </a:txBody>
                  <a:tcPr marL="54864" marR="54864" marT="27432" marB="27432">
                    <a:solidFill>
                      <a:srgbClr val="FFFFFF"/>
                    </a:solidFill>
                  </a:tcPr>
                </a:tc>
                <a:tc>
                  <a:txBody>
                    <a:bodyPr wrap="square"/>
                    <a:lstStyle/>
                    <a:p>
                      <a:pPr algn="r"/>
                      <a:r>
                        <a:rPr sz="1100" b="0">
                          <a:solidFill>
                            <a:srgbClr val="1F2A44"/>
                          </a:solidFill>
                          <a:latin typeface="Courier New"/>
                        </a:rPr>
                        <a:t>164,872</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8,755 (1,069–31,231)</a:t>
                      </a:r>
                    </a:p>
                  </a:txBody>
                  <a:tcPr marL="54864" marR="54864" marT="27432" marB="27432">
                    <a:solidFill>
                      <a:srgbClr val="FFFFFF"/>
                    </a:solidFill>
                  </a:tcPr>
                </a:tc>
                <a:tc>
                  <a:txBody>
                    <a:bodyPr wrap="square"/>
                    <a:lstStyle/>
                    <a:p>
                      <a:pPr algn="r"/>
                      <a:r>
                        <a:rPr sz="1100" b="0">
                          <a:solidFill>
                            <a:srgbClr val="1F2A44"/>
                          </a:solidFill>
                          <a:latin typeface="Courier New"/>
                        </a:rPr>
                        <a:t>1,875 (657–8,755)</a:t>
                      </a:r>
                    </a:p>
                  </a:txBody>
                  <a:tcPr marL="54864" marR="54864" marT="27432" marB="27432">
                    <a:solidFill>
                      <a:srgbClr val="FFFFFF"/>
                    </a:solidFill>
                  </a:tcPr>
                </a:tc>
                <a:tc>
                  <a:txBody>
                    <a:bodyPr wrap="square"/>
                    <a:lstStyle/>
                    <a:p>
                      <a:pPr algn="r"/>
                      <a:r>
                        <a:rPr sz="1100" b="0">
                          <a:solidFill>
                            <a:srgbClr val="1F2A44"/>
                          </a:solidFill>
                          <a:latin typeface="Courier New"/>
                        </a:rPr>
                        <a:t>Kiswahili 346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na7p4oco</a:t>
                      </a:r>
                    </a:p>
                  </a:txBody>
                  <a:tcPr marL="54864" marR="54864" marT="27432" marB="27432">
                    <a:solidFill>
                      <a:srgbClr val="FFFFFF"/>
                    </a:solidFill>
                  </a:tcPr>
                </a:tc>
                <a:tc>
                  <a:txBody>
                    <a:bodyPr wrap="square"/>
                    <a:lstStyle/>
                    <a:p>
                      <a:pPr algn="l"/>
                      <a:r>
                        <a:rPr sz="1100" b="0">
                          <a:solidFill>
                            <a:srgbClr val="1F2A44"/>
                          </a:solidFill>
                          <a:latin typeface="Calibri"/>
                        </a:rPr>
                        <a:t>imported/WIMWARO/BACKUP/F · audio</a:t>
                      </a:r>
                    </a:p>
                  </a:txBody>
                  <a:tcPr marL="54864" marR="54864" marT="27432" marB="27432">
                    <a:solidFill>
                      <a:srgbClr val="FFFFFF"/>
                    </a:solidFill>
                  </a:tcPr>
                </a:tc>
                <a:tc>
                  <a:txBody>
                    <a:bodyPr wrap="square"/>
                    <a:lstStyle/>
                    <a:p>
                      <a:pPr algn="r"/>
                      <a:r>
                        <a:rPr sz="1100" b="0">
                          <a:solidFill>
                            <a:srgbClr val="1F2A44"/>
                          </a:solidFill>
                          <a:latin typeface="Courier New"/>
                        </a:rPr>
                        <a:t>85,476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7,567 (5,854–38,087)</a:t>
                      </a:r>
                    </a:p>
                  </a:txBody>
                  <a:tcPr marL="54864" marR="54864" marT="27432" marB="27432">
                    <a:solidFill>
                      <a:srgbClr val="FFFFFF"/>
                    </a:solidFill>
                  </a:tcPr>
                </a:tc>
                <a:tc>
                  <a:txBody>
                    <a:bodyPr wrap="square"/>
                    <a:lstStyle/>
                    <a:p>
                      <a:pPr algn="r"/>
                      <a:r>
                        <a:rPr sz="1100" b="0">
                          <a:solidFill>
                            <a:srgbClr val="1F2A44"/>
                          </a:solidFill>
                          <a:latin typeface="Courier New"/>
                        </a:rPr>
                        <a:t>5,464 (352–24,211)</a:t>
                      </a:r>
                    </a:p>
                  </a:txBody>
                  <a:tcPr marL="54864" marR="54864" marT="27432" marB="27432">
                    <a:solidFill>
                      <a:srgbClr val="FFFFFF"/>
                    </a:solidFill>
                  </a:tcPr>
                </a:tc>
                <a:tc>
                  <a:txBody>
                    <a:bodyPr wrap="square"/>
                    <a:lstStyle/>
                    <a:p>
                      <a:pPr algn="r"/>
                      <a:r>
                        <a:rPr sz="1100" b="0">
                          <a:solidFill>
                            <a:srgbClr val="1F2A44"/>
                          </a:solidFill>
                          <a:latin typeface="Courier New"/>
                        </a:rPr>
                        <a:t>Gikuyu (Kikuyu) 978 h</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imported/VUUKA/BACKUP/E · audio</a:t>
                      </a:r>
                    </a:p>
                  </a:txBody>
                  <a:tcPr marL="54864" marR="54864" marT="27432" marB="27432">
                    <a:solidFill>
                      <a:srgbClr val="FFFFFF"/>
                    </a:solidFill>
                  </a:tcPr>
                </a:tc>
                <a:tc>
                  <a:txBody>
                    <a:bodyPr wrap="square"/>
                    <a:lstStyle/>
                    <a:p>
                      <a:pPr algn="r"/>
                      <a:r>
                        <a:rPr sz="1100" b="0">
                          <a:solidFill>
                            <a:srgbClr val="1F2A44"/>
                          </a:solidFill>
                          <a:latin typeface="Courier New"/>
                        </a:rPr>
                        <a:t>71,696</a:t>
                      </a:r>
                    </a:p>
                  </a:txBody>
                  <a:tcPr marL="54864" marR="54864" marT="27432" marB="27432">
                    <a:solidFill>
                      <a:srgbClr val="FFFFFF"/>
                    </a:solidFill>
                  </a:tcPr>
                </a:tc>
                <a:tc>
                  <a:txBody>
                    <a:bodyPr wrap="square"/>
                    <a:lstStyle/>
                    <a:p>
                      <a:pPr algn="r"/>
                      <a:r>
                        <a:rPr sz="1100" b="0">
                          <a:solidFill>
                            <a:srgbClr val="1F2A44"/>
                          </a:solidFill>
                          <a:latin typeface="Courier New"/>
                        </a:rPr>
                        <a:t>key refused (forecast)</a:t>
                      </a:r>
                    </a:p>
                  </a:txBody>
                  <a:tcPr marL="54864" marR="54864" marT="27432" marB="27432">
                    <a:solidFill>
                      <a:srgbClr val="FFFFFF"/>
                    </a:solidFill>
                  </a:tcPr>
                </a:tc>
                <a:tc>
                  <a:txBody>
                    <a:bodyPr wrap="square"/>
                    <a:lstStyle/>
                    <a:p>
                      <a:pPr algn="r"/>
                      <a:r>
                        <a:rPr sz="1100" b="0">
                          <a:solidFill>
                            <a:srgbClr val="1F2A44"/>
                          </a:solidFill>
                          <a:latin typeface="Courier New"/>
                        </a:rPr>
                        <a:t>6,524 (5,047–32,838)</a:t>
                      </a:r>
                    </a:p>
                  </a:txBody>
                  <a:tcPr marL="54864" marR="54864" marT="27432" marB="27432">
                    <a:solidFill>
                      <a:srgbClr val="FFFFFF"/>
                    </a:solidFill>
                  </a:tcPr>
                </a:tc>
                <a:tc>
                  <a:txBody>
                    <a:bodyPr wrap="square"/>
                    <a:lstStyle/>
                    <a:p>
                      <a:pPr algn="r"/>
                      <a:r>
                        <a:rPr sz="1100" b="0">
                          <a:solidFill>
                            <a:srgbClr val="1F2A44"/>
                          </a:solidFill>
                          <a:latin typeface="Courier New"/>
                        </a:rPr>
                        <a:t>4,711 (304–22,621)</a:t>
                      </a:r>
                    </a:p>
                  </a:txBody>
                  <a:tcPr marL="54864" marR="54864" marT="27432" marB="27432">
                    <a:solidFill>
                      <a:srgbClr val="FFFFFF"/>
                    </a:solidFill>
                  </a:tcPr>
                </a:tc>
                <a:tc>
                  <a:txBody>
                    <a:bodyPr wrap="square"/>
                    <a:lstStyle/>
                    <a:p>
                      <a:pPr algn="r"/>
                      <a:r>
                        <a:rPr sz="1100" b="0">
                          <a:solidFill>
                            <a:srgbClr val="1F2A44"/>
                          </a:solidFill>
                          <a:latin typeface="Courier New"/>
                        </a:rPr>
                        <a:t>Gikuyu (Kikuyu) 843 h</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is one folder stratum with its listed population scaled by the sample.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2798064"/>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Gikuyu (Kikuyu)</a:t>
                      </a:r>
                    </a:p>
                  </a:txBody>
                  <a:tcPr marL="54864" marR="54864" marT="27432" marB="27432">
                    <a:solidFill>
                      <a:srgbClr val="FFFFFF"/>
                    </a:solidFill>
                  </a:tcPr>
                </a:tc>
                <a:tc>
                  <a:txBody>
                    <a:bodyPr wrap="square"/>
                    <a:lstStyle/>
                    <a:p>
                      <a:pPr algn="r"/>
                      <a:r>
                        <a:rPr sz="1200" b="0">
                          <a:solidFill>
                            <a:srgbClr val="1F2A44"/>
                          </a:solidFill>
                          <a:latin typeface="Courier New"/>
                        </a:rPr>
                        <a:t>4,333.6 (3,938.1–4,729.2)</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3,650.2 (3,390.3–3,910.1)</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Ekegusii (Kisii)</a:t>
                      </a:r>
                    </a:p>
                  </a:txBody>
                  <a:tcPr marL="54864" marR="54864" marT="27432" marB="27432">
                    <a:solidFill>
                      <a:srgbClr val="FFFFFF"/>
                    </a:solidFill>
                  </a:tcPr>
                </a:tc>
                <a:tc>
                  <a:txBody>
                    <a:bodyPr wrap="square"/>
                    <a:lstStyle/>
                    <a:p>
                      <a:pPr algn="r"/>
                      <a:r>
                        <a:rPr sz="1200" b="0">
                          <a:solidFill>
                            <a:srgbClr val="1F2A44"/>
                          </a:solidFill>
                          <a:latin typeface="Courier New"/>
                        </a:rPr>
                        <a:t>2,729.9 (2,443.0–3,016.8)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Wanga (Luhya)</a:t>
                      </a:r>
                    </a:p>
                  </a:txBody>
                  <a:tcPr marL="54864" marR="54864" marT="27432" marB="27432">
                    <a:solidFill>
                      <a:srgbClr val="FFFFFF"/>
                    </a:solidFill>
                  </a:tcPr>
                </a:tc>
                <a:tc>
                  <a:txBody>
                    <a:bodyPr wrap="square"/>
                    <a:lstStyle/>
                    <a:p>
                      <a:pPr algn="r"/>
                      <a:r>
                        <a:rPr sz="1200" b="0">
                          <a:solidFill>
                            <a:srgbClr val="1F2A44"/>
                          </a:solidFill>
                          <a:latin typeface="Courier New"/>
                        </a:rPr>
                        <a:t>2,702.4 (2,449.1–2,955.7)</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Kalenjin</a:t>
                      </a:r>
                    </a:p>
                  </a:txBody>
                  <a:tcPr marL="54864" marR="54864" marT="27432" marB="27432">
                    <a:solidFill>
                      <a:srgbClr val="FFFFFF"/>
                    </a:solidFill>
                  </a:tcPr>
                </a:tc>
                <a:tc>
                  <a:txBody>
                    <a:bodyPr wrap="square"/>
                    <a:lstStyle/>
                    <a:p>
                      <a:pPr algn="r"/>
                      <a:r>
                        <a:rPr sz="1200" b="0">
                          <a:solidFill>
                            <a:srgbClr val="1F2A44"/>
                          </a:solidFill>
                          <a:latin typeface="Courier New"/>
                        </a:rPr>
                        <a:t>2,182.8 (1,634.8–2,730.8)</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Dholuo (Luo)</a:t>
                      </a:r>
                    </a:p>
                  </a:txBody>
                  <a:tcPr marL="54864" marR="54864" marT="27432" marB="27432">
                    <a:solidFill>
                      <a:srgbClr val="FFFFFF"/>
                    </a:solidFill>
                  </a:tcPr>
                </a:tc>
                <a:tc>
                  <a:txBody>
                    <a:bodyPr wrap="square"/>
                    <a:lstStyle/>
                    <a:p>
                      <a:pPr algn="r"/>
                      <a:r>
                        <a:rPr sz="1200" b="0">
                          <a:solidFill>
                            <a:srgbClr val="1F2A44"/>
                          </a:solidFill>
                          <a:latin typeface="Courier New"/>
                        </a:rPr>
                        <a:t>1,762.5 (1,543.9–1,981.0)</a:t>
                      </a:r>
                    </a:p>
                  </a:txBody>
                  <a:tcPr marL="54864" marR="54864" marT="27432" marB="27432">
                    <a:solidFill>
                      <a:srgbClr val="FFFFFF"/>
                    </a:solidFill>
                  </a:tcPr>
                </a:tc>
              </a:tr>
              <a:tr h="310896">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960.5 (861.6–1,059.4)</a:t>
                      </a:r>
                    </a:p>
                  </a:txBody>
                  <a:tcPr marL="54864" marR="54864" marT="27432" marB="27432">
                    <a:solidFill>
                      <a:srgbClr val="FFFFFF"/>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Kiswahili</a:t>
                      </a:r>
                    </a:p>
                  </a:txBody>
                  <a:tcPr marL="54864" marR="54864" marT="27432" marB="27432">
                    <a:solidFill>
                      <a:srgbClr val="FFFFFF"/>
                    </a:solidFill>
                  </a:tcPr>
                </a:tc>
                <a:tc>
                  <a:txBody>
                    <a:bodyPr wrap="square"/>
                    <a:lstStyle/>
                    <a:p>
                      <a:pPr algn="r"/>
                      <a:r>
                        <a:rPr sz="1200" b="0">
                          <a:solidFill>
                            <a:srgbClr val="1F2A44"/>
                          </a:solidFill>
                          <a:latin typeface="Courier New"/>
                        </a:rPr>
                        <a:t>265.4 (256.5–274.3)</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Estimated speech hours by language in the currently covered readable scope</a:t>
            </a:r>
          </a:p>
        </p:txBody>
      </p:sp>
      <p:graphicFrame>
        <p:nvGraphicFramePr>
          <p:cNvPr id="4" name="Table 3"/>
          <p:cNvGraphicFramePr>
            <a:graphicFrameLocks noGrp="1"/>
          </p:cNvGraphicFramePr>
          <p:nvPr/>
        </p:nvGraphicFramePr>
        <p:xfrm>
          <a:off x="594360" y="1920240"/>
          <a:ext cx="11002974" cy="621792"/>
        </p:xfrm>
        <a:graphic>
          <a:graphicData uri="http://schemas.openxmlformats.org/drawingml/2006/table">
            <a:tbl>
              <a:tblPr firstRow="1" bandRow="1">
                <a:tableStyleId>{5C22544A-7EE6-4342-B048-85BDC9FD1C3A}</a:tableStyleId>
              </a:tblPr>
              <a:tblGrid>
                <a:gridCol w="2800757"/>
                <a:gridCol w="3200865"/>
                <a:gridCol w="5001352"/>
              </a:tblGrid>
              <a:tr h="310896">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Model language</a:t>
                      </a:r>
                    </a:p>
                  </a:txBody>
                  <a:tcPr marL="54864" marR="54864" marT="27432" marB="27432">
                    <a:solidFill>
                      <a:srgbClr val="E9ECF1"/>
                    </a:solidFill>
                  </a:tcPr>
                </a:tc>
                <a:tc>
                  <a:txBody>
                    <a:bodyPr wrap="square"/>
                    <a:lstStyle/>
                    <a:p>
                      <a:pPr algn="l"/>
                      <a:r>
                        <a:rPr sz="1200" b="1">
                          <a:solidFill>
                            <a:srgbClr val="1F2A44"/>
                          </a:solidFill>
                          <a:latin typeface="Calibri"/>
                        </a:rPr>
                        <a:t>Speech hours (95 %)</a:t>
                      </a:r>
                    </a:p>
                  </a:txBody>
                  <a:tcPr marL="54864" marR="54864" marT="27432" marB="27432">
                    <a:solidFill>
                      <a:srgbClr val="E9ECF1"/>
                    </a:solidFill>
                  </a:tcPr>
                </a:tc>
              </a:tr>
              <a:tr h="310896">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Kikamba (Kamba)</a:t>
                      </a:r>
                    </a:p>
                  </a:txBody>
                  <a:tcPr marL="54864" marR="54864" marT="27432" marB="27432">
                    <a:solidFill>
                      <a:srgbClr val="FFFFFF"/>
                    </a:solidFill>
                  </a:tcPr>
                </a:tc>
                <a:tc>
                  <a:txBody>
                    <a:bodyPr wrap="square"/>
                    <a:lstStyle/>
                    <a:p>
                      <a:pPr algn="r"/>
                      <a:r>
                        <a:rPr sz="1200" b="0">
                          <a:solidFill>
                            <a:srgbClr val="1F2A44"/>
                          </a:solidFill>
                          <a:latin typeface="Courier New"/>
                        </a:rPr>
                        <a:t>136.2 (124.0–148.4)</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All model-reported languages, separately by store; 95 % sampling intervals do not include classification error.</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Audio held by language folder — what both GPUs read</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78258"/>
                <a:gridCol w="1555976"/>
                <a:gridCol w="1555976"/>
                <a:gridCol w="2111682"/>
                <a:gridCol w="2000540"/>
                <a:gridCol w="2000540"/>
              </a:tblGrid>
              <a:tr h="310896">
                <a:tc>
                  <a:txBody>
                    <a:bodyPr wrap="square"/>
                    <a:lstStyle/>
                    <a:p>
                      <a:pPr algn="l"/>
                      <a:r>
                        <a:rPr sz="1100" b="1">
                          <a:solidFill>
                            <a:srgbClr val="1F2A44"/>
                          </a:solidFill>
                          <a:latin typeface="Calibri"/>
                        </a:rPr>
                        <a:t>Language</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Hours recorded</a:t>
                      </a:r>
                    </a:p>
                  </a:txBody>
                  <a:tcPr marL="54864" marR="54864" marT="27432" marB="27432">
                    <a:solidFill>
                      <a:srgbClr val="E9ECF1"/>
                    </a:solidFill>
                  </a:tcPr>
                </a:tc>
                <a:tc>
                  <a:txBody>
                    <a:bodyPr wrap="square"/>
                    <a:lstStyle/>
                    <a:p>
                      <a:pPr algn="l"/>
                      <a:r>
                        <a:rPr sz="1100" b="1">
                          <a:solidFill>
                            <a:srgbClr val="1F2A44"/>
                          </a:solidFill>
                          <a:latin typeface="Calibri"/>
                        </a:rPr>
                        <a:t>Speech hours (est.)</a:t>
                      </a:r>
                    </a:p>
                  </a:txBody>
                  <a:tcPr marL="54864" marR="54864" marT="27432" marB="27432">
                    <a:solidFill>
                      <a:srgbClr val="E9ECF1"/>
                    </a:solidFill>
                  </a:tcPr>
                </a:tc>
                <a:tc>
                  <a:txBody>
                    <a:bodyPr wrap="square"/>
                    <a:lstStyle/>
                    <a:p>
                      <a:pPr algn="l"/>
                      <a:r>
                        <a:rPr sz="1100" b="1">
                          <a:solidFill>
                            <a:srgbClr val="1F2A44"/>
                          </a:solidFill>
                          <a:latin typeface="Calibri"/>
                        </a:rPr>
                        <a:t>Music hours (est.)</a:t>
                      </a:r>
                    </a:p>
                  </a:txBody>
                  <a:tcPr marL="54864" marR="54864" marT="27432" marB="27432">
                    <a:solidFill>
                      <a:srgbClr val="E9ECF1"/>
                    </a:solidFill>
                  </a:tcPr>
                </a:tc>
                <a:tc>
                  <a:txBody>
                    <a:bodyPr wrap="square"/>
                    <a:lstStyle/>
                    <a:p>
                      <a:pPr algn="l"/>
                      <a:r>
                        <a:rPr sz="1100" b="1">
                          <a:solidFill>
                            <a:srgbClr val="1F2A44"/>
                          </a:solidFill>
                          <a:latin typeface="Calibri"/>
                        </a:rPr>
                        <a:t>Agrees with folder</a:t>
                      </a:r>
                    </a:p>
                  </a:txBody>
                  <a:tcPr marL="54864" marR="54864" marT="27432" marB="27432">
                    <a:solidFill>
                      <a:srgbClr val="E9ECF1"/>
                    </a:solidFill>
                  </a:tcPr>
                </a:tc>
              </a:tr>
              <a:tr h="310896">
                <a:tc>
                  <a:txBody>
                    <a:bodyPr wrap="square"/>
                    <a:lstStyle/>
                    <a:p>
                      <a:pPr algn="l"/>
                      <a:r>
                        <a:rPr sz="1100" b="0">
                          <a:solidFill>
                            <a:srgbClr val="1F2A44"/>
                          </a:solidFill>
                          <a:latin typeface="Calibri"/>
                        </a:rPr>
                        <a:t>Ekegusii (Kisii)</a:t>
                      </a:r>
                    </a:p>
                  </a:txBody>
                  <a:tcPr marL="54864" marR="54864" marT="27432" marB="27432">
                    <a:solidFill>
                      <a:srgbClr val="FFFFFF"/>
                    </a:solidFill>
                  </a:tcPr>
                </a:tc>
                <a:tc>
                  <a:txBody>
                    <a:bodyPr wrap="square"/>
                    <a:lstStyle/>
                    <a:p>
                      <a:pPr algn="l"/>
                      <a:r>
                        <a:rPr sz="1100" b="0">
                          <a:solidFill>
                            <a:srgbClr val="1F2A44"/>
                          </a:solidFill>
                          <a:latin typeface="Calibri"/>
                        </a:rPr>
                        <a:t>732</a:t>
                      </a:r>
                    </a:p>
                  </a:txBody>
                  <a:tcPr marL="54864" marR="54864" marT="27432" marB="27432">
                    <a:solidFill>
                      <a:srgbClr val="FFFFFF"/>
                    </a:solidFill>
                  </a:tcPr>
                </a:tc>
                <a:tc>
                  <a:txBody>
                    <a:bodyPr wrap="square"/>
                    <a:lstStyle/>
                    <a:p>
                      <a:pPr algn="r"/>
                      <a:r>
                        <a:rPr sz="1100" b="0">
                          <a:solidFill>
                            <a:srgbClr val="1F2A44"/>
                          </a:solidFill>
                          <a:latin typeface="Courier New"/>
                        </a:rPr>
                        <a:t>92.2</a:t>
                      </a:r>
                    </a:p>
                  </a:txBody>
                  <a:tcPr marL="54864" marR="54864" marT="27432" marB="27432">
                    <a:solidFill>
                      <a:srgbClr val="FFFFFF"/>
                    </a:solidFill>
                  </a:tcPr>
                </a:tc>
                <a:tc>
                  <a:txBody>
                    <a:bodyPr wrap="square"/>
                    <a:lstStyle/>
                    <a:p>
                      <a:pPr algn="r"/>
                      <a:r>
                        <a:rPr sz="1100" b="0">
                          <a:solidFill>
                            <a:srgbClr val="1F2A44"/>
                          </a:solidFill>
                          <a:latin typeface="Courier New"/>
                        </a:rPr>
                        <a:t>76.7</a:t>
                      </a:r>
                    </a:p>
                  </a:txBody>
                  <a:tcPr marL="54864" marR="54864" marT="27432" marB="27432">
                    <a:solidFill>
                      <a:srgbClr val="FFFFFF"/>
                    </a:solidFill>
                  </a:tcPr>
                </a:tc>
                <a:tc>
                  <a:txBody>
                    <a:bodyPr wrap="square"/>
                    <a:lstStyle/>
                    <a:p>
                      <a:pPr algn="r"/>
                      <a:r>
                        <a:rPr sz="1100" b="0">
                          <a:solidFill>
                            <a:srgbClr val="1F2A44"/>
                          </a:solidFill>
                          <a:latin typeface="Courier New"/>
                        </a:rPr>
                        <a:t>15.6</a:t>
                      </a:r>
                    </a:p>
                  </a:txBody>
                  <a:tcPr marL="54864" marR="54864" marT="27432" marB="27432">
                    <a:solidFill>
                      <a:srgbClr val="FFFFFF"/>
                    </a:solidFill>
                  </a:tcPr>
                </a:tc>
                <a:tc>
                  <a:txBody>
                    <a:bodyPr wrap="square"/>
                    <a:lstStyle/>
                    <a:p>
                      <a:pPr algn="r"/>
                      <a:r>
                        <a:rPr sz="1100" b="0">
                          <a:solidFill>
                            <a:srgbClr val="1F2A44"/>
                          </a:solidFill>
                          <a:latin typeface="Courier New"/>
                        </a:rPr>
                        <a:t>86.1%</a:t>
                      </a:r>
                    </a:p>
                  </a:txBody>
                  <a:tcPr marL="54864" marR="54864" marT="27432" marB="27432">
                    <a:solidFill>
                      <a:srgbClr val="FFFFFF"/>
                    </a:solidFill>
                  </a:tcPr>
                </a:tc>
              </a:tr>
              <a:tr h="310896">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l"/>
                      <a:r>
                        <a:rPr sz="1100" b="0">
                          <a:solidFill>
                            <a:srgbClr val="1F2A44"/>
                          </a:solidFill>
                          <a:latin typeface="Calibri"/>
                        </a:rPr>
                        <a:t>295</a:t>
                      </a:r>
                    </a:p>
                  </a:txBody>
                  <a:tcPr marL="54864" marR="54864" marT="27432" marB="27432">
                    <a:solidFill>
                      <a:srgbClr val="FFFFFF"/>
                    </a:solidFill>
                  </a:tcPr>
                </a:tc>
                <a:tc>
                  <a:txBody>
                    <a:bodyPr wrap="square"/>
                    <a:lstStyle/>
                    <a:p>
                      <a:pPr algn="r"/>
                      <a:r>
                        <a:rPr sz="1100" b="0">
                          <a:solidFill>
                            <a:srgbClr val="1F2A44"/>
                          </a:solidFill>
                          <a:latin typeface="Courier New"/>
                        </a:rPr>
                        <a:t>89.8</a:t>
                      </a:r>
                    </a:p>
                  </a:txBody>
                  <a:tcPr marL="54864" marR="54864" marT="27432" marB="27432">
                    <a:solidFill>
                      <a:srgbClr val="FFFFFF"/>
                    </a:solidFill>
                  </a:tcPr>
                </a:tc>
                <a:tc>
                  <a:txBody>
                    <a:bodyPr wrap="square"/>
                    <a:lstStyle/>
                    <a:p>
                      <a:pPr algn="r"/>
                      <a:r>
                        <a:rPr sz="1100" b="0">
                          <a:solidFill>
                            <a:srgbClr val="1F2A44"/>
                          </a:solidFill>
                          <a:latin typeface="Courier New"/>
                        </a:rPr>
                        <a:t>73.2</a:t>
                      </a:r>
                    </a:p>
                  </a:txBody>
                  <a:tcPr marL="54864" marR="54864" marT="27432" marB="27432">
                    <a:solidFill>
                      <a:srgbClr val="FFFFFF"/>
                    </a:solidFill>
                  </a:tcPr>
                </a:tc>
                <a:tc>
                  <a:txBody>
                    <a:bodyPr wrap="square"/>
                    <a:lstStyle/>
                    <a:p>
                      <a:pPr algn="r"/>
                      <a:r>
                        <a:rPr sz="1100" b="0">
                          <a:solidFill>
                            <a:srgbClr val="1F2A44"/>
                          </a:solidFill>
                          <a:latin typeface="Courier New"/>
                        </a:rPr>
                        <a:t>16.6</a:t>
                      </a:r>
                    </a:p>
                  </a:txBody>
                  <a:tcPr marL="54864" marR="54864" marT="27432" marB="27432">
                    <a:solidFill>
                      <a:srgbClr val="FFFFFF"/>
                    </a:solidFill>
                  </a:tcPr>
                </a:tc>
                <a:tc>
                  <a:txBody>
                    <a:bodyPr wrap="square"/>
                    <a:lstStyle/>
                    <a:p>
                      <a:pPr algn="r"/>
                      <a:r>
                        <a:rPr sz="1100" b="0">
                          <a:solidFill>
                            <a:srgbClr val="1F2A44"/>
                          </a:solidFill>
                          <a:latin typeface="Courier New"/>
                        </a:rPr>
                        <a:t>89.9%</a:t>
                      </a:r>
                    </a:p>
                  </a:txBody>
                  <a:tcPr marL="54864" marR="54864" marT="27432" marB="27432">
                    <a:solidFill>
                      <a:srgbClr val="FFFFFF"/>
                    </a:solidFill>
                  </a:tcPr>
                </a:tc>
              </a:tr>
              <a:tr h="310896">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l"/>
                      <a:r>
                        <a:rPr sz="1100" b="0">
                          <a:solidFill>
                            <a:srgbClr val="1F2A44"/>
                          </a:solidFill>
                          <a:latin typeface="Calibri"/>
                        </a:rPr>
                        <a:t>549</a:t>
                      </a:r>
                    </a:p>
                  </a:txBody>
                  <a:tcPr marL="54864" marR="54864" marT="27432" marB="27432">
                    <a:solidFill>
                      <a:srgbClr val="FFFFFF"/>
                    </a:solidFill>
                  </a:tcPr>
                </a:tc>
                <a:tc>
                  <a:txBody>
                    <a:bodyPr wrap="square"/>
                    <a:lstStyle/>
                    <a:p>
                      <a:pPr algn="r"/>
                      <a:r>
                        <a:rPr sz="1100" b="0">
                          <a:solidFill>
                            <a:srgbClr val="1F2A44"/>
                          </a:solidFill>
                          <a:latin typeface="Courier New"/>
                        </a:rPr>
                        <a:t>87.7</a:t>
                      </a:r>
                    </a:p>
                  </a:txBody>
                  <a:tcPr marL="54864" marR="54864" marT="27432" marB="27432">
                    <a:solidFill>
                      <a:srgbClr val="FFFFFF"/>
                    </a:solidFill>
                  </a:tcPr>
                </a:tc>
                <a:tc>
                  <a:txBody>
                    <a:bodyPr wrap="square"/>
                    <a:lstStyle/>
                    <a:p>
                      <a:pPr algn="r"/>
                      <a:r>
                        <a:rPr sz="1100" b="0">
                          <a:solidFill>
                            <a:srgbClr val="1F2A44"/>
                          </a:solidFill>
                          <a:latin typeface="Courier New"/>
                        </a:rPr>
                        <a:t>78.5</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78.7%</a:t>
                      </a:r>
                    </a:p>
                  </a:txBody>
                  <a:tcPr marL="54864" marR="54864" marT="27432" marB="27432">
                    <a:solidFill>
                      <a:srgbClr val="FFFFFF"/>
                    </a:solidFill>
                  </a:tcPr>
                </a:tc>
              </a:tr>
              <a:tr h="310896">
                <a:tc>
                  <a:txBody>
                    <a:bodyPr wrap="square"/>
                    <a:lstStyle/>
                    <a:p>
                      <a:pPr algn="l"/>
                      <a:r>
                        <a:rPr sz="1100" b="0">
                          <a:solidFill>
                            <a:srgbClr val="1F2A44"/>
                          </a:solidFill>
                          <a:latin typeface="Calibri"/>
                        </a:rPr>
                        <a:t>Kikamba (Kamba)</a:t>
                      </a:r>
                    </a:p>
                  </a:txBody>
                  <a:tcPr marL="54864" marR="54864" marT="27432" marB="27432">
                    <a:solidFill>
                      <a:srgbClr val="FFFFFF"/>
                    </a:solidFill>
                  </a:tcPr>
                </a:tc>
                <a:tc>
                  <a:txBody>
                    <a:bodyPr wrap="square"/>
                    <a:lstStyle/>
                    <a:p>
                      <a:pPr algn="l"/>
                      <a:r>
                        <a:rPr sz="1100" b="0">
                          <a:solidFill>
                            <a:srgbClr val="1F2A44"/>
                          </a:solidFill>
                          <a:latin typeface="Calibri"/>
                        </a:rPr>
                        <a:t>1166</a:t>
                      </a:r>
                    </a:p>
                  </a:txBody>
                  <a:tcPr marL="54864" marR="54864" marT="27432" marB="27432">
                    <a:solidFill>
                      <a:srgbClr val="FFFFFF"/>
                    </a:solidFill>
                  </a:tcPr>
                </a:tc>
                <a:tc>
                  <a:txBody>
                    <a:bodyPr wrap="square"/>
                    <a:lstStyle/>
                    <a:p>
                      <a:pPr algn="r"/>
                      <a:r>
                        <a:rPr sz="1100" b="0">
                          <a:solidFill>
                            <a:srgbClr val="1F2A44"/>
                          </a:solidFill>
                          <a:latin typeface="Courier New"/>
                        </a:rPr>
                        <a:t>85.4</a:t>
                      </a:r>
                    </a:p>
                  </a:txBody>
                  <a:tcPr marL="54864" marR="54864" marT="27432" marB="27432">
                    <a:solidFill>
                      <a:srgbClr val="FFFFFF"/>
                    </a:solidFill>
                  </a:tcPr>
                </a:tc>
                <a:tc>
                  <a:txBody>
                    <a:bodyPr wrap="square"/>
                    <a:lstStyle/>
                    <a:p>
                      <a:pPr algn="r"/>
                      <a:r>
                        <a:rPr sz="1100" b="0">
                          <a:solidFill>
                            <a:srgbClr val="1F2A44"/>
                          </a:solidFill>
                          <a:latin typeface="Courier New"/>
                        </a:rPr>
                        <a:t>67.8</a:t>
                      </a:r>
                    </a:p>
                  </a:txBody>
                  <a:tcPr marL="54864" marR="54864" marT="27432" marB="27432">
                    <a:solidFill>
                      <a:srgbClr val="FFFFFF"/>
                    </a:solidFill>
                  </a:tcPr>
                </a:tc>
                <a:tc>
                  <a:txBody>
                    <a:bodyPr wrap="square"/>
                    <a:lstStyle/>
                    <a:p>
                      <a:pPr algn="r"/>
                      <a:r>
                        <a:rPr sz="1100" b="0">
                          <a:solidFill>
                            <a:srgbClr val="1F2A44"/>
                          </a:solidFill>
                          <a:latin typeface="Courier New"/>
                        </a:rPr>
                        <a:t>17.6</a:t>
                      </a:r>
                    </a:p>
                  </a:txBody>
                  <a:tcPr marL="54864" marR="54864" marT="27432" marB="27432">
                    <a:solidFill>
                      <a:srgbClr val="FFFFFF"/>
                    </a:solidFill>
                  </a:tcPr>
                </a:tc>
                <a:tc>
                  <a:txBody>
                    <a:bodyPr wrap="square"/>
                    <a:lstStyle/>
                    <a:p>
                      <a:pPr algn="r"/>
                      <a:r>
                        <a:rPr sz="1100" b="0">
                          <a:solidFill>
                            <a:srgbClr val="1F2A44"/>
                          </a:solidFill>
                          <a:latin typeface="Courier New"/>
                        </a:rPr>
                        <a:t>70.9%</a:t>
                      </a:r>
                    </a:p>
                  </a:txBody>
                  <a:tcPr marL="54864" marR="54864" marT="27432" marB="27432">
                    <a:solidFill>
                      <a:srgbClr val="FFFFFF"/>
                    </a:solidFill>
                  </a:tcPr>
                </a:tc>
              </a:tr>
              <a:tr h="310896">
                <a:tc>
                  <a:txBody>
                    <a:bodyPr wrap="square"/>
                    <a:lstStyle/>
                    <a:p>
                      <a:pPr algn="l"/>
                      <a:r>
                        <a:rPr sz="1100" b="0">
                          <a:solidFill>
                            <a:srgbClr val="1F2A44"/>
                          </a:solidFill>
                          <a:latin typeface="Calibri"/>
                        </a:rPr>
                        <a:t>Gikuyu (Kikuyu)</a:t>
                      </a:r>
                    </a:p>
                  </a:txBody>
                  <a:tcPr marL="54864" marR="54864" marT="27432" marB="27432">
                    <a:solidFill>
                      <a:srgbClr val="FFFFFF"/>
                    </a:solidFill>
                  </a:tcPr>
                </a:tc>
                <a:tc>
                  <a:txBody>
                    <a:bodyPr wrap="square"/>
                    <a:lstStyle/>
                    <a:p>
                      <a:pPr algn="l"/>
                      <a:r>
                        <a:rPr sz="1100" b="0">
                          <a:solidFill>
                            <a:srgbClr val="1F2A44"/>
                          </a:solidFill>
                          <a:latin typeface="Calibri"/>
                        </a:rPr>
                        <a:t>584</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65.9</a:t>
                      </a:r>
                    </a:p>
                  </a:txBody>
                  <a:tcPr marL="54864" marR="54864" marT="27432" marB="27432">
                    <a:solidFill>
                      <a:srgbClr val="FFFFFF"/>
                    </a:solidFill>
                  </a:tcPr>
                </a:tc>
                <a:tc>
                  <a:txBody>
                    <a:bodyPr wrap="square"/>
                    <a:lstStyle/>
                    <a:p>
                      <a:pPr algn="r"/>
                      <a:r>
                        <a:rPr sz="1100" b="0">
                          <a:solidFill>
                            <a:srgbClr val="1F2A44"/>
                          </a:solidFill>
                          <a:latin typeface="Courier New"/>
                        </a:rPr>
                        <a:t>16.2</a:t>
                      </a:r>
                    </a:p>
                  </a:txBody>
                  <a:tcPr marL="54864" marR="54864" marT="27432" marB="27432">
                    <a:solidFill>
                      <a:srgbClr val="FFFFFF"/>
                    </a:solidFill>
                  </a:tcPr>
                </a:tc>
                <a:tc>
                  <a:txBody>
                    <a:bodyPr wrap="square"/>
                    <a:lstStyle/>
                    <a:p>
                      <a:pPr algn="r"/>
                      <a:r>
                        <a:rPr sz="1100" b="0">
                          <a:solidFill>
                            <a:srgbClr val="1F2A44"/>
                          </a:solidFill>
                          <a:latin typeface="Courier New"/>
                        </a:rPr>
                        <a:t>79.8%</a:t>
                      </a:r>
                    </a:p>
                  </a:txBody>
                  <a:tcPr marL="54864" marR="54864" marT="27432" marB="27432">
                    <a:solidFill>
                      <a:srgbClr val="FFFFFF"/>
                    </a:solidFill>
                  </a:tcPr>
                </a:tc>
              </a:tr>
              <a:tr h="310896">
                <a:tc>
                  <a:txBody>
                    <a:bodyPr wrap="square"/>
                    <a:lstStyle/>
                    <a:p>
                      <a:pPr algn="l"/>
                      <a:r>
                        <a:rPr sz="1100" b="0">
                          <a:solidFill>
                            <a:srgbClr val="1F2A44"/>
                          </a:solidFill>
                          <a:latin typeface="Calibri"/>
                        </a:rPr>
                        <a:t>Dholuo (Luo)</a:t>
                      </a:r>
                    </a:p>
                  </a:txBody>
                  <a:tcPr marL="54864" marR="54864" marT="27432" marB="27432">
                    <a:solidFill>
                      <a:srgbClr val="FFFFFF"/>
                    </a:solidFill>
                  </a:tcPr>
                </a:tc>
                <a:tc>
                  <a:txBody>
                    <a:bodyPr wrap="square"/>
                    <a:lstStyle/>
                    <a:p>
                      <a:pPr algn="l"/>
                      <a:r>
                        <a:rPr sz="1100" b="0">
                          <a:solidFill>
                            <a:srgbClr val="1F2A44"/>
                          </a:solidFill>
                          <a:latin typeface="Calibri"/>
                        </a:rPr>
                        <a:t>558</a:t>
                      </a:r>
                    </a:p>
                  </a:txBody>
                  <a:tcPr marL="54864" marR="54864" marT="27432" marB="27432">
                    <a:solidFill>
                      <a:srgbClr val="FFFFFF"/>
                    </a:solidFill>
                  </a:tcPr>
                </a:tc>
                <a:tc>
                  <a:txBody>
                    <a:bodyPr wrap="square"/>
                    <a:lstStyle/>
                    <a:p>
                      <a:pPr algn="r"/>
                      <a:r>
                        <a:rPr sz="1100" b="0">
                          <a:solidFill>
                            <a:srgbClr val="1F2A44"/>
                          </a:solidFill>
                          <a:latin typeface="Courier New"/>
                        </a:rPr>
                        <a:t>82.1</a:t>
                      </a:r>
                    </a:p>
                  </a:txBody>
                  <a:tcPr marL="54864" marR="54864" marT="27432" marB="27432">
                    <a:solidFill>
                      <a:srgbClr val="FFFFFF"/>
                    </a:solidFill>
                  </a:tcPr>
                </a:tc>
                <a:tc>
                  <a:txBody>
                    <a:bodyPr wrap="square"/>
                    <a:lstStyle/>
                    <a:p>
                      <a:pPr algn="r"/>
                      <a:r>
                        <a:rPr sz="1100" b="0">
                          <a:solidFill>
                            <a:srgbClr val="1F2A44"/>
                          </a:solidFill>
                          <a:latin typeface="Courier New"/>
                        </a:rPr>
                        <a:t>51.7</a:t>
                      </a:r>
                    </a:p>
                  </a:txBody>
                  <a:tcPr marL="54864" marR="54864" marT="27432" marB="27432">
                    <a:solidFill>
                      <a:srgbClr val="FFFFFF"/>
                    </a:solidFill>
                  </a:tcPr>
                </a:tc>
                <a:tc>
                  <a:txBody>
                    <a:bodyPr wrap="square"/>
                    <a:lstStyle/>
                    <a:p>
                      <a:pPr algn="r"/>
                      <a:r>
                        <a:rPr sz="1100" b="0">
                          <a:solidFill>
                            <a:srgbClr val="1F2A44"/>
                          </a:solidFill>
                          <a:latin typeface="Courier New"/>
                        </a:rPr>
                        <a:t>30.4</a:t>
                      </a:r>
                    </a:p>
                  </a:txBody>
                  <a:tcPr marL="54864" marR="54864" marT="27432" marB="27432">
                    <a:solidFill>
                      <a:srgbClr val="FFFFFF"/>
                    </a:solidFill>
                  </a:tcPr>
                </a:tc>
                <a:tc>
                  <a:txBody>
                    <a:bodyPr wrap="square"/>
                    <a:lstStyle/>
                    <a:p>
                      <a:pPr algn="r"/>
                      <a:r>
                        <a:rPr sz="1100" b="0">
                          <a:solidFill>
                            <a:srgbClr val="1F2A44"/>
                          </a:solidFill>
                          <a:latin typeface="Courier New"/>
                        </a:rPr>
                        <a:t>89.5%</a:t>
                      </a:r>
                    </a:p>
                  </a:txBody>
                  <a:tcPr marL="54864" marR="54864" marT="27432" marB="27432">
                    <a:solidFill>
                      <a:srgbClr val="FFFFFF"/>
                    </a:solidFill>
                  </a:tcPr>
                </a:tc>
              </a:tr>
              <a:tr h="310896">
                <a:tc>
                  <a:txBody>
                    <a:bodyPr wrap="square"/>
                    <a:lstStyle/>
                    <a:p>
                      <a:pPr algn="l"/>
                      <a:r>
                        <a:rPr sz="1100" b="0">
                          <a:solidFill>
                            <a:srgbClr val="1F2A44"/>
                          </a:solidFill>
                          <a:latin typeface="Calibri"/>
                        </a:rPr>
                        <a:t>Wanga (Luhya)</a:t>
                      </a:r>
                    </a:p>
                  </a:txBody>
                  <a:tcPr marL="54864" marR="54864" marT="27432" marB="27432">
                    <a:solidFill>
                      <a:srgbClr val="FFFFFF"/>
                    </a:solidFill>
                  </a:tcPr>
                </a:tc>
                <a:tc>
                  <a:txBody>
                    <a:bodyPr wrap="square"/>
                    <a:lstStyle/>
                    <a:p>
                      <a:pPr algn="l"/>
                      <a:r>
                        <a:rPr sz="1100" b="0">
                          <a:solidFill>
                            <a:srgbClr val="1F2A44"/>
                          </a:solidFill>
                          <a:latin typeface="Calibri"/>
                        </a:rPr>
                        <a:t>60</a:t>
                      </a:r>
                    </a:p>
                  </a:txBody>
                  <a:tcPr marL="54864" marR="54864" marT="27432" marB="27432">
                    <a:solidFill>
                      <a:srgbClr val="FFFFFF"/>
                    </a:solidFill>
                  </a:tcPr>
                </a:tc>
                <a:tc>
                  <a:txBody>
                    <a:bodyPr wrap="square"/>
                    <a:lstStyle/>
                    <a:p>
                      <a:pPr algn="r"/>
                      <a:r>
                        <a:rPr sz="1100" b="0">
                          <a:solidFill>
                            <a:srgbClr val="1F2A44"/>
                          </a:solidFill>
                          <a:latin typeface="Courier New"/>
                        </a:rPr>
                        <a:t>9.2</a:t>
                      </a:r>
                    </a:p>
                  </a:txBody>
                  <a:tcPr marL="54864" marR="54864" marT="27432" marB="27432">
                    <a:solidFill>
                      <a:srgbClr val="FFFFFF"/>
                    </a:solidFill>
                  </a:tcPr>
                </a:tc>
                <a:tc>
                  <a:txBody>
                    <a:bodyPr wrap="square"/>
                    <a:lstStyle/>
                    <a:p>
                      <a:pPr algn="r"/>
                      <a:r>
                        <a:rPr sz="1100" b="0">
                          <a:solidFill>
                            <a:srgbClr val="1F2A44"/>
                          </a:solidFill>
                          <a:latin typeface="Courier New"/>
                        </a:rPr>
                        <a:t>6.8</a:t>
                      </a:r>
                    </a:p>
                  </a:txBody>
                  <a:tcPr marL="54864" marR="54864" marT="27432" marB="27432">
                    <a:solidFill>
                      <a:srgbClr val="FFFFFF"/>
                    </a:solidFill>
                  </a:tcPr>
                </a:tc>
                <a:tc>
                  <a:txBody>
                    <a:bodyPr wrap="square"/>
                    <a:lstStyle/>
                    <a:p>
                      <a:pPr algn="r"/>
                      <a:r>
                        <a:rPr sz="1100" b="0">
                          <a:solidFill>
                            <a:srgbClr val="1F2A44"/>
                          </a:solidFill>
                          <a:latin typeface="Courier New"/>
                        </a:rPr>
                        <a:t>2.3</a:t>
                      </a:r>
                    </a:p>
                  </a:txBody>
                  <a:tcPr marL="54864" marR="54864" marT="27432" marB="27432">
                    <a:solidFill>
                      <a:srgbClr val="FFFFFF"/>
                    </a:solidFill>
                  </a:tcPr>
                </a:tc>
                <a:tc>
                  <a:txBody>
                    <a:bodyPr wrap="square"/>
                    <a:lstStyle/>
                    <a:p>
                      <a:pPr algn="r"/>
                      <a:r>
                        <a:rPr sz="1100" b="0">
                          <a:solidFill>
                            <a:srgbClr val="1F2A44"/>
                          </a:solidFill>
                          <a:latin typeface="Courier New"/>
                        </a:rPr>
                        <a:t>88.7%</a:t>
                      </a:r>
                    </a:p>
                  </a:txBody>
                  <a:tcPr marL="54864" marR="54864" marT="27432" marB="27432">
                    <a:solidFill>
                      <a:srgbClr val="FFFFFF"/>
                    </a:solidFill>
                  </a:tcPr>
                </a:tc>
              </a:tr>
              <a:tr h="310896">
                <a:tc>
                  <a:txBody>
                    <a:bodyPr wrap="square"/>
                    <a:lstStyle/>
                    <a:p>
                      <a:pPr algn="l"/>
                      <a:r>
                        <a:rPr sz="1100" b="0">
                          <a:solidFill>
                            <a:srgbClr val="1F2A44"/>
                          </a:solidFill>
                          <a:latin typeface="Calibri"/>
                        </a:rPr>
                        <a:t>Bukusu (Luhya)</a:t>
                      </a:r>
                    </a:p>
                  </a:txBody>
                  <a:tcPr marL="54864" marR="54864" marT="27432" marB="27432">
                    <a:solidFill>
                      <a:srgbClr val="FFFFFF"/>
                    </a:solidFill>
                  </a:tcPr>
                </a:tc>
                <a:tc>
                  <a:txBody>
                    <a:bodyPr wrap="square"/>
                    <a:lstStyle/>
                    <a:p>
                      <a:pPr algn="l"/>
                      <a:r>
                        <a:rPr sz="1100" b="0">
                          <a:solidFill>
                            <a:srgbClr val="1F2A44"/>
                          </a:solidFill>
                          <a:latin typeface="Calibri"/>
                        </a:rPr>
                        <a:t>14</a:t>
                      </a:r>
                    </a:p>
                  </a:txBody>
                  <a:tcPr marL="54864" marR="54864" marT="27432" marB="27432">
                    <a:solidFill>
                      <a:srgbClr val="FFFFFF"/>
                    </a:solidFill>
                  </a:tcPr>
                </a:tc>
                <a:tc>
                  <a:txBody>
                    <a:bodyPr wrap="square"/>
                    <a:lstStyle/>
                    <a:p>
                      <a:pPr algn="r"/>
                      <a:r>
                        <a:rPr sz="1100" b="0">
                          <a:solidFill>
                            <a:srgbClr val="1F2A44"/>
                          </a:solidFill>
                          <a:latin typeface="Courier New"/>
                        </a:rPr>
                        <a:t>1.1</a:t>
                      </a:r>
                    </a:p>
                  </a:txBody>
                  <a:tcPr marL="54864" marR="54864" marT="27432" marB="27432">
                    <a:solidFill>
                      <a:srgbClr val="FFFFFF"/>
                    </a:solidFill>
                  </a:tcPr>
                </a:tc>
                <a:tc>
                  <a:txBody>
                    <a:bodyPr wrap="square"/>
                    <a:lstStyle/>
                    <a:p>
                      <a:pPr algn="r"/>
                      <a:r>
                        <a:rPr sz="1100" b="0">
                          <a:solidFill>
                            <a:srgbClr val="1F2A44"/>
                          </a:solidFill>
                          <a:latin typeface="Courier New"/>
                        </a:rPr>
                        <a:t>0.7</a:t>
                      </a:r>
                    </a:p>
                  </a:txBody>
                  <a:tcPr marL="54864" marR="54864" marT="27432" marB="27432">
                    <a:solidFill>
                      <a:srgbClr val="FFFFFF"/>
                    </a:solidFill>
                  </a:tcPr>
                </a:tc>
                <a:tc>
                  <a:txBody>
                    <a:bodyPr wrap="square"/>
                    <a:lstStyle/>
                    <a:p>
                      <a:pPr algn="r"/>
                      <a:r>
                        <a:rPr sz="1100" b="0">
                          <a:solidFill>
                            <a:srgbClr val="1F2A44"/>
                          </a:solidFill>
                          <a:latin typeface="Courier New"/>
                        </a:rPr>
                        <a:t>0.3</a:t>
                      </a:r>
                    </a:p>
                  </a:txBody>
                  <a:tcPr marL="54864" marR="54864" marT="27432" marB="27432">
                    <a:solidFill>
                      <a:srgbClr val="FFFFFF"/>
                    </a:solidFill>
                  </a:tcPr>
                </a:tc>
                <a:tc>
                  <a:txBody>
                    <a:bodyPr wrap="square"/>
                    <a:lstStyle/>
                    <a:p>
                      <a:pPr algn="r"/>
                      <a:r>
                        <a:rPr sz="1100" b="0">
                          <a:solidFill>
                            <a:srgbClr val="1F2A44"/>
                          </a:solidFill>
                          <a:latin typeface="Courier New"/>
                        </a:rPr>
                        <a:t>0.0%</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Hours are recorded duration; speech and music hours split those hours by the music detector; agreement is the share of labelled windows whose language matched the folder name.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R06: Estate language reading m9j-9e8fcb46a809 on akki-vm (2 GPUs, 1.034 GPU-h): audio language model lcj-7128593897d4 sha256 5c1feb8497e8…, music detector m9j-686de001bfe7 sha256 0fea3eee0393…; model readings, not human labels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Muuga FM</a:t>
                      </a:r>
                    </a:p>
                  </a:txBody>
                  <a:tcPr marL="54864" marR="54864" marT="27432" marB="27432">
                    <a:solidFill>
                      <a:srgbClr val="FFFFFF"/>
                    </a:solidFill>
                  </a:tcPr>
                </a:tc>
                <a:tc>
                  <a:txBody>
                    <a:bodyPr wrap="square"/>
                    <a:lstStyle/>
                    <a:p>
                      <a:pPr algn="l"/>
                      <a:r>
                        <a:rPr sz="1100" b="0">
                          <a:solidFill>
                            <a:srgbClr val="1F2A44"/>
                          </a:solidFill>
                          <a:latin typeface="Calibri"/>
                        </a:rPr>
                        <a:t>Meru</a:t>
                      </a:r>
                    </a:p>
                  </a:txBody>
                  <a:tcPr marL="54864" marR="54864" marT="27432" marB="27432">
                    <a:solidFill>
                      <a:srgbClr val="FFFFFF"/>
                    </a:solidFill>
                  </a:tcPr>
                </a:tc>
                <a:tc>
                  <a:txBody>
                    <a:bodyPr wrap="square"/>
                    <a:lstStyle/>
                    <a:p>
                      <a:pPr algn="r"/>
                      <a:r>
                        <a:rPr sz="1100" b="0">
                          <a:solidFill>
                            <a:srgbClr val="1F2A44"/>
                          </a:solidFill>
                          <a:latin typeface="Courier New"/>
                        </a:rPr>
                        <a:t>27467</a:t>
                      </a:r>
                    </a:p>
                  </a:txBody>
                  <a:tcPr marL="54864" marR="54864" marT="27432" marB="27432">
                    <a:solidFill>
                      <a:srgbClr val="FFFFFF"/>
                    </a:solidFill>
                  </a:tcPr>
                </a:tc>
                <a:tc>
                  <a:txBody>
                    <a:bodyPr wrap="square"/>
                    <a:lstStyle/>
                    <a:p>
                      <a:pPr algn="r"/>
                      <a:r>
                        <a:rPr sz="1100" b="0">
                          <a:solidFill>
                            <a:srgbClr val="1F2A44"/>
                          </a:solidFill>
                          <a:latin typeface="Courier New"/>
                        </a:rPr>
                        <a:t>221</a:t>
                      </a:r>
                    </a:p>
                  </a:txBody>
                  <a:tcPr marL="54864" marR="54864" marT="27432" marB="27432">
                    <a:solidFill>
                      <a:srgbClr val="FFFFFF"/>
                    </a:solidFill>
                  </a:tcPr>
                </a:tc>
                <a:tc>
                  <a:txBody>
                    <a:bodyPr wrap="square"/>
                    <a:lstStyle/>
                    <a:p>
                      <a:pPr algn="r"/>
                      <a:r>
                        <a:rPr sz="1100" b="0">
                          <a:solidFill>
                            <a:srgbClr val="1F2A44"/>
                          </a:solidFill>
                          <a:latin typeface="Courier New"/>
                        </a:rPr>
                        <a:t>127.53</a:t>
                      </a:r>
                    </a:p>
                  </a:txBody>
                  <a:tcPr marL="54864" marR="54864" marT="27432" marB="27432">
                    <a:solidFill>
                      <a:srgbClr val="FFFFFF"/>
                    </a:solidFill>
                  </a:tcPr>
                </a:tc>
                <a:tc>
                  <a:txBody>
                    <a:bodyPr wrap="square"/>
                    <a:lstStyle/>
                    <a:p>
                      <a:pPr algn="r"/>
                      <a:r>
                        <a:rPr sz="1100" b="0">
                          <a:solidFill>
                            <a:srgbClr val="1F2A44"/>
                          </a:solidFill>
                          <a:latin typeface="Courier New"/>
                        </a:rPr>
                        <a:t>17.98</a:t>
                      </a:r>
                    </a:p>
                  </a:txBody>
                  <a:tcPr marL="54864" marR="54864" marT="27432" marB="27432">
                    <a:solidFill>
                      <a:srgbClr val="FFFFFF"/>
                    </a:solidFill>
                  </a:tcPr>
                </a:tc>
                <a:tc>
                  <a:txBody>
                    <a:bodyPr wrap="square"/>
                    <a:lstStyle/>
                    <a:p>
                      <a:pPr algn="r"/>
                      <a:r>
                        <a:rPr sz="1100" b="0">
                          <a:solidFill>
                            <a:srgbClr val="1F2A44"/>
                          </a:solidFill>
                          <a:latin typeface="Courier New"/>
                        </a:rPr>
                        <a:t>14128382</a:t>
                      </a:r>
                    </a:p>
                  </a:txBody>
                  <a:tcPr marL="54864" marR="54864" marT="27432" marB="27432">
                    <a:solidFill>
                      <a:srgbClr val="FFFFFF"/>
                    </a:solidFill>
                  </a:tcPr>
                </a:tc>
              </a:tr>
              <a:tr h="310896">
                <a:tc>
                  <a:txBody>
                    <a:bodyPr wrap="square"/>
                    <a:lstStyle/>
                    <a:p>
                      <a:pPr algn="l"/>
                      <a:r>
                        <a:rPr sz="1100" b="0">
                          <a:solidFill>
                            <a:srgbClr val="1F2A44"/>
                          </a:solidFill>
                          <a:latin typeface="Calibri"/>
                        </a:rPr>
                        <a:t>Radio Citizen</a:t>
                      </a:r>
                    </a:p>
                  </a:txBody>
                  <a:tcPr marL="54864" marR="54864" marT="27432" marB="27432">
                    <a:solidFill>
                      <a:srgbClr val="FFFFFF"/>
                    </a:solidFill>
                  </a:tcPr>
                </a:tc>
                <a:tc>
                  <a:txBody>
                    <a:bodyPr wrap="square"/>
                    <a:lstStyle/>
                    <a:p>
                      <a:pPr algn="l"/>
                      <a:r>
                        <a:rPr sz="1100" b="0">
                          <a:solidFill>
                            <a:srgbClr val="1F2A44"/>
                          </a:solidFill>
                          <a:latin typeface="Calibri"/>
                        </a:rPr>
                        <a:t>Kiswahili</a:t>
                      </a:r>
                    </a:p>
                  </a:txBody>
                  <a:tcPr marL="54864" marR="54864" marT="27432" marB="27432">
                    <a:solidFill>
                      <a:srgbClr val="FFFFFF"/>
                    </a:solidFill>
                  </a:tcPr>
                </a:tc>
                <a:tc>
                  <a:txBody>
                    <a:bodyPr wrap="square"/>
                    <a:lstStyle/>
                    <a:p>
                      <a:pPr algn="r"/>
                      <a:r>
                        <a:rPr sz="1100" b="0">
                          <a:solidFill>
                            <a:srgbClr val="1F2A44"/>
                          </a:solidFill>
                          <a:latin typeface="Courier New"/>
                        </a:rPr>
                        <a:t>27240</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126.98</a:t>
                      </a:r>
                    </a:p>
                  </a:txBody>
                  <a:tcPr marL="54864" marR="54864" marT="27432" marB="27432">
                    <a:solidFill>
                      <a:srgbClr val="FFFFFF"/>
                    </a:solidFill>
                  </a:tcPr>
                </a:tc>
                <a:tc>
                  <a:txBody>
                    <a:bodyPr wrap="square"/>
                    <a:lstStyle/>
                    <a:p>
                      <a:pPr algn="r"/>
                      <a:r>
                        <a:rPr sz="1100" b="0">
                          <a:solidFill>
                            <a:srgbClr val="1F2A44"/>
                          </a:solidFill>
                          <a:latin typeface="Courier New"/>
                        </a:rPr>
                        <a:t>18.18</a:t>
                      </a:r>
                    </a:p>
                  </a:txBody>
                  <a:tcPr marL="54864" marR="54864" marT="27432" marB="27432">
                    <a:solidFill>
                      <a:srgbClr val="FFFFFF"/>
                    </a:solidFill>
                  </a:tcPr>
                </a:tc>
                <a:tc>
                  <a:txBody>
                    <a:bodyPr wrap="square"/>
                    <a:lstStyle/>
                    <a:p>
                      <a:pPr algn="r"/>
                      <a:r>
                        <a:rPr sz="1100" b="0">
                          <a:solidFill>
                            <a:srgbClr val="1F2A44"/>
                          </a:solidFill>
                          <a:latin typeface="Courier New"/>
                        </a:rPr>
                        <a:t>22231911</a:t>
                      </a:r>
                    </a:p>
                  </a:txBody>
                  <a:tcPr marL="54864" marR="54864" marT="27432" marB="27432">
                    <a:solidFill>
                      <a:srgbClr val="FFFFFF"/>
                    </a:solidFill>
                  </a:tcPr>
                </a:tc>
              </a:tr>
              <a:tr h="310896">
                <a:tc>
                  <a:txBody>
                    <a:bodyPr wrap="square"/>
                    <a:lstStyle/>
                    <a:p>
                      <a:pPr algn="l"/>
                      <a:r>
                        <a:rPr sz="1100" b="0">
                          <a:solidFill>
                            <a:srgbClr val="1F2A44"/>
                          </a:solidFill>
                          <a:latin typeface="Calibri"/>
                        </a:rPr>
                        <a:t>Chamgei</a:t>
                      </a:r>
                    </a:p>
                  </a:txBody>
                  <a:tcPr marL="54864" marR="54864" marT="27432" marB="27432">
                    <a:solidFill>
                      <a:srgbClr val="FFFFFF"/>
                    </a:solidFill>
                  </a:tcPr>
                </a:tc>
                <a:tc>
                  <a:txBody>
                    <a:bodyPr wrap="square"/>
                    <a:lstStyle/>
                    <a:p>
                      <a:pPr algn="l"/>
                      <a:r>
                        <a:rPr sz="1100" b="0">
                          <a:solidFill>
                            <a:srgbClr val="1F2A44"/>
                          </a:solidFill>
                          <a:latin typeface="Calibri"/>
                        </a:rPr>
                        <a:t>Kalenjin</a:t>
                      </a:r>
                    </a:p>
                  </a:txBody>
                  <a:tcPr marL="54864" marR="54864" marT="27432" marB="27432">
                    <a:solidFill>
                      <a:srgbClr val="FFFFFF"/>
                    </a:solidFill>
                  </a:tcPr>
                </a:tc>
                <a:tc>
                  <a:txBody>
                    <a:bodyPr wrap="square"/>
                    <a:lstStyle/>
                    <a:p>
                      <a:pPr algn="r"/>
                      <a:r>
                        <a:rPr sz="1100" b="0">
                          <a:solidFill>
                            <a:srgbClr val="1F2A44"/>
                          </a:solidFill>
                          <a:latin typeface="Courier New"/>
                        </a:rPr>
                        <a:t>26787</a:t>
                      </a:r>
                    </a:p>
                  </a:txBody>
                  <a:tcPr marL="54864" marR="54864" marT="27432" marB="27432">
                    <a:solidFill>
                      <a:srgbClr val="FFFFFF"/>
                    </a:solidFill>
                  </a:tcPr>
                </a:tc>
                <a:tc>
                  <a:txBody>
                    <a:bodyPr wrap="square"/>
                    <a:lstStyle/>
                    <a:p>
                      <a:pPr algn="r"/>
                      <a:r>
                        <a:rPr sz="1100" b="0">
                          <a:solidFill>
                            <a:srgbClr val="1F2A44"/>
                          </a:solidFill>
                          <a:latin typeface="Courier New"/>
                        </a:rPr>
                        <a:t>224</a:t>
                      </a:r>
                    </a:p>
                  </a:txBody>
                  <a:tcPr marL="54864" marR="54864" marT="27432" marB="27432">
                    <a:solidFill>
                      <a:srgbClr val="FFFFFF"/>
                    </a:solidFill>
                  </a:tcPr>
                </a:tc>
                <a:tc>
                  <a:txBody>
                    <a:bodyPr wrap="square"/>
                    <a:lstStyle/>
                    <a:p>
                      <a:pPr algn="r"/>
                      <a:r>
                        <a:rPr sz="1100" b="0">
                          <a:solidFill>
                            <a:srgbClr val="1F2A44"/>
                          </a:solidFill>
                          <a:latin typeface="Courier New"/>
                        </a:rPr>
                        <a:t>130.68</a:t>
                      </a:r>
                    </a:p>
                  </a:txBody>
                  <a:tcPr marL="54864" marR="54864" marT="27432" marB="27432">
                    <a:solidFill>
                      <a:srgbClr val="FFFFFF"/>
                    </a:solidFill>
                  </a:tcPr>
                </a:tc>
                <a:tc>
                  <a:txBody>
                    <a:bodyPr wrap="square"/>
                    <a:lstStyle/>
                    <a:p>
                      <a:pPr algn="r"/>
                      <a:r>
                        <a:rPr sz="1100" b="0">
                          <a:solidFill>
                            <a:srgbClr val="1F2A44"/>
                          </a:solidFill>
                          <a:latin typeface="Courier New"/>
                        </a:rPr>
                        <a:t>18.75</a:t>
                      </a:r>
                    </a:p>
                  </a:txBody>
                  <a:tcPr marL="54864" marR="54864" marT="27432" marB="27432">
                    <a:solidFill>
                      <a:srgbClr val="FFFFFF"/>
                    </a:solidFill>
                  </a:tcPr>
                </a:tc>
                <a:tc>
                  <a:txBody>
                    <a:bodyPr wrap="square"/>
                    <a:lstStyle/>
                    <a:p>
                      <a:pPr algn="r"/>
                      <a:r>
                        <a:rPr sz="1100" b="0">
                          <a:solidFill>
                            <a:srgbClr val="1F2A44"/>
                          </a:solidFill>
                          <a:latin typeface="Courier New"/>
                        </a:rPr>
                        <a:t>20538503</a:t>
                      </a:r>
                    </a:p>
                  </a:txBody>
                  <a:tcPr marL="54864" marR="54864" marT="27432" marB="27432">
                    <a:solidFill>
                      <a:srgbClr val="FFFFFF"/>
                    </a:solidFill>
                  </a:tcPr>
                </a:tc>
              </a:tr>
              <a:tr h="310896">
                <a:tc>
                  <a:txBody>
                    <a:bodyPr wrap="square"/>
                    <a:lstStyle/>
                    <a:p>
                      <a:pPr algn="l"/>
                      <a:r>
                        <a:rPr sz="1100" b="0">
                          <a:solidFill>
                            <a:srgbClr val="1F2A44"/>
                          </a:solidFill>
                          <a:latin typeface="Calibri"/>
                        </a:rPr>
                        <a:t>Mulembe FM</a:t>
                      </a:r>
                    </a:p>
                  </a:txBody>
                  <a:tcPr marL="54864" marR="54864" marT="27432" marB="27432">
                    <a:solidFill>
                      <a:srgbClr val="FFFFFF"/>
                    </a:solidFill>
                  </a:tcPr>
                </a:tc>
                <a:tc>
                  <a:txBody>
                    <a:bodyPr wrap="square"/>
                    <a:lstStyle/>
                    <a:p>
                      <a:pPr algn="l"/>
                      <a:r>
                        <a:rPr sz="1100" b="0">
                          <a:solidFill>
                            <a:srgbClr val="1F2A44"/>
                          </a:solidFill>
                          <a:latin typeface="Calibri"/>
                        </a:rPr>
                        <a:t>Luhya</a:t>
                      </a:r>
                    </a:p>
                  </a:txBody>
                  <a:tcPr marL="54864" marR="54864" marT="27432" marB="27432">
                    <a:solidFill>
                      <a:srgbClr val="FFFFFF"/>
                    </a:solidFill>
                  </a:tcPr>
                </a:tc>
                <a:tc>
                  <a:txBody>
                    <a:bodyPr wrap="square"/>
                    <a:lstStyle/>
                    <a:p>
                      <a:pPr algn="r"/>
                      <a:r>
                        <a:rPr sz="1100" b="0">
                          <a:solidFill>
                            <a:srgbClr val="1F2A44"/>
                          </a:solidFill>
                          <a:latin typeface="Courier New"/>
                        </a:rPr>
                        <a:t>22191</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102.58</a:t>
                      </a:r>
                    </a:p>
                  </a:txBody>
                  <a:tcPr marL="54864" marR="54864" marT="27432" marB="27432">
                    <a:solidFill>
                      <a:srgbClr val="FFFFFF"/>
                    </a:solidFill>
                  </a:tcPr>
                </a:tc>
                <a:tc>
                  <a:txBody>
                    <a:bodyPr wrap="square"/>
                    <a:lstStyle/>
                    <a:p>
                      <a:pPr algn="r"/>
                      <a:r>
                        <a:rPr sz="1100" b="0">
                          <a:solidFill>
                            <a:srgbClr val="1F2A44"/>
                          </a:solidFill>
                          <a:latin typeface="Courier New"/>
                        </a:rPr>
                        <a:t>15.0</a:t>
                      </a:r>
                    </a:p>
                  </a:txBody>
                  <a:tcPr marL="54864" marR="54864" marT="27432" marB="27432">
                    <a:solidFill>
                      <a:srgbClr val="FFFFFF"/>
                    </a:solidFill>
                  </a:tcPr>
                </a:tc>
                <a:tc>
                  <a:txBody>
                    <a:bodyPr wrap="square"/>
                    <a:lstStyle/>
                    <a:p>
                      <a:pPr algn="r"/>
                      <a:r>
                        <a:rPr sz="1100" b="0">
                          <a:solidFill>
                            <a:srgbClr val="1F2A44"/>
                          </a:solidFill>
                          <a:latin typeface="Courier New"/>
                        </a:rPr>
                        <a:t>15496412</a:t>
                      </a:r>
                    </a:p>
                  </a:txBody>
                  <a:tcPr marL="54864" marR="54864" marT="27432" marB="27432">
                    <a:solidFill>
                      <a:srgbClr val="FFFFFF"/>
                    </a:solidFill>
                  </a:tcPr>
                </a:tc>
              </a:tr>
              <a:tr h="310896">
                <a:tc>
                  <a:txBody>
                    <a:bodyPr wrap="square"/>
                    <a:lstStyle/>
                    <a:p>
                      <a:pPr algn="l"/>
                      <a:r>
                        <a:rPr sz="1100" b="0">
                          <a:solidFill>
                            <a:srgbClr val="1F2A44"/>
                          </a:solidFill>
                          <a:latin typeface="Calibri"/>
                        </a:rPr>
                        <a:t>Wimwaro FM</a:t>
                      </a:r>
                    </a:p>
                  </a:txBody>
                  <a:tcPr marL="54864" marR="54864" marT="27432" marB="27432">
                    <a:solidFill>
                      <a:srgbClr val="FFFFFF"/>
                    </a:solidFill>
                  </a:tcPr>
                </a:tc>
                <a:tc>
                  <a:txBody>
                    <a:bodyPr wrap="square"/>
                    <a:lstStyle/>
                    <a:p>
                      <a:pPr algn="l"/>
                      <a:r>
                        <a:rPr sz="1100" b="0">
                          <a:solidFill>
                            <a:srgbClr val="1F2A44"/>
                          </a:solidFill>
                          <a:latin typeface="Calibri"/>
                        </a:rPr>
                        <a:t>Embu</a:t>
                      </a:r>
                    </a:p>
                  </a:txBody>
                  <a:tcPr marL="54864" marR="54864" marT="27432" marB="27432">
                    <a:solidFill>
                      <a:srgbClr val="FFFFFF"/>
                    </a:solidFill>
                  </a:tcPr>
                </a:tc>
                <a:tc>
                  <a:txBody>
                    <a:bodyPr wrap="square"/>
                    <a:lstStyle/>
                    <a:p>
                      <a:pPr algn="r"/>
                      <a:r>
                        <a:rPr sz="1100" b="0">
                          <a:solidFill>
                            <a:srgbClr val="1F2A44"/>
                          </a:solidFill>
                          <a:latin typeface="Courier New"/>
                        </a:rPr>
                        <a:t>19664</a:t>
                      </a:r>
                    </a:p>
                  </a:txBody>
                  <a:tcPr marL="54864" marR="54864" marT="27432" marB="27432">
                    <a:solidFill>
                      <a:srgbClr val="FFFFFF"/>
                    </a:solidFill>
                  </a:tcPr>
                </a:tc>
                <a:tc>
                  <a:txBody>
                    <a:bodyPr wrap="square"/>
                    <a:lstStyle/>
                    <a:p>
                      <a:pPr algn="r"/>
                      <a:r>
                        <a:rPr sz="1100" b="0">
                          <a:solidFill>
                            <a:srgbClr val="1F2A44"/>
                          </a:solidFill>
                          <a:latin typeface="Courier New"/>
                        </a:rPr>
                        <a:t>223</a:t>
                      </a:r>
                    </a:p>
                  </a:txBody>
                  <a:tcPr marL="54864" marR="54864" marT="27432" marB="27432">
                    <a:solidFill>
                      <a:srgbClr val="FFFFFF"/>
                    </a:solidFill>
                  </a:tcPr>
                </a:tc>
                <a:tc>
                  <a:txBody>
                    <a:bodyPr wrap="square"/>
                    <a:lstStyle/>
                    <a:p>
                      <a:pPr algn="r"/>
                      <a:r>
                        <a:rPr sz="1100" b="0">
                          <a:solidFill>
                            <a:srgbClr val="1F2A44"/>
                          </a:solidFill>
                          <a:latin typeface="Courier New"/>
                        </a:rPr>
                        <a:t>90.1</a:t>
                      </a:r>
                    </a:p>
                  </a:txBody>
                  <a:tcPr marL="54864" marR="54864" marT="27432" marB="27432">
                    <a:solidFill>
                      <a:srgbClr val="FFFFFF"/>
                    </a:solidFill>
                  </a:tcPr>
                </a:tc>
                <a:tc>
                  <a:txBody>
                    <a:bodyPr wrap="square"/>
                    <a:lstStyle/>
                    <a:p>
                      <a:pPr algn="r"/>
                      <a:r>
                        <a:rPr sz="1100" b="0">
                          <a:solidFill>
                            <a:srgbClr val="1F2A44"/>
                          </a:solidFill>
                          <a:latin typeface="Courier New"/>
                        </a:rPr>
                        <a:t>15.76</a:t>
                      </a:r>
                    </a:p>
                  </a:txBody>
                  <a:tcPr marL="54864" marR="54864" marT="27432" marB="27432">
                    <a:solidFill>
                      <a:srgbClr val="FFFFFF"/>
                    </a:solidFill>
                  </a:tcPr>
                </a:tc>
                <a:tc>
                  <a:txBody>
                    <a:bodyPr wrap="square"/>
                    <a:lstStyle/>
                    <a:p>
                      <a:pPr algn="r"/>
                      <a:r>
                        <a:rPr sz="1100" b="0">
                          <a:solidFill>
                            <a:srgbClr val="1F2A44"/>
                          </a:solidFill>
                          <a:latin typeface="Courier New"/>
                        </a:rPr>
                        <a:t>12408784</a:t>
                      </a:r>
                    </a:p>
                  </a:txBody>
                  <a:tcPr marL="54864" marR="54864" marT="27432" marB="27432">
                    <a:solidFill>
                      <a:srgbClr val="FFFFFF"/>
                    </a:solidFill>
                  </a:tcPr>
                </a:tc>
              </a:tr>
              <a:tr h="310896">
                <a:tc>
                  <a:txBody>
                    <a:bodyPr wrap="square"/>
                    <a:lstStyle/>
                    <a:p>
                      <a:pPr algn="l"/>
                      <a:r>
                        <a:rPr sz="1100" b="0">
                          <a:solidFill>
                            <a:srgbClr val="1F2A44"/>
                          </a:solidFill>
                          <a:latin typeface="Calibri"/>
                        </a:rPr>
                        <a:t>Hot 96</a:t>
                      </a:r>
                    </a:p>
                  </a:txBody>
                  <a:tcPr marL="54864" marR="54864" marT="27432" marB="27432">
                    <a:solidFill>
                      <a:srgbClr val="FFFFFF"/>
                    </a:solidFill>
                  </a:tcPr>
                </a:tc>
                <a:tc>
                  <a:txBody>
                    <a:bodyPr wrap="square"/>
                    <a:lstStyle/>
                    <a:p>
                      <a:pPr algn="l"/>
                      <a:r>
                        <a:rPr sz="1100" b="0">
                          <a:solidFill>
                            <a:srgbClr val="1F2A44"/>
                          </a:solidFill>
                          <a:latin typeface="Calibri"/>
                        </a:rPr>
                        <a:t>English</a:t>
                      </a:r>
                    </a:p>
                  </a:txBody>
                  <a:tcPr marL="54864" marR="54864" marT="27432" marB="27432">
                    <a:solidFill>
                      <a:srgbClr val="FFFFFF"/>
                    </a:solidFill>
                  </a:tcPr>
                </a:tc>
                <a:tc>
                  <a:txBody>
                    <a:bodyPr wrap="square"/>
                    <a:lstStyle/>
                    <a:p>
                      <a:pPr algn="r"/>
                      <a:r>
                        <a:rPr sz="1100" b="0">
                          <a:solidFill>
                            <a:srgbClr val="1F2A44"/>
                          </a:solidFill>
                          <a:latin typeface="Courier New"/>
                        </a:rPr>
                        <a:t>18136</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83.18</a:t>
                      </a:r>
                    </a:p>
                  </a:txBody>
                  <a:tcPr marL="54864" marR="54864" marT="27432" marB="27432">
                    <a:solidFill>
                      <a:srgbClr val="FFFFFF"/>
                    </a:solidFill>
                  </a:tcPr>
                </a:tc>
                <a:tc>
                  <a:txBody>
                    <a:bodyPr wrap="square"/>
                    <a:lstStyle/>
                    <a:p>
                      <a:pPr algn="r"/>
                      <a:r>
                        <a:rPr sz="1100" b="0">
                          <a:solidFill>
                            <a:srgbClr val="1F2A44"/>
                          </a:solidFill>
                          <a:latin typeface="Courier New"/>
                        </a:rPr>
                        <a:t>15.08</a:t>
                      </a:r>
                    </a:p>
                  </a:txBody>
                  <a:tcPr marL="54864" marR="54864" marT="27432" marB="27432">
                    <a:solidFill>
                      <a:srgbClr val="FFFFFF"/>
                    </a:solidFill>
                  </a:tcPr>
                </a:tc>
                <a:tc>
                  <a:txBody>
                    <a:bodyPr wrap="square"/>
                    <a:lstStyle/>
                    <a:p>
                      <a:pPr algn="r"/>
                      <a:r>
                        <a:rPr sz="1100" b="0">
                          <a:solidFill>
                            <a:srgbClr val="1F2A44"/>
                          </a:solidFill>
                          <a:latin typeface="Courier New"/>
                        </a:rPr>
                        <a:t>12470183</a:t>
                      </a:r>
                    </a:p>
                  </a:txBody>
                  <a:tcPr marL="54864" marR="54864" marT="27432" marB="27432">
                    <a:solidFill>
                      <a:srgbClr val="FFFFFF"/>
                    </a:solidFill>
                  </a:tcPr>
                </a:tc>
              </a:tr>
              <a:tr h="310896">
                <a:tc>
                  <a:txBody>
                    <a:bodyPr wrap="square"/>
                    <a:lstStyle/>
                    <a:p>
                      <a:pPr algn="l"/>
                      <a:r>
                        <a:rPr sz="1100" b="0">
                          <a:solidFill>
                            <a:srgbClr val="1F2A44"/>
                          </a:solidFill>
                          <a:latin typeface="Calibri"/>
                        </a:rPr>
                        <a:t>Egesa</a:t>
                      </a:r>
                    </a:p>
                  </a:txBody>
                  <a:tcPr marL="54864" marR="54864" marT="27432" marB="27432">
                    <a:solidFill>
                      <a:srgbClr val="FFFFFF"/>
                    </a:solidFill>
                  </a:tcPr>
                </a:tc>
                <a:tc>
                  <a:txBody>
                    <a:bodyPr wrap="square"/>
                    <a:lstStyle/>
                    <a:p>
                      <a:pPr algn="l"/>
                      <a:r>
                        <a:rPr sz="1100" b="0">
                          <a:solidFill>
                            <a:srgbClr val="1F2A44"/>
                          </a:solidFill>
                          <a:latin typeface="Calibri"/>
                        </a:rPr>
                        <a:t>Kisii</a:t>
                      </a:r>
                    </a:p>
                  </a:txBody>
                  <a:tcPr marL="54864" marR="54864" marT="27432" marB="27432">
                    <a:solidFill>
                      <a:srgbClr val="FFFFFF"/>
                    </a:solidFill>
                  </a:tcPr>
                </a:tc>
                <a:tc>
                  <a:txBody>
                    <a:bodyPr wrap="square"/>
                    <a:lstStyle/>
                    <a:p>
                      <a:pPr algn="r"/>
                      <a:r>
                        <a:rPr sz="1100" b="0">
                          <a:solidFill>
                            <a:srgbClr val="1F2A44"/>
                          </a:solidFill>
                          <a:latin typeface="Courier New"/>
                        </a:rPr>
                        <a:t>17606</a:t>
                      </a:r>
                    </a:p>
                  </a:txBody>
                  <a:tcPr marL="54864" marR="54864" marT="27432" marB="27432">
                    <a:solidFill>
                      <a:srgbClr val="FFFFFF"/>
                    </a:solidFill>
                  </a:tcPr>
                </a:tc>
                <a:tc>
                  <a:txBody>
                    <a:bodyPr wrap="square"/>
                    <a:lstStyle/>
                    <a:p>
                      <a:pPr algn="r"/>
                      <a:r>
                        <a:rPr sz="1100" b="0">
                          <a:solidFill>
                            <a:srgbClr val="1F2A44"/>
                          </a:solidFill>
                          <a:latin typeface="Courier New"/>
                        </a:rPr>
                        <a:t>219</a:t>
                      </a:r>
                    </a:p>
                  </a:txBody>
                  <a:tcPr marL="54864" marR="54864" marT="27432" marB="27432">
                    <a:solidFill>
                      <a:srgbClr val="FFFFFF"/>
                    </a:solidFill>
                  </a:tcPr>
                </a:tc>
                <a:tc>
                  <a:txBody>
                    <a:bodyPr wrap="square"/>
                    <a:lstStyle/>
                    <a:p>
                      <a:pPr algn="r"/>
                      <a:r>
                        <a:rPr sz="1100" b="0">
                          <a:solidFill>
                            <a:srgbClr val="1F2A44"/>
                          </a:solidFill>
                          <a:latin typeface="Courier New"/>
                        </a:rPr>
                        <a:t>84.36</a:t>
                      </a:r>
                    </a:p>
                  </a:txBody>
                  <a:tcPr marL="54864" marR="54864" marT="27432" marB="27432">
                    <a:solidFill>
                      <a:srgbClr val="FFFFFF"/>
                    </a:solidFill>
                  </a:tcPr>
                </a:tc>
                <a:tc>
                  <a:txBody>
                    <a:bodyPr wrap="square"/>
                    <a:lstStyle/>
                    <a:p>
                      <a:pPr algn="r"/>
                      <a:r>
                        <a:rPr sz="1100" b="0">
                          <a:solidFill>
                            <a:srgbClr val="1F2A44"/>
                          </a:solidFill>
                          <a:latin typeface="Courier New"/>
                        </a:rPr>
                        <a:t>11.3</a:t>
                      </a:r>
                    </a:p>
                  </a:txBody>
                  <a:tcPr marL="54864" marR="54864" marT="27432" marB="27432">
                    <a:solidFill>
                      <a:srgbClr val="FFFFFF"/>
                    </a:solidFill>
                  </a:tcPr>
                </a:tc>
                <a:tc>
                  <a:txBody>
                    <a:bodyPr wrap="square"/>
                    <a:lstStyle/>
                    <a:p>
                      <a:pPr algn="r"/>
                      <a:r>
                        <a:rPr sz="1100" b="0">
                          <a:solidFill>
                            <a:srgbClr val="1F2A44"/>
                          </a:solidFill>
                          <a:latin typeface="Courier New"/>
                        </a:rPr>
                        <a:t>14458656</a:t>
                      </a:r>
                    </a:p>
                  </a:txBody>
                  <a:tcPr marL="54864" marR="54864" marT="27432" marB="27432">
                    <a:solidFill>
                      <a:srgbClr val="FFFFFF"/>
                    </a:solidFill>
                  </a:tcPr>
                </a:tc>
              </a:tr>
              <a:tr h="310896">
                <a:tc>
                  <a:txBody>
                    <a:bodyPr wrap="square"/>
                    <a:lstStyle/>
                    <a:p>
                      <a:pPr algn="l"/>
                      <a:r>
                        <a:rPr sz="1100" b="0">
                          <a:solidFill>
                            <a:srgbClr val="1F2A44"/>
                          </a:solidFill>
                          <a:latin typeface="Calibri"/>
                        </a:rPr>
                        <a:t>Musyi FM</a:t>
                      </a:r>
                    </a:p>
                  </a:txBody>
                  <a:tcPr marL="54864" marR="54864" marT="27432" marB="27432">
                    <a:solidFill>
                      <a:srgbClr val="FFFFFF"/>
                    </a:solidFill>
                  </a:tcPr>
                </a:tc>
                <a:tc>
                  <a:txBody>
                    <a:bodyPr wrap="square"/>
                    <a:lstStyle/>
                    <a:p>
                      <a:pPr algn="l"/>
                      <a:r>
                        <a:rPr sz="1100" b="0">
                          <a:solidFill>
                            <a:srgbClr val="1F2A44"/>
                          </a:solidFill>
                          <a:latin typeface="Calibri"/>
                        </a:rPr>
                        <a:t>Akamba</a:t>
                      </a:r>
                    </a:p>
                  </a:txBody>
                  <a:tcPr marL="54864" marR="54864" marT="27432" marB="27432">
                    <a:solidFill>
                      <a:srgbClr val="FFFFFF"/>
                    </a:solidFill>
                  </a:tcPr>
                </a:tc>
                <a:tc>
                  <a:txBody>
                    <a:bodyPr wrap="square"/>
                    <a:lstStyle/>
                    <a:p>
                      <a:pPr algn="r"/>
                      <a:r>
                        <a:rPr sz="1100" b="0">
                          <a:solidFill>
                            <a:srgbClr val="1F2A44"/>
                          </a:solidFill>
                          <a:latin typeface="Courier New"/>
                        </a:rPr>
                        <a:t>17581</a:t>
                      </a:r>
                    </a:p>
                  </a:txBody>
                  <a:tcPr marL="54864" marR="54864" marT="27432" marB="27432">
                    <a:solidFill>
                      <a:srgbClr val="FFFFFF"/>
                    </a:solidFill>
                  </a:tcPr>
                </a:tc>
                <a:tc>
                  <a:txBody>
                    <a:bodyPr wrap="square"/>
                    <a:lstStyle/>
                    <a:p>
                      <a:pPr algn="r"/>
                      <a:r>
                        <a:rPr sz="1100" b="0">
                          <a:solidFill>
                            <a:srgbClr val="1F2A44"/>
                          </a:solidFill>
                          <a:latin typeface="Courier New"/>
                        </a:rPr>
                        <a:t>199</a:t>
                      </a:r>
                    </a:p>
                  </a:txBody>
                  <a:tcPr marL="54864" marR="54864" marT="27432" marB="27432">
                    <a:solidFill>
                      <a:srgbClr val="FFFFFF"/>
                    </a:solidFill>
                  </a:tcPr>
                </a:tc>
                <a:tc>
                  <a:txBody>
                    <a:bodyPr wrap="square"/>
                    <a:lstStyle/>
                    <a:p>
                      <a:pPr algn="r"/>
                      <a:r>
                        <a:rPr sz="1100" b="0">
                          <a:solidFill>
                            <a:srgbClr val="1F2A44"/>
                          </a:solidFill>
                          <a:latin typeface="Courier New"/>
                        </a:rPr>
                        <a:t>91.48</a:t>
                      </a:r>
                    </a:p>
                  </a:txBody>
                  <a:tcPr marL="54864" marR="54864" marT="27432" marB="27432">
                    <a:solidFill>
                      <a:srgbClr val="FFFFFF"/>
                    </a:solidFill>
                  </a:tcPr>
                </a:tc>
                <a:tc>
                  <a:txBody>
                    <a:bodyPr wrap="square"/>
                    <a:lstStyle/>
                    <a:p>
                      <a:pPr algn="r"/>
                      <a:r>
                        <a:rPr sz="1100" b="0">
                          <a:solidFill>
                            <a:srgbClr val="1F2A44"/>
                          </a:solidFill>
                          <a:latin typeface="Courier New"/>
                        </a:rPr>
                        <a:t>17.69</a:t>
                      </a:r>
                    </a:p>
                  </a:txBody>
                  <a:tcPr marL="54864" marR="54864" marT="27432" marB="27432">
                    <a:solidFill>
                      <a:srgbClr val="FFFFFF"/>
                    </a:solidFill>
                  </a:tcPr>
                </a:tc>
                <a:tc>
                  <a:txBody>
                    <a:bodyPr wrap="square"/>
                    <a:lstStyle/>
                    <a:p>
                      <a:pPr algn="r"/>
                      <a:r>
                        <a:rPr sz="1100" b="0">
                          <a:solidFill>
                            <a:srgbClr val="1F2A44"/>
                          </a:solidFill>
                          <a:latin typeface="Courier New"/>
                        </a:rPr>
                        <a:t>16521768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Hourly news scripts by station (news_vault.stories)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194121"/>
                <a:gridCol w="1535298"/>
                <a:gridCol w="1194121"/>
                <a:gridCol w="1194121"/>
                <a:gridCol w="2047065"/>
                <a:gridCol w="2644125"/>
                <a:gridCol w="1194121"/>
              </a:tblGrid>
              <a:tr h="310896">
                <a:tc>
                  <a:txBody>
                    <a:bodyPr wrap="square"/>
                    <a:lstStyle/>
                    <a:p>
                      <a:pPr algn="l"/>
                      <a:r>
                        <a:rPr sz="1100" b="1">
                          <a:solidFill>
                            <a:srgbClr val="1F2A44"/>
                          </a:solidFill>
                          <a:latin typeface="Calibri"/>
                        </a:rPr>
                        <a:t>Station</a:t>
                      </a:r>
                    </a:p>
                  </a:txBody>
                  <a:tcPr marL="54864" marR="54864" marT="27432" marB="27432">
                    <a:solidFill>
                      <a:srgbClr val="E9ECF1"/>
                    </a:solidFill>
                  </a:tcPr>
                </a:tc>
                <a:tc>
                  <a:txBody>
                    <a:bodyPr wrap="square"/>
                    <a:lstStyle/>
                    <a:p>
                      <a:pPr algn="l"/>
                      <a:r>
                        <a:rPr sz="1100" b="1">
                          <a:solidFill>
                            <a:srgbClr val="1F2A44"/>
                          </a:solidFill>
                          <a:latin typeface="Calibri"/>
                        </a:rPr>
                        <a:t>Broadcast language</a:t>
                      </a:r>
                    </a:p>
                  </a:txBody>
                  <a:tcPr marL="54864" marR="54864" marT="27432" marB="27432">
                    <a:solidFill>
                      <a:srgbClr val="E9ECF1"/>
                    </a:solidFill>
                  </a:tcPr>
                </a:tc>
                <a:tc>
                  <a:txBody>
                    <a:bodyPr wrap="square"/>
                    <a:lstStyle/>
                    <a:p>
                      <a:pPr algn="l"/>
                      <a:r>
                        <a:rPr sz="1100" b="1">
                          <a:solidFill>
                            <a:srgbClr val="1F2A44"/>
                          </a:solidFill>
                          <a:latin typeface="Calibri"/>
                        </a:rPr>
                        <a:t>Live scripts</a:t>
                      </a:r>
                    </a:p>
                  </a:txBody>
                  <a:tcPr marL="54864" marR="54864" marT="27432" marB="27432">
                    <a:solidFill>
                      <a:srgbClr val="E9ECF1"/>
                    </a:solidFill>
                  </a:tcPr>
                </a:tc>
                <a:tc>
                  <a:txBody>
                    <a:bodyPr wrap="square"/>
                    <a:lstStyle/>
                    <a:p>
                      <a:pPr algn="l"/>
                      <a:r>
                        <a:rPr sz="1100" b="1">
                          <a:solidFill>
                            <a:srgbClr val="1F2A44"/>
                          </a:solidFill>
                          <a:latin typeface="Calibri"/>
                        </a:rPr>
                        <a:t>Scripted days</a:t>
                      </a:r>
                    </a:p>
                  </a:txBody>
                  <a:tcPr marL="54864" marR="54864" marT="27432" marB="27432">
                    <a:solidFill>
                      <a:srgbClr val="E9ECF1"/>
                    </a:solidFill>
                  </a:tcPr>
                </a:tc>
                <a:tc>
                  <a:txBody>
                    <a:bodyPr wrap="square"/>
                    <a:lstStyle/>
                    <a:p>
                      <a:pPr algn="l"/>
                      <a:r>
                        <a:rPr sz="1100" b="1">
                          <a:solidFill>
                            <a:srgbClr val="1F2A44"/>
                          </a:solidFill>
                          <a:latin typeface="Calibri"/>
                        </a:rPr>
                        <a:t>Scripts per scripted day</a:t>
                      </a:r>
                    </a:p>
                  </a:txBody>
                  <a:tcPr marL="54864" marR="54864" marT="27432" marB="27432">
                    <a:solidFill>
                      <a:srgbClr val="E9ECF1"/>
                    </a:solidFill>
                  </a:tcPr>
                </a:tc>
                <a:tc>
                  <a:txBody>
                    <a:bodyPr wrap="square"/>
                    <a:lstStyle/>
                    <a:p>
                      <a:pPr algn="l"/>
                      <a:r>
                        <a:rPr sz="1100" b="1">
                          <a:solidFill>
                            <a:srgbClr val="1F2A44"/>
                          </a:solidFill>
                          <a:latin typeface="Calibri"/>
                        </a:rPr>
                        <a:t>Bulletin hours per scripted day</a:t>
                      </a:r>
                    </a:p>
                  </a:txBody>
                  <a:tcPr marL="54864" marR="54864" marT="27432" marB="27432">
                    <a:solidFill>
                      <a:srgbClr val="E9ECF1"/>
                    </a:solidFill>
                  </a:tcPr>
                </a:tc>
                <a:tc>
                  <a:txBody>
                    <a:bodyPr wrap="square"/>
                    <a:lstStyle/>
                    <a:p>
                      <a:pPr algn="l"/>
                      <a:r>
                        <a:rPr sz="1100" b="1">
                          <a:solidFill>
                            <a:srgbClr val="1F2A44"/>
                          </a:solidFill>
                          <a:latin typeface="Calibri"/>
                        </a:rPr>
                        <a:t>Characters</a:t>
                      </a:r>
                    </a:p>
                  </a:txBody>
                  <a:tcPr marL="54864" marR="54864" marT="27432" marB="27432">
                    <a:solidFill>
                      <a:srgbClr val="E9ECF1"/>
                    </a:solidFill>
                  </a:tcPr>
                </a:tc>
              </a:tr>
              <a:tr h="310896">
                <a:tc>
                  <a:txBody>
                    <a:bodyPr wrap="square"/>
                    <a:lstStyle/>
                    <a:p>
                      <a:pPr algn="l"/>
                      <a:r>
                        <a:rPr sz="1100" b="0">
                          <a:solidFill>
                            <a:srgbClr val="1F2A44"/>
                          </a:solidFill>
                          <a:latin typeface="Calibri"/>
                        </a:rPr>
                        <a:t>Sulwe FM</a:t>
                      </a:r>
                    </a:p>
                  </a:txBody>
                  <a:tcPr marL="54864" marR="54864" marT="27432" marB="27432">
                    <a:solidFill>
                      <a:srgbClr val="FFFFFF"/>
                    </a:solidFill>
                  </a:tcPr>
                </a:tc>
                <a:tc>
                  <a:txBody>
                    <a:bodyPr wrap="square"/>
                    <a:lstStyle/>
                    <a:p>
                      <a:pPr algn="l"/>
                      <a:r>
                        <a:rPr sz="1100" b="0">
                          <a:solidFill>
                            <a:srgbClr val="1F2A44"/>
                          </a:solidFill>
                          <a:latin typeface="Calibri"/>
                        </a:rPr>
                        <a:t>Bukusu</a:t>
                      </a:r>
                    </a:p>
                  </a:txBody>
                  <a:tcPr marL="54864" marR="54864" marT="27432" marB="27432">
                    <a:solidFill>
                      <a:srgbClr val="FFFFFF"/>
                    </a:solidFill>
                  </a:tcPr>
                </a:tc>
                <a:tc>
                  <a:txBody>
                    <a:bodyPr wrap="square"/>
                    <a:lstStyle/>
                    <a:p>
                      <a:pPr algn="r"/>
                      <a:r>
                        <a:rPr sz="1100" b="0">
                          <a:solidFill>
                            <a:srgbClr val="1F2A44"/>
                          </a:solidFill>
                          <a:latin typeface="Courier New"/>
                        </a:rPr>
                        <a:t>16749</a:t>
                      </a:r>
                    </a:p>
                  </a:txBody>
                  <a:tcPr marL="54864" marR="54864" marT="27432" marB="27432">
                    <a:solidFill>
                      <a:srgbClr val="FFFFFF"/>
                    </a:solidFill>
                  </a:tcPr>
                </a:tc>
                <a:tc>
                  <a:txBody>
                    <a:bodyPr wrap="square"/>
                    <a:lstStyle/>
                    <a:p>
                      <a:pPr algn="r"/>
                      <a:r>
                        <a:rPr sz="1100" b="0">
                          <a:solidFill>
                            <a:srgbClr val="1F2A44"/>
                          </a:solidFill>
                          <a:latin typeface="Courier New"/>
                        </a:rPr>
                        <a:t>225</a:t>
                      </a:r>
                    </a:p>
                  </a:txBody>
                  <a:tcPr marL="54864" marR="54864" marT="27432" marB="27432">
                    <a:solidFill>
                      <a:srgbClr val="FFFFFF"/>
                    </a:solidFill>
                  </a:tcPr>
                </a:tc>
                <a:tc>
                  <a:txBody>
                    <a:bodyPr wrap="square"/>
                    <a:lstStyle/>
                    <a:p>
                      <a:pPr algn="r"/>
                      <a:r>
                        <a:rPr sz="1100" b="0">
                          <a:solidFill>
                            <a:srgbClr val="1F2A44"/>
                          </a:solidFill>
                          <a:latin typeface="Courier New"/>
                        </a:rPr>
                        <a:t>76.6</a:t>
                      </a:r>
                    </a:p>
                  </a:txBody>
                  <a:tcPr marL="54864" marR="54864" marT="27432" marB="27432">
                    <a:solidFill>
                      <a:srgbClr val="FFFFFF"/>
                    </a:solidFill>
                  </a:tcPr>
                </a:tc>
                <a:tc>
                  <a:txBody>
                    <a:bodyPr wrap="square"/>
                    <a:lstStyle/>
                    <a:p>
                      <a:pPr algn="r"/>
                      <a:r>
                        <a:rPr sz="1100" b="0">
                          <a:solidFill>
                            <a:srgbClr val="1F2A44"/>
                          </a:solidFill>
                          <a:latin typeface="Courier New"/>
                        </a:rPr>
                        <a:t>11.95</a:t>
                      </a:r>
                    </a:p>
                  </a:txBody>
                  <a:tcPr marL="54864" marR="54864" marT="27432" marB="27432">
                    <a:solidFill>
                      <a:srgbClr val="FFFFFF"/>
                    </a:solidFill>
                  </a:tcPr>
                </a:tc>
                <a:tc>
                  <a:txBody>
                    <a:bodyPr wrap="square"/>
                    <a:lstStyle/>
                    <a:p>
                      <a:pPr algn="r"/>
                      <a:r>
                        <a:rPr sz="1100" b="0">
                          <a:solidFill>
                            <a:srgbClr val="1F2A44"/>
                          </a:solidFill>
                          <a:latin typeface="Courier New"/>
                        </a:rPr>
                        <a:t>14484808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A scripted day is a calendar date with at least one script for the station; bulletin hours are the distinct hour slots scripted that day.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R08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03</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Where value concentrates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OBJECT-STORE BYTES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largest bucket holds 86.7 TiB, 66.3% of the object store</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Every other bucket is small beside it, so byte concentration should be tackled starting with the dominant bucket.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ESTATE BYTES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Media stores hold nearly all of the 175.0 TiB; databases are 0.2% of it</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Housekeeping effort belongs on the media stores, since databases are negligible in bytes though not in personal-data preparation.</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CONCENTRATION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Value concentrates in one refused bucket and the media stores, not the databases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Largest bucket: 251,976.0 forecast hours, 50.4% of the estate, 86.7 TiB, 66.3% of object-store bytes; reads refused.</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Object store 130.8 TiB, file shares 43.9 TiB, databases 0.3 TiB (0.2% of the estate).</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41.9 TiB is not written for over a year (32.0% of the object store); 7.7 TiB are duplicate candidates, not safe-deletion quantities.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File-share duplication is unmeasured: sizes and dates were recorded, not content fingerprints.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45059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0</a:t>
                      </a:r>
                    </a:p>
                  </a:txBody>
                  <a:tcPr marL="54864" marR="54864" marT="27432" marB="27432">
                    <a:solidFill>
                      <a:srgbClr val="FFFFFF"/>
                    </a:solidFill>
                  </a:tcPr>
                </a:tc>
                <a:tc>
                  <a:txBody>
                    <a:bodyPr wrap="square"/>
                    <a:lstStyle/>
                    <a:p>
                      <a:pPr algn="r"/>
                      <a:r>
                        <a:rPr sz="1100" b="0">
                          <a:solidFill>
                            <a:srgbClr val="1F2A44"/>
                          </a:solidFill>
                          <a:latin typeface="Courier New"/>
                        </a:rPr>
                        <a:t>16,634</a:t>
                      </a:r>
                    </a:p>
                  </a:txBody>
                  <a:tcPr marL="54864" marR="54864" marT="27432" marB="27432">
                    <a:solidFill>
                      <a:srgbClr val="FFFFFF"/>
                    </a:solidFill>
                  </a:tcPr>
                </a:tc>
                <a:tc>
                  <a:txBody>
                    <a:bodyPr wrap="square"/>
                    <a:lstStyle/>
                    <a:p>
                      <a:pPr algn="r"/>
                      <a:r>
                        <a:rPr sz="1100" b="0">
                          <a:solidFill>
                            <a:srgbClr val="1F2A44"/>
                          </a:solidFill>
                          <a:latin typeface="Courier New"/>
                        </a:rPr>
                        <a:t>active — keep hot;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hash-confirm duplicate candidates, keep one copy</a:t>
                      </a:r>
                    </a:p>
                  </a:txBody>
                  <a:tcPr marL="54864" marR="54864" marT="27432" marB="27432">
                    <a:solidFill>
                      <a:srgbClr val="FFFFFF"/>
                    </a:solidFill>
                  </a:tcPr>
                </a:tc>
              </a:tr>
              <a:tr h="780288">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2024-03-26</a:t>
                      </a:r>
                    </a:p>
                  </a:txBody>
                  <a:tcPr marL="54864" marR="54864" marT="27432" marB="27432">
                    <a:solidFill>
                      <a:srgbClr val="FFFFFF"/>
                    </a:solidFill>
                  </a:tcPr>
                </a:tc>
                <a:tc>
                  <a:txBody>
                    <a:bodyPr wrap="square"/>
                    <a:lstStyle/>
                    <a:p>
                      <a:pPr algn="r"/>
                      <a:r>
                        <a:rPr sz="1100" b="0">
                          <a:solidFill>
                            <a:srgbClr val="1F2A44"/>
                          </a:solidFill>
                          <a:latin typeface="Courier New"/>
                        </a:rPr>
                        <a:t>920</a:t>
                      </a:r>
                    </a:p>
                  </a:txBody>
                  <a:tcPr marL="54864" marR="54864" marT="27432" marB="27432">
                    <a:solidFill>
                      <a:srgbClr val="FFFFFF"/>
                    </a:solidFill>
                  </a:tcPr>
                </a:tc>
                <a:tc>
                  <a:txBody>
                    <a:bodyPr wrap="square"/>
                    <a:lstStyle/>
                    <a:p>
                      <a:pPr algn="r"/>
                      <a:r>
                        <a:rPr sz="1100" b="0">
                          <a:solidFill>
                            <a:srgbClr val="1F2A44"/>
                          </a:solidFill>
                          <a:latin typeface="Courier New"/>
                        </a:rPr>
                        <a:t>14,696</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197,528</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2024-04-02</a:t>
                      </a:r>
                    </a:p>
                  </a:txBody>
                  <a:tcPr marL="54864" marR="54864" marT="27432" marB="27432">
                    <a:solidFill>
                      <a:srgbClr val="FFFFFF"/>
                    </a:solidFill>
                  </a:tcPr>
                </a:tc>
                <a:tc>
                  <a:txBody>
                    <a:bodyPr wrap="square"/>
                    <a:lstStyle/>
                    <a:p>
                      <a:pPr algn="r"/>
                      <a:r>
                        <a:rPr sz="1100" b="0">
                          <a:solidFill>
                            <a:srgbClr val="1F2A44"/>
                          </a:solidFill>
                          <a:latin typeface="Courier New"/>
                        </a:rPr>
                        <a:t>913</a:t>
                      </a:r>
                    </a:p>
                  </a:txBody>
                  <a:tcPr marL="54864" marR="54864" marT="27432" marB="27432">
                    <a:solidFill>
                      <a:srgbClr val="FFFFFF"/>
                    </a:solidFill>
                  </a:tcPr>
                </a:tc>
                <a:tc>
                  <a:txBody>
                    <a:bodyPr wrap="square"/>
                    <a:lstStyle/>
                    <a:p>
                      <a:pPr algn="r"/>
                      <a:r>
                        <a:rPr sz="1100" b="0">
                          <a:solidFill>
                            <a:srgbClr val="1F2A44"/>
                          </a:solidFill>
                          <a:latin typeface="Courier New"/>
                        </a:rPr>
                        <a:t>27,187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912</a:t>
                      </a:r>
                    </a:p>
                  </a:txBody>
                  <a:tcPr marL="54864" marR="54864" marT="27432" marB="27432">
                    <a:solidFill>
                      <a:srgbClr val="FFFFFF"/>
                    </a:solidFill>
                  </a:tcPr>
                </a:tc>
                <a:tc>
                  <a:txBody>
                    <a:bodyPr wrap="square"/>
                    <a:lstStyle/>
                    <a:p>
                      <a:pPr algn="r"/>
                      <a:r>
                        <a:rPr sz="1100" b="0">
                          <a:solidFill>
                            <a:srgbClr val="1F2A44"/>
                          </a:solidFill>
                          <a:latin typeface="Courier New"/>
                        </a:rPr>
                        <a:t>2,890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2024-03-27</a:t>
                      </a:r>
                    </a:p>
                  </a:txBody>
                  <a:tcPr marL="54864" marR="54864" marT="27432" marB="27432">
                    <a:solidFill>
                      <a:srgbClr val="FFFFFF"/>
                    </a:solidFill>
                  </a:tcPr>
                </a:tc>
                <a:tc>
                  <a:txBody>
                    <a:bodyPr wrap="square"/>
                    <a:lstStyle/>
                    <a:p>
                      <a:pPr algn="r"/>
                      <a:r>
                        <a:rPr sz="1100" b="0">
                          <a:solidFill>
                            <a:srgbClr val="1F2A44"/>
                          </a:solidFill>
                          <a:latin typeface="Courier New"/>
                        </a:rPr>
                        <a:t>919</a:t>
                      </a:r>
                    </a:p>
                  </a:txBody>
                  <a:tcPr marL="54864" marR="54864" marT="27432" marB="27432">
                    <a:solidFill>
                      <a:srgbClr val="FFFFFF"/>
                    </a:solidFill>
                  </a:tcPr>
                </a:tc>
                <a:tc>
                  <a:txBody>
                    <a:bodyPr wrap="square"/>
                    <a:lstStyle/>
                    <a:p>
                      <a:pPr algn="r"/>
                      <a:r>
                        <a:rPr sz="1100" b="0">
                          <a:solidFill>
                            <a:srgbClr val="1F2A44"/>
                          </a:solidFill>
                          <a:latin typeface="Courier New"/>
                        </a:rPr>
                        <a:t>1,852</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3" cy="2785872"/>
        </p:xfrm>
        <a:graphic>
          <a:graphicData uri="http://schemas.openxmlformats.org/drawingml/2006/table">
            <a:tbl>
              <a:tblPr firstRow="1" bandRow="1">
                <a:tableStyleId>{5C22544A-7EE6-4342-B048-85BDC9FD1C3A}</a:tableStyleId>
              </a:tblPr>
              <a:tblGrid>
                <a:gridCol w="1086713"/>
                <a:gridCol w="950874"/>
                <a:gridCol w="950874"/>
                <a:gridCol w="950874"/>
                <a:gridCol w="1358392"/>
                <a:gridCol w="2852623"/>
                <a:gridCol w="2852623"/>
              </a:tblGrid>
              <a:tr h="445008">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Idle days</a:t>
                      </a:r>
                    </a:p>
                  </a:txBody>
                  <a:tcPr marL="54864" marR="54864" marT="27432" marB="27432">
                    <a:solidFill>
                      <a:srgbClr val="E9ECF1"/>
                    </a:solidFill>
                  </a:tcPr>
                </a:tc>
                <a:tc>
                  <a:txBody>
                    <a:bodyPr wrap="square"/>
                    <a:lstStyle/>
                    <a:p>
                      <a:pPr algn="l"/>
                      <a:r>
                        <a:rPr sz="1100" b="1">
                          <a:solidFill>
                            <a:srgbClr val="1F2A44"/>
                          </a:solidFill>
                          <a:latin typeface="Calibri"/>
                        </a:rPr>
                        <a:t>Duplicate candidates</a:t>
                      </a:r>
                    </a:p>
                  </a:txBody>
                  <a:tcPr marL="54864" marR="54864" marT="27432" marB="27432">
                    <a:solidFill>
                      <a:srgbClr val="E9ECF1"/>
                    </a:solidFill>
                  </a:tcPr>
                </a:tc>
                <a:tc>
                  <a:txBody>
                    <a:bodyPr wrap="square"/>
                    <a:lstStyle/>
                    <a:p>
                      <a:pPr algn="l"/>
                      <a:r>
                        <a:rPr sz="1100" b="1">
                          <a:solidFill>
                            <a:srgbClr val="1F2A44"/>
                          </a:solidFill>
                          <a:latin typeface="Calibri"/>
                        </a:rPr>
                        <a:t>Classification</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78028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2024-04-04</a:t>
                      </a:r>
                    </a:p>
                  </a:txBody>
                  <a:tcPr marL="54864" marR="54864" marT="27432" marB="27432">
                    <a:solidFill>
                      <a:srgbClr val="FFFFFF"/>
                    </a:solidFill>
                  </a:tcPr>
                </a:tc>
                <a:tc>
                  <a:txBody>
                    <a:bodyPr wrap="square"/>
                    <a:lstStyle/>
                    <a:p>
                      <a:pPr algn="r"/>
                      <a:r>
                        <a:rPr sz="1100" b="0">
                          <a:solidFill>
                            <a:srgbClr val="1F2A44"/>
                          </a:solidFill>
                          <a:latin typeface="Courier New"/>
                        </a:rPr>
                        <a:t>911</a:t>
                      </a:r>
                    </a:p>
                  </a:txBody>
                  <a:tcPr marL="54864" marR="54864" marT="27432" marB="27432">
                    <a:solidFill>
                      <a:srgbClr val="FFFFFF"/>
                    </a:solidFill>
                  </a:tcPr>
                </a:tc>
                <a:tc>
                  <a:txBody>
                    <a:bodyPr wrap="square"/>
                    <a:lstStyle/>
                    <a:p>
                      <a:pPr algn="r"/>
                      <a:r>
                        <a:rPr sz="1100" b="0">
                          <a:solidFill>
                            <a:srgbClr val="1F2A44"/>
                          </a:solidFill>
                          <a:latin typeface="Courier New"/>
                        </a:rPr>
                        <a:t>1,120</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915</a:t>
                      </a:r>
                    </a:p>
                  </a:txBody>
                  <a:tcPr marL="54864" marR="54864" marT="27432" marB="27432">
                    <a:solidFill>
                      <a:srgbClr val="FFFFFF"/>
                    </a:solidFill>
                  </a:tcPr>
                </a:tc>
                <a:tc>
                  <a:txBody>
                    <a:bodyPr wrap="square"/>
                    <a:lstStyle/>
                    <a:p>
                      <a:pPr algn="r"/>
                      <a:r>
                        <a:rPr sz="1100" b="0">
                          <a:solidFill>
                            <a:srgbClr val="1F2A44"/>
                          </a:solidFill>
                          <a:latin typeface="Courier New"/>
                        </a:rPr>
                        <a:t>2,391</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2024-03-31</a:t>
                      </a:r>
                    </a:p>
                  </a:txBody>
                  <a:tcPr marL="54864" marR="54864" marT="27432" marB="27432">
                    <a:solidFill>
                      <a:srgbClr val="FFFFFF"/>
                    </a:solidFill>
                  </a:tcPr>
                </a:tc>
                <a:tc>
                  <a:txBody>
                    <a:bodyPr wrap="square"/>
                    <a:lstStyle/>
                    <a:p>
                      <a:pPr algn="r"/>
                      <a:r>
                        <a:rPr sz="1100" b="0">
                          <a:solidFill>
                            <a:srgbClr val="1F2A44"/>
                          </a:solidFill>
                          <a:latin typeface="Courier New"/>
                        </a:rPr>
                        <a:t>916</a:t>
                      </a:r>
                    </a:p>
                  </a:txBody>
                  <a:tcPr marL="54864" marR="54864" marT="27432" marB="27432">
                    <a:solidFill>
                      <a:srgbClr val="FFFFFF"/>
                    </a:solidFill>
                  </a:tcPr>
                </a:tc>
                <a:tc>
                  <a:txBody>
                    <a:bodyPr wrap="square"/>
                    <a:lstStyle/>
                    <a:p>
                      <a:pPr algn="r"/>
                      <a:r>
                        <a:rPr sz="1100" b="0">
                          <a:solidFill>
                            <a:srgbClr val="1F2A44"/>
                          </a:solidFill>
                          <a:latin typeface="Courier New"/>
                        </a:rPr>
                        <a:t>4,197</a:t>
                      </a:r>
                    </a:p>
                  </a:txBody>
                  <a:tcPr marL="54864" marR="54864" marT="27432" marB="27432">
                    <a:solidFill>
                      <a:srgbClr val="FFFFFF"/>
                    </a:solidFill>
                  </a:tcPr>
                </a:tc>
                <a:tc>
                  <a:txBody>
                    <a:bodyPr wrap="square"/>
                    <a:lstStyle/>
                    <a:p>
                      <a:pPr algn="r"/>
                      <a:r>
                        <a:rPr sz="11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1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object-store buckets under review (largest first)</a:t>
            </a:r>
          </a:p>
        </p:txBody>
      </p:sp>
      <p:graphicFrame>
        <p:nvGraphicFramePr>
          <p:cNvPr id="4" name="Table 3"/>
          <p:cNvGraphicFramePr>
            <a:graphicFrameLocks noGrp="1"/>
          </p:cNvGraphicFramePr>
          <p:nvPr/>
        </p:nvGraphicFramePr>
        <p:xfrm>
          <a:off x="594360" y="1920240"/>
          <a:ext cx="11002971" cy="2999229"/>
        </p:xfrm>
        <a:graphic>
          <a:graphicData uri="http://schemas.openxmlformats.org/drawingml/2006/table">
            <a:tbl>
              <a:tblPr firstRow="1" bandRow="1">
                <a:tableStyleId>{5C22544A-7EE6-4342-B048-85BDC9FD1C3A}</a:tableStyleId>
              </a:tblPr>
              <a:tblGrid>
                <a:gridCol w="962760"/>
                <a:gridCol w="962760"/>
                <a:gridCol w="962760"/>
                <a:gridCol w="962760"/>
                <a:gridCol w="1375371"/>
                <a:gridCol w="2888280"/>
                <a:gridCol w="2888280"/>
              </a:tblGrid>
              <a:tr h="475488">
                <a:tc>
                  <a:txBody>
                    <a:bodyPr wrap="square"/>
                    <a:lstStyle/>
                    <a:p>
                      <a:pPr algn="l"/>
                      <a:r>
                        <a:rPr sz="1200" b="1">
                          <a:solidFill>
                            <a:srgbClr val="1F2A44"/>
                          </a:solidFill>
                          <a:latin typeface="Calibri"/>
                        </a:rPr>
                        <a:t>Bucket</a:t>
                      </a:r>
                    </a:p>
                  </a:txBody>
                  <a:tcPr marL="54864" marR="54864" marT="27432" marB="27432">
                    <a:solidFill>
                      <a:srgbClr val="E9ECF1"/>
                    </a:solidFill>
                  </a:tcPr>
                </a:tc>
                <a:tc>
                  <a:txBody>
                    <a:bodyPr wrap="square"/>
                    <a:lstStyle/>
                    <a:p>
                      <a:pPr algn="l"/>
                      <a:r>
                        <a:rPr sz="1200" b="1">
                          <a:solidFill>
                            <a:srgbClr val="1F2A44"/>
                          </a:solidFill>
                          <a:latin typeface="Calibri"/>
                        </a:rPr>
                        <a:t>Held (TiB)</a:t>
                      </a:r>
                    </a:p>
                  </a:txBody>
                  <a:tcPr marL="54864" marR="54864" marT="27432" marB="27432">
                    <a:solidFill>
                      <a:srgbClr val="E9ECF1"/>
                    </a:solidFill>
                  </a:tcPr>
                </a:tc>
                <a:tc>
                  <a:txBody>
                    <a:bodyPr wrap="square"/>
                    <a:lstStyle/>
                    <a:p>
                      <a:pPr algn="l"/>
                      <a:r>
                        <a:rPr sz="1200" b="1">
                          <a:solidFill>
                            <a:srgbClr val="1F2A44"/>
                          </a:solidFill>
                          <a:latin typeface="Calibri"/>
                        </a:rPr>
                        <a:t>Last write</a:t>
                      </a:r>
                    </a:p>
                  </a:txBody>
                  <a:tcPr marL="54864" marR="54864" marT="27432" marB="27432">
                    <a:solidFill>
                      <a:srgbClr val="E9ECF1"/>
                    </a:solidFill>
                  </a:tcPr>
                </a:tc>
                <a:tc>
                  <a:txBody>
                    <a:bodyPr wrap="square"/>
                    <a:lstStyle/>
                    <a:p>
                      <a:pPr algn="l"/>
                      <a:r>
                        <a:rPr sz="1200" b="1">
                          <a:solidFill>
                            <a:srgbClr val="1F2A44"/>
                          </a:solidFill>
                          <a:latin typeface="Calibri"/>
                        </a:rPr>
                        <a:t>Idle days</a:t>
                      </a:r>
                    </a:p>
                  </a:txBody>
                  <a:tcPr marL="54864" marR="54864" marT="27432" marB="27432">
                    <a:solidFill>
                      <a:srgbClr val="E9ECF1"/>
                    </a:solidFill>
                  </a:tcPr>
                </a:tc>
                <a:tc>
                  <a:txBody>
                    <a:bodyPr wrap="square"/>
                    <a:lstStyle/>
                    <a:p>
                      <a:pPr algn="l"/>
                      <a:r>
                        <a:rPr sz="1200" b="1">
                          <a:solidFill>
                            <a:srgbClr val="1F2A44"/>
                          </a:solidFill>
                          <a:latin typeface="Calibri"/>
                        </a:rPr>
                        <a:t>Duplicate candidates</a:t>
                      </a:r>
                    </a:p>
                  </a:txBody>
                  <a:tcPr marL="54864" marR="54864" marT="27432" marB="27432">
                    <a:solidFill>
                      <a:srgbClr val="E9ECF1"/>
                    </a:solidFill>
                  </a:tcPr>
                </a:tc>
                <a:tc>
                  <a:txBody>
                    <a:bodyPr wrap="square"/>
                    <a:lstStyle/>
                    <a:p>
                      <a:pPr algn="l"/>
                      <a:r>
                        <a:rPr sz="1200" b="1">
                          <a:solidFill>
                            <a:srgbClr val="1F2A44"/>
                          </a:solidFill>
                          <a:latin typeface="Calibri"/>
                        </a:rPr>
                        <a:t>Classification</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841247">
                <a:tc>
                  <a:txBody>
                    <a:bodyPr wrap="square"/>
                    <a:lstStyle/>
                    <a:p>
                      <a:pPr algn="l"/>
                      <a:r>
                        <a:rPr sz="1200" b="0">
                          <a:solidFill>
                            <a:srgbClr val="1F2A44"/>
                          </a:solidFill>
                          <a:latin typeface="Calibri"/>
                        </a:rPr>
                        <a:t>na7p43d3</a:t>
                      </a:r>
                    </a:p>
                  </a:txBody>
                  <a:tcPr marL="54864" marR="54864" marT="27432" marB="27432">
                    <a:solidFill>
                      <a:srgbClr val="FFFFFF"/>
                    </a:solidFill>
                  </a:tcPr>
                </a:tc>
                <a:tc>
                  <a:txBody>
                    <a:bodyPr wrap="square"/>
                    <a:lstStyle/>
                    <a:p>
                      <a:pPr algn="r"/>
                      <a:r>
                        <a:rPr sz="1200" b="0">
                          <a:solidFill>
                            <a:srgbClr val="1F2A44"/>
                          </a:solidFill>
                          <a:latin typeface="Courier New"/>
                        </a:rPr>
                        <a:t>2.9</a:t>
                      </a:r>
                    </a:p>
                  </a:txBody>
                  <a:tcPr marL="54864" marR="54864" marT="27432" marB="27432">
                    <a:solidFill>
                      <a:srgbClr val="FFFFFF"/>
                    </a:solidFill>
                  </a:tcPr>
                </a:tc>
                <a:tc>
                  <a:txBody>
                    <a:bodyPr wrap="square"/>
                    <a:lstStyle/>
                    <a:p>
                      <a:pPr algn="r"/>
                      <a:r>
                        <a:rPr sz="1200" b="0">
                          <a:solidFill>
                            <a:srgbClr val="1F2A44"/>
                          </a:solidFill>
                          <a:latin typeface="Courier New"/>
                        </a:rPr>
                        <a:t>2024-03-30</a:t>
                      </a:r>
                    </a:p>
                  </a:txBody>
                  <a:tcPr marL="54864" marR="54864" marT="27432" marB="27432">
                    <a:solidFill>
                      <a:srgbClr val="FFFFFF"/>
                    </a:solidFill>
                  </a:tcPr>
                </a:tc>
                <a:tc>
                  <a:txBody>
                    <a:bodyPr wrap="square"/>
                    <a:lstStyle/>
                    <a:p>
                      <a:pPr algn="r"/>
                      <a:r>
                        <a:rPr sz="1200" b="0">
                          <a:solidFill>
                            <a:srgbClr val="1F2A44"/>
                          </a:solidFill>
                          <a:latin typeface="Courier New"/>
                        </a:rPr>
                        <a:t>916</a:t>
                      </a:r>
                    </a:p>
                  </a:txBody>
                  <a:tcPr marL="54864" marR="54864" marT="27432" marB="27432">
                    <a:solidFill>
                      <a:srgbClr val="FFFFFF"/>
                    </a:solidFill>
                  </a:tcPr>
                </a:tc>
                <a:tc>
                  <a:txBody>
                    <a:bodyPr wrap="square"/>
                    <a:lstStyle/>
                    <a:p>
                      <a:pPr algn="r"/>
                      <a:r>
                        <a:rPr sz="1200" b="0">
                          <a:solidFill>
                            <a:srgbClr val="1F2A44"/>
                          </a:solidFill>
                          <a:latin typeface="Courier New"/>
                        </a:rPr>
                        <a:t>1,395</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na7p4oco</a:t>
                      </a:r>
                    </a:p>
                  </a:txBody>
                  <a:tcPr marL="54864" marR="54864" marT="27432" marB="27432">
                    <a:solidFill>
                      <a:srgbClr val="FFFFFF"/>
                    </a:solidFill>
                  </a:tcPr>
                </a:tc>
                <a:tc>
                  <a:txBody>
                    <a:bodyPr wrap="square"/>
                    <a:lstStyle/>
                    <a:p>
                      <a:pPr algn="r"/>
                      <a:r>
                        <a:rPr sz="1200" b="0">
                          <a:solidFill>
                            <a:srgbClr val="1F2A44"/>
                          </a:solidFill>
                          <a:latin typeface="Courier New"/>
                        </a:rPr>
                        <a:t>2.86</a:t>
                      </a:r>
                    </a:p>
                  </a:txBody>
                  <a:tcPr marL="54864" marR="54864" marT="27432" marB="27432">
                    <a:solidFill>
                      <a:srgbClr val="FFFFFF"/>
                    </a:solidFill>
                  </a:tcPr>
                </a:tc>
                <a:tc>
                  <a:txBody>
                    <a:bodyPr wrap="square"/>
                    <a:lstStyle/>
                    <a:p>
                      <a:pPr algn="r"/>
                      <a:r>
                        <a:rPr sz="1200" b="0">
                          <a:solidFill>
                            <a:srgbClr val="1F2A44"/>
                          </a:solidFill>
                          <a:latin typeface="Courier New"/>
                        </a:rPr>
                        <a:t>2024-04-03</a:t>
                      </a:r>
                    </a:p>
                  </a:txBody>
                  <a:tcPr marL="54864" marR="54864" marT="27432" marB="27432">
                    <a:solidFill>
                      <a:srgbClr val="FFFFFF"/>
                    </a:solidFill>
                  </a:tcPr>
                </a:tc>
                <a:tc>
                  <a:txBody>
                    <a:bodyPr wrap="square"/>
                    <a:lstStyle/>
                    <a:p>
                      <a:pPr algn="r"/>
                      <a:r>
                        <a:rPr sz="1200" b="0">
                          <a:solidFill>
                            <a:srgbClr val="1F2A44"/>
                          </a:solidFill>
                          <a:latin typeface="Courier New"/>
                        </a:rPr>
                        <a:t>912</a:t>
                      </a:r>
                    </a:p>
                  </a:txBody>
                  <a:tcPr marL="54864" marR="54864" marT="27432" marB="27432">
                    <a:solidFill>
                      <a:srgbClr val="FFFFFF"/>
                    </a:solidFill>
                  </a:tcPr>
                </a:tc>
                <a:tc>
                  <a:txBody>
                    <a:bodyPr wrap="square"/>
                    <a:lstStyle/>
                    <a:p>
                      <a:pPr algn="r"/>
                      <a:r>
                        <a:rPr sz="1200" b="0">
                          <a:solidFill>
                            <a:srgbClr val="1F2A44"/>
                          </a:solidFill>
                          <a:latin typeface="Courier New"/>
                        </a:rPr>
                        <a:t>166,328</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 heavy duplicate candidates</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r h="841247">
                <a:tc>
                  <a:txBody>
                    <a:bodyPr wrap="square"/>
                    <a:lstStyle/>
                    <a:p>
                      <a:pPr algn="l"/>
                      <a:r>
                        <a:rPr sz="1200" b="0">
                          <a:solidFill>
                            <a:srgbClr val="1F2A44"/>
                          </a:solidFill>
                          <a:latin typeface="Calibri"/>
                        </a:rPr>
                        <a:t>rmsbroadcast</a:t>
                      </a:r>
                    </a:p>
                  </a:txBody>
                  <a:tcPr marL="54864" marR="54864" marT="27432" marB="27432">
                    <a:solidFill>
                      <a:srgbClr val="FFFFFF"/>
                    </a:solidFill>
                  </a:tcPr>
                </a:tc>
                <a:tc>
                  <a:txBody>
                    <a:bodyPr wrap="square"/>
                    <a:lstStyle/>
                    <a:p>
                      <a:pPr algn="r"/>
                      <a:r>
                        <a:rPr sz="1200" b="0">
                          <a:solidFill>
                            <a:srgbClr val="1F2A44"/>
                          </a:solidFill>
                          <a:latin typeface="Courier New"/>
                        </a:rPr>
                        <a:t>1.49</a:t>
                      </a:r>
                    </a:p>
                  </a:txBody>
                  <a:tcPr marL="54864" marR="54864" marT="27432" marB="27432">
                    <a:solidFill>
                      <a:srgbClr val="FFFFFF"/>
                    </a:solidFill>
                  </a:tcPr>
                </a:tc>
                <a:tc>
                  <a:txBody>
                    <a:bodyPr wrap="square"/>
                    <a:lstStyle/>
                    <a:p>
                      <a:pPr algn="r"/>
                      <a:r>
                        <a:rPr sz="1200" b="0">
                          <a:solidFill>
                            <a:srgbClr val="1F2A44"/>
                          </a:solidFill>
                          <a:latin typeface="Courier New"/>
                        </a:rPr>
                        <a:t>2024-03-24</a:t>
                      </a:r>
                    </a:p>
                  </a:txBody>
                  <a:tcPr marL="54864" marR="54864" marT="27432" marB="27432">
                    <a:solidFill>
                      <a:srgbClr val="FFFFFF"/>
                    </a:solidFill>
                  </a:tcPr>
                </a:tc>
                <a:tc>
                  <a:txBody>
                    <a:bodyPr wrap="square"/>
                    <a:lstStyle/>
                    <a:p>
                      <a:pPr algn="r"/>
                      <a:r>
                        <a:rPr sz="1200" b="0">
                          <a:solidFill>
                            <a:srgbClr val="1F2A44"/>
                          </a:solidFill>
                          <a:latin typeface="Courier New"/>
                        </a:rPr>
                        <a:t>922</a:t>
                      </a:r>
                    </a:p>
                  </a:txBody>
                  <a:tcPr marL="54864" marR="54864" marT="27432" marB="27432">
                    <a:solidFill>
                      <a:srgbClr val="FFFFFF"/>
                    </a:solidFill>
                  </a:tcPr>
                </a:tc>
                <a:tc>
                  <a:txBody>
                    <a:bodyPr wrap="square"/>
                    <a:lstStyle/>
                    <a:p>
                      <a:pPr algn="r"/>
                      <a:r>
                        <a:rPr sz="1200" b="0">
                          <a:solidFill>
                            <a:srgbClr val="1F2A44"/>
                          </a:solidFill>
                          <a:latin typeface="Courier New"/>
                        </a:rPr>
                        <a:t>5,060</a:t>
                      </a:r>
                    </a:p>
                  </a:txBody>
                  <a:tcPr marL="54864" marR="54864" marT="27432" marB="27432">
                    <a:solidFill>
                      <a:srgbClr val="FFFFFF"/>
                    </a:solidFill>
                  </a:tcPr>
                </a:tc>
                <a:tc>
                  <a:txBody>
                    <a:bodyPr wrap="square"/>
                    <a:lstStyle/>
                    <a:p>
                      <a:pPr algn="r"/>
                      <a:r>
                        <a:rPr sz="1200" b="0">
                          <a:solidFill>
                            <a:srgbClr val="1F2A44"/>
                          </a:solidFill>
                          <a:latin typeface="Courier New"/>
                        </a:rPr>
                        <a:t>cold — archive candidate</a:t>
                      </a:r>
                    </a:p>
                  </a:txBody>
                  <a:tcPr marL="54864" marR="54864" marT="27432" marB="27432">
                    <a:solidFill>
                      <a:srgbClr val="FFFFFF"/>
                    </a:solidFill>
                  </a:tcPr>
                </a:tc>
                <a:tc>
                  <a:txBody>
                    <a:bodyPr wrap="square"/>
                    <a:lstStyle/>
                    <a:p>
                      <a:pPr algn="r"/>
                      <a:r>
                        <a:rPr sz="1200" b="0">
                          <a:solidFill>
                            <a:srgbClr val="1F2A44"/>
                          </a:solidFill>
                          <a:latin typeface="Courier New"/>
                        </a:rPr>
                        <a:t>verify storage class and read demand; tier only confirmed Standard bytes, never already Archive bytes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Every bucket named here was enumerated object by object; the classification follows from its last write date and its duplicate-candidate count.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R04: OBS bucket enumeration census run cr-f1415e395361 (22,997,353 objects, 130.8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688336"/>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viusasa_staging.audits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666 days · 18.6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viusasa_staging.master_payments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438 days · 4.2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razuna.raz1_videos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1341 days · 3.0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viusasa_staging.payment_requests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664 days · 2.8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viusasa_staging.sms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583 days · 2.7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database tables under review, by finding</a:t>
            </a:r>
          </a:p>
        </p:txBody>
      </p:sp>
      <p:graphicFrame>
        <p:nvGraphicFramePr>
          <p:cNvPr id="4" name="Table 3"/>
          <p:cNvGraphicFramePr>
            <a:graphicFrameLocks noGrp="1"/>
          </p:cNvGraphicFramePr>
          <p:nvPr/>
        </p:nvGraphicFramePr>
        <p:xfrm>
          <a:off x="594360" y="1920240"/>
          <a:ext cx="11002973" cy="2212848"/>
        </p:xfrm>
        <a:graphic>
          <a:graphicData uri="http://schemas.openxmlformats.org/drawingml/2006/table">
            <a:tbl>
              <a:tblPr firstRow="1" bandRow="1">
                <a:tableStyleId>{5C22544A-7EE6-4342-B048-85BDC9FD1C3A}</a:tableStyleId>
              </a:tblPr>
              <a:tblGrid>
                <a:gridCol w="3300892"/>
                <a:gridCol w="2357780"/>
                <a:gridCol w="2043409"/>
                <a:gridCol w="3300892"/>
              </a:tblGrid>
              <a:tr h="310896">
                <a:tc>
                  <a:txBody>
                    <a:bodyPr wrap="square"/>
                    <a:lstStyle/>
                    <a:p>
                      <a:pPr algn="l"/>
                      <a:r>
                        <a:rPr sz="1200" b="1">
                          <a:solidFill>
                            <a:srgbClr val="1F2A44"/>
                          </a:solidFill>
                          <a:latin typeface="Calibri"/>
                        </a:rPr>
                        <a:t>Table (database.table)</a:t>
                      </a:r>
                    </a:p>
                  </a:txBody>
                  <a:tcPr marL="54864" marR="54864" marT="27432" marB="27432">
                    <a:solidFill>
                      <a:srgbClr val="E9ECF1"/>
                    </a:solidFill>
                  </a:tcPr>
                </a:tc>
                <a:tc>
                  <a:txBody>
                    <a:bodyPr wrap="square"/>
                    <a:lstStyle/>
                    <a:p>
                      <a:pPr algn="l"/>
                      <a:r>
                        <a:rPr sz="1200" b="1">
                          <a:solidFill>
                            <a:srgbClr val="1F2A44"/>
                          </a:solidFill>
                          <a:latin typeface="Calibri"/>
                        </a:rPr>
                        <a:t>Finding</a:t>
                      </a:r>
                    </a:p>
                  </a:txBody>
                  <a:tcPr marL="54864" marR="54864" marT="27432" marB="27432">
                    <a:solidFill>
                      <a:srgbClr val="E9ECF1"/>
                    </a:solidFill>
                  </a:tcPr>
                </a:tc>
                <a:tc>
                  <a:txBody>
                    <a:bodyPr wrap="square"/>
                    <a:lstStyle/>
                    <a:p>
                      <a:pPr algn="l"/>
                      <a:r>
                        <a:rPr sz="1200" b="1">
                          <a:solidFill>
                            <a:srgbClr val="1F2A44"/>
                          </a:solidFill>
                          <a:latin typeface="Calibri"/>
                        </a:rPr>
                        <a:t>Measured detail</a:t>
                      </a:r>
                    </a:p>
                  </a:txBody>
                  <a:tcPr marL="54864" marR="54864" marT="27432" marB="27432">
                    <a:solidFill>
                      <a:srgbClr val="E9ECF1"/>
                    </a:solidFill>
                  </a:tcPr>
                </a:tc>
                <a:tc>
                  <a:txBody>
                    <a:bodyPr wrap="square"/>
                    <a:lstStyle/>
                    <a:p>
                      <a:pPr algn="l"/>
                      <a:r>
                        <a:rPr sz="1200" b="1">
                          <a:solidFill>
                            <a:srgbClr val="1F2A44"/>
                          </a:solidFill>
                          <a:latin typeface="Calibri"/>
                        </a:rPr>
                        <a:t>Proposed action</a:t>
                      </a:r>
                    </a:p>
                  </a:txBody>
                  <a:tcPr marL="54864" marR="54864" marT="27432" marB="27432">
                    <a:solidFill>
                      <a:srgbClr val="E9ECF1"/>
                    </a:solidFill>
                  </a:tcPr>
                </a:tc>
              </a:tr>
              <a:tr h="475488">
                <a:tc>
                  <a:txBody>
                    <a:bodyPr wrap="square"/>
                    <a:lstStyle/>
                    <a:p>
                      <a:pPr algn="l"/>
                      <a:r>
                        <a:rPr sz="1200" b="0">
                          <a:solidFill>
                            <a:srgbClr val="1F2A44"/>
                          </a:solidFill>
                          <a:latin typeface="Calibri"/>
                        </a:rPr>
                        <a:t>viusasa_staging.mpesa_stk_requests</a:t>
                      </a:r>
                    </a:p>
                  </a:txBody>
                  <a:tcPr marL="54864" marR="54864" marT="27432" marB="27432">
                    <a:solidFill>
                      <a:srgbClr val="FFFFFF"/>
                    </a:solidFill>
                  </a:tcPr>
                </a:tc>
                <a:tc>
                  <a:txBody>
                    <a:bodyPr wrap="square"/>
                    <a:lstStyle/>
                    <a:p>
                      <a:pPr algn="l"/>
                      <a:r>
                        <a:rPr sz="1200" b="0">
                          <a:solidFill>
                            <a:srgbClr val="1F2A44"/>
                          </a:solidFill>
                          <a:latin typeface="Calibri"/>
                        </a:rPr>
                        <a:t>not written for over a year</a:t>
                      </a:r>
                    </a:p>
                  </a:txBody>
                  <a:tcPr marL="54864" marR="54864" marT="27432" marB="27432">
                    <a:solidFill>
                      <a:srgbClr val="FFFFFF"/>
                    </a:solidFill>
                  </a:tcPr>
                </a:tc>
                <a:tc>
                  <a:txBody>
                    <a:bodyPr wrap="square"/>
                    <a:lstStyle/>
                    <a:p>
                      <a:pPr algn="l"/>
                      <a:r>
                        <a:rPr sz="1200" b="0">
                          <a:solidFill>
                            <a:srgbClr val="1F2A44"/>
                          </a:solidFill>
                          <a:latin typeface="Calibri"/>
                        </a:rPr>
                        <a:t>724 days · 1.4 GiB</a:t>
                      </a:r>
                    </a:p>
                  </a:txBody>
                  <a:tcPr marL="54864" marR="54864" marT="27432" marB="27432">
                    <a:solidFill>
                      <a:srgbClr val="FFFFFF"/>
                    </a:solidFill>
                  </a:tcPr>
                </a:tc>
                <a:tc>
                  <a:txBody>
                    <a:bodyPr wrap="square"/>
                    <a:lstStyle/>
                    <a:p>
                      <a:pPr algn="l"/>
                      <a:r>
                        <a:rPr sz="1200" b="0">
                          <a:solidFill>
                            <a:srgbClr val="1F2A44"/>
                          </a:solidFill>
                          <a:latin typeface="Calibri"/>
                        </a:rPr>
                        <a:t>export to compressed object storage with a schema stub (proposed); restore on demand</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viusasa_staging.search_lookups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5.9% repeated · 8.7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viusasa_staging.playback_qualified_streams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5.1% repeated · 4.6 GiB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r h="475488">
                <a:tc>
                  <a:txBody>
                    <a:bodyPr wrap="square"/>
                    <a:lstStyle/>
                    <a:p>
                      <a:pPr algn="l"/>
                      <a:r>
                        <a:rPr sz="1200" b="0">
                          <a:solidFill>
                            <a:srgbClr val="1F2A44"/>
                          </a:solidFill>
                          <a:latin typeface="Calibri"/>
                        </a:rPr>
                        <a:t>viusasa_staging.episode_views</a:t>
                      </a:r>
                    </a:p>
                  </a:txBody>
                  <a:tcPr marL="54864" marR="54864" marT="27432" marB="27432">
                    <a:solidFill>
                      <a:srgbClr val="FFFFFF"/>
                    </a:solidFill>
                  </a:tcPr>
                </a:tc>
                <a:tc>
                  <a:txBody>
                    <a:bodyPr wrap="square"/>
                    <a:lstStyle/>
                    <a:p>
                      <a:pPr algn="l"/>
                      <a:r>
                        <a:rPr sz="1200" b="0">
                          <a:solidFill>
                            <a:srgbClr val="1F2A44"/>
                          </a:solidFill>
                          <a:latin typeface="Calibri"/>
                        </a:rPr>
                        <a:t>repeated rows inside the table</a:t>
                      </a:r>
                    </a:p>
                  </a:txBody>
                  <a:tcPr marL="54864" marR="54864" marT="27432" marB="27432">
                    <a:solidFill>
                      <a:srgbClr val="FFFFFF"/>
                    </a:solidFill>
                  </a:tcPr>
                </a:tc>
                <a:tc>
                  <a:txBody>
                    <a:bodyPr wrap="square"/>
                    <a:lstStyle/>
                    <a:p>
                      <a:pPr algn="l"/>
                      <a:r>
                        <a:rPr sz="1200" b="0">
                          <a:solidFill>
                            <a:srgbClr val="1F2A44"/>
                          </a:solidFill>
                          <a:latin typeface="Calibri"/>
                        </a:rPr>
                        <a:t>22.0% repeated · 764.0 MiB</a:t>
                      </a:r>
                    </a:p>
                  </a:txBody>
                  <a:tcPr marL="54864" marR="54864" marT="27432" marB="27432">
                    <a:solidFill>
                      <a:srgbClr val="FFFFFF"/>
                    </a:solidFill>
                  </a:tcPr>
                </a:tc>
                <a:tc>
                  <a:txBody>
                    <a:bodyPr wrap="square"/>
                    <a:lstStyle/>
                    <a:p>
                      <a:pPr algn="l"/>
                      <a:r>
                        <a:rPr sz="1200" b="0">
                          <a:solidFill>
                            <a:srgbClr val="1F2A44"/>
                          </a:solidFill>
                          <a:latin typeface="Calibri"/>
                        </a:rPr>
                        <a:t>de-duplicate in place after a keyed comparison; keep the newest row</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row names a table the census measured and the finding that puts it on the list; the bytes column is the strategy total the table belongs to, not the table alone.</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channel01</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95,122</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95,108, .rmd 6, .mpt 3</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channel02</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6.87</a:t>
                      </a:r>
                    </a:p>
                  </a:txBody>
                  <a:tcPr marL="54864" marR="54864" marT="27432" marB="27432">
                    <a:solidFill>
                      <a:srgbClr val="FFFFFF"/>
                    </a:solidFill>
                  </a:tcPr>
                </a:tc>
                <a:tc>
                  <a:txBody>
                    <a:bodyPr wrap="square"/>
                    <a:lstStyle/>
                    <a:p>
                      <a:pPr algn="r"/>
                      <a:r>
                        <a:rPr sz="1100" b="0">
                          <a:solidFill>
                            <a:srgbClr val="1F2A44"/>
                          </a:solidFill>
                          <a:latin typeface="Courier New"/>
                        </a:rPr>
                        <a:t>95,134</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95,129,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channel16</a:t>
                      </a:r>
                    </a:p>
                  </a:txBody>
                  <a:tcPr marL="54864" marR="54864" marT="27432" marB="27432">
                    <a:solidFill>
                      <a:srgbClr val="FFFFFF"/>
                    </a:solidFill>
                  </a:tcPr>
                </a:tc>
                <a:tc>
                  <a:txBody>
                    <a:bodyPr wrap="square"/>
                    <a:lstStyle/>
                    <a:p>
                      <a:pPr algn="l"/>
                      <a:r>
                        <a:rPr sz="1100" b="0">
                          <a:solidFill>
                            <a:srgbClr val="1F2A44"/>
                          </a:solidFill>
                          <a:latin typeface="Calibri"/>
                        </a:rPr>
                        <a:t>complete</a:t>
                      </a:r>
                    </a:p>
                  </a:txBody>
                  <a:tcPr marL="54864" marR="54864" marT="27432" marB="27432">
                    <a:solidFill>
                      <a:srgbClr val="FFFFFF"/>
                    </a:solidFill>
                  </a:tcPr>
                </a:tc>
                <a:tc>
                  <a:txBody>
                    <a:bodyPr wrap="square"/>
                    <a:lstStyle/>
                    <a:p>
                      <a:pPr algn="r"/>
                      <a:r>
                        <a:rPr sz="1100" b="0">
                          <a:solidFill>
                            <a:srgbClr val="1F2A44"/>
                          </a:solidFill>
                          <a:latin typeface="Courier New"/>
                        </a:rPr>
                        <a:t>6.81</a:t>
                      </a:r>
                    </a:p>
                  </a:txBody>
                  <a:tcPr marL="54864" marR="54864" marT="27432" marB="27432">
                    <a:solidFill>
                      <a:srgbClr val="FFFFFF"/>
                    </a:solidFill>
                  </a:tcPr>
                </a:tc>
                <a:tc>
                  <a:txBody>
                    <a:bodyPr wrap="square"/>
                    <a:lstStyle/>
                    <a:p>
                      <a:pPr algn="r"/>
                      <a:r>
                        <a:rPr sz="1100" b="0">
                          <a:solidFill>
                            <a:srgbClr val="1F2A44"/>
                          </a:solidFill>
                          <a:latin typeface="Courier New"/>
                        </a:rPr>
                        <a:t>94,597</a:t>
                      </a:r>
                    </a:p>
                  </a:txBody>
                  <a:tcPr marL="54864" marR="54864" marT="27432" marB="27432">
                    <a:solidFill>
                      <a:srgbClr val="FFFFFF"/>
                    </a:solidFill>
                  </a:tcPr>
                </a:tc>
                <a:tc>
                  <a:txBody>
                    <a:bodyPr wrap="square"/>
                    <a:lstStyle/>
                    <a:p>
                      <a:pPr algn="r"/>
                      <a:r>
                        <a:rPr sz="1100" b="0">
                          <a:solidFill>
                            <a:srgbClr val="1F2A44"/>
                          </a:solidFill>
                          <a:latin typeface="Courier New"/>
                        </a:rPr>
                        <a:t>2026-09-29</a:t>
                      </a:r>
                    </a:p>
                  </a:txBody>
                  <a:tcPr marL="54864" marR="54864" marT="27432" marB="27432">
                    <a:solidFill>
                      <a:srgbClr val="FFFFFF"/>
                    </a:solidFill>
                  </a:tcPr>
                </a:tc>
                <a:tc>
                  <a:txBody>
                    <a:bodyPr wrap="square"/>
                    <a:lstStyle/>
                    <a:p>
                      <a:pPr algn="r"/>
                      <a:r>
                        <a:rPr sz="1100" b="0">
                          <a:solidFill>
                            <a:srgbClr val="1F2A44"/>
                          </a:solidFill>
                          <a:latin typeface="Courier New"/>
                        </a:rPr>
                        <a:t>.mp4 94,592,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Channel15</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96,675</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96,667, .rmd 3,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Channel14</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96,660</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96,654, .rmd 2,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Channel11</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96,651</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96,641,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(1,470,663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Exact file shares (NAS) enumerated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108213"/>
                <a:gridCol w="1108213"/>
                <a:gridCol w="1108213"/>
                <a:gridCol w="1108213"/>
                <a:gridCol w="1108213"/>
                <a:gridCol w="2137268"/>
                <a:gridCol w="3324639"/>
              </a:tblGrid>
              <a:tr h="310896">
                <a:tc>
                  <a:txBody>
                    <a:bodyPr wrap="square"/>
                    <a:lstStyle/>
                    <a:p>
                      <a:pPr algn="l"/>
                      <a:r>
                        <a:rPr sz="1100" b="1">
                          <a:solidFill>
                            <a:srgbClr val="1F2A44"/>
                          </a:solidFill>
                          <a:latin typeface="Calibri"/>
                        </a:rPr>
                        <a:t>Share</a:t>
                      </a:r>
                    </a:p>
                  </a:txBody>
                  <a:tcPr marL="54864" marR="54864" marT="27432" marB="27432">
                    <a:solidFill>
                      <a:srgbClr val="E9ECF1"/>
                    </a:solidFill>
                  </a:tcPr>
                </a:tc>
                <a:tc>
                  <a:txBody>
                    <a:bodyPr wrap="square"/>
                    <a:lstStyle/>
                    <a:p>
                      <a:pPr algn="l"/>
                      <a:r>
                        <a:rPr sz="1100" b="1">
                          <a:solidFill>
                            <a:srgbClr val="1F2A44"/>
                          </a:solidFill>
                          <a:latin typeface="Calibri"/>
                        </a:rPr>
                        <a:t>Enumeration</a:t>
                      </a:r>
                    </a:p>
                  </a:txBody>
                  <a:tcPr marL="54864" marR="54864" marT="27432" marB="27432">
                    <a:solidFill>
                      <a:srgbClr val="E9ECF1"/>
                    </a:solidFill>
                  </a:tcPr>
                </a:tc>
                <a:tc>
                  <a:txBody>
                    <a:bodyPr wrap="square"/>
                    <a:lstStyle/>
                    <a:p>
                      <a:pPr algn="l"/>
                      <a:r>
                        <a:rPr sz="1100" b="1">
                          <a:solidFill>
                            <a:srgbClr val="1F2A44"/>
                          </a:solidFill>
                          <a:latin typeface="Calibri"/>
                        </a:rPr>
                        <a:t>Held (TiB)</a:t>
                      </a:r>
                    </a:p>
                  </a:txBody>
                  <a:tcPr marL="54864" marR="54864" marT="27432" marB="27432">
                    <a:solidFill>
                      <a:srgbClr val="E9ECF1"/>
                    </a:solidFill>
                  </a:tcPr>
                </a:tc>
                <a:tc>
                  <a:txBody>
                    <a:bodyPr wrap="square"/>
                    <a:lstStyle/>
                    <a:p>
                      <a:pPr algn="l"/>
                      <a:r>
                        <a:rPr sz="1100" b="1">
                          <a:solidFill>
                            <a:srgbClr val="1F2A44"/>
                          </a:solidFill>
                          <a:latin typeface="Calibri"/>
                        </a:rPr>
                        <a:t>Files</a:t>
                      </a:r>
                    </a:p>
                  </a:txBody>
                  <a:tcPr marL="54864" marR="54864" marT="27432" marB="27432">
                    <a:solidFill>
                      <a:srgbClr val="E9ECF1"/>
                    </a:solidFill>
                  </a:tcPr>
                </a:tc>
                <a:tc>
                  <a:txBody>
                    <a:bodyPr wrap="square"/>
                    <a:lstStyle/>
                    <a:p>
                      <a:pPr algn="l"/>
                      <a:r>
                        <a:rPr sz="1100" b="1">
                          <a:solidFill>
                            <a:srgbClr val="1F2A44"/>
                          </a:solidFill>
                          <a:latin typeface="Calibri"/>
                        </a:rPr>
                        <a:t>Last write</a:t>
                      </a:r>
                    </a:p>
                  </a:txBody>
                  <a:tcPr marL="54864" marR="54864" marT="27432" marB="27432">
                    <a:solidFill>
                      <a:srgbClr val="E9ECF1"/>
                    </a:solidFill>
                  </a:tcPr>
                </a:tc>
                <a:tc>
                  <a:txBody>
                    <a:bodyPr wrap="square"/>
                    <a:lstStyle/>
                    <a:p>
                      <a:pPr algn="l"/>
                      <a:r>
                        <a:rPr sz="1100" b="1">
                          <a:solidFill>
                            <a:srgbClr val="1F2A44"/>
                          </a:solidFill>
                          <a:latin typeface="Calibri"/>
                        </a:rPr>
                        <a:t>Main formats</a:t>
                      </a:r>
                    </a:p>
                  </a:txBody>
                  <a:tcPr marL="54864" marR="54864" marT="27432" marB="27432">
                    <a:solidFill>
                      <a:srgbClr val="E9ECF1"/>
                    </a:solidFill>
                  </a:tcPr>
                </a:tc>
                <a:tc>
                  <a:txBody>
                    <a:bodyPr wrap="square"/>
                    <a:lstStyle/>
                    <a:p>
                      <a:pPr algn="l"/>
                      <a:r>
                        <a:rPr sz="1100" b="1">
                          <a:solidFill>
                            <a:srgbClr val="1F2A44"/>
                          </a:solidFill>
                          <a:latin typeface="Calibri"/>
                        </a:rPr>
                        <a:t>Proposed action</a:t>
                      </a:r>
                    </a:p>
                  </a:txBody>
                  <a:tcPr marL="54864" marR="54864" marT="27432" marB="27432">
                    <a:solidFill>
                      <a:srgbClr val="E9ECF1"/>
                    </a:solidFill>
                  </a:tcPr>
                </a:tc>
              </a:tr>
              <a:tr h="445008">
                <a:tc>
                  <a:txBody>
                    <a:bodyPr wrap="square"/>
                    <a:lstStyle/>
                    <a:p>
                      <a:pPr algn="l"/>
                      <a:r>
                        <a:rPr sz="1100" b="0">
                          <a:solidFill>
                            <a:srgbClr val="1F2A44"/>
                          </a:solidFill>
                          <a:latin typeface="Calibri"/>
                        </a:rPr>
                        <a:t>Channel12</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96,658</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96,648, .rmd 6, .db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channel06</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96,614</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96,610,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r h="445008">
                <a:tc>
                  <a:txBody>
                    <a:bodyPr wrap="square"/>
                    <a:lstStyle/>
                    <a:p>
                      <a:pPr algn="l"/>
                      <a:r>
                        <a:rPr sz="1100" b="0">
                          <a:solidFill>
                            <a:srgbClr val="1F2A44"/>
                          </a:solidFill>
                          <a:latin typeface="Calibri"/>
                        </a:rPr>
                        <a:t>channel07</a:t>
                      </a:r>
                    </a:p>
                  </a:txBody>
                  <a:tcPr marL="54864" marR="54864" marT="27432" marB="27432">
                    <a:solidFill>
                      <a:srgbClr val="FFFFFF"/>
                    </a:solidFill>
                  </a:tcPr>
                </a:tc>
                <a:tc>
                  <a:txBody>
                    <a:bodyPr wrap="square"/>
                    <a:lstStyle/>
                    <a:p>
                      <a:pPr algn="l"/>
                      <a:r>
                        <a:rPr sz="1100" b="0">
                          <a:solidFill>
                            <a:srgbClr val="1F2A44"/>
                          </a:solidFill>
                          <a:latin typeface="Calibri"/>
                        </a:rPr>
                        <a:t>partial</a:t>
                      </a:r>
                    </a:p>
                  </a:txBody>
                  <a:tcPr marL="54864" marR="54864" marT="27432" marB="27432">
                    <a:solidFill>
                      <a:srgbClr val="FFFFFF"/>
                    </a:solidFill>
                  </a:tcPr>
                </a:tc>
                <a:tc>
                  <a:txBody>
                    <a:bodyPr wrap="square"/>
                    <a:lstStyle/>
                    <a:p>
                      <a:pPr algn="r"/>
                      <a:r>
                        <a:rPr sz="1100" b="0">
                          <a:solidFill>
                            <a:srgbClr val="1F2A44"/>
                          </a:solidFill>
                          <a:latin typeface="Courier New"/>
                        </a:rPr>
                        <a:t>1.93</a:t>
                      </a:r>
                    </a:p>
                  </a:txBody>
                  <a:tcPr marL="54864" marR="54864" marT="27432" marB="27432">
                    <a:solidFill>
                      <a:srgbClr val="FFFFFF"/>
                    </a:solidFill>
                  </a:tcPr>
                </a:tc>
                <a:tc>
                  <a:txBody>
                    <a:bodyPr wrap="square"/>
                    <a:lstStyle/>
                    <a:p>
                      <a:pPr algn="r"/>
                      <a:r>
                        <a:rPr sz="1100" b="0">
                          <a:solidFill>
                            <a:srgbClr val="1F2A44"/>
                          </a:solidFill>
                          <a:latin typeface="Courier New"/>
                        </a:rPr>
                        <a:t>96,606</a:t>
                      </a:r>
                    </a:p>
                  </a:txBody>
                  <a:tcPr marL="54864" marR="54864" marT="27432" marB="27432">
                    <a:solidFill>
                      <a:srgbClr val="FFFFFF"/>
                    </a:solidFill>
                  </a:tcPr>
                </a:tc>
                <a:tc>
                  <a:txBody>
                    <a:bodyPr wrap="square"/>
                    <a:lstStyle/>
                    <a:p>
                      <a:pPr algn="r"/>
                      <a:r>
                        <a:rPr sz="1100" b="0">
                          <a:solidFill>
                            <a:srgbClr val="1F2A44"/>
                          </a:solidFill>
                          <a:latin typeface="Courier New"/>
                        </a:rPr>
                        <a:t>2026-10-02</a:t>
                      </a:r>
                    </a:p>
                  </a:txBody>
                  <a:tcPr marL="54864" marR="54864" marT="27432" marB="27432">
                    <a:solidFill>
                      <a:srgbClr val="FFFFFF"/>
                    </a:solidFill>
                  </a:tcPr>
                </a:tc>
                <a:tc>
                  <a:txBody>
                    <a:bodyPr wrap="square"/>
                    <a:lstStyle/>
                    <a:p>
                      <a:pPr algn="r"/>
                      <a:r>
                        <a:rPr sz="1100" b="0">
                          <a:solidFill>
                            <a:srgbClr val="1F2A44"/>
                          </a:solidFill>
                          <a:latin typeface="Courier New"/>
                        </a:rPr>
                        <a:t>.mp4 96,602, .db 1, .jpg 1</a:t>
                      </a:r>
                    </a:p>
                  </a:txBody>
                  <a:tcPr marL="54864" marR="54864" marT="27432" marB="27432">
                    <a:solidFill>
                      <a:srgbClr val="FFFFFF"/>
                    </a:solidFill>
                  </a:tcPr>
                </a:tc>
                <a:tc>
                  <a:txBody>
                    <a:bodyPr wrap="square"/>
                    <a:lstStyle/>
                    <a:p>
                      <a:pPr algn="r"/>
                      <a:r>
                        <a:rPr sz="1100" b="0">
                          <a:solidFill>
                            <a:srgbClr val="1F2A44"/>
                          </a:solidFill>
                          <a:latin typeface="Courier New"/>
                        </a:rPr>
                        <a:t>fingerprint pass to measure duplication; then tier by channel</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Sizes and dates were recorded; content fingerprints were not, so duplication across the channel shares is not yet measured.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R05: NAS share enumeration census run cr-cf4eef79995b (1,470,663 files, 43.9 TiB)</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04</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Preparation that turns forecast into measurement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ACCESS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90.7% of listed object-store media files sit in buckets the key cannot read</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Access and restore decisions, not new analysis, convert the largest forecast block; refused, unreadable and restore-required buckets are three distinct problems.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DATA CONDITION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Database rows need bounded repair: 81.7% carry empty required-looking fields</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These findings direct preparation work on measured and sampled rows; they do not describe the media content and do not reopen rights.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R01: Estate intelligence census eij-1b359b3cbd2e, digest-verified report (measured 2026-09-29), headline aggregates and per-database measures</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PREPARATION</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Five pieces of work convert forecast into measurement and make the estate usable</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Grant object-read access on 15 refused buckets; the buckets the key cannot read hold 367,222.7 forecast hours.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Decide a restore, with its fee, for 2 archive-class buckets; reconcile the 40 unreachable buckets with the provider.</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Finish the existing samples: 86,601.1 forecast hours sit in readable folders not yet sampled.</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Check model readings with human samples; de-identify or aggregate product inputs, as 71.8% of sampled rows carry personal-data markers.</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2980944"/>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3,178,461</a:t>
                      </a:r>
                    </a:p>
                  </a:txBody>
                  <a:tcPr marL="54864" marR="54864" marT="27432" marB="27432">
                    <a:solidFill>
                      <a:srgbClr val="FFFFFF"/>
                    </a:solidFill>
                  </a:tcPr>
                </a:tc>
                <a:tc>
                  <a:txBody>
                    <a:bodyPr wrap="square"/>
                    <a:lstStyle/>
                    <a:p>
                      <a:pPr algn="r"/>
                      <a:r>
                        <a:rPr sz="1100" b="0">
                          <a:solidFill>
                            <a:srgbClr val="1F2A44"/>
                          </a:solidFill>
                          <a:latin typeface="Courier New"/>
                        </a:rPr>
                        <a:t>86.73</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384,572</a:t>
                      </a:r>
                    </a:p>
                  </a:txBody>
                  <a:tcPr marL="54864" marR="54864" marT="27432" marB="27432">
                    <a:solidFill>
                      <a:srgbClr val="FFFFFF"/>
                    </a:solidFill>
                  </a:tcPr>
                </a:tc>
                <a:tc>
                  <a:txBody>
                    <a:bodyPr wrap="square"/>
                    <a:lstStyle/>
                    <a:p>
                      <a:pPr algn="r"/>
                      <a:r>
                        <a:rPr sz="1100" b="0">
                          <a:solidFill>
                            <a:srgbClr val="1F2A44"/>
                          </a:solidFill>
                          <a:latin typeface="Courier New"/>
                        </a:rPr>
                        <a:t>3.98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238,007</a:t>
                      </a:r>
                    </a:p>
                  </a:txBody>
                  <a:tcPr marL="54864" marR="54864" marT="27432" marB="27432">
                    <a:solidFill>
                      <a:srgbClr val="FFFFFF"/>
                    </a:solidFill>
                  </a:tcPr>
                </a:tc>
                <a:tc>
                  <a:txBody>
                    <a:bodyPr wrap="square"/>
                    <a:lstStyle/>
                    <a:p>
                      <a:pPr algn="r"/>
                      <a:r>
                        <a:rPr sz="1100" b="0">
                          <a:solidFill>
                            <a:srgbClr val="1F2A44"/>
                          </a:solidFill>
                          <a:latin typeface="Courier New"/>
                        </a:rPr>
                        <a:t>3.54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10,750</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14,145</a:t>
                      </a:r>
                    </a:p>
                  </a:txBody>
                  <a:tcPr marL="54864" marR="54864" marT="27432" marB="27432">
                    <a:solidFill>
                      <a:srgbClr val="FFFFFF"/>
                    </a:solidFill>
                  </a:tcPr>
                </a:tc>
                <a:tc>
                  <a:txBody>
                    <a:bodyPr wrap="square"/>
                    <a:lstStyle/>
                    <a:p>
                      <a:pPr algn="r"/>
                      <a:r>
                        <a:rPr sz="1100" b="0">
                          <a:solidFill>
                            <a:srgbClr val="1F2A44"/>
                          </a:solidFill>
                          <a:latin typeface="Courier New"/>
                        </a:rPr>
                        <a:t>3.47</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12,300</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Object-store buckets the census key cannot read — counted, never estimated</a:t>
            </a:r>
          </a:p>
        </p:txBody>
      </p:sp>
      <p:graphicFrame>
        <p:nvGraphicFramePr>
          <p:cNvPr id="4" name="Table 3"/>
          <p:cNvGraphicFramePr>
            <a:graphicFrameLocks noGrp="1"/>
          </p:cNvGraphicFramePr>
          <p:nvPr/>
        </p:nvGraphicFramePr>
        <p:xfrm>
          <a:off x="594360" y="1920240"/>
          <a:ext cx="11002972" cy="1645920"/>
        </p:xfrm>
        <a:graphic>
          <a:graphicData uri="http://schemas.openxmlformats.org/drawingml/2006/table">
            <a:tbl>
              <a:tblPr firstRow="1" bandRow="1">
                <a:tableStyleId>{5C22544A-7EE6-4342-B048-85BDC9FD1C3A}</a:tableStyleId>
              </a:tblPr>
              <a:tblGrid>
                <a:gridCol w="1316595"/>
                <a:gridCol w="2821275"/>
                <a:gridCol w="1316595"/>
                <a:gridCol w="1598722"/>
                <a:gridCol w="3949785"/>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State</a:t>
                      </a:r>
                    </a:p>
                  </a:txBody>
                  <a:tcPr marL="54864" marR="54864" marT="27432" marB="27432">
                    <a:solidFill>
                      <a:srgbClr val="E9ECF1"/>
                    </a:solidFill>
                  </a:tcPr>
                </a:tc>
                <a:tc>
                  <a:txBody>
                    <a:bodyPr wrap="square"/>
                    <a:lstStyle/>
                    <a:p>
                      <a:pPr algn="l"/>
                      <a:r>
                        <a:rPr sz="1100" b="1">
                          <a:solidFill>
                            <a:srgbClr val="1F2A44"/>
                          </a:solidFill>
                          <a:latin typeface="Calibri"/>
                        </a:rPr>
                        <a:t>Media files</a:t>
                      </a:r>
                    </a:p>
                  </a:txBody>
                  <a:tcPr marL="54864" marR="54864" marT="27432" marB="27432">
                    <a:solidFill>
                      <a:srgbClr val="E9ECF1"/>
                    </a:solidFill>
                  </a:tcPr>
                </a:tc>
                <a:tc>
                  <a:txBody>
                    <a:bodyPr wrap="square"/>
                    <a:lstStyle/>
                    <a:p>
                      <a:pPr algn="l"/>
                      <a:r>
                        <a:rPr sz="1100" b="1">
                          <a:solidFill>
                            <a:srgbClr val="1F2A44"/>
                          </a:solidFill>
                          <a:latin typeface="Calibri"/>
                        </a:rPr>
                        <a:t>Media bytes (TiB)</a:t>
                      </a:r>
                    </a:p>
                  </a:txBody>
                  <a:tcPr marL="54864" marR="54864" marT="27432" marB="27432">
                    <a:solidFill>
                      <a:srgbClr val="E9ECF1"/>
                    </a:solidFill>
                  </a:tcPr>
                </a:tc>
                <a:tc>
                  <a:txBody>
                    <a:bodyPr wrap="square"/>
                    <a:lstStyle/>
                    <a:p>
                      <a:pPr algn="l"/>
                      <a:r>
                        <a:rPr sz="1100" b="1">
                          <a:solidFill>
                            <a:srgbClr val="1F2A44"/>
                          </a:solidFill>
                          <a:latin typeface="Calibri"/>
                        </a:rPr>
                        <a:t>Action required</a:t>
                      </a:r>
                    </a:p>
                  </a:txBody>
                  <a:tcPr marL="54864" marR="54864" marT="27432" marB="27432">
                    <a:solidFill>
                      <a:srgbClr val="E9ECF1"/>
                    </a:solidFill>
                  </a:tcPr>
                </a:tc>
              </a:tr>
              <a:tr h="445008">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20,559</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23,080</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r h="445008">
                <a:tc>
                  <a:txBody>
                    <a:bodyPr wrap="square"/>
                    <a:lstStyle/>
                    <a:p>
                      <a:pPr algn="l"/>
                      <a:r>
                        <a:rPr sz="1100" b="0">
                          <a:solidFill>
                            <a:srgbClr val="1F2A44"/>
                          </a:solidFill>
                          <a:latin typeface="Calibri"/>
                        </a:rPr>
                        <a:t>na7p43d3</a:t>
                      </a:r>
                    </a:p>
                  </a:txBody>
                  <a:tcPr marL="54864" marR="54864" marT="27432" marB="27432">
                    <a:solidFill>
                      <a:srgbClr val="FFFFFF"/>
                    </a:solidFill>
                  </a:tcPr>
                </a:tc>
                <a:tc>
                  <a:txBody>
                    <a:bodyPr wrap="square"/>
                    <a:lstStyle/>
                    <a:p>
                      <a:pPr algn="l"/>
                      <a:r>
                        <a:rPr sz="1100" b="0">
                          <a:solidFill>
                            <a:srgbClr val="1F2A44"/>
                          </a:solidFill>
                          <a:latin typeface="Calibri"/>
                        </a:rPr>
                        <a:t>key refused (403 AccessDenied)</a:t>
                      </a:r>
                    </a:p>
                  </a:txBody>
                  <a:tcPr marL="54864" marR="54864" marT="27432" marB="27432">
                    <a:solidFill>
                      <a:srgbClr val="FFFFFF"/>
                    </a:solidFill>
                  </a:tcPr>
                </a:tc>
                <a:tc>
                  <a:txBody>
                    <a:bodyPr wrap="square"/>
                    <a:lstStyle/>
                    <a:p>
                      <a:pPr algn="r"/>
                      <a:r>
                        <a:rPr sz="1100" b="0">
                          <a:solidFill>
                            <a:srgbClr val="1F2A44"/>
                          </a:solidFill>
                          <a:latin typeface="Courier New"/>
                        </a:rPr>
                        <a:t>13,318</a:t>
                      </a:r>
                    </a:p>
                  </a:txBody>
                  <a:tcPr marL="54864" marR="54864" marT="27432" marB="27432">
                    <a:solidFill>
                      <a:srgbClr val="FFFFFF"/>
                    </a:solidFill>
                  </a:tcPr>
                </a:tc>
                <a:tc>
                  <a:txBody>
                    <a:bodyPr wrap="square"/>
                    <a:lstStyle/>
                    <a:p>
                      <a:pPr algn="r"/>
                      <a:r>
                        <a:rPr sz="1100" b="0">
                          <a:solidFill>
                            <a:srgbClr val="1F2A44"/>
                          </a:solidFill>
                          <a:latin typeface="Courier New"/>
                        </a:rPr>
                        <a:t>2.9</a:t>
                      </a:r>
                    </a:p>
                  </a:txBody>
                  <a:tcPr marL="54864" marR="54864" marT="27432" marB="27432">
                    <a:solidFill>
                      <a:srgbClr val="FFFFFF"/>
                    </a:solidFill>
                  </a:tcPr>
                </a:tc>
                <a:tc>
                  <a:txBody>
                    <a:bodyPr wrap="square"/>
                    <a:lstStyle/>
                    <a:p>
                      <a:pPr algn="r"/>
                      <a:r>
                        <a:rPr sz="1100" b="0">
                          <a:solidFill>
                            <a:srgbClr val="1F2A44"/>
                          </a:solidFill>
                          <a:latin typeface="Courier New"/>
                        </a:rPr>
                        <a:t>grant obs:object:GetObject to the census key (IAM or bucket policy)</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Denied and restore-required buckets are listed separately.</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Sampling coverage and what would improve this baseline</a:t>
            </a:r>
          </a:p>
        </p:txBody>
      </p:sp>
      <p:graphicFrame>
        <p:nvGraphicFramePr>
          <p:cNvPr id="4" name="Table 3"/>
          <p:cNvGraphicFramePr>
            <a:graphicFrameLocks noGrp="1"/>
          </p:cNvGraphicFramePr>
          <p:nvPr/>
        </p:nvGraphicFramePr>
        <p:xfrm>
          <a:off x="594360" y="1920240"/>
          <a:ext cx="11002972" cy="1792224"/>
        </p:xfrm>
        <a:graphic>
          <a:graphicData uri="http://schemas.openxmlformats.org/drawingml/2006/table">
            <a:tbl>
              <a:tblPr firstRow="1" bandRow="1">
                <a:tableStyleId>{5C22544A-7EE6-4342-B048-85BDC9FD1C3A}</a:tableStyleId>
              </a:tblPr>
              <a:tblGrid>
                <a:gridCol w="1141049"/>
                <a:gridCol w="1467063"/>
                <a:gridCol w="1141049"/>
                <a:gridCol w="1711573"/>
                <a:gridCol w="2119091"/>
                <a:gridCol w="3423147"/>
              </a:tblGrid>
              <a:tr h="475488">
                <a:tc>
                  <a:txBody>
                    <a:bodyPr wrap="square"/>
                    <a:lstStyle/>
                    <a:p>
                      <a:pPr algn="l"/>
                      <a:r>
                        <a:rPr sz="1200" b="1">
                          <a:solidFill>
                            <a:srgbClr val="1F2A44"/>
                          </a:solidFill>
                          <a:latin typeface="Calibri"/>
                        </a:rPr>
                        <a:t>Store</a:t>
                      </a:r>
                    </a:p>
                  </a:txBody>
                  <a:tcPr marL="54864" marR="54864" marT="27432" marB="27432">
                    <a:solidFill>
                      <a:srgbClr val="E9ECF1"/>
                    </a:solidFill>
                  </a:tcPr>
                </a:tc>
                <a:tc>
                  <a:txBody>
                    <a:bodyPr wrap="square"/>
                    <a:lstStyle/>
                    <a:p>
                      <a:pPr algn="l"/>
                      <a:r>
                        <a:rPr sz="1200" b="1">
                          <a:solidFill>
                            <a:srgbClr val="1F2A44"/>
                          </a:solidFill>
                          <a:latin typeface="Calibri"/>
                        </a:rPr>
                        <a:t>Media files listed</a:t>
                      </a:r>
                    </a:p>
                  </a:txBody>
                  <a:tcPr marL="54864" marR="54864" marT="27432" marB="27432">
                    <a:solidFill>
                      <a:srgbClr val="E9ECF1"/>
                    </a:solidFill>
                  </a:tcPr>
                </a:tc>
                <a:tc>
                  <a:txBody>
                    <a:bodyPr wrap="square"/>
                    <a:lstStyle/>
                    <a:p>
                      <a:pPr algn="l"/>
                      <a:r>
                        <a:rPr sz="1200" b="1">
                          <a:solidFill>
                            <a:srgbClr val="1F2A44"/>
                          </a:solidFill>
                          <a:latin typeface="Calibri"/>
                        </a:rPr>
                        <a:t>Headers probed</a:t>
                      </a:r>
                    </a:p>
                  </a:txBody>
                  <a:tcPr marL="54864" marR="54864" marT="27432" marB="27432">
                    <a:solidFill>
                      <a:srgbClr val="E9ECF1"/>
                    </a:solidFill>
                  </a:tcPr>
                </a:tc>
                <a:tc>
                  <a:txBody>
                    <a:bodyPr wrap="square"/>
                    <a:lstStyle/>
                    <a:p>
                      <a:pPr algn="l"/>
                      <a:r>
                        <a:rPr sz="1200" b="1">
                          <a:solidFill>
                            <a:srgbClr val="1F2A44"/>
                          </a:solidFill>
                          <a:latin typeface="Calibri"/>
                        </a:rPr>
                        <a:t>Sample read / planned</a:t>
                      </a:r>
                    </a:p>
                  </a:txBody>
                  <a:tcPr marL="54864" marR="54864" marT="27432" marB="27432">
                    <a:solidFill>
                      <a:srgbClr val="E9ECF1"/>
                    </a:solidFill>
                  </a:tcPr>
                </a:tc>
                <a:tc>
                  <a:txBody>
                    <a:bodyPr wrap="square"/>
                    <a:lstStyle/>
                    <a:p>
                      <a:pPr algn="l"/>
                      <a:r>
                        <a:rPr sz="1200" b="1">
                          <a:solidFill>
                            <a:srgbClr val="1F2A44"/>
                          </a:solidFill>
                          <a:latin typeface="Calibri"/>
                        </a:rPr>
                        <a:t>Header / sample completion</a:t>
                      </a:r>
                    </a:p>
                  </a:txBody>
                  <a:tcPr marL="54864" marR="54864" marT="27432" marB="27432">
                    <a:solidFill>
                      <a:srgbClr val="E9ECF1"/>
                    </a:solidFill>
                  </a:tcPr>
                </a:tc>
                <a:tc>
                  <a:txBody>
                    <a:bodyPr wrap="square"/>
                    <a:lstStyle/>
                    <a:p>
                      <a:pPr algn="l"/>
                      <a:r>
                        <a:rPr sz="1200" b="1">
                          <a:solidFill>
                            <a:srgbClr val="1F2A44"/>
                          </a:solidFill>
                          <a:latin typeface="Calibri"/>
                        </a:rPr>
                        <a:t>Next evidence step</a:t>
                      </a:r>
                    </a:p>
                  </a:txBody>
                  <a:tcPr marL="54864" marR="54864" marT="27432" marB="27432">
                    <a:solidFill>
                      <a:srgbClr val="E9ECF1"/>
                    </a:solidFill>
                  </a:tcPr>
                </a:tc>
              </a:tr>
              <a:tr h="658368">
                <a:tc>
                  <a:txBody>
                    <a:bodyPr wrap="square"/>
                    <a:lstStyle/>
                    <a:p>
                      <a:pPr algn="l"/>
                      <a:r>
                        <a:rPr sz="1200" b="0">
                          <a:solidFill>
                            <a:srgbClr val="1F2A44"/>
                          </a:solidFill>
                          <a:latin typeface="Calibri"/>
                        </a:rPr>
                        <a:t>OBS</a:t>
                      </a:r>
                    </a:p>
                  </a:txBody>
                  <a:tcPr marL="54864" marR="54864" marT="27432" marB="27432">
                    <a:solidFill>
                      <a:srgbClr val="FFFFFF"/>
                    </a:solidFill>
                  </a:tcPr>
                </a:tc>
                <a:tc>
                  <a:txBody>
                    <a:bodyPr wrap="square"/>
                    <a:lstStyle/>
                    <a:p>
                      <a:pPr algn="l"/>
                      <a:r>
                        <a:rPr sz="1200" b="0">
                          <a:solidFill>
                            <a:srgbClr val="1F2A44"/>
                          </a:solidFill>
                          <a:latin typeface="Calibri"/>
                        </a:rPr>
                        <a:t>4,601,133</a:t>
                      </a:r>
                    </a:p>
                  </a:txBody>
                  <a:tcPr marL="54864" marR="54864" marT="27432" marB="27432">
                    <a:solidFill>
                      <a:srgbClr val="FFFFFF"/>
                    </a:solidFill>
                  </a:tcPr>
                </a:tc>
                <a:tc>
                  <a:txBody>
                    <a:bodyPr wrap="square"/>
                    <a:lstStyle/>
                    <a:p>
                      <a:pPr algn="l"/>
                      <a:r>
                        <a:rPr sz="1200" b="0">
                          <a:solidFill>
                            <a:srgbClr val="1F2A44"/>
                          </a:solidFill>
                          <a:latin typeface="Calibri"/>
                        </a:rPr>
                        <a:t>273,981</a:t>
                      </a:r>
                    </a:p>
                  </a:txBody>
                  <a:tcPr marL="54864" marR="54864" marT="27432" marB="27432">
                    <a:solidFill>
                      <a:srgbClr val="FFFFFF"/>
                    </a:solidFill>
                  </a:tcPr>
                </a:tc>
                <a:tc>
                  <a:txBody>
                    <a:bodyPr wrap="square"/>
                    <a:lstStyle/>
                    <a:p>
                      <a:pPr algn="l"/>
                      <a:r>
                        <a:rPr sz="1200" b="0">
                          <a:solidFill>
                            <a:srgbClr val="1F2A44"/>
                          </a:solidFill>
                          <a:latin typeface="Calibri"/>
                        </a:rPr>
                        <a:t>32,239 / 32,349</a:t>
                      </a:r>
                    </a:p>
                  </a:txBody>
                  <a:tcPr marL="54864" marR="54864" marT="27432" marB="27432">
                    <a:solidFill>
                      <a:srgbClr val="FFFFFF"/>
                    </a:solidFill>
                  </a:tcPr>
                </a:tc>
                <a:tc>
                  <a:txBody>
                    <a:bodyPr wrap="square"/>
                    <a:lstStyle/>
                    <a:p>
                      <a:pPr algn="l"/>
                      <a:r>
                        <a:rPr sz="1200" b="0">
                          <a:solidFill>
                            <a:srgbClr val="1F2A44"/>
                          </a:solidFill>
                          <a:latin typeface="Calibri"/>
                        </a:rPr>
                        <a:t>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r h="658368">
                <a:tc>
                  <a:txBody>
                    <a:bodyPr wrap="square"/>
                    <a:lstStyle/>
                    <a:p>
                      <a:pPr algn="l"/>
                      <a:r>
                        <a:rPr sz="1200" b="0">
                          <a:solidFill>
                            <a:srgbClr val="1F2A44"/>
                          </a:solidFill>
                          <a:latin typeface="Calibri"/>
                        </a:rPr>
                        <a:t>NAS</a:t>
                      </a:r>
                    </a:p>
                  </a:txBody>
                  <a:tcPr marL="54864" marR="54864" marT="27432" marB="27432">
                    <a:solidFill>
                      <a:srgbClr val="FFFFFF"/>
                    </a:solidFill>
                  </a:tcPr>
                </a:tc>
                <a:tc>
                  <a:txBody>
                    <a:bodyPr wrap="square"/>
                    <a:lstStyle/>
                    <a:p>
                      <a:pPr algn="l"/>
                      <a:r>
                        <a:rPr sz="1200" b="0">
                          <a:solidFill>
                            <a:srgbClr val="1F2A44"/>
                          </a:solidFill>
                          <a:latin typeface="Calibri"/>
                        </a:rPr>
                        <a:t>1,224,886</a:t>
                      </a:r>
                    </a:p>
                  </a:txBody>
                  <a:tcPr marL="54864" marR="54864" marT="27432" marB="27432">
                    <a:solidFill>
                      <a:srgbClr val="FFFFFF"/>
                    </a:solidFill>
                  </a:tcPr>
                </a:tc>
                <a:tc>
                  <a:txBody>
                    <a:bodyPr wrap="square"/>
                    <a:lstStyle/>
                    <a:p>
                      <a:pPr algn="l"/>
                      <a:r>
                        <a:rPr sz="1200" b="0">
                          <a:solidFill>
                            <a:srgbClr val="1F2A44"/>
                          </a:solidFill>
                          <a:latin typeface="Calibri"/>
                        </a:rPr>
                        <a:t>8,670</a:t>
                      </a:r>
                    </a:p>
                  </a:txBody>
                  <a:tcPr marL="54864" marR="54864" marT="27432" marB="27432">
                    <a:solidFill>
                      <a:srgbClr val="FFFFFF"/>
                    </a:solidFill>
                  </a:tcPr>
                </a:tc>
                <a:tc>
                  <a:txBody>
                    <a:bodyPr wrap="square"/>
                    <a:lstStyle/>
                    <a:p>
                      <a:pPr algn="l"/>
                      <a:r>
                        <a:rPr sz="1200" b="0">
                          <a:solidFill>
                            <a:srgbClr val="1F2A44"/>
                          </a:solidFill>
                          <a:latin typeface="Calibri"/>
                        </a:rPr>
                        <a:t>519 / 15,413</a:t>
                      </a:r>
                    </a:p>
                  </a:txBody>
                  <a:tcPr marL="54864" marR="54864" marT="27432" marB="27432">
                    <a:solidFill>
                      <a:srgbClr val="FFFFFF"/>
                    </a:solidFill>
                  </a:tcPr>
                </a:tc>
                <a:tc>
                  <a:txBody>
                    <a:bodyPr wrap="square"/>
                    <a:lstStyle/>
                    <a:p>
                      <a:pPr algn="l"/>
                      <a:r>
                        <a:rPr sz="1200" b="0">
                          <a:solidFill>
                            <a:srgbClr val="1F2A44"/>
                          </a:solidFill>
                          <a:latin typeface="Calibri"/>
                        </a:rPr>
                        <a:t>incomplete / incomplete</a:t>
                      </a:r>
                    </a:p>
                  </a:txBody>
                  <a:tcPr marL="54864" marR="54864" marT="27432" marB="27432">
                    <a:solidFill>
                      <a:srgbClr val="FFFFFF"/>
                    </a:solidFill>
                  </a:tcPr>
                </a:tc>
                <a:tc>
                  <a:txBody>
                    <a:bodyPr wrap="square"/>
                    <a:lstStyle/>
                    <a:p>
                      <a:pPr algn="l"/>
                      <a:r>
                        <a:rPr sz="1200" b="0">
                          <a:solidFill>
                            <a:srgbClr val="1F2A44"/>
                          </a:solidFill>
                          <a:latin typeface="Calibri"/>
                        </a:rPr>
                        <a:t>Finish accessible-folder samples; target wide intervals; independently check model labels and duration estimates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Listed media, files with header probes and files read in full are different populations.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How the forecast was built — the donor folders by media kind</a:t>
            </a:r>
          </a:p>
        </p:txBody>
      </p:sp>
      <p:graphicFrame>
        <p:nvGraphicFramePr>
          <p:cNvPr id="4" name="Table 3"/>
          <p:cNvGraphicFramePr>
            <a:graphicFrameLocks noGrp="1"/>
          </p:cNvGraphicFramePr>
          <p:nvPr/>
        </p:nvGraphicFramePr>
        <p:xfrm>
          <a:off x="594360" y="1920240"/>
          <a:ext cx="11002973" cy="932688"/>
        </p:xfrm>
        <a:graphic>
          <a:graphicData uri="http://schemas.openxmlformats.org/drawingml/2006/table">
            <a:tbl>
              <a:tblPr firstRow="1" bandRow="1">
                <a:tableStyleId>{5C22544A-7EE6-4342-B048-85BDC9FD1C3A}</a:tableStyleId>
              </a:tblPr>
              <a:tblGrid>
                <a:gridCol w="1540416"/>
                <a:gridCol w="1540416"/>
                <a:gridCol w="1540416"/>
                <a:gridCol w="3300892"/>
                <a:gridCol w="3080833"/>
              </a:tblGrid>
              <a:tr h="310896">
                <a:tc>
                  <a:txBody>
                    <a:bodyPr wrap="square"/>
                    <a:lstStyle/>
                    <a:p>
                      <a:pPr algn="l"/>
                      <a:r>
                        <a:rPr sz="1200" b="1">
                          <a:solidFill>
                            <a:srgbClr val="1F2A44"/>
                          </a:solidFill>
                          <a:latin typeface="Calibri"/>
                        </a:rPr>
                        <a:t>Media kind</a:t>
                      </a:r>
                    </a:p>
                  </a:txBody>
                  <a:tcPr marL="54864" marR="54864" marT="27432" marB="27432">
                    <a:solidFill>
                      <a:srgbClr val="E9ECF1"/>
                    </a:solidFill>
                  </a:tcPr>
                </a:tc>
                <a:tc>
                  <a:txBody>
                    <a:bodyPr wrap="square"/>
                    <a:lstStyle/>
                    <a:p>
                      <a:pPr algn="l"/>
                      <a:r>
                        <a:rPr sz="1200" b="1">
                          <a:solidFill>
                            <a:srgbClr val="1F2A44"/>
                          </a:solidFill>
                          <a:latin typeface="Calibri"/>
                        </a:rPr>
                        <a:t>Donor strata</a:t>
                      </a:r>
                    </a:p>
                  </a:txBody>
                  <a:tcPr marL="54864" marR="54864" marT="27432" marB="27432">
                    <a:solidFill>
                      <a:srgbClr val="E9ECF1"/>
                    </a:solidFill>
                  </a:tcPr>
                </a:tc>
                <a:tc>
                  <a:txBody>
                    <a:bodyPr wrap="square"/>
                    <a:lstStyle/>
                    <a:p>
                      <a:pPr algn="l"/>
                      <a:r>
                        <a:rPr sz="1200" b="1">
                          <a:solidFill>
                            <a:srgbClr val="1F2A44"/>
                          </a:solidFill>
                          <a:latin typeface="Calibri"/>
                        </a:rPr>
                        <a:t>Donor files</a:t>
                      </a:r>
                    </a:p>
                  </a:txBody>
                  <a:tcPr marL="54864" marR="54864" marT="27432" marB="27432">
                    <a:solidFill>
                      <a:srgbClr val="E9ECF1"/>
                    </a:solidFill>
                  </a:tcPr>
                </a:tc>
                <a:tc>
                  <a:txBody>
                    <a:bodyPr wrap="square"/>
                    <a:lstStyle/>
                    <a:p>
                      <a:pPr algn="l"/>
                      <a:r>
                        <a:rPr sz="1200" b="1">
                          <a:solidFill>
                            <a:srgbClr val="1F2A44"/>
                          </a:solidFill>
                          <a:latin typeface="Calibri"/>
                        </a:rPr>
                        <a:t>Seconds per MB (10th–90th pct)</a:t>
                      </a:r>
                    </a:p>
                  </a:txBody>
                  <a:tcPr marL="54864" marR="54864" marT="27432" marB="27432">
                    <a:solidFill>
                      <a:srgbClr val="E9ECF1"/>
                    </a:solidFill>
                  </a:tcPr>
                </a:tc>
                <a:tc>
                  <a:txBody>
                    <a:bodyPr wrap="square"/>
                    <a:lstStyle/>
                    <a:p>
                      <a:pPr algn="l"/>
                      <a:r>
                        <a:rPr sz="1200" b="1">
                          <a:solidFill>
                            <a:srgbClr val="1F2A44"/>
                          </a:solidFill>
                          <a:latin typeface="Calibri"/>
                        </a:rPr>
                        <a:t>Speech share (10th–90th pct)</a:t>
                      </a:r>
                    </a:p>
                  </a:txBody>
                  <a:tcPr marL="54864" marR="54864" marT="27432" marB="27432">
                    <a:solidFill>
                      <a:srgbClr val="E9ECF1"/>
                    </a:solidFill>
                  </a:tcPr>
                </a:tc>
              </a:tr>
              <a:tr h="310896">
                <a:tc>
                  <a:txBody>
                    <a:bodyPr wrap="square"/>
                    <a:lstStyle/>
                    <a:p>
                      <a:pPr algn="l"/>
                      <a:r>
                        <a:rPr sz="1200" b="0">
                          <a:solidFill>
                            <a:srgbClr val="1F2A44"/>
                          </a:solidFill>
                          <a:latin typeface="Calibri"/>
                        </a:rPr>
                        <a:t>audio</a:t>
                      </a:r>
                    </a:p>
                  </a:txBody>
                  <a:tcPr marL="54864" marR="54864" marT="27432" marB="27432">
                    <a:solidFill>
                      <a:srgbClr val="FFFFFF"/>
                    </a:solidFill>
                  </a:tcPr>
                </a:tc>
                <a:tc>
                  <a:txBody>
                    <a:bodyPr wrap="square"/>
                    <a:lstStyle/>
                    <a:p>
                      <a:pPr algn="r"/>
                      <a:r>
                        <a:rPr sz="1200" b="0">
                          <a:solidFill>
                            <a:srgbClr val="1F2A44"/>
                          </a:solidFill>
                          <a:latin typeface="Courier New"/>
                        </a:rPr>
                        <a:t>54</a:t>
                      </a:r>
                    </a:p>
                  </a:txBody>
                  <a:tcPr marL="54864" marR="54864" marT="27432" marB="27432">
                    <a:solidFill>
                      <a:srgbClr val="FFFFFF"/>
                    </a:solidFill>
                  </a:tcPr>
                </a:tc>
                <a:tc>
                  <a:txBody>
                    <a:bodyPr wrap="square"/>
                    <a:lstStyle/>
                    <a:p>
                      <a:pPr algn="r"/>
                      <a:r>
                        <a:rPr sz="1200" b="0">
                          <a:solidFill>
                            <a:srgbClr val="1F2A44"/>
                          </a:solidFill>
                          <a:latin typeface="Courier New"/>
                        </a:rPr>
                        <a:t>239,732</a:t>
                      </a:r>
                    </a:p>
                  </a:txBody>
                  <a:tcPr marL="54864" marR="54864" marT="27432" marB="27432">
                    <a:solidFill>
                      <a:srgbClr val="FFFFFF"/>
                    </a:solidFill>
                  </a:tcPr>
                </a:tc>
                <a:tc>
                  <a:txBody>
                    <a:bodyPr wrap="square"/>
                    <a:lstStyle/>
                    <a:p>
                      <a:pPr algn="r"/>
                      <a:r>
                        <a:rPr sz="1200" b="0">
                          <a:solidFill>
                            <a:srgbClr val="1F2A44"/>
                          </a:solidFill>
                          <a:latin typeface="Courier New"/>
                        </a:rPr>
                        <a:t>5.67–249.97</a:t>
                      </a:r>
                    </a:p>
                  </a:txBody>
                  <a:tcPr marL="54864" marR="54864" marT="27432" marB="27432">
                    <a:solidFill>
                      <a:srgbClr val="FFFFFF"/>
                    </a:solidFill>
                  </a:tcPr>
                </a:tc>
                <a:tc>
                  <a:txBody>
                    <a:bodyPr wrap="square"/>
                    <a:lstStyle/>
                    <a:p>
                      <a:pPr algn="r"/>
                      <a:r>
                        <a:rPr sz="1200" b="0">
                          <a:solidFill>
                            <a:srgbClr val="1F2A44"/>
                          </a:solidFill>
                          <a:latin typeface="Courier New"/>
                        </a:rPr>
                        <a:t>12.4%–88.8%</a:t>
                      </a:r>
                    </a:p>
                  </a:txBody>
                  <a:tcPr marL="54864" marR="54864" marT="27432" marB="27432">
                    <a:solidFill>
                      <a:srgbClr val="FFFFFF"/>
                    </a:solidFill>
                  </a:tcPr>
                </a:tc>
              </a:tr>
              <a:tr h="310896">
                <a:tc>
                  <a:txBody>
                    <a:bodyPr wrap="square"/>
                    <a:lstStyle/>
                    <a:p>
                      <a:pPr algn="l"/>
                      <a:r>
                        <a:rPr sz="1200" b="0">
                          <a:solidFill>
                            <a:srgbClr val="1F2A44"/>
                          </a:solidFill>
                          <a:latin typeface="Calibri"/>
                        </a:rPr>
                        <a:t>video</a:t>
                      </a:r>
                    </a:p>
                  </a:txBody>
                  <a:tcPr marL="54864" marR="54864" marT="27432" marB="27432">
                    <a:solidFill>
                      <a:srgbClr val="FFFFFF"/>
                    </a:solidFill>
                  </a:tcPr>
                </a:tc>
                <a:tc>
                  <a:txBody>
                    <a:bodyPr wrap="square"/>
                    <a:lstStyle/>
                    <a:p>
                      <a:pPr algn="r"/>
                      <a:r>
                        <a:rPr sz="1200" b="0">
                          <a:solidFill>
                            <a:srgbClr val="1F2A44"/>
                          </a:solidFill>
                          <a:latin typeface="Courier New"/>
                        </a:rPr>
                        <a:t>157</a:t>
                      </a:r>
                    </a:p>
                  </a:txBody>
                  <a:tcPr marL="54864" marR="54864" marT="27432" marB="27432">
                    <a:solidFill>
                      <a:srgbClr val="FFFFFF"/>
                    </a:solidFill>
                  </a:tcPr>
                </a:tc>
                <a:tc>
                  <a:txBody>
                    <a:bodyPr wrap="square"/>
                    <a:lstStyle/>
                    <a:p>
                      <a:pPr algn="r"/>
                      <a:r>
                        <a:rPr sz="1200" b="0">
                          <a:solidFill>
                            <a:srgbClr val="1F2A44"/>
                          </a:solidFill>
                          <a:latin typeface="Courier New"/>
                        </a:rPr>
                        <a:t>189,356</a:t>
                      </a:r>
                    </a:p>
                  </a:txBody>
                  <a:tcPr marL="54864" marR="54864" marT="27432" marB="27432">
                    <a:solidFill>
                      <a:srgbClr val="FFFFFF"/>
                    </a:solidFill>
                  </a:tcPr>
                </a:tc>
                <a:tc>
                  <a:txBody>
                    <a:bodyPr wrap="square"/>
                    <a:lstStyle/>
                    <a:p>
                      <a:pPr algn="r"/>
                      <a:r>
                        <a:rPr sz="1200" b="0">
                          <a:solidFill>
                            <a:srgbClr val="1F2A44"/>
                          </a:solidFill>
                          <a:latin typeface="Courier New"/>
                        </a:rPr>
                        <a:t>2.09–16.54</a:t>
                      </a:r>
                    </a:p>
                  </a:txBody>
                  <a:tcPr marL="54864" marR="54864" marT="27432" marB="27432">
                    <a:solidFill>
                      <a:srgbClr val="FFFFFF"/>
                    </a:solidFill>
                  </a:tcPr>
                </a:tc>
                <a:tc>
                  <a:txBody>
                    <a:bodyPr wrap="square"/>
                    <a:lstStyle/>
                    <a:p>
                      <a:pPr algn="r"/>
                      <a:r>
                        <a:rPr sz="1200" b="0">
                          <a:solidFill>
                            <a:srgbClr val="1F2A44"/>
                          </a:solidFill>
                          <a:latin typeface="Courier New"/>
                        </a:rPr>
                        <a:t>7.5%–81.1%</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2,000 seeded simulations over 1,334 folder strata.</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R11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05</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Paths that earn or save money first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SAVINGS SCALE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Archive tiering addresses the largest share of reclaimable bytes; the rest are small</a:t>
            </a:r>
          </a:p>
        </p:txBody>
      </p:sp>
      <p:graphicFrame>
        <p:nvGraphicFramePr>
          <p:cNvPr id="4" name="Chart 3"/>
          <p:cNvGraphicFramePr>
            <a:graphicFrameLocks noGrp="1"/>
          </p:cNvGraphicFramePr>
          <p:nvPr/>
        </p:nvGraphicFramePr>
        <p:xfrm>
          <a:off x="594360" y="1920240"/>
          <a:ext cx="11002975" cy="3394252"/>
        </p:xfrm>
        <a:graphic>
          <a:graphicData uri="http://schemas.openxmlformats.org/drawingml/2006/chart">
            <c:chart xmlns:c="http://schemas.openxmlformats.org/drawingml/2006/chart" r:id="rId2"/>
          </a:graphicData>
        </a:graphic>
      </p:graphicFrame>
      <p:sp>
        <p:nvSpPr>
          <p:cNvPr id="5" name="TextBox 4"/>
          <p:cNvSpPr txBox="1"/>
          <p:nvPr/>
        </p:nvSpPr>
        <p:spPr>
          <a:xfrm>
            <a:off x="594360" y="5314492"/>
            <a:ext cx="8206740" cy="376732"/>
          </a:xfrm>
          <a:prstGeom prst="rect">
            <a:avLst/>
          </a:prstGeom>
          <a:noFill/>
        </p:spPr>
        <p:txBody>
          <a:bodyPr wrap="square" lIns="0" rIns="0" tIns="0" bIns="0" anchor="b">
            <a:spAutoFit/>
          </a:bodyPr>
          <a:lstStyle/>
          <a:p>
            <a:pPr algn="l"/>
            <a:r>
              <a:rPr sz="1400" b="0" i="1">
                <a:solidFill>
                  <a:srgbClr val="C8102E"/>
                </a:solidFill>
                <a:latin typeface="Calibri"/>
              </a:rPr>
              <a:t>Prioritise tiering and duplicate candidates first; strategy totals overlap and measure bytes addressed, not bytes deleted or net savings.</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EARN AND SAVE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Archive tiering, duplicate reconciliation and table tiering differ sharply in scale</a:t>
            </a:r>
          </a:p>
        </p:txBody>
      </p:sp>
      <p:graphicFrame>
        <p:nvGraphicFramePr>
          <p:cNvPr id="4" name="Table 3"/>
          <p:cNvGraphicFramePr>
            <a:graphicFrameLocks noGrp="1"/>
          </p:cNvGraphicFramePr>
          <p:nvPr/>
        </p:nvGraphicFramePr>
        <p:xfrm>
          <a:off x="594360" y="1920240"/>
          <a:ext cx="11002975" cy="1371600"/>
        </p:xfrm>
        <a:graphic>
          <a:graphicData uri="http://schemas.openxmlformats.org/drawingml/2006/table">
            <a:tbl>
              <a:tblPr firstRow="1" bandRow="1">
                <a:tableStyleId>{5C22544A-7EE6-4342-B048-85BDC9FD1C3A}</a:tableStyleId>
              </a:tblPr>
              <a:tblGrid>
                <a:gridCol w="3080833"/>
                <a:gridCol w="2640714"/>
                <a:gridCol w="2640714"/>
                <a:gridCol w="2640714"/>
              </a:tblGrid>
              <a:tr h="457200">
                <a:tc>
                  <a:txBody>
                    <a:bodyPr wrap="square"/>
                    <a:lstStyle/>
                    <a:p>
                      <a:pPr algn="l"/>
                      <a:r>
                        <a:rPr sz="1300" b="0">
                          <a:solidFill>
                            <a:srgbClr val="1F2A44"/>
                          </a:solidFill>
                          <a:latin typeface="Calibri"/>
                        </a:rPr>
                        <a:t/>
                      </a:r>
                    </a:p>
                  </a:txBody>
                  <a:tcPr marL="73152" marR="73152">
                    <a:solidFill>
                      <a:srgbClr val="E9ECF1"/>
                    </a:solidFill>
                  </a:tcPr>
                </a:tc>
                <a:tc>
                  <a:txBody>
                    <a:bodyPr wrap="square"/>
                    <a:lstStyle/>
                    <a:p>
                      <a:pPr algn="l"/>
                      <a:r>
                        <a:rPr sz="1300" b="1">
                          <a:solidFill>
                            <a:srgbClr val="1F2A44"/>
                          </a:solidFill>
                          <a:latin typeface="Calibri"/>
                        </a:rPr>
                        <a:t>Move buckets not written for over a year to archive-class st</a:t>
                      </a:r>
                    </a:p>
                  </a:txBody>
                  <a:tcPr marL="73152" marR="73152">
                    <a:solidFill>
                      <a:srgbClr val="E9ECF1"/>
                    </a:solidFill>
                  </a:tcPr>
                </a:tc>
                <a:tc>
                  <a:txBody>
                    <a:bodyPr wrap="square"/>
                    <a:lstStyle/>
                    <a:p>
                      <a:pPr algn="l"/>
                      <a:r>
                        <a:rPr sz="1300" b="1">
                          <a:solidFill>
                            <a:srgbClr val="1F2A44"/>
                          </a:solidFill>
                          <a:latin typeface="Calibri"/>
                        </a:rPr>
                        <a:t>Reconcile duplicate objects across OBS buckets</a:t>
                      </a:r>
                    </a:p>
                  </a:txBody>
                  <a:tcPr marL="73152" marR="73152">
                    <a:solidFill>
                      <a:srgbClr val="E9ECF1"/>
                    </a:solidFill>
                  </a:tcPr>
                </a:tc>
                <a:tc>
                  <a:txBody>
                    <a:bodyPr wrap="square"/>
                    <a:lstStyle/>
                    <a:p>
                      <a:pPr algn="l"/>
                      <a:r>
                        <a:rPr sz="1300" b="1">
                          <a:solidFill>
                            <a:srgbClr val="1F2A44"/>
                          </a:solidFill>
                          <a:latin typeface="Calibri"/>
                        </a:rPr>
                        <a:t>Move tables not written for over a year to cold storage</a:t>
                      </a:r>
                    </a:p>
                  </a:txBody>
                  <a:tcPr marL="73152" marR="73152">
                    <a:solidFill>
                      <a:srgbClr val="E9ECF1"/>
                    </a:solidFill>
                  </a:tcPr>
                </a:tc>
              </a:tr>
              <a:tr h="457200">
                <a:tc>
                  <a:txBody>
                    <a:bodyPr wrap="square"/>
                    <a:lstStyle/>
                    <a:p>
                      <a:pPr algn="l"/>
                      <a:r>
                        <a:rPr sz="1300" b="0">
                          <a:solidFill>
                            <a:srgbClr val="8A94A6"/>
                          </a:solidFill>
                          <a:latin typeface="Calibri"/>
                        </a:rPr>
                        <a:t>Reclaimable gib</a:t>
                      </a:r>
                    </a:p>
                  </a:txBody>
                  <a:tcPr marL="73152" marR="73152">
                    <a:solidFill>
                      <a:srgbClr val="FFFFFF"/>
                    </a:solidFill>
                  </a:tcPr>
                </a:tc>
                <a:tc>
                  <a:txBody>
                    <a:bodyPr wrap="square"/>
                    <a:lstStyle/>
                    <a:p>
                      <a:pPr algn="r"/>
                      <a:r>
                        <a:rPr sz="1300" b="0">
                          <a:solidFill>
                            <a:srgbClr val="1F2A44"/>
                          </a:solidFill>
                          <a:latin typeface="Courier New"/>
                        </a:rPr>
                        <a:t>42,891.0</a:t>
                      </a:r>
                    </a:p>
                  </a:txBody>
                  <a:tcPr marL="73152" marR="73152">
                    <a:solidFill>
                      <a:srgbClr val="FFFFFF"/>
                    </a:solidFill>
                  </a:tcPr>
                </a:tc>
                <a:tc>
                  <a:txBody>
                    <a:bodyPr wrap="square"/>
                    <a:lstStyle/>
                    <a:p>
                      <a:pPr algn="r"/>
                      <a:r>
                        <a:rPr sz="1300" b="0">
                          <a:solidFill>
                            <a:srgbClr val="1F2A44"/>
                          </a:solidFill>
                          <a:latin typeface="Courier New"/>
                        </a:rPr>
                        <a:t>7,840.5</a:t>
                      </a:r>
                    </a:p>
                  </a:txBody>
                  <a:tcPr marL="73152" marR="73152">
                    <a:solidFill>
                      <a:srgbClr val="FFFFFF"/>
                    </a:solidFill>
                  </a:tcPr>
                </a:tc>
                <a:tc>
                  <a:txBody>
                    <a:bodyPr wrap="square"/>
                    <a:lstStyle/>
                    <a:p>
                      <a:pPr algn="r"/>
                      <a:r>
                        <a:rPr sz="1300" b="0">
                          <a:solidFill>
                            <a:srgbClr val="1F2A44"/>
                          </a:solidFill>
                          <a:latin typeface="Courier New"/>
                        </a:rPr>
                        <a:t>54.1</a:t>
                      </a:r>
                    </a:p>
                  </a:txBody>
                  <a:tcPr marL="73152" marR="73152">
                    <a:solidFill>
                      <a:srgbClr val="FFFFFF"/>
                    </a:solidFill>
                  </a:tcPr>
                </a:tc>
              </a:tr>
              <a:tr h="457200">
                <a:tc>
                  <a:txBody>
                    <a:bodyPr wrap="square"/>
                    <a:lstStyle/>
                    <a:p>
                      <a:pPr algn="l"/>
                      <a:r>
                        <a:rPr sz="1300" b="0">
                          <a:solidFill>
                            <a:srgbClr val="8A94A6"/>
                          </a:solidFill>
                          <a:latin typeface="Calibri"/>
                        </a:rPr>
                        <a:t>Monthly saving usd</a:t>
                      </a:r>
                    </a:p>
                  </a:txBody>
                  <a:tcPr marL="73152" marR="73152">
                    <a:solidFill>
                      <a:srgbClr val="FFFFFF"/>
                    </a:solidFill>
                  </a:tcPr>
                </a:tc>
                <a:tc>
                  <a:txBody>
                    <a:bodyPr wrap="square"/>
                    <a:lstStyle/>
                    <a:p>
                      <a:pPr algn="r"/>
                      <a:r>
                        <a:rPr sz="1300" b="0">
                          <a:solidFill>
                            <a:srgbClr val="1F2A44"/>
                          </a:solidFill>
                          <a:latin typeface="Courier New"/>
                        </a:rPr>
                        <a:t>986.5</a:t>
                      </a:r>
                    </a:p>
                  </a:txBody>
                  <a:tcPr marL="73152" marR="73152">
                    <a:solidFill>
                      <a:srgbClr val="FFFFFF"/>
                    </a:solidFill>
                  </a:tcPr>
                </a:tc>
                <a:tc>
                  <a:txBody>
                    <a:bodyPr wrap="square"/>
                    <a:lstStyle/>
                    <a:p>
                      <a:pPr algn="r"/>
                      <a:r>
                        <a:rPr sz="1300" b="0">
                          <a:solidFill>
                            <a:srgbClr val="1F2A44"/>
                          </a:solidFill>
                          <a:latin typeface="Courier New"/>
                        </a:rPr>
                        <a:t>180.3</a:t>
                      </a:r>
                    </a:p>
                  </a:txBody>
                  <a:tcPr marL="73152" marR="73152">
                    <a:solidFill>
                      <a:srgbClr val="FFFFFF"/>
                    </a:solidFill>
                  </a:tcPr>
                </a:tc>
                <a:tc>
                  <a:txBody>
                    <a:bodyPr wrap="square"/>
                    <a:lstStyle/>
                    <a:p>
                      <a:pPr algn="r"/>
                      <a:r>
                        <a:rPr sz="1300" b="0">
                          <a:solidFill>
                            <a:srgbClr val="1F2A44"/>
                          </a:solidFill>
                          <a:latin typeface="Courier New"/>
                        </a:rPr>
                        <a:t>5.9</a:t>
                      </a:r>
                    </a:p>
                  </a:txBody>
                  <a:tcPr marL="73152" marR="7315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Monthly figures are upper bounds at legacy full-Standard reference prices; reprice eligible bytes and retrieval costs before treating any as expected saving.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2" cy="2798064"/>
        </p:xfrm>
        <a:graphic>
          <a:graphicData uri="http://schemas.openxmlformats.org/drawingml/2006/table">
            <a:tbl>
              <a:tblPr firstRow="1" bandRow="1">
                <a:tableStyleId>{5C22544A-7EE6-4342-B048-85BDC9FD1C3A}</a:tableStyleId>
              </a:tblPr>
              <a:tblGrid>
                <a:gridCol w="1725956"/>
                <a:gridCol w="1941701"/>
                <a:gridCol w="2049573"/>
                <a:gridCol w="1510212"/>
                <a:gridCol w="3775530"/>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2024offairrecs</a:t>
                      </a:r>
                    </a:p>
                  </a:txBody>
                  <a:tcPr marL="54864" marR="54864" marT="27432" marB="27432">
                    <a:solidFill>
                      <a:srgbClr val="FFFFFF"/>
                    </a:solidFill>
                  </a:tcPr>
                </a:tc>
                <a:tc>
                  <a:txBody>
                    <a:bodyPr wrap="square"/>
                    <a:lstStyle/>
                    <a:p>
                      <a:pPr algn="r"/>
                      <a:r>
                        <a:rPr sz="1100" b="0">
                          <a:solidFill>
                            <a:srgbClr val="1F2A44"/>
                          </a:solidFill>
                          <a:latin typeface="Courier New"/>
                        </a:rPr>
                        <a:t>86.74</a:t>
                      </a:r>
                    </a:p>
                  </a:txBody>
                  <a:tcPr marL="54864" marR="54864" marT="27432" marB="27432">
                    <a:solidFill>
                      <a:srgbClr val="FFFFFF"/>
                    </a:solidFill>
                  </a:tcPr>
                </a:tc>
                <a:tc>
                  <a:txBody>
                    <a:bodyPr wrap="square"/>
                    <a:lstStyle/>
                    <a:p>
                      <a:pPr algn="r"/>
                      <a:r>
                        <a:rPr sz="1100" b="0">
                          <a:solidFill>
                            <a:srgbClr val="1F2A44"/>
                          </a:solidFill>
                          <a:latin typeface="Courier New"/>
                        </a:rPr>
                        <a:t>82.03</a:t>
                      </a:r>
                    </a:p>
                  </a:txBody>
                  <a:tcPr marL="54864" marR="54864" marT="27432" marB="27432">
                    <a:solidFill>
                      <a:srgbClr val="FFFFFF"/>
                    </a:solidFill>
                  </a:tcPr>
                </a:tc>
                <a:tc>
                  <a:txBody>
                    <a:bodyPr wrap="square"/>
                    <a:lstStyle/>
                    <a:p>
                      <a:pPr algn="r"/>
                      <a:r>
                        <a:rPr sz="1100" b="0">
                          <a:solidFill>
                            <a:srgbClr val="1F2A44"/>
                          </a:solidFill>
                          <a:latin typeface="Courier New"/>
                        </a:rPr>
                        <a:t>94.6%</a:t>
                      </a:r>
                    </a:p>
                  </a:txBody>
                  <a:tcPr marL="54864" marR="54864" marT="27432" marB="27432">
                    <a:solidFill>
                      <a:srgbClr val="FFFFFF"/>
                    </a:solidFill>
                  </a:tcPr>
                </a:tc>
                <a:tc>
                  <a:txBody>
                    <a:bodyPr wrap="square"/>
                    <a:lstStyle/>
                    <a:p>
                      <a:pPr algn="r"/>
                      <a:r>
                        <a:rPr sz="1100" b="0">
                          <a:solidFill>
                            <a:srgbClr val="1F2A44"/>
                          </a:solidFill>
                          <a:latin typeface="Courier New"/>
                        </a:rPr>
                        <a:t>GLACIER 2,961,741, STANDARD 233,004</a:t>
                      </a:r>
                    </a:p>
                  </a:txBody>
                  <a:tcPr marL="54864" marR="54864" marT="27432" marB="27432">
                    <a:solidFill>
                      <a:srgbClr val="FFFFFF"/>
                    </a:solidFill>
                  </a:tcPr>
                </a:tc>
              </a:tr>
              <a:tr h="310896">
                <a:tc>
                  <a:txBody>
                    <a:bodyPr wrap="square"/>
                    <a:lstStyle/>
                    <a:p>
                      <a:pPr algn="l"/>
                      <a:r>
                        <a:rPr sz="1100" b="0">
                          <a:solidFill>
                            <a:srgbClr val="1F2A44"/>
                          </a:solidFill>
                          <a:latin typeface="Calibri"/>
                        </a:rPr>
                        <a:t>music-bucket-rms</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4.93</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152,801</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na7p43do</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4.1</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484,480</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na7p43js</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3.57</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307,998</a:t>
                      </a:r>
                    </a:p>
                  </a:txBody>
                  <a:tcPr marL="54864" marR="54864" marT="27432" marB="27432">
                    <a:solidFill>
                      <a:srgbClr val="FFFFFF"/>
                    </a:solidFill>
                  </a:tcPr>
                </a:tc>
              </a:tr>
              <a:tr h="310896">
                <a:tc>
                  <a:txBody>
                    <a:bodyPr wrap="square"/>
                    <a:lstStyle/>
                    <a:p>
                      <a:pPr algn="l"/>
                      <a:r>
                        <a:rPr sz="1100" b="0">
                          <a:solidFill>
                            <a:srgbClr val="1F2A44"/>
                          </a:solidFill>
                          <a:latin typeface="Calibri"/>
                        </a:rPr>
                        <a:t>na7p434j</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3.5</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15,377</a:t>
                      </a:r>
                    </a:p>
                  </a:txBody>
                  <a:tcPr marL="54864" marR="54864" marT="27432" marB="27432">
                    <a:solidFill>
                      <a:srgbClr val="FFFFFF"/>
                    </a:solidFill>
                  </a:tcPr>
                </a:tc>
              </a:tr>
              <a:tr h="310896">
                <a:tc>
                  <a:txBody>
                    <a:bodyPr wrap="square"/>
                    <a:lstStyle/>
                    <a:p>
                      <a:pPr algn="l"/>
                      <a:r>
                        <a:rPr sz="1100" b="0">
                          <a:solidFill>
                            <a:srgbClr val="1F2A44"/>
                          </a:solidFill>
                          <a:latin typeface="Calibri"/>
                        </a:rPr>
                        <a:t>na7p41hj</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3.48</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15,885</a:t>
                      </a:r>
                    </a:p>
                  </a:txBody>
                  <a:tcPr marL="54864" marR="54864" marT="27432" marB="27432">
                    <a:solidFill>
                      <a:srgbClr val="FFFFFF"/>
                    </a:solidFill>
                  </a:tcPr>
                </a:tc>
              </a:tr>
              <a:tr h="310896">
                <a:tc>
                  <a:txBody>
                    <a:bodyPr wrap="square"/>
                    <a:lstStyle/>
                    <a:p>
                      <a:pPr algn="l"/>
                      <a:r>
                        <a:rPr sz="1100" b="0">
                          <a:solidFill>
                            <a:srgbClr val="1F2A44"/>
                          </a:solidFill>
                          <a:latin typeface="Calibri"/>
                        </a:rPr>
                        <a:t>na7p42xe</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3.44</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13,965</a:t>
                      </a:r>
                    </a:p>
                  </a:txBody>
                  <a:tcPr marL="54864" marR="54864" marT="27432" marB="27432">
                    <a:solidFill>
                      <a:srgbClr val="FFFFFF"/>
                    </a:solidFill>
                  </a:tcPr>
                </a:tc>
              </a:tr>
              <a:tr h="310896">
                <a:tc>
                  <a:txBody>
                    <a:bodyPr wrap="square"/>
                    <a:lstStyle/>
                    <a:p>
                      <a:pPr algn="l"/>
                      <a:r>
                        <a:rPr sz="1100" b="0">
                          <a:solidFill>
                            <a:srgbClr val="1F2A44"/>
                          </a:solidFill>
                          <a:latin typeface="Calibri"/>
                        </a:rPr>
                        <a:t>na7p42xw</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3.4</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25,088</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Storage class by bucket — what is already in Archive class</a:t>
            </a:r>
          </a:p>
        </p:txBody>
      </p:sp>
      <p:graphicFrame>
        <p:nvGraphicFramePr>
          <p:cNvPr id="4" name="Table 3"/>
          <p:cNvGraphicFramePr>
            <a:graphicFrameLocks noGrp="1"/>
          </p:cNvGraphicFramePr>
          <p:nvPr/>
        </p:nvGraphicFramePr>
        <p:xfrm>
          <a:off x="594360" y="1920240"/>
          <a:ext cx="11002972" cy="621792"/>
        </p:xfrm>
        <a:graphic>
          <a:graphicData uri="http://schemas.openxmlformats.org/drawingml/2006/table">
            <a:tbl>
              <a:tblPr firstRow="1" bandRow="1">
                <a:tableStyleId>{5C22544A-7EE6-4342-B048-85BDC9FD1C3A}</a:tableStyleId>
              </a:tblPr>
              <a:tblGrid>
                <a:gridCol w="1725956"/>
                <a:gridCol w="1941701"/>
                <a:gridCol w="2049573"/>
                <a:gridCol w="1510212"/>
                <a:gridCol w="3775530"/>
              </a:tblGrid>
              <a:tr h="310896">
                <a:tc>
                  <a:txBody>
                    <a:bodyPr wrap="square"/>
                    <a:lstStyle/>
                    <a:p>
                      <a:pPr algn="l"/>
                      <a:r>
                        <a:rPr sz="1100" b="1">
                          <a:solidFill>
                            <a:srgbClr val="1F2A44"/>
                          </a:solidFill>
                          <a:latin typeface="Calibri"/>
                        </a:rPr>
                        <a:t>Bucket</a:t>
                      </a:r>
                    </a:p>
                  </a:txBody>
                  <a:tcPr marL="54864" marR="54864" marT="27432" marB="27432">
                    <a:solidFill>
                      <a:srgbClr val="E9ECF1"/>
                    </a:solidFill>
                  </a:tcPr>
                </a:tc>
                <a:tc>
                  <a:txBody>
                    <a:bodyPr wrap="square"/>
                    <a:lstStyle/>
                    <a:p>
                      <a:pPr algn="l"/>
                      <a:r>
                        <a:rPr sz="1100" b="1">
                          <a:solidFill>
                            <a:srgbClr val="1F2A44"/>
                          </a:solidFill>
                          <a:latin typeface="Calibri"/>
                        </a:rPr>
                        <a:t>Bytes listed (TiB)</a:t>
                      </a:r>
                    </a:p>
                  </a:txBody>
                  <a:tcPr marL="54864" marR="54864" marT="27432" marB="27432">
                    <a:solidFill>
                      <a:srgbClr val="E9ECF1"/>
                    </a:solidFill>
                  </a:tcPr>
                </a:tc>
                <a:tc>
                  <a:txBody>
                    <a:bodyPr wrap="square"/>
                    <a:lstStyle/>
                    <a:p>
                      <a:pPr algn="l"/>
                      <a:r>
                        <a:rPr sz="1100" b="1">
                          <a:solidFill>
                            <a:srgbClr val="1F2A44"/>
                          </a:solidFill>
                          <a:latin typeface="Calibri"/>
                        </a:rPr>
                        <a:t>Archive class (TiB)</a:t>
                      </a:r>
                    </a:p>
                  </a:txBody>
                  <a:tcPr marL="54864" marR="54864" marT="27432" marB="27432">
                    <a:solidFill>
                      <a:srgbClr val="E9ECF1"/>
                    </a:solidFill>
                  </a:tcPr>
                </a:tc>
                <a:tc>
                  <a:txBody>
                    <a:bodyPr wrap="square"/>
                    <a:lstStyle/>
                    <a:p>
                      <a:pPr algn="l"/>
                      <a:r>
                        <a:rPr sz="1100" b="1">
                          <a:solidFill>
                            <a:srgbClr val="1F2A44"/>
                          </a:solidFill>
                          <a:latin typeface="Calibri"/>
                        </a:rPr>
                        <a:t>Archive share</a:t>
                      </a:r>
                    </a:p>
                  </a:txBody>
                  <a:tcPr marL="54864" marR="54864" marT="27432" marB="27432">
                    <a:solidFill>
                      <a:srgbClr val="E9ECF1"/>
                    </a:solidFill>
                  </a:tcPr>
                </a:tc>
                <a:tc>
                  <a:txBody>
                    <a:bodyPr wrap="square"/>
                    <a:lstStyle/>
                    <a:p>
                      <a:pPr algn="l"/>
                      <a:r>
                        <a:rPr sz="1100" b="1">
                          <a:solidFill>
                            <a:srgbClr val="1F2A44"/>
                          </a:solidFill>
                          <a:latin typeface="Calibri"/>
                        </a:rPr>
                        <a:t>Classes seen</a:t>
                      </a:r>
                    </a:p>
                  </a:txBody>
                  <a:tcPr marL="54864" marR="54864" marT="27432" marB="27432">
                    <a:solidFill>
                      <a:srgbClr val="E9ECF1"/>
                    </a:solidFill>
                  </a:tcPr>
                </a:tc>
              </a:tr>
              <a:tr h="310896">
                <a:tc>
                  <a:txBody>
                    <a:bodyPr wrap="square"/>
                    <a:lstStyle/>
                    <a:p>
                      <a:pPr algn="l"/>
                      <a:r>
                        <a:rPr sz="1100" b="0">
                          <a:solidFill>
                            <a:srgbClr val="1F2A44"/>
                          </a:solidFill>
                          <a:latin typeface="Calibri"/>
                        </a:rPr>
                        <a:t>na7p42yg</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3.28</a:t>
                      </a:r>
                    </a:p>
                  </a:txBody>
                  <a:tcPr marL="54864" marR="54864" marT="27432" marB="27432">
                    <a:solidFill>
                      <a:srgbClr val="FFFFFF"/>
                    </a:solidFill>
                  </a:tcPr>
                </a:tc>
                <a:tc>
                  <a:txBody>
                    <a:bodyPr wrap="square"/>
                    <a:lstStyle/>
                    <a:p>
                      <a:pPr algn="r"/>
                      <a:r>
                        <a:rPr sz="1100" b="0">
                          <a:solidFill>
                            <a:srgbClr val="1F2A44"/>
                          </a:solidFill>
                          <a:latin typeface="Courier New"/>
                        </a:rPr>
                        <a:t>100.0%</a:t>
                      </a:r>
                    </a:p>
                  </a:txBody>
                  <a:tcPr marL="54864" marR="54864" marT="27432" marB="27432">
                    <a:solidFill>
                      <a:srgbClr val="FFFFFF"/>
                    </a:solidFill>
                  </a:tcPr>
                </a:tc>
                <a:tc>
                  <a:txBody>
                    <a:bodyPr wrap="square"/>
                    <a:lstStyle/>
                    <a:p>
                      <a:pPr algn="r"/>
                      <a:r>
                        <a:rPr sz="1100" b="0">
                          <a:solidFill>
                            <a:srgbClr val="1F2A44"/>
                          </a:solidFill>
                          <a:latin typeface="Courier New"/>
                        </a:rPr>
                        <a:t>GLACIER 28,059</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Read from the object listing.</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R10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1920240"/>
            <a:ext cx="2613355" cy="1885492"/>
          </a:xfrm>
          <a:prstGeom prst="rect">
            <a:avLst/>
          </a:prstGeom>
          <a:noFill/>
        </p:spPr>
        <p:txBody>
          <a:bodyPr wrap="square" lIns="0" rIns="0" tIns="0" bIns="0" anchor="ctr">
            <a:spAutoFit/>
          </a:bodyPr>
          <a:lstStyle/>
          <a:p>
            <a:pPr algn="l"/>
            <a:r>
              <a:rPr sz="9600" b="0" i="0">
                <a:solidFill>
                  <a:srgbClr val="C8102E"/>
                </a:solidFill>
                <a:latin typeface="Courier New"/>
              </a:rPr>
              <a:t>06</a:t>
            </a:r>
          </a:p>
        </p:txBody>
      </p:sp>
      <p:sp>
        <p:nvSpPr>
          <p:cNvPr id="3" name="TextBox 2"/>
          <p:cNvSpPr txBox="1"/>
          <p:nvPr/>
        </p:nvSpPr>
        <p:spPr>
          <a:xfrm>
            <a:off x="3390595" y="2297887"/>
            <a:ext cx="8206740" cy="1508760"/>
          </a:xfrm>
          <a:prstGeom prst="rect">
            <a:avLst/>
          </a:prstGeom>
          <a:noFill/>
        </p:spPr>
        <p:txBody>
          <a:bodyPr wrap="square" lIns="0" rIns="0" tIns="0" bIns="0" anchor="ctr">
            <a:spAutoFit/>
          </a:bodyPr>
          <a:lstStyle/>
          <a:p>
            <a:pPr algn="l"/>
            <a:r>
              <a:rPr sz="3200" b="0" i="0">
                <a:solidFill>
                  <a:srgbClr val="1F2A44"/>
                </a:solidFill>
                <a:latin typeface="Cambria"/>
              </a:rPr>
              <a:t>What management is asked to decide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DECISIONS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Management is asked to decide access first, then pilot, tiering, duplicates and rollout</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Approve an object-read grant; it rests on 500,290.3, 73.4% and 367,222.7.</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Decide a restore of 2 archive-class buckets with its retrieval fee.</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Select one speech-and-text pilot, name its owner, and de-identify database inputs.</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Validate tiering on 41.9 TiB of cold bytes and hash-confirm 7.7 TiB of duplicate candidates before any move or deletion.</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Set an evidence gate before rollout; nothing here has been executed.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81940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780288">
                <a:tc>
                  <a:txBody>
                    <a:bodyPr wrap="square"/>
                    <a:lstStyle/>
                    <a:p>
                      <a:pPr algn="l"/>
                      <a:r>
                        <a:rPr sz="1100" b="0">
                          <a:solidFill>
                            <a:srgbClr val="1F2A44"/>
                          </a:solidFill>
                          <a:latin typeface="Calibri"/>
                        </a:rPr>
                        <a:t>D0</a:t>
                      </a:r>
                    </a:p>
                  </a:txBody>
                  <a:tcPr marL="54864" marR="54864" marT="27432" marB="27432">
                    <a:solidFill>
                      <a:srgbClr val="FFFFFF"/>
                    </a:solidFill>
                  </a:tcPr>
                </a:tc>
                <a:tc>
                  <a:txBody>
                    <a:bodyPr wrap="square"/>
                    <a:lstStyle/>
                    <a:p>
                      <a:pPr algn="l"/>
                      <a:r>
                        <a:rPr sz="1100" b="0">
                          <a:solidFill>
                            <a:srgbClr val="1F2A44"/>
                          </a:solidFill>
                          <a:latin typeface="Calibri"/>
                        </a:rPr>
                        <a:t>Adopt the whole-estate forecast as the planning baseline for hours, speech and languages</a:t>
                      </a:r>
                    </a:p>
                  </a:txBody>
                  <a:tcPr marL="54864" marR="54864" marT="27432" marB="27432">
                    <a:solidFill>
                      <a:srgbClr val="FFFFFF"/>
                    </a:solidFill>
                  </a:tcPr>
                </a:tc>
                <a:tc>
                  <a:txBody>
                    <a:bodyPr wrap="square"/>
                    <a:lstStyle/>
                    <a:p>
                      <a:pPr algn="l"/>
                      <a:r>
                        <a:rPr sz="1100" b="0">
                          <a:solidFill>
                            <a:srgbClr val="1F2A44"/>
                          </a:solidFill>
                          <a:latin typeface="Calibri"/>
                        </a:rPr>
                        <a:t>every listed folder of the object store and the file shares (1,334 strata; 500,290 h, 95 % 412,531–625,455 h)</a:t>
                      </a:r>
                    </a:p>
                  </a:txBody>
                  <a:tcPr marL="54864" marR="54864" marT="27432" marB="27432">
                    <a:solidFill>
                      <a:srgbClr val="FFFFFF"/>
                    </a:solidFill>
                  </a:tcPr>
                </a:tc>
                <a:tc>
                  <a:txBody>
                    <a:bodyPr wrap="square"/>
                    <a:lstStyle/>
                    <a:p>
                      <a:pPr algn="l"/>
                      <a:r>
                        <a:rPr sz="1100" b="0">
                          <a:solidFill>
                            <a:srgbClr val="1F2A44"/>
                          </a:solidFill>
                          <a:latin typeface="Calibri"/>
                        </a:rPr>
                        <a:t>forecast replaced by measurement bucket by bucket; no data moves (proposed)</a:t>
                      </a:r>
                    </a:p>
                  </a:txBody>
                  <a:tcPr marL="54864" marR="54864" marT="27432" marB="27432">
                    <a:solidFill>
                      <a:srgbClr val="FFFFFF"/>
                    </a:solidFill>
                  </a:tcPr>
                </a:tc>
                <a:tc>
                  <a:txBody>
                    <a:bodyPr wrap="square"/>
                    <a:lstStyle/>
                    <a:p>
                      <a:pPr algn="l"/>
                      <a:r>
                        <a:rPr sz="1100" b="0">
                          <a:solidFill>
                            <a:srgbClr val="1F2A44"/>
                          </a:solidFill>
                          <a:latin typeface="Calibri"/>
                        </a:rPr>
                        <a:t>Head of Data with the cloud account owner</a:t>
                      </a:r>
                    </a:p>
                  </a:txBody>
                  <a:tcPr marL="54864" marR="54864" marT="27432" marB="27432">
                    <a:solidFill>
                      <a:srgbClr val="FFFFFF"/>
                    </a:solidFill>
                  </a:tcPr>
                </a:tc>
                <a:tc>
                  <a:txBody>
                    <a:bodyPr wrap="square"/>
                    <a:lstStyle/>
                    <a:p>
                      <a:pPr algn="l"/>
                      <a:r>
                        <a:rPr sz="1100" b="0">
                          <a:solidFill>
                            <a:srgbClr val="1F2A44"/>
                          </a:solidFill>
                          <a:latin typeface="Calibri"/>
                        </a:rPr>
                        <a:t>one defensible number for the estate today, narrowing every census run</a:t>
                      </a:r>
                    </a:p>
                  </a:txBody>
                  <a:tcPr marL="54864" marR="54864" marT="27432" marB="27432">
                    <a:solidFill>
                      <a:srgbClr val="FFFFFF"/>
                    </a:solidFill>
                  </a:tcPr>
                </a:tc>
              </a:tr>
              <a:tr h="947928">
                <a:tc>
                  <a:txBody>
                    <a:bodyPr wrap="square"/>
                    <a:lstStyle/>
                    <a:p>
                      <a:pPr algn="l"/>
                      <a:r>
                        <a:rPr sz="1100" b="0">
                          <a:solidFill>
                            <a:srgbClr val="1F2A44"/>
                          </a:solidFill>
                          <a:latin typeface="Calibri"/>
                        </a:rPr>
                        <a:t>D1</a:t>
                      </a:r>
                    </a:p>
                  </a:txBody>
                  <a:tcPr marL="54864" marR="54864" marT="27432" marB="27432">
                    <a:solidFill>
                      <a:srgbClr val="FFFFFF"/>
                    </a:solidFill>
                  </a:tcPr>
                </a:tc>
                <a:tc>
                  <a:txBody>
                    <a:bodyPr wrap="square"/>
                    <a:lstStyle/>
                    <a:p>
                      <a:pPr algn="l"/>
                      <a:r>
                        <a:rPr sz="1100" b="0">
                          <a:solidFill>
                            <a:srgbClr val="1F2A44"/>
                          </a:solidFill>
                          <a:latin typeface="Calibri"/>
                        </a:rPr>
                        <a:t>Verify cold-bucket storage classes before approving tiering</a:t>
                      </a:r>
                    </a:p>
                  </a:txBody>
                  <a:tcPr marL="54864" marR="54864" marT="27432" marB="27432">
                    <a:solidFill>
                      <a:srgbClr val="FFFFFF"/>
                    </a:solidFill>
                  </a:tcPr>
                </a:tc>
                <a:tc>
                  <a:txBody>
                    <a:bodyPr wrap="square"/>
                    <a:lstStyle/>
                    <a:p>
                      <a:pPr algn="l"/>
                      <a:r>
                        <a:rPr sz="1100" b="0">
                          <a:solidFill>
                            <a:srgbClr val="1F2A44"/>
                          </a:solidFill>
                          <a:latin typeface="Calibri"/>
                        </a:rPr>
                        <a:t>43 buckets, e.g. music-bucket-rms, na7p43do, na7p43js, na7p434j, na7p41hj</a:t>
                      </a:r>
                    </a:p>
                  </a:txBody>
                  <a:tcPr marL="54864" marR="54864" marT="27432" marB="27432">
                    <a:solidFill>
                      <a:srgbClr val="FFFFFF"/>
                    </a:solidFill>
                  </a:tcPr>
                </a:tc>
                <a:tc>
                  <a:txBody>
                    <a:bodyPr wrap="square"/>
                    <a:lstStyle/>
                    <a:p>
                      <a:pPr algn="l"/>
                      <a:r>
                        <a:rPr sz="1100" b="0">
                          <a:solidFill>
                            <a:srgbClr val="1F2A44"/>
                          </a:solidFill>
                          <a:latin typeface="Calibri"/>
                        </a:rPr>
                        <a:t>same buckets, archive storage class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100" b="0">
                          <a:solidFill>
                            <a:srgbClr val="1F2A44"/>
                          </a:solidFill>
                          <a:latin typeface="Calibri"/>
                        </a:rPr>
                        <a:t>net tiering saving unverified; historic full-Standard-price scenarios must be repriced, excluding already Archive bytes</a:t>
                      </a:r>
                    </a:p>
                  </a:txBody>
                  <a:tcPr marL="54864" marR="54864" marT="27432" marB="27432">
                    <a:solidFill>
                      <a:srgbClr val="FFFFFF"/>
                    </a:solidFill>
                  </a:tcPr>
                </a:tc>
              </a:tr>
              <a:tr h="780288">
                <a:tc>
                  <a:txBody>
                    <a:bodyPr wrap="square"/>
                    <a:lstStyle/>
                    <a:p>
                      <a:pPr algn="l"/>
                      <a:r>
                        <a:rPr sz="1100" b="0">
                          <a:solidFill>
                            <a:srgbClr val="1F2A44"/>
                          </a:solidFill>
                          <a:latin typeface="Calibri"/>
                        </a:rPr>
                        <a:t>D2</a:t>
                      </a:r>
                    </a:p>
                  </a:txBody>
                  <a:tcPr marL="54864" marR="54864" marT="27432" marB="27432">
                    <a:solidFill>
                      <a:srgbClr val="FFFFFF"/>
                    </a:solidFill>
                  </a:tcPr>
                </a:tc>
                <a:tc>
                  <a:txBody>
                    <a:bodyPr wrap="square"/>
                    <a:lstStyle/>
                    <a:p>
                      <a:pPr algn="l"/>
                      <a:r>
                        <a:rPr sz="1100" b="0">
                          <a:solidFill>
                            <a:srgbClr val="1F2A44"/>
                          </a:solidFill>
                          <a:latin typeface="Calibri"/>
                        </a:rPr>
                        <a:t>Approve hash confirmation and removal of duplicate objects</a:t>
                      </a:r>
                    </a:p>
                  </a:txBody>
                  <a:tcPr marL="54864" marR="54864" marT="27432" marB="27432">
                    <a:solidFill>
                      <a:srgbClr val="FFFFFF"/>
                    </a:solidFill>
                  </a:tcPr>
                </a:tc>
                <a:tc>
                  <a:txBody>
                    <a:bodyPr wrap="square"/>
                    <a:lstStyle/>
                    <a:p>
                      <a:pPr algn="l"/>
                      <a:r>
                        <a:rPr sz="1100" b="0">
                          <a:solidFill>
                            <a:srgbClr val="1F2A44"/>
                          </a:solidFill>
                          <a:latin typeface="Calibri"/>
                        </a:rPr>
                        <a:t>na7p43do, na7p4oco, music-bucket-rms, 2024offairrecs (1,158,906 candidates across the store)</a:t>
                      </a:r>
                    </a:p>
                  </a:txBody>
                  <a:tcPr marL="54864" marR="54864" marT="27432" marB="27432">
                    <a:solidFill>
                      <a:srgbClr val="FFFFFF"/>
                    </a:solidFill>
                  </a:tcPr>
                </a:tc>
                <a:tc>
                  <a:txBody>
                    <a:bodyPr wrap="square"/>
                    <a:lstStyle/>
                    <a:p>
                      <a:pPr algn="l"/>
                      <a:r>
                        <a:rPr sz="1100" b="0">
                          <a:solidFill>
                            <a:srgbClr val="1F2A44"/>
                          </a:solidFill>
                          <a:latin typeface="Calibri"/>
                        </a:rPr>
                        <a:t>keeper stays in its bucket; duplicates removed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Head of Technology with the content librarian</a:t>
                      </a:r>
                    </a:p>
                  </a:txBody>
                  <a:tcPr marL="54864" marR="54864" marT="27432" marB="27432">
                    <a:solidFill>
                      <a:srgbClr val="FFFFFF"/>
                    </a:solidFill>
                  </a:tcPr>
                </a:tc>
                <a:tc>
                  <a:txBody>
                    <a:bodyPr wrap="square"/>
                    <a:lstStyle/>
                    <a:p>
                      <a:pPr algn="l"/>
                      <a:r>
                        <a:rPr sz="1100" b="0">
                          <a:solidFill>
                            <a:srgbClr val="1F2A44"/>
                          </a:solidFill>
                          <a:latin typeface="Calibri"/>
                        </a:rPr>
                        <a:t>up to 180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1871472"/>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D3</a:t>
                      </a:r>
                    </a:p>
                  </a:txBody>
                  <a:tcPr marL="54864" marR="54864" marT="27432" marB="27432">
                    <a:solidFill>
                      <a:srgbClr val="FFFFFF"/>
                    </a:solidFill>
                  </a:tcPr>
                </a:tc>
                <a:tc>
                  <a:txBody>
                    <a:bodyPr wrap="square"/>
                    <a:lstStyle/>
                    <a:p>
                      <a:pPr algn="l"/>
                      <a:r>
                        <a:rPr sz="1100" b="0">
                          <a:solidFill>
                            <a:srgbClr val="1F2A44"/>
                          </a:solidFill>
                          <a:latin typeface="Calibri"/>
                        </a:rPr>
                        <a:t>Instruct reconciliation of the unreadable buckets</a:t>
                      </a:r>
                    </a:p>
                  </a:txBody>
                  <a:tcPr marL="54864" marR="54864" marT="27432" marB="27432">
                    <a:solidFill>
                      <a:srgbClr val="FFFFFF"/>
                    </a:solidFill>
                  </a:tcPr>
                </a:tc>
                <a:tc>
                  <a:txBody>
                    <a:bodyPr wrap="square"/>
                    <a:lstStyle/>
                    <a:p>
                      <a:pPr algn="l"/>
                      <a:r>
                        <a:rPr sz="1100" b="0">
                          <a:solidFill>
                            <a:srgbClr val="1F2A44"/>
                          </a:solidFill>
                          <a:latin typeface="Calibri"/>
                        </a:rPr>
                        <a:t>40 buckets, e.g. apr252017, citizen-vod, elections, feb272017, instore-radio-items</a:t>
                      </a:r>
                    </a:p>
                  </a:txBody>
                  <a:tcPr marL="54864" marR="54864" marT="27432" marB="27432">
                    <a:solidFill>
                      <a:srgbClr val="FFFFFF"/>
                    </a:solidFill>
                  </a:tcPr>
                </a:tc>
                <a:tc>
                  <a:txBody>
                    <a:bodyPr wrap="square"/>
                    <a:lstStyle/>
                    <a:p>
                      <a:pPr algn="l"/>
                      <a:r>
                        <a:rPr sz="1100" b="0">
                          <a:solidFill>
                            <a:srgbClr val="1F2A44"/>
                          </a:solidFill>
                          <a:latin typeface="Calibri"/>
                        </a:rPr>
                        <a:t>inventory register corrected (proposed)</a:t>
                      </a:r>
                    </a:p>
                  </a:txBody>
                  <a:tcPr marL="54864" marR="54864" marT="27432" marB="27432">
                    <a:solidFill>
                      <a:srgbClr val="FFFFFF"/>
                    </a:solidFill>
                  </a:tcPr>
                </a:tc>
                <a:tc>
                  <a:txBody>
                    <a:bodyPr wrap="square"/>
                    <a:lstStyle/>
                    <a:p>
                      <a:pPr algn="l"/>
                      <a:r>
                        <a:rPr sz="1100" b="0">
                          <a:solidFill>
                            <a:srgbClr val="1F2A44"/>
                          </a:solidFill>
                          <a:latin typeface="Calibri"/>
                        </a:rPr>
                        <a:t>Cloud account owner</a:t>
                      </a:r>
                    </a:p>
                  </a:txBody>
                  <a:tcPr marL="54864" marR="54864" marT="27432" marB="27432">
                    <a:solidFill>
                      <a:srgbClr val="FFFFFF"/>
                    </a:solidFill>
                  </a:tcPr>
                </a:tc>
                <a:tc>
                  <a:txBody>
                    <a:bodyPr wrap="square"/>
                    <a:lstStyle/>
                    <a:p>
                      <a:pPr algn="l"/>
                      <a:r>
                        <a:rPr sz="1100" b="0">
                          <a:solidFill>
                            <a:srgbClr val="1F2A44"/>
                          </a:solidFill>
                          <a:latin typeface="Calibri"/>
                        </a:rPr>
                        <a:t>an inventory the next census can trust</a:t>
                      </a:r>
                    </a:p>
                  </a:txBody>
                  <a:tcPr marL="54864" marR="54864" marT="27432" marB="27432">
                    <a:solidFill>
                      <a:srgbClr val="FFFFFF"/>
                    </a:solidFill>
                  </a:tcPr>
                </a:tc>
              </a:tr>
              <a:tr h="947928">
                <a:tc>
                  <a:txBody>
                    <a:bodyPr wrap="square"/>
                    <a:lstStyle/>
                    <a:p>
                      <a:pPr algn="l"/>
                      <a:r>
                        <a:rPr sz="1100" b="0">
                          <a:solidFill>
                            <a:srgbClr val="1F2A44"/>
                          </a:solidFill>
                          <a:latin typeface="Calibri"/>
                        </a:rPr>
                        <a:t>D4</a:t>
                      </a:r>
                    </a:p>
                  </a:txBody>
                  <a:tcPr marL="54864" marR="54864" marT="27432" marB="27432">
                    <a:solidFill>
                      <a:srgbClr val="FFFFFF"/>
                    </a:solidFill>
                  </a:tcPr>
                </a:tc>
                <a:tc>
                  <a:txBody>
                    <a:bodyPr wrap="square"/>
                    <a:lstStyle/>
                    <a:p>
                      <a:pPr algn="l"/>
                      <a:r>
                        <a:rPr sz="1100" b="0">
                          <a:solidFill>
                            <a:srgbClr val="1F2A44"/>
                          </a:solidFill>
                          <a:latin typeface="Calibri"/>
                        </a:rPr>
                        <a:t>Approve cold-table archiving in the databases</a:t>
                      </a:r>
                    </a:p>
                  </a:txBody>
                  <a:tcPr marL="54864" marR="54864" marT="27432" marB="27432">
                    <a:solidFill>
                      <a:srgbClr val="FFFFFF"/>
                    </a:solidFill>
                  </a:tcPr>
                </a:tc>
                <a:tc>
                  <a:txBody>
                    <a:bodyPr wrap="square"/>
                    <a:lstStyle/>
                    <a:p>
                      <a:pPr algn="l"/>
                      <a:r>
                        <a:rPr sz="1100" b="0">
                          <a:solidFill>
                            <a:srgbClr val="1F2A44"/>
                          </a:solidFill>
                          <a:latin typeface="Calibri"/>
                        </a:rPr>
                        <a:t>6 tables, e.g. viusasa_staging.audits, viusasa_staging.master_payments, razuna.raz1_videos, viusasa_staging.payment_requests</a:t>
                      </a:r>
                    </a:p>
                  </a:txBody>
                  <a:tcPr marL="54864" marR="54864" marT="27432" marB="27432">
                    <a:solidFill>
                      <a:srgbClr val="FFFFFF"/>
                    </a:solidFill>
                  </a:tcPr>
                </a:tc>
                <a:tc>
                  <a:txBody>
                    <a:bodyPr wrap="square"/>
                    <a:lstStyle/>
                    <a:p>
                      <a:pPr algn="l"/>
                      <a:r>
                        <a:rPr sz="1100" b="0">
                          <a:solidFill>
                            <a:srgbClr val="1F2A44"/>
                          </a:solidFill>
                          <a:latin typeface="Calibri"/>
                        </a:rPr>
                        <a:t>object store, archive class, one prefix per database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6 USD a month at list price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2819400"/>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1283208">
                <a:tc>
                  <a:txBody>
                    <a:bodyPr wrap="square"/>
                    <a:lstStyle/>
                    <a:p>
                      <a:pPr algn="l"/>
                      <a:r>
                        <a:rPr sz="1100" b="0">
                          <a:solidFill>
                            <a:srgbClr val="1F2A44"/>
                          </a:solidFill>
                          <a:latin typeface="Calibri"/>
                        </a:rPr>
                        <a:t>D5</a:t>
                      </a:r>
                    </a:p>
                  </a:txBody>
                  <a:tcPr marL="54864" marR="54864" marT="27432" marB="27432">
                    <a:solidFill>
                      <a:srgbClr val="FFFFFF"/>
                    </a:solidFill>
                  </a:tcPr>
                </a:tc>
                <a:tc>
                  <a:txBody>
                    <a:bodyPr wrap="square"/>
                    <a:lstStyle/>
                    <a:p>
                      <a:pPr algn="l"/>
                      <a:r>
                        <a:rPr sz="1100" b="0">
                          <a:solidFill>
                            <a:srgbClr val="1F2A44"/>
                          </a:solidFill>
                          <a:latin typeface="Calibri"/>
                        </a:rPr>
                        <a:t>Decide one authoritative copy for each duplicated table pair</a:t>
                      </a:r>
                    </a:p>
                  </a:txBody>
                  <a:tcPr marL="54864" marR="54864" marT="27432" marB="27432">
                    <a:solidFill>
                      <a:srgbClr val="FFFFFF"/>
                    </a:solidFill>
                  </a:tcPr>
                </a:tc>
                <a:tc>
                  <a:txBody>
                    <a:bodyPr wrap="square"/>
                    <a:lstStyle/>
                    <a:p>
                      <a:pPr algn="l"/>
                      <a:r>
                        <a:rPr sz="1100" b="0">
                          <a:solidFill>
                            <a:srgbClr val="1F2A44"/>
                          </a:solidFill>
                          <a:latin typeface="Calibri"/>
                        </a:rPr>
                        <a:t>71 pairs, e.g. iebc_forms/viupay.failed_jobs ↔ viupay/viupay.failed_jobs; iebc_forms/viutickets.movies ↔ viupay/viutickets.movies; iebc_forms/viutickets.ussd_hits ↔ viupay/viutickets.ussd_hits</a:t>
                      </a:r>
                    </a:p>
                  </a:txBody>
                  <a:tcPr marL="54864" marR="54864" marT="27432" marB="27432">
                    <a:solidFill>
                      <a:srgbClr val="FFFFFF"/>
                    </a:solidFill>
                  </a:tcPr>
                </a:tc>
                <a:tc>
                  <a:txBody>
                    <a:bodyPr wrap="square"/>
                    <a:lstStyle/>
                    <a:p>
                      <a:pPr algn="l"/>
                      <a:r>
                        <a:rPr sz="1100" b="0">
                          <a:solidFill>
                            <a:srgbClr val="1F2A44"/>
                          </a:solidFill>
                          <a:latin typeface="Calibri"/>
                        </a:rPr>
                        <a:t>master stays; copy retired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 with the application owners</a:t>
                      </a:r>
                    </a:p>
                  </a:txBody>
                  <a:tcPr marL="54864" marR="54864" marT="27432" marB="27432">
                    <a:solidFill>
                      <a:srgbClr val="FFFFFF"/>
                    </a:solidFill>
                  </a:tcPr>
                </a:tc>
                <a:tc>
                  <a:txBody>
                    <a:bodyPr wrap="square"/>
                    <a:lstStyle/>
                    <a:p>
                      <a:pPr algn="l"/>
                      <a:r>
                        <a:rPr sz="1100" b="0">
                          <a:solidFill>
                            <a:srgbClr val="1F2A44"/>
                          </a:solidFill>
                          <a:latin typeface="Calibri"/>
                        </a:rPr>
                        <a:t>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D6</a:t>
                      </a:r>
                    </a:p>
                  </a:txBody>
                  <a:tcPr marL="54864" marR="54864" marT="27432" marB="27432">
                    <a:solidFill>
                      <a:srgbClr val="FFFFFF"/>
                    </a:solidFill>
                  </a:tcPr>
                </a:tc>
                <a:tc>
                  <a:txBody>
                    <a:bodyPr wrap="square"/>
                    <a:lstStyle/>
                    <a:p>
                      <a:pPr algn="l"/>
                      <a:r>
                        <a:rPr sz="1100" b="0">
                          <a:solidFill>
                            <a:srgbClr val="1F2A44"/>
                          </a:solidFill>
                          <a:latin typeface="Calibri"/>
                        </a:rPr>
                        <a:t>Approve the housekeeping list: empty tables, redundant indexes, repeated rows</a:t>
                      </a:r>
                    </a:p>
                  </a:txBody>
                  <a:tcPr marL="54864" marR="54864" marT="27432" marB="27432">
                    <a:solidFill>
                      <a:srgbClr val="FFFFFF"/>
                    </a:solidFill>
                  </a:tcPr>
                </a:tc>
                <a:tc>
                  <a:txBody>
                    <a:bodyPr wrap="square"/>
                    <a:lstStyle/>
                    <a:p>
                      <a:pPr algn="l"/>
                      <a:r>
                        <a:rPr sz="1100" b="0">
                          <a:solidFill>
                            <a:srgbClr val="1F2A44"/>
                          </a:solidFill>
                          <a:latin typeface="Calibri"/>
                        </a:rPr>
                        <a:t>368 empty tables; redundant indexes and repeated rows named in the table list</a:t>
                      </a:r>
                    </a:p>
                  </a:txBody>
                  <a:tcPr marL="54864" marR="54864" marT="27432" marB="27432">
                    <a:solidFill>
                      <a:srgbClr val="FFFFFF"/>
                    </a:solidFill>
                  </a:tcPr>
                </a:tc>
                <a:tc>
                  <a:txBody>
                    <a:bodyPr wrap="square"/>
                    <a:lstStyle/>
                    <a:p>
                      <a:pPr algn="l"/>
                      <a:r>
                        <a:rPr sz="1100" b="0">
                          <a:solidFill>
                            <a:srgbClr val="1F2A44"/>
                          </a:solidFill>
                          <a:latin typeface="Calibri"/>
                        </a:rPr>
                        <a:t>no destination — removal in place after confirmation (proposed)</a:t>
                      </a:r>
                    </a:p>
                  </a:txBody>
                  <a:tcPr marL="54864" marR="54864" marT="27432" marB="27432">
                    <a:solidFill>
                      <a:srgbClr val="FFFFFF"/>
                    </a:solidFill>
                  </a:tcPr>
                </a:tc>
                <a:tc>
                  <a:txBody>
                    <a:bodyPr wrap="square"/>
                    <a:lstStyle/>
                    <a:p>
                      <a:pPr algn="l"/>
                      <a:r>
                        <a:rPr sz="1100" b="0">
                          <a:solidFill>
                            <a:srgbClr val="1F2A44"/>
                          </a:solidFill>
                          <a:latin typeface="Calibri"/>
                        </a:rPr>
                        <a:t>Database administrator</a:t>
                      </a:r>
                    </a:p>
                  </a:txBody>
                  <a:tcPr marL="54864" marR="54864" marT="27432" marB="27432">
                    <a:solidFill>
                      <a:srgbClr val="FFFFFF"/>
                    </a:solidFill>
                  </a:tcPr>
                </a:tc>
                <a:tc>
                  <a:txBody>
                    <a:bodyPr wrap="square"/>
                    <a:lstStyle/>
                    <a:p>
                      <a:pPr algn="l"/>
                      <a:r>
                        <a:rPr sz="1100" b="0">
                          <a:solidFill>
                            <a:srgbClr val="1F2A44"/>
                          </a:solidFill>
                          <a:latin typeface="Calibri"/>
                        </a:rPr>
                        <a:t>up to 2 USD a month at list price plus up to 0 USD a month at list price</a:t>
                      </a:r>
                    </a:p>
                  </a:txBody>
                  <a:tcPr marL="54864" marR="54864" marT="27432" marB="27432">
                    <a:solidFill>
                      <a:srgbClr val="FFFFFF"/>
                    </a:solidFill>
                  </a:tcPr>
                </a:tc>
              </a:tr>
              <a:tr h="612648">
                <a:tc>
                  <a:txBody>
                    <a:bodyPr wrap="square"/>
                    <a:lstStyle/>
                    <a:p>
                      <a:pPr algn="l"/>
                      <a:r>
                        <a:rPr sz="1100" b="0">
                          <a:solidFill>
                            <a:srgbClr val="1F2A44"/>
                          </a:solidFill>
                          <a:latin typeface="Calibri"/>
                        </a:rPr>
                        <a:t>D7</a:t>
                      </a:r>
                    </a:p>
                  </a:txBody>
                  <a:tcPr marL="54864" marR="54864" marT="27432" marB="27432">
                    <a:solidFill>
                      <a:srgbClr val="FFFFFF"/>
                    </a:solidFill>
                  </a:tcPr>
                </a:tc>
                <a:tc>
                  <a:txBody>
                    <a:bodyPr wrap="square"/>
                    <a:lstStyle/>
                    <a:p>
                      <a:pPr algn="l"/>
                      <a:r>
                        <a:rPr sz="1100" b="0">
                          <a:solidFill>
                            <a:srgbClr val="1F2A44"/>
                          </a:solidFill>
                          <a:latin typeface="Calibri"/>
                        </a:rPr>
                        <a:t>Order a fingerprint pass over the file shares</a:t>
                      </a:r>
                    </a:p>
                  </a:txBody>
                  <a:tcPr marL="54864" marR="54864" marT="27432" marB="27432">
                    <a:solidFill>
                      <a:srgbClr val="FFFFFF"/>
                    </a:solidFill>
                  </a:tcPr>
                </a:tc>
                <a:tc>
                  <a:txBody>
                    <a:bodyPr wrap="square"/>
                    <a:lstStyle/>
                    <a:p>
                      <a:pPr algn="l"/>
                      <a:r>
                        <a:rPr sz="1100" b="0">
                          <a:solidFill>
                            <a:srgbClr val="1F2A44"/>
                          </a:solidFill>
                          <a:latin typeface="Calibri"/>
                        </a:rPr>
                        <a:t>16 NAS shares holding 43.9 TiB (channel01 … channel16)</a:t>
                      </a:r>
                    </a:p>
                  </a:txBody>
                  <a:tcPr marL="54864" marR="54864" marT="27432" marB="27432">
                    <a:solidFill>
                      <a:srgbClr val="FFFFFF"/>
                    </a:solidFill>
                  </a:tcPr>
                </a:tc>
                <a:tc>
                  <a:txBody>
                    <a:bodyPr wrap="square"/>
                    <a:lstStyle/>
                    <a:p>
                      <a:pPr algn="l"/>
                      <a:r>
                        <a:rPr sz="1100" b="0">
                          <a:solidFill>
                            <a:srgbClr val="1F2A44"/>
                          </a:solidFill>
                          <a:latin typeface="Calibri"/>
                        </a:rPr>
                        <a:t>none yet — measurement first</a:t>
                      </a:r>
                    </a:p>
                  </a:txBody>
                  <a:tcPr marL="54864" marR="54864" marT="27432" marB="27432">
                    <a:solidFill>
                      <a:srgbClr val="FFFFFF"/>
                    </a:solidFill>
                  </a:tcPr>
                </a:tc>
                <a:tc>
                  <a:txBody>
                    <a:bodyPr wrap="square"/>
                    <a:lstStyle/>
                    <a:p>
                      <a:pPr algn="l"/>
                      <a:r>
                        <a:rPr sz="1100" b="0">
                          <a:solidFill>
                            <a:srgbClr val="1F2A44"/>
                          </a:solidFill>
                          <a:latin typeface="Calibri"/>
                        </a:rPr>
                        <a:t>Head of Technology</a:t>
                      </a:r>
                    </a:p>
                  </a:txBody>
                  <a:tcPr marL="54864" marR="54864" marT="27432" marB="27432">
                    <a:solidFill>
                      <a:srgbClr val="FFFFFF"/>
                    </a:solidFill>
                  </a:tcPr>
                </a:tc>
                <a:tc>
                  <a:txBody>
                    <a:bodyPr wrap="square"/>
                    <a:lstStyle/>
                    <a:p>
                      <a:pPr algn="l"/>
                      <a:r>
                        <a:rPr sz="1100" b="0">
                          <a:solidFill>
                            <a:srgbClr val="1F2A44"/>
                          </a:solidFill>
                          <a:latin typeface="Calibri"/>
                        </a:rPr>
                        <a:t>a measured duplication figure for the largest unmeasured store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0" cy="923544"/>
        </p:xfrm>
        <a:graphic>
          <a:graphicData uri="http://schemas.openxmlformats.org/drawingml/2006/table">
            <a:tbl>
              <a:tblPr firstRow="1" bandRow="1">
                <a:tableStyleId>{5C22544A-7EE6-4342-B048-85BDC9FD1C3A}</a:tableStyleId>
              </a:tblPr>
              <a:tblGrid>
                <a:gridCol w="687685"/>
                <a:gridCol w="2063057"/>
                <a:gridCol w="2063057"/>
                <a:gridCol w="2063057"/>
                <a:gridCol w="2063057"/>
                <a:gridCol w="2063057"/>
              </a:tblGrid>
              <a:tr h="310896">
                <a:tc>
                  <a:txBody>
                    <a:bodyPr wrap="square"/>
                    <a:lstStyle/>
                    <a:p>
                      <a:pPr algn="l"/>
                      <a:r>
                        <a:rPr sz="1100" b="1">
                          <a:solidFill>
                            <a:srgbClr val="1F2A44"/>
                          </a:solidFill>
                          <a:latin typeface="Calibri"/>
                        </a:rPr>
                        <a:t>No.</a:t>
                      </a:r>
                    </a:p>
                  </a:txBody>
                  <a:tcPr marL="54864" marR="54864" marT="27432" marB="27432">
                    <a:solidFill>
                      <a:srgbClr val="E9ECF1"/>
                    </a:solidFill>
                  </a:tcPr>
                </a:tc>
                <a:tc>
                  <a:txBody>
                    <a:bodyPr wrap="square"/>
                    <a:lstStyle/>
                    <a:p>
                      <a:pPr algn="l"/>
                      <a:r>
                        <a:rPr sz="1100" b="1">
                          <a:solidFill>
                            <a:srgbClr val="1F2A44"/>
                          </a:solidFill>
                          <a:latin typeface="Calibri"/>
                        </a:rPr>
                        <a:t>Decision requested</a:t>
                      </a:r>
                    </a:p>
                  </a:txBody>
                  <a:tcPr marL="54864" marR="54864" marT="27432" marB="27432">
                    <a:solidFill>
                      <a:srgbClr val="E9ECF1"/>
                    </a:solidFill>
                  </a:tcPr>
                </a:tc>
                <a:tc>
                  <a:txBody>
                    <a:bodyPr wrap="square"/>
                    <a:lstStyle/>
                    <a:p>
                      <a:pPr algn="l"/>
                      <a:r>
                        <a:rPr sz="1100" b="1">
                          <a:solidFill>
                            <a:srgbClr val="1F2A44"/>
                          </a:solidFill>
                          <a:latin typeface="Calibri"/>
                        </a:rPr>
                        <a:t>Exact source</a:t>
                      </a:r>
                    </a:p>
                  </a:txBody>
                  <a:tcPr marL="54864" marR="54864" marT="27432" marB="27432">
                    <a:solidFill>
                      <a:srgbClr val="E9ECF1"/>
                    </a:solidFill>
                  </a:tcPr>
                </a:tc>
                <a:tc>
                  <a:txBody>
                    <a:bodyPr wrap="square"/>
                    <a:lstStyle/>
                    <a:p>
                      <a:pPr algn="l"/>
                      <a:r>
                        <a:rPr sz="11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100" b="1">
                          <a:solidFill>
                            <a:srgbClr val="1F2A44"/>
                          </a:solidFill>
                          <a:latin typeface="Calibri"/>
                        </a:rPr>
                        <a:t>Responsible role</a:t>
                      </a:r>
                    </a:p>
                  </a:txBody>
                  <a:tcPr marL="54864" marR="54864" marT="27432" marB="27432">
                    <a:solidFill>
                      <a:srgbClr val="E9ECF1"/>
                    </a:solidFill>
                  </a:tcPr>
                </a:tc>
                <a:tc>
                  <a:txBody>
                    <a:bodyPr wrap="square"/>
                    <a:lstStyle/>
                    <a:p>
                      <a:pPr algn="l"/>
                      <a:r>
                        <a:rPr sz="1100" b="1">
                          <a:solidFill>
                            <a:srgbClr val="1F2A44"/>
                          </a:solidFill>
                          <a:latin typeface="Calibri"/>
                        </a:rPr>
                        <a:t>Expected benefit</a:t>
                      </a:r>
                    </a:p>
                  </a:txBody>
                  <a:tcPr marL="54864" marR="54864" marT="27432" marB="27432">
                    <a:solidFill>
                      <a:srgbClr val="E9ECF1"/>
                    </a:solidFill>
                  </a:tcPr>
                </a:tc>
              </a:tr>
              <a:tr h="612648">
                <a:tc>
                  <a:txBody>
                    <a:bodyPr wrap="square"/>
                    <a:lstStyle/>
                    <a:p>
                      <a:pPr algn="l"/>
                      <a:r>
                        <a:rPr sz="1100" b="0">
                          <a:solidFill>
                            <a:srgbClr val="1F2A44"/>
                          </a:solidFill>
                          <a:latin typeface="Calibri"/>
                        </a:rPr>
                        <a:t>D8</a:t>
                      </a:r>
                    </a:p>
                  </a:txBody>
                  <a:tcPr marL="54864" marR="54864" marT="27432" marB="27432">
                    <a:solidFill>
                      <a:srgbClr val="FFFFFF"/>
                    </a:solidFill>
                  </a:tcPr>
                </a:tc>
                <a:tc>
                  <a:txBody>
                    <a:bodyPr wrap="square"/>
                    <a:lstStyle/>
                    <a:p>
                      <a:pPr algn="l"/>
                      <a:r>
                        <a:rPr sz="1100" b="0">
                          <a:solidFill>
                            <a:srgbClr val="1F2A44"/>
                          </a:solidFill>
                          <a:latin typeface="Calibri"/>
                        </a:rPr>
                        <a:t>Adopt naming and ownership rules for storage</a:t>
                      </a:r>
                    </a:p>
                  </a:txBody>
                  <a:tcPr marL="54864" marR="54864" marT="27432" marB="27432">
                    <a:solidFill>
                      <a:srgbClr val="FFFFFF"/>
                    </a:solidFill>
                  </a:tcPr>
                </a:tc>
                <a:tc>
                  <a:txBody>
                    <a:bodyPr wrap="square"/>
                    <a:lstStyle/>
                    <a:p>
                      <a:pPr algn="l"/>
                      <a:r>
                        <a:rPr sz="1100" b="0">
                          <a:solidFill>
                            <a:srgbClr val="1F2A44"/>
                          </a:solidFill>
                          <a:latin typeface="Calibri"/>
                        </a:rPr>
                        <a:t>machine-named buckets (na7p4…), channel shares, staging copies</a:t>
                      </a:r>
                    </a:p>
                  </a:txBody>
                  <a:tcPr marL="54864" marR="54864" marT="27432" marB="27432">
                    <a:solidFill>
                      <a:srgbClr val="FFFFFF"/>
                    </a:solidFill>
                  </a:tcPr>
                </a:tc>
                <a:tc>
                  <a:txBody>
                    <a:bodyPr wrap="square"/>
                    <a:lstStyle/>
                    <a:p>
                      <a:pPr algn="l"/>
                      <a:r>
                        <a:rPr sz="1100" b="0">
                          <a:solidFill>
                            <a:srgbClr val="1F2A44"/>
                          </a:solidFill>
                          <a:latin typeface="Calibri"/>
                        </a:rPr>
                        <a:t>register maintained by the storage owner (proposed)</a:t>
                      </a:r>
                    </a:p>
                  </a:txBody>
                  <a:tcPr marL="54864" marR="54864" marT="27432" marB="27432">
                    <a:solidFill>
                      <a:srgbClr val="FFFFFF"/>
                    </a:solidFill>
                  </a:tcPr>
                </a:tc>
                <a:tc>
                  <a:txBody>
                    <a:bodyPr wrap="square"/>
                    <a:lstStyle/>
                    <a:p>
                      <a:pPr algn="l"/>
                      <a:r>
                        <a:rPr sz="1100" b="0">
                          <a:solidFill>
                            <a:srgbClr val="1F2A44"/>
                          </a:solidFill>
                          <a:latin typeface="Calibri"/>
                        </a:rPr>
                        <a:t>Chief Operating Officer</a:t>
                      </a:r>
                    </a:p>
                  </a:txBody>
                  <a:tcPr marL="54864" marR="54864" marT="27432" marB="27432">
                    <a:solidFill>
                      <a:srgbClr val="FFFFFF"/>
                    </a:solidFill>
                  </a:tcPr>
                </a:tc>
                <a:tc>
                  <a:txBody>
                    <a:bodyPr wrap="square"/>
                    <a:lstStyle/>
                    <a:p>
                      <a:pPr algn="l"/>
                      <a:r>
                        <a:rPr sz="1100" b="0">
                          <a:solidFill>
                            <a:srgbClr val="1F2A44"/>
                          </a:solidFill>
                          <a:latin typeface="Calibri"/>
                        </a:rPr>
                        <a:t>fewer orphaned stores and faster decisions at the next census</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181051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841247">
                <a:tc>
                  <a:txBody>
                    <a:bodyPr wrap="square"/>
                    <a:lstStyle/>
                    <a:p>
                      <a:pPr algn="l"/>
                      <a:r>
                        <a:rPr sz="1200" b="0">
                          <a:solidFill>
                            <a:srgbClr val="1F2A44"/>
                          </a:solidFill>
                          <a:latin typeface="Calibri"/>
                        </a:rPr>
                        <a:t>D9</a:t>
                      </a:r>
                    </a:p>
                  </a:txBody>
                  <a:tcPr marL="54864" marR="54864" marT="27432" marB="27432">
                    <a:solidFill>
                      <a:srgbClr val="FFFFFF"/>
                    </a:solidFill>
                  </a:tcPr>
                </a:tc>
                <a:tc>
                  <a:txBody>
                    <a:bodyPr wrap="square"/>
                    <a:lstStyle/>
                    <a:p>
                      <a:pPr algn="l"/>
                      <a:r>
                        <a:rPr sz="1200" b="0">
                          <a:solidFill>
                            <a:srgbClr val="1F2A44"/>
                          </a:solidFill>
                          <a:latin typeface="Calibri"/>
                        </a:rPr>
                        <a:t>Register the language assets as governed data products</a:t>
                      </a:r>
                    </a:p>
                  </a:txBody>
                  <a:tcPr marL="54864" marR="54864" marT="27432" marB="27432">
                    <a:solidFill>
                      <a:srgbClr val="FFFFFF"/>
                    </a:solidFill>
                  </a:tcPr>
                </a:tc>
                <a:tc>
                  <a:txBody>
                    <a:bodyPr wrap="square"/>
                    <a:lstStyle/>
                    <a:p>
                      <a:pPr algn="l"/>
                      <a:r>
                        <a:rPr sz="1200" b="0">
                          <a:solidFill>
                            <a:srgbClr val="1F2A44"/>
                          </a:solidFill>
                          <a:latin typeface="Calibri"/>
                        </a:rPr>
                        <a:t>staged corpus by language folder (T020), news scripts by station (T022), transcription workbench (T023)</a:t>
                      </a:r>
                    </a:p>
                  </a:txBody>
                  <a:tcPr marL="54864" marR="54864" marT="27432" marB="27432">
                    <a:solidFill>
                      <a:srgbClr val="FFFFFF"/>
                    </a:solidFill>
                  </a:tcPr>
                </a:tc>
                <a:tc>
                  <a:txBody>
                    <a:bodyPr wrap="square"/>
                    <a:lstStyle/>
                    <a:p>
                      <a:pPr algn="l"/>
                      <a:r>
                        <a:rPr sz="1200" b="0">
                          <a:solidFill>
                            <a:srgbClr val="1F2A44"/>
                          </a:solidFill>
                          <a:latin typeface="Calibri"/>
                        </a:rPr>
                        <a:t>governed asset register (proposed)</a:t>
                      </a:r>
                    </a:p>
                  </a:txBody>
                  <a:tcPr marL="54864" marR="54864" marT="27432" marB="27432">
                    <a:solidFill>
                      <a:srgbClr val="FFFFFF"/>
                    </a:solidFill>
                  </a:tcPr>
                </a:tc>
                <a:tc>
                  <a:txBody>
                    <a:bodyPr wrap="square"/>
                    <a:lstStyle/>
                    <a:p>
                      <a:pPr algn="l"/>
                      <a:r>
                        <a:rPr sz="1200" b="0">
                          <a:solidFill>
                            <a:srgbClr val="1F2A44"/>
                          </a:solidFill>
                          <a:latin typeface="Calibri"/>
                        </a:rPr>
                        <a:t>Head of Data with the newsroom</a:t>
                      </a:r>
                    </a:p>
                  </a:txBody>
                  <a:tcPr marL="54864" marR="54864" marT="27432" marB="27432">
                    <a:solidFill>
                      <a:srgbClr val="FFFFFF"/>
                    </a:solidFill>
                  </a:tcPr>
                </a:tc>
                <a:tc>
                  <a:txBody>
                    <a:bodyPr wrap="square"/>
                    <a:lstStyle/>
                    <a:p>
                      <a:pPr algn="l"/>
                      <a:r>
                        <a:rPr sz="1200" b="0">
                          <a:solidFill>
                            <a:srgbClr val="1F2A44"/>
                          </a:solidFill>
                          <a:latin typeface="Calibri"/>
                        </a:rPr>
                        <a:t>a licensable, evidenced inventory of non-English speech and text</a:t>
                      </a:r>
                    </a:p>
                  </a:txBody>
                  <a:tcPr marL="54864" marR="54864" marT="27432" marB="27432">
                    <a:solidFill>
                      <a:srgbClr val="FFFFFF"/>
                    </a:solidFill>
                  </a:tcPr>
                </a:tc>
              </a:tr>
              <a:tr h="658368">
                <a:tc>
                  <a:txBody>
                    <a:bodyPr wrap="square"/>
                    <a:lstStyle/>
                    <a:p>
                      <a:pPr algn="l"/>
                      <a:r>
                        <a:rPr sz="1200" b="0">
                          <a:solidFill>
                            <a:srgbClr val="1F2A44"/>
                          </a:solidFill>
                          <a:latin typeface="Calibri"/>
                        </a:rPr>
                        <a:t>D10</a:t>
                      </a:r>
                    </a:p>
                  </a:txBody>
                  <a:tcPr marL="54864" marR="54864" marT="27432" marB="27432">
                    <a:solidFill>
                      <a:srgbClr val="FFFFFF"/>
                    </a:solidFill>
                  </a:tcPr>
                </a:tc>
                <a:tc>
                  <a:txBody>
                    <a:bodyPr wrap="square"/>
                    <a:lstStyle/>
                    <a:p>
                      <a:pPr algn="l"/>
                      <a:r>
                        <a:rPr sz="1200" b="0">
                          <a:solidFill>
                            <a:srgbClr val="1F2A44"/>
                          </a:solidFill>
                          <a:latin typeface="Calibri"/>
                        </a:rPr>
                        <a:t>Commission the de-identified reference products the census ranks first</a:t>
                      </a:r>
                    </a:p>
                  </a:txBody>
                  <a:tcPr marL="54864" marR="54864" marT="27432" marB="27432">
                    <a:solidFill>
                      <a:srgbClr val="FFFFFF"/>
                    </a:solidFill>
                  </a:tcPr>
                </a:tc>
                <a:tc>
                  <a:txBody>
                    <a:bodyPr wrap="square"/>
                    <a:lstStyle/>
                    <a:p>
                      <a:pPr algn="l"/>
                      <a:r>
                        <a:rPr sz="1200" b="0">
                          <a:solidFill>
                            <a:srgbClr val="1F2A44"/>
                          </a:solidFill>
                          <a:latin typeface="Calibri"/>
                        </a:rPr>
                        <a:t>the three leading product candidates in the census</a:t>
                      </a:r>
                    </a:p>
                  </a:txBody>
                  <a:tcPr marL="54864" marR="54864" marT="27432" marB="27432">
                    <a:solidFill>
                      <a:srgbClr val="FFFFFF"/>
                    </a:solidFill>
                  </a:tcPr>
                </a:tc>
                <a:tc>
                  <a:txBody>
                    <a:bodyPr wrap="square"/>
                    <a:lstStyle/>
                    <a:p>
                      <a:pPr algn="l"/>
                      <a:r>
                        <a:rPr sz="1200" b="0">
                          <a:solidFill>
                            <a:srgbClr val="1F2A44"/>
                          </a:solidFill>
                          <a:latin typeface="Calibri"/>
                        </a:rPr>
                        <a:t>product workspace (proposed)</a:t>
                      </a:r>
                    </a:p>
                  </a:txBody>
                  <a:tcPr marL="54864" marR="54864" marT="27432" marB="27432">
                    <a:solidFill>
                      <a:srgbClr val="FFFFFF"/>
                    </a:solidFill>
                  </a:tcPr>
                </a:tc>
                <a:tc>
                  <a:txBody>
                    <a:bodyPr wrap="square"/>
                    <a:lstStyle/>
                    <a:p>
                      <a:pPr algn="l"/>
                      <a:r>
                        <a:rPr sz="1200" b="0">
                          <a:solidFill>
                            <a:srgbClr val="1F2A44"/>
                          </a:solidFill>
                          <a:latin typeface="Calibri"/>
                        </a:rPr>
                        <a:t>Head of Data</a:t>
                      </a:r>
                    </a:p>
                  </a:txBody>
                  <a:tcPr marL="54864" marR="54864" marT="27432" marB="27432">
                    <a:solidFill>
                      <a:srgbClr val="FFFFFF"/>
                    </a:solidFill>
                  </a:tcPr>
                </a:tc>
                <a:tc>
                  <a:txBody>
                    <a:bodyPr wrap="square"/>
                    <a:lstStyle/>
                    <a:p>
                      <a:pPr algn="l"/>
                      <a:r>
                        <a:rPr sz="1200" b="0">
                          <a:solidFill>
                            <a:srgbClr val="1F2A44"/>
                          </a:solidFill>
                          <a:latin typeface="Calibri"/>
                        </a:rPr>
                        <a:t>first revenue-bearing use of the estate's data</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Executive decisions requested — one row each</a:t>
            </a:r>
          </a:p>
        </p:txBody>
      </p:sp>
      <p:graphicFrame>
        <p:nvGraphicFramePr>
          <p:cNvPr id="4" name="Table 3"/>
          <p:cNvGraphicFramePr>
            <a:graphicFrameLocks noGrp="1"/>
          </p:cNvGraphicFramePr>
          <p:nvPr/>
        </p:nvGraphicFramePr>
        <p:xfrm>
          <a:off x="594360" y="1920240"/>
          <a:ext cx="11002972" cy="2542031"/>
        </p:xfrm>
        <a:graphic>
          <a:graphicData uri="http://schemas.openxmlformats.org/drawingml/2006/table">
            <a:tbl>
              <a:tblPr firstRow="1" bandRow="1">
                <a:tableStyleId>{5C22544A-7EE6-4342-B048-85BDC9FD1C3A}</a:tableStyleId>
              </a:tblPr>
              <a:tblGrid>
                <a:gridCol w="713155"/>
                <a:gridCol w="2139467"/>
                <a:gridCol w="2139467"/>
                <a:gridCol w="2139467"/>
                <a:gridCol w="1731949"/>
                <a:gridCol w="2139467"/>
              </a:tblGrid>
              <a:tr h="310896">
                <a:tc>
                  <a:txBody>
                    <a:bodyPr wrap="square"/>
                    <a:lstStyle/>
                    <a:p>
                      <a:pPr algn="l"/>
                      <a:r>
                        <a:rPr sz="1200" b="1">
                          <a:solidFill>
                            <a:srgbClr val="1F2A44"/>
                          </a:solidFill>
                          <a:latin typeface="Calibri"/>
                        </a:rPr>
                        <a:t>No.</a:t>
                      </a:r>
                    </a:p>
                  </a:txBody>
                  <a:tcPr marL="54864" marR="54864" marT="27432" marB="27432">
                    <a:solidFill>
                      <a:srgbClr val="E9ECF1"/>
                    </a:solidFill>
                  </a:tcPr>
                </a:tc>
                <a:tc>
                  <a:txBody>
                    <a:bodyPr wrap="square"/>
                    <a:lstStyle/>
                    <a:p>
                      <a:pPr algn="l"/>
                      <a:r>
                        <a:rPr sz="1200" b="1">
                          <a:solidFill>
                            <a:srgbClr val="1F2A44"/>
                          </a:solidFill>
                          <a:latin typeface="Calibri"/>
                        </a:rPr>
                        <a:t>Decision requested</a:t>
                      </a:r>
                    </a:p>
                  </a:txBody>
                  <a:tcPr marL="54864" marR="54864" marT="27432" marB="27432">
                    <a:solidFill>
                      <a:srgbClr val="E9ECF1"/>
                    </a:solidFill>
                  </a:tcPr>
                </a:tc>
                <a:tc>
                  <a:txBody>
                    <a:bodyPr wrap="square"/>
                    <a:lstStyle/>
                    <a:p>
                      <a:pPr algn="l"/>
                      <a:r>
                        <a:rPr sz="1200" b="1">
                          <a:solidFill>
                            <a:srgbClr val="1F2A44"/>
                          </a:solidFill>
                          <a:latin typeface="Calibri"/>
                        </a:rPr>
                        <a:t>Exact source</a:t>
                      </a:r>
                    </a:p>
                  </a:txBody>
                  <a:tcPr marL="54864" marR="54864" marT="27432" marB="27432">
                    <a:solidFill>
                      <a:srgbClr val="E9ECF1"/>
                    </a:solidFill>
                  </a:tcPr>
                </a:tc>
                <a:tc>
                  <a:txBody>
                    <a:bodyPr wrap="square"/>
                    <a:lstStyle/>
                    <a:p>
                      <a:pPr algn="l"/>
                      <a:r>
                        <a:rPr sz="1200" b="1">
                          <a:solidFill>
                            <a:srgbClr val="1F2A44"/>
                          </a:solidFill>
                          <a:latin typeface="Calibri"/>
                        </a:rPr>
                        <a:t>Proposed destination or rule</a:t>
                      </a:r>
                    </a:p>
                  </a:txBody>
                  <a:tcPr marL="54864" marR="54864" marT="27432" marB="27432">
                    <a:solidFill>
                      <a:srgbClr val="E9ECF1"/>
                    </a:solidFill>
                  </a:tcPr>
                </a:tc>
                <a:tc>
                  <a:txBody>
                    <a:bodyPr wrap="square"/>
                    <a:lstStyle/>
                    <a:p>
                      <a:pPr algn="l"/>
                      <a:r>
                        <a:rPr sz="1200" b="1">
                          <a:solidFill>
                            <a:srgbClr val="1F2A44"/>
                          </a:solidFill>
                          <a:latin typeface="Calibri"/>
                        </a:rPr>
                        <a:t>Responsible role</a:t>
                      </a:r>
                    </a:p>
                  </a:txBody>
                  <a:tcPr marL="54864" marR="54864" marT="27432" marB="27432">
                    <a:solidFill>
                      <a:srgbClr val="E9ECF1"/>
                    </a:solidFill>
                  </a:tcPr>
                </a:tc>
                <a:tc>
                  <a:txBody>
                    <a:bodyPr wrap="square"/>
                    <a:lstStyle/>
                    <a:p>
                      <a:pPr algn="l"/>
                      <a:r>
                        <a:rPr sz="1200" b="1">
                          <a:solidFill>
                            <a:srgbClr val="1F2A44"/>
                          </a:solidFill>
                          <a:latin typeface="Calibri"/>
                        </a:rPr>
                        <a:t>Expected benefit</a:t>
                      </a:r>
                    </a:p>
                  </a:txBody>
                  <a:tcPr marL="54864" marR="54864" marT="27432" marB="27432">
                    <a:solidFill>
                      <a:srgbClr val="E9ECF1"/>
                    </a:solidFill>
                  </a:tcPr>
                </a:tc>
              </a:tr>
              <a:tr h="1572767">
                <a:tc>
                  <a:txBody>
                    <a:bodyPr wrap="square"/>
                    <a:lstStyle/>
                    <a:p>
                      <a:pPr algn="l"/>
                      <a:r>
                        <a:rPr sz="1200" b="0">
                          <a:solidFill>
                            <a:srgbClr val="1F2A44"/>
                          </a:solidFill>
                          <a:latin typeface="Calibri"/>
                        </a:rPr>
                        <a:t>D11</a:t>
                      </a:r>
                    </a:p>
                  </a:txBody>
                  <a:tcPr marL="54864" marR="54864" marT="27432" marB="27432">
                    <a:solidFill>
                      <a:srgbClr val="FFFFFF"/>
                    </a:solidFill>
                  </a:tcPr>
                </a:tc>
                <a:tc>
                  <a:txBody>
                    <a:bodyPr wrap="square"/>
                    <a:lstStyle/>
                    <a:p>
                      <a:pPr algn="l"/>
                      <a:r>
                        <a:rPr sz="1200" b="0">
                          <a:solidFill>
                            <a:srgbClr val="1F2A44"/>
                          </a:solidFill>
                          <a:latin typeface="Calibri"/>
                        </a:rPr>
                        <a:t>Grant the census key object read on the buckets that refuse it</a:t>
                      </a:r>
                    </a:p>
                  </a:txBody>
                  <a:tcPr marL="54864" marR="54864" marT="27432" marB="27432">
                    <a:solidFill>
                      <a:srgbClr val="FFFFFF"/>
                    </a:solidFill>
                  </a:tcPr>
                </a:tc>
                <a:tc>
                  <a:txBody>
                    <a:bodyPr wrap="square"/>
                    <a:lstStyle/>
                    <a:p>
                      <a:pPr algn="l"/>
                      <a:r>
                        <a:rPr sz="1200" b="0">
                          <a:solidFill>
                            <a:srgbClr val="1F2A44"/>
                          </a:solidFill>
                          <a:latin typeface="Calibri"/>
                        </a:rPr>
                        <a:t>15 buckets, e.g. 2024offairrecs, na7p43do, na7p43js, na7p434j, na7p41hj, na7p42xe, na7p42xw, na7p42yg, na7p43d3, na7p4oco, na7p4357, na7p (4,173,626 media files, 120.71 TiB)</a:t>
                      </a:r>
                    </a:p>
                  </a:txBody>
                  <a:tcPr marL="54864" marR="54864" marT="27432" marB="27432">
                    <a:solidFill>
                      <a:srgbClr val="FFFFFF"/>
                    </a:solidFill>
                  </a:tcPr>
                </a:tc>
                <a:tc>
                  <a:txBody>
                    <a:bodyPr wrap="square"/>
                    <a:lstStyle/>
                    <a:p>
                      <a:pPr algn="l"/>
                      <a:r>
                        <a:rPr sz="1200" b="0">
                          <a:solidFill>
                            <a:srgbClr val="1F2A44"/>
                          </a:solidFill>
                          <a:latin typeface="Calibri"/>
                        </a:rPr>
                        <a:t>no data moves; access only (proposed)</a:t>
                      </a:r>
                    </a:p>
                  </a:txBody>
                  <a:tcPr marL="54864" marR="54864" marT="27432" marB="27432">
                    <a:solidFill>
                      <a:srgbClr val="FFFFFF"/>
                    </a:solidFill>
                  </a:tcPr>
                </a:tc>
                <a:tc>
                  <a:txBody>
                    <a:bodyPr wrap="square"/>
                    <a:lstStyle/>
                    <a:p>
                      <a:pPr algn="l"/>
                      <a:r>
                        <a:rPr sz="1200" b="0">
                          <a:solidFill>
                            <a:srgbClr val="1F2A44"/>
                          </a:solidFill>
                          <a:latin typeface="Calibri"/>
                        </a:rPr>
                        <a:t>Cloud account owner</a:t>
                      </a:r>
                    </a:p>
                  </a:txBody>
                  <a:tcPr marL="54864" marR="54864" marT="27432" marB="27432">
                    <a:solidFill>
                      <a:srgbClr val="FFFFFF"/>
                    </a:solidFill>
                  </a:tcPr>
                </a:tc>
                <a:tc>
                  <a:txBody>
                    <a:bodyPr wrap="square"/>
                    <a:lstStyle/>
                    <a:p>
                      <a:pPr algn="l"/>
                      <a:r>
                        <a:rPr sz="1200" b="0">
                          <a:solidFill>
                            <a:srgbClr val="1F2A44"/>
                          </a:solidFill>
                          <a:latin typeface="Calibri"/>
                        </a:rPr>
                        <a:t>hours, speech and languages for the larger part of the media estate, measured instead of unknown</a:t>
                      </a:r>
                    </a:p>
                  </a:txBody>
                  <a:tcPr marL="54864" marR="54864" marT="27432" marB="27432">
                    <a:solidFill>
                      <a:srgbClr val="FFFFFF"/>
                    </a:solidFill>
                  </a:tcPr>
                </a:tc>
              </a:tr>
              <a:tr h="658368">
                <a:tc>
                  <a:txBody>
                    <a:bodyPr wrap="square"/>
                    <a:lstStyle/>
                    <a:p>
                      <a:pPr algn="l"/>
                      <a:r>
                        <a:rPr sz="1200" b="0">
                          <a:solidFill>
                            <a:srgbClr val="1F2A44"/>
                          </a:solidFill>
                          <a:latin typeface="Calibri"/>
                        </a:rPr>
                        <a:t>D12</a:t>
                      </a:r>
                    </a:p>
                  </a:txBody>
                  <a:tcPr marL="54864" marR="54864" marT="27432" marB="27432">
                    <a:solidFill>
                      <a:srgbClr val="FFFFFF"/>
                    </a:solidFill>
                  </a:tcPr>
                </a:tc>
                <a:tc>
                  <a:txBody>
                    <a:bodyPr wrap="square"/>
                    <a:lstStyle/>
                    <a:p>
                      <a:pPr algn="l"/>
                      <a:r>
                        <a:rPr sz="1200" b="0">
                          <a:solidFill>
                            <a:srgbClr val="1F2A44"/>
                          </a:solidFill>
                          <a:latin typeface="Calibri"/>
                        </a:rPr>
                        <a:t>Decide whether to restore the Archive-class buckets that cannot be read directly</a:t>
                      </a:r>
                    </a:p>
                  </a:txBody>
                  <a:tcPr marL="54864" marR="54864" marT="27432" marB="27432">
                    <a:solidFill>
                      <a:srgbClr val="FFFFFF"/>
                    </a:solidFill>
                  </a:tcPr>
                </a:tc>
                <a:tc>
                  <a:txBody>
                    <a:bodyPr wrap="square"/>
                    <a:lstStyle/>
                    <a:p>
                      <a:pPr algn="l"/>
                      <a:r>
                        <a:rPr sz="1200" b="0">
                          <a:solidFill>
                            <a:srgbClr val="1F2A44"/>
                          </a:solidFill>
                          <a:latin typeface="Calibri"/>
                        </a:rPr>
                        <a:t>2 buckets, e.g. test-viusasa-bucket, fast-channels</a:t>
                      </a:r>
                    </a:p>
                  </a:txBody>
                  <a:tcPr marL="54864" marR="54864" marT="27432" marB="27432">
                    <a:solidFill>
                      <a:srgbClr val="FFFFFF"/>
                    </a:solidFill>
                  </a:tcPr>
                </a:tc>
                <a:tc>
                  <a:txBody>
                    <a:bodyPr wrap="square"/>
                    <a:lstStyle/>
                    <a:p>
                      <a:pPr algn="l"/>
                      <a:r>
                        <a:rPr sz="1200" b="0">
                          <a:solidFill>
                            <a:srgbClr val="1F2A44"/>
                          </a:solidFill>
                          <a:latin typeface="Calibri"/>
                        </a:rPr>
                        <a:t>same buckets; restored copies temporary (proposed)</a:t>
                      </a:r>
                    </a:p>
                  </a:txBody>
                  <a:tcPr marL="54864" marR="54864" marT="27432" marB="27432">
                    <a:solidFill>
                      <a:srgbClr val="FFFFFF"/>
                    </a:solidFill>
                  </a:tcPr>
                </a:tc>
                <a:tc>
                  <a:txBody>
                    <a:bodyPr wrap="square"/>
                    <a:lstStyle/>
                    <a:p>
                      <a:pPr algn="l"/>
                      <a:r>
                        <a:rPr sz="1200" b="0">
                          <a:solidFill>
                            <a:srgbClr val="1F2A44"/>
                          </a:solidFill>
                          <a:latin typeface="Calibri"/>
                        </a:rPr>
                        <a:t>Head of Technology (storage owner)</a:t>
                      </a:r>
                    </a:p>
                  </a:txBody>
                  <a:tcPr marL="54864" marR="54864" marT="27432" marB="27432">
                    <a:solidFill>
                      <a:srgbClr val="FFFFFF"/>
                    </a:solidFill>
                  </a:tcPr>
                </a:tc>
                <a:tc>
                  <a:txBody>
                    <a:bodyPr wrap="square"/>
                    <a:lstStyle/>
                    <a:p>
                      <a:pPr algn="l"/>
                      <a:r>
                        <a:rPr sz="1200" b="0">
                          <a:solidFill>
                            <a:srgbClr val="1F2A44"/>
                          </a:solidFill>
                          <a:latin typeface="Calibri"/>
                        </a:rPr>
                        <a:t>a measured reading of otherwise dark buckets, at a known retrieval cost</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Each decision names the exact source it rests on, the action, the proposed destination or rule, who carries it, the benefit stated as an upper bound where it is money, the evidence it rests on and what still has to be verified.</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[estimated]  Receipt R02: Estate intelligence census eij-1b359b3cbd2e, cost_strategies priced at reference list prices, not the owner's invoice: Huawei Cloud RDS for MySQL cloud SSD AF-Johannesburg 0.00015 USD/GB-hour x 730 h; OBS Standard 0.023 USD/GB-month</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EVIDENCE BY NAME</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Who wrote this pack — model roles by task strength</a:t>
            </a:r>
          </a:p>
        </p:txBody>
      </p:sp>
      <p:graphicFrame>
        <p:nvGraphicFramePr>
          <p:cNvPr id="4" name="Table 3"/>
          <p:cNvGraphicFramePr>
            <a:graphicFrameLocks noGrp="1"/>
          </p:cNvGraphicFramePr>
          <p:nvPr/>
        </p:nvGraphicFramePr>
        <p:xfrm>
          <a:off x="594360" y="1920240"/>
          <a:ext cx="11002973" cy="2334768"/>
        </p:xfrm>
        <a:graphic>
          <a:graphicData uri="http://schemas.openxmlformats.org/drawingml/2006/table">
            <a:tbl>
              <a:tblPr firstRow="1" bandRow="1">
                <a:tableStyleId>{5C22544A-7EE6-4342-B048-85BDC9FD1C3A}</a:tableStyleId>
              </a:tblPr>
              <a:tblGrid>
                <a:gridCol w="1770593"/>
                <a:gridCol w="2150006"/>
                <a:gridCol w="1770593"/>
                <a:gridCol w="5311781"/>
              </a:tblGrid>
              <a:tr h="310896">
                <a:tc>
                  <a:txBody>
                    <a:bodyPr wrap="square"/>
                    <a:lstStyle/>
                    <a:p>
                      <a:pPr algn="l"/>
                      <a:r>
                        <a:rPr sz="1300" b="1">
                          <a:solidFill>
                            <a:srgbClr val="1F2A44"/>
                          </a:solidFill>
                          <a:latin typeface="Calibri"/>
                        </a:rPr>
                        <a:t>Role</a:t>
                      </a:r>
                    </a:p>
                  </a:txBody>
                  <a:tcPr marL="54864" marR="54864" marT="27432" marB="27432">
                    <a:solidFill>
                      <a:srgbClr val="E9ECF1"/>
                    </a:solidFill>
                  </a:tcPr>
                </a:tc>
                <a:tc>
                  <a:txBody>
                    <a:bodyPr wrap="square"/>
                    <a:lstStyle/>
                    <a:p>
                      <a:pPr algn="l"/>
                      <a:r>
                        <a:rPr sz="1300" b="1">
                          <a:solidFill>
                            <a:srgbClr val="1F2A44"/>
                          </a:solidFill>
                          <a:latin typeface="Calibri"/>
                        </a:rPr>
                        <a:t>Model</a:t>
                      </a:r>
                    </a:p>
                  </a:txBody>
                  <a:tcPr marL="54864" marR="54864" marT="27432" marB="27432">
                    <a:solidFill>
                      <a:srgbClr val="E9ECF1"/>
                    </a:solidFill>
                  </a:tcPr>
                </a:tc>
                <a:tc>
                  <a:txBody>
                    <a:bodyPr wrap="square"/>
                    <a:lstStyle/>
                    <a:p>
                      <a:pPr algn="l"/>
                      <a:r>
                        <a:rPr sz="1300" b="1">
                          <a:solidFill>
                            <a:srgbClr val="1F2A44"/>
                          </a:solidFill>
                          <a:latin typeface="Calibri"/>
                        </a:rPr>
                        <a:t>Family</a:t>
                      </a:r>
                    </a:p>
                  </a:txBody>
                  <a:tcPr marL="54864" marR="54864" marT="27432" marB="27432">
                    <a:solidFill>
                      <a:srgbClr val="E9ECF1"/>
                    </a:solidFill>
                  </a:tcPr>
                </a:tc>
                <a:tc>
                  <a:txBody>
                    <a:bodyPr wrap="square"/>
                    <a:lstStyle/>
                    <a:p>
                      <a:pPr algn="l"/>
                      <a:r>
                        <a:rPr sz="1300" b="1">
                          <a:solidFill>
                            <a:srgbClr val="1F2A44"/>
                          </a:solidFill>
                          <a:latin typeface="Calibri"/>
                        </a:rPr>
                        <a:t>Job</a:t>
                      </a:r>
                    </a:p>
                  </a:txBody>
                  <a:tcPr marL="54864" marR="54864" marT="27432" marB="27432">
                    <a:solidFill>
                      <a:srgbClr val="E9ECF1"/>
                    </a:solidFill>
                  </a:tcPr>
                </a:tc>
              </a:tr>
              <a:tr h="505968">
                <a:tc>
                  <a:txBody>
                    <a:bodyPr wrap="square"/>
                    <a:lstStyle/>
                    <a:p>
                      <a:pPr algn="l"/>
                      <a:r>
                        <a:rPr sz="1300" b="0">
                          <a:solidFill>
                            <a:srgbClr val="1F2A44"/>
                          </a:solidFill>
                          <a:latin typeface="Calibri"/>
                        </a:rPr>
                        <a:t>assistant</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planning collaborator in Train Models: reads the run record, plans the next bounded step, proposes one action</a:t>
                      </a:r>
                    </a:p>
                  </a:txBody>
                  <a:tcPr marL="54864" marR="54864" marT="27432" marB="27432">
                    <a:solidFill>
                      <a:srgbClr val="FFFFFF"/>
                    </a:solidFill>
                  </a:tcPr>
                </a:tc>
              </a:tr>
              <a:tr h="505968">
                <a:tc>
                  <a:txBody>
                    <a:bodyPr wrap="square"/>
                    <a:lstStyle/>
                    <a:p>
                      <a:pPr algn="l"/>
                      <a:r>
                        <a:rPr sz="1300" b="0">
                          <a:solidFill>
                            <a:srgbClr val="1F2A44"/>
                          </a:solidFill>
                          <a:latin typeface="Calibri"/>
                        </a:rPr>
                        <a:t>planner</a:t>
                      </a:r>
                    </a:p>
                  </a:txBody>
                  <a:tcPr marL="54864" marR="54864" marT="27432" marB="27432">
                    <a:solidFill>
                      <a:srgbClr val="FFFFFF"/>
                    </a:solidFill>
                  </a:tcPr>
                </a:tc>
                <a:tc>
                  <a:txBody>
                    <a:bodyPr wrap="square"/>
                    <a:lstStyle/>
                    <a:p>
                      <a:pPr algn="l"/>
                      <a:r>
                        <a:rPr sz="1300" b="0">
                          <a:solidFill>
                            <a:srgbClr val="1F2A44"/>
                          </a:solidFill>
                          <a:latin typeface="Calibri"/>
                        </a:rPr>
                        <a:t>gpt-6-astra</a:t>
                      </a:r>
                    </a:p>
                  </a:txBody>
                  <a:tcPr marL="54864" marR="54864" marT="27432" marB="27432">
                    <a:solidFill>
                      <a:srgbClr val="FFFFFF"/>
                    </a:solidFill>
                  </a:tcPr>
                </a:tc>
                <a:tc>
                  <a:txBody>
                    <a:bodyPr wrap="square"/>
                    <a:lstStyle/>
                    <a:p>
                      <a:pPr algn="l"/>
                      <a:r>
                        <a:rPr sz="1300" b="0">
                          <a:solidFill>
                            <a:srgbClr val="1F2A44"/>
                          </a:solidFill>
                          <a:latin typeface="Calibri"/>
                        </a:rPr>
                        <a:t>openai</a:t>
                      </a:r>
                    </a:p>
                  </a:txBody>
                  <a:tcPr marL="54864" marR="54864" marT="27432" marB="27432">
                    <a:solidFill>
                      <a:srgbClr val="FFFFFF"/>
                    </a:solidFill>
                  </a:tcPr>
                </a:tc>
                <a:tc>
                  <a:txBody>
                    <a:bodyPr wrap="square"/>
                    <a:lstStyle/>
                    <a:p>
                      <a:pPr algn="l"/>
                      <a:r>
                        <a:rPr sz="1300" b="0">
                          <a:solidFill>
                            <a:srgbClr val="1F2A44"/>
                          </a:solidFill>
                          <a:latin typeface="Calibri"/>
                        </a:rPr>
                        <a:t>plans and orchestrates multi-step work (document story, measurement order, task decomposition)</a:t>
                      </a:r>
                    </a:p>
                  </a:txBody>
                  <a:tcPr marL="54864" marR="54864" marT="27432" marB="27432">
                    <a:solidFill>
                      <a:srgbClr val="FFFFFF"/>
                    </a:solidFill>
                  </a:tcPr>
                </a:tc>
              </a:tr>
              <a:tr h="505968">
                <a:tc>
                  <a:txBody>
                    <a:bodyPr wrap="square"/>
                    <a:lstStyle/>
                    <a:p>
                      <a:pPr algn="l"/>
                      <a:r>
                        <a:rPr sz="1300" b="0">
                          <a:solidFill>
                            <a:srgbClr val="1F2A44"/>
                          </a:solidFill>
                          <a:latin typeface="Calibri"/>
                        </a:rPr>
                        <a:t>reviewer</a:t>
                      </a:r>
                    </a:p>
                  </a:txBody>
                  <a:tcPr marL="54864" marR="54864" marT="27432" marB="27432">
                    <a:solidFill>
                      <a:srgbClr val="FFFFFF"/>
                    </a:solidFill>
                  </a:tcPr>
                </a:tc>
                <a:tc>
                  <a:txBody>
                    <a:bodyPr wrap="square"/>
                    <a:lstStyle/>
                    <a:p>
                      <a:pPr algn="l"/>
                      <a:r>
                        <a:rPr sz="1300" b="0">
                          <a:solidFill>
                            <a:srgbClr val="1F2A44"/>
                          </a:solidFill>
                          <a:latin typeface="Calibri"/>
                        </a:rPr>
                        <a:t>claude-fable-5-1</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independent review of complex outputs against source evidence and acceptance criteria; a different family from the planner</a:t>
                      </a:r>
                    </a:p>
                  </a:txBody>
                  <a:tcPr marL="54864" marR="54864" marT="27432" marB="27432">
                    <a:solidFill>
                      <a:srgbClr val="FFFFFF"/>
                    </a:solidFill>
                  </a:tcPr>
                </a:tc>
              </a:tr>
              <a:tr h="505968">
                <a:tc>
                  <a:txBody>
                    <a:bodyPr wrap="square"/>
                    <a:lstStyle/>
                    <a:p>
                      <a:pPr algn="l"/>
                      <a:r>
                        <a:rPr sz="1300" b="0">
                          <a:solidFill>
                            <a:srgbClr val="1F2A44"/>
                          </a:solidFill>
                          <a:latin typeface="Calibri"/>
                        </a:rPr>
                        <a:t>writer</a:t>
                      </a:r>
                    </a:p>
                  </a:txBody>
                  <a:tcPr marL="54864" marR="54864" marT="27432" marB="27432">
                    <a:solidFill>
                      <a:srgbClr val="FFFFFF"/>
                    </a:solidFill>
                  </a:tcPr>
                </a:tc>
                <a:tc>
                  <a:txBody>
                    <a:bodyPr wrap="square"/>
                    <a:lstStyle/>
                    <a:p>
                      <a:pPr algn="l"/>
                      <a:r>
                        <a:rPr sz="1300" b="0">
                          <a:solidFill>
                            <a:srgbClr val="1F2A44"/>
                          </a:solidFill>
                          <a:latin typeface="Calibri"/>
                        </a:rPr>
                        <a:t>claude-sonnet-5-5</a:t>
                      </a:r>
                    </a:p>
                  </a:txBody>
                  <a:tcPr marL="54864" marR="54864" marT="27432" marB="27432">
                    <a:solidFill>
                      <a:srgbClr val="FFFFFF"/>
                    </a:solidFill>
                  </a:tcPr>
                </a:tc>
                <a:tc>
                  <a:txBody>
                    <a:bodyPr wrap="square"/>
                    <a:lstStyle/>
                    <a:p>
                      <a:pPr algn="l"/>
                      <a:r>
                        <a:rPr sz="1300" b="0">
                          <a:solidFill>
                            <a:srgbClr val="1F2A44"/>
                          </a:solidFill>
                          <a:latin typeface="Calibri"/>
                        </a:rPr>
                        <a:t>anthropic</a:t>
                      </a:r>
                    </a:p>
                  </a:txBody>
                  <a:tcPr marL="54864" marR="54864" marT="27432" marB="27432">
                    <a:solidFill>
                      <a:srgbClr val="FFFFFF"/>
                    </a:solidFill>
                  </a:tcPr>
                </a:tc>
                <a:tc>
                  <a:txBody>
                    <a:bodyPr wrap="square"/>
                    <a:lstStyle/>
                    <a:p>
                      <a:pPr algn="l"/>
                      <a:r>
                        <a:rPr sz="1300" b="0">
                          <a:solidFill>
                            <a:srgbClr val="1F2A44"/>
                          </a:solidFill>
                          <a:latin typeface="Calibri"/>
                        </a:rPr>
                        <a:t>writes every sentence the reader sees from evidence tokens under the content-manager gate</a:t>
                      </a:r>
                    </a:p>
                  </a:txBody>
                  <a:tcPr marL="54864" marR="54864" marT="27432" marB="27432">
                    <a:solidFill>
                      <a:srgbClr val="FFFFFF"/>
                    </a:solidFill>
                  </a:tcPr>
                </a:tc>
              </a:tr>
            </a:tbl>
          </a:graphicData>
        </a:graphic>
      </p:graphicFrame>
      <p:sp>
        <p:nvSpPr>
          <p:cNvPr id="5" name="TextBox 4"/>
          <p:cNvSpPr txBox="1"/>
          <p:nvPr/>
        </p:nvSpPr>
        <p:spPr>
          <a:xfrm>
            <a:off x="594360" y="4937760"/>
            <a:ext cx="11002975" cy="376732"/>
          </a:xfrm>
          <a:prstGeom prst="rect">
            <a:avLst/>
          </a:prstGeom>
          <a:noFill/>
        </p:spPr>
        <p:txBody>
          <a:bodyPr wrap="square" lIns="0" rIns="0" tIns="0" bIns="0" anchor="b">
            <a:spAutoFit/>
          </a:bodyPr>
          <a:lstStyle/>
          <a:p>
            <a:pPr algn="l"/>
            <a:r>
              <a:rPr sz="1400" b="0" i="1">
                <a:solidFill>
                  <a:srgbClr val="C8102E"/>
                </a:solidFill>
                <a:latin typeface="Calibri"/>
              </a:rPr>
              <a:t>Planner and reviewer come from different model families so the review does not share the planner's blind spots; every call crosses the Shield chokepoint.</a:t>
            </a:r>
          </a:p>
        </p:txBody>
      </p:sp>
      <p:sp>
        <p:nvSpPr>
          <p:cNvPr id="6" name="TextBox 5"/>
          <p:cNvSpPr txBox="1"/>
          <p:nvPr/>
        </p:nvSpPr>
        <p:spPr>
          <a:xfrm>
            <a:off x="594360" y="5692140"/>
            <a:ext cx="11002975" cy="376732"/>
          </a:xfrm>
          <a:prstGeom prst="rect">
            <a:avLst/>
          </a:prstGeom>
          <a:noFill/>
        </p:spPr>
        <p:txBody>
          <a:bodyPr wrap="square" lIns="0" rIns="0" tIns="0" bIns="0" anchor="b">
            <a:spAutoFit/>
          </a:bodyPr>
          <a:lstStyle/>
          <a:p>
            <a:pPr algn="l"/>
            <a:r>
              <a:rPr sz="1000" b="0" i="0">
                <a:solidFill>
                  <a:srgbClr val="8A94A6"/>
                </a:solidFill>
                <a:latin typeface="Courier New"/>
              </a:rPr>
              <a:t>[measured]  Receipt R09 — full evidence, scope and dates in the appendix.</a:t>
            </a:r>
          </a:p>
        </p:txBody>
      </p:sp>
      <p:sp>
        <p:nvSpPr>
          <p:cNvPr id="7" name="TextBox 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8" name="TextBox 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9" name="TextBox 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FIRST ACTIONS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Grant access first, then measure and validate, and only then move or delete</a:t>
            </a:r>
          </a:p>
        </p:txBody>
      </p:sp>
      <p:sp>
        <p:nvSpPr>
          <p:cNvPr id="4" name="TextBox 3"/>
          <p:cNvSpPr txBox="1"/>
          <p:nvPr/>
        </p:nvSpPr>
        <p:spPr>
          <a:xfrm>
            <a:off x="594360" y="192024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662940"/>
          </a:xfrm>
          <a:prstGeom prst="rect">
            <a:avLst/>
          </a:prstGeom>
          <a:noFill/>
        </p:spPr>
        <p:txBody>
          <a:bodyPr wrap="square" lIns="0" rIns="0" tIns="0" bIns="0" anchor="t">
            <a:spAutoFit/>
          </a:bodyPr>
          <a:lstStyle/>
          <a:p>
            <a:pPr algn="l"/>
            <a:r>
              <a:rPr sz="1400" b="0" i="0">
                <a:solidFill>
                  <a:srgbClr val="1F2A44"/>
                </a:solidFill>
                <a:latin typeface="Calibri"/>
              </a:rPr>
              <a:t>Grant the census key read access on refused buckets, largest first (251,976.0); owner: cloud administrator.</a:t>
            </a:r>
          </a:p>
        </p:txBody>
      </p:sp>
      <p:cxnSp>
        <p:nvCxnSpPr>
          <p:cNvPr id="6" name="Connector 5"/>
          <p:cNvCxnSpPr/>
          <p:nvPr/>
        </p:nvCxnSpPr>
        <p:spPr>
          <a:xfrm>
            <a:off x="594360" y="25648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7462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747772"/>
            <a:ext cx="10180015" cy="662940"/>
          </a:xfrm>
          <a:prstGeom prst="rect">
            <a:avLst/>
          </a:prstGeom>
          <a:noFill/>
        </p:spPr>
        <p:txBody>
          <a:bodyPr wrap="square" lIns="0" rIns="0" tIns="0" bIns="0" anchor="t">
            <a:spAutoFit/>
          </a:bodyPr>
          <a:lstStyle/>
          <a:p>
            <a:pPr algn="l"/>
            <a:r>
              <a:rPr sz="1400" b="0" i="0">
                <a:solidFill>
                  <a:srgbClr val="1F2A44"/>
                </a:solidFill>
                <a:latin typeface="Calibri"/>
              </a:rPr>
              <a:t>Finish samples of readable folders (86,601.1) and shares (16); owner: data lead.</a:t>
            </a:r>
          </a:p>
        </p:txBody>
      </p:sp>
      <p:cxnSp>
        <p:nvCxnSpPr>
          <p:cNvPr id="9" name="Connector 8"/>
          <p:cNvCxnSpPr/>
          <p:nvPr/>
        </p:nvCxnSpPr>
        <p:spPr>
          <a:xfrm>
            <a:off x="594360" y="331927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2900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502152"/>
            <a:ext cx="10180015" cy="662940"/>
          </a:xfrm>
          <a:prstGeom prst="rect">
            <a:avLst/>
          </a:prstGeom>
          <a:noFill/>
        </p:spPr>
        <p:txBody>
          <a:bodyPr wrap="square" lIns="0" rIns="0" tIns="0" bIns="0" anchor="t">
            <a:spAutoFit/>
          </a:bodyPr>
          <a:lstStyle/>
          <a:p>
            <a:pPr algn="l"/>
            <a:r>
              <a:rPr sz="1400" b="0" i="0">
                <a:solidFill>
                  <a:srgbClr val="1F2A44"/>
                </a:solidFill>
                <a:latin typeface="Calibri"/>
              </a:rPr>
              <a:t>Commission human checks of model readings, declined windows (10.7%) included; owner: product lead.</a:t>
            </a:r>
          </a:p>
        </p:txBody>
      </p:sp>
      <p:cxnSp>
        <p:nvCxnSpPr>
          <p:cNvPr id="12" name="Connector 11"/>
          <p:cNvCxnSpPr/>
          <p:nvPr/>
        </p:nvCxnSpPr>
        <p:spPr>
          <a:xfrm>
            <a:off x="594360" y="407365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183379"/>
            <a:ext cx="640080" cy="754380"/>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256531"/>
            <a:ext cx="10180015" cy="662940"/>
          </a:xfrm>
          <a:prstGeom prst="rect">
            <a:avLst/>
          </a:prstGeom>
          <a:noFill/>
        </p:spPr>
        <p:txBody>
          <a:bodyPr wrap="square" lIns="0" rIns="0" tIns="0" bIns="0" anchor="t">
            <a:spAutoFit/>
          </a:bodyPr>
          <a:lstStyle/>
          <a:p>
            <a:pPr algn="l"/>
            <a:r>
              <a:rPr sz="1400" b="0" i="0">
                <a:solidFill>
                  <a:srgbClr val="1F2A44"/>
                </a:solidFill>
                <a:latin typeface="Calibri"/>
              </a:rPr>
              <a:t>Reprice tiering (986.5 USD upper bound); hash-confirm 7.7 TiB of duplicates first.</a:t>
            </a:r>
          </a:p>
        </p:txBody>
      </p:sp>
      <p:cxnSp>
        <p:nvCxnSpPr>
          <p:cNvPr id="15" name="Connector 14"/>
          <p:cNvCxnSpPr/>
          <p:nvPr/>
        </p:nvCxnSpPr>
        <p:spPr>
          <a:xfrm>
            <a:off x="594360" y="482803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37760"/>
            <a:ext cx="640080" cy="754380"/>
          </a:xfrm>
          <a:prstGeom prst="rect">
            <a:avLst/>
          </a:prstGeom>
          <a:noFill/>
        </p:spPr>
        <p:txBody>
          <a:bodyPr wrap="square" lIns="0" rIns="0" tIns="0" bIns="0" anchor="t">
            <a:spAutoFit/>
          </a:bodyPr>
          <a:lstStyle/>
          <a:p>
            <a:pPr algn="l"/>
            <a:r>
              <a:rPr sz="2600" b="0" i="0">
                <a:solidFill>
                  <a:srgbClr val="C8102E"/>
                </a:solidFill>
                <a:latin typeface="Courier New"/>
              </a:rPr>
              <a:t>05</a:t>
            </a:r>
          </a:p>
        </p:txBody>
      </p:sp>
      <p:sp>
        <p:nvSpPr>
          <p:cNvPr id="17" name="TextBox 16"/>
          <p:cNvSpPr txBox="1"/>
          <p:nvPr/>
        </p:nvSpPr>
        <p:spPr>
          <a:xfrm>
            <a:off x="1417320" y="5010912"/>
            <a:ext cx="10180015" cy="662940"/>
          </a:xfrm>
          <a:prstGeom prst="rect">
            <a:avLst/>
          </a:prstGeom>
          <a:noFill/>
        </p:spPr>
        <p:txBody>
          <a:bodyPr wrap="square" lIns="0" rIns="0" tIns="0" bIns="0" anchor="t">
            <a:spAutoFit/>
          </a:bodyPr>
          <a:lstStyle/>
          <a:p>
            <a:pPr algn="l"/>
            <a:r>
              <a:rPr sz="1400" b="0" i="0">
                <a:solidFill>
                  <a:srgbClr val="1F2A44"/>
                </a:solidFill>
                <a:latin typeface="Calibri"/>
              </a:rPr>
              <a:t>Scope a pilot from the leading languages; owner: commercial lead.</a:t>
            </a:r>
          </a:p>
        </p:txBody>
      </p:sp>
      <p:cxnSp>
        <p:nvCxnSpPr>
          <p:cNvPr id="18" name="Connector 17"/>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WHAT CANNOT YET BE SAID</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The forecast is bounded by donor representativeness, model error and unsampled folders</a:t>
            </a:r>
          </a:p>
        </p:txBody>
      </p:sp>
      <p:sp>
        <p:nvSpPr>
          <p:cNvPr id="4" name="TextBox 3"/>
          <p:cNvSpPr txBox="1"/>
          <p:nvPr/>
        </p:nvSpPr>
        <p:spPr>
          <a:xfrm>
            <a:off x="594360" y="1920240"/>
            <a:ext cx="640080" cy="942975"/>
          </a:xfrm>
          <a:prstGeom prst="rect">
            <a:avLst/>
          </a:prstGeom>
          <a:noFill/>
        </p:spPr>
        <p:txBody>
          <a:bodyPr wrap="square" lIns="0" rIns="0" tIns="0" bIns="0" anchor="t">
            <a:spAutoFit/>
          </a:bodyPr>
          <a:lstStyle/>
          <a:p>
            <a:pPr algn="l"/>
            <a:r>
              <a:rPr sz="2600" b="0" i="0">
                <a:solidFill>
                  <a:srgbClr val="C8102E"/>
                </a:solidFill>
                <a:latin typeface="Courier New"/>
              </a:rPr>
              <a:t>01</a:t>
            </a:r>
          </a:p>
        </p:txBody>
      </p:sp>
      <p:sp>
        <p:nvSpPr>
          <p:cNvPr id="5" name="TextBox 4"/>
          <p:cNvSpPr txBox="1"/>
          <p:nvPr/>
        </p:nvSpPr>
        <p:spPr>
          <a:xfrm>
            <a:off x="1417320" y="1993392"/>
            <a:ext cx="10180015" cy="851535"/>
          </a:xfrm>
          <a:prstGeom prst="rect">
            <a:avLst/>
          </a:prstGeom>
          <a:noFill/>
        </p:spPr>
        <p:txBody>
          <a:bodyPr wrap="square" lIns="0" rIns="0" tIns="0" bIns="0" anchor="t">
            <a:spAutoFit/>
          </a:bodyPr>
          <a:lstStyle/>
          <a:p>
            <a:pPr algn="l"/>
            <a:r>
              <a:rPr sz="1400" b="0" i="0">
                <a:solidFill>
                  <a:srgbClr val="1F2A44"/>
                </a:solidFill>
                <a:latin typeface="Calibri"/>
              </a:rPr>
              <a:t>Only 8.5% of 500,290.3 forecast hours is measured; refused buckets may differ from donors. An access grant closes this.</a:t>
            </a:r>
          </a:p>
        </p:txBody>
      </p:sp>
      <p:cxnSp>
        <p:nvCxnSpPr>
          <p:cNvPr id="6" name="Connector 5"/>
          <p:cNvCxnSpPr/>
          <p:nvPr/>
        </p:nvCxnSpPr>
        <p:spPr>
          <a:xfrm>
            <a:off x="594360" y="275348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86321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02</a:t>
            </a:r>
          </a:p>
        </p:txBody>
      </p:sp>
      <p:sp>
        <p:nvSpPr>
          <p:cNvPr id="8" name="TextBox 7"/>
          <p:cNvSpPr txBox="1"/>
          <p:nvPr/>
        </p:nvSpPr>
        <p:spPr>
          <a:xfrm>
            <a:off x="1417320" y="2936367"/>
            <a:ext cx="10180015" cy="851535"/>
          </a:xfrm>
          <a:prstGeom prst="rect">
            <a:avLst/>
          </a:prstGeom>
          <a:noFill/>
        </p:spPr>
        <p:txBody>
          <a:bodyPr wrap="square" lIns="0" rIns="0" tIns="0" bIns="0" anchor="t">
            <a:spAutoFit/>
          </a:bodyPr>
          <a:lstStyle/>
          <a:p>
            <a:pPr algn="l"/>
            <a:r>
              <a:rPr sz="1400" b="0" i="0">
                <a:solidFill>
                  <a:srgbClr val="1F2A44"/>
                </a:solidFill>
                <a:latin typeface="Calibri"/>
              </a:rPr>
              <a:t>Speech, music and language figures are model readings; stratified human checks would calibrate them.</a:t>
            </a:r>
          </a:p>
        </p:txBody>
      </p:sp>
      <p:cxnSp>
        <p:nvCxnSpPr>
          <p:cNvPr id="9" name="Connector 8"/>
          <p:cNvCxnSpPr/>
          <p:nvPr/>
        </p:nvCxnSpPr>
        <p:spPr>
          <a:xfrm>
            <a:off x="594360" y="369646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806189"/>
            <a:ext cx="640080" cy="942975"/>
          </a:xfrm>
          <a:prstGeom prst="rect">
            <a:avLst/>
          </a:prstGeom>
          <a:noFill/>
        </p:spPr>
        <p:txBody>
          <a:bodyPr wrap="square" lIns="0" rIns="0" tIns="0" bIns="0" anchor="t">
            <a:spAutoFit/>
          </a:bodyPr>
          <a:lstStyle/>
          <a:p>
            <a:pPr algn="l"/>
            <a:r>
              <a:rPr sz="2600" b="0" i="0">
                <a:solidFill>
                  <a:srgbClr val="C8102E"/>
                </a:solidFill>
                <a:latin typeface="Courier New"/>
              </a:rPr>
              <a:t>03</a:t>
            </a:r>
          </a:p>
        </p:txBody>
      </p:sp>
      <p:sp>
        <p:nvSpPr>
          <p:cNvPr id="11" name="TextBox 10"/>
          <p:cNvSpPr txBox="1"/>
          <p:nvPr/>
        </p:nvSpPr>
        <p:spPr>
          <a:xfrm>
            <a:off x="1417320" y="3879341"/>
            <a:ext cx="10180015" cy="851535"/>
          </a:xfrm>
          <a:prstGeom prst="rect">
            <a:avLst/>
          </a:prstGeom>
          <a:noFill/>
        </p:spPr>
        <p:txBody>
          <a:bodyPr wrap="square" lIns="0" rIns="0" tIns="0" bIns="0" anchor="t">
            <a:spAutoFit/>
          </a:bodyPr>
          <a:lstStyle/>
          <a:p>
            <a:pPr algn="l"/>
            <a:r>
              <a:rPr sz="1400" b="0" i="0">
                <a:solidFill>
                  <a:srgbClr val="1F2A44"/>
                </a:solidFill>
                <a:latin typeface="Calibri"/>
              </a:rPr>
              <a:t>Savings are unverified: class metadata is partial and restore costs unpriced; repricing closes this.</a:t>
            </a:r>
          </a:p>
        </p:txBody>
      </p:sp>
      <p:cxnSp>
        <p:nvCxnSpPr>
          <p:cNvPr id="12" name="Connector 11"/>
          <p:cNvCxnSpPr/>
          <p:nvPr/>
        </p:nvCxnSpPr>
        <p:spPr>
          <a:xfrm>
            <a:off x="594360" y="46394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749165"/>
            <a:ext cx="640080" cy="942975"/>
          </a:xfrm>
          <a:prstGeom prst="rect">
            <a:avLst/>
          </a:prstGeom>
          <a:noFill/>
        </p:spPr>
        <p:txBody>
          <a:bodyPr wrap="square" lIns="0" rIns="0" tIns="0" bIns="0" anchor="t">
            <a:spAutoFit/>
          </a:bodyPr>
          <a:lstStyle/>
          <a:p>
            <a:pPr algn="l"/>
            <a:r>
              <a:rPr sz="2600" b="0" i="0">
                <a:solidFill>
                  <a:srgbClr val="C8102E"/>
                </a:solidFill>
                <a:latin typeface="Courier New"/>
              </a:rPr>
              <a:t>04</a:t>
            </a:r>
          </a:p>
        </p:txBody>
      </p:sp>
      <p:sp>
        <p:nvSpPr>
          <p:cNvPr id="14" name="TextBox 13"/>
          <p:cNvSpPr txBox="1"/>
          <p:nvPr/>
        </p:nvSpPr>
        <p:spPr>
          <a:xfrm>
            <a:off x="1417320" y="4822317"/>
            <a:ext cx="10180015" cy="851535"/>
          </a:xfrm>
          <a:prstGeom prst="rect">
            <a:avLst/>
          </a:prstGeom>
          <a:noFill/>
        </p:spPr>
        <p:txBody>
          <a:bodyPr wrap="square" lIns="0" rIns="0" tIns="0" bIns="0" anchor="t">
            <a:spAutoFit/>
          </a:bodyPr>
          <a:lstStyle/>
          <a:p>
            <a:pPr algn="l"/>
            <a:r>
              <a:rPr sz="1400" b="0" i="0">
                <a:solidFill>
                  <a:srgbClr val="1F2A44"/>
                </a:solidFill>
                <a:latin typeface="Calibri"/>
              </a:rPr>
              <a:t>File-share duplication, script language and buyer demand are unmeasured; fingerprinting, a text pass and buyer review close them.</a:t>
            </a:r>
          </a:p>
        </p:txBody>
      </p:sp>
      <p:cxnSp>
        <p:nvCxnSpPr>
          <p:cNvPr id="15" name="Connector 14"/>
          <p:cNvCxnSpPr/>
          <p:nvPr/>
        </p:nvCxnSpPr>
        <p:spPr>
          <a:xfrm>
            <a:off x="594360" y="55824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7" name="TextBox 16"/>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8" name="TextBox 17"/>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Reclaimable</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Space that could be removed or stored more cheaply once the check named beside it has been done. It is not space already freed, and it is not a guaranteed saving — the monthly figures are upper bounds at list prices.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Cold (not written for over a year)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Nothing new has been written to that bucket or table for more than a year, judged by the newest write date we could see. It says nothing about whether anyone still reads it — that was not measured.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Duplicate candidate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Two objects whose size and storage fingerprint (ETag) match inside the same store. For large uploads that fingerprint is not a content hash, so a candidate must be confirmed by hashing before any copy is removed.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Exact duplicate rows</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Database rows that are identical in every measured column. 'Normalised' duplicates also match after trimming spaces and case.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Degraded row</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A row whose worst column shows damage: text cut short, a placeholder such as 'N/A' or 'test', an invalid format, stray whitespace or garbled characters.</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Empty required-looking fields</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Blank values in columns whose name or pattern suggests they should always be filled (for example an identifier or a date). The database may not formally require them; the census flags them so an owner can decide.</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Dead column</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column that is empty on practically every row: schema carried without data.</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Personal-data marker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sampled value that looks like an email, phone number, national ID or similar. It is a condition of the data, not a judgement about rights — the owner has declared all rights established.</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Archive-class storage</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A cheaper storage tier for data that is kept but rarely opened. Retrieval is slower and carries its own fee, which is why the saving is stated as an upper bound.</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Proposed destination</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Where this pack suggests data should live or how it should be tiered. Every destination here is a proposal for the executive to approve; this pack moved and deleted nothing.</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Speech hours (estimate)</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Recorded hours multiplied by the share of two-second windows the admitted music detector did not call music. Silence is set aside first.</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Agrees with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share of labelled windows (or transcript passages) where the model's language label matched the folder the recording was filed under. It is a model reading, not a human verification.</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537210"/>
          </a:xfrm>
          <a:prstGeom prst="rect">
            <a:avLst/>
          </a:prstGeom>
          <a:noFill/>
        </p:spPr>
        <p:txBody>
          <a:bodyPr wrap="square" lIns="0" rIns="0" tIns="0" bIns="0" anchor="t">
            <a:spAutoFit/>
          </a:bodyPr>
          <a:lstStyle/>
          <a:p>
            <a:pPr algn="l"/>
            <a:r>
              <a:rPr sz="1400" b="1" i="0">
                <a:solidFill>
                  <a:srgbClr val="C8102E"/>
                </a:solidFill>
                <a:latin typeface="Calibri"/>
              </a:rPr>
              <a:t>Declined to label</a:t>
            </a:r>
          </a:p>
        </p:txBody>
      </p:sp>
      <p:sp>
        <p:nvSpPr>
          <p:cNvPr id="5" name="TextBox 4"/>
          <p:cNvSpPr txBox="1"/>
          <p:nvPr/>
        </p:nvSpPr>
        <p:spPr>
          <a:xfrm>
            <a:off x="3154680" y="1975104"/>
            <a:ext cx="8442655" cy="537210"/>
          </a:xfrm>
          <a:prstGeom prst="rect">
            <a:avLst/>
          </a:prstGeom>
          <a:noFill/>
        </p:spPr>
        <p:txBody>
          <a:bodyPr wrap="square" lIns="0" rIns="0" tIns="0" bIns="0" anchor="t">
            <a:spAutoFit/>
          </a:bodyPr>
          <a:lstStyle/>
          <a:p>
            <a:pPr algn="l"/>
            <a:r>
              <a:rPr sz="1300" b="0" i="0">
                <a:solidFill>
                  <a:srgbClr val="1F2A44"/>
                </a:solidFill>
                <a:latin typeface="Calibri"/>
              </a:rPr>
              <a:t>Windows where the language model's confidence fell below its threshold, so it gave no language rather than guess.</a:t>
            </a:r>
          </a:p>
        </p:txBody>
      </p:sp>
      <p:cxnSp>
        <p:nvCxnSpPr>
          <p:cNvPr id="6" name="Connector 5"/>
          <p:cNvCxnSpPr/>
          <p:nvPr/>
        </p:nvCxnSpPr>
        <p:spPr>
          <a:xfrm>
            <a:off x="594360" y="24757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603754"/>
            <a:ext cx="2377440" cy="537210"/>
          </a:xfrm>
          <a:prstGeom prst="rect">
            <a:avLst/>
          </a:prstGeom>
          <a:noFill/>
        </p:spPr>
        <p:txBody>
          <a:bodyPr wrap="square" lIns="0" rIns="0" tIns="0" bIns="0" anchor="t">
            <a:spAutoFit/>
          </a:bodyPr>
          <a:lstStyle/>
          <a:p>
            <a:pPr algn="l"/>
            <a:r>
              <a:rPr sz="1400" b="1" i="0">
                <a:solidFill>
                  <a:srgbClr val="C8102E"/>
                </a:solidFill>
                <a:latin typeface="Calibri"/>
              </a:rPr>
              <a:t>Scripted day / bulletin hour</a:t>
            </a:r>
          </a:p>
        </p:txBody>
      </p:sp>
      <p:sp>
        <p:nvSpPr>
          <p:cNvPr id="8" name="TextBox 7"/>
          <p:cNvSpPr txBox="1"/>
          <p:nvPr/>
        </p:nvSpPr>
        <p:spPr>
          <a:xfrm>
            <a:off x="3154680" y="2603754"/>
            <a:ext cx="8442655" cy="537210"/>
          </a:xfrm>
          <a:prstGeom prst="rect">
            <a:avLst/>
          </a:prstGeom>
          <a:noFill/>
        </p:spPr>
        <p:txBody>
          <a:bodyPr wrap="square" lIns="0" rIns="0" tIns="0" bIns="0" anchor="t">
            <a:spAutoFit/>
          </a:bodyPr>
          <a:lstStyle/>
          <a:p>
            <a:pPr algn="l"/>
            <a:r>
              <a:rPr sz="1300" b="0" i="0">
                <a:solidFill>
                  <a:srgbClr val="1F2A44"/>
                </a:solidFill>
                <a:latin typeface="Calibri"/>
              </a:rPr>
              <a:t>A calendar date on which a station has at least one news script in the archive, and the distinct hour slots scripted that day. The archive does not carry a script for every hour of every day; the tables show exactly which days and hours it does.</a:t>
            </a:r>
          </a:p>
        </p:txBody>
      </p:sp>
      <p:cxnSp>
        <p:nvCxnSpPr>
          <p:cNvPr id="9" name="Connector 8"/>
          <p:cNvCxnSpPr/>
          <p:nvPr/>
        </p:nvCxnSpPr>
        <p:spPr>
          <a:xfrm>
            <a:off x="594360" y="31043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32404"/>
            <a:ext cx="2377440" cy="537210"/>
          </a:xfrm>
          <a:prstGeom prst="rect">
            <a:avLst/>
          </a:prstGeom>
          <a:noFill/>
        </p:spPr>
        <p:txBody>
          <a:bodyPr wrap="square" lIns="0" rIns="0" tIns="0" bIns="0" anchor="t">
            <a:spAutoFit/>
          </a:bodyPr>
          <a:lstStyle/>
          <a:p>
            <a:pPr algn="l"/>
            <a:r>
              <a:rPr sz="1400" b="1" i="0">
                <a:solidFill>
                  <a:srgbClr val="C8102E"/>
                </a:solidFill>
                <a:latin typeface="Calibri"/>
              </a:rPr>
              <a:t>Receipt</a:t>
            </a:r>
          </a:p>
        </p:txBody>
      </p:sp>
      <p:sp>
        <p:nvSpPr>
          <p:cNvPr id="11" name="TextBox 10"/>
          <p:cNvSpPr txBox="1"/>
          <p:nvPr/>
        </p:nvSpPr>
        <p:spPr>
          <a:xfrm>
            <a:off x="3154680" y="3232404"/>
            <a:ext cx="8442655" cy="537210"/>
          </a:xfrm>
          <a:prstGeom prst="rect">
            <a:avLst/>
          </a:prstGeom>
          <a:noFill/>
        </p:spPr>
        <p:txBody>
          <a:bodyPr wrap="square" lIns="0" rIns="0" tIns="0" bIns="0" anchor="t">
            <a:spAutoFit/>
          </a:bodyPr>
          <a:lstStyle/>
          <a:p>
            <a:pPr algn="l"/>
            <a:r>
              <a:rPr sz="1300" b="0" i="0">
                <a:solidFill>
                  <a:srgbClr val="1F2A44"/>
                </a:solidFill>
                <a:latin typeface="Calibri"/>
              </a:rPr>
              <a:t>The retained Akki record (census run, GPU job or database reading) that every figure in this pack is traced to. The appendix lists them; the workbook carries the row-level evidence.</a:t>
            </a:r>
          </a:p>
        </p:txBody>
      </p:sp>
      <p:cxnSp>
        <p:nvCxnSpPr>
          <p:cNvPr id="12" name="Connector 11"/>
          <p:cNvCxnSpPr/>
          <p:nvPr/>
        </p:nvCxnSpPr>
        <p:spPr>
          <a:xfrm>
            <a:off x="594360" y="373303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861053"/>
            <a:ext cx="2377440" cy="537210"/>
          </a:xfrm>
          <a:prstGeom prst="rect">
            <a:avLst/>
          </a:prstGeom>
          <a:noFill/>
        </p:spPr>
        <p:txBody>
          <a:bodyPr wrap="square" lIns="0" rIns="0" tIns="0" bIns="0" anchor="t">
            <a:spAutoFit/>
          </a:bodyPr>
          <a:lstStyle/>
          <a:p>
            <a:pPr algn="l"/>
            <a:r>
              <a:rPr sz="1400" b="1" i="0">
                <a:solidFill>
                  <a:srgbClr val="C8102E"/>
                </a:solidFill>
                <a:latin typeface="Calibri"/>
              </a:rPr>
              <a:t>Whole-estate forecast</a:t>
            </a:r>
          </a:p>
        </p:txBody>
      </p:sp>
      <p:sp>
        <p:nvSpPr>
          <p:cNvPr id="14" name="TextBox 13"/>
          <p:cNvSpPr txBox="1"/>
          <p:nvPr/>
        </p:nvSpPr>
        <p:spPr>
          <a:xfrm>
            <a:off x="3154680" y="3861053"/>
            <a:ext cx="8442655" cy="537210"/>
          </a:xfrm>
          <a:prstGeom prst="rect">
            <a:avLst/>
          </a:prstGeom>
          <a:noFill/>
        </p:spPr>
        <p:txBody>
          <a:bodyPr wrap="square" lIns="0" rIns="0" tIns="0" bIns="0" anchor="t">
            <a:spAutoFit/>
          </a:bodyPr>
          <a:lstStyle/>
          <a:p>
            <a:pPr algn="l"/>
            <a:r>
              <a:rPr sz="1300" b="0" i="0">
                <a:solidFill>
                  <a:srgbClr val="1F2A44"/>
                </a:solidFill>
                <a:latin typeface="Calibri"/>
              </a:rPr>
              <a:t>What the entire estate most likely holds, found by scaling what the census read in each folder up to that folder's full population and adding every folder together — the part that could not be read included, each one standing in for a readable folder of the same kind and file size.</a:t>
            </a:r>
          </a:p>
        </p:txBody>
      </p:sp>
      <p:cxnSp>
        <p:nvCxnSpPr>
          <p:cNvPr id="15" name="Connector 14"/>
          <p:cNvCxnSpPr/>
          <p:nvPr/>
        </p:nvCxnSpPr>
        <p:spPr>
          <a:xfrm>
            <a:off x="594360" y="43616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489703"/>
            <a:ext cx="2377440" cy="537210"/>
          </a:xfrm>
          <a:prstGeom prst="rect">
            <a:avLst/>
          </a:prstGeom>
          <a:noFill/>
        </p:spPr>
        <p:txBody>
          <a:bodyPr wrap="square" lIns="0" rIns="0" tIns="0" bIns="0" anchor="t">
            <a:spAutoFit/>
          </a:bodyPr>
          <a:lstStyle/>
          <a:p>
            <a:pPr algn="l"/>
            <a:r>
              <a:rPr sz="1400" b="1" i="0">
                <a:solidFill>
                  <a:srgbClr val="C8102E"/>
                </a:solidFill>
                <a:latin typeface="Calibri"/>
              </a:rPr>
              <a:t>Monte Carlo simulation</a:t>
            </a:r>
          </a:p>
        </p:txBody>
      </p:sp>
      <p:sp>
        <p:nvSpPr>
          <p:cNvPr id="17" name="TextBox 16"/>
          <p:cNvSpPr txBox="1"/>
          <p:nvPr/>
        </p:nvSpPr>
        <p:spPr>
          <a:xfrm>
            <a:off x="3154680" y="4489703"/>
            <a:ext cx="8442655" cy="537210"/>
          </a:xfrm>
          <a:prstGeom prst="rect">
            <a:avLst/>
          </a:prstGeom>
          <a:noFill/>
        </p:spPr>
        <p:txBody>
          <a:bodyPr wrap="square" lIns="0" rIns="0" tIns="0" bIns="0" anchor="t">
            <a:spAutoFit/>
          </a:bodyPr>
          <a:lstStyle/>
          <a:p>
            <a:pPr algn="l"/>
            <a:r>
              <a:rPr sz="1300" b="0" i="0">
                <a:solidFill>
                  <a:srgbClr val="1F2A44"/>
                </a:solidFill>
                <a:latin typeface="Calibri"/>
              </a:rPr>
              <a:t>The estate was added up thousands of times, each time letting every uncertain folder take a different plausible value. The middle result is the forecast; the range that holds 95 % of the results is the forecast interval.</a:t>
            </a:r>
          </a:p>
        </p:txBody>
      </p:sp>
      <p:cxnSp>
        <p:nvCxnSpPr>
          <p:cNvPr id="18" name="Connector 17"/>
          <p:cNvCxnSpPr/>
          <p:nvPr/>
        </p:nvCxnSpPr>
        <p:spPr>
          <a:xfrm>
            <a:off x="594360" y="499033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5118353"/>
            <a:ext cx="2377440" cy="537210"/>
          </a:xfrm>
          <a:prstGeom prst="rect">
            <a:avLst/>
          </a:prstGeom>
          <a:noFill/>
        </p:spPr>
        <p:txBody>
          <a:bodyPr wrap="square" lIns="0" rIns="0" tIns="0" bIns="0" anchor="t">
            <a:spAutoFit/>
          </a:bodyPr>
          <a:lstStyle/>
          <a:p>
            <a:pPr algn="l"/>
            <a:r>
              <a:rPr sz="1400" b="1" i="0">
                <a:solidFill>
                  <a:srgbClr val="C8102E"/>
                </a:solidFill>
                <a:latin typeface="Calibri"/>
              </a:rPr>
              <a:t>Donor folder</a:t>
            </a:r>
          </a:p>
        </p:txBody>
      </p:sp>
      <p:sp>
        <p:nvSpPr>
          <p:cNvPr id="20" name="TextBox 19"/>
          <p:cNvSpPr txBox="1"/>
          <p:nvPr/>
        </p:nvSpPr>
        <p:spPr>
          <a:xfrm>
            <a:off x="3154680" y="5118353"/>
            <a:ext cx="8442655" cy="537210"/>
          </a:xfrm>
          <a:prstGeom prst="rect">
            <a:avLst/>
          </a:prstGeom>
          <a:noFill/>
        </p:spPr>
        <p:txBody>
          <a:bodyPr wrap="square" lIns="0" rIns="0" tIns="0" bIns="0" anchor="t">
            <a:spAutoFit/>
          </a:bodyPr>
          <a:lstStyle/>
          <a:p>
            <a:pPr algn="l"/>
            <a:r>
              <a:rPr sz="1300" b="0" i="0">
                <a:solidFill>
                  <a:srgbClr val="1F2A44"/>
                </a:solidFill>
                <a:latin typeface="Calibri"/>
              </a:rPr>
              <a:t>A folder the census read and judged that stands in for a folder it could not read: same media kind, similar file size. Its seconds per megabyte, speech share and language mix are borrowed, so the forecast is only as representative as its donors.</a:t>
            </a:r>
          </a:p>
        </p:txBody>
      </p:sp>
      <p:cxnSp>
        <p:nvCxnSpPr>
          <p:cNvPr id="21" name="Connector 20"/>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PLAIN ENGLISH</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the terms in this pack mean</a:t>
            </a:r>
          </a:p>
        </p:txBody>
      </p:sp>
      <p:sp>
        <p:nvSpPr>
          <p:cNvPr id="4" name="TextBox 3"/>
          <p:cNvSpPr txBox="1"/>
          <p:nvPr/>
        </p:nvSpPr>
        <p:spPr>
          <a:xfrm>
            <a:off x="594360" y="1975104"/>
            <a:ext cx="2377440" cy="662940"/>
          </a:xfrm>
          <a:prstGeom prst="rect">
            <a:avLst/>
          </a:prstGeom>
          <a:noFill/>
        </p:spPr>
        <p:txBody>
          <a:bodyPr wrap="square" lIns="0" rIns="0" tIns="0" bIns="0" anchor="t">
            <a:spAutoFit/>
          </a:bodyPr>
          <a:lstStyle/>
          <a:p>
            <a:pPr algn="l"/>
            <a:r>
              <a:rPr sz="1400" b="1" i="0">
                <a:solidFill>
                  <a:srgbClr val="C8102E"/>
                </a:solidFill>
                <a:latin typeface="Calibri"/>
              </a:rPr>
              <a:t>Forecast versus measured</a:t>
            </a:r>
          </a:p>
        </p:txBody>
      </p:sp>
      <p:sp>
        <p:nvSpPr>
          <p:cNvPr id="5" name="TextBox 4"/>
          <p:cNvSpPr txBox="1"/>
          <p:nvPr/>
        </p:nvSpPr>
        <p:spPr>
          <a:xfrm>
            <a:off x="3154680" y="1975104"/>
            <a:ext cx="8442655" cy="662940"/>
          </a:xfrm>
          <a:prstGeom prst="rect">
            <a:avLst/>
          </a:prstGeom>
          <a:noFill/>
        </p:spPr>
        <p:txBody>
          <a:bodyPr wrap="square" lIns="0" rIns="0" tIns="0" bIns="0" anchor="t">
            <a:spAutoFit/>
          </a:bodyPr>
          <a:lstStyle/>
          <a:p>
            <a:pPr algn="l"/>
            <a:r>
              <a:rPr sz="1300" b="0" i="0">
                <a:solidFill>
                  <a:srgbClr val="1F2A44"/>
                </a:solidFill>
                <a:latin typeface="Calibri"/>
              </a:rPr>
              <a:t>Measured rows come from files actually read and judged, with a sampling interval. Forecast rows are borrowed from donors and carry a wider interval. Every table says which is which; an access grant or a finished sample turns a forecast row into a measured one.</a:t>
            </a:r>
          </a:p>
        </p:txBody>
      </p:sp>
      <p:cxnSp>
        <p:nvCxnSpPr>
          <p:cNvPr id="6" name="Connector 5"/>
          <p:cNvCxnSpPr/>
          <p:nvPr/>
        </p:nvCxnSpPr>
        <p:spPr>
          <a:xfrm>
            <a:off x="594360" y="260146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729484"/>
            <a:ext cx="2377440" cy="662940"/>
          </a:xfrm>
          <a:prstGeom prst="rect">
            <a:avLst/>
          </a:prstGeom>
          <a:noFill/>
        </p:spPr>
        <p:txBody>
          <a:bodyPr wrap="square" lIns="0" rIns="0" tIns="0" bIns="0" anchor="t">
            <a:spAutoFit/>
          </a:bodyPr>
          <a:lstStyle/>
          <a:p>
            <a:pPr algn="l"/>
            <a:r>
              <a:rPr sz="1400" b="1" i="0">
                <a:solidFill>
                  <a:srgbClr val="C8102E"/>
                </a:solidFill>
                <a:latin typeface="Calibri"/>
              </a:rPr>
              <a:t>Header-measured hours</a:t>
            </a:r>
          </a:p>
        </p:txBody>
      </p:sp>
      <p:sp>
        <p:nvSpPr>
          <p:cNvPr id="8" name="TextBox 7"/>
          <p:cNvSpPr txBox="1"/>
          <p:nvPr/>
        </p:nvSpPr>
        <p:spPr>
          <a:xfrm>
            <a:off x="3154680" y="2729484"/>
            <a:ext cx="8442655" cy="662940"/>
          </a:xfrm>
          <a:prstGeom prst="rect">
            <a:avLst/>
          </a:prstGeom>
          <a:noFill/>
        </p:spPr>
        <p:txBody>
          <a:bodyPr wrap="square" lIns="0" rIns="0" tIns="0" bIns="0" anchor="t">
            <a:spAutoFit/>
          </a:bodyPr>
          <a:lstStyle/>
          <a:p>
            <a:pPr algn="l"/>
            <a:r>
              <a:rPr sz="1300" b="0" i="0">
                <a:solidFill>
                  <a:srgbClr val="1F2A44"/>
                </a:solidFill>
                <a:latin typeface="Calibri"/>
              </a:rPr>
              <a:t>A duration estimate based on available file headers and per-folder extrapolation for unprobed files. Probing is incomplete; some durations themselves use bitrate estimates. This is not an exact count of decoded estate hours.</a:t>
            </a:r>
          </a:p>
        </p:txBody>
      </p:sp>
      <p:cxnSp>
        <p:nvCxnSpPr>
          <p:cNvPr id="9" name="Connector 8"/>
          <p:cNvCxnSpPr/>
          <p:nvPr/>
        </p:nvCxnSpPr>
        <p:spPr>
          <a:xfrm>
            <a:off x="594360" y="335584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83864"/>
            <a:ext cx="2377440" cy="662940"/>
          </a:xfrm>
          <a:prstGeom prst="rect">
            <a:avLst/>
          </a:prstGeom>
          <a:noFill/>
        </p:spPr>
        <p:txBody>
          <a:bodyPr wrap="square" lIns="0" rIns="0" tIns="0" bIns="0" anchor="t">
            <a:spAutoFit/>
          </a:bodyPr>
          <a:lstStyle/>
          <a:p>
            <a:pPr algn="l"/>
            <a:r>
              <a:rPr sz="1400" b="1" i="0">
                <a:solidFill>
                  <a:srgbClr val="C8102E"/>
                </a:solidFill>
                <a:latin typeface="Calibri"/>
              </a:rPr>
              <a:t>95 % interval</a:t>
            </a:r>
          </a:p>
        </p:txBody>
      </p:sp>
      <p:sp>
        <p:nvSpPr>
          <p:cNvPr id="11" name="TextBox 10"/>
          <p:cNvSpPr txBox="1"/>
          <p:nvPr/>
        </p:nvSpPr>
        <p:spPr>
          <a:xfrm>
            <a:off x="3154680" y="3483864"/>
            <a:ext cx="8442655" cy="662940"/>
          </a:xfrm>
          <a:prstGeom prst="rect">
            <a:avLst/>
          </a:prstGeom>
          <a:noFill/>
        </p:spPr>
        <p:txBody>
          <a:bodyPr wrap="square" lIns="0" rIns="0" tIns="0" bIns="0" anchor="t">
            <a:spAutoFit/>
          </a:bodyPr>
          <a:lstStyle/>
          <a:p>
            <a:pPr algn="l"/>
            <a:r>
              <a:rPr sz="1300" b="0" i="0">
                <a:solidFill>
                  <a:srgbClr val="1F2A44"/>
                </a:solidFill>
                <a:latin typeface="Calibri"/>
              </a:rPr>
              <a:t>A sampling-uncertainty range produced by a method intended to cover its target in 95 % of repeated samples under its assumptions. It does not cover model error, failed reads, unmeasured folders or inaccessible content. Whole-folder reads remove sampling error, not measurement or classification error.</a:t>
            </a:r>
          </a:p>
        </p:txBody>
      </p:sp>
      <p:cxnSp>
        <p:nvCxnSpPr>
          <p:cNvPr id="12" name="Connector 11"/>
          <p:cNvCxnSpPr/>
          <p:nvPr/>
        </p:nvCxnSpPr>
        <p:spPr>
          <a:xfrm>
            <a:off x="594360" y="411022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4238243"/>
            <a:ext cx="2377440" cy="662940"/>
          </a:xfrm>
          <a:prstGeom prst="rect">
            <a:avLst/>
          </a:prstGeom>
          <a:noFill/>
        </p:spPr>
        <p:txBody>
          <a:bodyPr wrap="square" lIns="0" rIns="0" tIns="0" bIns="0" anchor="t">
            <a:spAutoFit/>
          </a:bodyPr>
          <a:lstStyle/>
          <a:p>
            <a:pPr algn="l"/>
            <a:r>
              <a:rPr sz="1400" b="1" i="0">
                <a:solidFill>
                  <a:srgbClr val="C8102E"/>
                </a:solidFill>
                <a:latin typeface="Calibri"/>
              </a:rPr>
              <a:t>Key refused (403)</a:t>
            </a:r>
          </a:p>
        </p:txBody>
      </p:sp>
      <p:sp>
        <p:nvSpPr>
          <p:cNvPr id="14" name="TextBox 13"/>
          <p:cNvSpPr txBox="1"/>
          <p:nvPr/>
        </p:nvSpPr>
        <p:spPr>
          <a:xfrm>
            <a:off x="3154680" y="4238243"/>
            <a:ext cx="8442655" cy="662940"/>
          </a:xfrm>
          <a:prstGeom prst="rect">
            <a:avLst/>
          </a:prstGeom>
          <a:noFill/>
        </p:spPr>
        <p:txBody>
          <a:bodyPr wrap="square" lIns="0" rIns="0" tIns="0" bIns="0" anchor="t">
            <a:spAutoFit/>
          </a:bodyPr>
          <a:lstStyle/>
          <a:p>
            <a:pPr algn="l"/>
            <a:r>
              <a:rPr sz="1300" b="0" i="0">
                <a:solidFill>
                  <a:srgbClr val="1F2A44"/>
                </a:solidFill>
                <a:latin typeface="Calibri"/>
              </a:rPr>
              <a:t>The census key can list the bucket but is refused when it tries to read any object. Those files are counted but nothing about their content is estimated. The fix is an access grant on the owner's cloud account, not a change to the census.</a:t>
            </a:r>
          </a:p>
        </p:txBody>
      </p:sp>
      <p:cxnSp>
        <p:nvCxnSpPr>
          <p:cNvPr id="15" name="Connector 14"/>
          <p:cNvCxnSpPr/>
          <p:nvPr/>
        </p:nvCxnSpPr>
        <p:spPr>
          <a:xfrm>
            <a:off x="594360" y="4864607"/>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992624"/>
            <a:ext cx="2377440" cy="662940"/>
          </a:xfrm>
          <a:prstGeom prst="rect">
            <a:avLst/>
          </a:prstGeom>
          <a:noFill/>
        </p:spPr>
        <p:txBody>
          <a:bodyPr wrap="square" lIns="0" rIns="0" tIns="0" bIns="0" anchor="t">
            <a:spAutoFit/>
          </a:bodyPr>
          <a:lstStyle/>
          <a:p>
            <a:pPr algn="l"/>
            <a:r>
              <a:rPr sz="1400" b="1" i="0">
                <a:solidFill>
                  <a:srgbClr val="C8102E"/>
                </a:solidFill>
                <a:latin typeface="Calibri"/>
              </a:rPr>
              <a:t>Archive class</a:t>
            </a:r>
          </a:p>
        </p:txBody>
      </p:sp>
      <p:sp>
        <p:nvSpPr>
          <p:cNvPr id="17" name="TextBox 16"/>
          <p:cNvSpPr txBox="1"/>
          <p:nvPr/>
        </p:nvSpPr>
        <p:spPr>
          <a:xfrm>
            <a:off x="3154680" y="4992624"/>
            <a:ext cx="8442655" cy="662940"/>
          </a:xfrm>
          <a:prstGeom prst="rect">
            <a:avLst/>
          </a:prstGeom>
          <a:noFill/>
        </p:spPr>
        <p:txBody>
          <a:bodyPr wrap="square" lIns="0" rIns="0" tIns="0" bIns="0" anchor="t">
            <a:spAutoFit/>
          </a:bodyPr>
          <a:lstStyle/>
          <a:p>
            <a:pPr algn="l"/>
            <a:r>
              <a:rPr sz="1300" b="0" i="0">
                <a:solidFill>
                  <a:srgbClr val="1F2A44"/>
                </a:solidFill>
                <a:latin typeface="Calibri"/>
              </a:rPr>
              <a:t>The cheapest storage tier. Some buckets allow direct reads of Archive objects for a retrieval fee; others answer 'restore required', and a restore must be ordered and paid for before anything can be read.</a:t>
            </a:r>
          </a:p>
        </p:txBody>
      </p:sp>
      <p:cxnSp>
        <p:nvCxnSpPr>
          <p:cNvPr id="18" name="Connector 17"/>
          <p:cNvCxnSpPr/>
          <p:nvPr/>
        </p:nvCxnSpPr>
        <p:spPr>
          <a:xfrm>
            <a:off x="594360" y="5618988"/>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0" name="TextBox 19"/>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1" name="TextBox 20"/>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Duplicate, damage, empty-field and PII ratios on sampled tables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complete passes where the table allowed it, stratified samples elsewhere</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 complete-pass census on the sampled tables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Semantic similarity between candidate datasets and the market</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not measured; candidates are dimensional readiness only</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buyer-side review of each candidate against its intended use</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Connection artists_app</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could not be read (MySQL GRANT pending)</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owner grants read access; re-census</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NAS duplication</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enumeration recorded sizes and dates, not content fingerprints</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fingerprinting pass over the NAS shares</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40 of 106 OBS buckets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unreachable (NoSuchBucket / client errors)</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bucket inventory reconciled with the provider</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Language of each news script</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scripts were counted and sized, not read; the language shown is the station's broadcast language from the estate's own table</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a text-model pass over the script column under the same aggregate-only seam</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Overlap between the workbench recordings and the staged corpus</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both inventories were counted on their own; no file-level join was made</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 hash join of workbench file locations against the staged corpus paths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A completed high-confidence content census of every readable folder</a:t>
            </a:r>
          </a:p>
        </p:txBody>
      </p:sp>
      <p:sp>
        <p:nvSpPr>
          <p:cNvPr id="11" name="TextBox 10"/>
          <p:cNvSpPr txBox="1"/>
          <p:nvPr/>
        </p:nvSpPr>
        <p:spPr>
          <a:xfrm>
            <a:off x="4396130"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Header probing and planned samples are incomplete; current estimates cover only strata with usable evidence, not unsampled folders or inaccessible stores</a:t>
            </a:r>
          </a:p>
        </p:txBody>
      </p:sp>
      <p:sp>
        <p:nvSpPr>
          <p:cNvPr id="12" name="TextBox 11"/>
          <p:cNvSpPr txBox="1"/>
          <p:nvPr/>
        </p:nvSpPr>
        <p:spPr>
          <a:xfrm>
            <a:off x="8124748"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complete the existing per-folder samples; prioritise high-volume and wide-interval strata; report read failures and coverage before combining totals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117348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Human-verified speech, music, silence and language quantities</a:t>
            </a:r>
          </a:p>
        </p:txBody>
      </p:sp>
      <p:sp>
        <p:nvSpPr>
          <p:cNvPr id="11" name="TextBox 10"/>
          <p:cNvSpPr txBox="1"/>
          <p:nvPr/>
        </p:nvSpPr>
        <p:spPr>
          <a:xfrm>
            <a:off x="4396130"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Sampling intervals quantify random sampling uncertainty only; model errors, nonresponse and duration-estimation bias are not included. Separate estimators need not sum to the header total</a:t>
            </a:r>
          </a:p>
        </p:txBody>
      </p:sp>
      <p:sp>
        <p:nvSpPr>
          <p:cNvPr id="12" name="TextBox 11"/>
          <p:cNvSpPr txBox="1"/>
          <p:nvPr/>
        </p:nvSpPr>
        <p:spPr>
          <a:xfrm>
            <a:off x="8124748"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independent stratified human checks including abstentions and low-confidence cases; calibrate model errors and reconcile header versus decoded durations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Estate-wide archive share and invoice-backed net tiering savings</a:t>
            </a:r>
          </a:p>
        </p:txBody>
      </p:sp>
      <p:sp>
        <p:nvSpPr>
          <p:cNvPr id="11" name="TextBox 10"/>
          <p:cNvSpPr txBox="1"/>
          <p:nvPr/>
        </p:nvSpPr>
        <p:spPr>
          <a:xfrm>
            <a:off x="4396130"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Storage-class metadata covers only a subset; historic full-Standard-price scenarios are not updated invoice savings and omit retrieval and restore costs</a:t>
            </a:r>
          </a:p>
        </p:txBody>
      </p:sp>
      <p:sp>
        <p:nvSpPr>
          <p:cNvPr id="12" name="TextBox 11"/>
          <p:cNvSpPr txBox="1"/>
          <p:nvPr/>
        </p:nvSpPr>
        <p:spPr>
          <a:xfrm>
            <a:off x="8124748"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collect class metadata and read demand per bucket, then reprice only confirmed eligible Standard bytes using actual storage, retrieval and restore tariffs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97536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Hours, speech, music and languages in the 15 buckets that refuse object reads (4,173,042 media files, 120.71 TiB)</a:t>
            </a:r>
          </a:p>
        </p:txBody>
      </p:sp>
      <p:sp>
        <p:nvSpPr>
          <p:cNvPr id="11" name="TextBox 10"/>
          <p:cNvSpPr txBox="1"/>
          <p:nvPr/>
        </p:nvSpPr>
        <p:spPr>
          <a:xfrm>
            <a:off x="4396130"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the census key lists them but every HEAD and GET returns 403 AccessDenied</a:t>
            </a:r>
          </a:p>
        </p:txBody>
      </p:sp>
      <p:sp>
        <p:nvSpPr>
          <p:cNvPr id="12" name="TextBox 11"/>
          <p:cNvSpPr txBox="1"/>
          <p:nvPr/>
        </p:nvSpPr>
        <p:spPr>
          <a:xfrm>
            <a:off x="8124748" y="3849624"/>
            <a:ext cx="3399434" cy="847344"/>
          </a:xfrm>
          <a:prstGeom prst="rect">
            <a:avLst/>
          </a:prstGeom>
          <a:noFill/>
        </p:spPr>
        <p:txBody>
          <a:bodyPr wrap="square" lIns="0" rIns="0" tIns="0" bIns="0" anchor="t">
            <a:spAutoFit/>
          </a:bodyPr>
          <a:lstStyle/>
          <a:p>
            <a:pPr algn="l"/>
            <a:r>
              <a:rPr sz="1300" b="0" i="0">
                <a:solidFill>
                  <a:srgbClr val="1F2A44"/>
                </a:solidFill>
                <a:latin typeface="Calibri"/>
              </a:rPr>
              <a:t>an IAM or bucket-policy grant of obs:object:GetObject to the census key; the census re-probes every run and resumes by itself</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Content of the 2 buckets whose objects answer InvalidObjectState</a:t>
            </a:r>
          </a:p>
        </p:txBody>
      </p:sp>
      <p:sp>
        <p:nvSpPr>
          <p:cNvPr id="11" name="TextBox 10"/>
          <p:cNvSpPr txBox="1"/>
          <p:nvPr/>
        </p:nvSpPr>
        <p:spPr>
          <a:xfrm>
            <a:off x="4396130"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Archive class without direct read; a restore (with its fee) must precede any read</a:t>
            </a:r>
          </a:p>
        </p:txBody>
      </p:sp>
      <p:sp>
        <p:nvSpPr>
          <p:cNvPr id="12" name="TextBox 11"/>
          <p:cNvSpPr txBox="1"/>
          <p:nvPr/>
        </p:nvSpPr>
        <p:spPr>
          <a:xfrm>
            <a:off x="8124748" y="3849624"/>
            <a:ext cx="3399434" cy="658368"/>
          </a:xfrm>
          <a:prstGeom prst="rect">
            <a:avLst/>
          </a:prstGeom>
          <a:noFill/>
        </p:spPr>
        <p:txBody>
          <a:bodyPr wrap="square" lIns="0" rIns="0" tIns="0" bIns="0" anchor="t">
            <a:spAutoFit/>
          </a:bodyPr>
          <a:lstStyle/>
          <a:p>
            <a:pPr algn="l"/>
            <a:r>
              <a:rPr sz="1300" b="0" i="0">
                <a:solidFill>
                  <a:srgbClr val="1F2A44"/>
                </a:solidFill>
                <a:latin typeface="Calibri"/>
              </a:rPr>
              <a:t>an owner decision to restore, or to leave them counted only</a:t>
            </a:r>
          </a:p>
        </p:txBody>
      </p:sp>
      <p:sp>
        <p:nvSpPr>
          <p:cNvPr id="13" name="Rectangle 12"/>
          <p:cNvSpPr/>
          <p:nvPr/>
        </p:nvSpPr>
        <p:spPr>
          <a:xfrm>
            <a:off x="594360" y="4654296"/>
            <a:ext cx="11002975" cy="786384"/>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File-share hours and speech for the shares still listing or probing</a:t>
            </a:r>
          </a:p>
        </p:txBody>
      </p:sp>
      <p:sp>
        <p:nvSpPr>
          <p:cNvPr id="15" name="TextBox 14"/>
          <p:cNvSpPr txBox="1"/>
          <p:nvPr/>
        </p:nvSpPr>
        <p:spPr>
          <a:xfrm>
            <a:off x="4396130"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listing and header probes run through the jump host's SFTP; reads only in the off-peak window</a:t>
            </a:r>
          </a:p>
        </p:txBody>
      </p:sp>
      <p:sp>
        <p:nvSpPr>
          <p:cNvPr id="16" name="TextBox 15"/>
          <p:cNvSpPr txBox="1"/>
          <p:nvPr/>
        </p:nvSpPr>
        <p:spPr>
          <a:xfrm>
            <a:off x="8124748" y="4727448"/>
            <a:ext cx="3399434" cy="658368"/>
          </a:xfrm>
          <a:prstGeom prst="rect">
            <a:avLst/>
          </a:prstGeom>
          <a:noFill/>
        </p:spPr>
        <p:txBody>
          <a:bodyPr wrap="square" lIns="0" rIns="0" tIns="0" bIns="0" anchor="t">
            <a:spAutoFit/>
          </a:bodyPr>
          <a:lstStyle/>
          <a:p>
            <a:pPr algn="l"/>
            <a:r>
              <a:rPr sz="1300" b="0" i="0">
                <a:solidFill>
                  <a:srgbClr val="1F2A44"/>
                </a:solidFill>
                <a:latin typeface="Calibri"/>
              </a:rPr>
              <a:t>the running NAS chain (listing any hour; reads 20:00–06:00 EAT)</a:t>
            </a:r>
          </a:p>
        </p:txBody>
      </p:sp>
      <p:sp>
        <p:nvSpPr>
          <p:cNvPr id="17" name="TextBox 16"/>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8" name="TextBox 17"/>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9" name="TextBox 18"/>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COVERAGE AND LIMITS</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What this pack covers, what it cannot say, and what would close each gap</a:t>
            </a:r>
          </a:p>
        </p:txBody>
      </p:sp>
      <p:sp>
        <p:nvSpPr>
          <p:cNvPr id="4" name="TextBox 3"/>
          <p:cNvSpPr txBox="1"/>
          <p:nvPr/>
        </p:nvSpPr>
        <p:spPr>
          <a:xfrm>
            <a:off x="594360" y="1920240"/>
            <a:ext cx="11002975" cy="1353312"/>
          </a:xfrm>
          <a:prstGeom prst="rect">
            <a:avLst/>
          </a:prstGeom>
          <a:noFill/>
        </p:spPr>
        <p:txBody>
          <a:bodyPr wrap="square" lIns="0" rIns="0" tIns="0" bIns="0" anchor="t">
            <a:spAutoFit/>
          </a:bodyPr>
          <a:lstStyle/>
          <a:p>
            <a:pPr algn="l"/>
            <a:r>
              <a:rPr sz="1400" b="0" i="0">
                <a:solidFill>
                  <a:srgbClr val="1F2A44"/>
                </a:solidFill>
                <a:latin typeface="Calibri"/>
              </a:rPr>
              <a:t>COVERS</a:t>
            </a:r>
          </a:p>
          <a:p>
            <a:pPr algn="l"/>
            <a:r>
              <a:rPr sz="1400" b="0" i="0">
                <a:solidFill>
                  <a:srgbClr val="1F2A44"/>
                </a:solidFill>
                <a:latin typeface="Calibri"/>
              </a:rPr>
              <a:t>The whole admitted estate as measured by census eij-1b359b3cbd2e and the content census: 20 databases, 1,006 tables (351.3 GiB), the object store, the file shares, the staged language corpus read by both GPUs, the written-word databases read as aggregates, the tiered content census of the readable media stores (hours on the files' headers, a stratified sample read in full), and a Monte Carlo forecast that scales the read sample to every listed folder — refused and unsampled stores included — so the pack states what the whole estate holds, with 95 % forecast intervals. No row value, script or transcript text is in this pack.</a:t>
            </a:r>
          </a:p>
        </p:txBody>
      </p:sp>
      <p:sp>
        <p:nvSpPr>
          <p:cNvPr id="5" name="TextBox 4"/>
          <p:cNvSpPr txBox="1"/>
          <p:nvPr/>
        </p:nvSpPr>
        <p:spPr>
          <a:xfrm>
            <a:off x="594360"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CANNOT SAY</a:t>
            </a:r>
          </a:p>
        </p:txBody>
      </p:sp>
      <p:sp>
        <p:nvSpPr>
          <p:cNvPr id="6" name="TextBox 5"/>
          <p:cNvSpPr txBox="1"/>
          <p:nvPr/>
        </p:nvSpPr>
        <p:spPr>
          <a:xfrm>
            <a:off x="4322978"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WHY</a:t>
            </a:r>
          </a:p>
        </p:txBody>
      </p:sp>
      <p:sp>
        <p:nvSpPr>
          <p:cNvPr id="7" name="TextBox 6"/>
          <p:cNvSpPr txBox="1"/>
          <p:nvPr/>
        </p:nvSpPr>
        <p:spPr>
          <a:xfrm>
            <a:off x="8051596" y="3364992"/>
            <a:ext cx="3545738" cy="274320"/>
          </a:xfrm>
          <a:prstGeom prst="rect">
            <a:avLst/>
          </a:prstGeom>
          <a:noFill/>
        </p:spPr>
        <p:txBody>
          <a:bodyPr wrap="square" lIns="0" rIns="0" tIns="0" bIns="0" anchor="t">
            <a:spAutoFit/>
          </a:bodyPr>
          <a:lstStyle/>
          <a:p>
            <a:pPr algn="l"/>
            <a:r>
              <a:rPr sz="1100" b="1" i="0">
                <a:solidFill>
                  <a:srgbClr val="8A94A6"/>
                </a:solidFill>
                <a:latin typeface="Calibri"/>
              </a:rPr>
              <a:t>WHAT WOULD CLOSE IT</a:t>
            </a:r>
          </a:p>
        </p:txBody>
      </p:sp>
      <p:cxnSp>
        <p:nvCxnSpPr>
          <p:cNvPr id="8" name="Connector 7"/>
          <p:cNvCxnSpPr/>
          <p:nvPr/>
        </p:nvCxnSpPr>
        <p:spPr>
          <a:xfrm>
            <a:off x="594360" y="3657600"/>
            <a:ext cx="11002975" cy="0"/>
          </a:xfrm>
          <a:prstGeom prst="line">
            <a:avLst/>
          </a:prstGeom>
          <a:ln w="9525">
            <a:solidFill>
              <a:srgbClr val="1F2A44"/>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94360" y="3776472"/>
            <a:ext cx="11002975" cy="1173480"/>
          </a:xfrm>
          <a:prstGeom prst="rect">
            <a:avLst/>
          </a:prstGeom>
          <a:pattFill>
            <a:fgClr>
              <a:srgbClr val="E9ECF1"/>
            </a:fgClr>
            <a:bgClr>
              <a:srgbClr val="FFFFFF"/>
            </a:bgClr>
          </a:patt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That refused buckets hold the same kind of content as the readable folders that stand in for them</a:t>
            </a:r>
          </a:p>
        </p:txBody>
      </p:sp>
      <p:sp>
        <p:nvSpPr>
          <p:cNvPr id="11" name="TextBox 10"/>
          <p:cNvSpPr txBox="1"/>
          <p:nvPr/>
        </p:nvSpPr>
        <p:spPr>
          <a:xfrm>
            <a:off x="4396130"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the forecast borrows seconds-per-megabyte, speech share and language mix from readable folders of the same media kind and file size; a refused bucket of a different nature would sit outside the interval</a:t>
            </a:r>
          </a:p>
        </p:txBody>
      </p:sp>
      <p:sp>
        <p:nvSpPr>
          <p:cNvPr id="12" name="TextBox 11"/>
          <p:cNvSpPr txBox="1"/>
          <p:nvPr/>
        </p:nvSpPr>
        <p:spPr>
          <a:xfrm>
            <a:off x="8124748" y="3849624"/>
            <a:ext cx="3399434" cy="1045463"/>
          </a:xfrm>
          <a:prstGeom prst="rect">
            <a:avLst/>
          </a:prstGeom>
          <a:noFill/>
        </p:spPr>
        <p:txBody>
          <a:bodyPr wrap="square" lIns="0" rIns="0" tIns="0" bIns="0" anchor="t">
            <a:spAutoFit/>
          </a:bodyPr>
          <a:lstStyle/>
          <a:p>
            <a:pPr algn="l"/>
            <a:r>
              <a:rPr sz="1300" b="0" i="0">
                <a:solidFill>
                  <a:srgbClr val="1F2A44"/>
                </a:solidFill>
                <a:latin typeface="Calibri"/>
              </a:rPr>
              <a:t>the object-read grant: the census then measures those buckets and the forecast rows become measured rows</a:t>
            </a:r>
          </a:p>
        </p:txBody>
      </p: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R01</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digest-verified report (measured 2026-09-29), headline aggregates and per-database measures</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R02</a:t>
            </a:r>
          </a:p>
        </p:txBody>
      </p:sp>
      <p:sp>
        <p:nvSpPr>
          <p:cNvPr id="8" name="TextBox 7"/>
          <p:cNvSpPr txBox="1"/>
          <p:nvPr/>
        </p:nvSpPr>
        <p:spPr>
          <a:xfrm>
            <a:off x="1508760" y="2563368"/>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cost_strategies priced at reference list prices, not the owner's invoice: Huawei Cloud RDS for MySQL cloud SSD AF-Johannesburg 0.00015 USD/GB-hour x 730 h; OBS Standard 0.023 USD/GB-month</a:t>
            </a:r>
          </a:p>
        </p:txBody>
      </p:sp>
      <p:cxnSp>
        <p:nvCxnSpPr>
          <p:cNvPr id="9" name="Connector 8"/>
          <p:cNvCxnSpPr/>
          <p:nvPr/>
        </p:nvCxnSpPr>
        <p:spPr>
          <a:xfrm>
            <a:off x="594360" y="308762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20649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R03</a:t>
            </a:r>
          </a:p>
        </p:txBody>
      </p:sp>
      <p:sp>
        <p:nvSpPr>
          <p:cNvPr id="11" name="TextBox 10"/>
          <p:cNvSpPr txBox="1"/>
          <p:nvPr/>
        </p:nvSpPr>
        <p:spPr>
          <a:xfrm>
            <a:off x="1508760" y="3206496"/>
            <a:ext cx="10088575" cy="365760"/>
          </a:xfrm>
          <a:prstGeom prst="rect">
            <a:avLst/>
          </a:prstGeom>
          <a:noFill/>
        </p:spPr>
        <p:txBody>
          <a:bodyPr wrap="square" lIns="0" rIns="0" tIns="0" bIns="0" anchor="t">
            <a:spAutoFit/>
          </a:bodyPr>
          <a:lstStyle/>
          <a:p>
            <a:pPr algn="l"/>
            <a:r>
              <a:rPr sz="1300" b="0" i="0">
                <a:solidFill>
                  <a:srgbClr val="1F2A44"/>
                </a:solidFill>
                <a:latin typeface="Calibri"/>
              </a:rPr>
              <a:t>Estate intelligence census eij-1b359b3cbd2e, data_products readiness scoring (dimensions, grades, blockers)</a:t>
            </a:r>
          </a:p>
        </p:txBody>
      </p:sp>
      <p:cxnSp>
        <p:nvCxnSpPr>
          <p:cNvPr id="12" name="Connector 11"/>
          <p:cNvCxnSpPr/>
          <p:nvPr/>
        </p:nvCxnSpPr>
        <p:spPr>
          <a:xfrm>
            <a:off x="594360" y="35905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70941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R04</a:t>
            </a:r>
          </a:p>
        </p:txBody>
      </p:sp>
      <p:sp>
        <p:nvSpPr>
          <p:cNvPr id="14" name="TextBox 13"/>
          <p:cNvSpPr txBox="1"/>
          <p:nvPr/>
        </p:nvSpPr>
        <p:spPr>
          <a:xfrm>
            <a:off x="1508760" y="3709416"/>
            <a:ext cx="10088575" cy="365760"/>
          </a:xfrm>
          <a:prstGeom prst="rect">
            <a:avLst/>
          </a:prstGeom>
          <a:noFill/>
        </p:spPr>
        <p:txBody>
          <a:bodyPr wrap="square" lIns="0" rIns="0" tIns="0" bIns="0" anchor="t">
            <a:spAutoFit/>
          </a:bodyPr>
          <a:lstStyle/>
          <a:p>
            <a:pPr algn="l"/>
            <a:r>
              <a:rPr sz="1300" b="0" i="0">
                <a:solidFill>
                  <a:srgbClr val="1F2A44"/>
                </a:solidFill>
                <a:latin typeface="Calibri"/>
              </a:rPr>
              <a:t>OBS bucket enumeration census run cr-f1415e395361 (22,997,353 objects, 130.8 TiB)</a:t>
            </a:r>
          </a:p>
        </p:txBody>
      </p:sp>
      <p:cxnSp>
        <p:nvCxnSpPr>
          <p:cNvPr id="15" name="Connector 14"/>
          <p:cNvCxnSpPr/>
          <p:nvPr/>
        </p:nvCxnSpPr>
        <p:spPr>
          <a:xfrm>
            <a:off x="594360" y="409346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212336"/>
            <a:ext cx="822960" cy="365760"/>
          </a:xfrm>
          <a:prstGeom prst="rect">
            <a:avLst/>
          </a:prstGeom>
          <a:noFill/>
        </p:spPr>
        <p:txBody>
          <a:bodyPr wrap="square" lIns="0" rIns="0" tIns="0" bIns="0" anchor="t">
            <a:spAutoFit/>
          </a:bodyPr>
          <a:lstStyle/>
          <a:p>
            <a:pPr algn="l"/>
            <a:r>
              <a:rPr sz="1400" b="1" i="0">
                <a:solidFill>
                  <a:srgbClr val="C8102E"/>
                </a:solidFill>
                <a:latin typeface="Courier New"/>
              </a:rPr>
              <a:t>R05</a:t>
            </a:r>
          </a:p>
        </p:txBody>
      </p:sp>
      <p:sp>
        <p:nvSpPr>
          <p:cNvPr id="17" name="TextBox 16"/>
          <p:cNvSpPr txBox="1"/>
          <p:nvPr/>
        </p:nvSpPr>
        <p:spPr>
          <a:xfrm>
            <a:off x="1508760" y="4212336"/>
            <a:ext cx="10088575" cy="365760"/>
          </a:xfrm>
          <a:prstGeom prst="rect">
            <a:avLst/>
          </a:prstGeom>
          <a:noFill/>
        </p:spPr>
        <p:txBody>
          <a:bodyPr wrap="square" lIns="0" rIns="0" tIns="0" bIns="0" anchor="t">
            <a:spAutoFit/>
          </a:bodyPr>
          <a:lstStyle/>
          <a:p>
            <a:pPr algn="l"/>
            <a:r>
              <a:rPr sz="1300" b="0" i="0">
                <a:solidFill>
                  <a:srgbClr val="1F2A44"/>
                </a:solidFill>
                <a:latin typeface="Calibri"/>
              </a:rPr>
              <a:t>NAS share enumeration census run cr-cf4eef79995b (1,470,663 files, 43.9 TiB)</a:t>
            </a:r>
          </a:p>
        </p:txBody>
      </p:sp>
      <p:cxnSp>
        <p:nvCxnSpPr>
          <p:cNvPr id="18" name="Connector 17"/>
          <p:cNvCxnSpPr/>
          <p:nvPr/>
        </p:nvCxnSpPr>
        <p:spPr>
          <a:xfrm>
            <a:off x="594360" y="459638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715256"/>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R06</a:t>
            </a:r>
          </a:p>
        </p:txBody>
      </p:sp>
      <p:sp>
        <p:nvSpPr>
          <p:cNvPr id="20" name="TextBox 19"/>
          <p:cNvSpPr txBox="1"/>
          <p:nvPr/>
        </p:nvSpPr>
        <p:spPr>
          <a:xfrm>
            <a:off x="1508760" y="4715256"/>
            <a:ext cx="10088575" cy="505968"/>
          </a:xfrm>
          <a:prstGeom prst="rect">
            <a:avLst/>
          </a:prstGeom>
          <a:noFill/>
        </p:spPr>
        <p:txBody>
          <a:bodyPr wrap="square" lIns="0" rIns="0" tIns="0" bIns="0" anchor="t">
            <a:spAutoFit/>
          </a:bodyPr>
          <a:lstStyle/>
          <a:p>
            <a:pPr algn="l"/>
            <a:r>
              <a:rPr sz="1300" b="0" i="0">
                <a:solidFill>
                  <a:srgbClr val="1F2A44"/>
                </a:solidFill>
                <a:latin typeface="Calibri"/>
              </a:rPr>
              <a:t>Estate language reading m9j-9e8fcb46a809 on akki-vm (2 GPUs, 1.034 GPU-h): audio language model lcj-7128593897d4 sha256 5c1feb8497e8…, music detector m9j-686de001bfe7 sha256 0fea3eee0393…; model readings, not human labels</a:t>
            </a:r>
          </a:p>
        </p:txBody>
      </p:sp>
      <p:cxnSp>
        <p:nvCxnSpPr>
          <p:cNvPr id="21" name="Connector 20"/>
          <p:cNvCxnSpPr/>
          <p:nvPr/>
        </p:nvCxnSpPr>
        <p:spPr>
          <a:xfrm>
            <a:off x="594360" y="5239512"/>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23" name="TextBox 22"/>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24" name="TextBox 23"/>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505968"/>
          </a:xfrm>
          <a:prstGeom prst="rect">
            <a:avLst/>
          </a:prstGeom>
          <a:noFill/>
        </p:spPr>
        <p:txBody>
          <a:bodyPr wrap="square" lIns="0" rIns="0" tIns="0" bIns="0" anchor="t">
            <a:spAutoFit/>
          </a:bodyPr>
          <a:lstStyle/>
          <a:p>
            <a:pPr algn="l"/>
            <a:r>
              <a:rPr sz="1400" b="1" i="0">
                <a:solidFill>
                  <a:srgbClr val="C8102E"/>
                </a:solidFill>
                <a:latin typeface="Courier New"/>
              </a:rPr>
              <a:t>R07</a:t>
            </a:r>
          </a:p>
        </p:txBody>
      </p:sp>
      <p:sp>
        <p:nvSpPr>
          <p:cNvPr id="5" name="TextBox 4"/>
          <p:cNvSpPr txBox="1"/>
          <p:nvPr/>
        </p:nvSpPr>
        <p:spPr>
          <a:xfrm>
            <a:off x="1508760" y="1920240"/>
            <a:ext cx="10088575" cy="505968"/>
          </a:xfrm>
          <a:prstGeom prst="rect">
            <a:avLst/>
          </a:prstGeom>
          <a:noFill/>
        </p:spPr>
        <p:txBody>
          <a:bodyPr wrap="square" lIns="0" rIns="0" tIns="0" bIns="0" anchor="t">
            <a:spAutoFit/>
          </a:bodyPr>
          <a:lstStyle/>
          <a:p>
            <a:pPr algn="l"/>
            <a:r>
              <a:rPr sz="1300" b="0" i="0">
                <a:solidFill>
                  <a:srgbClr val="1F2A44"/>
                </a:solidFill>
                <a:latin typeface="Calibri"/>
              </a:rPr>
              <a:t>Served text language model m9j-74af7cef0a85 readings of the staged transcripts: jobs m9j-2d43ed6cf567, m9j-8cf6702f8718 (2,245 transcripts read, 3939 present)</a:t>
            </a:r>
          </a:p>
        </p:txBody>
      </p:sp>
      <p:cxnSp>
        <p:nvCxnSpPr>
          <p:cNvPr id="6" name="Connector 5"/>
          <p:cNvCxnSpPr/>
          <p:nvPr/>
        </p:nvCxnSpPr>
        <p:spPr>
          <a:xfrm>
            <a:off x="594360" y="24444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2563368"/>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R08</a:t>
            </a:r>
          </a:p>
        </p:txBody>
      </p:sp>
      <p:sp>
        <p:nvSpPr>
          <p:cNvPr id="8" name="TextBox 7"/>
          <p:cNvSpPr txBox="1"/>
          <p:nvPr/>
        </p:nvSpPr>
        <p:spPr>
          <a:xfrm>
            <a:off x="1508760" y="2563368"/>
            <a:ext cx="10088575" cy="704087"/>
          </a:xfrm>
          <a:prstGeom prst="rect">
            <a:avLst/>
          </a:prstGeom>
          <a:noFill/>
        </p:spPr>
        <p:txBody>
          <a:bodyPr wrap="square" lIns="0" rIns="0" tIns="0" bIns="0" anchor="t">
            <a:spAutoFit/>
          </a:bodyPr>
          <a:lstStyle/>
          <a:p>
            <a:pPr algn="l"/>
            <a:r>
              <a:rPr sz="1300" b="0" i="0">
                <a:solidFill>
                  <a:srgbClr val="1F2A44"/>
                </a:solidFill>
                <a:latin typeface="Calibri"/>
              </a:rPr>
              <a:t>Aggregate-only database reading etx-81e10befe6e0: news_vault.stories (script, title, date, hour_id) → news_vault.hours (station_id, time, type_id) → news_vault.stations (name); news_vault.news (2022 bulletins); local.uploaded_files (language_id, audio_length, status) ← local.transcripts (file_id, start_time, end_time, transcript) ; local.folder_languages (Language, code, station)</a:t>
            </a:r>
          </a:p>
        </p:txBody>
      </p:sp>
      <p:cxnSp>
        <p:nvCxnSpPr>
          <p:cNvPr id="9" name="Connector 8"/>
          <p:cNvCxnSpPr/>
          <p:nvPr/>
        </p:nvCxnSpPr>
        <p:spPr>
          <a:xfrm>
            <a:off x="594360" y="32857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3404616"/>
            <a:ext cx="822960" cy="704087"/>
          </a:xfrm>
          <a:prstGeom prst="rect">
            <a:avLst/>
          </a:prstGeom>
          <a:noFill/>
        </p:spPr>
        <p:txBody>
          <a:bodyPr wrap="square" lIns="0" rIns="0" tIns="0" bIns="0" anchor="t">
            <a:spAutoFit/>
          </a:bodyPr>
          <a:lstStyle/>
          <a:p>
            <a:pPr algn="l"/>
            <a:r>
              <a:rPr sz="1400" b="1" i="0">
                <a:solidFill>
                  <a:srgbClr val="C8102E"/>
                </a:solidFill>
                <a:latin typeface="Courier New"/>
              </a:rPr>
              <a:t>R09</a:t>
            </a:r>
          </a:p>
        </p:txBody>
      </p:sp>
      <p:sp>
        <p:nvSpPr>
          <p:cNvPr id="11" name="TextBox 10"/>
          <p:cNvSpPr txBox="1"/>
          <p:nvPr/>
        </p:nvSpPr>
        <p:spPr>
          <a:xfrm>
            <a:off x="1508760" y="3404616"/>
            <a:ext cx="10088575" cy="704087"/>
          </a:xfrm>
          <a:prstGeom prst="rect">
            <a:avLst/>
          </a:prstGeom>
          <a:noFill/>
        </p:spPr>
        <p:txBody>
          <a:bodyPr wrap="square" lIns="0" rIns="0" tIns="0" bIns="0" anchor="t">
            <a:spAutoFit/>
          </a:bodyPr>
          <a:lstStyle/>
          <a:p>
            <a:pPr algn="l"/>
            <a:r>
              <a:rPr sz="1300" b="0" i="0">
                <a:solidFill>
                  <a:srgbClr val="1F2A44"/>
                </a:solidFill>
                <a:latin typeface="Calibri"/>
              </a:rPr>
              <a:t>Model role assignments evaluated 2026-10-02: integration model catalogue plus published task benchmarks reviewed on the day; planner/reviewer families kept distinct so the review does not share the planner's blind spots. Not claimed: no independent head-to-head benchmark was run on owner data; assignments are disclosed configuration, re-evaluated when a role under-performs on its own gate</a:t>
            </a:r>
          </a:p>
        </p:txBody>
      </p:sp>
      <p:cxnSp>
        <p:nvCxnSpPr>
          <p:cNvPr id="12" name="Connector 11"/>
          <p:cNvCxnSpPr/>
          <p:nvPr/>
        </p:nvCxnSpPr>
        <p:spPr>
          <a:xfrm>
            <a:off x="594360" y="4126991"/>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4" name="TextBox 13"/>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5" name="TextBox 14"/>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411480"/>
            <a:ext cx="11002975" cy="376732"/>
          </a:xfrm>
          <a:prstGeom prst="rect">
            <a:avLst/>
          </a:prstGeom>
          <a:noFill/>
        </p:spPr>
        <p:txBody>
          <a:bodyPr wrap="square" lIns="0" rIns="0" tIns="0" bIns="0" anchor="t">
            <a:spAutoFit/>
          </a:bodyPr>
          <a:lstStyle/>
          <a:p>
            <a:pPr algn="l"/>
            <a:r>
              <a:rPr sz="1100" b="1" i="0">
                <a:solidFill>
                  <a:srgbClr val="8A94A6"/>
                </a:solidFill>
                <a:latin typeface="Calibri"/>
              </a:rPr>
              <a:t>APPENDIX</a:t>
            </a:r>
          </a:p>
        </p:txBody>
      </p:sp>
      <p:sp>
        <p:nvSpPr>
          <p:cNvPr id="3" name="TextBox 2"/>
          <p:cNvSpPr txBox="1"/>
          <p:nvPr/>
        </p:nvSpPr>
        <p:spPr>
          <a:xfrm>
            <a:off x="594360" y="789127"/>
            <a:ext cx="11002975" cy="1131112"/>
          </a:xfrm>
          <a:prstGeom prst="rect">
            <a:avLst/>
          </a:prstGeom>
          <a:noFill/>
        </p:spPr>
        <p:txBody>
          <a:bodyPr wrap="square" lIns="0" rIns="0" tIns="0" bIns="0" anchor="t">
            <a:spAutoFit/>
          </a:bodyPr>
          <a:lstStyle/>
          <a:p>
            <a:pPr algn="l"/>
            <a:r>
              <a:rPr sz="2600" b="0" i="0">
                <a:solidFill>
                  <a:srgbClr val="1F2A44"/>
                </a:solidFill>
                <a:latin typeface="Cambria"/>
              </a:rPr>
              <a:t>Exhibit index with receipts</a:t>
            </a:r>
          </a:p>
        </p:txBody>
      </p:sp>
      <p:sp>
        <p:nvSpPr>
          <p:cNvPr id="4" name="TextBox 3"/>
          <p:cNvSpPr txBox="1"/>
          <p:nvPr/>
        </p:nvSpPr>
        <p:spPr>
          <a:xfrm>
            <a:off x="594360" y="1920240"/>
            <a:ext cx="822960" cy="1496568"/>
          </a:xfrm>
          <a:prstGeom prst="rect">
            <a:avLst/>
          </a:prstGeom>
          <a:noFill/>
        </p:spPr>
        <p:txBody>
          <a:bodyPr wrap="square" lIns="0" rIns="0" tIns="0" bIns="0" anchor="t">
            <a:spAutoFit/>
          </a:bodyPr>
          <a:lstStyle/>
          <a:p>
            <a:pPr algn="l"/>
            <a:r>
              <a:rPr sz="1400" b="1" i="0">
                <a:solidFill>
                  <a:srgbClr val="C8102E"/>
                </a:solidFill>
                <a:latin typeface="Courier New"/>
              </a:rPr>
              <a:t>R10</a:t>
            </a:r>
          </a:p>
        </p:txBody>
      </p:sp>
      <p:sp>
        <p:nvSpPr>
          <p:cNvPr id="5" name="TextBox 4"/>
          <p:cNvSpPr txBox="1"/>
          <p:nvPr/>
        </p:nvSpPr>
        <p:spPr>
          <a:xfrm>
            <a:off x="1508760" y="1920240"/>
            <a:ext cx="10088575" cy="1496568"/>
          </a:xfrm>
          <a:prstGeom prst="rect">
            <a:avLst/>
          </a:prstGeom>
          <a:noFill/>
        </p:spPr>
        <p:txBody>
          <a:bodyPr wrap="square" lIns="0" rIns="0" tIns="0" bIns="0" anchor="t">
            <a:spAutoFit/>
          </a:bodyPr>
          <a:lstStyle/>
          <a:p>
            <a:pPr algn="l"/>
            <a:r>
              <a:rPr sz="1300" b="0" i="0">
                <a:solidFill>
                  <a:srgbClr val="1F2A44"/>
                </a:solidFill>
                <a:latin typeface="Calibri"/>
              </a:rPr>
              <a:t>Interim tiered content census (content_sample); snapshots OBS 2026-10-03T02:33:28.832346+00:00; NAS 2026-10-03T02:33:24.807604+00:00; receipts cr-9bc59057d47c, cr-aa33fffba60e, cr-bbf71c8d905a, cr-cb0e66bd3e24, cr-cf4eef79995b, cr-f1415e395361 on akki-vm and akki-vm-ii. Resumable listing, header probes of accessible audio and a per-folder video sample (ranged reads → ffprobe), with unprobed durations extrapolated where possible; a seeded stratified sample of files per folder read byte for byte, verified against the listing and judged on every two-second window by the admitted music detector and the current audio language model; ratio estimators with finite-population correction give the 95 % intervals. Listing, probing and sampling are incomplete. Model readings, not human labels; intervals exclude model error and inaccessible or unsampled content.</a:t>
            </a:r>
          </a:p>
        </p:txBody>
      </p:sp>
      <p:cxnSp>
        <p:nvCxnSpPr>
          <p:cNvPr id="6" name="Connector 5"/>
          <p:cNvCxnSpPr/>
          <p:nvPr/>
        </p:nvCxnSpPr>
        <p:spPr>
          <a:xfrm>
            <a:off x="594360" y="3435096"/>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3553968"/>
            <a:ext cx="822960" cy="1694688"/>
          </a:xfrm>
          <a:prstGeom prst="rect">
            <a:avLst/>
          </a:prstGeom>
          <a:noFill/>
        </p:spPr>
        <p:txBody>
          <a:bodyPr wrap="square" lIns="0" rIns="0" tIns="0" bIns="0" anchor="t">
            <a:spAutoFit/>
          </a:bodyPr>
          <a:lstStyle/>
          <a:p>
            <a:pPr algn="l"/>
            <a:r>
              <a:rPr sz="1400" b="1" i="0">
                <a:solidFill>
                  <a:srgbClr val="C8102E"/>
                </a:solidFill>
                <a:latin typeface="Courier New"/>
              </a:rPr>
              <a:t>R11</a:t>
            </a:r>
          </a:p>
        </p:txBody>
      </p:sp>
      <p:sp>
        <p:nvSpPr>
          <p:cNvPr id="8" name="TextBox 7"/>
          <p:cNvSpPr txBox="1"/>
          <p:nvPr/>
        </p:nvSpPr>
        <p:spPr>
          <a:xfrm>
            <a:off x="1508760" y="3553968"/>
            <a:ext cx="10088575" cy="1694688"/>
          </a:xfrm>
          <a:prstGeom prst="rect">
            <a:avLst/>
          </a:prstGeom>
          <a:noFill/>
        </p:spPr>
        <p:txBody>
          <a:bodyPr wrap="square" lIns="0" rIns="0" tIns="0" bIns="0" anchor="t">
            <a:spAutoFit/>
          </a:bodyPr>
          <a:lstStyle/>
          <a:p>
            <a:pPr algn="l"/>
            <a:r>
              <a:rPr sz="1300" b="0" i="0">
                <a:solidFill>
                  <a:srgbClr val="1F2A44"/>
                </a:solidFill>
                <a:latin typeface="Calibri"/>
              </a:rPr>
              <a:t>Whole-estate Monte Carlo forecast over the retained content-census receipts (cr-bbf71c8d905a, cr-cb0e66bd3e24, cr-cf4eef79995b, cr-f1415e395361): 2,000 seeded simulations over 1,334 folder strata. Measured strata: normal draws around the census estimator and its standard error. Forecast strata: in each simulation a donor folder of the same media kind is drawn — every readable bucket is one witness (bucket weight ∝ √ of its files), its folders share that weight by file count, and a Gaussian kernel on log mean file size (σ = 1.0, widened until at least 3 donors carry weight) favours donors whose files look like the target's; hours = bytes × the donor's seconds per megabyte; speech, music and language hours = hours × the donor's shares. Strata are summed in every simulation; est is the median, lo–hi the 2.5th–97.5th percentiles. Intervals carry sampling and between-folder variation, not model error or the chance that refused buckets differ in kind from every readable one.</a:t>
            </a:r>
          </a:p>
        </p:txBody>
      </p:sp>
      <p:cxnSp>
        <p:nvCxnSpPr>
          <p:cNvPr id="9" name="Connector 8"/>
          <p:cNvCxnSpPr/>
          <p:nvPr/>
        </p:nvCxnSpPr>
        <p:spPr>
          <a:xfrm>
            <a:off x="594360" y="5266944"/>
            <a:ext cx="11002975" cy="0"/>
          </a:xfrm>
          <a:prstGeom prst="line">
            <a:avLst/>
          </a:prstGeom>
          <a:ln w="9525">
            <a:solidFill>
              <a:srgbClr val="D5DA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94360" y="6069787"/>
            <a:ext cx="5409590" cy="376732"/>
          </a:xfrm>
          <a:prstGeom prst="rect">
            <a:avLst/>
          </a:prstGeom>
          <a:noFill/>
        </p:spPr>
        <p:txBody>
          <a:bodyPr wrap="square" lIns="0" rIns="0" tIns="0" bIns="0" anchor="b">
            <a:spAutoFit/>
          </a:bodyPr>
          <a:lstStyle/>
          <a:p>
            <a:pPr algn="l"/>
            <a:r>
              <a:rPr sz="1000" b="0" i="0">
                <a:solidFill>
                  <a:srgbClr val="8A94A6"/>
                </a:solidFill>
                <a:latin typeface="Calibri"/>
              </a:rPr>
              <a:t>EI-eij-1b359b3cbd2e</a:t>
            </a:r>
          </a:p>
        </p:txBody>
      </p:sp>
      <p:sp>
        <p:nvSpPr>
          <p:cNvPr id="11" name="TextBox 10"/>
          <p:cNvSpPr txBox="1"/>
          <p:nvPr/>
        </p:nvSpPr>
        <p:spPr>
          <a:xfrm>
            <a:off x="6187744" y="6069787"/>
            <a:ext cx="4477816" cy="376732"/>
          </a:xfrm>
          <a:prstGeom prst="rect">
            <a:avLst/>
          </a:prstGeom>
          <a:noFill/>
        </p:spPr>
        <p:txBody>
          <a:bodyPr wrap="square" lIns="0" rIns="0" tIns="0" bIns="0" anchor="b">
            <a:spAutoFit/>
          </a:bodyPr>
          <a:lstStyle/>
          <a:p>
            <a:pPr algn="ctr"/>
            <a:r>
              <a:rPr sz="1000" b="0" i="0">
                <a:solidFill>
                  <a:srgbClr val="8A94A6"/>
                </a:solidFill>
                <a:latin typeface="Calibri"/>
              </a:rPr>
              <a:t>Tenant confidential</a:t>
            </a:r>
          </a:p>
        </p:txBody>
      </p:sp>
      <p:sp>
        <p:nvSpPr>
          <p:cNvPr id="12" name="TextBox 11"/>
          <p:cNvSpPr txBox="1"/>
          <p:nvPr/>
        </p:nvSpPr>
        <p:spPr>
          <a:xfrm>
            <a:off x="10848441" y="6069787"/>
            <a:ext cx="748893" cy="376732"/>
          </a:xfrm>
          <a:prstGeom prst="rect">
            <a:avLst/>
          </a:prstGeom>
          <a:noFill/>
        </p:spPr>
        <p:txBody>
          <a:bodyPr wrap="square" lIns="0" rIns="0" tIns="0" bIns="0" anchor="b">
            <a:spAutoFit/>
          </a:bodyPr>
          <a:lstStyle/>
          <a:p>
            <a:pPr algn="r"/>
            <a:r>
              <a:rPr sz="1000" b="0" i="0">
                <a:solidFill>
                  <a:srgbClr val="8A94A6"/>
                </a:solidFill>
                <a:latin typeface="Courier New"/>
              </a:rP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RMS estate: hours, speech and what to decide</dc:title>
  <dc:subject/>
  <dc:creator>doc-studio</dc:creator>
  <cp:keywords/>
  <dc:description>generated using python-pptx</dc:description>
  <cp:lastModifiedBy>doc-studio</cp:lastModifiedBy>
  <cp:revision>1</cp:revision>
  <dcterms:created xsi:type="dcterms:W3CDTF">2026-10-03T01:03:55Z</dcterms:created>
  <dcterms:modified xsi:type="dcterms:W3CDTF">2026-10-03T01:03:55Z</dcterms:modified>
  <cp:category/>
</cp:coreProperties>
</file>