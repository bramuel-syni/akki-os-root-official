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TiB</c:v>
                </c:pt>
              </c:strCache>
            </c:strRef>
          </c:tx>
          <c:spPr>
            <a:solidFill>
              <a:srgbClr val="E8772E"/>
            </a:solidFill>
          </c:spPr>
          <c:cat>
            <c:strRef>
              <c:f>Sheet1!$A$2:$A$4</c:f>
              <c:strCache>
                <c:ptCount val="3"/>
                <c:pt idx="0">
                  <c:v>Databases</c:v>
                </c:pt>
                <c:pt idx="1">
                  <c:v>Object store (OBS)</c:v>
                </c:pt>
                <c:pt idx="2">
                  <c:v>File shares (NAS)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0.34</c:v>
                </c:pt>
                <c:pt idx="1">
                  <c:v>130.32</c:v>
                </c:pt>
                <c:pt idx="2">
                  <c:v>43.65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4324A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3DCE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DCE4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70879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TiB</c:v>
                </c:pt>
              </c:strCache>
            </c:strRef>
          </c:tx>
          <c:spPr>
            <a:solidFill>
              <a:srgbClr val="E8772E"/>
            </a:solidFill>
          </c:spPr>
          <c:cat>
            <c:strRef>
              <c:f>Sheet1!$A$2:$A$9</c:f>
              <c:strCache>
                <c:ptCount val="8"/>
                <c:pt idx="0">
                  <c:v>2024offairrecs</c:v>
                </c:pt>
                <c:pt idx="1">
                  <c:v>music-bucket-rms (cold)</c:v>
                </c:pt>
                <c:pt idx="2">
                  <c:v>na7p43do (cold)</c:v>
                </c:pt>
                <c:pt idx="3">
                  <c:v>na7p43js (cold)</c:v>
                </c:pt>
                <c:pt idx="4">
                  <c:v>na7p434j (cold)</c:v>
                </c:pt>
                <c:pt idx="5">
                  <c:v>na7p41hj (cold)</c:v>
                </c:pt>
                <c:pt idx="6">
                  <c:v>na7p42xe (cold)</c:v>
                </c:pt>
                <c:pt idx="7">
                  <c:v>na7p42xw (cold)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86.3</c:v>
                </c:pt>
                <c:pt idx="1">
                  <c:v>4.93</c:v>
                </c:pt>
                <c:pt idx="2">
                  <c:v>4.1</c:v>
                </c:pt>
                <c:pt idx="3">
                  <c:v>3.57</c:v>
                </c:pt>
                <c:pt idx="4">
                  <c:v>3.5</c:v>
                </c:pt>
                <c:pt idx="5">
                  <c:v>3.48</c:v>
                </c:pt>
                <c:pt idx="6">
                  <c:v>3.44</c:v>
                </c:pt>
                <c:pt idx="7">
                  <c:v>3.4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4324A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3DCE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DCE4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70879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GiB</c:v>
                </c:pt>
              </c:strCache>
            </c:strRef>
          </c:tx>
          <c:spPr>
            <a:solidFill>
              <a:srgbClr val="E8772E"/>
            </a:solidFill>
          </c:spPr>
          <c:cat>
            <c:strRef>
              <c:f>Sheet1!$A$2:$A$8</c:f>
              <c:strCache>
                <c:ptCount val="7"/>
                <c:pt idx="0">
                  <c:v>Move buckets not written for over a year</c:v>
                </c:pt>
                <c:pt idx="1">
                  <c:v>Reconcile duplicate objects across OBS b</c:v>
                </c:pt>
                <c:pt idx="2">
                  <c:v>Move tables not written for over a year </c:v>
                </c:pt>
                <c:pt idx="3">
                  <c:v>Remove redundant (prefix-covered) indexe</c:v>
                </c:pt>
                <c:pt idx="4">
                  <c:v>De-duplicate exact repeated rows inside </c:v>
                </c:pt>
                <c:pt idx="5">
                  <c:v>Consolidate duplicate and staging copies</c:v>
                </c:pt>
                <c:pt idx="6">
                  <c:v>Drop or archive empty tables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42891.0</c:v>
                </c:pt>
                <c:pt idx="1">
                  <c:v>7839.5</c:v>
                </c:pt>
                <c:pt idx="2">
                  <c:v>54.1</c:v>
                </c:pt>
                <c:pt idx="3">
                  <c:v>14.0</c:v>
                </c:pt>
                <c:pt idx="4">
                  <c:v>1.2</c:v>
                </c:pt>
                <c:pt idx="5">
                  <c:v>0.1</c:v>
                </c:pt>
                <c:pt idx="6">
                  <c:v>0.0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4324A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3DCE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DCE4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70879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E8772E"/>
            </a:solidFill>
          </c:spPr>
          <c:cat>
            <c:strRef>
              <c:f>Sheet1!$A$2:$A$6</c:f>
              <c:strCache>
                <c:ptCount val="5"/>
                <c:pt idx="0">
                  <c:v>Exact duplicates</c:v>
                </c:pt>
                <c:pt idx="1">
                  <c:v>Degraded</c:v>
                </c:pt>
                <c:pt idx="2">
                  <c:v>Empty required fields</c:v>
                </c:pt>
                <c:pt idx="3">
                  <c:v>PII markers (sampled)</c:v>
                </c:pt>
                <c:pt idx="4">
                  <c:v>Stale bytes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0.015</c:v>
                </c:pt>
                <c:pt idx="1">
                  <c:v>0.23</c:v>
                </c:pt>
                <c:pt idx="2">
                  <c:v>0.817</c:v>
                </c:pt>
                <c:pt idx="3">
                  <c:v>0.718</c:v>
                </c:pt>
                <c:pt idx="4">
                  <c:v>0.154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00">
                  <a:solidFill>
                    <a:srgbClr val="14324A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3DCE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DCE4"/>
              </a:solidFill>
            </a:ln>
          </c:spPr>
        </c:majorGridlines>
        <c:numFmt formatCode="0.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70879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GiB</c:v>
                </c:pt>
              </c:strCache>
            </c:strRef>
          </c:tx>
          <c:spPr>
            <a:solidFill>
              <a:srgbClr val="E8772E"/>
            </a:solidFill>
          </c:spPr>
          <c:cat>
            <c:strRef>
              <c:f>Sheet1!$A$2:$A$9</c:f>
              <c:strCache>
                <c:ptCount val="8"/>
                <c:pt idx="0">
                  <c:v>viusasa_staging (D)</c:v>
                </c:pt>
                <c:pt idx="1">
                  <c:v>razuna (D)</c:v>
                </c:pt>
                <c:pt idx="2">
                  <c:v>db_visitors (D)</c:v>
                </c:pt>
                <c:pt idx="3">
                  <c:v>kra_reports (D)</c:v>
                </c:pt>
                <c:pt idx="4">
                  <c:v>viupay_agent_staging (A)</c:v>
                </c:pt>
                <c:pt idx="5">
                  <c:v>news_vault (C)</c:v>
                </c:pt>
                <c:pt idx="6">
                  <c:v>local (D)</c:v>
                </c:pt>
                <c:pt idx="7">
                  <c:v>viutickets (B)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338.5</c:v>
                </c:pt>
                <c:pt idx="1">
                  <c:v>4.5</c:v>
                </c:pt>
                <c:pt idx="2">
                  <c:v>2.7</c:v>
                </c:pt>
                <c:pt idx="3">
                  <c:v>1.5</c:v>
                </c:pt>
                <c:pt idx="4">
                  <c:v>1.2</c:v>
                </c:pt>
                <c:pt idx="5">
                  <c:v>0.9</c:v>
                </c:pt>
                <c:pt idx="6">
                  <c:v>0.5</c:v>
                </c:pt>
                <c:pt idx="7">
                  <c:v>0.4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4324A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3DCE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DCE4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70879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74620"/>
            <a:ext cx="7274052" cy="1508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0" i="0">
                <a:solidFill>
                  <a:srgbClr val="14324A"/>
                </a:solidFill>
                <a:latin typeface="Cambria"/>
              </a:rPr>
              <a:t>RMS estate review: cost, condition and first data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183380"/>
            <a:ext cx="7274052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70879A"/>
                </a:solidFill>
                <a:latin typeface="Calibri"/>
              </a:rPr>
              <a:t>One account of what the estate holds, costs to keep and can offer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14492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Calibri"/>
              </a:rPr>
              <a:t>RMS  ·  Tenant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0879A"/>
                </a:solidFill>
                <a:latin typeface="Calibri"/>
              </a:rPr>
              <a:t>ESTATE-WIDE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4324A"/>
                </a:solidFill>
                <a:latin typeface="Cambria"/>
              </a:rPr>
              <a:t>Savings sit in cold object storage; database rows need preparation before any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0879A"/>
                </a:solidFill>
                <a:latin typeface="Calibri"/>
              </a:rPr>
              <a:t>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920240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The estate holds 174.3 TiB across databases, the object store and file shares. The object store is 74.8% of that and the file shares 25.0%. The 20 databases, with 1006 tables, are only 0.2% of the bytes.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90063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0879A"/>
                </a:solidFill>
                <a:latin typeface="Calibri"/>
              </a:rPr>
              <a:t>COMPLICATION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863215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Priced savings reach 1,174.4 USD a month at reference list prices, and three strategies address 100.0% of the bytes that all strategies reach. Database rows are in poor condition: 81.7% have empty required-looking fields and 71.8% of sampled rows carry personal-data markers.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733037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0879A"/>
                </a:solidFill>
                <a:latin typeface="Calibri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3806189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What should the owner do first to cut cost and prepare the first data products?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76013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772E"/>
                </a:solidFill>
                <a:latin typeface="Calibri"/>
              </a:rPr>
              <a:t>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749165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Start with the archive move for buckets not written for over a year, worth 986.5 USD a month, after checking read frequency. Then confirm duplicate objects and prepare reference and channel data as de-identified or aggregated products.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Calibri"/>
              </a:rPr>
              <a:t>EI-eij-1b359b3cbd2e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0879A"/>
                </a:solidFill>
                <a:latin typeface="Calibri"/>
              </a:rPr>
              <a:t>Tenant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0879A"/>
                </a:solidFill>
                <a:latin typeface="Courier New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920240"/>
            <a:ext cx="2613355" cy="18854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0" i="0">
                <a:solidFill>
                  <a:srgbClr val="E8772E"/>
                </a:solidFill>
                <a:latin typeface="Courier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90595" y="2297887"/>
            <a:ext cx="820674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 i="0">
                <a:solidFill>
                  <a:srgbClr val="14324A"/>
                </a:solidFill>
                <a:latin typeface="Cambria"/>
              </a:rPr>
              <a:t>Where the estate's bytes sit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0879A"/>
                </a:solidFill>
                <a:latin typeface="Calibri"/>
              </a:rPr>
              <a:t>ESTATE BY 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4324A"/>
                </a:solidFill>
                <a:latin typeface="Cambria"/>
              </a:rPr>
              <a:t>The object store and file shares hold almost every byte; databases are a small fraction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E8772E"/>
                </a:solidFill>
                <a:latin typeface="Calibri"/>
              </a:rPr>
              <a:t>Cost and condition decisions should start with the object store, which is 74.8% of the 174.3 TiB estate.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Courier New"/>
              </a:rPr>
              <a:t>[measured]  Receipt R01: Estate intelligence census eij-1b359b3cbd2e, digest-verified report (measured 2026-09-29), headline aggregates and per-database measures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Calibri"/>
              </a:rPr>
              <a:t>EI-eij-1b359b3cbd2e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0879A"/>
                </a:solidFill>
                <a:latin typeface="Calibri"/>
              </a:rPr>
              <a:t>Tenant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0879A"/>
                </a:solidFill>
                <a:latin typeface="Courier New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0879A"/>
                </a:solidFill>
                <a:latin typeface="Calibri"/>
              </a:rPr>
              <a:t>OBJECT STORE CONCENTRATION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4324A"/>
                </a:solidFill>
                <a:latin typeface="Cambria"/>
              </a:rPr>
              <a:t>One bucket alone holds 66.2% of the object store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E8772E"/>
                </a:solidFill>
                <a:latin typeface="Calibri"/>
              </a:rPr>
              <a:t>The largest bucket is not marked cold, so the archive saving comes from the many smaller cold buckets rather than from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Courier New"/>
              </a:rPr>
              <a:t>[measured]  Receipt R04: OBS bucket enumeration census run cr-f1415e395361 (22,975,591 objects, 130.3 TiB)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Calibri"/>
              </a:rPr>
              <a:t>EI-eij-1b359b3cbd2e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0879A"/>
                </a:solidFill>
                <a:latin typeface="Calibri"/>
              </a:rPr>
              <a:t>Tenant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0879A"/>
                </a:solidFill>
                <a:latin typeface="Courier New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0879A"/>
                </a:solidFill>
                <a:latin typeface="Calibri"/>
              </a:rPr>
              <a:t>WHERE THE BYTES SIT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4324A"/>
                </a:solidFill>
                <a:latin typeface="Cambria"/>
              </a:rPr>
              <a:t>The estate is mostly object and file storage, not database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877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The whole estate holds 174.3 TiB: the object store holds 130.3 TiB and the file shares hold 43.6 TiB.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564891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67462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877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74777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By share of the estate, the object store is 74.8%, the file shares 25.0% and the databases 0.2%.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319272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42900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877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0215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The object store has 23.0m objects in 106 buckets, and its largest bucket alone holds 86.3 TiB, which is 66.2% of the store.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073652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183379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877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56531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The file shares hold 1.5m files in 16 shares; how much of that is duplicated has not yet been measured.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4828031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493776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8772E"/>
                </a:solidFill>
                <a:latin typeface="Courier New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01091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The databases hold 351.3 GiB in 1006 tables, and the largest databases account for 99.7% of those bytes.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Calibri"/>
              </a:rPr>
              <a:t>EI-eij-1b359b3cbd2e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0879A"/>
                </a:solidFill>
                <a:latin typeface="Calibri"/>
              </a:rPr>
              <a:t>Tenant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0879A"/>
                </a:solidFill>
                <a:latin typeface="Courier New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920240"/>
            <a:ext cx="2613355" cy="18854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0" i="0">
                <a:solidFill>
                  <a:srgbClr val="E8772E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90595" y="2297887"/>
            <a:ext cx="820674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 i="0">
                <a:solidFill>
                  <a:srgbClr val="14324A"/>
                </a:solidFill>
                <a:latin typeface="Cambria"/>
              </a:rPr>
              <a:t>Where money is spent on idle bytes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0879A"/>
                </a:solidFill>
                <a:latin typeface="Calibri"/>
              </a:rPr>
              <a:t>RECLAIMABLE BYTES BY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4324A"/>
                </a:solidFill>
                <a:latin typeface="Cambria"/>
              </a:rPr>
              <a:t>Cold buckets and duplicate objects reach nearly all of the reclaimable bytes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E8772E"/>
                </a:solidFill>
                <a:latin typeface="Calibri"/>
              </a:rPr>
              <a:t>The three largest strategies address 100.0% of the bytes that all strategies reach; database tidying is small beside the object store.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Courier New"/>
              </a:rPr>
              <a:t>[estimated]  Receipt R02: Estate intelligence census eij-1b359b3cbd2e, cost_strategies priced at reference list prices, not the owner's invoice: Huawei Cloud RDS for MySQL cloud SSD AF-Johannesburg 0.00015 USD/GB-hour x 730 h; OBS Standard 0.023 USD/GB-month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Calibri"/>
              </a:rPr>
              <a:t>EI-eij-1b359b3cbd2e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0879A"/>
                </a:solidFill>
                <a:latin typeface="Calibri"/>
              </a:rPr>
              <a:t>Tenant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0879A"/>
                </a:solidFill>
                <a:latin typeface="Courier New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0879A"/>
                </a:solidFill>
                <a:latin typeface="Calibri"/>
              </a:rPr>
              <a:t>PRICED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4324A"/>
                </a:solidFill>
                <a:latin typeface="Cambria"/>
              </a:rPr>
              <a:t>Three priced moves range from a large archive saving to a trivial database one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920240"/>
          <a:ext cx="1100297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0833"/>
                <a:gridCol w="2640714"/>
                <a:gridCol w="2640714"/>
                <a:gridCol w="2640714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324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>
                    <a:solidFill>
                      <a:srgbClr val="E8EE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324A"/>
                          </a:solidFill>
                          <a:latin typeface="Calibri"/>
                        </a:rPr>
                        <a:t>Move buckets not written for over a year to archive-class st</a:t>
                      </a:r>
                    </a:p>
                  </a:txBody>
                  <a:tcPr marL="73152" marR="73152">
                    <a:solidFill>
                      <a:srgbClr val="E8EE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324A"/>
                          </a:solidFill>
                          <a:latin typeface="Calibri"/>
                        </a:rPr>
                        <a:t>Reconcile duplicate objects across OBS buckets</a:t>
                      </a:r>
                    </a:p>
                  </a:txBody>
                  <a:tcPr marL="73152" marR="73152">
                    <a:solidFill>
                      <a:srgbClr val="E8EE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324A"/>
                          </a:solidFill>
                          <a:latin typeface="Calibri"/>
                        </a:rPr>
                        <a:t>Move tables not written for over a year to cold storage</a:t>
                      </a:r>
                    </a:p>
                  </a:txBody>
                  <a:tcPr marL="73152" marR="73152">
                    <a:solidFill>
                      <a:srgbClr val="E8EE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70879A"/>
                          </a:solidFill>
                          <a:latin typeface="Calibri"/>
                        </a:rPr>
                        <a:t>Reclaimable gib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324A"/>
                          </a:solidFill>
                          <a:latin typeface="Courier New"/>
                        </a:rPr>
                        <a:t>42,891.0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324A"/>
                          </a:solidFill>
                          <a:latin typeface="Courier New"/>
                        </a:rPr>
                        <a:t>7,839.5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324A"/>
                          </a:solidFill>
                          <a:latin typeface="Courier New"/>
                        </a:rPr>
                        <a:t>54.1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70879A"/>
                          </a:solidFill>
                          <a:latin typeface="Calibri"/>
                        </a:rPr>
                        <a:t>Monthly saving usd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324A"/>
                          </a:solidFill>
                          <a:latin typeface="Courier New"/>
                        </a:rPr>
                        <a:t>986.5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324A"/>
                          </a:solidFill>
                          <a:latin typeface="Courier New"/>
                        </a:rPr>
                        <a:t>180.3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4324A"/>
                          </a:solidFill>
                          <a:latin typeface="Courier New"/>
                        </a:rPr>
                        <a:t>5.9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93776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E8772E"/>
                </a:solidFill>
                <a:latin typeface="Calibri"/>
              </a:rPr>
              <a:t>Monthly estimates at reference list prices, not the owner's invoice, are 986.5, 180.3 and 5.9 USD respectively.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Courier New"/>
              </a:rPr>
              <a:t>[estimated]  Receipt R02: Estate intelligence census eij-1b359b3cbd2e, cost_strategies priced at reference list prices, not the owner's invoice: Huawei Cloud RDS for MySQL cloud SSD AF-Johannesburg 0.00015 USD/GB-hour x 730 h; OBS Standard 0.023 USD/GB-month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Calibri"/>
              </a:rPr>
              <a:t>EI-eij-1b359b3cbd2e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0879A"/>
                </a:solidFill>
                <a:latin typeface="Calibri"/>
              </a:rPr>
              <a:t>Tenant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0879A"/>
                </a:solidFill>
                <a:latin typeface="Courier New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920240"/>
            <a:ext cx="2613355" cy="18854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0" i="0">
                <a:solidFill>
                  <a:srgbClr val="E8772E"/>
                </a:solidFill>
                <a:latin typeface="Courier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90595" y="2297887"/>
            <a:ext cx="820674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 i="0">
                <a:solidFill>
                  <a:srgbClr val="14324A"/>
                </a:solidFill>
                <a:latin typeface="Cambria"/>
              </a:rPr>
              <a:t>Condition of the database rows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0879A"/>
                </a:solidFill>
                <a:latin typeface="Calibri"/>
              </a:rPr>
              <a:t>ROW CONDITION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4324A"/>
                </a:solidFill>
                <a:latin typeface="Cambria"/>
              </a:rPr>
              <a:t>Empty required-looking fields, not duplication, are the main condition problem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E8772E"/>
                </a:solidFill>
                <a:latin typeface="Calibri"/>
              </a:rPr>
              <a:t>Exact duplicates are only 1.5% of rows, while 81.7% have empty required-looking fields, so cleansing effort belongs on completeness.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Courier New"/>
              </a:rPr>
              <a:t>[estimated]  Receipt R01: Estate intelligence census eij-1b359b3cbd2e, digest-verified report (measured 2026-09-29), headline aggregates and per-database measures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Calibri"/>
              </a:rPr>
              <a:t>EI-eij-1b359b3cbd2e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0879A"/>
                </a:solidFill>
                <a:latin typeface="Calibri"/>
              </a:rPr>
              <a:t>Tenant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0879A"/>
                </a:solidFill>
                <a:latin typeface="Courier New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0879A"/>
                </a:solidFill>
                <a:latin typeface="Calibri"/>
              </a:rPr>
              <a:t>DATABASE CONCENTRATION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4324A"/>
                </a:solidFill>
                <a:latin typeface="Cambria"/>
              </a:rPr>
              <a:t>A handful of databases hold almost all database bytes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E8772E"/>
                </a:solidFill>
                <a:latin typeface="Calibri"/>
              </a:rPr>
              <a:t>The largest databases hold 99.7% of the 351.3 GiB, so database cost and cleansing work concentrates in very few places.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Courier New"/>
              </a:rPr>
              <a:t>[measured]  Receipt R01: Estate intelligence census eij-1b359b3cbd2e, digest-verified report (measured 2026-09-29), headline aggregates and per-database measures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Calibri"/>
              </a:rPr>
              <a:t>EI-eij-1b359b3cbd2e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0879A"/>
                </a:solidFill>
                <a:latin typeface="Calibri"/>
              </a:rPr>
              <a:t>Tenant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0879A"/>
                </a:solidFill>
                <a:latin typeface="Courier New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0879A"/>
                </a:solidFill>
                <a:latin typeface="Calibri"/>
              </a:rPr>
              <a:t>CONDITION OF ROWS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4324A"/>
                </a:solidFill>
                <a:latin typeface="Cambria"/>
              </a:rPr>
              <a:t>Rows are rarely duplicated but often incomplete, degraded or personal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877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Exact duplicate rows are 1.5% of rows, a low figure; the duplication problem lies in copied tables and objects, not repeated rows.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564891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67462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877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74777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Degraded rows are 23.0% of rows, and 81.7% carry empty required-looking fields, which limits what can be sold without cleansing.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319272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42900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877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0215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Personal-data markers appear in 71.8% of the 1.0m rows sampled, so de-identification or aggregation is a standing preparation step for products.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073652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183379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877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56531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Bytes not written for over a year are 15.4% of database bytes, and 368 tables are empty.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4828031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493776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8772E"/>
                </a:solidFill>
                <a:latin typeface="Courier New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01091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These ratios are estimates from complete passes where tables allowed and stratified samples elsewhere.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Calibri"/>
              </a:rPr>
              <a:t>EI-eij-1b359b3cbd2e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0879A"/>
                </a:solidFill>
                <a:latin typeface="Calibri"/>
              </a:rPr>
              <a:t>Tenant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0879A"/>
                </a:solidFill>
                <a:latin typeface="Courier New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920240"/>
            <a:ext cx="2613355" cy="18854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0" i="0">
                <a:solidFill>
                  <a:srgbClr val="E8772E"/>
                </a:solidFill>
                <a:latin typeface="Courier New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90595" y="2297887"/>
            <a:ext cx="820674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 i="0">
                <a:solidFill>
                  <a:srgbClr val="14324A"/>
                </a:solidFill>
                <a:latin typeface="Cambria"/>
              </a:rPr>
              <a:t>Which data products to stand up first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0879A"/>
                </a:solidFill>
                <a:latin typeface="Calibri"/>
              </a:rPr>
              <a:t>FIRST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4324A"/>
                </a:solidFill>
                <a:latin typeface="Cambria"/>
              </a:rPr>
              <a:t>Three grade C candidates lead, and each needs de-identification or aggregation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877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8 product candidates were scored for readiness; the three leading ones are all grade C and none is ready for release as it stands.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564891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67462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877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74777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Reference and master-data licensing: Reference and master-data licensing: grade C, 87 tables, 123,394,159 rows (est.); to prepare: 62.0% of supporting tables carry PII markers: de-identify or aggregate before any release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319272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42900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877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0215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Content catalogue and recommendation corpus: Content catalogue, recommendation and licensing corpus: grade C, 98 tables, 157,855,990 rows (est.); to prepare: 74.0% of supporting tables carry PII markers: de-identify or aggregate before any release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073652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183379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877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56531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Channel and telco engagement analytics: Channel / telco engagement analytics (USSD, SMS, app): grade C, 57 tables, 116,781,903 rows (est.); to prepare: 79.0% of supporting tables carry PII markers: de-identify or aggregate before any release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4828031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493776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8772E"/>
                </a:solidFill>
                <a:latin typeface="Courier New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01091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Rights are settled by the owner's declaration, so preparation is technical: de-identify or aggregate, then cleanse. The remaining candidates need cleansing before they are worth building.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Calibri"/>
              </a:rPr>
              <a:t>EI-eij-1b359b3cbd2e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0879A"/>
                </a:solidFill>
                <a:latin typeface="Calibri"/>
              </a:rPr>
              <a:t>Tenant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0879A"/>
                </a:solidFill>
                <a:latin typeface="Courier New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920240"/>
            <a:ext cx="2613355" cy="18854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0" i="0">
                <a:solidFill>
                  <a:srgbClr val="E8772E"/>
                </a:solidFill>
                <a:latin typeface="Courier New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90595" y="2297887"/>
            <a:ext cx="820674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 i="0">
                <a:solidFill>
                  <a:srgbClr val="14324A"/>
                </a:solidFill>
                <a:latin typeface="Cambria"/>
              </a:rPr>
              <a:t>What is still unmeasured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0879A"/>
                </a:solidFill>
                <a:latin typeface="Calibri"/>
              </a:rPr>
              <a:t>MEASUREMENT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4324A"/>
                </a:solidFill>
                <a:latin typeface="Cambria"/>
              </a:rPr>
              <a:t>Measurement gaps are specific, and each has a defined way to close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877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Measures cover 638 of 1006 tables, which is 63.4%; the remaining ratios are estimated from stratified samples.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877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40 of 106 object-store buckets could not be read, so every object-store figure covers only the readable buckets.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877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The file shares hold 43.6 TiB in 1.5m files, but only sizes and dates were recorded, so duplication cannot be stated.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877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One database connection, artists_app, could not be read because read access is pending, so it sits outside every database figure.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Calibri"/>
              </a:rPr>
              <a:t>EI-eij-1b359b3cbd2e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0879A"/>
                </a:solidFill>
                <a:latin typeface="Calibri"/>
              </a:rPr>
              <a:t>Tenant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0879A"/>
                </a:solidFill>
                <a:latin typeface="Courier New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0879A"/>
                </a:solidFill>
                <a:latin typeface="Calibri"/>
              </a:rPr>
              <a:t>RECOMMENDED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4324A"/>
                </a:solidFill>
                <a:latin typeface="Cambria"/>
              </a:rPr>
              <a:t>Archive cold buckets first, confirm duplicates second, then prepare two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877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Check read frequency on the 43 cold buckets, then archive 41.9 TiB: 986.5 USD a month.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53487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877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3636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Hash-check 7.7 TiB of duplicate candidates before deleting: 180.3 USD a month.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696461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877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79341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Reconcile the 40 unreadable buckets with the provider; the figures above exclude them.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39437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64008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877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822317"/>
            <a:ext cx="10180015" cy="851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Prepare de-identified reference and channel copies; tidy cold tables, 5.9 USD a month, alongside.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Calibri"/>
              </a:rPr>
              <a:t>EI-eij-1b359b3cbd2e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0879A"/>
                </a:solidFill>
                <a:latin typeface="Calibri"/>
              </a:rPr>
              <a:t>Tenant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0879A"/>
                </a:solidFill>
                <a:latin typeface="Courier New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0879A"/>
                </a:solidFill>
                <a:latin typeface="Calibri"/>
              </a:rPr>
              <a:t>LIMITS OF THE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4324A"/>
                </a:solidFill>
                <a:latin typeface="Cambria"/>
              </a:rPr>
              <a:t>Five gaps limit certainty; each closes with defined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8772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Sampled ratios: close with a complete-pass census of the sampled tables.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564891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67462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8772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74777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Market similarity is unmeasured: close with a buyer-side review of each candidate.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319272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42900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8772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0215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artists_app is unread: close when the owner grants read access and the estate is re-censused.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073652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183379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8772E"/>
                </a:solidFill>
                <a:latin typeface="Courier New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56531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File-share duplication is unknown: close with a fingerprinting pass over 16 shares.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4828031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4937760"/>
            <a:ext cx="64008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8772E"/>
                </a:solidFill>
                <a:latin typeface="Courier New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010912"/>
            <a:ext cx="10180015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40 of 106 buckets are unreachable: close by reconciling the inventory with the provider.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5582412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Calibri"/>
              </a:rPr>
              <a:t>EI-eij-1b359b3cbd2e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0879A"/>
                </a:solidFill>
                <a:latin typeface="Calibri"/>
              </a:rPr>
              <a:t>Tenant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0879A"/>
                </a:solidFill>
                <a:latin typeface="Courier New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0879A"/>
                </a:solidFill>
                <a:latin typeface="Calibri"/>
              </a:rPr>
              <a:t>COVERAGE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4324A"/>
                </a:solidFill>
                <a:latin typeface="Cambria"/>
              </a:rPr>
              <a:t>What this pack covers, what it cannot say, and what would close each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110029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COVERS</a:t>
            </a:r>
          </a:p>
          <a:p>
            <a:pPr algn="l"/>
            <a:r>
              <a:rPr sz="1400" b="0" i="0">
                <a:solidFill>
                  <a:srgbClr val="14324A"/>
                </a:solidFill>
                <a:latin typeface="Calibri"/>
              </a:rPr>
              <a:t>The whole admitted estate as measured by census eij-1b359b3cbd2e: 20 databases and 1,006 tables (351.3 GiB), the object store and the file shares enumerated by their own census runs. Ratios are complete-pass where the table allowed it and stratified samples elsewhere. No row value is present in this pack.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34640"/>
            <a:ext cx="3545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0879A"/>
                </a:solidFill>
                <a:latin typeface="Calibri"/>
              </a:rPr>
              <a:t>CANNOT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2978" y="2834640"/>
            <a:ext cx="3545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0879A"/>
                </a:solidFill>
                <a:latin typeface="Calibri"/>
              </a:rPr>
              <a:t>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51596" y="2834640"/>
            <a:ext cx="3545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0879A"/>
                </a:solidFill>
                <a:latin typeface="Calibri"/>
              </a:rPr>
              <a:t>WHAT WOULD CLOSE 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3127248"/>
            <a:ext cx="11002975" cy="0"/>
          </a:xfrm>
          <a:prstGeom prst="line">
            <a:avLst/>
          </a:prstGeom>
          <a:ln w="9525">
            <a:solidFill>
              <a:srgbClr val="14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94360" y="3246120"/>
            <a:ext cx="11002975" cy="786384"/>
          </a:xfrm>
          <a:prstGeom prst="rect">
            <a:avLst/>
          </a:prstGeom>
          <a:pattFill>
            <a:fgClr>
              <a:srgbClr val="E8EEF3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319272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324A"/>
                </a:solidFill>
                <a:latin typeface="Calibri"/>
              </a:rPr>
              <a:t>Duplicate, damage, empty-field and PII ratios on sampled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6130" y="3319272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324A"/>
                </a:solidFill>
                <a:latin typeface="Calibri"/>
              </a:rPr>
              <a:t>complete passes where the table allowed it, stratified samples elsewhere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4748" y="3319272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324A"/>
                </a:solidFill>
                <a:latin typeface="Calibri"/>
              </a:rPr>
              <a:t>a complete-pass census on the sampled tables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23944"/>
            <a:ext cx="11002975" cy="786384"/>
          </a:xfrm>
          <a:prstGeom prst="rect">
            <a:avLst/>
          </a:prstGeom>
          <a:pattFill>
            <a:fgClr>
              <a:srgbClr val="E8EEF3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4197096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324A"/>
                </a:solidFill>
                <a:latin typeface="Calibri"/>
              </a:rPr>
              <a:t>Semantic similarity between candidate datasets and the 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6130" y="4197096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324A"/>
                </a:solidFill>
                <a:latin typeface="Calibri"/>
              </a:rPr>
              <a:t>not measured; candidates are dimensional readiness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4748" y="4197096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324A"/>
                </a:solidFill>
                <a:latin typeface="Calibri"/>
              </a:rPr>
              <a:t>a buyer-side review of each candidate against its intended use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001768"/>
            <a:ext cx="11002975" cy="786384"/>
          </a:xfrm>
          <a:prstGeom prst="rect">
            <a:avLst/>
          </a:prstGeom>
          <a:pattFill>
            <a:fgClr>
              <a:srgbClr val="E8EEF3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5074920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324A"/>
                </a:solidFill>
                <a:latin typeface="Calibri"/>
              </a:rPr>
              <a:t>Connection artists_app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6130" y="5074920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324A"/>
                </a:solidFill>
                <a:latin typeface="Calibri"/>
              </a:rPr>
              <a:t>could not be read (MySQL GRANT pending)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4748" y="5074920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324A"/>
                </a:solidFill>
                <a:latin typeface="Calibri"/>
              </a:rPr>
              <a:t>owner grants read access; re-census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879592"/>
            <a:ext cx="11002975" cy="786384"/>
          </a:xfrm>
          <a:prstGeom prst="rect">
            <a:avLst/>
          </a:prstGeom>
          <a:pattFill>
            <a:fgClr>
              <a:srgbClr val="E8EEF3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5952744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324A"/>
                </a:solidFill>
                <a:latin typeface="Calibri"/>
              </a:rPr>
              <a:t>NAS duplication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6130" y="5952744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324A"/>
                </a:solidFill>
                <a:latin typeface="Calibri"/>
              </a:rPr>
              <a:t>the enumeration recorded sizes and dates, not content fingerprints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4748" y="5952744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324A"/>
                </a:solidFill>
                <a:latin typeface="Calibri"/>
              </a:rPr>
              <a:t>a fingerprinting pass over the NAS shares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757416"/>
            <a:ext cx="11002975" cy="786384"/>
          </a:xfrm>
          <a:prstGeom prst="rect">
            <a:avLst/>
          </a:prstGeom>
          <a:pattFill>
            <a:fgClr>
              <a:srgbClr val="E8EEF3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6830568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324A"/>
                </a:solidFill>
                <a:latin typeface="Calibri"/>
              </a:rPr>
              <a:t>40 of 106 OBS buckets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6130" y="6830568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324A"/>
                </a:solidFill>
                <a:latin typeface="Calibri"/>
              </a:rPr>
              <a:t>unreachable (NoSuchBucket / client errors)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4748" y="6830568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324A"/>
                </a:solidFill>
                <a:latin typeface="Calibri"/>
              </a:rPr>
              <a:t>bucket inventory reconciled with the provider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Calibri"/>
              </a:rPr>
              <a:t>EI-eij-1b359b3cbd2e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0879A"/>
                </a:solidFill>
                <a:latin typeface="Calibri"/>
              </a:rPr>
              <a:t>Tenant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0879A"/>
                </a:solidFill>
                <a:latin typeface="Courier New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0879A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4324A"/>
                </a:solidFill>
                <a:latin typeface="Cambria"/>
              </a:rPr>
              <a:t>Exhibit index with receipts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772E"/>
                </a:solidFill>
                <a:latin typeface="Courier New"/>
              </a:rPr>
              <a:t>R01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92024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324A"/>
                </a:solidFill>
                <a:latin typeface="Calibri"/>
              </a:rPr>
              <a:t>Estate intelligence census eij-1b359b3cbd2e, digest-verified report (measured 2026-09-29), headline aggregates and per-database measures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304288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4231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772E"/>
                </a:solidFill>
                <a:latin typeface="Courier New"/>
              </a:rPr>
              <a:t>R02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42316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324A"/>
                </a:solidFill>
                <a:latin typeface="Calibri"/>
              </a:rPr>
              <a:t>Estate intelligence census eij-1b359b3cbd2e, cost_strategies priced at reference list prices, not the owner's invoice: Huawei Cloud RDS for MySQL cloud SSD AF-Johannesburg 0.00015 USD/GB-hour x 730 h; OBS Standard 0.023 USD/GB-month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2807208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29260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772E"/>
                </a:solidFill>
                <a:latin typeface="Courier New"/>
              </a:rPr>
              <a:t>R03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92608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324A"/>
                </a:solidFill>
                <a:latin typeface="Calibri"/>
              </a:rPr>
              <a:t>Estate intelligence census eij-1b359b3cbd2e, data_products readiness scoring (dimensions, grades, blockers)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3310128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34290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772E"/>
                </a:solidFill>
                <a:latin typeface="Courier New"/>
              </a:rPr>
              <a:t>R04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42900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324A"/>
                </a:solidFill>
                <a:latin typeface="Calibri"/>
              </a:rPr>
              <a:t>OBS bucket enumeration census run cr-f1415e395361 (22,975,591 objects, 130.3 TiB)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3813048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393192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772E"/>
                </a:solidFill>
                <a:latin typeface="Courier New"/>
              </a:rPr>
              <a:t>R05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93192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4324A"/>
                </a:solidFill>
                <a:latin typeface="Calibri"/>
              </a:rPr>
              <a:t>NAS share enumeration census run cr-cf4eef79995b (1,456,787 files, 43.6 TiB)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4315968"/>
            <a:ext cx="11002975" cy="0"/>
          </a:xfrm>
          <a:prstGeom prst="line">
            <a:avLst/>
          </a:prstGeom>
          <a:ln w="9525">
            <a:solidFill>
              <a:srgbClr val="D3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70879A"/>
                </a:solidFill>
                <a:latin typeface="Calibri"/>
              </a:rPr>
              <a:t>EI-eij-1b359b3cbd2e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70879A"/>
                </a:solidFill>
                <a:latin typeface="Calibri"/>
              </a:rPr>
              <a:t>Tenant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70879A"/>
                </a:solidFill>
                <a:latin typeface="Courier New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RMS estate review: cost, condition and first data products</dc:title>
  <dc:subject/>
  <dc:creator>doc-studio</dc:creator>
  <cp:keywords/>
  <dc:description>generated using python-pptx</dc:description>
  <cp:lastModifiedBy>doc-studio</cp:lastModifiedBy>
  <cp:revision>1</cp:revision>
  <dcterms:created xsi:type="dcterms:W3CDTF">2026-10-02T07:26:31Z</dcterms:created>
  <dcterms:modified xsi:type="dcterms:W3CDTF">2026-10-02T07:26:31Z</dcterms:modified>
  <cp:category/>
</cp:coreProperties>
</file>