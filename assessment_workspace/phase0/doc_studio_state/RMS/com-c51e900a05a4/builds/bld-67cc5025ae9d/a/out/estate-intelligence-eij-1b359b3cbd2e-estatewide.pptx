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TiB</c:v>
                </c:pt>
              </c:strCache>
            </c:strRef>
          </c:tx>
          <c:spPr>
            <a:solidFill>
              <a:srgbClr val="E8772E"/>
            </a:solidFill>
          </c:spPr>
          <c:cat>
            <c:strRef>
              <c:f>Sheet1!$A$2:$A$4</c:f>
              <c:strCache>
                <c:ptCount val="3"/>
                <c:pt idx="0">
                  <c:v>Databases</c:v>
                </c:pt>
                <c:pt idx="1">
                  <c:v>Object store (OBS)</c:v>
                </c:pt>
                <c:pt idx="2">
                  <c:v>File shares (NAS)</c:v>
                </c:pt>
              </c:strCache>
            </c:strRef>
          </c:cat>
          <c:val>
            <c:numRef>
              <c:f>Sheet1!$B$2:$B$4</c:f>
              <c:numCache>
                <c:formatCode>General</c:formatCode>
                <c:ptCount val="3"/>
                <c:pt idx="0">
                  <c:v>0.34</c:v>
                </c:pt>
                <c:pt idx="1">
                  <c:v>130.32</c:v>
                </c:pt>
                <c:pt idx="2">
                  <c:v>43.65</c:v>
                </c:pt>
              </c:numCache>
            </c:numRef>
          </c:val>
        </c:ser>
        <c:dLbls>
          <c:numFmt formatCode="#,##0.0" sourceLinked="0"/>
          <c:txPr>
            <a:bodyPr/>
            <a:lstStyle/>
            <a:p>
              <a:pPr>
                <a:defRPr sz="1100">
                  <a:solidFill>
                    <a:srgbClr val="14324A"/>
                  </a:solidFill>
                  <a:latin typeface="Courier New"/>
                </a:defRPr>
              </a:pPr>
            </a:p>
          </c:txPr>
          <c:dLblPos val="outEnd"/>
          <c:showLegendKey val="0"/>
          <c:showVal val="1"/>
          <c:showCatName val="0"/>
          <c:showSerName val="0"/>
          <c:showPercent val="0"/>
          <c:showBubbleSize val="0"/>
          <c:showLeaderLines val="1"/>
        </c:dLbls>
        <c:gapWidth val="80"/>
        <c:axId val="-2068027336"/>
        <c:axId val="-2113994440"/>
      </c:barChart>
      <c:catAx>
        <c:axId val="-2068027336"/>
        <c:scaling>
          <c:orientation val="minMax"/>
        </c:scaling>
        <c:delete val="0"/>
        <c:axPos val="b"/>
        <c:majorTickMark val="out"/>
        <c:minorTickMark val="none"/>
        <c:tickLblPos val="nextTo"/>
        <c:spPr>
          <a:ln>
            <a:solidFill>
              <a:srgbClr val="D3DCE4"/>
            </a:solidFill>
          </a:ln>
        </c:spPr>
        <c:crossAx val="-2113994440"/>
        <c:crosses val="autoZero"/>
        <c:auto val="1"/>
        <c:lblAlgn val="ctr"/>
        <c:lblOffset val="100"/>
        <c:noMultiLvlLbl val="0"/>
      </c:catAx>
      <c:valAx>
        <c:axId val="-2113994440"/>
        <c:scaling/>
        <c:delete val="0"/>
        <c:axPos val="l"/>
        <c:majorGridlines>
          <c:spPr>
            <a:ln>
              <a:solidFill>
                <a:srgbClr val="D3DCE4"/>
              </a:solidFill>
            </a:ln>
          </c:spPr>
        </c:majorGridlines>
        <c:numFmt formatCode="#,##0.0" sourceLinked="0"/>
        <c:majorTickMark val="out"/>
        <c:minorTickMark val="none"/>
        <c:tickLblPos val="nextTo"/>
        <c:spPr>
          <a:ln>
            <a:noFill/>
          </a:ln>
        </c:spPr>
        <c:txPr>
          <a:bodyPr/>
          <a:lstStyle/>
          <a:p>
            <a:pPr>
              <a:defRPr>
                <a:latin typeface="Courier New"/>
              </a:defRPr>
            </a:pPr>
          </a:p>
        </c:txPr>
        <c:crossAx val="-2068027336"/>
        <c:crosses val="autoZero"/>
      </c:valAx>
    </c:plotArea>
    <c:dispBlanksAs val="gap"/>
  </c:chart>
  <c:txPr>
    <a:bodyPr/>
    <a:lstStyle/>
    <a:p>
      <a:pPr>
        <a:defRPr sz="1100">
          <a:solidFill>
            <a:srgbClr val="70879A"/>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TiB</c:v>
                </c:pt>
              </c:strCache>
            </c:strRef>
          </c:tx>
          <c:spPr>
            <a:solidFill>
              <a:srgbClr val="E8772E"/>
            </a:solidFill>
          </c:spPr>
          <c:cat>
            <c:strRef>
              <c:f>Sheet1!$A$2:$A$9</c:f>
              <c:strCache>
                <c:ptCount val="8"/>
                <c:pt idx="0">
                  <c:v>2024offairrecs</c:v>
                </c:pt>
                <c:pt idx="1">
                  <c:v>music-bucket-rms (cold)</c:v>
                </c:pt>
                <c:pt idx="2">
                  <c:v>na7p43do (cold)</c:v>
                </c:pt>
                <c:pt idx="3">
                  <c:v>na7p43js (cold)</c:v>
                </c:pt>
                <c:pt idx="4">
                  <c:v>na7p434j (cold)</c:v>
                </c:pt>
                <c:pt idx="5">
                  <c:v>na7p41hj (cold)</c:v>
                </c:pt>
                <c:pt idx="6">
                  <c:v>na7p42xe (cold)</c:v>
                </c:pt>
                <c:pt idx="7">
                  <c:v>na7p42xw (cold)</c:v>
                </c:pt>
              </c:strCache>
            </c:strRef>
          </c:cat>
          <c:val>
            <c:numRef>
              <c:f>Sheet1!$B$2:$B$9</c:f>
              <c:numCache>
                <c:formatCode>General</c:formatCode>
                <c:ptCount val="8"/>
                <c:pt idx="0">
                  <c:v>86.3</c:v>
                </c:pt>
                <c:pt idx="1">
                  <c:v>4.93</c:v>
                </c:pt>
                <c:pt idx="2">
                  <c:v>4.1</c:v>
                </c:pt>
                <c:pt idx="3">
                  <c:v>3.57</c:v>
                </c:pt>
                <c:pt idx="4">
                  <c:v>3.5</c:v>
                </c:pt>
                <c:pt idx="5">
                  <c:v>3.48</c:v>
                </c:pt>
                <c:pt idx="6">
                  <c:v>3.44</c:v>
                </c:pt>
                <c:pt idx="7">
                  <c:v>3.4</c:v>
                </c:pt>
              </c:numCache>
            </c:numRef>
          </c:val>
        </c:ser>
        <c:dLbls>
          <c:numFmt formatCode="#,##0.0" sourceLinked="0"/>
          <c:txPr>
            <a:bodyPr/>
            <a:lstStyle/>
            <a:p>
              <a:pPr>
                <a:defRPr sz="1100">
                  <a:solidFill>
                    <a:srgbClr val="14324A"/>
                  </a:solidFill>
                  <a:latin typeface="Courier New"/>
                </a:defRPr>
              </a:pPr>
            </a:p>
          </c:txPr>
          <c:dLblPos val="outEnd"/>
          <c:showLegendKey val="0"/>
          <c:showVal val="1"/>
          <c:showCatName val="0"/>
          <c:showSerName val="0"/>
          <c:showPercent val="0"/>
          <c:showBubbleSize val="0"/>
          <c:showLeaderLines val="1"/>
        </c:dLbls>
        <c:gapWidth val="80"/>
        <c:axId val="-2068027336"/>
        <c:axId val="-2113994440"/>
      </c:barChart>
      <c:catAx>
        <c:axId val="-2068027336"/>
        <c:scaling>
          <c:orientation val="minMax"/>
        </c:scaling>
        <c:delete val="0"/>
        <c:axPos val="b"/>
        <c:majorTickMark val="out"/>
        <c:minorTickMark val="none"/>
        <c:tickLblPos val="nextTo"/>
        <c:spPr>
          <a:ln>
            <a:solidFill>
              <a:srgbClr val="D3DCE4"/>
            </a:solidFill>
          </a:ln>
        </c:spPr>
        <c:crossAx val="-2113994440"/>
        <c:crosses val="autoZero"/>
        <c:auto val="1"/>
        <c:lblAlgn val="ctr"/>
        <c:lblOffset val="100"/>
        <c:noMultiLvlLbl val="0"/>
      </c:catAx>
      <c:valAx>
        <c:axId val="-2113994440"/>
        <c:scaling/>
        <c:delete val="0"/>
        <c:axPos val="l"/>
        <c:majorGridlines>
          <c:spPr>
            <a:ln>
              <a:solidFill>
                <a:srgbClr val="D3DCE4"/>
              </a:solidFill>
            </a:ln>
          </c:spPr>
        </c:majorGridlines>
        <c:numFmt formatCode="#,##0.0" sourceLinked="0"/>
        <c:majorTickMark val="out"/>
        <c:minorTickMark val="none"/>
        <c:tickLblPos val="nextTo"/>
        <c:spPr>
          <a:ln>
            <a:noFill/>
          </a:ln>
        </c:spPr>
        <c:txPr>
          <a:bodyPr/>
          <a:lstStyle/>
          <a:p>
            <a:pPr>
              <a:defRPr>
                <a:latin typeface="Courier New"/>
              </a:defRPr>
            </a:pPr>
          </a:p>
        </c:txPr>
        <c:crossAx val="-2068027336"/>
        <c:crosses val="autoZero"/>
      </c:valAx>
    </c:plotArea>
    <c:dispBlanksAs val="gap"/>
  </c:chart>
  <c:txPr>
    <a:bodyPr/>
    <a:lstStyle/>
    <a:p>
      <a:pPr>
        <a:defRPr sz="1100">
          <a:solidFill>
            <a:srgbClr val="70879A"/>
          </a:solidFill>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GiB</c:v>
                </c:pt>
              </c:strCache>
            </c:strRef>
          </c:tx>
          <c:spPr>
            <a:solidFill>
              <a:srgbClr val="E8772E"/>
            </a:solidFill>
          </c:spPr>
          <c:cat>
            <c:strRef>
              <c:f>Sheet1!$A$2:$A$8</c:f>
              <c:strCache>
                <c:ptCount val="7"/>
                <c:pt idx="0">
                  <c:v>Move buckets not written for over a year</c:v>
                </c:pt>
                <c:pt idx="1">
                  <c:v>Reconcile duplicate objects across OBS b</c:v>
                </c:pt>
                <c:pt idx="2">
                  <c:v>Move tables not written for over a year </c:v>
                </c:pt>
                <c:pt idx="3">
                  <c:v>Remove redundant (prefix-covered) indexe</c:v>
                </c:pt>
                <c:pt idx="4">
                  <c:v>De-duplicate exact repeated rows inside </c:v>
                </c:pt>
                <c:pt idx="5">
                  <c:v>Consolidate duplicate and staging copies</c:v>
                </c:pt>
                <c:pt idx="6">
                  <c:v>Drop or archive empty tables</c:v>
                </c:pt>
              </c:strCache>
            </c:strRef>
          </c:cat>
          <c:val>
            <c:numRef>
              <c:f>Sheet1!$B$2:$B$8</c:f>
              <c:numCache>
                <c:formatCode>General</c:formatCode>
                <c:ptCount val="7"/>
                <c:pt idx="0">
                  <c:v>42891.0</c:v>
                </c:pt>
                <c:pt idx="1">
                  <c:v>7839.5</c:v>
                </c:pt>
                <c:pt idx="2">
                  <c:v>54.1</c:v>
                </c:pt>
                <c:pt idx="3">
                  <c:v>14.0</c:v>
                </c:pt>
                <c:pt idx="4">
                  <c:v>1.2</c:v>
                </c:pt>
                <c:pt idx="5">
                  <c:v>0.1</c:v>
                </c:pt>
                <c:pt idx="6">
                  <c:v>0.0</c:v>
                </c:pt>
              </c:numCache>
            </c:numRef>
          </c:val>
        </c:ser>
        <c:dLbls>
          <c:numFmt formatCode="#,##0.0" sourceLinked="0"/>
          <c:txPr>
            <a:bodyPr/>
            <a:lstStyle/>
            <a:p>
              <a:pPr>
                <a:defRPr sz="1100">
                  <a:solidFill>
                    <a:srgbClr val="14324A"/>
                  </a:solidFill>
                  <a:latin typeface="Courier New"/>
                </a:defRPr>
              </a:pPr>
            </a:p>
          </c:txPr>
          <c:dLblPos val="outEnd"/>
          <c:showLegendKey val="0"/>
          <c:showVal val="1"/>
          <c:showCatName val="0"/>
          <c:showSerName val="0"/>
          <c:showPercent val="0"/>
          <c:showBubbleSize val="0"/>
          <c:showLeaderLines val="1"/>
        </c:dLbls>
        <c:gapWidth val="80"/>
        <c:axId val="-2068027336"/>
        <c:axId val="-2113994440"/>
      </c:barChart>
      <c:catAx>
        <c:axId val="-2068027336"/>
        <c:scaling>
          <c:orientation val="minMax"/>
        </c:scaling>
        <c:delete val="0"/>
        <c:axPos val="b"/>
        <c:majorTickMark val="out"/>
        <c:minorTickMark val="none"/>
        <c:tickLblPos val="nextTo"/>
        <c:spPr>
          <a:ln>
            <a:solidFill>
              <a:srgbClr val="D3DCE4"/>
            </a:solidFill>
          </a:ln>
        </c:spPr>
        <c:crossAx val="-2113994440"/>
        <c:crosses val="autoZero"/>
        <c:auto val="1"/>
        <c:lblAlgn val="ctr"/>
        <c:lblOffset val="100"/>
        <c:noMultiLvlLbl val="0"/>
      </c:catAx>
      <c:valAx>
        <c:axId val="-2113994440"/>
        <c:scaling/>
        <c:delete val="0"/>
        <c:axPos val="l"/>
        <c:majorGridlines>
          <c:spPr>
            <a:ln>
              <a:solidFill>
                <a:srgbClr val="D3DCE4"/>
              </a:solidFill>
            </a:ln>
          </c:spPr>
        </c:majorGridlines>
        <c:numFmt formatCode="#,##0.0" sourceLinked="0"/>
        <c:majorTickMark val="out"/>
        <c:minorTickMark val="none"/>
        <c:tickLblPos val="nextTo"/>
        <c:spPr>
          <a:ln>
            <a:noFill/>
          </a:ln>
        </c:spPr>
        <c:txPr>
          <a:bodyPr/>
          <a:lstStyle/>
          <a:p>
            <a:pPr>
              <a:defRPr>
                <a:latin typeface="Courier New"/>
              </a:defRPr>
            </a:pPr>
          </a:p>
        </c:txPr>
        <c:crossAx val="-2068027336"/>
        <c:crosses val="autoZero"/>
      </c:valAx>
    </c:plotArea>
    <c:dispBlanksAs val="gap"/>
  </c:chart>
  <c:txPr>
    <a:bodyPr/>
    <a:lstStyle/>
    <a:p>
      <a:pPr>
        <a:defRPr sz="1100">
          <a:solidFill>
            <a:srgbClr val="70879A"/>
          </a:solidFill>
          <a:latin typeface="Calibr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Share</c:v>
                </c:pt>
              </c:strCache>
            </c:strRef>
          </c:tx>
          <c:spPr>
            <a:solidFill>
              <a:srgbClr val="E8772E"/>
            </a:solidFill>
          </c:spPr>
          <c:cat>
            <c:strRef>
              <c:f>Sheet1!$A$2:$A$6</c:f>
              <c:strCache>
                <c:ptCount val="5"/>
                <c:pt idx="0">
                  <c:v>Exact duplicates</c:v>
                </c:pt>
                <c:pt idx="1">
                  <c:v>Degraded</c:v>
                </c:pt>
                <c:pt idx="2">
                  <c:v>Empty required fields</c:v>
                </c:pt>
                <c:pt idx="3">
                  <c:v>PII markers (sampled)</c:v>
                </c:pt>
                <c:pt idx="4">
                  <c:v>Stale bytes</c:v>
                </c:pt>
              </c:strCache>
            </c:strRef>
          </c:cat>
          <c:val>
            <c:numRef>
              <c:f>Sheet1!$B$2:$B$6</c:f>
              <c:numCache>
                <c:formatCode>General</c:formatCode>
                <c:ptCount val="5"/>
                <c:pt idx="0">
                  <c:v>0.015</c:v>
                </c:pt>
                <c:pt idx="1">
                  <c:v>0.23</c:v>
                </c:pt>
                <c:pt idx="2">
                  <c:v>0.817</c:v>
                </c:pt>
                <c:pt idx="3">
                  <c:v>0.718</c:v>
                </c:pt>
                <c:pt idx="4">
                  <c:v>0.154</c:v>
                </c:pt>
              </c:numCache>
            </c:numRef>
          </c:val>
        </c:ser>
        <c:dLbls>
          <c:numFmt formatCode="0.0%" sourceLinked="0"/>
          <c:txPr>
            <a:bodyPr/>
            <a:lstStyle/>
            <a:p>
              <a:pPr>
                <a:defRPr sz="1100">
                  <a:solidFill>
                    <a:srgbClr val="14324A"/>
                  </a:solidFill>
                  <a:latin typeface="Courier New"/>
                </a:defRPr>
              </a:pPr>
            </a:p>
          </c:txPr>
          <c:dLblPos val="outEnd"/>
          <c:showLegendKey val="0"/>
          <c:showVal val="1"/>
          <c:showCatName val="0"/>
          <c:showSerName val="0"/>
          <c:showPercent val="0"/>
          <c:showBubbleSize val="0"/>
          <c:showLeaderLines val="1"/>
        </c:dLbls>
        <c:gapWidth val="80"/>
        <c:axId val="-2068027336"/>
        <c:axId val="-2113994440"/>
      </c:barChart>
      <c:catAx>
        <c:axId val="-2068027336"/>
        <c:scaling>
          <c:orientation val="minMax"/>
        </c:scaling>
        <c:delete val="0"/>
        <c:axPos val="b"/>
        <c:majorTickMark val="out"/>
        <c:minorTickMark val="none"/>
        <c:tickLblPos val="nextTo"/>
        <c:spPr>
          <a:ln>
            <a:solidFill>
              <a:srgbClr val="D3DCE4"/>
            </a:solidFill>
          </a:ln>
        </c:spPr>
        <c:crossAx val="-2113994440"/>
        <c:crosses val="autoZero"/>
        <c:auto val="1"/>
        <c:lblAlgn val="ctr"/>
        <c:lblOffset val="100"/>
        <c:noMultiLvlLbl val="0"/>
      </c:catAx>
      <c:valAx>
        <c:axId val="-2113994440"/>
        <c:scaling/>
        <c:delete val="0"/>
        <c:axPos val="l"/>
        <c:majorGridlines>
          <c:spPr>
            <a:ln>
              <a:solidFill>
                <a:srgbClr val="D3DCE4"/>
              </a:solidFill>
            </a:ln>
          </c:spPr>
        </c:majorGridlines>
        <c:numFmt formatCode="0.0%" sourceLinked="0"/>
        <c:majorTickMark val="out"/>
        <c:minorTickMark val="none"/>
        <c:tickLblPos val="nextTo"/>
        <c:spPr>
          <a:ln>
            <a:noFill/>
          </a:ln>
        </c:spPr>
        <c:txPr>
          <a:bodyPr/>
          <a:lstStyle/>
          <a:p>
            <a:pPr>
              <a:defRPr>
                <a:latin typeface="Courier New"/>
              </a:defRPr>
            </a:pPr>
          </a:p>
        </c:txPr>
        <c:crossAx val="-2068027336"/>
        <c:crosses val="autoZero"/>
      </c:valAx>
    </c:plotArea>
    <c:dispBlanksAs val="gap"/>
  </c:chart>
  <c:txPr>
    <a:bodyPr/>
    <a:lstStyle/>
    <a:p>
      <a:pPr>
        <a:defRPr sz="1100">
          <a:solidFill>
            <a:srgbClr val="70879A"/>
          </a:solidFill>
          <a:latin typeface="Calibri"/>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GiB</c:v>
                </c:pt>
              </c:strCache>
            </c:strRef>
          </c:tx>
          <c:spPr>
            <a:solidFill>
              <a:srgbClr val="E8772E"/>
            </a:solidFill>
          </c:spPr>
          <c:cat>
            <c:strRef>
              <c:f>Sheet1!$A$2:$A$9</c:f>
              <c:strCache>
                <c:ptCount val="8"/>
                <c:pt idx="0">
                  <c:v>viusasa_staging (D)</c:v>
                </c:pt>
                <c:pt idx="1">
                  <c:v>razuna (D)</c:v>
                </c:pt>
                <c:pt idx="2">
                  <c:v>db_visitors (D)</c:v>
                </c:pt>
                <c:pt idx="3">
                  <c:v>kra_reports (D)</c:v>
                </c:pt>
                <c:pt idx="4">
                  <c:v>viupay_agent_staging (A)</c:v>
                </c:pt>
                <c:pt idx="5">
                  <c:v>news_vault (C)</c:v>
                </c:pt>
                <c:pt idx="6">
                  <c:v>local (D)</c:v>
                </c:pt>
                <c:pt idx="7">
                  <c:v>viutickets (B)</c:v>
                </c:pt>
              </c:strCache>
            </c:strRef>
          </c:cat>
          <c:val>
            <c:numRef>
              <c:f>Sheet1!$B$2:$B$9</c:f>
              <c:numCache>
                <c:formatCode>General</c:formatCode>
                <c:ptCount val="8"/>
                <c:pt idx="0">
                  <c:v>338.5</c:v>
                </c:pt>
                <c:pt idx="1">
                  <c:v>4.5</c:v>
                </c:pt>
                <c:pt idx="2">
                  <c:v>2.7</c:v>
                </c:pt>
                <c:pt idx="3">
                  <c:v>1.5</c:v>
                </c:pt>
                <c:pt idx="4">
                  <c:v>1.2</c:v>
                </c:pt>
                <c:pt idx="5">
                  <c:v>0.9</c:v>
                </c:pt>
                <c:pt idx="6">
                  <c:v>0.5</c:v>
                </c:pt>
                <c:pt idx="7">
                  <c:v>0.4</c:v>
                </c:pt>
              </c:numCache>
            </c:numRef>
          </c:val>
        </c:ser>
        <c:dLbls>
          <c:numFmt formatCode="#,##0.0" sourceLinked="0"/>
          <c:txPr>
            <a:bodyPr/>
            <a:lstStyle/>
            <a:p>
              <a:pPr>
                <a:defRPr sz="1100">
                  <a:solidFill>
                    <a:srgbClr val="14324A"/>
                  </a:solidFill>
                  <a:latin typeface="Courier New"/>
                </a:defRPr>
              </a:pPr>
            </a:p>
          </c:txPr>
          <c:dLblPos val="outEnd"/>
          <c:showLegendKey val="0"/>
          <c:showVal val="1"/>
          <c:showCatName val="0"/>
          <c:showSerName val="0"/>
          <c:showPercent val="0"/>
          <c:showBubbleSize val="0"/>
          <c:showLeaderLines val="1"/>
        </c:dLbls>
        <c:gapWidth val="80"/>
        <c:axId val="-2068027336"/>
        <c:axId val="-2113994440"/>
      </c:barChart>
      <c:catAx>
        <c:axId val="-2068027336"/>
        <c:scaling>
          <c:orientation val="minMax"/>
        </c:scaling>
        <c:delete val="0"/>
        <c:axPos val="b"/>
        <c:majorTickMark val="out"/>
        <c:minorTickMark val="none"/>
        <c:tickLblPos val="nextTo"/>
        <c:spPr>
          <a:ln>
            <a:solidFill>
              <a:srgbClr val="D3DCE4"/>
            </a:solidFill>
          </a:ln>
        </c:spPr>
        <c:crossAx val="-2113994440"/>
        <c:crosses val="autoZero"/>
        <c:auto val="1"/>
        <c:lblAlgn val="ctr"/>
        <c:lblOffset val="100"/>
        <c:noMultiLvlLbl val="0"/>
      </c:catAx>
      <c:valAx>
        <c:axId val="-2113994440"/>
        <c:scaling/>
        <c:delete val="0"/>
        <c:axPos val="l"/>
        <c:majorGridlines>
          <c:spPr>
            <a:ln>
              <a:solidFill>
                <a:srgbClr val="D3DCE4"/>
              </a:solidFill>
            </a:ln>
          </c:spPr>
        </c:majorGridlines>
        <c:numFmt formatCode="#,##0.0" sourceLinked="0"/>
        <c:majorTickMark val="out"/>
        <c:minorTickMark val="none"/>
        <c:tickLblPos val="nextTo"/>
        <c:spPr>
          <a:ln>
            <a:noFill/>
          </a:ln>
        </c:spPr>
        <c:txPr>
          <a:bodyPr/>
          <a:lstStyle/>
          <a:p>
            <a:pPr>
              <a:defRPr>
                <a:latin typeface="Courier New"/>
              </a:defRPr>
            </a:pPr>
          </a:p>
        </c:txPr>
        <c:crossAx val="-2068027336"/>
        <c:crosses val="autoZero"/>
      </c:valAx>
    </c:plotArea>
    <c:dispBlanksAs val="gap"/>
  </c:chart>
  <c:txPr>
    <a:bodyPr/>
    <a:lstStyle/>
    <a:p>
      <a:pPr>
        <a:defRPr sz="1100">
          <a:solidFill>
            <a:srgbClr val="70879A"/>
          </a:solidFill>
          <a:latin typeface="Calibri"/>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Hours</c:v>
                </c:pt>
              </c:strCache>
            </c:strRef>
          </c:tx>
          <c:spPr>
            <a:solidFill>
              <a:srgbClr val="E8772E"/>
            </a:solidFill>
          </c:spPr>
          <c:cat>
            <c:strRef>
              <c:f>Sheet1!$A$2:$A$9</c:f>
              <c:strCache>
                <c:ptCount val="8"/>
                <c:pt idx="0">
                  <c:v>Ekegusii (Kisii)</c:v>
                </c:pt>
                <c:pt idx="1">
                  <c:v>Kalenjin</c:v>
                </c:pt>
                <c:pt idx="2">
                  <c:v>Kiswahili</c:v>
                </c:pt>
                <c:pt idx="3">
                  <c:v>Kikamba (Kamba)</c:v>
                </c:pt>
                <c:pt idx="4">
                  <c:v>Gikuyu (Kikuyu)</c:v>
                </c:pt>
                <c:pt idx="5">
                  <c:v>Dholuo (Luo)</c:v>
                </c:pt>
                <c:pt idx="6">
                  <c:v>Wanga (Luhya)</c:v>
                </c:pt>
                <c:pt idx="7">
                  <c:v>Bukusu (Luhya)</c:v>
                </c:pt>
              </c:strCache>
            </c:strRef>
          </c:cat>
          <c:val>
            <c:numRef>
              <c:f>Sheet1!$B$2:$B$9</c:f>
              <c:numCache>
                <c:formatCode>General</c:formatCode>
                <c:ptCount val="8"/>
                <c:pt idx="0">
                  <c:v>76.7</c:v>
                </c:pt>
                <c:pt idx="1">
                  <c:v>73.2</c:v>
                </c:pt>
                <c:pt idx="2">
                  <c:v>78.5</c:v>
                </c:pt>
                <c:pt idx="3">
                  <c:v>67.8</c:v>
                </c:pt>
                <c:pt idx="4">
                  <c:v>65.9</c:v>
                </c:pt>
                <c:pt idx="5">
                  <c:v>51.7</c:v>
                </c:pt>
                <c:pt idx="6">
                  <c:v>6.8</c:v>
                </c:pt>
                <c:pt idx="7">
                  <c:v>0.7</c:v>
                </c:pt>
              </c:numCache>
            </c:numRef>
          </c:val>
        </c:ser>
        <c:dLbls>
          <c:numFmt formatCode="#,##0.0" sourceLinked="0"/>
          <c:txPr>
            <a:bodyPr/>
            <a:lstStyle/>
            <a:p>
              <a:pPr>
                <a:defRPr sz="1100">
                  <a:solidFill>
                    <a:srgbClr val="14324A"/>
                  </a:solidFill>
                  <a:latin typeface="Courier New"/>
                </a:defRPr>
              </a:pPr>
            </a:p>
          </c:txPr>
          <c:dLblPos val="outEnd"/>
          <c:showLegendKey val="0"/>
          <c:showVal val="1"/>
          <c:showCatName val="0"/>
          <c:showSerName val="0"/>
          <c:showPercent val="0"/>
          <c:showBubbleSize val="0"/>
          <c:showLeaderLines val="1"/>
        </c:dLbls>
        <c:gapWidth val="80"/>
        <c:axId val="-2068027336"/>
        <c:axId val="-2113994440"/>
      </c:barChart>
      <c:catAx>
        <c:axId val="-2068027336"/>
        <c:scaling>
          <c:orientation val="minMax"/>
        </c:scaling>
        <c:delete val="0"/>
        <c:axPos val="b"/>
        <c:majorTickMark val="out"/>
        <c:minorTickMark val="none"/>
        <c:tickLblPos val="nextTo"/>
        <c:spPr>
          <a:ln>
            <a:solidFill>
              <a:srgbClr val="D3DCE4"/>
            </a:solidFill>
          </a:ln>
        </c:spPr>
        <c:crossAx val="-2113994440"/>
        <c:crosses val="autoZero"/>
        <c:auto val="1"/>
        <c:lblAlgn val="ctr"/>
        <c:lblOffset val="100"/>
        <c:noMultiLvlLbl val="0"/>
      </c:catAx>
      <c:valAx>
        <c:axId val="-2113994440"/>
        <c:scaling/>
        <c:delete val="0"/>
        <c:axPos val="l"/>
        <c:majorGridlines>
          <c:spPr>
            <a:ln>
              <a:solidFill>
                <a:srgbClr val="D3DCE4"/>
              </a:solidFill>
            </a:ln>
          </c:spPr>
        </c:majorGridlines>
        <c:numFmt formatCode="#,##0.0" sourceLinked="0"/>
        <c:majorTickMark val="out"/>
        <c:minorTickMark val="none"/>
        <c:tickLblPos val="nextTo"/>
        <c:spPr>
          <a:ln>
            <a:noFill/>
          </a:ln>
        </c:spPr>
        <c:txPr>
          <a:bodyPr/>
          <a:lstStyle/>
          <a:p>
            <a:pPr>
              <a:defRPr>
                <a:latin typeface="Courier New"/>
              </a:defRPr>
            </a:pPr>
          </a:p>
        </c:txPr>
        <c:crossAx val="-2068027336"/>
        <c:crosses val="autoZero"/>
      </c:valAx>
    </c:plotArea>
    <c:dispBlanksAs val="gap"/>
  </c:chart>
  <c:txPr>
    <a:bodyPr/>
    <a:lstStyle/>
    <a:p>
      <a:pPr>
        <a:defRPr sz="1100">
          <a:solidFill>
            <a:srgbClr val="70879A"/>
          </a:solidFill>
          <a:latin typeface="Calibri"/>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Share</c:v>
                </c:pt>
              </c:strCache>
            </c:strRef>
          </c:tx>
          <c:spPr>
            <a:solidFill>
              <a:srgbClr val="E8772E"/>
            </a:solidFill>
          </c:spPr>
          <c:cat>
            <c:strRef>
              <c:f>Sheet1!$A$2:$A$9</c:f>
              <c:strCache>
                <c:ptCount val="8"/>
                <c:pt idx="0">
                  <c:v>Ekegusii (Kisii)</c:v>
                </c:pt>
                <c:pt idx="1">
                  <c:v>Kalenjin</c:v>
                </c:pt>
                <c:pt idx="2">
                  <c:v>Kiswahili</c:v>
                </c:pt>
                <c:pt idx="3">
                  <c:v>Kikamba (Kamba)</c:v>
                </c:pt>
                <c:pt idx="4">
                  <c:v>Gikuyu (Kikuyu)</c:v>
                </c:pt>
                <c:pt idx="5">
                  <c:v>Dholuo (Luo)</c:v>
                </c:pt>
                <c:pt idx="6">
                  <c:v>Wanga (Luhya)</c:v>
                </c:pt>
                <c:pt idx="7">
                  <c:v>Bukusu (Luhya)</c:v>
                </c:pt>
              </c:strCache>
            </c:strRef>
          </c:cat>
          <c:val>
            <c:numRef>
              <c:f>Sheet1!$B$2:$B$9</c:f>
              <c:numCache>
                <c:formatCode>General</c:formatCode>
                <c:ptCount val="8"/>
                <c:pt idx="0">
                  <c:v>0.8609</c:v>
                </c:pt>
                <c:pt idx="1">
                  <c:v>0.8991</c:v>
                </c:pt>
                <c:pt idx="2">
                  <c:v>0.7869</c:v>
                </c:pt>
                <c:pt idx="3">
                  <c:v>0.7092</c:v>
                </c:pt>
                <c:pt idx="4">
                  <c:v>0.7981</c:v>
                </c:pt>
                <c:pt idx="5">
                  <c:v>0.8949</c:v>
                </c:pt>
                <c:pt idx="6">
                  <c:v>0.8867</c:v>
                </c:pt>
                <c:pt idx="7">
                  <c:v>0</c:v>
                </c:pt>
              </c:numCache>
            </c:numRef>
          </c:val>
        </c:ser>
        <c:dLbls>
          <c:numFmt formatCode="0.0%" sourceLinked="0"/>
          <c:txPr>
            <a:bodyPr/>
            <a:lstStyle/>
            <a:p>
              <a:pPr>
                <a:defRPr sz="1100">
                  <a:solidFill>
                    <a:srgbClr val="14324A"/>
                  </a:solidFill>
                  <a:latin typeface="Courier New"/>
                </a:defRPr>
              </a:pPr>
            </a:p>
          </c:txPr>
          <c:dLblPos val="outEnd"/>
          <c:showLegendKey val="0"/>
          <c:showVal val="1"/>
          <c:showCatName val="0"/>
          <c:showSerName val="0"/>
          <c:showPercent val="0"/>
          <c:showBubbleSize val="0"/>
          <c:showLeaderLines val="1"/>
        </c:dLbls>
        <c:gapWidth val="80"/>
        <c:axId val="-2068027336"/>
        <c:axId val="-2113994440"/>
      </c:barChart>
      <c:catAx>
        <c:axId val="-2068027336"/>
        <c:scaling>
          <c:orientation val="minMax"/>
        </c:scaling>
        <c:delete val="0"/>
        <c:axPos val="b"/>
        <c:majorTickMark val="out"/>
        <c:minorTickMark val="none"/>
        <c:tickLblPos val="nextTo"/>
        <c:spPr>
          <a:ln>
            <a:solidFill>
              <a:srgbClr val="D3DCE4"/>
            </a:solidFill>
          </a:ln>
        </c:spPr>
        <c:crossAx val="-2113994440"/>
        <c:crosses val="autoZero"/>
        <c:auto val="1"/>
        <c:lblAlgn val="ctr"/>
        <c:lblOffset val="100"/>
        <c:noMultiLvlLbl val="0"/>
      </c:catAx>
      <c:valAx>
        <c:axId val="-2113994440"/>
        <c:scaling/>
        <c:delete val="0"/>
        <c:axPos val="l"/>
        <c:majorGridlines>
          <c:spPr>
            <a:ln>
              <a:solidFill>
                <a:srgbClr val="D3DCE4"/>
              </a:solidFill>
            </a:ln>
          </c:spPr>
        </c:majorGridlines>
        <c:numFmt formatCode="0.0%" sourceLinked="0"/>
        <c:majorTickMark val="out"/>
        <c:minorTickMark val="none"/>
        <c:tickLblPos val="nextTo"/>
        <c:spPr>
          <a:ln>
            <a:noFill/>
          </a:ln>
        </c:spPr>
        <c:txPr>
          <a:bodyPr/>
          <a:lstStyle/>
          <a:p>
            <a:pPr>
              <a:defRPr>
                <a:latin typeface="Courier New"/>
              </a:defRPr>
            </a:pPr>
          </a:p>
        </c:txPr>
        <c:crossAx val="-2068027336"/>
        <c:crosses val="autoZero"/>
      </c:valAx>
    </c:plotArea>
    <c:dispBlanksAs val="gap"/>
  </c:chart>
  <c:txPr>
    <a:bodyPr/>
    <a:lstStyle/>
    <a:p>
      <a:pPr>
        <a:defRPr sz="1100">
          <a:solidFill>
            <a:srgbClr val="70879A"/>
          </a:solidFill>
          <a:latin typeface="Calibri"/>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Scripts</c:v>
                </c:pt>
              </c:strCache>
            </c:strRef>
          </c:tx>
          <c:spPr>
            <a:solidFill>
              <a:srgbClr val="E8772E"/>
            </a:solidFill>
          </c:spPr>
          <c:cat>
            <c:strRef>
              <c:f>Sheet1!$A$2:$A$14</c:f>
              <c:strCache>
                <c:ptCount val="13"/>
                <c:pt idx="0">
                  <c:v>Muuga FM · Meru</c:v>
                </c:pt>
                <c:pt idx="1">
                  <c:v>Radio Citizen · Kiswahili</c:v>
                </c:pt>
                <c:pt idx="2">
                  <c:v>Chamgei · Kalenjin</c:v>
                </c:pt>
                <c:pt idx="3">
                  <c:v>Mulembe FM · Luhya</c:v>
                </c:pt>
                <c:pt idx="4">
                  <c:v>Wimwaro FM · Embu</c:v>
                </c:pt>
                <c:pt idx="5">
                  <c:v>Hot 96 · English</c:v>
                </c:pt>
                <c:pt idx="6">
                  <c:v>Egesa · Kisii</c:v>
                </c:pt>
                <c:pt idx="7">
                  <c:v>Musyi FM · Akamba</c:v>
                </c:pt>
                <c:pt idx="8">
                  <c:v>Sulwe FM · Bukusu</c:v>
                </c:pt>
                <c:pt idx="9">
                  <c:v>Bahari FM · Kiswahili</c:v>
                </c:pt>
                <c:pt idx="10">
                  <c:v>Inooro FM · Kikuyu</c:v>
                </c:pt>
                <c:pt idx="11">
                  <c:v>Vuuka · Maragoli</c:v>
                </c:pt>
                <c:pt idx="12">
                  <c:v>Ramogi FM · Luo</c:v>
                </c:pt>
              </c:strCache>
            </c:strRef>
          </c:cat>
          <c:val>
            <c:numRef>
              <c:f>Sheet1!$B$2:$B$14</c:f>
              <c:numCache>
                <c:formatCode>General</c:formatCode>
                <c:ptCount val="13"/>
                <c:pt idx="0">
                  <c:v>27467</c:v>
                </c:pt>
                <c:pt idx="1">
                  <c:v>27240</c:v>
                </c:pt>
                <c:pt idx="2">
                  <c:v>26787</c:v>
                </c:pt>
                <c:pt idx="3">
                  <c:v>22191</c:v>
                </c:pt>
                <c:pt idx="4">
                  <c:v>19664</c:v>
                </c:pt>
                <c:pt idx="5">
                  <c:v>18136</c:v>
                </c:pt>
                <c:pt idx="6">
                  <c:v>17606</c:v>
                </c:pt>
                <c:pt idx="7">
                  <c:v>17581</c:v>
                </c:pt>
                <c:pt idx="8">
                  <c:v>16749</c:v>
                </c:pt>
                <c:pt idx="9">
                  <c:v>16177</c:v>
                </c:pt>
                <c:pt idx="10">
                  <c:v>15376</c:v>
                </c:pt>
                <c:pt idx="11">
                  <c:v>15336</c:v>
                </c:pt>
                <c:pt idx="12">
                  <c:v>8013</c:v>
                </c:pt>
              </c:numCache>
            </c:numRef>
          </c:val>
        </c:ser>
        <c:dLbls>
          <c:numFmt formatCode="#,##0.0" sourceLinked="0"/>
          <c:txPr>
            <a:bodyPr/>
            <a:lstStyle/>
            <a:p>
              <a:pPr>
                <a:defRPr sz="1100">
                  <a:solidFill>
                    <a:srgbClr val="14324A"/>
                  </a:solidFill>
                  <a:latin typeface="Courier New"/>
                </a:defRPr>
              </a:pPr>
            </a:p>
          </c:txPr>
          <c:dLblPos val="outEnd"/>
          <c:showLegendKey val="0"/>
          <c:showVal val="1"/>
          <c:showCatName val="0"/>
          <c:showSerName val="0"/>
          <c:showPercent val="0"/>
          <c:showBubbleSize val="0"/>
          <c:showLeaderLines val="1"/>
        </c:dLbls>
        <c:gapWidth val="80"/>
        <c:axId val="-2068027336"/>
        <c:axId val="-2113994440"/>
      </c:barChart>
      <c:catAx>
        <c:axId val="-2068027336"/>
        <c:scaling>
          <c:orientation val="minMax"/>
        </c:scaling>
        <c:delete val="0"/>
        <c:axPos val="b"/>
        <c:majorTickMark val="out"/>
        <c:minorTickMark val="none"/>
        <c:tickLblPos val="nextTo"/>
        <c:spPr>
          <a:ln>
            <a:solidFill>
              <a:srgbClr val="D3DCE4"/>
            </a:solidFill>
          </a:ln>
        </c:spPr>
        <c:crossAx val="-2113994440"/>
        <c:crosses val="autoZero"/>
        <c:auto val="1"/>
        <c:lblAlgn val="ctr"/>
        <c:lblOffset val="100"/>
        <c:noMultiLvlLbl val="0"/>
      </c:catAx>
      <c:valAx>
        <c:axId val="-2113994440"/>
        <c:scaling/>
        <c:delete val="0"/>
        <c:axPos val="l"/>
        <c:majorGridlines>
          <c:spPr>
            <a:ln>
              <a:solidFill>
                <a:srgbClr val="D3DCE4"/>
              </a:solidFill>
            </a:ln>
          </c:spPr>
        </c:majorGridlines>
        <c:numFmt formatCode="#,##0.0" sourceLinked="0"/>
        <c:majorTickMark val="out"/>
        <c:minorTickMark val="none"/>
        <c:tickLblPos val="nextTo"/>
        <c:spPr>
          <a:ln>
            <a:noFill/>
          </a:ln>
        </c:spPr>
        <c:txPr>
          <a:bodyPr/>
          <a:lstStyle/>
          <a:p>
            <a:pPr>
              <a:defRPr>
                <a:latin typeface="Courier New"/>
              </a:defRPr>
            </a:pPr>
          </a:p>
        </c:txPr>
        <c:crossAx val="-2068027336"/>
        <c:crosses val="autoZero"/>
      </c:valAx>
    </c:plotArea>
    <c:dispBlanksAs val="gap"/>
  </c:chart>
  <c:txPr>
    <a:bodyPr/>
    <a:lstStyle/>
    <a:p>
      <a:pPr>
        <a:defRPr sz="1100">
          <a:solidFill>
            <a:srgbClr val="70879A"/>
          </a:solidFill>
          <a:latin typeface="Calibri"/>
        </a:defRPr>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Hours</c:v>
                </c:pt>
              </c:strCache>
            </c:strRef>
          </c:tx>
          <c:spPr>
            <a:solidFill>
              <a:srgbClr val="E8772E"/>
            </a:solidFill>
          </c:spPr>
          <c:cat>
            <c:strRef>
              <c:f>Sheet1!$A$2:$A$14</c:f>
              <c:strCache>
                <c:ptCount val="13"/>
                <c:pt idx="0">
                  <c:v>Muuga FM</c:v>
                </c:pt>
                <c:pt idx="1">
                  <c:v>Radio Citizen</c:v>
                </c:pt>
                <c:pt idx="2">
                  <c:v>Chamgei</c:v>
                </c:pt>
                <c:pt idx="3">
                  <c:v>Mulembe FM</c:v>
                </c:pt>
                <c:pt idx="4">
                  <c:v>Wimwaro FM</c:v>
                </c:pt>
                <c:pt idx="5">
                  <c:v>Hot 96</c:v>
                </c:pt>
                <c:pt idx="6">
                  <c:v>Egesa</c:v>
                </c:pt>
                <c:pt idx="7">
                  <c:v>Musyi FM</c:v>
                </c:pt>
                <c:pt idx="8">
                  <c:v>Sulwe FM</c:v>
                </c:pt>
                <c:pt idx="9">
                  <c:v>Bahari FM</c:v>
                </c:pt>
                <c:pt idx="10">
                  <c:v>Inooro FM</c:v>
                </c:pt>
                <c:pt idx="11">
                  <c:v>Vuuka</c:v>
                </c:pt>
                <c:pt idx="12">
                  <c:v>Ramogi FM</c:v>
                </c:pt>
              </c:strCache>
            </c:strRef>
          </c:cat>
          <c:val>
            <c:numRef>
              <c:f>Sheet1!$B$2:$B$14</c:f>
              <c:numCache>
                <c:formatCode>General</c:formatCode>
                <c:ptCount val="13"/>
                <c:pt idx="0">
                  <c:v>17.98</c:v>
                </c:pt>
                <c:pt idx="1">
                  <c:v>18.18</c:v>
                </c:pt>
                <c:pt idx="2">
                  <c:v>18.75</c:v>
                </c:pt>
                <c:pt idx="3">
                  <c:v>15.0</c:v>
                </c:pt>
                <c:pt idx="4">
                  <c:v>15.76</c:v>
                </c:pt>
                <c:pt idx="5">
                  <c:v>15.08</c:v>
                </c:pt>
                <c:pt idx="6">
                  <c:v>11.3</c:v>
                </c:pt>
                <c:pt idx="7">
                  <c:v>17.69</c:v>
                </c:pt>
                <c:pt idx="8">
                  <c:v>11.95</c:v>
                </c:pt>
                <c:pt idx="9">
                  <c:v>16.8</c:v>
                </c:pt>
                <c:pt idx="10">
                  <c:v>15.03</c:v>
                </c:pt>
                <c:pt idx="11">
                  <c:v>14.51</c:v>
                </c:pt>
                <c:pt idx="12">
                  <c:v>6.98</c:v>
                </c:pt>
              </c:numCache>
            </c:numRef>
          </c:val>
        </c:ser>
        <c:dLbls>
          <c:numFmt formatCode="#,##0.0" sourceLinked="0"/>
          <c:txPr>
            <a:bodyPr/>
            <a:lstStyle/>
            <a:p>
              <a:pPr>
                <a:defRPr sz="1100">
                  <a:solidFill>
                    <a:srgbClr val="14324A"/>
                  </a:solidFill>
                  <a:latin typeface="Courier New"/>
                </a:defRPr>
              </a:pPr>
            </a:p>
          </c:txPr>
          <c:dLblPos val="outEnd"/>
          <c:showLegendKey val="0"/>
          <c:showVal val="1"/>
          <c:showCatName val="0"/>
          <c:showSerName val="0"/>
          <c:showPercent val="0"/>
          <c:showBubbleSize val="0"/>
          <c:showLeaderLines val="1"/>
        </c:dLbls>
        <c:gapWidth val="80"/>
        <c:axId val="-2068027336"/>
        <c:axId val="-2113994440"/>
      </c:barChart>
      <c:catAx>
        <c:axId val="-2068027336"/>
        <c:scaling>
          <c:orientation val="minMax"/>
        </c:scaling>
        <c:delete val="0"/>
        <c:axPos val="b"/>
        <c:majorTickMark val="out"/>
        <c:minorTickMark val="none"/>
        <c:tickLblPos val="nextTo"/>
        <c:spPr>
          <a:ln>
            <a:solidFill>
              <a:srgbClr val="D3DCE4"/>
            </a:solidFill>
          </a:ln>
        </c:spPr>
        <c:crossAx val="-2113994440"/>
        <c:crosses val="autoZero"/>
        <c:auto val="1"/>
        <c:lblAlgn val="ctr"/>
        <c:lblOffset val="100"/>
        <c:noMultiLvlLbl val="0"/>
      </c:catAx>
      <c:valAx>
        <c:axId val="-2113994440"/>
        <c:scaling/>
        <c:delete val="0"/>
        <c:axPos val="l"/>
        <c:majorGridlines>
          <c:spPr>
            <a:ln>
              <a:solidFill>
                <a:srgbClr val="D3DCE4"/>
              </a:solidFill>
            </a:ln>
          </c:spPr>
        </c:majorGridlines>
        <c:numFmt formatCode="#,##0.0" sourceLinked="0"/>
        <c:majorTickMark val="out"/>
        <c:minorTickMark val="none"/>
        <c:tickLblPos val="nextTo"/>
        <c:spPr>
          <a:ln>
            <a:noFill/>
          </a:ln>
        </c:spPr>
        <c:txPr>
          <a:bodyPr/>
          <a:lstStyle/>
          <a:p>
            <a:pPr>
              <a:defRPr>
                <a:latin typeface="Courier New"/>
              </a:defRPr>
            </a:pPr>
          </a:p>
        </c:txPr>
        <c:crossAx val="-2068027336"/>
        <c:crosses val="autoZero"/>
      </c:valAx>
    </c:plotArea>
    <c:dispBlanksAs val="gap"/>
  </c:chart>
  <c:txPr>
    <a:bodyPr/>
    <a:lstStyle/>
    <a:p>
      <a:pPr>
        <a:defRPr sz="1100">
          <a:solidFill>
            <a:srgbClr val="70879A"/>
          </a:solidFill>
          <a:latin typeface="Calibri"/>
        </a:defRPr>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9.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674620"/>
            <a:ext cx="7274052" cy="1508760"/>
          </a:xfrm>
          <a:prstGeom prst="rect">
            <a:avLst/>
          </a:prstGeom>
          <a:noFill/>
        </p:spPr>
        <p:txBody>
          <a:bodyPr wrap="square" lIns="0" rIns="0" tIns="0" bIns="0" anchor="b">
            <a:spAutoFit/>
          </a:bodyPr>
          <a:lstStyle/>
          <a:p>
            <a:pPr algn="l"/>
            <a:r>
              <a:rPr sz="4000" b="0" i="0">
                <a:solidFill>
                  <a:srgbClr val="14324A"/>
                </a:solidFill>
                <a:latin typeface="Cambria"/>
              </a:rPr>
              <a:t>What RMS holds, what it costs and what to build first</a:t>
            </a:r>
          </a:p>
        </p:txBody>
      </p:sp>
      <p:sp>
        <p:nvSpPr>
          <p:cNvPr id="3" name="TextBox 2"/>
          <p:cNvSpPr txBox="1"/>
          <p:nvPr/>
        </p:nvSpPr>
        <p:spPr>
          <a:xfrm>
            <a:off x="594360" y="4183380"/>
            <a:ext cx="7274052" cy="754380"/>
          </a:xfrm>
          <a:prstGeom prst="rect">
            <a:avLst/>
          </a:prstGeom>
          <a:noFill/>
        </p:spPr>
        <p:txBody>
          <a:bodyPr wrap="square" lIns="0" rIns="0" tIns="0" bIns="0" anchor="t">
            <a:spAutoFit/>
          </a:bodyPr>
          <a:lstStyle/>
          <a:p>
            <a:pPr algn="l"/>
            <a:r>
              <a:rPr sz="1800" b="0" i="0">
                <a:solidFill>
                  <a:srgbClr val="70879A"/>
                </a:solidFill>
                <a:latin typeface="Calibri"/>
              </a:rPr>
              <a:t>Estate-wide account of holdings, cost to keep, condition and first data products</a:t>
            </a:r>
          </a:p>
        </p:txBody>
      </p:sp>
      <p:sp>
        <p:nvSpPr>
          <p:cNvPr id="4" name="TextBox 3"/>
          <p:cNvSpPr txBox="1"/>
          <p:nvPr/>
        </p:nvSpPr>
        <p:spPr>
          <a:xfrm>
            <a:off x="594360" y="5314492"/>
            <a:ext cx="5409590" cy="376732"/>
          </a:xfrm>
          <a:prstGeom prst="rect">
            <a:avLst/>
          </a:prstGeom>
          <a:noFill/>
        </p:spPr>
        <p:txBody>
          <a:bodyPr wrap="square" lIns="0" rIns="0" tIns="0" bIns="0" anchor="t">
            <a:spAutoFit/>
          </a:bodyPr>
          <a:lstStyle/>
          <a:p>
            <a:pPr algn="l"/>
            <a:r>
              <a:rPr sz="1000" b="0" i="0">
                <a:solidFill>
                  <a:srgbClr val="70879A"/>
                </a:solidFill>
                <a:latin typeface="Calibri"/>
              </a:rPr>
              <a:t>RMS  ·  Tenant confidential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70879A"/>
                </a:solidFill>
                <a:latin typeface="Calibri"/>
              </a:rPr>
              <a:t>EXECUTIVE SUMMARY</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4324A"/>
                </a:solidFill>
                <a:latin typeface="Cambria"/>
              </a:rPr>
              <a:t>The estate's cost lever is cold object-store data, not its databases</a:t>
            </a:r>
          </a:p>
        </p:txBody>
      </p:sp>
      <p:sp>
        <p:nvSpPr>
          <p:cNvPr id="4" name="TextBox 3"/>
          <p:cNvSpPr txBox="1"/>
          <p:nvPr/>
        </p:nvSpPr>
        <p:spPr>
          <a:xfrm>
            <a:off x="594360" y="1920240"/>
            <a:ext cx="1463040" cy="805815"/>
          </a:xfrm>
          <a:prstGeom prst="rect">
            <a:avLst/>
          </a:prstGeom>
          <a:noFill/>
        </p:spPr>
        <p:txBody>
          <a:bodyPr wrap="square" lIns="0" rIns="0" tIns="0" bIns="0" anchor="t">
            <a:spAutoFit/>
          </a:bodyPr>
          <a:lstStyle/>
          <a:p>
            <a:pPr algn="l"/>
            <a:r>
              <a:rPr sz="1100" b="1" i="0">
                <a:solidFill>
                  <a:srgbClr val="70879A"/>
                </a:solidFill>
                <a:latin typeface="Calibri"/>
              </a:rPr>
              <a:t>SITUATION</a:t>
            </a:r>
          </a:p>
        </p:txBody>
      </p:sp>
      <p:sp>
        <p:nvSpPr>
          <p:cNvPr id="5" name="TextBox 4"/>
          <p:cNvSpPr txBox="1"/>
          <p:nvPr/>
        </p:nvSpPr>
        <p:spPr>
          <a:xfrm>
            <a:off x="2240280" y="1920240"/>
            <a:ext cx="9357055" cy="805815"/>
          </a:xfrm>
          <a:prstGeom prst="rect">
            <a:avLst/>
          </a:prstGeom>
          <a:noFill/>
        </p:spPr>
        <p:txBody>
          <a:bodyPr wrap="square" lIns="0" rIns="0" tIns="0" bIns="0" anchor="t">
            <a:spAutoFit/>
          </a:bodyPr>
          <a:lstStyle/>
          <a:p>
            <a:pPr algn="l"/>
            <a:r>
              <a:rPr sz="1400" b="0" i="0">
                <a:solidFill>
                  <a:srgbClr val="14324A"/>
                </a:solidFill>
                <a:latin typeface="Calibri"/>
              </a:rPr>
              <a:t>RMS holds 174.3 TiB across three kinds of store: 130.3 TiB in the object store, 43.6 TiB on file shares and 0.3 TiB in 20 databases. Those databases hold 1006 tables, of which 638 were measured.</a:t>
            </a:r>
          </a:p>
        </p:txBody>
      </p:sp>
      <p:cxnSp>
        <p:nvCxnSpPr>
          <p:cNvPr id="6" name="Connector 5"/>
          <p:cNvCxnSpPr/>
          <p:nvPr/>
        </p:nvCxnSpPr>
        <p:spPr>
          <a:xfrm>
            <a:off x="594360" y="2790063"/>
            <a:ext cx="11002975" cy="0"/>
          </a:xfrm>
          <a:prstGeom prst="line">
            <a:avLst/>
          </a:prstGeom>
          <a:ln w="9525">
            <a:solidFill>
              <a:srgbClr val="D3DCE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2863215"/>
            <a:ext cx="1463040" cy="805815"/>
          </a:xfrm>
          <a:prstGeom prst="rect">
            <a:avLst/>
          </a:prstGeom>
          <a:noFill/>
        </p:spPr>
        <p:txBody>
          <a:bodyPr wrap="square" lIns="0" rIns="0" tIns="0" bIns="0" anchor="t">
            <a:spAutoFit/>
          </a:bodyPr>
          <a:lstStyle/>
          <a:p>
            <a:pPr algn="l"/>
            <a:r>
              <a:rPr sz="1100" b="1" i="0">
                <a:solidFill>
                  <a:srgbClr val="70879A"/>
                </a:solidFill>
                <a:latin typeface="Calibri"/>
              </a:rPr>
              <a:t>COMPLICATION</a:t>
            </a:r>
          </a:p>
        </p:txBody>
      </p:sp>
      <p:sp>
        <p:nvSpPr>
          <p:cNvPr id="8" name="TextBox 7"/>
          <p:cNvSpPr txBox="1"/>
          <p:nvPr/>
        </p:nvSpPr>
        <p:spPr>
          <a:xfrm>
            <a:off x="2240280" y="2863215"/>
            <a:ext cx="9357055" cy="805815"/>
          </a:xfrm>
          <a:prstGeom prst="rect">
            <a:avLst/>
          </a:prstGeom>
          <a:noFill/>
        </p:spPr>
        <p:txBody>
          <a:bodyPr wrap="square" lIns="0" rIns="0" tIns="0" bIns="0" anchor="t">
            <a:spAutoFit/>
          </a:bodyPr>
          <a:lstStyle/>
          <a:p>
            <a:pPr algn="l"/>
            <a:r>
              <a:rPr sz="1400" b="0" i="0">
                <a:solidFill>
                  <a:srgbClr val="14324A"/>
                </a:solidFill>
                <a:latin typeface="Calibri"/>
              </a:rPr>
              <a:t>Database clean-up is small: 15.2 GiB, or 4.3% of bytes, looks reclaimable. The larger exposure is 41.9 TiB in the object store not written for over a year, plus 7.7 TiB of duplicate candidates not yet confirmed.</a:t>
            </a:r>
          </a:p>
        </p:txBody>
      </p:sp>
      <p:cxnSp>
        <p:nvCxnSpPr>
          <p:cNvPr id="9" name="Connector 8"/>
          <p:cNvCxnSpPr/>
          <p:nvPr/>
        </p:nvCxnSpPr>
        <p:spPr>
          <a:xfrm>
            <a:off x="594360" y="3733037"/>
            <a:ext cx="11002975" cy="0"/>
          </a:xfrm>
          <a:prstGeom prst="line">
            <a:avLst/>
          </a:prstGeom>
          <a:ln w="9525">
            <a:solidFill>
              <a:srgbClr val="D3DCE4"/>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94360" y="3806189"/>
            <a:ext cx="1463040" cy="805815"/>
          </a:xfrm>
          <a:prstGeom prst="rect">
            <a:avLst/>
          </a:prstGeom>
          <a:noFill/>
        </p:spPr>
        <p:txBody>
          <a:bodyPr wrap="square" lIns="0" rIns="0" tIns="0" bIns="0" anchor="t">
            <a:spAutoFit/>
          </a:bodyPr>
          <a:lstStyle/>
          <a:p>
            <a:pPr algn="l"/>
            <a:r>
              <a:rPr sz="1100" b="1" i="0">
                <a:solidFill>
                  <a:srgbClr val="70879A"/>
                </a:solidFill>
                <a:latin typeface="Calibri"/>
              </a:rPr>
              <a:t>QUESTION</a:t>
            </a:r>
          </a:p>
        </p:txBody>
      </p:sp>
      <p:sp>
        <p:nvSpPr>
          <p:cNvPr id="11" name="TextBox 10"/>
          <p:cNvSpPr txBox="1"/>
          <p:nvPr/>
        </p:nvSpPr>
        <p:spPr>
          <a:xfrm>
            <a:off x="2240280" y="3806189"/>
            <a:ext cx="9357055" cy="805815"/>
          </a:xfrm>
          <a:prstGeom prst="rect">
            <a:avLst/>
          </a:prstGeom>
          <a:noFill/>
        </p:spPr>
        <p:txBody>
          <a:bodyPr wrap="square" lIns="0" rIns="0" tIns="0" bIns="0" anchor="t">
            <a:spAutoFit/>
          </a:bodyPr>
          <a:lstStyle/>
          <a:p>
            <a:pPr algn="l"/>
            <a:r>
              <a:rPr sz="1400" b="0" i="0">
                <a:solidFill>
                  <a:srgbClr val="14324A"/>
                </a:solidFill>
                <a:latin typeface="Calibri"/>
              </a:rPr>
              <a:t>What should the owner do first, and how certain is the saving?</a:t>
            </a:r>
          </a:p>
        </p:txBody>
      </p:sp>
      <p:cxnSp>
        <p:nvCxnSpPr>
          <p:cNvPr id="12" name="Connector 11"/>
          <p:cNvCxnSpPr/>
          <p:nvPr/>
        </p:nvCxnSpPr>
        <p:spPr>
          <a:xfrm>
            <a:off x="594360" y="4676013"/>
            <a:ext cx="11002975" cy="0"/>
          </a:xfrm>
          <a:prstGeom prst="line">
            <a:avLst/>
          </a:prstGeom>
          <a:ln w="9525">
            <a:solidFill>
              <a:srgbClr val="D3DCE4"/>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94360" y="4749165"/>
            <a:ext cx="1463040" cy="805815"/>
          </a:xfrm>
          <a:prstGeom prst="rect">
            <a:avLst/>
          </a:prstGeom>
          <a:noFill/>
        </p:spPr>
        <p:txBody>
          <a:bodyPr wrap="square" lIns="0" rIns="0" tIns="0" bIns="0" anchor="t">
            <a:spAutoFit/>
          </a:bodyPr>
          <a:lstStyle/>
          <a:p>
            <a:pPr algn="l"/>
            <a:r>
              <a:rPr sz="1100" b="1" i="0">
                <a:solidFill>
                  <a:srgbClr val="E8772E"/>
                </a:solidFill>
                <a:latin typeface="Calibri"/>
              </a:rPr>
              <a:t>ANSWER</a:t>
            </a:r>
          </a:p>
        </p:txBody>
      </p:sp>
      <p:sp>
        <p:nvSpPr>
          <p:cNvPr id="14" name="TextBox 13"/>
          <p:cNvSpPr txBox="1"/>
          <p:nvPr/>
        </p:nvSpPr>
        <p:spPr>
          <a:xfrm>
            <a:off x="2240280" y="4749165"/>
            <a:ext cx="9357055" cy="805815"/>
          </a:xfrm>
          <a:prstGeom prst="rect">
            <a:avLst/>
          </a:prstGeom>
          <a:noFill/>
        </p:spPr>
        <p:txBody>
          <a:bodyPr wrap="square" lIns="0" rIns="0" tIns="0" bIns="0" anchor="t">
            <a:spAutoFit/>
          </a:bodyPr>
          <a:lstStyle/>
          <a:p>
            <a:pPr algn="l"/>
            <a:r>
              <a:rPr sz="1400" b="0" i="0">
                <a:solidFill>
                  <a:srgbClr val="14324A"/>
                </a:solidFill>
                <a:latin typeface="Calibri"/>
              </a:rPr>
              <a:t>Validate archive-tier moves for the cold buckets and hash-confirm the duplicate candidates first. The priced ceiling is 1,174.4 USD a month at reference list prices, not an invoice figure. Prepare the first data products alongside, after de-identification or aggregation.</a:t>
            </a:r>
          </a:p>
        </p:txBody>
      </p:sp>
      <p:sp>
        <p:nvSpPr>
          <p:cNvPr id="15" name="TextBox 14"/>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70879A"/>
                </a:solidFill>
                <a:latin typeface="Calibri"/>
              </a:rPr>
              <a:t>EI-eij-1b359b3cbd2e</a:t>
            </a:r>
          </a:p>
        </p:txBody>
      </p:sp>
      <p:sp>
        <p:nvSpPr>
          <p:cNvPr id="16" name="TextBox 15"/>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70879A"/>
                </a:solidFill>
                <a:latin typeface="Calibri"/>
              </a:rPr>
              <a:t>Tenant confidential</a:t>
            </a:r>
          </a:p>
        </p:txBody>
      </p:sp>
      <p:sp>
        <p:nvSpPr>
          <p:cNvPr id="17" name="TextBox 16"/>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70879A"/>
                </a:solidFill>
                <a:latin typeface="Courier New"/>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70879A"/>
                </a:solidFill>
                <a:latin typeface="Calibri"/>
              </a:rPr>
              <a:t>PLAIN ENGLISH</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4324A"/>
                </a:solidFill>
                <a:latin typeface="Cambria"/>
              </a:rPr>
              <a:t>What the terms in this pack mean</a:t>
            </a:r>
          </a:p>
        </p:txBody>
      </p:sp>
      <p:sp>
        <p:nvSpPr>
          <p:cNvPr id="4" name="TextBox 3"/>
          <p:cNvSpPr txBox="1"/>
          <p:nvPr/>
        </p:nvSpPr>
        <p:spPr>
          <a:xfrm>
            <a:off x="594360" y="1975104"/>
            <a:ext cx="2377440" cy="537210"/>
          </a:xfrm>
          <a:prstGeom prst="rect">
            <a:avLst/>
          </a:prstGeom>
          <a:noFill/>
        </p:spPr>
        <p:txBody>
          <a:bodyPr wrap="square" lIns="0" rIns="0" tIns="0" bIns="0" anchor="t">
            <a:spAutoFit/>
          </a:bodyPr>
          <a:lstStyle/>
          <a:p>
            <a:pPr algn="l"/>
            <a:r>
              <a:rPr sz="1400" b="1" i="0">
                <a:solidFill>
                  <a:srgbClr val="E8772E"/>
                </a:solidFill>
                <a:latin typeface="Calibri"/>
              </a:rPr>
              <a:t>Reclaimable</a:t>
            </a:r>
          </a:p>
        </p:txBody>
      </p:sp>
      <p:sp>
        <p:nvSpPr>
          <p:cNvPr id="5" name="TextBox 4"/>
          <p:cNvSpPr txBox="1"/>
          <p:nvPr/>
        </p:nvSpPr>
        <p:spPr>
          <a:xfrm>
            <a:off x="3154680" y="1975104"/>
            <a:ext cx="8442655" cy="537210"/>
          </a:xfrm>
          <a:prstGeom prst="rect">
            <a:avLst/>
          </a:prstGeom>
          <a:noFill/>
        </p:spPr>
        <p:txBody>
          <a:bodyPr wrap="square" lIns="0" rIns="0" tIns="0" bIns="0" anchor="t">
            <a:spAutoFit/>
          </a:bodyPr>
          <a:lstStyle/>
          <a:p>
            <a:pPr algn="l"/>
            <a:r>
              <a:rPr sz="1300" b="0" i="0">
                <a:solidFill>
                  <a:srgbClr val="14324A"/>
                </a:solidFill>
                <a:latin typeface="Calibri"/>
              </a:rPr>
              <a:t>Space that could be removed or stored more cheaply once the check named beside it has been done. It is not space already freed, and it is not a guaranteed saving — the monthly figures are upper bounds at list prices.</a:t>
            </a:r>
          </a:p>
        </p:txBody>
      </p:sp>
      <p:cxnSp>
        <p:nvCxnSpPr>
          <p:cNvPr id="6" name="Connector 5"/>
          <p:cNvCxnSpPr/>
          <p:nvPr/>
        </p:nvCxnSpPr>
        <p:spPr>
          <a:xfrm>
            <a:off x="594360" y="2475738"/>
            <a:ext cx="11002975" cy="0"/>
          </a:xfrm>
          <a:prstGeom prst="line">
            <a:avLst/>
          </a:prstGeom>
          <a:ln w="9525">
            <a:solidFill>
              <a:srgbClr val="D3DCE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2603754"/>
            <a:ext cx="2377440" cy="537210"/>
          </a:xfrm>
          <a:prstGeom prst="rect">
            <a:avLst/>
          </a:prstGeom>
          <a:noFill/>
        </p:spPr>
        <p:txBody>
          <a:bodyPr wrap="square" lIns="0" rIns="0" tIns="0" bIns="0" anchor="t">
            <a:spAutoFit/>
          </a:bodyPr>
          <a:lstStyle/>
          <a:p>
            <a:pPr algn="l"/>
            <a:r>
              <a:rPr sz="1400" b="1" i="0">
                <a:solidFill>
                  <a:srgbClr val="E8772E"/>
                </a:solidFill>
                <a:latin typeface="Calibri"/>
              </a:rPr>
              <a:t>Cold (not written for over a year)</a:t>
            </a:r>
          </a:p>
        </p:txBody>
      </p:sp>
      <p:sp>
        <p:nvSpPr>
          <p:cNvPr id="8" name="TextBox 7"/>
          <p:cNvSpPr txBox="1"/>
          <p:nvPr/>
        </p:nvSpPr>
        <p:spPr>
          <a:xfrm>
            <a:off x="3154680" y="2603754"/>
            <a:ext cx="8442655" cy="537210"/>
          </a:xfrm>
          <a:prstGeom prst="rect">
            <a:avLst/>
          </a:prstGeom>
          <a:noFill/>
        </p:spPr>
        <p:txBody>
          <a:bodyPr wrap="square" lIns="0" rIns="0" tIns="0" bIns="0" anchor="t">
            <a:spAutoFit/>
          </a:bodyPr>
          <a:lstStyle/>
          <a:p>
            <a:pPr algn="l"/>
            <a:r>
              <a:rPr sz="1300" b="0" i="0">
                <a:solidFill>
                  <a:srgbClr val="14324A"/>
                </a:solidFill>
                <a:latin typeface="Calibri"/>
              </a:rPr>
              <a:t>Nothing new has been written to that bucket or table for more than a year, judged by the newest write date we could see. It says nothing about whether anyone still reads it — that was not measured.</a:t>
            </a:r>
          </a:p>
        </p:txBody>
      </p:sp>
      <p:cxnSp>
        <p:nvCxnSpPr>
          <p:cNvPr id="9" name="Connector 8"/>
          <p:cNvCxnSpPr/>
          <p:nvPr/>
        </p:nvCxnSpPr>
        <p:spPr>
          <a:xfrm>
            <a:off x="594360" y="3104388"/>
            <a:ext cx="11002975" cy="0"/>
          </a:xfrm>
          <a:prstGeom prst="line">
            <a:avLst/>
          </a:prstGeom>
          <a:ln w="9525">
            <a:solidFill>
              <a:srgbClr val="D3DCE4"/>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94360" y="3232404"/>
            <a:ext cx="2377440" cy="537210"/>
          </a:xfrm>
          <a:prstGeom prst="rect">
            <a:avLst/>
          </a:prstGeom>
          <a:noFill/>
        </p:spPr>
        <p:txBody>
          <a:bodyPr wrap="square" lIns="0" rIns="0" tIns="0" bIns="0" anchor="t">
            <a:spAutoFit/>
          </a:bodyPr>
          <a:lstStyle/>
          <a:p>
            <a:pPr algn="l"/>
            <a:r>
              <a:rPr sz="1400" b="1" i="0">
                <a:solidFill>
                  <a:srgbClr val="E8772E"/>
                </a:solidFill>
                <a:latin typeface="Calibri"/>
              </a:rPr>
              <a:t>Duplicate candidate</a:t>
            </a:r>
          </a:p>
        </p:txBody>
      </p:sp>
      <p:sp>
        <p:nvSpPr>
          <p:cNvPr id="11" name="TextBox 10"/>
          <p:cNvSpPr txBox="1"/>
          <p:nvPr/>
        </p:nvSpPr>
        <p:spPr>
          <a:xfrm>
            <a:off x="3154680" y="3232404"/>
            <a:ext cx="8442655" cy="537210"/>
          </a:xfrm>
          <a:prstGeom prst="rect">
            <a:avLst/>
          </a:prstGeom>
          <a:noFill/>
        </p:spPr>
        <p:txBody>
          <a:bodyPr wrap="square" lIns="0" rIns="0" tIns="0" bIns="0" anchor="t">
            <a:spAutoFit/>
          </a:bodyPr>
          <a:lstStyle/>
          <a:p>
            <a:pPr algn="l"/>
            <a:r>
              <a:rPr sz="1300" b="0" i="0">
                <a:solidFill>
                  <a:srgbClr val="14324A"/>
                </a:solidFill>
                <a:latin typeface="Calibri"/>
              </a:rPr>
              <a:t>Two objects whose size and storage fingerprint (ETag) match inside the same store. For large uploads that fingerprint is not a content hash, so a candidate must be confirmed by hashing before any copy is removed.</a:t>
            </a:r>
          </a:p>
        </p:txBody>
      </p:sp>
      <p:cxnSp>
        <p:nvCxnSpPr>
          <p:cNvPr id="12" name="Connector 11"/>
          <p:cNvCxnSpPr/>
          <p:nvPr/>
        </p:nvCxnSpPr>
        <p:spPr>
          <a:xfrm>
            <a:off x="594360" y="3733037"/>
            <a:ext cx="11002975" cy="0"/>
          </a:xfrm>
          <a:prstGeom prst="line">
            <a:avLst/>
          </a:prstGeom>
          <a:ln w="9525">
            <a:solidFill>
              <a:srgbClr val="D3DCE4"/>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94360" y="3861053"/>
            <a:ext cx="2377440" cy="537210"/>
          </a:xfrm>
          <a:prstGeom prst="rect">
            <a:avLst/>
          </a:prstGeom>
          <a:noFill/>
        </p:spPr>
        <p:txBody>
          <a:bodyPr wrap="square" lIns="0" rIns="0" tIns="0" bIns="0" anchor="t">
            <a:spAutoFit/>
          </a:bodyPr>
          <a:lstStyle/>
          <a:p>
            <a:pPr algn="l"/>
            <a:r>
              <a:rPr sz="1400" b="1" i="0">
                <a:solidFill>
                  <a:srgbClr val="E8772E"/>
                </a:solidFill>
                <a:latin typeface="Calibri"/>
              </a:rPr>
              <a:t>Exact duplicate rows</a:t>
            </a:r>
          </a:p>
        </p:txBody>
      </p:sp>
      <p:sp>
        <p:nvSpPr>
          <p:cNvPr id="14" name="TextBox 13"/>
          <p:cNvSpPr txBox="1"/>
          <p:nvPr/>
        </p:nvSpPr>
        <p:spPr>
          <a:xfrm>
            <a:off x="3154680" y="3861053"/>
            <a:ext cx="8442655" cy="537210"/>
          </a:xfrm>
          <a:prstGeom prst="rect">
            <a:avLst/>
          </a:prstGeom>
          <a:noFill/>
        </p:spPr>
        <p:txBody>
          <a:bodyPr wrap="square" lIns="0" rIns="0" tIns="0" bIns="0" anchor="t">
            <a:spAutoFit/>
          </a:bodyPr>
          <a:lstStyle/>
          <a:p>
            <a:pPr algn="l"/>
            <a:r>
              <a:rPr sz="1300" b="0" i="0">
                <a:solidFill>
                  <a:srgbClr val="14324A"/>
                </a:solidFill>
                <a:latin typeface="Calibri"/>
              </a:rPr>
              <a:t>Database rows that are identical in every measured column. 'Normalised' duplicates also match after trimming spaces and case.</a:t>
            </a:r>
          </a:p>
        </p:txBody>
      </p:sp>
      <p:cxnSp>
        <p:nvCxnSpPr>
          <p:cNvPr id="15" name="Connector 14"/>
          <p:cNvCxnSpPr/>
          <p:nvPr/>
        </p:nvCxnSpPr>
        <p:spPr>
          <a:xfrm>
            <a:off x="594360" y="4361688"/>
            <a:ext cx="11002975" cy="0"/>
          </a:xfrm>
          <a:prstGeom prst="line">
            <a:avLst/>
          </a:prstGeom>
          <a:ln w="9525">
            <a:solidFill>
              <a:srgbClr val="D3DCE4"/>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94360" y="4489703"/>
            <a:ext cx="2377440" cy="537210"/>
          </a:xfrm>
          <a:prstGeom prst="rect">
            <a:avLst/>
          </a:prstGeom>
          <a:noFill/>
        </p:spPr>
        <p:txBody>
          <a:bodyPr wrap="square" lIns="0" rIns="0" tIns="0" bIns="0" anchor="t">
            <a:spAutoFit/>
          </a:bodyPr>
          <a:lstStyle/>
          <a:p>
            <a:pPr algn="l"/>
            <a:r>
              <a:rPr sz="1400" b="1" i="0">
                <a:solidFill>
                  <a:srgbClr val="E8772E"/>
                </a:solidFill>
                <a:latin typeface="Calibri"/>
              </a:rPr>
              <a:t>Degraded row</a:t>
            </a:r>
          </a:p>
        </p:txBody>
      </p:sp>
      <p:sp>
        <p:nvSpPr>
          <p:cNvPr id="17" name="TextBox 16"/>
          <p:cNvSpPr txBox="1"/>
          <p:nvPr/>
        </p:nvSpPr>
        <p:spPr>
          <a:xfrm>
            <a:off x="3154680" y="4489703"/>
            <a:ext cx="8442655" cy="537210"/>
          </a:xfrm>
          <a:prstGeom prst="rect">
            <a:avLst/>
          </a:prstGeom>
          <a:noFill/>
        </p:spPr>
        <p:txBody>
          <a:bodyPr wrap="square" lIns="0" rIns="0" tIns="0" bIns="0" anchor="t">
            <a:spAutoFit/>
          </a:bodyPr>
          <a:lstStyle/>
          <a:p>
            <a:pPr algn="l"/>
            <a:r>
              <a:rPr sz="1300" b="0" i="0">
                <a:solidFill>
                  <a:srgbClr val="14324A"/>
                </a:solidFill>
                <a:latin typeface="Calibri"/>
              </a:rPr>
              <a:t>A row whose worst column shows damage: text cut short, a placeholder such as 'N/A' or 'test', an invalid format, stray whitespace or garbled characters.</a:t>
            </a:r>
          </a:p>
        </p:txBody>
      </p:sp>
      <p:cxnSp>
        <p:nvCxnSpPr>
          <p:cNvPr id="18" name="Connector 17"/>
          <p:cNvCxnSpPr/>
          <p:nvPr/>
        </p:nvCxnSpPr>
        <p:spPr>
          <a:xfrm>
            <a:off x="594360" y="4990338"/>
            <a:ext cx="11002975" cy="0"/>
          </a:xfrm>
          <a:prstGeom prst="line">
            <a:avLst/>
          </a:prstGeom>
          <a:ln w="9525">
            <a:solidFill>
              <a:srgbClr val="D3DCE4"/>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94360" y="5118353"/>
            <a:ext cx="2377440" cy="537210"/>
          </a:xfrm>
          <a:prstGeom prst="rect">
            <a:avLst/>
          </a:prstGeom>
          <a:noFill/>
        </p:spPr>
        <p:txBody>
          <a:bodyPr wrap="square" lIns="0" rIns="0" tIns="0" bIns="0" anchor="t">
            <a:spAutoFit/>
          </a:bodyPr>
          <a:lstStyle/>
          <a:p>
            <a:pPr algn="l"/>
            <a:r>
              <a:rPr sz="1400" b="1" i="0">
                <a:solidFill>
                  <a:srgbClr val="E8772E"/>
                </a:solidFill>
                <a:latin typeface="Calibri"/>
              </a:rPr>
              <a:t>Empty required-looking fields</a:t>
            </a:r>
          </a:p>
        </p:txBody>
      </p:sp>
      <p:sp>
        <p:nvSpPr>
          <p:cNvPr id="20" name="TextBox 19"/>
          <p:cNvSpPr txBox="1"/>
          <p:nvPr/>
        </p:nvSpPr>
        <p:spPr>
          <a:xfrm>
            <a:off x="3154680" y="5118353"/>
            <a:ext cx="8442655" cy="537210"/>
          </a:xfrm>
          <a:prstGeom prst="rect">
            <a:avLst/>
          </a:prstGeom>
          <a:noFill/>
        </p:spPr>
        <p:txBody>
          <a:bodyPr wrap="square" lIns="0" rIns="0" tIns="0" bIns="0" anchor="t">
            <a:spAutoFit/>
          </a:bodyPr>
          <a:lstStyle/>
          <a:p>
            <a:pPr algn="l"/>
            <a:r>
              <a:rPr sz="1300" b="0" i="0">
                <a:solidFill>
                  <a:srgbClr val="14324A"/>
                </a:solidFill>
                <a:latin typeface="Calibri"/>
              </a:rPr>
              <a:t>Blank values in columns whose name or pattern suggests they should always be filled (for example an identifier or a date). The database may not formally require them; the census flags them so an owner can decide.</a:t>
            </a:r>
          </a:p>
        </p:txBody>
      </p:sp>
      <p:cxnSp>
        <p:nvCxnSpPr>
          <p:cNvPr id="21" name="Connector 20"/>
          <p:cNvCxnSpPr/>
          <p:nvPr/>
        </p:nvCxnSpPr>
        <p:spPr>
          <a:xfrm>
            <a:off x="594360" y="5618988"/>
            <a:ext cx="11002975" cy="0"/>
          </a:xfrm>
          <a:prstGeom prst="line">
            <a:avLst/>
          </a:prstGeom>
          <a:ln w="9525">
            <a:solidFill>
              <a:srgbClr val="D3DCE4"/>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70879A"/>
                </a:solidFill>
                <a:latin typeface="Calibri"/>
              </a:rPr>
              <a:t>EI-eij-1b359b3cbd2e</a:t>
            </a:r>
          </a:p>
        </p:txBody>
      </p:sp>
      <p:sp>
        <p:nvSpPr>
          <p:cNvPr id="23" name="TextBox 22"/>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70879A"/>
                </a:solidFill>
                <a:latin typeface="Calibri"/>
              </a:rPr>
              <a:t>Tenant confidential</a:t>
            </a:r>
          </a:p>
        </p:txBody>
      </p:sp>
      <p:sp>
        <p:nvSpPr>
          <p:cNvPr id="24" name="TextBox 23"/>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70879A"/>
                </a:solidFill>
                <a:latin typeface="Courier New"/>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70879A"/>
                </a:solidFill>
                <a:latin typeface="Calibri"/>
              </a:rPr>
              <a:t>PLAIN ENGLISH</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4324A"/>
                </a:solidFill>
                <a:latin typeface="Cambria"/>
              </a:rPr>
              <a:t>What the terms in this pack mean</a:t>
            </a:r>
          </a:p>
        </p:txBody>
      </p:sp>
      <p:sp>
        <p:nvSpPr>
          <p:cNvPr id="4" name="TextBox 3"/>
          <p:cNvSpPr txBox="1"/>
          <p:nvPr/>
        </p:nvSpPr>
        <p:spPr>
          <a:xfrm>
            <a:off x="594360" y="1975104"/>
            <a:ext cx="2377440" cy="537210"/>
          </a:xfrm>
          <a:prstGeom prst="rect">
            <a:avLst/>
          </a:prstGeom>
          <a:noFill/>
        </p:spPr>
        <p:txBody>
          <a:bodyPr wrap="square" lIns="0" rIns="0" tIns="0" bIns="0" anchor="t">
            <a:spAutoFit/>
          </a:bodyPr>
          <a:lstStyle/>
          <a:p>
            <a:pPr algn="l"/>
            <a:r>
              <a:rPr sz="1400" b="1" i="0">
                <a:solidFill>
                  <a:srgbClr val="E8772E"/>
                </a:solidFill>
                <a:latin typeface="Calibri"/>
              </a:rPr>
              <a:t>Dead column</a:t>
            </a:r>
          </a:p>
        </p:txBody>
      </p:sp>
      <p:sp>
        <p:nvSpPr>
          <p:cNvPr id="5" name="TextBox 4"/>
          <p:cNvSpPr txBox="1"/>
          <p:nvPr/>
        </p:nvSpPr>
        <p:spPr>
          <a:xfrm>
            <a:off x="3154680" y="1975104"/>
            <a:ext cx="8442655" cy="537210"/>
          </a:xfrm>
          <a:prstGeom prst="rect">
            <a:avLst/>
          </a:prstGeom>
          <a:noFill/>
        </p:spPr>
        <p:txBody>
          <a:bodyPr wrap="square" lIns="0" rIns="0" tIns="0" bIns="0" anchor="t">
            <a:spAutoFit/>
          </a:bodyPr>
          <a:lstStyle/>
          <a:p>
            <a:pPr algn="l"/>
            <a:r>
              <a:rPr sz="1300" b="0" i="0">
                <a:solidFill>
                  <a:srgbClr val="14324A"/>
                </a:solidFill>
                <a:latin typeface="Calibri"/>
              </a:rPr>
              <a:t>A column that is empty on practically every row: schema carried without data.</a:t>
            </a:r>
          </a:p>
        </p:txBody>
      </p:sp>
      <p:cxnSp>
        <p:nvCxnSpPr>
          <p:cNvPr id="6" name="Connector 5"/>
          <p:cNvCxnSpPr/>
          <p:nvPr/>
        </p:nvCxnSpPr>
        <p:spPr>
          <a:xfrm>
            <a:off x="594360" y="2475738"/>
            <a:ext cx="11002975" cy="0"/>
          </a:xfrm>
          <a:prstGeom prst="line">
            <a:avLst/>
          </a:prstGeom>
          <a:ln w="9525">
            <a:solidFill>
              <a:srgbClr val="D3DCE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2603754"/>
            <a:ext cx="2377440" cy="537210"/>
          </a:xfrm>
          <a:prstGeom prst="rect">
            <a:avLst/>
          </a:prstGeom>
          <a:noFill/>
        </p:spPr>
        <p:txBody>
          <a:bodyPr wrap="square" lIns="0" rIns="0" tIns="0" bIns="0" anchor="t">
            <a:spAutoFit/>
          </a:bodyPr>
          <a:lstStyle/>
          <a:p>
            <a:pPr algn="l"/>
            <a:r>
              <a:rPr sz="1400" b="1" i="0">
                <a:solidFill>
                  <a:srgbClr val="E8772E"/>
                </a:solidFill>
                <a:latin typeface="Calibri"/>
              </a:rPr>
              <a:t>Personal-data marker</a:t>
            </a:r>
          </a:p>
        </p:txBody>
      </p:sp>
      <p:sp>
        <p:nvSpPr>
          <p:cNvPr id="8" name="TextBox 7"/>
          <p:cNvSpPr txBox="1"/>
          <p:nvPr/>
        </p:nvSpPr>
        <p:spPr>
          <a:xfrm>
            <a:off x="3154680" y="2603754"/>
            <a:ext cx="8442655" cy="537210"/>
          </a:xfrm>
          <a:prstGeom prst="rect">
            <a:avLst/>
          </a:prstGeom>
          <a:noFill/>
        </p:spPr>
        <p:txBody>
          <a:bodyPr wrap="square" lIns="0" rIns="0" tIns="0" bIns="0" anchor="t">
            <a:spAutoFit/>
          </a:bodyPr>
          <a:lstStyle/>
          <a:p>
            <a:pPr algn="l"/>
            <a:r>
              <a:rPr sz="1300" b="0" i="0">
                <a:solidFill>
                  <a:srgbClr val="14324A"/>
                </a:solidFill>
                <a:latin typeface="Calibri"/>
              </a:rPr>
              <a:t>A sampled value that looks like an email, phone number, national ID or similar. It is a condition of the data, not a judgement about rights — the owner has declared all rights established.</a:t>
            </a:r>
          </a:p>
        </p:txBody>
      </p:sp>
      <p:cxnSp>
        <p:nvCxnSpPr>
          <p:cNvPr id="9" name="Connector 8"/>
          <p:cNvCxnSpPr/>
          <p:nvPr/>
        </p:nvCxnSpPr>
        <p:spPr>
          <a:xfrm>
            <a:off x="594360" y="3104388"/>
            <a:ext cx="11002975" cy="0"/>
          </a:xfrm>
          <a:prstGeom prst="line">
            <a:avLst/>
          </a:prstGeom>
          <a:ln w="9525">
            <a:solidFill>
              <a:srgbClr val="D3DCE4"/>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94360" y="3232404"/>
            <a:ext cx="2377440" cy="537210"/>
          </a:xfrm>
          <a:prstGeom prst="rect">
            <a:avLst/>
          </a:prstGeom>
          <a:noFill/>
        </p:spPr>
        <p:txBody>
          <a:bodyPr wrap="square" lIns="0" rIns="0" tIns="0" bIns="0" anchor="t">
            <a:spAutoFit/>
          </a:bodyPr>
          <a:lstStyle/>
          <a:p>
            <a:pPr algn="l"/>
            <a:r>
              <a:rPr sz="1400" b="1" i="0">
                <a:solidFill>
                  <a:srgbClr val="E8772E"/>
                </a:solidFill>
                <a:latin typeface="Calibri"/>
              </a:rPr>
              <a:t>Archive-class storage</a:t>
            </a:r>
          </a:p>
        </p:txBody>
      </p:sp>
      <p:sp>
        <p:nvSpPr>
          <p:cNvPr id="11" name="TextBox 10"/>
          <p:cNvSpPr txBox="1"/>
          <p:nvPr/>
        </p:nvSpPr>
        <p:spPr>
          <a:xfrm>
            <a:off x="3154680" y="3232404"/>
            <a:ext cx="8442655" cy="537210"/>
          </a:xfrm>
          <a:prstGeom prst="rect">
            <a:avLst/>
          </a:prstGeom>
          <a:noFill/>
        </p:spPr>
        <p:txBody>
          <a:bodyPr wrap="square" lIns="0" rIns="0" tIns="0" bIns="0" anchor="t">
            <a:spAutoFit/>
          </a:bodyPr>
          <a:lstStyle/>
          <a:p>
            <a:pPr algn="l"/>
            <a:r>
              <a:rPr sz="1300" b="0" i="0">
                <a:solidFill>
                  <a:srgbClr val="14324A"/>
                </a:solidFill>
                <a:latin typeface="Calibri"/>
              </a:rPr>
              <a:t>A cheaper storage tier for data that is kept but rarely opened. Retrieval is slower and carries its own fee, which is why the saving is stated as an upper bound.</a:t>
            </a:r>
          </a:p>
        </p:txBody>
      </p:sp>
      <p:cxnSp>
        <p:nvCxnSpPr>
          <p:cNvPr id="12" name="Connector 11"/>
          <p:cNvCxnSpPr/>
          <p:nvPr/>
        </p:nvCxnSpPr>
        <p:spPr>
          <a:xfrm>
            <a:off x="594360" y="3733037"/>
            <a:ext cx="11002975" cy="0"/>
          </a:xfrm>
          <a:prstGeom prst="line">
            <a:avLst/>
          </a:prstGeom>
          <a:ln w="9525">
            <a:solidFill>
              <a:srgbClr val="D3DCE4"/>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94360" y="3861053"/>
            <a:ext cx="2377440" cy="537210"/>
          </a:xfrm>
          <a:prstGeom prst="rect">
            <a:avLst/>
          </a:prstGeom>
          <a:noFill/>
        </p:spPr>
        <p:txBody>
          <a:bodyPr wrap="square" lIns="0" rIns="0" tIns="0" bIns="0" anchor="t">
            <a:spAutoFit/>
          </a:bodyPr>
          <a:lstStyle/>
          <a:p>
            <a:pPr algn="l"/>
            <a:r>
              <a:rPr sz="1400" b="1" i="0">
                <a:solidFill>
                  <a:srgbClr val="E8772E"/>
                </a:solidFill>
                <a:latin typeface="Calibri"/>
              </a:rPr>
              <a:t>Proposed destination</a:t>
            </a:r>
          </a:p>
        </p:txBody>
      </p:sp>
      <p:sp>
        <p:nvSpPr>
          <p:cNvPr id="14" name="TextBox 13"/>
          <p:cNvSpPr txBox="1"/>
          <p:nvPr/>
        </p:nvSpPr>
        <p:spPr>
          <a:xfrm>
            <a:off x="3154680" y="3861053"/>
            <a:ext cx="8442655" cy="537210"/>
          </a:xfrm>
          <a:prstGeom prst="rect">
            <a:avLst/>
          </a:prstGeom>
          <a:noFill/>
        </p:spPr>
        <p:txBody>
          <a:bodyPr wrap="square" lIns="0" rIns="0" tIns="0" bIns="0" anchor="t">
            <a:spAutoFit/>
          </a:bodyPr>
          <a:lstStyle/>
          <a:p>
            <a:pPr algn="l"/>
            <a:r>
              <a:rPr sz="1300" b="0" i="0">
                <a:solidFill>
                  <a:srgbClr val="14324A"/>
                </a:solidFill>
                <a:latin typeface="Calibri"/>
              </a:rPr>
              <a:t>Where this pack suggests data should live or how it should be tiered. Every destination here is a proposal for the executive to approve; this pack moved and deleted nothing.</a:t>
            </a:r>
          </a:p>
        </p:txBody>
      </p:sp>
      <p:cxnSp>
        <p:nvCxnSpPr>
          <p:cNvPr id="15" name="Connector 14"/>
          <p:cNvCxnSpPr/>
          <p:nvPr/>
        </p:nvCxnSpPr>
        <p:spPr>
          <a:xfrm>
            <a:off x="594360" y="4361688"/>
            <a:ext cx="11002975" cy="0"/>
          </a:xfrm>
          <a:prstGeom prst="line">
            <a:avLst/>
          </a:prstGeom>
          <a:ln w="9525">
            <a:solidFill>
              <a:srgbClr val="D3DCE4"/>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94360" y="4489703"/>
            <a:ext cx="2377440" cy="537210"/>
          </a:xfrm>
          <a:prstGeom prst="rect">
            <a:avLst/>
          </a:prstGeom>
          <a:noFill/>
        </p:spPr>
        <p:txBody>
          <a:bodyPr wrap="square" lIns="0" rIns="0" tIns="0" bIns="0" anchor="t">
            <a:spAutoFit/>
          </a:bodyPr>
          <a:lstStyle/>
          <a:p>
            <a:pPr algn="l"/>
            <a:r>
              <a:rPr sz="1400" b="1" i="0">
                <a:solidFill>
                  <a:srgbClr val="E8772E"/>
                </a:solidFill>
                <a:latin typeface="Calibri"/>
              </a:rPr>
              <a:t>Speech hours (estimate)</a:t>
            </a:r>
          </a:p>
        </p:txBody>
      </p:sp>
      <p:sp>
        <p:nvSpPr>
          <p:cNvPr id="17" name="TextBox 16"/>
          <p:cNvSpPr txBox="1"/>
          <p:nvPr/>
        </p:nvSpPr>
        <p:spPr>
          <a:xfrm>
            <a:off x="3154680" y="4489703"/>
            <a:ext cx="8442655" cy="537210"/>
          </a:xfrm>
          <a:prstGeom prst="rect">
            <a:avLst/>
          </a:prstGeom>
          <a:noFill/>
        </p:spPr>
        <p:txBody>
          <a:bodyPr wrap="square" lIns="0" rIns="0" tIns="0" bIns="0" anchor="t">
            <a:spAutoFit/>
          </a:bodyPr>
          <a:lstStyle/>
          <a:p>
            <a:pPr algn="l"/>
            <a:r>
              <a:rPr sz="1300" b="0" i="0">
                <a:solidFill>
                  <a:srgbClr val="14324A"/>
                </a:solidFill>
                <a:latin typeface="Calibri"/>
              </a:rPr>
              <a:t>Recorded hours multiplied by the share of two-second windows the admitted music detector did not call music. Silence is set aside first.</a:t>
            </a:r>
          </a:p>
        </p:txBody>
      </p:sp>
      <p:cxnSp>
        <p:nvCxnSpPr>
          <p:cNvPr id="18" name="Connector 17"/>
          <p:cNvCxnSpPr/>
          <p:nvPr/>
        </p:nvCxnSpPr>
        <p:spPr>
          <a:xfrm>
            <a:off x="594360" y="4990338"/>
            <a:ext cx="11002975" cy="0"/>
          </a:xfrm>
          <a:prstGeom prst="line">
            <a:avLst/>
          </a:prstGeom>
          <a:ln w="9525">
            <a:solidFill>
              <a:srgbClr val="D3DCE4"/>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94360" y="5118353"/>
            <a:ext cx="2377440" cy="537210"/>
          </a:xfrm>
          <a:prstGeom prst="rect">
            <a:avLst/>
          </a:prstGeom>
          <a:noFill/>
        </p:spPr>
        <p:txBody>
          <a:bodyPr wrap="square" lIns="0" rIns="0" tIns="0" bIns="0" anchor="t">
            <a:spAutoFit/>
          </a:bodyPr>
          <a:lstStyle/>
          <a:p>
            <a:pPr algn="l"/>
            <a:r>
              <a:rPr sz="1400" b="1" i="0">
                <a:solidFill>
                  <a:srgbClr val="E8772E"/>
                </a:solidFill>
                <a:latin typeface="Calibri"/>
              </a:rPr>
              <a:t>Agrees with folder</a:t>
            </a:r>
          </a:p>
        </p:txBody>
      </p:sp>
      <p:sp>
        <p:nvSpPr>
          <p:cNvPr id="20" name="TextBox 19"/>
          <p:cNvSpPr txBox="1"/>
          <p:nvPr/>
        </p:nvSpPr>
        <p:spPr>
          <a:xfrm>
            <a:off x="3154680" y="5118353"/>
            <a:ext cx="8442655" cy="537210"/>
          </a:xfrm>
          <a:prstGeom prst="rect">
            <a:avLst/>
          </a:prstGeom>
          <a:noFill/>
        </p:spPr>
        <p:txBody>
          <a:bodyPr wrap="square" lIns="0" rIns="0" tIns="0" bIns="0" anchor="t">
            <a:spAutoFit/>
          </a:bodyPr>
          <a:lstStyle/>
          <a:p>
            <a:pPr algn="l"/>
            <a:r>
              <a:rPr sz="1300" b="0" i="0">
                <a:solidFill>
                  <a:srgbClr val="14324A"/>
                </a:solidFill>
                <a:latin typeface="Calibri"/>
              </a:rPr>
              <a:t>The share of labelled windows (or transcript passages) where the model's language label matched the folder the recording was filed under. It is a model reading, not a human verification.</a:t>
            </a:r>
          </a:p>
        </p:txBody>
      </p:sp>
      <p:cxnSp>
        <p:nvCxnSpPr>
          <p:cNvPr id="21" name="Connector 20"/>
          <p:cNvCxnSpPr/>
          <p:nvPr/>
        </p:nvCxnSpPr>
        <p:spPr>
          <a:xfrm>
            <a:off x="594360" y="5618988"/>
            <a:ext cx="11002975" cy="0"/>
          </a:xfrm>
          <a:prstGeom prst="line">
            <a:avLst/>
          </a:prstGeom>
          <a:ln w="9525">
            <a:solidFill>
              <a:srgbClr val="D3DCE4"/>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70879A"/>
                </a:solidFill>
                <a:latin typeface="Calibri"/>
              </a:rPr>
              <a:t>EI-eij-1b359b3cbd2e</a:t>
            </a:r>
          </a:p>
        </p:txBody>
      </p:sp>
      <p:sp>
        <p:nvSpPr>
          <p:cNvPr id="23" name="TextBox 22"/>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70879A"/>
                </a:solidFill>
                <a:latin typeface="Calibri"/>
              </a:rPr>
              <a:t>Tenant confidential</a:t>
            </a:r>
          </a:p>
        </p:txBody>
      </p:sp>
      <p:sp>
        <p:nvSpPr>
          <p:cNvPr id="24" name="TextBox 23"/>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70879A"/>
                </a:solidFill>
                <a:latin typeface="Courier New"/>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70879A"/>
                </a:solidFill>
                <a:latin typeface="Calibri"/>
              </a:rPr>
              <a:t>PLAIN ENGLISH</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4324A"/>
                </a:solidFill>
                <a:latin typeface="Cambria"/>
              </a:rPr>
              <a:t>What the terms in this pack mean</a:t>
            </a:r>
          </a:p>
        </p:txBody>
      </p:sp>
      <p:sp>
        <p:nvSpPr>
          <p:cNvPr id="4" name="TextBox 3"/>
          <p:cNvSpPr txBox="1"/>
          <p:nvPr/>
        </p:nvSpPr>
        <p:spPr>
          <a:xfrm>
            <a:off x="594360" y="1975104"/>
            <a:ext cx="2377440" cy="1097280"/>
          </a:xfrm>
          <a:prstGeom prst="rect">
            <a:avLst/>
          </a:prstGeom>
          <a:noFill/>
        </p:spPr>
        <p:txBody>
          <a:bodyPr wrap="square" lIns="0" rIns="0" tIns="0" bIns="0" anchor="t">
            <a:spAutoFit/>
          </a:bodyPr>
          <a:lstStyle/>
          <a:p>
            <a:pPr algn="l"/>
            <a:r>
              <a:rPr sz="1400" b="1" i="0">
                <a:solidFill>
                  <a:srgbClr val="E8772E"/>
                </a:solidFill>
                <a:latin typeface="Calibri"/>
              </a:rPr>
              <a:t>Declined to label</a:t>
            </a:r>
          </a:p>
        </p:txBody>
      </p:sp>
      <p:sp>
        <p:nvSpPr>
          <p:cNvPr id="5" name="TextBox 4"/>
          <p:cNvSpPr txBox="1"/>
          <p:nvPr/>
        </p:nvSpPr>
        <p:spPr>
          <a:xfrm>
            <a:off x="3154680" y="1975104"/>
            <a:ext cx="8442655" cy="1097280"/>
          </a:xfrm>
          <a:prstGeom prst="rect">
            <a:avLst/>
          </a:prstGeom>
          <a:noFill/>
        </p:spPr>
        <p:txBody>
          <a:bodyPr wrap="square" lIns="0" rIns="0" tIns="0" bIns="0" anchor="t">
            <a:spAutoFit/>
          </a:bodyPr>
          <a:lstStyle/>
          <a:p>
            <a:pPr algn="l"/>
            <a:r>
              <a:rPr sz="1300" b="0" i="0">
                <a:solidFill>
                  <a:srgbClr val="14324A"/>
                </a:solidFill>
                <a:latin typeface="Calibri"/>
              </a:rPr>
              <a:t>Windows where the language model's confidence fell below its threshold, so it gave no language rather than guess.</a:t>
            </a:r>
          </a:p>
        </p:txBody>
      </p:sp>
      <p:cxnSp>
        <p:nvCxnSpPr>
          <p:cNvPr id="6" name="Connector 5"/>
          <p:cNvCxnSpPr/>
          <p:nvPr/>
        </p:nvCxnSpPr>
        <p:spPr>
          <a:xfrm>
            <a:off x="594360" y="3035808"/>
            <a:ext cx="11002975" cy="0"/>
          </a:xfrm>
          <a:prstGeom prst="line">
            <a:avLst/>
          </a:prstGeom>
          <a:ln w="9525">
            <a:solidFill>
              <a:srgbClr val="D3DCE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3163824"/>
            <a:ext cx="2377440" cy="1097280"/>
          </a:xfrm>
          <a:prstGeom prst="rect">
            <a:avLst/>
          </a:prstGeom>
          <a:noFill/>
        </p:spPr>
        <p:txBody>
          <a:bodyPr wrap="square" lIns="0" rIns="0" tIns="0" bIns="0" anchor="t">
            <a:spAutoFit/>
          </a:bodyPr>
          <a:lstStyle/>
          <a:p>
            <a:pPr algn="l"/>
            <a:r>
              <a:rPr sz="1400" b="1" i="0">
                <a:solidFill>
                  <a:srgbClr val="E8772E"/>
                </a:solidFill>
                <a:latin typeface="Calibri"/>
              </a:rPr>
              <a:t>Scripted day / bulletin hour</a:t>
            </a:r>
          </a:p>
        </p:txBody>
      </p:sp>
      <p:sp>
        <p:nvSpPr>
          <p:cNvPr id="8" name="TextBox 7"/>
          <p:cNvSpPr txBox="1"/>
          <p:nvPr/>
        </p:nvSpPr>
        <p:spPr>
          <a:xfrm>
            <a:off x="3154680" y="3163824"/>
            <a:ext cx="8442655" cy="1097280"/>
          </a:xfrm>
          <a:prstGeom prst="rect">
            <a:avLst/>
          </a:prstGeom>
          <a:noFill/>
        </p:spPr>
        <p:txBody>
          <a:bodyPr wrap="square" lIns="0" rIns="0" tIns="0" bIns="0" anchor="t">
            <a:spAutoFit/>
          </a:bodyPr>
          <a:lstStyle/>
          <a:p>
            <a:pPr algn="l"/>
            <a:r>
              <a:rPr sz="1300" b="0" i="0">
                <a:solidFill>
                  <a:srgbClr val="14324A"/>
                </a:solidFill>
                <a:latin typeface="Calibri"/>
              </a:rPr>
              <a:t>A calendar date on which a station has at least one news script in the archive, and the distinct hour slots scripted that day. The archive does not carry a script for every hour of every day; the tables show exactly which days and hours it does.</a:t>
            </a:r>
          </a:p>
        </p:txBody>
      </p:sp>
      <p:cxnSp>
        <p:nvCxnSpPr>
          <p:cNvPr id="9" name="Connector 8"/>
          <p:cNvCxnSpPr/>
          <p:nvPr/>
        </p:nvCxnSpPr>
        <p:spPr>
          <a:xfrm>
            <a:off x="594360" y="4224528"/>
            <a:ext cx="11002975" cy="0"/>
          </a:xfrm>
          <a:prstGeom prst="line">
            <a:avLst/>
          </a:prstGeom>
          <a:ln w="9525">
            <a:solidFill>
              <a:srgbClr val="D3DCE4"/>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94360" y="4352544"/>
            <a:ext cx="2377440" cy="1097280"/>
          </a:xfrm>
          <a:prstGeom prst="rect">
            <a:avLst/>
          </a:prstGeom>
          <a:noFill/>
        </p:spPr>
        <p:txBody>
          <a:bodyPr wrap="square" lIns="0" rIns="0" tIns="0" bIns="0" anchor="t">
            <a:spAutoFit/>
          </a:bodyPr>
          <a:lstStyle/>
          <a:p>
            <a:pPr algn="l"/>
            <a:r>
              <a:rPr sz="1400" b="1" i="0">
                <a:solidFill>
                  <a:srgbClr val="E8772E"/>
                </a:solidFill>
                <a:latin typeface="Calibri"/>
              </a:rPr>
              <a:t>Receipt</a:t>
            </a:r>
          </a:p>
        </p:txBody>
      </p:sp>
      <p:sp>
        <p:nvSpPr>
          <p:cNvPr id="11" name="TextBox 10"/>
          <p:cNvSpPr txBox="1"/>
          <p:nvPr/>
        </p:nvSpPr>
        <p:spPr>
          <a:xfrm>
            <a:off x="3154680" y="4352544"/>
            <a:ext cx="8442655" cy="1097280"/>
          </a:xfrm>
          <a:prstGeom prst="rect">
            <a:avLst/>
          </a:prstGeom>
          <a:noFill/>
        </p:spPr>
        <p:txBody>
          <a:bodyPr wrap="square" lIns="0" rIns="0" tIns="0" bIns="0" anchor="t">
            <a:spAutoFit/>
          </a:bodyPr>
          <a:lstStyle/>
          <a:p>
            <a:pPr algn="l"/>
            <a:r>
              <a:rPr sz="1300" b="0" i="0">
                <a:solidFill>
                  <a:srgbClr val="14324A"/>
                </a:solidFill>
                <a:latin typeface="Calibri"/>
              </a:rPr>
              <a:t>The retained Akki record (census run, GPU job or database reading) that every figure in this pack is traced to. The appendix lists them; the workbook carries the row-level evidence.</a:t>
            </a:r>
          </a:p>
        </p:txBody>
      </p:sp>
      <p:cxnSp>
        <p:nvCxnSpPr>
          <p:cNvPr id="12" name="Connector 11"/>
          <p:cNvCxnSpPr/>
          <p:nvPr/>
        </p:nvCxnSpPr>
        <p:spPr>
          <a:xfrm>
            <a:off x="594360" y="5413248"/>
            <a:ext cx="11002975" cy="0"/>
          </a:xfrm>
          <a:prstGeom prst="line">
            <a:avLst/>
          </a:prstGeom>
          <a:ln w="9525">
            <a:solidFill>
              <a:srgbClr val="D3DCE4"/>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70879A"/>
                </a:solidFill>
                <a:latin typeface="Calibri"/>
              </a:rPr>
              <a:t>EI-eij-1b359b3cbd2e</a:t>
            </a:r>
          </a:p>
        </p:txBody>
      </p:sp>
      <p:sp>
        <p:nvSpPr>
          <p:cNvPr id="14" name="TextBox 13"/>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70879A"/>
                </a:solidFill>
                <a:latin typeface="Calibri"/>
              </a:rPr>
              <a:t>Tenant confidential</a:t>
            </a:r>
          </a:p>
        </p:txBody>
      </p:sp>
      <p:sp>
        <p:nvSpPr>
          <p:cNvPr id="15" name="TextBox 14"/>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70879A"/>
                </a:solidFill>
                <a:latin typeface="Courier New"/>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1920240"/>
            <a:ext cx="2613355" cy="1885492"/>
          </a:xfrm>
          <a:prstGeom prst="rect">
            <a:avLst/>
          </a:prstGeom>
          <a:noFill/>
        </p:spPr>
        <p:txBody>
          <a:bodyPr wrap="square" lIns="0" rIns="0" tIns="0" bIns="0" anchor="ctr">
            <a:spAutoFit/>
          </a:bodyPr>
          <a:lstStyle/>
          <a:p>
            <a:pPr algn="l"/>
            <a:r>
              <a:rPr sz="9600" b="0" i="0">
                <a:solidFill>
                  <a:srgbClr val="E8772E"/>
                </a:solidFill>
                <a:latin typeface="Courier New"/>
              </a:rPr>
              <a:t>01</a:t>
            </a:r>
          </a:p>
        </p:txBody>
      </p:sp>
      <p:sp>
        <p:nvSpPr>
          <p:cNvPr id="3" name="TextBox 2"/>
          <p:cNvSpPr txBox="1"/>
          <p:nvPr/>
        </p:nvSpPr>
        <p:spPr>
          <a:xfrm>
            <a:off x="3390595" y="2297887"/>
            <a:ext cx="8206740" cy="1508760"/>
          </a:xfrm>
          <a:prstGeom prst="rect">
            <a:avLst/>
          </a:prstGeom>
          <a:noFill/>
        </p:spPr>
        <p:txBody>
          <a:bodyPr wrap="square" lIns="0" rIns="0" tIns="0" bIns="0" anchor="ctr">
            <a:spAutoFit/>
          </a:bodyPr>
          <a:lstStyle/>
          <a:p>
            <a:pPr algn="l"/>
            <a:r>
              <a:rPr sz="3200" b="0" i="0">
                <a:solidFill>
                  <a:srgbClr val="14324A"/>
                </a:solidFill>
                <a:latin typeface="Cambria"/>
              </a:rPr>
              <a:t>Where the estate's bytes sit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70879A"/>
                </a:solidFill>
                <a:latin typeface="Calibri"/>
              </a:rPr>
              <a:t>WHOLE ESTATE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4324A"/>
                </a:solidFill>
                <a:latin typeface="Cambria"/>
              </a:rPr>
              <a:t>The object store holds 74.8% of the estate; databases hold only 0.2%</a:t>
            </a:r>
          </a:p>
        </p:txBody>
      </p:sp>
      <p:graphicFrame>
        <p:nvGraphicFramePr>
          <p:cNvPr id="4" name="Chart 3"/>
          <p:cNvGraphicFramePr>
            <a:graphicFrameLocks noGrp="1"/>
          </p:cNvGraphicFramePr>
          <p:nvPr/>
        </p:nvGraphicFramePr>
        <p:xfrm>
          <a:off x="594360" y="1920240"/>
          <a:ext cx="11002975" cy="3394252"/>
        </p:xfrm>
        <a:graphic>
          <a:graphicData uri="http://schemas.openxmlformats.org/drawingml/2006/chart">
            <c:chart xmlns:c="http://schemas.openxmlformats.org/drawingml/2006/chart" r:id="rId2"/>
          </a:graphicData>
        </a:graphic>
      </p:graphicFrame>
      <p:sp>
        <p:nvSpPr>
          <p:cNvPr id="5" name="TextBox 4"/>
          <p:cNvSpPr txBox="1"/>
          <p:nvPr/>
        </p:nvSpPr>
        <p:spPr>
          <a:xfrm>
            <a:off x="594360" y="5314492"/>
            <a:ext cx="8206740" cy="376732"/>
          </a:xfrm>
          <a:prstGeom prst="rect">
            <a:avLst/>
          </a:prstGeom>
          <a:noFill/>
        </p:spPr>
        <p:txBody>
          <a:bodyPr wrap="square" lIns="0" rIns="0" tIns="0" bIns="0" anchor="b">
            <a:spAutoFit/>
          </a:bodyPr>
          <a:lstStyle/>
          <a:p>
            <a:pPr algn="l"/>
            <a:r>
              <a:rPr sz="1400" b="0" i="1">
                <a:solidFill>
                  <a:srgbClr val="E8772E"/>
                </a:solidFill>
                <a:latin typeface="Calibri"/>
              </a:rPr>
              <a:t>Storage priorities lie in the object store and file shares, 130.3 TiB and 43.6 TiB, against 0.3 TiB in databases.</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70879A"/>
                </a:solidFill>
                <a:latin typeface="Courier New"/>
              </a:rPr>
              <a:t>[measured]  Receipt R01: Estate intelligence census eij-1b359b3cbd2e, digest-verified report (measured 2026-09-29), headline aggregates and per-database measures</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70879A"/>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70879A"/>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70879A"/>
                </a:solidFill>
                <a:latin typeface="Courier New"/>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70879A"/>
                </a:solidFill>
                <a:latin typeface="Calibri"/>
              </a:rPr>
              <a:t>OBJECT STORE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4324A"/>
                </a:solidFill>
                <a:latin typeface="Cambria"/>
              </a:rPr>
              <a:t>One bucket holds 66.2% of the object store, so bucket-level review carries weight</a:t>
            </a:r>
          </a:p>
        </p:txBody>
      </p:sp>
      <p:graphicFrame>
        <p:nvGraphicFramePr>
          <p:cNvPr id="4" name="Chart 3"/>
          <p:cNvGraphicFramePr>
            <a:graphicFrameLocks noGrp="1"/>
          </p:cNvGraphicFramePr>
          <p:nvPr/>
        </p:nvGraphicFramePr>
        <p:xfrm>
          <a:off x="594360" y="1920240"/>
          <a:ext cx="11002975" cy="3394252"/>
        </p:xfrm>
        <a:graphic>
          <a:graphicData uri="http://schemas.openxmlformats.org/drawingml/2006/chart">
            <c:chart xmlns:c="http://schemas.openxmlformats.org/drawingml/2006/chart" r:id="rId2"/>
          </a:graphicData>
        </a:graphic>
      </p:graphicFrame>
      <p:sp>
        <p:nvSpPr>
          <p:cNvPr id="5" name="TextBox 4"/>
          <p:cNvSpPr txBox="1"/>
          <p:nvPr/>
        </p:nvSpPr>
        <p:spPr>
          <a:xfrm>
            <a:off x="594360" y="5314492"/>
            <a:ext cx="8206740" cy="376732"/>
          </a:xfrm>
          <a:prstGeom prst="rect">
            <a:avLst/>
          </a:prstGeom>
          <a:noFill/>
        </p:spPr>
        <p:txBody>
          <a:bodyPr wrap="square" lIns="0" rIns="0" tIns="0" bIns="0" anchor="b">
            <a:spAutoFit/>
          </a:bodyPr>
          <a:lstStyle/>
          <a:p>
            <a:pPr algn="l"/>
            <a:r>
              <a:rPr sz="1400" b="0" i="1">
                <a:solidFill>
                  <a:srgbClr val="E8772E"/>
                </a:solidFill>
                <a:latin typeface="Calibri"/>
              </a:rPr>
              <a:t>The largest bucket holds 86.3 TiB of 130.3 TiB; size alone does not make it cold, redundant or ready to move.</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70879A"/>
                </a:solidFill>
                <a:latin typeface="Courier New"/>
              </a:rPr>
              <a:t>[measured]  Receipt R04: OBS bucket enumeration census run cr-f1415e395361 (22,975,591 objects, 130.3 TiB)</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70879A"/>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70879A"/>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70879A"/>
                </a:solidFill>
                <a:latin typeface="Courier New"/>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70879A"/>
                </a:solidFill>
                <a:latin typeface="Calibri"/>
              </a:rPr>
              <a:t>HOLDINGS</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4324A"/>
                </a:solidFill>
                <a:latin typeface="Cambria"/>
              </a:rPr>
              <a:t>The estate holds 174.3 TiB, and most of it sits outside the databases</a:t>
            </a:r>
          </a:p>
        </p:txBody>
      </p:sp>
      <p:sp>
        <p:nvSpPr>
          <p:cNvPr id="4" name="TextBox 3"/>
          <p:cNvSpPr txBox="1"/>
          <p:nvPr/>
        </p:nvSpPr>
        <p:spPr>
          <a:xfrm>
            <a:off x="594360" y="1920240"/>
            <a:ext cx="640080" cy="942975"/>
          </a:xfrm>
          <a:prstGeom prst="rect">
            <a:avLst/>
          </a:prstGeom>
          <a:noFill/>
        </p:spPr>
        <p:txBody>
          <a:bodyPr wrap="square" lIns="0" rIns="0" tIns="0" bIns="0" anchor="t">
            <a:spAutoFit/>
          </a:bodyPr>
          <a:lstStyle/>
          <a:p>
            <a:pPr algn="l"/>
            <a:r>
              <a:rPr sz="2600" b="0" i="0">
                <a:solidFill>
                  <a:srgbClr val="E8772E"/>
                </a:solidFill>
                <a:latin typeface="Courier New"/>
              </a:rPr>
              <a:t>01</a:t>
            </a:r>
          </a:p>
        </p:txBody>
      </p:sp>
      <p:sp>
        <p:nvSpPr>
          <p:cNvPr id="5" name="TextBox 4"/>
          <p:cNvSpPr txBox="1"/>
          <p:nvPr/>
        </p:nvSpPr>
        <p:spPr>
          <a:xfrm>
            <a:off x="1417320" y="1993392"/>
            <a:ext cx="10180015" cy="851535"/>
          </a:xfrm>
          <a:prstGeom prst="rect">
            <a:avLst/>
          </a:prstGeom>
          <a:noFill/>
        </p:spPr>
        <p:txBody>
          <a:bodyPr wrap="square" lIns="0" rIns="0" tIns="0" bIns="0" anchor="t">
            <a:spAutoFit/>
          </a:bodyPr>
          <a:lstStyle/>
          <a:p>
            <a:pPr algn="l"/>
            <a:r>
              <a:rPr sz="1400" b="0" i="0">
                <a:solidFill>
                  <a:srgbClr val="14324A"/>
                </a:solidFill>
                <a:latin typeface="Calibri"/>
              </a:rPr>
              <a:t>The whole estate holds 174.3 TiB, measured across databases, the object store and file shares.</a:t>
            </a:r>
          </a:p>
        </p:txBody>
      </p:sp>
      <p:cxnSp>
        <p:nvCxnSpPr>
          <p:cNvPr id="6" name="Connector 5"/>
          <p:cNvCxnSpPr/>
          <p:nvPr/>
        </p:nvCxnSpPr>
        <p:spPr>
          <a:xfrm>
            <a:off x="594360" y="2753487"/>
            <a:ext cx="11002975" cy="0"/>
          </a:xfrm>
          <a:prstGeom prst="line">
            <a:avLst/>
          </a:prstGeom>
          <a:ln w="9525">
            <a:solidFill>
              <a:srgbClr val="D3DCE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2863215"/>
            <a:ext cx="640080" cy="942975"/>
          </a:xfrm>
          <a:prstGeom prst="rect">
            <a:avLst/>
          </a:prstGeom>
          <a:noFill/>
        </p:spPr>
        <p:txBody>
          <a:bodyPr wrap="square" lIns="0" rIns="0" tIns="0" bIns="0" anchor="t">
            <a:spAutoFit/>
          </a:bodyPr>
          <a:lstStyle/>
          <a:p>
            <a:pPr algn="l"/>
            <a:r>
              <a:rPr sz="2600" b="0" i="0">
                <a:solidFill>
                  <a:srgbClr val="E8772E"/>
                </a:solidFill>
                <a:latin typeface="Courier New"/>
              </a:rPr>
              <a:t>02</a:t>
            </a:r>
          </a:p>
        </p:txBody>
      </p:sp>
      <p:sp>
        <p:nvSpPr>
          <p:cNvPr id="8" name="TextBox 7"/>
          <p:cNvSpPr txBox="1"/>
          <p:nvPr/>
        </p:nvSpPr>
        <p:spPr>
          <a:xfrm>
            <a:off x="1417320" y="2936367"/>
            <a:ext cx="10180015" cy="851535"/>
          </a:xfrm>
          <a:prstGeom prst="rect">
            <a:avLst/>
          </a:prstGeom>
          <a:noFill/>
        </p:spPr>
        <p:txBody>
          <a:bodyPr wrap="square" lIns="0" rIns="0" tIns="0" bIns="0" anchor="t">
            <a:spAutoFit/>
          </a:bodyPr>
          <a:lstStyle/>
          <a:p>
            <a:pPr algn="l"/>
            <a:r>
              <a:rPr sz="1400" b="0" i="0">
                <a:solidFill>
                  <a:srgbClr val="14324A"/>
                </a:solidFill>
                <a:latin typeface="Calibri"/>
              </a:rPr>
              <a:t>The object store holds 130.3 TiB, which is 74.8% of the estate, and the file shares hold 43.6 TiB, which is 25.0%.</a:t>
            </a:r>
          </a:p>
        </p:txBody>
      </p:sp>
      <p:cxnSp>
        <p:nvCxnSpPr>
          <p:cNvPr id="9" name="Connector 8"/>
          <p:cNvCxnSpPr/>
          <p:nvPr/>
        </p:nvCxnSpPr>
        <p:spPr>
          <a:xfrm>
            <a:off x="594360" y="3696461"/>
            <a:ext cx="11002975" cy="0"/>
          </a:xfrm>
          <a:prstGeom prst="line">
            <a:avLst/>
          </a:prstGeom>
          <a:ln w="9525">
            <a:solidFill>
              <a:srgbClr val="D3DCE4"/>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94360" y="3806189"/>
            <a:ext cx="640080" cy="942975"/>
          </a:xfrm>
          <a:prstGeom prst="rect">
            <a:avLst/>
          </a:prstGeom>
          <a:noFill/>
        </p:spPr>
        <p:txBody>
          <a:bodyPr wrap="square" lIns="0" rIns="0" tIns="0" bIns="0" anchor="t">
            <a:spAutoFit/>
          </a:bodyPr>
          <a:lstStyle/>
          <a:p>
            <a:pPr algn="l"/>
            <a:r>
              <a:rPr sz="2600" b="0" i="0">
                <a:solidFill>
                  <a:srgbClr val="E8772E"/>
                </a:solidFill>
                <a:latin typeface="Courier New"/>
              </a:rPr>
              <a:t>03</a:t>
            </a:r>
          </a:p>
        </p:txBody>
      </p:sp>
      <p:sp>
        <p:nvSpPr>
          <p:cNvPr id="11" name="TextBox 10"/>
          <p:cNvSpPr txBox="1"/>
          <p:nvPr/>
        </p:nvSpPr>
        <p:spPr>
          <a:xfrm>
            <a:off x="1417320" y="3879341"/>
            <a:ext cx="10180015" cy="851535"/>
          </a:xfrm>
          <a:prstGeom prst="rect">
            <a:avLst/>
          </a:prstGeom>
          <a:noFill/>
        </p:spPr>
        <p:txBody>
          <a:bodyPr wrap="square" lIns="0" rIns="0" tIns="0" bIns="0" anchor="t">
            <a:spAutoFit/>
          </a:bodyPr>
          <a:lstStyle/>
          <a:p>
            <a:pPr algn="l"/>
            <a:r>
              <a:rPr sz="1400" b="0" i="0">
                <a:solidFill>
                  <a:srgbClr val="14324A"/>
                </a:solidFill>
                <a:latin typeface="Calibri"/>
              </a:rPr>
              <a:t>Databases hold 0.3 TiB, or 0.2% of the estate, so database tuning cannot be the main cost lever.</a:t>
            </a:r>
          </a:p>
        </p:txBody>
      </p:sp>
      <p:cxnSp>
        <p:nvCxnSpPr>
          <p:cNvPr id="12" name="Connector 11"/>
          <p:cNvCxnSpPr/>
          <p:nvPr/>
        </p:nvCxnSpPr>
        <p:spPr>
          <a:xfrm>
            <a:off x="594360" y="4639437"/>
            <a:ext cx="11002975" cy="0"/>
          </a:xfrm>
          <a:prstGeom prst="line">
            <a:avLst/>
          </a:prstGeom>
          <a:ln w="9525">
            <a:solidFill>
              <a:srgbClr val="D3DCE4"/>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94360" y="4749165"/>
            <a:ext cx="640080" cy="942975"/>
          </a:xfrm>
          <a:prstGeom prst="rect">
            <a:avLst/>
          </a:prstGeom>
          <a:noFill/>
        </p:spPr>
        <p:txBody>
          <a:bodyPr wrap="square" lIns="0" rIns="0" tIns="0" bIns="0" anchor="t">
            <a:spAutoFit/>
          </a:bodyPr>
          <a:lstStyle/>
          <a:p>
            <a:pPr algn="l"/>
            <a:r>
              <a:rPr sz="2600" b="0" i="0">
                <a:solidFill>
                  <a:srgbClr val="E8772E"/>
                </a:solidFill>
                <a:latin typeface="Courier New"/>
              </a:rPr>
              <a:t>04</a:t>
            </a:r>
          </a:p>
        </p:txBody>
      </p:sp>
      <p:sp>
        <p:nvSpPr>
          <p:cNvPr id="14" name="TextBox 13"/>
          <p:cNvSpPr txBox="1"/>
          <p:nvPr/>
        </p:nvSpPr>
        <p:spPr>
          <a:xfrm>
            <a:off x="1417320" y="4822317"/>
            <a:ext cx="10180015" cy="851535"/>
          </a:xfrm>
          <a:prstGeom prst="rect">
            <a:avLst/>
          </a:prstGeom>
          <a:noFill/>
        </p:spPr>
        <p:txBody>
          <a:bodyPr wrap="square" lIns="0" rIns="0" tIns="0" bIns="0" anchor="t">
            <a:spAutoFit/>
          </a:bodyPr>
          <a:lstStyle/>
          <a:p>
            <a:pPr algn="l"/>
            <a:r>
              <a:rPr sz="1400" b="0" i="0">
                <a:solidFill>
                  <a:srgbClr val="14324A"/>
                </a:solidFill>
                <a:latin typeface="Calibri"/>
              </a:rPr>
              <a:t>These are measured holdings, not a fully readable inventory: 40 of 106 buckets could not be listed.</a:t>
            </a:r>
          </a:p>
        </p:txBody>
      </p:sp>
      <p:cxnSp>
        <p:nvCxnSpPr>
          <p:cNvPr id="15" name="Connector 14"/>
          <p:cNvCxnSpPr/>
          <p:nvPr/>
        </p:nvCxnSpPr>
        <p:spPr>
          <a:xfrm>
            <a:off x="594360" y="5582412"/>
            <a:ext cx="11002975" cy="0"/>
          </a:xfrm>
          <a:prstGeom prst="line">
            <a:avLst/>
          </a:prstGeom>
          <a:ln w="9525">
            <a:solidFill>
              <a:srgbClr val="D3DCE4"/>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70879A"/>
                </a:solidFill>
                <a:latin typeface="Calibri"/>
              </a:rPr>
              <a:t>EI-eij-1b359b3cbd2e</a:t>
            </a:r>
          </a:p>
        </p:txBody>
      </p:sp>
      <p:sp>
        <p:nvSpPr>
          <p:cNvPr id="17" name="TextBox 16"/>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70879A"/>
                </a:solidFill>
                <a:latin typeface="Calibri"/>
              </a:rPr>
              <a:t>Tenant confidential</a:t>
            </a:r>
          </a:p>
        </p:txBody>
      </p:sp>
      <p:sp>
        <p:nvSpPr>
          <p:cNvPr id="18" name="TextBox 17"/>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70879A"/>
                </a:solidFill>
                <a:latin typeface="Courier New"/>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1920240"/>
            <a:ext cx="2613355" cy="1885492"/>
          </a:xfrm>
          <a:prstGeom prst="rect">
            <a:avLst/>
          </a:prstGeom>
          <a:noFill/>
        </p:spPr>
        <p:txBody>
          <a:bodyPr wrap="square" lIns="0" rIns="0" tIns="0" bIns="0" anchor="ctr">
            <a:spAutoFit/>
          </a:bodyPr>
          <a:lstStyle/>
          <a:p>
            <a:pPr algn="l"/>
            <a:r>
              <a:rPr sz="9600" b="0" i="0">
                <a:solidFill>
                  <a:srgbClr val="E8772E"/>
                </a:solidFill>
                <a:latin typeface="Courier New"/>
              </a:rPr>
              <a:t>02</a:t>
            </a:r>
          </a:p>
        </p:txBody>
      </p:sp>
      <p:sp>
        <p:nvSpPr>
          <p:cNvPr id="3" name="TextBox 2"/>
          <p:cNvSpPr txBox="1"/>
          <p:nvPr/>
        </p:nvSpPr>
        <p:spPr>
          <a:xfrm>
            <a:off x="3390595" y="2297887"/>
            <a:ext cx="8206740" cy="1508760"/>
          </a:xfrm>
          <a:prstGeom prst="rect">
            <a:avLst/>
          </a:prstGeom>
          <a:noFill/>
        </p:spPr>
        <p:txBody>
          <a:bodyPr wrap="square" lIns="0" rIns="0" tIns="0" bIns="0" anchor="ctr">
            <a:spAutoFit/>
          </a:bodyPr>
          <a:lstStyle/>
          <a:p>
            <a:pPr algn="l"/>
            <a:r>
              <a:rPr sz="3200" b="0" i="0">
                <a:solidFill>
                  <a:srgbClr val="14324A"/>
                </a:solidFill>
                <a:latin typeface="Cambria"/>
              </a:rPr>
              <a:t>Exact sources under review</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70879A"/>
                </a:solidFill>
                <a:latin typeface="Calibri"/>
              </a:rPr>
              <a:t>SOURCES</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4324A"/>
                </a:solidFill>
                <a:latin typeface="Cambria"/>
              </a:rPr>
              <a:t>Cold and duplicate holdings are named bucket by bucket, with proposed destinations only</a:t>
            </a:r>
          </a:p>
        </p:txBody>
      </p:sp>
      <p:sp>
        <p:nvSpPr>
          <p:cNvPr id="4" name="TextBox 3"/>
          <p:cNvSpPr txBox="1"/>
          <p:nvPr/>
        </p:nvSpPr>
        <p:spPr>
          <a:xfrm>
            <a:off x="594360" y="1920240"/>
            <a:ext cx="640080" cy="942975"/>
          </a:xfrm>
          <a:prstGeom prst="rect">
            <a:avLst/>
          </a:prstGeom>
          <a:noFill/>
        </p:spPr>
        <p:txBody>
          <a:bodyPr wrap="square" lIns="0" rIns="0" tIns="0" bIns="0" anchor="t">
            <a:spAutoFit/>
          </a:bodyPr>
          <a:lstStyle/>
          <a:p>
            <a:pPr algn="l"/>
            <a:r>
              <a:rPr sz="2600" b="0" i="0">
                <a:solidFill>
                  <a:srgbClr val="E8772E"/>
                </a:solidFill>
                <a:latin typeface="Courier New"/>
              </a:rPr>
              <a:t>01</a:t>
            </a:r>
          </a:p>
        </p:txBody>
      </p:sp>
      <p:sp>
        <p:nvSpPr>
          <p:cNvPr id="5" name="TextBox 4"/>
          <p:cNvSpPr txBox="1"/>
          <p:nvPr/>
        </p:nvSpPr>
        <p:spPr>
          <a:xfrm>
            <a:off x="1417320" y="1993392"/>
            <a:ext cx="10180015" cy="851535"/>
          </a:xfrm>
          <a:prstGeom prst="rect">
            <a:avLst/>
          </a:prstGeom>
          <a:noFill/>
        </p:spPr>
        <p:txBody>
          <a:bodyPr wrap="square" lIns="0" rIns="0" tIns="0" bIns="0" anchor="t">
            <a:spAutoFit/>
          </a:bodyPr>
          <a:lstStyle/>
          <a:p>
            <a:pPr algn="l"/>
            <a:r>
              <a:rPr sz="1400" b="0" i="0">
                <a:solidFill>
                  <a:srgbClr val="14324A"/>
                </a:solidFill>
                <a:latin typeface="Calibri"/>
              </a:rPr>
              <a:t>41.9 TiB in the object store has not been written for over a year, and 43 buckets have been cold for that long.</a:t>
            </a:r>
          </a:p>
        </p:txBody>
      </p:sp>
      <p:cxnSp>
        <p:nvCxnSpPr>
          <p:cNvPr id="6" name="Connector 5"/>
          <p:cNvCxnSpPr/>
          <p:nvPr/>
        </p:nvCxnSpPr>
        <p:spPr>
          <a:xfrm>
            <a:off x="594360" y="2753487"/>
            <a:ext cx="11002975" cy="0"/>
          </a:xfrm>
          <a:prstGeom prst="line">
            <a:avLst/>
          </a:prstGeom>
          <a:ln w="9525">
            <a:solidFill>
              <a:srgbClr val="D3DCE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2863215"/>
            <a:ext cx="640080" cy="942975"/>
          </a:xfrm>
          <a:prstGeom prst="rect">
            <a:avLst/>
          </a:prstGeom>
          <a:noFill/>
        </p:spPr>
        <p:txBody>
          <a:bodyPr wrap="square" lIns="0" rIns="0" tIns="0" bIns="0" anchor="t">
            <a:spAutoFit/>
          </a:bodyPr>
          <a:lstStyle/>
          <a:p>
            <a:pPr algn="l"/>
            <a:r>
              <a:rPr sz="2600" b="0" i="0">
                <a:solidFill>
                  <a:srgbClr val="E8772E"/>
                </a:solidFill>
                <a:latin typeface="Courier New"/>
              </a:rPr>
              <a:t>02</a:t>
            </a:r>
          </a:p>
        </p:txBody>
      </p:sp>
      <p:sp>
        <p:nvSpPr>
          <p:cNvPr id="8" name="TextBox 7"/>
          <p:cNvSpPr txBox="1"/>
          <p:nvPr/>
        </p:nvSpPr>
        <p:spPr>
          <a:xfrm>
            <a:off x="1417320" y="2936367"/>
            <a:ext cx="10180015" cy="851535"/>
          </a:xfrm>
          <a:prstGeom prst="rect">
            <a:avLst/>
          </a:prstGeom>
          <a:noFill/>
        </p:spPr>
        <p:txBody>
          <a:bodyPr wrap="square" lIns="0" rIns="0" tIns="0" bIns="0" anchor="t">
            <a:spAutoFit/>
          </a:bodyPr>
          <a:lstStyle/>
          <a:p>
            <a:pPr algn="l"/>
            <a:r>
              <a:rPr sz="1400" b="0" i="0">
                <a:solidFill>
                  <a:srgbClr val="14324A"/>
                </a:solidFill>
                <a:latin typeface="Calibri"/>
              </a:rPr>
              <a:t>7.7 TiB are duplicate candidates matched on size and fingerprint only; content hashing must confirm them before any copy goes.</a:t>
            </a:r>
          </a:p>
        </p:txBody>
      </p:sp>
      <p:cxnSp>
        <p:nvCxnSpPr>
          <p:cNvPr id="9" name="Connector 8"/>
          <p:cNvCxnSpPr/>
          <p:nvPr/>
        </p:nvCxnSpPr>
        <p:spPr>
          <a:xfrm>
            <a:off x="594360" y="3696461"/>
            <a:ext cx="11002975" cy="0"/>
          </a:xfrm>
          <a:prstGeom prst="line">
            <a:avLst/>
          </a:prstGeom>
          <a:ln w="9525">
            <a:solidFill>
              <a:srgbClr val="D3DCE4"/>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94360" y="3806189"/>
            <a:ext cx="640080" cy="942975"/>
          </a:xfrm>
          <a:prstGeom prst="rect">
            <a:avLst/>
          </a:prstGeom>
          <a:noFill/>
        </p:spPr>
        <p:txBody>
          <a:bodyPr wrap="square" lIns="0" rIns="0" tIns="0" bIns="0" anchor="t">
            <a:spAutoFit/>
          </a:bodyPr>
          <a:lstStyle/>
          <a:p>
            <a:pPr algn="l"/>
            <a:r>
              <a:rPr sz="2600" b="0" i="0">
                <a:solidFill>
                  <a:srgbClr val="E8772E"/>
                </a:solidFill>
                <a:latin typeface="Courier New"/>
              </a:rPr>
              <a:t>03</a:t>
            </a:r>
          </a:p>
        </p:txBody>
      </p:sp>
      <p:sp>
        <p:nvSpPr>
          <p:cNvPr id="11" name="TextBox 10"/>
          <p:cNvSpPr txBox="1"/>
          <p:nvPr/>
        </p:nvSpPr>
        <p:spPr>
          <a:xfrm>
            <a:off x="1417320" y="3879341"/>
            <a:ext cx="10180015" cy="851535"/>
          </a:xfrm>
          <a:prstGeom prst="rect">
            <a:avLst/>
          </a:prstGeom>
          <a:noFill/>
        </p:spPr>
        <p:txBody>
          <a:bodyPr wrap="square" lIns="0" rIns="0" tIns="0" bIns="0" anchor="t">
            <a:spAutoFit/>
          </a:bodyPr>
          <a:lstStyle/>
          <a:p>
            <a:pPr algn="l"/>
            <a:r>
              <a:rPr sz="1400" b="0" i="0">
                <a:solidFill>
                  <a:srgbClr val="14324A"/>
                </a:solidFill>
                <a:latin typeface="Calibri"/>
              </a:rPr>
              <a:t>The table of buckets under review gives last write, idle days and a proposed action for each; every destination is a proposal.</a:t>
            </a:r>
          </a:p>
        </p:txBody>
      </p:sp>
      <p:cxnSp>
        <p:nvCxnSpPr>
          <p:cNvPr id="12" name="Connector 11"/>
          <p:cNvCxnSpPr/>
          <p:nvPr/>
        </p:nvCxnSpPr>
        <p:spPr>
          <a:xfrm>
            <a:off x="594360" y="4639437"/>
            <a:ext cx="11002975" cy="0"/>
          </a:xfrm>
          <a:prstGeom prst="line">
            <a:avLst/>
          </a:prstGeom>
          <a:ln w="9525">
            <a:solidFill>
              <a:srgbClr val="D3DCE4"/>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94360" y="4749165"/>
            <a:ext cx="640080" cy="942975"/>
          </a:xfrm>
          <a:prstGeom prst="rect">
            <a:avLst/>
          </a:prstGeom>
          <a:noFill/>
        </p:spPr>
        <p:txBody>
          <a:bodyPr wrap="square" lIns="0" rIns="0" tIns="0" bIns="0" anchor="t">
            <a:spAutoFit/>
          </a:bodyPr>
          <a:lstStyle/>
          <a:p>
            <a:pPr algn="l"/>
            <a:r>
              <a:rPr sz="2600" b="0" i="0">
                <a:solidFill>
                  <a:srgbClr val="E8772E"/>
                </a:solidFill>
                <a:latin typeface="Courier New"/>
              </a:rPr>
              <a:t>04</a:t>
            </a:r>
          </a:p>
        </p:txBody>
      </p:sp>
      <p:sp>
        <p:nvSpPr>
          <p:cNvPr id="14" name="TextBox 13"/>
          <p:cNvSpPr txBox="1"/>
          <p:nvPr/>
        </p:nvSpPr>
        <p:spPr>
          <a:xfrm>
            <a:off x="1417320" y="4822317"/>
            <a:ext cx="10180015" cy="851535"/>
          </a:xfrm>
          <a:prstGeom prst="rect">
            <a:avLst/>
          </a:prstGeom>
          <a:noFill/>
        </p:spPr>
        <p:txBody>
          <a:bodyPr wrap="square" lIns="0" rIns="0" tIns="0" bIns="0" anchor="t">
            <a:spAutoFit/>
          </a:bodyPr>
          <a:lstStyle/>
          <a:p>
            <a:pPr algn="l"/>
            <a:r>
              <a:rPr sz="1400" b="0" i="0">
                <a:solidFill>
                  <a:srgbClr val="14324A"/>
                </a:solidFill>
                <a:latin typeface="Calibri"/>
              </a:rPr>
              <a:t>40 buckets returned errors when listed and need reconciling with the provider; the file-share table records sizes and dates, not duplication.</a:t>
            </a:r>
          </a:p>
        </p:txBody>
      </p:sp>
      <p:cxnSp>
        <p:nvCxnSpPr>
          <p:cNvPr id="15" name="Connector 14"/>
          <p:cNvCxnSpPr/>
          <p:nvPr/>
        </p:nvCxnSpPr>
        <p:spPr>
          <a:xfrm>
            <a:off x="594360" y="5582412"/>
            <a:ext cx="11002975" cy="0"/>
          </a:xfrm>
          <a:prstGeom prst="line">
            <a:avLst/>
          </a:prstGeom>
          <a:ln w="9525">
            <a:solidFill>
              <a:srgbClr val="D3DCE4"/>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70879A"/>
                </a:solidFill>
                <a:latin typeface="Calibri"/>
              </a:rPr>
              <a:t>EI-eij-1b359b3cbd2e</a:t>
            </a:r>
          </a:p>
        </p:txBody>
      </p:sp>
      <p:sp>
        <p:nvSpPr>
          <p:cNvPr id="17" name="TextBox 16"/>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70879A"/>
                </a:solidFill>
                <a:latin typeface="Calibri"/>
              </a:rPr>
              <a:t>Tenant confidential</a:t>
            </a:r>
          </a:p>
        </p:txBody>
      </p:sp>
      <p:sp>
        <p:nvSpPr>
          <p:cNvPr id="18" name="TextBox 17"/>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70879A"/>
                </a:solidFill>
                <a:latin typeface="Courier New"/>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70879A"/>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4324A"/>
                </a:solidFill>
                <a:latin typeface="Cambria"/>
              </a:rPr>
              <a:t>Exact object-store buckets under review (largest first)</a:t>
            </a:r>
          </a:p>
        </p:txBody>
      </p:sp>
      <p:graphicFrame>
        <p:nvGraphicFramePr>
          <p:cNvPr id="4" name="Table 3"/>
          <p:cNvGraphicFramePr>
            <a:graphicFrameLocks noGrp="1"/>
          </p:cNvGraphicFramePr>
          <p:nvPr/>
        </p:nvGraphicFramePr>
        <p:xfrm>
          <a:off x="594360" y="1920240"/>
          <a:ext cx="11002973" cy="3017520"/>
        </p:xfrm>
        <a:graphic>
          <a:graphicData uri="http://schemas.openxmlformats.org/drawingml/2006/table">
            <a:tbl>
              <a:tblPr firstRow="1" bandRow="1">
                <a:tableStyleId>{5C22544A-7EE6-4342-B048-85BDC9FD1C3A}</a:tableStyleId>
              </a:tblPr>
              <a:tblGrid>
                <a:gridCol w="1086713"/>
                <a:gridCol w="950874"/>
                <a:gridCol w="950874"/>
                <a:gridCol w="950874"/>
                <a:gridCol w="1358392"/>
                <a:gridCol w="2852623"/>
                <a:gridCol w="2852623"/>
              </a:tblGrid>
              <a:tr h="301752">
                <a:tc>
                  <a:txBody>
                    <a:bodyPr wrap="square"/>
                    <a:lstStyle/>
                    <a:p>
                      <a:pPr algn="l"/>
                      <a:r>
                        <a:rPr sz="1100" b="1">
                          <a:solidFill>
                            <a:srgbClr val="14324A"/>
                          </a:solidFill>
                          <a:latin typeface="Calibri"/>
                        </a:rPr>
                        <a:t>Bucket</a:t>
                      </a:r>
                    </a:p>
                  </a:txBody>
                  <a:tcPr marL="54864" marR="54864" marT="27432" marB="27432">
                    <a:solidFill>
                      <a:srgbClr val="E8EEF3"/>
                    </a:solidFill>
                  </a:tcPr>
                </a:tc>
                <a:tc>
                  <a:txBody>
                    <a:bodyPr wrap="square"/>
                    <a:lstStyle/>
                    <a:p>
                      <a:pPr algn="l"/>
                      <a:r>
                        <a:rPr sz="1100" b="1">
                          <a:solidFill>
                            <a:srgbClr val="14324A"/>
                          </a:solidFill>
                          <a:latin typeface="Calibri"/>
                        </a:rPr>
                        <a:t>Held (TiB)</a:t>
                      </a:r>
                    </a:p>
                  </a:txBody>
                  <a:tcPr marL="54864" marR="54864" marT="27432" marB="27432">
                    <a:solidFill>
                      <a:srgbClr val="E8EEF3"/>
                    </a:solidFill>
                  </a:tcPr>
                </a:tc>
                <a:tc>
                  <a:txBody>
                    <a:bodyPr wrap="square"/>
                    <a:lstStyle/>
                    <a:p>
                      <a:pPr algn="l"/>
                      <a:r>
                        <a:rPr sz="1100" b="1">
                          <a:solidFill>
                            <a:srgbClr val="14324A"/>
                          </a:solidFill>
                          <a:latin typeface="Calibri"/>
                        </a:rPr>
                        <a:t>Last write</a:t>
                      </a:r>
                    </a:p>
                  </a:txBody>
                  <a:tcPr marL="54864" marR="54864" marT="27432" marB="27432">
                    <a:solidFill>
                      <a:srgbClr val="E8EEF3"/>
                    </a:solidFill>
                  </a:tcPr>
                </a:tc>
                <a:tc>
                  <a:txBody>
                    <a:bodyPr wrap="square"/>
                    <a:lstStyle/>
                    <a:p>
                      <a:pPr algn="l"/>
                      <a:r>
                        <a:rPr sz="1100" b="1">
                          <a:solidFill>
                            <a:srgbClr val="14324A"/>
                          </a:solidFill>
                          <a:latin typeface="Calibri"/>
                        </a:rPr>
                        <a:t>Idle days</a:t>
                      </a:r>
                    </a:p>
                  </a:txBody>
                  <a:tcPr marL="54864" marR="54864" marT="27432" marB="27432">
                    <a:solidFill>
                      <a:srgbClr val="E8EEF3"/>
                    </a:solidFill>
                  </a:tcPr>
                </a:tc>
                <a:tc>
                  <a:txBody>
                    <a:bodyPr wrap="square"/>
                    <a:lstStyle/>
                    <a:p>
                      <a:pPr algn="l"/>
                      <a:r>
                        <a:rPr sz="1100" b="1">
                          <a:solidFill>
                            <a:srgbClr val="14324A"/>
                          </a:solidFill>
                          <a:latin typeface="Calibri"/>
                        </a:rPr>
                        <a:t>Duplicate candidates</a:t>
                      </a:r>
                    </a:p>
                  </a:txBody>
                  <a:tcPr marL="54864" marR="54864" marT="27432" marB="27432">
                    <a:solidFill>
                      <a:srgbClr val="E8EEF3"/>
                    </a:solidFill>
                  </a:tcPr>
                </a:tc>
                <a:tc>
                  <a:txBody>
                    <a:bodyPr wrap="square"/>
                    <a:lstStyle/>
                    <a:p>
                      <a:pPr algn="l"/>
                      <a:r>
                        <a:rPr sz="1100" b="1">
                          <a:solidFill>
                            <a:srgbClr val="14324A"/>
                          </a:solidFill>
                          <a:latin typeface="Calibri"/>
                        </a:rPr>
                        <a:t>Classification</a:t>
                      </a:r>
                    </a:p>
                  </a:txBody>
                  <a:tcPr marL="54864" marR="54864" marT="27432" marB="27432">
                    <a:solidFill>
                      <a:srgbClr val="E8EEF3"/>
                    </a:solidFill>
                  </a:tcPr>
                </a:tc>
                <a:tc>
                  <a:txBody>
                    <a:bodyPr wrap="square"/>
                    <a:lstStyle/>
                    <a:p>
                      <a:pPr algn="l"/>
                      <a:r>
                        <a:rPr sz="1100" b="1">
                          <a:solidFill>
                            <a:srgbClr val="14324A"/>
                          </a:solidFill>
                          <a:latin typeface="Calibri"/>
                        </a:rPr>
                        <a:t>Proposed action</a:t>
                      </a:r>
                    </a:p>
                  </a:txBody>
                  <a:tcPr marL="54864" marR="54864" marT="27432" marB="27432">
                    <a:solidFill>
                      <a:srgbClr val="E8EEF3"/>
                    </a:solidFill>
                  </a:tcPr>
                </a:tc>
              </a:tr>
              <a:tr h="301752">
                <a:tc>
                  <a:txBody>
                    <a:bodyPr wrap="square"/>
                    <a:lstStyle/>
                    <a:p>
                      <a:pPr algn="l"/>
                      <a:r>
                        <a:rPr sz="1100" b="0">
                          <a:solidFill>
                            <a:srgbClr val="14324A"/>
                          </a:solidFill>
                          <a:latin typeface="Calibri"/>
                        </a:rPr>
                        <a:t>2024offairrecs</a:t>
                      </a:r>
                    </a:p>
                  </a:txBody>
                  <a:tcPr marL="54864" marR="54864" marT="27432" marB="27432">
                    <a:solidFill>
                      <a:srgbClr val="FFFFFF"/>
                    </a:solidFill>
                  </a:tcPr>
                </a:tc>
                <a:tc>
                  <a:txBody>
                    <a:bodyPr wrap="square"/>
                    <a:lstStyle/>
                    <a:p>
                      <a:pPr algn="r"/>
                      <a:r>
                        <a:rPr sz="1100" b="0">
                          <a:solidFill>
                            <a:srgbClr val="14324A"/>
                          </a:solidFill>
                          <a:latin typeface="Courier New"/>
                        </a:rPr>
                        <a:t>86.3</a:t>
                      </a:r>
                    </a:p>
                  </a:txBody>
                  <a:tcPr marL="54864" marR="54864" marT="27432" marB="27432">
                    <a:solidFill>
                      <a:srgbClr val="FFFFFF"/>
                    </a:solidFill>
                  </a:tcPr>
                </a:tc>
                <a:tc>
                  <a:txBody>
                    <a:bodyPr wrap="square"/>
                    <a:lstStyle/>
                    <a:p>
                      <a:pPr algn="r"/>
                      <a:r>
                        <a:rPr sz="1100" b="0">
                          <a:solidFill>
                            <a:srgbClr val="14324A"/>
                          </a:solidFill>
                          <a:latin typeface="Courier New"/>
                        </a:rPr>
                        <a:t>2026-09-29</a:t>
                      </a:r>
                    </a:p>
                  </a:txBody>
                  <a:tcPr marL="54864" marR="54864" marT="27432" marB="27432">
                    <a:solidFill>
                      <a:srgbClr val="FFFFFF"/>
                    </a:solidFill>
                  </a:tcPr>
                </a:tc>
                <a:tc>
                  <a:txBody>
                    <a:bodyPr wrap="square"/>
                    <a:lstStyle/>
                    <a:p>
                      <a:pPr algn="r"/>
                      <a:r>
                        <a:rPr sz="1100" b="0">
                          <a:solidFill>
                            <a:srgbClr val="14324A"/>
                          </a:solidFill>
                          <a:latin typeface="Courier New"/>
                        </a:rPr>
                        <a:t>0</a:t>
                      </a:r>
                    </a:p>
                  </a:txBody>
                  <a:tcPr marL="54864" marR="54864" marT="27432" marB="27432">
                    <a:solidFill>
                      <a:srgbClr val="FFFFFF"/>
                    </a:solidFill>
                  </a:tcPr>
                </a:tc>
                <a:tc>
                  <a:txBody>
                    <a:bodyPr wrap="square"/>
                    <a:lstStyle/>
                    <a:p>
                      <a:pPr algn="r"/>
                      <a:r>
                        <a:rPr sz="1100" b="0">
                          <a:solidFill>
                            <a:srgbClr val="14324A"/>
                          </a:solidFill>
                          <a:latin typeface="Courier New"/>
                        </a:rPr>
                        <a:t>16,589</a:t>
                      </a:r>
                    </a:p>
                  </a:txBody>
                  <a:tcPr marL="54864" marR="54864" marT="27432" marB="27432">
                    <a:solidFill>
                      <a:srgbClr val="FFFFFF"/>
                    </a:solidFill>
                  </a:tcPr>
                </a:tc>
                <a:tc>
                  <a:txBody>
                    <a:bodyPr wrap="square"/>
                    <a:lstStyle/>
                    <a:p>
                      <a:pPr algn="r"/>
                      <a:r>
                        <a:rPr sz="1100" b="0">
                          <a:solidFill>
                            <a:srgbClr val="14324A"/>
                          </a:solidFill>
                          <a:latin typeface="Courier New"/>
                        </a:rPr>
                        <a:t>active — keep hot; heavy duplicate candidates</a:t>
                      </a:r>
                    </a:p>
                  </a:txBody>
                  <a:tcPr marL="54864" marR="54864" marT="27432" marB="27432">
                    <a:solidFill>
                      <a:srgbClr val="FFFFFF"/>
                    </a:solidFill>
                  </a:tcPr>
                </a:tc>
                <a:tc>
                  <a:txBody>
                    <a:bodyPr wrap="square"/>
                    <a:lstStyle/>
                    <a:p>
                      <a:pPr algn="r"/>
                      <a:r>
                        <a:rPr sz="1100" b="0">
                          <a:solidFill>
                            <a:srgbClr val="14324A"/>
                          </a:solidFill>
                          <a:latin typeface="Courier New"/>
                        </a:rPr>
                        <a:t>hash-confirm duplicate candidates, keep one copy</a:t>
                      </a:r>
                    </a:p>
                  </a:txBody>
                  <a:tcPr marL="54864" marR="54864" marT="27432" marB="27432">
                    <a:solidFill>
                      <a:srgbClr val="FFFFFF"/>
                    </a:solidFill>
                  </a:tcPr>
                </a:tc>
              </a:tr>
              <a:tr h="301752">
                <a:tc>
                  <a:txBody>
                    <a:bodyPr wrap="square"/>
                    <a:lstStyle/>
                    <a:p>
                      <a:pPr algn="l"/>
                      <a:r>
                        <a:rPr sz="1100" b="0">
                          <a:solidFill>
                            <a:srgbClr val="14324A"/>
                          </a:solidFill>
                          <a:latin typeface="Calibri"/>
                        </a:rPr>
                        <a:t>music-bucket-rms</a:t>
                      </a:r>
                    </a:p>
                  </a:txBody>
                  <a:tcPr marL="54864" marR="54864" marT="27432" marB="27432">
                    <a:solidFill>
                      <a:srgbClr val="FFFFFF"/>
                    </a:solidFill>
                  </a:tcPr>
                </a:tc>
                <a:tc>
                  <a:txBody>
                    <a:bodyPr wrap="square"/>
                    <a:lstStyle/>
                    <a:p>
                      <a:pPr algn="r"/>
                      <a:r>
                        <a:rPr sz="1100" b="0">
                          <a:solidFill>
                            <a:srgbClr val="14324A"/>
                          </a:solidFill>
                          <a:latin typeface="Courier New"/>
                        </a:rPr>
                        <a:t>4.93</a:t>
                      </a:r>
                    </a:p>
                  </a:txBody>
                  <a:tcPr marL="54864" marR="54864" marT="27432" marB="27432">
                    <a:solidFill>
                      <a:srgbClr val="FFFFFF"/>
                    </a:solidFill>
                  </a:tcPr>
                </a:tc>
                <a:tc>
                  <a:txBody>
                    <a:bodyPr wrap="square"/>
                    <a:lstStyle/>
                    <a:p>
                      <a:pPr algn="r"/>
                      <a:r>
                        <a:rPr sz="1100" b="0">
                          <a:solidFill>
                            <a:srgbClr val="14324A"/>
                          </a:solidFill>
                          <a:latin typeface="Courier New"/>
                        </a:rPr>
                        <a:t>2024-03-26</a:t>
                      </a:r>
                    </a:p>
                  </a:txBody>
                  <a:tcPr marL="54864" marR="54864" marT="27432" marB="27432">
                    <a:solidFill>
                      <a:srgbClr val="FFFFFF"/>
                    </a:solidFill>
                  </a:tcPr>
                </a:tc>
                <a:tc>
                  <a:txBody>
                    <a:bodyPr wrap="square"/>
                    <a:lstStyle/>
                    <a:p>
                      <a:pPr algn="r"/>
                      <a:r>
                        <a:rPr sz="1100" b="0">
                          <a:solidFill>
                            <a:srgbClr val="14324A"/>
                          </a:solidFill>
                          <a:latin typeface="Courier New"/>
                        </a:rPr>
                        <a:t>916</a:t>
                      </a:r>
                    </a:p>
                  </a:txBody>
                  <a:tcPr marL="54864" marR="54864" marT="27432" marB="27432">
                    <a:solidFill>
                      <a:srgbClr val="FFFFFF"/>
                    </a:solidFill>
                  </a:tcPr>
                </a:tc>
                <a:tc>
                  <a:txBody>
                    <a:bodyPr wrap="square"/>
                    <a:lstStyle/>
                    <a:p>
                      <a:pPr algn="r"/>
                      <a:r>
                        <a:rPr sz="1100" b="0">
                          <a:solidFill>
                            <a:srgbClr val="14324A"/>
                          </a:solidFill>
                          <a:latin typeface="Courier New"/>
                        </a:rPr>
                        <a:t>14,696</a:t>
                      </a:r>
                    </a:p>
                  </a:txBody>
                  <a:tcPr marL="54864" marR="54864" marT="27432" marB="27432">
                    <a:solidFill>
                      <a:srgbClr val="FFFFFF"/>
                    </a:solidFill>
                  </a:tcPr>
                </a:tc>
                <a:tc>
                  <a:txBody>
                    <a:bodyPr wrap="square"/>
                    <a:lstStyle/>
                    <a:p>
                      <a:pPr algn="r"/>
                      <a:r>
                        <a:rPr sz="1100" b="0">
                          <a:solidFill>
                            <a:srgbClr val="14324A"/>
                          </a:solidFill>
                          <a:latin typeface="Courier New"/>
                        </a:rPr>
                        <a:t>cold — archive candidate; heavy duplicate candidates</a:t>
                      </a:r>
                    </a:p>
                  </a:txBody>
                  <a:tcPr marL="54864" marR="54864" marT="27432" marB="27432">
                    <a:solidFill>
                      <a:srgbClr val="FFFFFF"/>
                    </a:solidFill>
                  </a:tcPr>
                </a:tc>
                <a:tc>
                  <a:txBody>
                    <a:bodyPr wrap="square"/>
                    <a:lstStyle/>
                    <a:p>
                      <a:pPr algn="r"/>
                      <a:r>
                        <a:rPr sz="1100" b="0">
                          <a:solidFill>
                            <a:srgbClr val="14324A"/>
                          </a:solidFill>
                          <a:latin typeface="Courier New"/>
                        </a:rPr>
                        <a:t>lifecycle rule Standard → Archive after read-log check</a:t>
                      </a:r>
                    </a:p>
                  </a:txBody>
                  <a:tcPr marL="54864" marR="54864" marT="27432" marB="27432">
                    <a:solidFill>
                      <a:srgbClr val="FFFFFF"/>
                    </a:solidFill>
                  </a:tcPr>
                </a:tc>
              </a:tr>
              <a:tr h="301752">
                <a:tc>
                  <a:txBody>
                    <a:bodyPr wrap="square"/>
                    <a:lstStyle/>
                    <a:p>
                      <a:pPr algn="l"/>
                      <a:r>
                        <a:rPr sz="1100" b="0">
                          <a:solidFill>
                            <a:srgbClr val="14324A"/>
                          </a:solidFill>
                          <a:latin typeface="Calibri"/>
                        </a:rPr>
                        <a:t>na7p43do</a:t>
                      </a:r>
                    </a:p>
                  </a:txBody>
                  <a:tcPr marL="54864" marR="54864" marT="27432" marB="27432">
                    <a:solidFill>
                      <a:srgbClr val="FFFFFF"/>
                    </a:solidFill>
                  </a:tcPr>
                </a:tc>
                <a:tc>
                  <a:txBody>
                    <a:bodyPr wrap="square"/>
                    <a:lstStyle/>
                    <a:p>
                      <a:pPr algn="r"/>
                      <a:r>
                        <a:rPr sz="1100" b="0">
                          <a:solidFill>
                            <a:srgbClr val="14324A"/>
                          </a:solidFill>
                          <a:latin typeface="Courier New"/>
                        </a:rPr>
                        <a:t>4.1</a:t>
                      </a:r>
                    </a:p>
                  </a:txBody>
                  <a:tcPr marL="54864" marR="54864" marT="27432" marB="27432">
                    <a:solidFill>
                      <a:srgbClr val="FFFFFF"/>
                    </a:solidFill>
                  </a:tcPr>
                </a:tc>
                <a:tc>
                  <a:txBody>
                    <a:bodyPr wrap="square"/>
                    <a:lstStyle/>
                    <a:p>
                      <a:pPr algn="r"/>
                      <a:r>
                        <a:rPr sz="1100" b="0">
                          <a:solidFill>
                            <a:srgbClr val="14324A"/>
                          </a:solidFill>
                          <a:latin typeface="Courier New"/>
                        </a:rPr>
                        <a:t>2024-04-04</a:t>
                      </a:r>
                    </a:p>
                  </a:txBody>
                  <a:tcPr marL="54864" marR="54864" marT="27432" marB="27432">
                    <a:solidFill>
                      <a:srgbClr val="FFFFFF"/>
                    </a:solidFill>
                  </a:tcPr>
                </a:tc>
                <a:tc>
                  <a:txBody>
                    <a:bodyPr wrap="square"/>
                    <a:lstStyle/>
                    <a:p>
                      <a:pPr algn="r"/>
                      <a:r>
                        <a:rPr sz="1100" b="0">
                          <a:solidFill>
                            <a:srgbClr val="14324A"/>
                          </a:solidFill>
                          <a:latin typeface="Courier New"/>
                        </a:rPr>
                        <a:t>908</a:t>
                      </a:r>
                    </a:p>
                  </a:txBody>
                  <a:tcPr marL="54864" marR="54864" marT="27432" marB="27432">
                    <a:solidFill>
                      <a:srgbClr val="FFFFFF"/>
                    </a:solidFill>
                  </a:tcPr>
                </a:tc>
                <a:tc>
                  <a:txBody>
                    <a:bodyPr wrap="square"/>
                    <a:lstStyle/>
                    <a:p>
                      <a:pPr algn="r"/>
                      <a:r>
                        <a:rPr sz="1100" b="0">
                          <a:solidFill>
                            <a:srgbClr val="14324A"/>
                          </a:solidFill>
                          <a:latin typeface="Courier New"/>
                        </a:rPr>
                        <a:t>197,528</a:t>
                      </a:r>
                    </a:p>
                  </a:txBody>
                  <a:tcPr marL="54864" marR="54864" marT="27432" marB="27432">
                    <a:solidFill>
                      <a:srgbClr val="FFFFFF"/>
                    </a:solidFill>
                  </a:tcPr>
                </a:tc>
                <a:tc>
                  <a:txBody>
                    <a:bodyPr wrap="square"/>
                    <a:lstStyle/>
                    <a:p>
                      <a:pPr algn="r"/>
                      <a:r>
                        <a:rPr sz="1100" b="0">
                          <a:solidFill>
                            <a:srgbClr val="14324A"/>
                          </a:solidFill>
                          <a:latin typeface="Courier New"/>
                        </a:rPr>
                        <a:t>cold — archive candidate; heavy duplicate candidates</a:t>
                      </a:r>
                    </a:p>
                  </a:txBody>
                  <a:tcPr marL="54864" marR="54864" marT="27432" marB="27432">
                    <a:solidFill>
                      <a:srgbClr val="FFFFFF"/>
                    </a:solidFill>
                  </a:tcPr>
                </a:tc>
                <a:tc>
                  <a:txBody>
                    <a:bodyPr wrap="square"/>
                    <a:lstStyle/>
                    <a:p>
                      <a:pPr algn="r"/>
                      <a:r>
                        <a:rPr sz="1100" b="0">
                          <a:solidFill>
                            <a:srgbClr val="14324A"/>
                          </a:solidFill>
                          <a:latin typeface="Courier New"/>
                        </a:rPr>
                        <a:t>lifecycle rule Standard → Archive after read-log check</a:t>
                      </a:r>
                    </a:p>
                  </a:txBody>
                  <a:tcPr marL="54864" marR="54864" marT="27432" marB="27432">
                    <a:solidFill>
                      <a:srgbClr val="FFFFFF"/>
                    </a:solidFill>
                  </a:tcPr>
                </a:tc>
              </a:tr>
              <a:tr h="301752">
                <a:tc>
                  <a:txBody>
                    <a:bodyPr wrap="square"/>
                    <a:lstStyle/>
                    <a:p>
                      <a:pPr algn="l"/>
                      <a:r>
                        <a:rPr sz="1100" b="0">
                          <a:solidFill>
                            <a:srgbClr val="14324A"/>
                          </a:solidFill>
                          <a:latin typeface="Calibri"/>
                        </a:rPr>
                        <a:t>na7p43js</a:t>
                      </a:r>
                    </a:p>
                  </a:txBody>
                  <a:tcPr marL="54864" marR="54864" marT="27432" marB="27432">
                    <a:solidFill>
                      <a:srgbClr val="FFFFFF"/>
                    </a:solidFill>
                  </a:tcPr>
                </a:tc>
                <a:tc>
                  <a:txBody>
                    <a:bodyPr wrap="square"/>
                    <a:lstStyle/>
                    <a:p>
                      <a:pPr algn="r"/>
                      <a:r>
                        <a:rPr sz="1100" b="0">
                          <a:solidFill>
                            <a:srgbClr val="14324A"/>
                          </a:solidFill>
                          <a:latin typeface="Courier New"/>
                        </a:rPr>
                        <a:t>3.57</a:t>
                      </a:r>
                    </a:p>
                  </a:txBody>
                  <a:tcPr marL="54864" marR="54864" marT="27432" marB="27432">
                    <a:solidFill>
                      <a:srgbClr val="FFFFFF"/>
                    </a:solidFill>
                  </a:tcPr>
                </a:tc>
                <a:tc>
                  <a:txBody>
                    <a:bodyPr wrap="square"/>
                    <a:lstStyle/>
                    <a:p>
                      <a:pPr algn="r"/>
                      <a:r>
                        <a:rPr sz="1100" b="0">
                          <a:solidFill>
                            <a:srgbClr val="14324A"/>
                          </a:solidFill>
                          <a:latin typeface="Courier New"/>
                        </a:rPr>
                        <a:t>2024-04-02</a:t>
                      </a:r>
                    </a:p>
                  </a:txBody>
                  <a:tcPr marL="54864" marR="54864" marT="27432" marB="27432">
                    <a:solidFill>
                      <a:srgbClr val="FFFFFF"/>
                    </a:solidFill>
                  </a:tcPr>
                </a:tc>
                <a:tc>
                  <a:txBody>
                    <a:bodyPr wrap="square"/>
                    <a:lstStyle/>
                    <a:p>
                      <a:pPr algn="r"/>
                      <a:r>
                        <a:rPr sz="1100" b="0">
                          <a:solidFill>
                            <a:srgbClr val="14324A"/>
                          </a:solidFill>
                          <a:latin typeface="Courier New"/>
                        </a:rPr>
                        <a:t>909</a:t>
                      </a:r>
                    </a:p>
                  </a:txBody>
                  <a:tcPr marL="54864" marR="54864" marT="27432" marB="27432">
                    <a:solidFill>
                      <a:srgbClr val="FFFFFF"/>
                    </a:solidFill>
                  </a:tcPr>
                </a:tc>
                <a:tc>
                  <a:txBody>
                    <a:bodyPr wrap="square"/>
                    <a:lstStyle/>
                    <a:p>
                      <a:pPr algn="r"/>
                      <a:r>
                        <a:rPr sz="1100" b="0">
                          <a:solidFill>
                            <a:srgbClr val="14324A"/>
                          </a:solidFill>
                          <a:latin typeface="Courier New"/>
                        </a:rPr>
                        <a:t>27,187</a:t>
                      </a:r>
                    </a:p>
                  </a:txBody>
                  <a:tcPr marL="54864" marR="54864" marT="27432" marB="27432">
                    <a:solidFill>
                      <a:srgbClr val="FFFFFF"/>
                    </a:solidFill>
                  </a:tcPr>
                </a:tc>
                <a:tc>
                  <a:txBody>
                    <a:bodyPr wrap="square"/>
                    <a:lstStyle/>
                    <a:p>
                      <a:pPr algn="r"/>
                      <a:r>
                        <a:rPr sz="1100" b="0">
                          <a:solidFill>
                            <a:srgbClr val="14324A"/>
                          </a:solidFill>
                          <a:latin typeface="Courier New"/>
                        </a:rPr>
                        <a:t>cold — archive candidate; heavy duplicate candidates</a:t>
                      </a:r>
                    </a:p>
                  </a:txBody>
                  <a:tcPr marL="54864" marR="54864" marT="27432" marB="27432">
                    <a:solidFill>
                      <a:srgbClr val="FFFFFF"/>
                    </a:solidFill>
                  </a:tcPr>
                </a:tc>
                <a:tc>
                  <a:txBody>
                    <a:bodyPr wrap="square"/>
                    <a:lstStyle/>
                    <a:p>
                      <a:pPr algn="r"/>
                      <a:r>
                        <a:rPr sz="1100" b="0">
                          <a:solidFill>
                            <a:srgbClr val="14324A"/>
                          </a:solidFill>
                          <a:latin typeface="Courier New"/>
                        </a:rPr>
                        <a:t>lifecycle rule Standard → Archive after read-log check</a:t>
                      </a:r>
                    </a:p>
                  </a:txBody>
                  <a:tcPr marL="54864" marR="54864" marT="27432" marB="27432">
                    <a:solidFill>
                      <a:srgbClr val="FFFFFF"/>
                    </a:solidFill>
                  </a:tcPr>
                </a:tc>
              </a:tr>
              <a:tr h="301752">
                <a:tc>
                  <a:txBody>
                    <a:bodyPr wrap="square"/>
                    <a:lstStyle/>
                    <a:p>
                      <a:pPr algn="l"/>
                      <a:r>
                        <a:rPr sz="1100" b="0">
                          <a:solidFill>
                            <a:srgbClr val="14324A"/>
                          </a:solidFill>
                          <a:latin typeface="Calibri"/>
                        </a:rPr>
                        <a:t>na7p434j</a:t>
                      </a:r>
                    </a:p>
                  </a:txBody>
                  <a:tcPr marL="54864" marR="54864" marT="27432" marB="27432">
                    <a:solidFill>
                      <a:srgbClr val="FFFFFF"/>
                    </a:solidFill>
                  </a:tcPr>
                </a:tc>
                <a:tc>
                  <a:txBody>
                    <a:bodyPr wrap="square"/>
                    <a:lstStyle/>
                    <a:p>
                      <a:pPr algn="r"/>
                      <a:r>
                        <a:rPr sz="1100" b="0">
                          <a:solidFill>
                            <a:srgbClr val="14324A"/>
                          </a:solidFill>
                          <a:latin typeface="Courier New"/>
                        </a:rPr>
                        <a:t>3.5</a:t>
                      </a:r>
                    </a:p>
                  </a:txBody>
                  <a:tcPr marL="54864" marR="54864" marT="27432" marB="27432">
                    <a:solidFill>
                      <a:srgbClr val="FFFFFF"/>
                    </a:solidFill>
                  </a:tcPr>
                </a:tc>
                <a:tc>
                  <a:txBody>
                    <a:bodyPr wrap="square"/>
                    <a:lstStyle/>
                    <a:p>
                      <a:pPr algn="r"/>
                      <a:r>
                        <a:rPr sz="1100" b="0">
                          <a:solidFill>
                            <a:srgbClr val="14324A"/>
                          </a:solidFill>
                          <a:latin typeface="Courier New"/>
                        </a:rPr>
                        <a:t>2024-04-04</a:t>
                      </a:r>
                    </a:p>
                  </a:txBody>
                  <a:tcPr marL="54864" marR="54864" marT="27432" marB="27432">
                    <a:solidFill>
                      <a:srgbClr val="FFFFFF"/>
                    </a:solidFill>
                  </a:tcPr>
                </a:tc>
                <a:tc>
                  <a:txBody>
                    <a:bodyPr wrap="square"/>
                    <a:lstStyle/>
                    <a:p>
                      <a:pPr algn="r"/>
                      <a:r>
                        <a:rPr sz="1100" b="0">
                          <a:solidFill>
                            <a:srgbClr val="14324A"/>
                          </a:solidFill>
                          <a:latin typeface="Courier New"/>
                        </a:rPr>
                        <a:t>908</a:t>
                      </a:r>
                    </a:p>
                  </a:txBody>
                  <a:tcPr marL="54864" marR="54864" marT="27432" marB="27432">
                    <a:solidFill>
                      <a:srgbClr val="FFFFFF"/>
                    </a:solidFill>
                  </a:tcPr>
                </a:tc>
                <a:tc>
                  <a:txBody>
                    <a:bodyPr wrap="square"/>
                    <a:lstStyle/>
                    <a:p>
                      <a:pPr algn="r"/>
                      <a:r>
                        <a:rPr sz="1100" b="0">
                          <a:solidFill>
                            <a:srgbClr val="14324A"/>
                          </a:solidFill>
                          <a:latin typeface="Courier New"/>
                        </a:rPr>
                        <a:t>2,890</a:t>
                      </a:r>
                    </a:p>
                  </a:txBody>
                  <a:tcPr marL="54864" marR="54864" marT="27432" marB="27432">
                    <a:solidFill>
                      <a:srgbClr val="FFFFFF"/>
                    </a:solidFill>
                  </a:tcPr>
                </a:tc>
                <a:tc>
                  <a:txBody>
                    <a:bodyPr wrap="square"/>
                    <a:lstStyle/>
                    <a:p>
                      <a:pPr algn="r"/>
                      <a:r>
                        <a:rPr sz="1100" b="0">
                          <a:solidFill>
                            <a:srgbClr val="14324A"/>
                          </a:solidFill>
                          <a:latin typeface="Courier New"/>
                        </a:rPr>
                        <a:t>cold — archive candidate</a:t>
                      </a:r>
                    </a:p>
                  </a:txBody>
                  <a:tcPr marL="54864" marR="54864" marT="27432" marB="27432">
                    <a:solidFill>
                      <a:srgbClr val="FFFFFF"/>
                    </a:solidFill>
                  </a:tcPr>
                </a:tc>
                <a:tc>
                  <a:txBody>
                    <a:bodyPr wrap="square"/>
                    <a:lstStyle/>
                    <a:p>
                      <a:pPr algn="r"/>
                      <a:r>
                        <a:rPr sz="1100" b="0">
                          <a:solidFill>
                            <a:srgbClr val="14324A"/>
                          </a:solidFill>
                          <a:latin typeface="Courier New"/>
                        </a:rPr>
                        <a:t>lifecycle rule Standard → Archive after read-log check</a:t>
                      </a:r>
                    </a:p>
                  </a:txBody>
                  <a:tcPr marL="54864" marR="54864" marT="27432" marB="27432">
                    <a:solidFill>
                      <a:srgbClr val="FFFFFF"/>
                    </a:solidFill>
                  </a:tcPr>
                </a:tc>
              </a:tr>
              <a:tr h="301752">
                <a:tc>
                  <a:txBody>
                    <a:bodyPr wrap="square"/>
                    <a:lstStyle/>
                    <a:p>
                      <a:pPr algn="l"/>
                      <a:r>
                        <a:rPr sz="1100" b="0">
                          <a:solidFill>
                            <a:srgbClr val="14324A"/>
                          </a:solidFill>
                          <a:latin typeface="Calibri"/>
                        </a:rPr>
                        <a:t>na7p41hj</a:t>
                      </a:r>
                    </a:p>
                  </a:txBody>
                  <a:tcPr marL="54864" marR="54864" marT="27432" marB="27432">
                    <a:solidFill>
                      <a:srgbClr val="FFFFFF"/>
                    </a:solidFill>
                  </a:tcPr>
                </a:tc>
                <a:tc>
                  <a:txBody>
                    <a:bodyPr wrap="square"/>
                    <a:lstStyle/>
                    <a:p>
                      <a:pPr algn="r"/>
                      <a:r>
                        <a:rPr sz="1100" b="0">
                          <a:solidFill>
                            <a:srgbClr val="14324A"/>
                          </a:solidFill>
                          <a:latin typeface="Courier New"/>
                        </a:rPr>
                        <a:t>3.48</a:t>
                      </a:r>
                    </a:p>
                  </a:txBody>
                  <a:tcPr marL="54864" marR="54864" marT="27432" marB="27432">
                    <a:solidFill>
                      <a:srgbClr val="FFFFFF"/>
                    </a:solidFill>
                  </a:tcPr>
                </a:tc>
                <a:tc>
                  <a:txBody>
                    <a:bodyPr wrap="square"/>
                    <a:lstStyle/>
                    <a:p>
                      <a:pPr algn="r"/>
                      <a:r>
                        <a:rPr sz="1100" b="0">
                          <a:solidFill>
                            <a:srgbClr val="14324A"/>
                          </a:solidFill>
                          <a:latin typeface="Courier New"/>
                        </a:rPr>
                        <a:t>2024-03-27</a:t>
                      </a:r>
                    </a:p>
                  </a:txBody>
                  <a:tcPr marL="54864" marR="54864" marT="27432" marB="27432">
                    <a:solidFill>
                      <a:srgbClr val="FFFFFF"/>
                    </a:solidFill>
                  </a:tcPr>
                </a:tc>
                <a:tc>
                  <a:txBody>
                    <a:bodyPr wrap="square"/>
                    <a:lstStyle/>
                    <a:p>
                      <a:pPr algn="r"/>
                      <a:r>
                        <a:rPr sz="1100" b="0">
                          <a:solidFill>
                            <a:srgbClr val="14324A"/>
                          </a:solidFill>
                          <a:latin typeface="Courier New"/>
                        </a:rPr>
                        <a:t>915</a:t>
                      </a:r>
                    </a:p>
                  </a:txBody>
                  <a:tcPr marL="54864" marR="54864" marT="27432" marB="27432">
                    <a:solidFill>
                      <a:srgbClr val="FFFFFF"/>
                    </a:solidFill>
                  </a:tcPr>
                </a:tc>
                <a:tc>
                  <a:txBody>
                    <a:bodyPr wrap="square"/>
                    <a:lstStyle/>
                    <a:p>
                      <a:pPr algn="r"/>
                      <a:r>
                        <a:rPr sz="1100" b="0">
                          <a:solidFill>
                            <a:srgbClr val="14324A"/>
                          </a:solidFill>
                          <a:latin typeface="Courier New"/>
                        </a:rPr>
                        <a:t>1,852</a:t>
                      </a:r>
                    </a:p>
                  </a:txBody>
                  <a:tcPr marL="54864" marR="54864" marT="27432" marB="27432">
                    <a:solidFill>
                      <a:srgbClr val="FFFFFF"/>
                    </a:solidFill>
                  </a:tcPr>
                </a:tc>
                <a:tc>
                  <a:txBody>
                    <a:bodyPr wrap="square"/>
                    <a:lstStyle/>
                    <a:p>
                      <a:pPr algn="r"/>
                      <a:r>
                        <a:rPr sz="1100" b="0">
                          <a:solidFill>
                            <a:srgbClr val="14324A"/>
                          </a:solidFill>
                          <a:latin typeface="Courier New"/>
                        </a:rPr>
                        <a:t>cold — archive candidate</a:t>
                      </a:r>
                    </a:p>
                  </a:txBody>
                  <a:tcPr marL="54864" marR="54864" marT="27432" marB="27432">
                    <a:solidFill>
                      <a:srgbClr val="FFFFFF"/>
                    </a:solidFill>
                  </a:tcPr>
                </a:tc>
                <a:tc>
                  <a:txBody>
                    <a:bodyPr wrap="square"/>
                    <a:lstStyle/>
                    <a:p>
                      <a:pPr algn="r"/>
                      <a:r>
                        <a:rPr sz="1100" b="0">
                          <a:solidFill>
                            <a:srgbClr val="14324A"/>
                          </a:solidFill>
                          <a:latin typeface="Courier New"/>
                        </a:rPr>
                        <a:t>lifecycle rule Standard → Archive after read-log check</a:t>
                      </a:r>
                    </a:p>
                  </a:txBody>
                  <a:tcPr marL="54864" marR="54864" marT="27432" marB="27432">
                    <a:solidFill>
                      <a:srgbClr val="FFFFFF"/>
                    </a:solidFill>
                  </a:tcPr>
                </a:tc>
              </a:tr>
              <a:tr h="301752">
                <a:tc>
                  <a:txBody>
                    <a:bodyPr wrap="square"/>
                    <a:lstStyle/>
                    <a:p>
                      <a:pPr algn="l"/>
                      <a:r>
                        <a:rPr sz="1100" b="0">
                          <a:solidFill>
                            <a:srgbClr val="14324A"/>
                          </a:solidFill>
                          <a:latin typeface="Calibri"/>
                        </a:rPr>
                        <a:t>na7p42xe</a:t>
                      </a:r>
                    </a:p>
                  </a:txBody>
                  <a:tcPr marL="54864" marR="54864" marT="27432" marB="27432">
                    <a:solidFill>
                      <a:srgbClr val="FFFFFF"/>
                    </a:solidFill>
                  </a:tcPr>
                </a:tc>
                <a:tc>
                  <a:txBody>
                    <a:bodyPr wrap="square"/>
                    <a:lstStyle/>
                    <a:p>
                      <a:pPr algn="r"/>
                      <a:r>
                        <a:rPr sz="1100" b="0">
                          <a:solidFill>
                            <a:srgbClr val="14324A"/>
                          </a:solidFill>
                          <a:latin typeface="Courier New"/>
                        </a:rPr>
                        <a:t>3.44</a:t>
                      </a:r>
                    </a:p>
                  </a:txBody>
                  <a:tcPr marL="54864" marR="54864" marT="27432" marB="27432">
                    <a:solidFill>
                      <a:srgbClr val="FFFFFF"/>
                    </a:solidFill>
                  </a:tcPr>
                </a:tc>
                <a:tc>
                  <a:txBody>
                    <a:bodyPr wrap="square"/>
                    <a:lstStyle/>
                    <a:p>
                      <a:pPr algn="r"/>
                      <a:r>
                        <a:rPr sz="1100" b="0">
                          <a:solidFill>
                            <a:srgbClr val="14324A"/>
                          </a:solidFill>
                          <a:latin typeface="Courier New"/>
                        </a:rPr>
                        <a:t>2024-04-04</a:t>
                      </a:r>
                    </a:p>
                  </a:txBody>
                  <a:tcPr marL="54864" marR="54864" marT="27432" marB="27432">
                    <a:solidFill>
                      <a:srgbClr val="FFFFFF"/>
                    </a:solidFill>
                  </a:tcPr>
                </a:tc>
                <a:tc>
                  <a:txBody>
                    <a:bodyPr wrap="square"/>
                    <a:lstStyle/>
                    <a:p>
                      <a:pPr algn="r"/>
                      <a:r>
                        <a:rPr sz="1100" b="0">
                          <a:solidFill>
                            <a:srgbClr val="14324A"/>
                          </a:solidFill>
                          <a:latin typeface="Courier New"/>
                        </a:rPr>
                        <a:t>907</a:t>
                      </a:r>
                    </a:p>
                  </a:txBody>
                  <a:tcPr marL="54864" marR="54864" marT="27432" marB="27432">
                    <a:solidFill>
                      <a:srgbClr val="FFFFFF"/>
                    </a:solidFill>
                  </a:tcPr>
                </a:tc>
                <a:tc>
                  <a:txBody>
                    <a:bodyPr wrap="square"/>
                    <a:lstStyle/>
                    <a:p>
                      <a:pPr algn="r"/>
                      <a:r>
                        <a:rPr sz="1100" b="0">
                          <a:solidFill>
                            <a:srgbClr val="14324A"/>
                          </a:solidFill>
                          <a:latin typeface="Courier New"/>
                        </a:rPr>
                        <a:t>1,120</a:t>
                      </a:r>
                    </a:p>
                  </a:txBody>
                  <a:tcPr marL="54864" marR="54864" marT="27432" marB="27432">
                    <a:solidFill>
                      <a:srgbClr val="FFFFFF"/>
                    </a:solidFill>
                  </a:tcPr>
                </a:tc>
                <a:tc>
                  <a:txBody>
                    <a:bodyPr wrap="square"/>
                    <a:lstStyle/>
                    <a:p>
                      <a:pPr algn="r"/>
                      <a:r>
                        <a:rPr sz="1100" b="0">
                          <a:solidFill>
                            <a:srgbClr val="14324A"/>
                          </a:solidFill>
                          <a:latin typeface="Courier New"/>
                        </a:rPr>
                        <a:t>cold — archive candidate</a:t>
                      </a:r>
                    </a:p>
                  </a:txBody>
                  <a:tcPr marL="54864" marR="54864" marT="27432" marB="27432">
                    <a:solidFill>
                      <a:srgbClr val="FFFFFF"/>
                    </a:solidFill>
                  </a:tcPr>
                </a:tc>
                <a:tc>
                  <a:txBody>
                    <a:bodyPr wrap="square"/>
                    <a:lstStyle/>
                    <a:p>
                      <a:pPr algn="r"/>
                      <a:r>
                        <a:rPr sz="1100" b="0">
                          <a:solidFill>
                            <a:srgbClr val="14324A"/>
                          </a:solidFill>
                          <a:latin typeface="Courier New"/>
                        </a:rPr>
                        <a:t>lifecycle rule Standard → Archive after read-log check</a:t>
                      </a:r>
                    </a:p>
                  </a:txBody>
                  <a:tcPr marL="54864" marR="54864" marT="27432" marB="27432">
                    <a:solidFill>
                      <a:srgbClr val="FFFFFF"/>
                    </a:solidFill>
                  </a:tcPr>
                </a:tc>
              </a:tr>
              <a:tr h="301752">
                <a:tc>
                  <a:txBody>
                    <a:bodyPr wrap="square"/>
                    <a:lstStyle/>
                    <a:p>
                      <a:pPr algn="l"/>
                      <a:r>
                        <a:rPr sz="1100" b="0">
                          <a:solidFill>
                            <a:srgbClr val="14324A"/>
                          </a:solidFill>
                          <a:latin typeface="Calibri"/>
                        </a:rPr>
                        <a:t>na7p42xw</a:t>
                      </a:r>
                    </a:p>
                  </a:txBody>
                  <a:tcPr marL="54864" marR="54864" marT="27432" marB="27432">
                    <a:solidFill>
                      <a:srgbClr val="FFFFFF"/>
                    </a:solidFill>
                  </a:tcPr>
                </a:tc>
                <a:tc>
                  <a:txBody>
                    <a:bodyPr wrap="square"/>
                    <a:lstStyle/>
                    <a:p>
                      <a:pPr algn="r"/>
                      <a:r>
                        <a:rPr sz="1100" b="0">
                          <a:solidFill>
                            <a:srgbClr val="14324A"/>
                          </a:solidFill>
                          <a:latin typeface="Courier New"/>
                        </a:rPr>
                        <a:t>3.4</a:t>
                      </a:r>
                    </a:p>
                  </a:txBody>
                  <a:tcPr marL="54864" marR="54864" marT="27432" marB="27432">
                    <a:solidFill>
                      <a:srgbClr val="FFFFFF"/>
                    </a:solidFill>
                  </a:tcPr>
                </a:tc>
                <a:tc>
                  <a:txBody>
                    <a:bodyPr wrap="square"/>
                    <a:lstStyle/>
                    <a:p>
                      <a:pPr algn="r"/>
                      <a:r>
                        <a:rPr sz="1100" b="0">
                          <a:solidFill>
                            <a:srgbClr val="14324A"/>
                          </a:solidFill>
                          <a:latin typeface="Courier New"/>
                        </a:rPr>
                        <a:t>2024-03-31</a:t>
                      </a:r>
                    </a:p>
                  </a:txBody>
                  <a:tcPr marL="54864" marR="54864" marT="27432" marB="27432">
                    <a:solidFill>
                      <a:srgbClr val="FFFFFF"/>
                    </a:solidFill>
                  </a:tcPr>
                </a:tc>
                <a:tc>
                  <a:txBody>
                    <a:bodyPr wrap="square"/>
                    <a:lstStyle/>
                    <a:p>
                      <a:pPr algn="r"/>
                      <a:r>
                        <a:rPr sz="1100" b="0">
                          <a:solidFill>
                            <a:srgbClr val="14324A"/>
                          </a:solidFill>
                          <a:latin typeface="Courier New"/>
                        </a:rPr>
                        <a:t>911</a:t>
                      </a:r>
                    </a:p>
                  </a:txBody>
                  <a:tcPr marL="54864" marR="54864" marT="27432" marB="27432">
                    <a:solidFill>
                      <a:srgbClr val="FFFFFF"/>
                    </a:solidFill>
                  </a:tcPr>
                </a:tc>
                <a:tc>
                  <a:txBody>
                    <a:bodyPr wrap="square"/>
                    <a:lstStyle/>
                    <a:p>
                      <a:pPr algn="r"/>
                      <a:r>
                        <a:rPr sz="1100" b="0">
                          <a:solidFill>
                            <a:srgbClr val="14324A"/>
                          </a:solidFill>
                          <a:latin typeface="Courier New"/>
                        </a:rPr>
                        <a:t>2,391</a:t>
                      </a:r>
                    </a:p>
                  </a:txBody>
                  <a:tcPr marL="54864" marR="54864" marT="27432" marB="27432">
                    <a:solidFill>
                      <a:srgbClr val="FFFFFF"/>
                    </a:solidFill>
                  </a:tcPr>
                </a:tc>
                <a:tc>
                  <a:txBody>
                    <a:bodyPr wrap="square"/>
                    <a:lstStyle/>
                    <a:p>
                      <a:pPr algn="r"/>
                      <a:r>
                        <a:rPr sz="1100" b="0">
                          <a:solidFill>
                            <a:srgbClr val="14324A"/>
                          </a:solidFill>
                          <a:latin typeface="Courier New"/>
                        </a:rPr>
                        <a:t>cold — archive candidate</a:t>
                      </a:r>
                    </a:p>
                  </a:txBody>
                  <a:tcPr marL="54864" marR="54864" marT="27432" marB="27432">
                    <a:solidFill>
                      <a:srgbClr val="FFFFFF"/>
                    </a:solidFill>
                  </a:tcPr>
                </a:tc>
                <a:tc>
                  <a:txBody>
                    <a:bodyPr wrap="square"/>
                    <a:lstStyle/>
                    <a:p>
                      <a:pPr algn="r"/>
                      <a:r>
                        <a:rPr sz="1100" b="0">
                          <a:solidFill>
                            <a:srgbClr val="14324A"/>
                          </a:solidFill>
                          <a:latin typeface="Courier New"/>
                        </a:rPr>
                        <a:t>lifecycle rule Standard → Archive after read-log check</a:t>
                      </a:r>
                    </a:p>
                  </a:txBody>
                  <a:tcPr marL="54864" marR="54864" marT="27432" marB="27432">
                    <a:solidFill>
                      <a:srgbClr val="FFFFFF"/>
                    </a:solidFill>
                  </a:tcPr>
                </a:tc>
              </a:tr>
              <a:tr h="301752">
                <a:tc>
                  <a:txBody>
                    <a:bodyPr wrap="square"/>
                    <a:lstStyle/>
                    <a:p>
                      <a:pPr algn="l"/>
                      <a:r>
                        <a:rPr sz="1100" b="0">
                          <a:solidFill>
                            <a:srgbClr val="14324A"/>
                          </a:solidFill>
                          <a:latin typeface="Calibri"/>
                        </a:rPr>
                        <a:t>na7p42yg</a:t>
                      </a:r>
                    </a:p>
                  </a:txBody>
                  <a:tcPr marL="54864" marR="54864" marT="27432" marB="27432">
                    <a:solidFill>
                      <a:srgbClr val="FFFFFF"/>
                    </a:solidFill>
                  </a:tcPr>
                </a:tc>
                <a:tc>
                  <a:txBody>
                    <a:bodyPr wrap="square"/>
                    <a:lstStyle/>
                    <a:p>
                      <a:pPr algn="r"/>
                      <a:r>
                        <a:rPr sz="1100" b="0">
                          <a:solidFill>
                            <a:srgbClr val="14324A"/>
                          </a:solidFill>
                          <a:latin typeface="Courier New"/>
                        </a:rPr>
                        <a:t>3.28</a:t>
                      </a:r>
                    </a:p>
                  </a:txBody>
                  <a:tcPr marL="54864" marR="54864" marT="27432" marB="27432">
                    <a:solidFill>
                      <a:srgbClr val="FFFFFF"/>
                    </a:solidFill>
                  </a:tcPr>
                </a:tc>
                <a:tc>
                  <a:txBody>
                    <a:bodyPr wrap="square"/>
                    <a:lstStyle/>
                    <a:p>
                      <a:pPr algn="r"/>
                      <a:r>
                        <a:rPr sz="1100" b="0">
                          <a:solidFill>
                            <a:srgbClr val="14324A"/>
                          </a:solidFill>
                          <a:latin typeface="Courier New"/>
                        </a:rPr>
                        <a:t>2024-03-31</a:t>
                      </a:r>
                    </a:p>
                  </a:txBody>
                  <a:tcPr marL="54864" marR="54864" marT="27432" marB="27432">
                    <a:solidFill>
                      <a:srgbClr val="FFFFFF"/>
                    </a:solidFill>
                  </a:tcPr>
                </a:tc>
                <a:tc>
                  <a:txBody>
                    <a:bodyPr wrap="square"/>
                    <a:lstStyle/>
                    <a:p>
                      <a:pPr algn="r"/>
                      <a:r>
                        <a:rPr sz="1100" b="0">
                          <a:solidFill>
                            <a:srgbClr val="14324A"/>
                          </a:solidFill>
                          <a:latin typeface="Courier New"/>
                        </a:rPr>
                        <a:t>912</a:t>
                      </a:r>
                    </a:p>
                  </a:txBody>
                  <a:tcPr marL="54864" marR="54864" marT="27432" marB="27432">
                    <a:solidFill>
                      <a:srgbClr val="FFFFFF"/>
                    </a:solidFill>
                  </a:tcPr>
                </a:tc>
                <a:tc>
                  <a:txBody>
                    <a:bodyPr wrap="square"/>
                    <a:lstStyle/>
                    <a:p>
                      <a:pPr algn="r"/>
                      <a:r>
                        <a:rPr sz="1100" b="0">
                          <a:solidFill>
                            <a:srgbClr val="14324A"/>
                          </a:solidFill>
                          <a:latin typeface="Courier New"/>
                        </a:rPr>
                        <a:t>4,197</a:t>
                      </a:r>
                    </a:p>
                  </a:txBody>
                  <a:tcPr marL="54864" marR="54864" marT="27432" marB="27432">
                    <a:solidFill>
                      <a:srgbClr val="FFFFFF"/>
                    </a:solidFill>
                  </a:tcPr>
                </a:tc>
                <a:tc>
                  <a:txBody>
                    <a:bodyPr wrap="square"/>
                    <a:lstStyle/>
                    <a:p>
                      <a:pPr algn="r"/>
                      <a:r>
                        <a:rPr sz="1100" b="0">
                          <a:solidFill>
                            <a:srgbClr val="14324A"/>
                          </a:solidFill>
                          <a:latin typeface="Courier New"/>
                        </a:rPr>
                        <a:t>cold — archive candidate</a:t>
                      </a:r>
                    </a:p>
                  </a:txBody>
                  <a:tcPr marL="54864" marR="54864" marT="27432" marB="27432">
                    <a:solidFill>
                      <a:srgbClr val="FFFFFF"/>
                    </a:solidFill>
                  </a:tcPr>
                </a:tc>
                <a:tc>
                  <a:txBody>
                    <a:bodyPr wrap="square"/>
                    <a:lstStyle/>
                    <a:p>
                      <a:pPr algn="r"/>
                      <a:r>
                        <a:rPr sz="1100" b="0">
                          <a:solidFill>
                            <a:srgbClr val="14324A"/>
                          </a:solidFill>
                          <a:latin typeface="Courier New"/>
                        </a:rPr>
                        <a:t>lifecycle rule Standard → Archive after read-log check</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E8772E"/>
                </a:solidFill>
                <a:latin typeface="Calibri"/>
              </a:rPr>
              <a:t>Every bucket named here was enumerated object by object; the classification follows from its last write date and its duplicate-candidate count. Destinations are proposals.</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70879A"/>
                </a:solidFill>
                <a:latin typeface="Courier New"/>
              </a:rPr>
              <a:t>[measured]  Receipt R04: OBS bucket enumeration census run cr-f1415e395361 (22,975,591 objects, 130.3 TiB)</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70879A"/>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70879A"/>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70879A"/>
                </a:solidFill>
                <a:latin typeface="Courier New"/>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70879A"/>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4324A"/>
                </a:solidFill>
                <a:latin typeface="Cambria"/>
              </a:rPr>
              <a:t>Exact object-store buckets under review (largest first)</a:t>
            </a:r>
          </a:p>
        </p:txBody>
      </p:sp>
      <p:graphicFrame>
        <p:nvGraphicFramePr>
          <p:cNvPr id="4" name="Table 3"/>
          <p:cNvGraphicFramePr>
            <a:graphicFrameLocks noGrp="1"/>
          </p:cNvGraphicFramePr>
          <p:nvPr/>
        </p:nvGraphicFramePr>
        <p:xfrm>
          <a:off x="594360" y="1920240"/>
          <a:ext cx="11002971" cy="1536192"/>
        </p:xfrm>
        <a:graphic>
          <a:graphicData uri="http://schemas.openxmlformats.org/drawingml/2006/table">
            <a:tbl>
              <a:tblPr firstRow="1" bandRow="1">
                <a:tableStyleId>{5C22544A-7EE6-4342-B048-85BDC9FD1C3A}</a:tableStyleId>
              </a:tblPr>
              <a:tblGrid>
                <a:gridCol w="962760"/>
                <a:gridCol w="962760"/>
                <a:gridCol w="962760"/>
                <a:gridCol w="962760"/>
                <a:gridCol w="1375371"/>
                <a:gridCol w="2888280"/>
                <a:gridCol w="2888280"/>
              </a:tblGrid>
              <a:tr h="384048">
                <a:tc>
                  <a:txBody>
                    <a:bodyPr wrap="square"/>
                    <a:lstStyle/>
                    <a:p>
                      <a:pPr algn="l"/>
                      <a:r>
                        <a:rPr sz="1200" b="1">
                          <a:solidFill>
                            <a:srgbClr val="14324A"/>
                          </a:solidFill>
                          <a:latin typeface="Calibri"/>
                        </a:rPr>
                        <a:t>Bucket</a:t>
                      </a:r>
                    </a:p>
                  </a:txBody>
                  <a:tcPr marL="54864" marR="54864" marT="27432" marB="27432">
                    <a:solidFill>
                      <a:srgbClr val="E8EEF3"/>
                    </a:solidFill>
                  </a:tcPr>
                </a:tc>
                <a:tc>
                  <a:txBody>
                    <a:bodyPr wrap="square"/>
                    <a:lstStyle/>
                    <a:p>
                      <a:pPr algn="l"/>
                      <a:r>
                        <a:rPr sz="1200" b="1">
                          <a:solidFill>
                            <a:srgbClr val="14324A"/>
                          </a:solidFill>
                          <a:latin typeface="Calibri"/>
                        </a:rPr>
                        <a:t>Held (TiB)</a:t>
                      </a:r>
                    </a:p>
                  </a:txBody>
                  <a:tcPr marL="54864" marR="54864" marT="27432" marB="27432">
                    <a:solidFill>
                      <a:srgbClr val="E8EEF3"/>
                    </a:solidFill>
                  </a:tcPr>
                </a:tc>
                <a:tc>
                  <a:txBody>
                    <a:bodyPr wrap="square"/>
                    <a:lstStyle/>
                    <a:p>
                      <a:pPr algn="l"/>
                      <a:r>
                        <a:rPr sz="1200" b="1">
                          <a:solidFill>
                            <a:srgbClr val="14324A"/>
                          </a:solidFill>
                          <a:latin typeface="Calibri"/>
                        </a:rPr>
                        <a:t>Last write</a:t>
                      </a:r>
                    </a:p>
                  </a:txBody>
                  <a:tcPr marL="54864" marR="54864" marT="27432" marB="27432">
                    <a:solidFill>
                      <a:srgbClr val="E8EEF3"/>
                    </a:solidFill>
                  </a:tcPr>
                </a:tc>
                <a:tc>
                  <a:txBody>
                    <a:bodyPr wrap="square"/>
                    <a:lstStyle/>
                    <a:p>
                      <a:pPr algn="l"/>
                      <a:r>
                        <a:rPr sz="1200" b="1">
                          <a:solidFill>
                            <a:srgbClr val="14324A"/>
                          </a:solidFill>
                          <a:latin typeface="Calibri"/>
                        </a:rPr>
                        <a:t>Idle days</a:t>
                      </a:r>
                    </a:p>
                  </a:txBody>
                  <a:tcPr marL="54864" marR="54864" marT="27432" marB="27432">
                    <a:solidFill>
                      <a:srgbClr val="E8EEF3"/>
                    </a:solidFill>
                  </a:tcPr>
                </a:tc>
                <a:tc>
                  <a:txBody>
                    <a:bodyPr wrap="square"/>
                    <a:lstStyle/>
                    <a:p>
                      <a:pPr algn="l"/>
                      <a:r>
                        <a:rPr sz="1200" b="1">
                          <a:solidFill>
                            <a:srgbClr val="14324A"/>
                          </a:solidFill>
                          <a:latin typeface="Calibri"/>
                        </a:rPr>
                        <a:t>Duplicate candidates</a:t>
                      </a:r>
                    </a:p>
                  </a:txBody>
                  <a:tcPr marL="54864" marR="54864" marT="27432" marB="27432">
                    <a:solidFill>
                      <a:srgbClr val="E8EEF3"/>
                    </a:solidFill>
                  </a:tcPr>
                </a:tc>
                <a:tc>
                  <a:txBody>
                    <a:bodyPr wrap="square"/>
                    <a:lstStyle/>
                    <a:p>
                      <a:pPr algn="l"/>
                      <a:r>
                        <a:rPr sz="1200" b="1">
                          <a:solidFill>
                            <a:srgbClr val="14324A"/>
                          </a:solidFill>
                          <a:latin typeface="Calibri"/>
                        </a:rPr>
                        <a:t>Classification</a:t>
                      </a:r>
                    </a:p>
                  </a:txBody>
                  <a:tcPr marL="54864" marR="54864" marT="27432" marB="27432">
                    <a:solidFill>
                      <a:srgbClr val="E8EEF3"/>
                    </a:solidFill>
                  </a:tcPr>
                </a:tc>
                <a:tc>
                  <a:txBody>
                    <a:bodyPr wrap="square"/>
                    <a:lstStyle/>
                    <a:p>
                      <a:pPr algn="l"/>
                      <a:r>
                        <a:rPr sz="1200" b="1">
                          <a:solidFill>
                            <a:srgbClr val="14324A"/>
                          </a:solidFill>
                          <a:latin typeface="Calibri"/>
                        </a:rPr>
                        <a:t>Proposed action</a:t>
                      </a:r>
                    </a:p>
                  </a:txBody>
                  <a:tcPr marL="54864" marR="54864" marT="27432" marB="27432">
                    <a:solidFill>
                      <a:srgbClr val="E8EEF3"/>
                    </a:solidFill>
                  </a:tcPr>
                </a:tc>
              </a:tr>
              <a:tr h="384048">
                <a:tc>
                  <a:txBody>
                    <a:bodyPr wrap="square"/>
                    <a:lstStyle/>
                    <a:p>
                      <a:pPr algn="l"/>
                      <a:r>
                        <a:rPr sz="1200" b="0">
                          <a:solidFill>
                            <a:srgbClr val="14324A"/>
                          </a:solidFill>
                          <a:latin typeface="Calibri"/>
                        </a:rPr>
                        <a:t>na7p43d3</a:t>
                      </a:r>
                    </a:p>
                  </a:txBody>
                  <a:tcPr marL="54864" marR="54864" marT="27432" marB="27432">
                    <a:solidFill>
                      <a:srgbClr val="FFFFFF"/>
                    </a:solidFill>
                  </a:tcPr>
                </a:tc>
                <a:tc>
                  <a:txBody>
                    <a:bodyPr wrap="square"/>
                    <a:lstStyle/>
                    <a:p>
                      <a:pPr algn="r"/>
                      <a:r>
                        <a:rPr sz="1200" b="0">
                          <a:solidFill>
                            <a:srgbClr val="14324A"/>
                          </a:solidFill>
                          <a:latin typeface="Courier New"/>
                        </a:rPr>
                        <a:t>2.9</a:t>
                      </a:r>
                    </a:p>
                  </a:txBody>
                  <a:tcPr marL="54864" marR="54864" marT="27432" marB="27432">
                    <a:solidFill>
                      <a:srgbClr val="FFFFFF"/>
                    </a:solidFill>
                  </a:tcPr>
                </a:tc>
                <a:tc>
                  <a:txBody>
                    <a:bodyPr wrap="square"/>
                    <a:lstStyle/>
                    <a:p>
                      <a:pPr algn="r"/>
                      <a:r>
                        <a:rPr sz="1200" b="0">
                          <a:solidFill>
                            <a:srgbClr val="14324A"/>
                          </a:solidFill>
                          <a:latin typeface="Courier New"/>
                        </a:rPr>
                        <a:t>2024-03-30</a:t>
                      </a:r>
                    </a:p>
                  </a:txBody>
                  <a:tcPr marL="54864" marR="54864" marT="27432" marB="27432">
                    <a:solidFill>
                      <a:srgbClr val="FFFFFF"/>
                    </a:solidFill>
                  </a:tcPr>
                </a:tc>
                <a:tc>
                  <a:txBody>
                    <a:bodyPr wrap="square"/>
                    <a:lstStyle/>
                    <a:p>
                      <a:pPr algn="r"/>
                      <a:r>
                        <a:rPr sz="1200" b="0">
                          <a:solidFill>
                            <a:srgbClr val="14324A"/>
                          </a:solidFill>
                          <a:latin typeface="Courier New"/>
                        </a:rPr>
                        <a:t>912</a:t>
                      </a:r>
                    </a:p>
                  </a:txBody>
                  <a:tcPr marL="54864" marR="54864" marT="27432" marB="27432">
                    <a:solidFill>
                      <a:srgbClr val="FFFFFF"/>
                    </a:solidFill>
                  </a:tcPr>
                </a:tc>
                <a:tc>
                  <a:txBody>
                    <a:bodyPr wrap="square"/>
                    <a:lstStyle/>
                    <a:p>
                      <a:pPr algn="r"/>
                      <a:r>
                        <a:rPr sz="1200" b="0">
                          <a:solidFill>
                            <a:srgbClr val="14324A"/>
                          </a:solidFill>
                          <a:latin typeface="Courier New"/>
                        </a:rPr>
                        <a:t>1,395</a:t>
                      </a:r>
                    </a:p>
                  </a:txBody>
                  <a:tcPr marL="54864" marR="54864" marT="27432" marB="27432">
                    <a:solidFill>
                      <a:srgbClr val="FFFFFF"/>
                    </a:solidFill>
                  </a:tcPr>
                </a:tc>
                <a:tc>
                  <a:txBody>
                    <a:bodyPr wrap="square"/>
                    <a:lstStyle/>
                    <a:p>
                      <a:pPr algn="r"/>
                      <a:r>
                        <a:rPr sz="1200" b="0">
                          <a:solidFill>
                            <a:srgbClr val="14324A"/>
                          </a:solidFill>
                          <a:latin typeface="Courier New"/>
                        </a:rPr>
                        <a:t>cold — archive candidate</a:t>
                      </a:r>
                    </a:p>
                  </a:txBody>
                  <a:tcPr marL="54864" marR="54864" marT="27432" marB="27432">
                    <a:solidFill>
                      <a:srgbClr val="FFFFFF"/>
                    </a:solidFill>
                  </a:tcPr>
                </a:tc>
                <a:tc>
                  <a:txBody>
                    <a:bodyPr wrap="square"/>
                    <a:lstStyle/>
                    <a:p>
                      <a:pPr algn="r"/>
                      <a:r>
                        <a:rPr sz="1200" b="0">
                          <a:solidFill>
                            <a:srgbClr val="14324A"/>
                          </a:solidFill>
                          <a:latin typeface="Courier New"/>
                        </a:rPr>
                        <a:t>lifecycle rule Standard → Archive after read-log check</a:t>
                      </a:r>
                    </a:p>
                  </a:txBody>
                  <a:tcPr marL="54864" marR="54864" marT="27432" marB="27432">
                    <a:solidFill>
                      <a:srgbClr val="FFFFFF"/>
                    </a:solidFill>
                  </a:tcPr>
                </a:tc>
              </a:tr>
              <a:tr h="384048">
                <a:tc>
                  <a:txBody>
                    <a:bodyPr wrap="square"/>
                    <a:lstStyle/>
                    <a:p>
                      <a:pPr algn="l"/>
                      <a:r>
                        <a:rPr sz="1200" b="0">
                          <a:solidFill>
                            <a:srgbClr val="14324A"/>
                          </a:solidFill>
                          <a:latin typeface="Calibri"/>
                        </a:rPr>
                        <a:t>na7p4oco</a:t>
                      </a:r>
                    </a:p>
                  </a:txBody>
                  <a:tcPr marL="54864" marR="54864" marT="27432" marB="27432">
                    <a:solidFill>
                      <a:srgbClr val="FFFFFF"/>
                    </a:solidFill>
                  </a:tcPr>
                </a:tc>
                <a:tc>
                  <a:txBody>
                    <a:bodyPr wrap="square"/>
                    <a:lstStyle/>
                    <a:p>
                      <a:pPr algn="r"/>
                      <a:r>
                        <a:rPr sz="1200" b="0">
                          <a:solidFill>
                            <a:srgbClr val="14324A"/>
                          </a:solidFill>
                          <a:latin typeface="Courier New"/>
                        </a:rPr>
                        <a:t>2.86</a:t>
                      </a:r>
                    </a:p>
                  </a:txBody>
                  <a:tcPr marL="54864" marR="54864" marT="27432" marB="27432">
                    <a:solidFill>
                      <a:srgbClr val="FFFFFF"/>
                    </a:solidFill>
                  </a:tcPr>
                </a:tc>
                <a:tc>
                  <a:txBody>
                    <a:bodyPr wrap="square"/>
                    <a:lstStyle/>
                    <a:p>
                      <a:pPr algn="r"/>
                      <a:r>
                        <a:rPr sz="1200" b="0">
                          <a:solidFill>
                            <a:srgbClr val="14324A"/>
                          </a:solidFill>
                          <a:latin typeface="Courier New"/>
                        </a:rPr>
                        <a:t>2024-04-03</a:t>
                      </a:r>
                    </a:p>
                  </a:txBody>
                  <a:tcPr marL="54864" marR="54864" marT="27432" marB="27432">
                    <a:solidFill>
                      <a:srgbClr val="FFFFFF"/>
                    </a:solidFill>
                  </a:tcPr>
                </a:tc>
                <a:tc>
                  <a:txBody>
                    <a:bodyPr wrap="square"/>
                    <a:lstStyle/>
                    <a:p>
                      <a:pPr algn="r"/>
                      <a:r>
                        <a:rPr sz="1200" b="0">
                          <a:solidFill>
                            <a:srgbClr val="14324A"/>
                          </a:solidFill>
                          <a:latin typeface="Courier New"/>
                        </a:rPr>
                        <a:t>908</a:t>
                      </a:r>
                    </a:p>
                  </a:txBody>
                  <a:tcPr marL="54864" marR="54864" marT="27432" marB="27432">
                    <a:solidFill>
                      <a:srgbClr val="FFFFFF"/>
                    </a:solidFill>
                  </a:tcPr>
                </a:tc>
                <a:tc>
                  <a:txBody>
                    <a:bodyPr wrap="square"/>
                    <a:lstStyle/>
                    <a:p>
                      <a:pPr algn="r"/>
                      <a:r>
                        <a:rPr sz="1200" b="0">
                          <a:solidFill>
                            <a:srgbClr val="14324A"/>
                          </a:solidFill>
                          <a:latin typeface="Courier New"/>
                        </a:rPr>
                        <a:t>166,328</a:t>
                      </a:r>
                    </a:p>
                  </a:txBody>
                  <a:tcPr marL="54864" marR="54864" marT="27432" marB="27432">
                    <a:solidFill>
                      <a:srgbClr val="FFFFFF"/>
                    </a:solidFill>
                  </a:tcPr>
                </a:tc>
                <a:tc>
                  <a:txBody>
                    <a:bodyPr wrap="square"/>
                    <a:lstStyle/>
                    <a:p>
                      <a:pPr algn="r"/>
                      <a:r>
                        <a:rPr sz="1200" b="0">
                          <a:solidFill>
                            <a:srgbClr val="14324A"/>
                          </a:solidFill>
                          <a:latin typeface="Courier New"/>
                        </a:rPr>
                        <a:t>cold — archive candidate; heavy duplicate candidates</a:t>
                      </a:r>
                    </a:p>
                  </a:txBody>
                  <a:tcPr marL="54864" marR="54864" marT="27432" marB="27432">
                    <a:solidFill>
                      <a:srgbClr val="FFFFFF"/>
                    </a:solidFill>
                  </a:tcPr>
                </a:tc>
                <a:tc>
                  <a:txBody>
                    <a:bodyPr wrap="square"/>
                    <a:lstStyle/>
                    <a:p>
                      <a:pPr algn="r"/>
                      <a:r>
                        <a:rPr sz="1200" b="0">
                          <a:solidFill>
                            <a:srgbClr val="14324A"/>
                          </a:solidFill>
                          <a:latin typeface="Courier New"/>
                        </a:rPr>
                        <a:t>lifecycle rule Standard → Archive after read-log check</a:t>
                      </a:r>
                    </a:p>
                  </a:txBody>
                  <a:tcPr marL="54864" marR="54864" marT="27432" marB="27432">
                    <a:solidFill>
                      <a:srgbClr val="FFFFFF"/>
                    </a:solidFill>
                  </a:tcPr>
                </a:tc>
              </a:tr>
              <a:tr h="384048">
                <a:tc>
                  <a:txBody>
                    <a:bodyPr wrap="square"/>
                    <a:lstStyle/>
                    <a:p>
                      <a:pPr algn="l"/>
                      <a:r>
                        <a:rPr sz="1200" b="0">
                          <a:solidFill>
                            <a:srgbClr val="14324A"/>
                          </a:solidFill>
                          <a:latin typeface="Calibri"/>
                        </a:rPr>
                        <a:t>rmsbroadcast</a:t>
                      </a:r>
                    </a:p>
                  </a:txBody>
                  <a:tcPr marL="54864" marR="54864" marT="27432" marB="27432">
                    <a:solidFill>
                      <a:srgbClr val="FFFFFF"/>
                    </a:solidFill>
                  </a:tcPr>
                </a:tc>
                <a:tc>
                  <a:txBody>
                    <a:bodyPr wrap="square"/>
                    <a:lstStyle/>
                    <a:p>
                      <a:pPr algn="r"/>
                      <a:r>
                        <a:rPr sz="1200" b="0">
                          <a:solidFill>
                            <a:srgbClr val="14324A"/>
                          </a:solidFill>
                          <a:latin typeface="Courier New"/>
                        </a:rPr>
                        <a:t>1.49</a:t>
                      </a:r>
                    </a:p>
                  </a:txBody>
                  <a:tcPr marL="54864" marR="54864" marT="27432" marB="27432">
                    <a:solidFill>
                      <a:srgbClr val="FFFFFF"/>
                    </a:solidFill>
                  </a:tcPr>
                </a:tc>
                <a:tc>
                  <a:txBody>
                    <a:bodyPr wrap="square"/>
                    <a:lstStyle/>
                    <a:p>
                      <a:pPr algn="r"/>
                      <a:r>
                        <a:rPr sz="1200" b="0">
                          <a:solidFill>
                            <a:srgbClr val="14324A"/>
                          </a:solidFill>
                          <a:latin typeface="Courier New"/>
                        </a:rPr>
                        <a:t>2024-03-24</a:t>
                      </a:r>
                    </a:p>
                  </a:txBody>
                  <a:tcPr marL="54864" marR="54864" marT="27432" marB="27432">
                    <a:solidFill>
                      <a:srgbClr val="FFFFFF"/>
                    </a:solidFill>
                  </a:tcPr>
                </a:tc>
                <a:tc>
                  <a:txBody>
                    <a:bodyPr wrap="square"/>
                    <a:lstStyle/>
                    <a:p>
                      <a:pPr algn="r"/>
                      <a:r>
                        <a:rPr sz="1200" b="0">
                          <a:solidFill>
                            <a:srgbClr val="14324A"/>
                          </a:solidFill>
                          <a:latin typeface="Courier New"/>
                        </a:rPr>
                        <a:t>918</a:t>
                      </a:r>
                    </a:p>
                  </a:txBody>
                  <a:tcPr marL="54864" marR="54864" marT="27432" marB="27432">
                    <a:solidFill>
                      <a:srgbClr val="FFFFFF"/>
                    </a:solidFill>
                  </a:tcPr>
                </a:tc>
                <a:tc>
                  <a:txBody>
                    <a:bodyPr wrap="square"/>
                    <a:lstStyle/>
                    <a:p>
                      <a:pPr algn="r"/>
                      <a:r>
                        <a:rPr sz="1200" b="0">
                          <a:solidFill>
                            <a:srgbClr val="14324A"/>
                          </a:solidFill>
                          <a:latin typeface="Courier New"/>
                        </a:rPr>
                        <a:t>5,060</a:t>
                      </a:r>
                    </a:p>
                  </a:txBody>
                  <a:tcPr marL="54864" marR="54864" marT="27432" marB="27432">
                    <a:solidFill>
                      <a:srgbClr val="FFFFFF"/>
                    </a:solidFill>
                  </a:tcPr>
                </a:tc>
                <a:tc>
                  <a:txBody>
                    <a:bodyPr wrap="square"/>
                    <a:lstStyle/>
                    <a:p>
                      <a:pPr algn="r"/>
                      <a:r>
                        <a:rPr sz="1200" b="0">
                          <a:solidFill>
                            <a:srgbClr val="14324A"/>
                          </a:solidFill>
                          <a:latin typeface="Courier New"/>
                        </a:rPr>
                        <a:t>cold — archive candidate</a:t>
                      </a:r>
                    </a:p>
                  </a:txBody>
                  <a:tcPr marL="54864" marR="54864" marT="27432" marB="27432">
                    <a:solidFill>
                      <a:srgbClr val="FFFFFF"/>
                    </a:solidFill>
                  </a:tcPr>
                </a:tc>
                <a:tc>
                  <a:txBody>
                    <a:bodyPr wrap="square"/>
                    <a:lstStyle/>
                    <a:p>
                      <a:pPr algn="r"/>
                      <a:r>
                        <a:rPr sz="1200" b="0">
                          <a:solidFill>
                            <a:srgbClr val="14324A"/>
                          </a:solidFill>
                          <a:latin typeface="Courier New"/>
                        </a:rPr>
                        <a:t>lifecycle rule Standard → Archive after read-log check</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E8772E"/>
                </a:solidFill>
                <a:latin typeface="Calibri"/>
              </a:rPr>
              <a:t>Every bucket named here was enumerated object by object; the classification follows from its last write date and its duplicate-candidate count. Destinations are proposals.</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70879A"/>
                </a:solidFill>
                <a:latin typeface="Courier New"/>
              </a:rPr>
              <a:t>[measured]  Receipt R04: OBS bucket enumeration census run cr-f1415e395361 (22,975,591 objects, 130.3 TiB)</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70879A"/>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70879A"/>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70879A"/>
                </a:solidFill>
                <a:latin typeface="Courier New"/>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70879A"/>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4324A"/>
                </a:solidFill>
                <a:latin typeface="Cambria"/>
              </a:rPr>
              <a:t>Exact database tables under review, by finding</a:t>
            </a:r>
          </a:p>
        </p:txBody>
      </p:sp>
      <p:graphicFrame>
        <p:nvGraphicFramePr>
          <p:cNvPr id="4" name="Table 3"/>
          <p:cNvGraphicFramePr>
            <a:graphicFrameLocks noGrp="1"/>
          </p:cNvGraphicFramePr>
          <p:nvPr/>
        </p:nvGraphicFramePr>
        <p:xfrm>
          <a:off x="594360" y="1920240"/>
          <a:ext cx="11002973" cy="3017520"/>
        </p:xfrm>
        <a:graphic>
          <a:graphicData uri="http://schemas.openxmlformats.org/drawingml/2006/table">
            <a:tbl>
              <a:tblPr firstRow="1" bandRow="1">
                <a:tableStyleId>{5C22544A-7EE6-4342-B048-85BDC9FD1C3A}</a:tableStyleId>
              </a:tblPr>
              <a:tblGrid>
                <a:gridCol w="3300892"/>
                <a:gridCol w="2357780"/>
                <a:gridCol w="2043409"/>
                <a:gridCol w="3300892"/>
              </a:tblGrid>
              <a:tr h="301752">
                <a:tc>
                  <a:txBody>
                    <a:bodyPr wrap="square"/>
                    <a:lstStyle/>
                    <a:p>
                      <a:pPr algn="l"/>
                      <a:r>
                        <a:rPr sz="1200" b="1">
                          <a:solidFill>
                            <a:srgbClr val="14324A"/>
                          </a:solidFill>
                          <a:latin typeface="Calibri"/>
                        </a:rPr>
                        <a:t>Table (database.table)</a:t>
                      </a:r>
                    </a:p>
                  </a:txBody>
                  <a:tcPr marL="54864" marR="54864" marT="27432" marB="27432">
                    <a:solidFill>
                      <a:srgbClr val="E8EEF3"/>
                    </a:solidFill>
                  </a:tcPr>
                </a:tc>
                <a:tc>
                  <a:txBody>
                    <a:bodyPr wrap="square"/>
                    <a:lstStyle/>
                    <a:p>
                      <a:pPr algn="l"/>
                      <a:r>
                        <a:rPr sz="1200" b="1">
                          <a:solidFill>
                            <a:srgbClr val="14324A"/>
                          </a:solidFill>
                          <a:latin typeface="Calibri"/>
                        </a:rPr>
                        <a:t>Finding</a:t>
                      </a:r>
                    </a:p>
                  </a:txBody>
                  <a:tcPr marL="54864" marR="54864" marT="27432" marB="27432">
                    <a:solidFill>
                      <a:srgbClr val="E8EEF3"/>
                    </a:solidFill>
                  </a:tcPr>
                </a:tc>
                <a:tc>
                  <a:txBody>
                    <a:bodyPr wrap="square"/>
                    <a:lstStyle/>
                    <a:p>
                      <a:pPr algn="l"/>
                      <a:r>
                        <a:rPr sz="1200" b="1">
                          <a:solidFill>
                            <a:srgbClr val="14324A"/>
                          </a:solidFill>
                          <a:latin typeface="Calibri"/>
                        </a:rPr>
                        <a:t>Measured detail</a:t>
                      </a:r>
                    </a:p>
                  </a:txBody>
                  <a:tcPr marL="54864" marR="54864" marT="27432" marB="27432">
                    <a:solidFill>
                      <a:srgbClr val="E8EEF3"/>
                    </a:solidFill>
                  </a:tcPr>
                </a:tc>
                <a:tc>
                  <a:txBody>
                    <a:bodyPr wrap="square"/>
                    <a:lstStyle/>
                    <a:p>
                      <a:pPr algn="l"/>
                      <a:r>
                        <a:rPr sz="1200" b="1">
                          <a:solidFill>
                            <a:srgbClr val="14324A"/>
                          </a:solidFill>
                          <a:latin typeface="Calibri"/>
                        </a:rPr>
                        <a:t>Proposed action</a:t>
                      </a:r>
                    </a:p>
                  </a:txBody>
                  <a:tcPr marL="54864" marR="54864" marT="27432" marB="27432">
                    <a:solidFill>
                      <a:srgbClr val="E8EEF3"/>
                    </a:solidFill>
                  </a:tcPr>
                </a:tc>
              </a:tr>
              <a:tr h="301752">
                <a:tc>
                  <a:txBody>
                    <a:bodyPr wrap="square"/>
                    <a:lstStyle/>
                    <a:p>
                      <a:pPr algn="l"/>
                      <a:r>
                        <a:rPr sz="1200" b="0">
                          <a:solidFill>
                            <a:srgbClr val="14324A"/>
                          </a:solidFill>
                          <a:latin typeface="Calibri"/>
                        </a:rPr>
                        <a:t>viusasa_staging.audits</a:t>
                      </a:r>
                    </a:p>
                  </a:txBody>
                  <a:tcPr marL="54864" marR="54864" marT="27432" marB="27432">
                    <a:solidFill>
                      <a:srgbClr val="FFFFFF"/>
                    </a:solidFill>
                  </a:tcPr>
                </a:tc>
                <a:tc>
                  <a:txBody>
                    <a:bodyPr wrap="square"/>
                    <a:lstStyle/>
                    <a:p>
                      <a:pPr algn="l"/>
                      <a:r>
                        <a:rPr sz="1200" b="0">
                          <a:solidFill>
                            <a:srgbClr val="14324A"/>
                          </a:solidFill>
                          <a:latin typeface="Calibri"/>
                        </a:rPr>
                        <a:t>not written for over a year</a:t>
                      </a:r>
                    </a:p>
                  </a:txBody>
                  <a:tcPr marL="54864" marR="54864" marT="27432" marB="27432">
                    <a:solidFill>
                      <a:srgbClr val="FFFFFF"/>
                    </a:solidFill>
                  </a:tcPr>
                </a:tc>
                <a:tc>
                  <a:txBody>
                    <a:bodyPr wrap="square"/>
                    <a:lstStyle/>
                    <a:p>
                      <a:pPr algn="l"/>
                      <a:r>
                        <a:rPr sz="1200" b="0">
                          <a:solidFill>
                            <a:srgbClr val="14324A"/>
                          </a:solidFill>
                          <a:latin typeface="Calibri"/>
                        </a:rPr>
                        <a:t>666 days · 18.6 GiB</a:t>
                      </a:r>
                    </a:p>
                  </a:txBody>
                  <a:tcPr marL="54864" marR="54864" marT="27432" marB="27432">
                    <a:solidFill>
                      <a:srgbClr val="FFFFFF"/>
                    </a:solidFill>
                  </a:tcPr>
                </a:tc>
                <a:tc>
                  <a:txBody>
                    <a:bodyPr wrap="square"/>
                    <a:lstStyle/>
                    <a:p>
                      <a:pPr algn="l"/>
                      <a:r>
                        <a:rPr sz="1200" b="0">
                          <a:solidFill>
                            <a:srgbClr val="14324A"/>
                          </a:solidFill>
                          <a:latin typeface="Calibri"/>
                        </a:rPr>
                        <a:t>export to compressed object storage with a schema stub (proposed); restore on demand</a:t>
                      </a:r>
                    </a:p>
                  </a:txBody>
                  <a:tcPr marL="54864" marR="54864" marT="27432" marB="27432">
                    <a:solidFill>
                      <a:srgbClr val="FFFFFF"/>
                    </a:solidFill>
                  </a:tcPr>
                </a:tc>
              </a:tr>
              <a:tr h="301752">
                <a:tc>
                  <a:txBody>
                    <a:bodyPr wrap="square"/>
                    <a:lstStyle/>
                    <a:p>
                      <a:pPr algn="l"/>
                      <a:r>
                        <a:rPr sz="1200" b="0">
                          <a:solidFill>
                            <a:srgbClr val="14324A"/>
                          </a:solidFill>
                          <a:latin typeface="Calibri"/>
                        </a:rPr>
                        <a:t>viusasa_staging.master_payments</a:t>
                      </a:r>
                    </a:p>
                  </a:txBody>
                  <a:tcPr marL="54864" marR="54864" marT="27432" marB="27432">
                    <a:solidFill>
                      <a:srgbClr val="FFFFFF"/>
                    </a:solidFill>
                  </a:tcPr>
                </a:tc>
                <a:tc>
                  <a:txBody>
                    <a:bodyPr wrap="square"/>
                    <a:lstStyle/>
                    <a:p>
                      <a:pPr algn="l"/>
                      <a:r>
                        <a:rPr sz="1200" b="0">
                          <a:solidFill>
                            <a:srgbClr val="14324A"/>
                          </a:solidFill>
                          <a:latin typeface="Calibri"/>
                        </a:rPr>
                        <a:t>not written for over a year</a:t>
                      </a:r>
                    </a:p>
                  </a:txBody>
                  <a:tcPr marL="54864" marR="54864" marT="27432" marB="27432">
                    <a:solidFill>
                      <a:srgbClr val="FFFFFF"/>
                    </a:solidFill>
                  </a:tcPr>
                </a:tc>
                <a:tc>
                  <a:txBody>
                    <a:bodyPr wrap="square"/>
                    <a:lstStyle/>
                    <a:p>
                      <a:pPr algn="l"/>
                      <a:r>
                        <a:rPr sz="1200" b="0">
                          <a:solidFill>
                            <a:srgbClr val="14324A"/>
                          </a:solidFill>
                          <a:latin typeface="Calibri"/>
                        </a:rPr>
                        <a:t>438 days · 4.2 GiB</a:t>
                      </a:r>
                    </a:p>
                  </a:txBody>
                  <a:tcPr marL="54864" marR="54864" marT="27432" marB="27432">
                    <a:solidFill>
                      <a:srgbClr val="FFFFFF"/>
                    </a:solidFill>
                  </a:tcPr>
                </a:tc>
                <a:tc>
                  <a:txBody>
                    <a:bodyPr wrap="square"/>
                    <a:lstStyle/>
                    <a:p>
                      <a:pPr algn="l"/>
                      <a:r>
                        <a:rPr sz="1200" b="0">
                          <a:solidFill>
                            <a:srgbClr val="14324A"/>
                          </a:solidFill>
                          <a:latin typeface="Calibri"/>
                        </a:rPr>
                        <a:t>export to compressed object storage with a schema stub (proposed); restore on demand</a:t>
                      </a:r>
                    </a:p>
                  </a:txBody>
                  <a:tcPr marL="54864" marR="54864" marT="27432" marB="27432">
                    <a:solidFill>
                      <a:srgbClr val="FFFFFF"/>
                    </a:solidFill>
                  </a:tcPr>
                </a:tc>
              </a:tr>
              <a:tr h="301752">
                <a:tc>
                  <a:txBody>
                    <a:bodyPr wrap="square"/>
                    <a:lstStyle/>
                    <a:p>
                      <a:pPr algn="l"/>
                      <a:r>
                        <a:rPr sz="1200" b="0">
                          <a:solidFill>
                            <a:srgbClr val="14324A"/>
                          </a:solidFill>
                          <a:latin typeface="Calibri"/>
                        </a:rPr>
                        <a:t>razuna.raz1_videos</a:t>
                      </a:r>
                    </a:p>
                  </a:txBody>
                  <a:tcPr marL="54864" marR="54864" marT="27432" marB="27432">
                    <a:solidFill>
                      <a:srgbClr val="FFFFFF"/>
                    </a:solidFill>
                  </a:tcPr>
                </a:tc>
                <a:tc>
                  <a:txBody>
                    <a:bodyPr wrap="square"/>
                    <a:lstStyle/>
                    <a:p>
                      <a:pPr algn="l"/>
                      <a:r>
                        <a:rPr sz="1200" b="0">
                          <a:solidFill>
                            <a:srgbClr val="14324A"/>
                          </a:solidFill>
                          <a:latin typeface="Calibri"/>
                        </a:rPr>
                        <a:t>not written for over a year</a:t>
                      </a:r>
                    </a:p>
                  </a:txBody>
                  <a:tcPr marL="54864" marR="54864" marT="27432" marB="27432">
                    <a:solidFill>
                      <a:srgbClr val="FFFFFF"/>
                    </a:solidFill>
                  </a:tcPr>
                </a:tc>
                <a:tc>
                  <a:txBody>
                    <a:bodyPr wrap="square"/>
                    <a:lstStyle/>
                    <a:p>
                      <a:pPr algn="l"/>
                      <a:r>
                        <a:rPr sz="1200" b="0">
                          <a:solidFill>
                            <a:srgbClr val="14324A"/>
                          </a:solidFill>
                          <a:latin typeface="Calibri"/>
                        </a:rPr>
                        <a:t>1341 days · 3.0 GiB</a:t>
                      </a:r>
                    </a:p>
                  </a:txBody>
                  <a:tcPr marL="54864" marR="54864" marT="27432" marB="27432">
                    <a:solidFill>
                      <a:srgbClr val="FFFFFF"/>
                    </a:solidFill>
                  </a:tcPr>
                </a:tc>
                <a:tc>
                  <a:txBody>
                    <a:bodyPr wrap="square"/>
                    <a:lstStyle/>
                    <a:p>
                      <a:pPr algn="l"/>
                      <a:r>
                        <a:rPr sz="1200" b="0">
                          <a:solidFill>
                            <a:srgbClr val="14324A"/>
                          </a:solidFill>
                          <a:latin typeface="Calibri"/>
                        </a:rPr>
                        <a:t>export to compressed object storage with a schema stub (proposed); restore on demand</a:t>
                      </a:r>
                    </a:p>
                  </a:txBody>
                  <a:tcPr marL="54864" marR="54864" marT="27432" marB="27432">
                    <a:solidFill>
                      <a:srgbClr val="FFFFFF"/>
                    </a:solidFill>
                  </a:tcPr>
                </a:tc>
              </a:tr>
              <a:tr h="301752">
                <a:tc>
                  <a:txBody>
                    <a:bodyPr wrap="square"/>
                    <a:lstStyle/>
                    <a:p>
                      <a:pPr algn="l"/>
                      <a:r>
                        <a:rPr sz="1200" b="0">
                          <a:solidFill>
                            <a:srgbClr val="14324A"/>
                          </a:solidFill>
                          <a:latin typeface="Calibri"/>
                        </a:rPr>
                        <a:t>viusasa_staging.payment_requests</a:t>
                      </a:r>
                    </a:p>
                  </a:txBody>
                  <a:tcPr marL="54864" marR="54864" marT="27432" marB="27432">
                    <a:solidFill>
                      <a:srgbClr val="FFFFFF"/>
                    </a:solidFill>
                  </a:tcPr>
                </a:tc>
                <a:tc>
                  <a:txBody>
                    <a:bodyPr wrap="square"/>
                    <a:lstStyle/>
                    <a:p>
                      <a:pPr algn="l"/>
                      <a:r>
                        <a:rPr sz="1200" b="0">
                          <a:solidFill>
                            <a:srgbClr val="14324A"/>
                          </a:solidFill>
                          <a:latin typeface="Calibri"/>
                        </a:rPr>
                        <a:t>not written for over a year</a:t>
                      </a:r>
                    </a:p>
                  </a:txBody>
                  <a:tcPr marL="54864" marR="54864" marT="27432" marB="27432">
                    <a:solidFill>
                      <a:srgbClr val="FFFFFF"/>
                    </a:solidFill>
                  </a:tcPr>
                </a:tc>
                <a:tc>
                  <a:txBody>
                    <a:bodyPr wrap="square"/>
                    <a:lstStyle/>
                    <a:p>
                      <a:pPr algn="l"/>
                      <a:r>
                        <a:rPr sz="1200" b="0">
                          <a:solidFill>
                            <a:srgbClr val="14324A"/>
                          </a:solidFill>
                          <a:latin typeface="Calibri"/>
                        </a:rPr>
                        <a:t>664 days · 2.8 GiB</a:t>
                      </a:r>
                    </a:p>
                  </a:txBody>
                  <a:tcPr marL="54864" marR="54864" marT="27432" marB="27432">
                    <a:solidFill>
                      <a:srgbClr val="FFFFFF"/>
                    </a:solidFill>
                  </a:tcPr>
                </a:tc>
                <a:tc>
                  <a:txBody>
                    <a:bodyPr wrap="square"/>
                    <a:lstStyle/>
                    <a:p>
                      <a:pPr algn="l"/>
                      <a:r>
                        <a:rPr sz="1200" b="0">
                          <a:solidFill>
                            <a:srgbClr val="14324A"/>
                          </a:solidFill>
                          <a:latin typeface="Calibri"/>
                        </a:rPr>
                        <a:t>export to compressed object storage with a schema stub (proposed); restore on demand</a:t>
                      </a:r>
                    </a:p>
                  </a:txBody>
                  <a:tcPr marL="54864" marR="54864" marT="27432" marB="27432">
                    <a:solidFill>
                      <a:srgbClr val="FFFFFF"/>
                    </a:solidFill>
                  </a:tcPr>
                </a:tc>
              </a:tr>
              <a:tr h="301752">
                <a:tc>
                  <a:txBody>
                    <a:bodyPr wrap="square"/>
                    <a:lstStyle/>
                    <a:p>
                      <a:pPr algn="l"/>
                      <a:r>
                        <a:rPr sz="1200" b="0">
                          <a:solidFill>
                            <a:srgbClr val="14324A"/>
                          </a:solidFill>
                          <a:latin typeface="Calibri"/>
                        </a:rPr>
                        <a:t>viusasa_staging.sms</a:t>
                      </a:r>
                    </a:p>
                  </a:txBody>
                  <a:tcPr marL="54864" marR="54864" marT="27432" marB="27432">
                    <a:solidFill>
                      <a:srgbClr val="FFFFFF"/>
                    </a:solidFill>
                  </a:tcPr>
                </a:tc>
                <a:tc>
                  <a:txBody>
                    <a:bodyPr wrap="square"/>
                    <a:lstStyle/>
                    <a:p>
                      <a:pPr algn="l"/>
                      <a:r>
                        <a:rPr sz="1200" b="0">
                          <a:solidFill>
                            <a:srgbClr val="14324A"/>
                          </a:solidFill>
                          <a:latin typeface="Calibri"/>
                        </a:rPr>
                        <a:t>not written for over a year</a:t>
                      </a:r>
                    </a:p>
                  </a:txBody>
                  <a:tcPr marL="54864" marR="54864" marT="27432" marB="27432">
                    <a:solidFill>
                      <a:srgbClr val="FFFFFF"/>
                    </a:solidFill>
                  </a:tcPr>
                </a:tc>
                <a:tc>
                  <a:txBody>
                    <a:bodyPr wrap="square"/>
                    <a:lstStyle/>
                    <a:p>
                      <a:pPr algn="l"/>
                      <a:r>
                        <a:rPr sz="1200" b="0">
                          <a:solidFill>
                            <a:srgbClr val="14324A"/>
                          </a:solidFill>
                          <a:latin typeface="Calibri"/>
                        </a:rPr>
                        <a:t>583 days · 2.7 GiB</a:t>
                      </a:r>
                    </a:p>
                  </a:txBody>
                  <a:tcPr marL="54864" marR="54864" marT="27432" marB="27432">
                    <a:solidFill>
                      <a:srgbClr val="FFFFFF"/>
                    </a:solidFill>
                  </a:tcPr>
                </a:tc>
                <a:tc>
                  <a:txBody>
                    <a:bodyPr wrap="square"/>
                    <a:lstStyle/>
                    <a:p>
                      <a:pPr algn="l"/>
                      <a:r>
                        <a:rPr sz="1200" b="0">
                          <a:solidFill>
                            <a:srgbClr val="14324A"/>
                          </a:solidFill>
                          <a:latin typeface="Calibri"/>
                        </a:rPr>
                        <a:t>export to compressed object storage with a schema stub (proposed); restore on demand</a:t>
                      </a:r>
                    </a:p>
                  </a:txBody>
                  <a:tcPr marL="54864" marR="54864" marT="27432" marB="27432">
                    <a:solidFill>
                      <a:srgbClr val="FFFFFF"/>
                    </a:solidFill>
                  </a:tcPr>
                </a:tc>
              </a:tr>
              <a:tr h="301752">
                <a:tc>
                  <a:txBody>
                    <a:bodyPr wrap="square"/>
                    <a:lstStyle/>
                    <a:p>
                      <a:pPr algn="l"/>
                      <a:r>
                        <a:rPr sz="1200" b="0">
                          <a:solidFill>
                            <a:srgbClr val="14324A"/>
                          </a:solidFill>
                          <a:latin typeface="Calibri"/>
                        </a:rPr>
                        <a:t>viusasa_staging.mpesa_stk_requests</a:t>
                      </a:r>
                    </a:p>
                  </a:txBody>
                  <a:tcPr marL="54864" marR="54864" marT="27432" marB="27432">
                    <a:solidFill>
                      <a:srgbClr val="FFFFFF"/>
                    </a:solidFill>
                  </a:tcPr>
                </a:tc>
                <a:tc>
                  <a:txBody>
                    <a:bodyPr wrap="square"/>
                    <a:lstStyle/>
                    <a:p>
                      <a:pPr algn="l"/>
                      <a:r>
                        <a:rPr sz="1200" b="0">
                          <a:solidFill>
                            <a:srgbClr val="14324A"/>
                          </a:solidFill>
                          <a:latin typeface="Calibri"/>
                        </a:rPr>
                        <a:t>not written for over a year</a:t>
                      </a:r>
                    </a:p>
                  </a:txBody>
                  <a:tcPr marL="54864" marR="54864" marT="27432" marB="27432">
                    <a:solidFill>
                      <a:srgbClr val="FFFFFF"/>
                    </a:solidFill>
                  </a:tcPr>
                </a:tc>
                <a:tc>
                  <a:txBody>
                    <a:bodyPr wrap="square"/>
                    <a:lstStyle/>
                    <a:p>
                      <a:pPr algn="l"/>
                      <a:r>
                        <a:rPr sz="1200" b="0">
                          <a:solidFill>
                            <a:srgbClr val="14324A"/>
                          </a:solidFill>
                          <a:latin typeface="Calibri"/>
                        </a:rPr>
                        <a:t>724 days · 1.4 GiB</a:t>
                      </a:r>
                    </a:p>
                  </a:txBody>
                  <a:tcPr marL="54864" marR="54864" marT="27432" marB="27432">
                    <a:solidFill>
                      <a:srgbClr val="FFFFFF"/>
                    </a:solidFill>
                  </a:tcPr>
                </a:tc>
                <a:tc>
                  <a:txBody>
                    <a:bodyPr wrap="square"/>
                    <a:lstStyle/>
                    <a:p>
                      <a:pPr algn="l"/>
                      <a:r>
                        <a:rPr sz="1200" b="0">
                          <a:solidFill>
                            <a:srgbClr val="14324A"/>
                          </a:solidFill>
                          <a:latin typeface="Calibri"/>
                        </a:rPr>
                        <a:t>export to compressed object storage with a schema stub (proposed); restore on demand</a:t>
                      </a:r>
                    </a:p>
                  </a:txBody>
                  <a:tcPr marL="54864" marR="54864" marT="27432" marB="27432">
                    <a:solidFill>
                      <a:srgbClr val="FFFFFF"/>
                    </a:solidFill>
                  </a:tcPr>
                </a:tc>
              </a:tr>
              <a:tr h="301752">
                <a:tc>
                  <a:txBody>
                    <a:bodyPr wrap="square"/>
                    <a:lstStyle/>
                    <a:p>
                      <a:pPr algn="l"/>
                      <a:r>
                        <a:rPr sz="1200" b="0">
                          <a:solidFill>
                            <a:srgbClr val="14324A"/>
                          </a:solidFill>
                          <a:latin typeface="Calibri"/>
                        </a:rPr>
                        <a:t>viusasa_staging.search_lookups</a:t>
                      </a:r>
                    </a:p>
                  </a:txBody>
                  <a:tcPr marL="54864" marR="54864" marT="27432" marB="27432">
                    <a:solidFill>
                      <a:srgbClr val="FFFFFF"/>
                    </a:solidFill>
                  </a:tcPr>
                </a:tc>
                <a:tc>
                  <a:txBody>
                    <a:bodyPr wrap="square"/>
                    <a:lstStyle/>
                    <a:p>
                      <a:pPr algn="l"/>
                      <a:r>
                        <a:rPr sz="1200" b="0">
                          <a:solidFill>
                            <a:srgbClr val="14324A"/>
                          </a:solidFill>
                          <a:latin typeface="Calibri"/>
                        </a:rPr>
                        <a:t>repeated rows inside the table</a:t>
                      </a:r>
                    </a:p>
                  </a:txBody>
                  <a:tcPr marL="54864" marR="54864" marT="27432" marB="27432">
                    <a:solidFill>
                      <a:srgbClr val="FFFFFF"/>
                    </a:solidFill>
                  </a:tcPr>
                </a:tc>
                <a:tc>
                  <a:txBody>
                    <a:bodyPr wrap="square"/>
                    <a:lstStyle/>
                    <a:p>
                      <a:pPr algn="l"/>
                      <a:r>
                        <a:rPr sz="1200" b="0">
                          <a:solidFill>
                            <a:srgbClr val="14324A"/>
                          </a:solidFill>
                          <a:latin typeface="Calibri"/>
                        </a:rPr>
                        <a:t>5.9% repeated · 8.7 GiB</a:t>
                      </a:r>
                    </a:p>
                  </a:txBody>
                  <a:tcPr marL="54864" marR="54864" marT="27432" marB="27432">
                    <a:solidFill>
                      <a:srgbClr val="FFFFFF"/>
                    </a:solidFill>
                  </a:tcPr>
                </a:tc>
                <a:tc>
                  <a:txBody>
                    <a:bodyPr wrap="square"/>
                    <a:lstStyle/>
                    <a:p>
                      <a:pPr algn="l"/>
                      <a:r>
                        <a:rPr sz="1200" b="0">
                          <a:solidFill>
                            <a:srgbClr val="14324A"/>
                          </a:solidFill>
                          <a:latin typeface="Calibri"/>
                        </a:rPr>
                        <a:t>de-duplicate in place after a keyed comparison; keep the newest row</a:t>
                      </a:r>
                    </a:p>
                  </a:txBody>
                  <a:tcPr marL="54864" marR="54864" marT="27432" marB="27432">
                    <a:solidFill>
                      <a:srgbClr val="FFFFFF"/>
                    </a:solidFill>
                  </a:tcPr>
                </a:tc>
              </a:tr>
              <a:tr h="301752">
                <a:tc>
                  <a:txBody>
                    <a:bodyPr wrap="square"/>
                    <a:lstStyle/>
                    <a:p>
                      <a:pPr algn="l"/>
                      <a:r>
                        <a:rPr sz="1200" b="0">
                          <a:solidFill>
                            <a:srgbClr val="14324A"/>
                          </a:solidFill>
                          <a:latin typeface="Calibri"/>
                        </a:rPr>
                        <a:t>viusasa_staging.playback_qualified_streams</a:t>
                      </a:r>
                    </a:p>
                  </a:txBody>
                  <a:tcPr marL="54864" marR="54864" marT="27432" marB="27432">
                    <a:solidFill>
                      <a:srgbClr val="FFFFFF"/>
                    </a:solidFill>
                  </a:tcPr>
                </a:tc>
                <a:tc>
                  <a:txBody>
                    <a:bodyPr wrap="square"/>
                    <a:lstStyle/>
                    <a:p>
                      <a:pPr algn="l"/>
                      <a:r>
                        <a:rPr sz="1200" b="0">
                          <a:solidFill>
                            <a:srgbClr val="14324A"/>
                          </a:solidFill>
                          <a:latin typeface="Calibri"/>
                        </a:rPr>
                        <a:t>repeated rows inside the table</a:t>
                      </a:r>
                    </a:p>
                  </a:txBody>
                  <a:tcPr marL="54864" marR="54864" marT="27432" marB="27432">
                    <a:solidFill>
                      <a:srgbClr val="FFFFFF"/>
                    </a:solidFill>
                  </a:tcPr>
                </a:tc>
                <a:tc>
                  <a:txBody>
                    <a:bodyPr wrap="square"/>
                    <a:lstStyle/>
                    <a:p>
                      <a:pPr algn="l"/>
                      <a:r>
                        <a:rPr sz="1200" b="0">
                          <a:solidFill>
                            <a:srgbClr val="14324A"/>
                          </a:solidFill>
                          <a:latin typeface="Calibri"/>
                        </a:rPr>
                        <a:t>5.1% repeated · 4.6 GiB</a:t>
                      </a:r>
                    </a:p>
                  </a:txBody>
                  <a:tcPr marL="54864" marR="54864" marT="27432" marB="27432">
                    <a:solidFill>
                      <a:srgbClr val="FFFFFF"/>
                    </a:solidFill>
                  </a:tcPr>
                </a:tc>
                <a:tc>
                  <a:txBody>
                    <a:bodyPr wrap="square"/>
                    <a:lstStyle/>
                    <a:p>
                      <a:pPr algn="l"/>
                      <a:r>
                        <a:rPr sz="1200" b="0">
                          <a:solidFill>
                            <a:srgbClr val="14324A"/>
                          </a:solidFill>
                          <a:latin typeface="Calibri"/>
                        </a:rPr>
                        <a:t>de-duplicate in place after a keyed comparison; keep the newest row</a:t>
                      </a:r>
                    </a:p>
                  </a:txBody>
                  <a:tcPr marL="54864" marR="54864" marT="27432" marB="27432">
                    <a:solidFill>
                      <a:srgbClr val="FFFFFF"/>
                    </a:solidFill>
                  </a:tcPr>
                </a:tc>
              </a:tr>
              <a:tr h="301752">
                <a:tc>
                  <a:txBody>
                    <a:bodyPr wrap="square"/>
                    <a:lstStyle/>
                    <a:p>
                      <a:pPr algn="l"/>
                      <a:r>
                        <a:rPr sz="1200" b="0">
                          <a:solidFill>
                            <a:srgbClr val="14324A"/>
                          </a:solidFill>
                          <a:latin typeface="Calibri"/>
                        </a:rPr>
                        <a:t>viusasa_staging.episode_views</a:t>
                      </a:r>
                    </a:p>
                  </a:txBody>
                  <a:tcPr marL="54864" marR="54864" marT="27432" marB="27432">
                    <a:solidFill>
                      <a:srgbClr val="FFFFFF"/>
                    </a:solidFill>
                  </a:tcPr>
                </a:tc>
                <a:tc>
                  <a:txBody>
                    <a:bodyPr wrap="square"/>
                    <a:lstStyle/>
                    <a:p>
                      <a:pPr algn="l"/>
                      <a:r>
                        <a:rPr sz="1200" b="0">
                          <a:solidFill>
                            <a:srgbClr val="14324A"/>
                          </a:solidFill>
                          <a:latin typeface="Calibri"/>
                        </a:rPr>
                        <a:t>repeated rows inside the table</a:t>
                      </a:r>
                    </a:p>
                  </a:txBody>
                  <a:tcPr marL="54864" marR="54864" marT="27432" marB="27432">
                    <a:solidFill>
                      <a:srgbClr val="FFFFFF"/>
                    </a:solidFill>
                  </a:tcPr>
                </a:tc>
                <a:tc>
                  <a:txBody>
                    <a:bodyPr wrap="square"/>
                    <a:lstStyle/>
                    <a:p>
                      <a:pPr algn="l"/>
                      <a:r>
                        <a:rPr sz="1200" b="0">
                          <a:solidFill>
                            <a:srgbClr val="14324A"/>
                          </a:solidFill>
                          <a:latin typeface="Calibri"/>
                        </a:rPr>
                        <a:t>22.0% repeated · 764.0 MiB</a:t>
                      </a:r>
                    </a:p>
                  </a:txBody>
                  <a:tcPr marL="54864" marR="54864" marT="27432" marB="27432">
                    <a:solidFill>
                      <a:srgbClr val="FFFFFF"/>
                    </a:solidFill>
                  </a:tcPr>
                </a:tc>
                <a:tc>
                  <a:txBody>
                    <a:bodyPr wrap="square"/>
                    <a:lstStyle/>
                    <a:p>
                      <a:pPr algn="l"/>
                      <a:r>
                        <a:rPr sz="1200" b="0">
                          <a:solidFill>
                            <a:srgbClr val="14324A"/>
                          </a:solidFill>
                          <a:latin typeface="Calibri"/>
                        </a:rPr>
                        <a:t>de-duplicate in place after a keyed comparison; keep the newest row</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E8772E"/>
                </a:solidFill>
                <a:latin typeface="Calibri"/>
              </a:rPr>
              <a:t>Each row names a table the census measured and the finding that puts it on the list; the bytes column is the strategy total the table belongs to, not the table alone.</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70879A"/>
                </a:solidFill>
                <a:latin typeface="Courier New"/>
              </a:rPr>
              <a:t>[measured]  Receipt R02: Estate intelligence census eij-1b359b3cbd2e, cost_strategies priced at reference list prices, not the owner's invoice: Huawei Cloud RDS for MySQL cloud SSD AF-Johannesburg 0.00015 USD/GB-hour x 730 h; OBS Standard 0.023 USD/GB-month</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70879A"/>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70879A"/>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70879A"/>
                </a:solidFill>
                <a:latin typeface="Courier New"/>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70879A"/>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4324A"/>
                </a:solidFill>
                <a:latin typeface="Cambria"/>
              </a:rPr>
              <a:t>Exact database tables under review, by finding</a:t>
            </a:r>
          </a:p>
        </p:txBody>
      </p:sp>
      <p:graphicFrame>
        <p:nvGraphicFramePr>
          <p:cNvPr id="4" name="Table 3"/>
          <p:cNvGraphicFramePr>
            <a:graphicFrameLocks noGrp="1"/>
          </p:cNvGraphicFramePr>
          <p:nvPr/>
        </p:nvGraphicFramePr>
        <p:xfrm>
          <a:off x="594360" y="1920240"/>
          <a:ext cx="11002972" cy="3017520"/>
        </p:xfrm>
        <a:graphic>
          <a:graphicData uri="http://schemas.openxmlformats.org/drawingml/2006/table">
            <a:tbl>
              <a:tblPr firstRow="1" bandRow="1">
                <a:tableStyleId>{5C22544A-7EE6-4342-B048-85BDC9FD1C3A}</a:tableStyleId>
              </a:tblPr>
              <a:tblGrid>
                <a:gridCol w="3040295"/>
                <a:gridCol w="3040295"/>
                <a:gridCol w="1882087"/>
                <a:gridCol w="3040295"/>
              </a:tblGrid>
              <a:tr h="301752">
                <a:tc>
                  <a:txBody>
                    <a:bodyPr wrap="square"/>
                    <a:lstStyle/>
                    <a:p>
                      <a:pPr algn="l"/>
                      <a:r>
                        <a:rPr sz="1200" b="1">
                          <a:solidFill>
                            <a:srgbClr val="14324A"/>
                          </a:solidFill>
                          <a:latin typeface="Calibri"/>
                        </a:rPr>
                        <a:t>Table (database.table)</a:t>
                      </a:r>
                    </a:p>
                  </a:txBody>
                  <a:tcPr marL="54864" marR="54864" marT="27432" marB="27432">
                    <a:solidFill>
                      <a:srgbClr val="E8EEF3"/>
                    </a:solidFill>
                  </a:tcPr>
                </a:tc>
                <a:tc>
                  <a:txBody>
                    <a:bodyPr wrap="square"/>
                    <a:lstStyle/>
                    <a:p>
                      <a:pPr algn="l"/>
                      <a:r>
                        <a:rPr sz="1200" b="1">
                          <a:solidFill>
                            <a:srgbClr val="14324A"/>
                          </a:solidFill>
                          <a:latin typeface="Calibri"/>
                        </a:rPr>
                        <a:t>Finding</a:t>
                      </a:r>
                    </a:p>
                  </a:txBody>
                  <a:tcPr marL="54864" marR="54864" marT="27432" marB="27432">
                    <a:solidFill>
                      <a:srgbClr val="E8EEF3"/>
                    </a:solidFill>
                  </a:tcPr>
                </a:tc>
                <a:tc>
                  <a:txBody>
                    <a:bodyPr wrap="square"/>
                    <a:lstStyle/>
                    <a:p>
                      <a:pPr algn="l"/>
                      <a:r>
                        <a:rPr sz="1200" b="1">
                          <a:solidFill>
                            <a:srgbClr val="14324A"/>
                          </a:solidFill>
                          <a:latin typeface="Calibri"/>
                        </a:rPr>
                        <a:t>Measured detail</a:t>
                      </a:r>
                    </a:p>
                  </a:txBody>
                  <a:tcPr marL="54864" marR="54864" marT="27432" marB="27432">
                    <a:solidFill>
                      <a:srgbClr val="E8EEF3"/>
                    </a:solidFill>
                  </a:tcPr>
                </a:tc>
                <a:tc>
                  <a:txBody>
                    <a:bodyPr wrap="square"/>
                    <a:lstStyle/>
                    <a:p>
                      <a:pPr algn="l"/>
                      <a:r>
                        <a:rPr sz="1200" b="1">
                          <a:solidFill>
                            <a:srgbClr val="14324A"/>
                          </a:solidFill>
                          <a:latin typeface="Calibri"/>
                        </a:rPr>
                        <a:t>Proposed action</a:t>
                      </a:r>
                    </a:p>
                  </a:txBody>
                  <a:tcPr marL="54864" marR="54864" marT="27432" marB="27432">
                    <a:solidFill>
                      <a:srgbClr val="E8EEF3"/>
                    </a:solidFill>
                  </a:tcPr>
                </a:tc>
              </a:tr>
              <a:tr h="301752">
                <a:tc>
                  <a:txBody>
                    <a:bodyPr wrap="square"/>
                    <a:lstStyle/>
                    <a:p>
                      <a:pPr algn="l"/>
                      <a:r>
                        <a:rPr sz="1200" b="0">
                          <a:solidFill>
                            <a:srgbClr val="14324A"/>
                          </a:solidFill>
                          <a:latin typeface="Calibri"/>
                        </a:rPr>
                        <a:t>kra_reports.external_credit_notes</a:t>
                      </a:r>
                    </a:p>
                  </a:txBody>
                  <a:tcPr marL="54864" marR="54864" marT="27432" marB="27432">
                    <a:solidFill>
                      <a:srgbClr val="FFFFFF"/>
                    </a:solidFill>
                  </a:tcPr>
                </a:tc>
                <a:tc>
                  <a:txBody>
                    <a:bodyPr wrap="square"/>
                    <a:lstStyle/>
                    <a:p>
                      <a:pPr algn="l"/>
                      <a:r>
                        <a:rPr sz="1200" b="0">
                          <a:solidFill>
                            <a:srgbClr val="14324A"/>
                          </a:solidFill>
                          <a:latin typeface="Calibri"/>
                        </a:rPr>
                        <a:t>repeated rows inside the table</a:t>
                      </a:r>
                    </a:p>
                  </a:txBody>
                  <a:tcPr marL="54864" marR="54864" marT="27432" marB="27432">
                    <a:solidFill>
                      <a:srgbClr val="FFFFFF"/>
                    </a:solidFill>
                  </a:tcPr>
                </a:tc>
                <a:tc>
                  <a:txBody>
                    <a:bodyPr wrap="square"/>
                    <a:lstStyle/>
                    <a:p>
                      <a:pPr algn="l"/>
                      <a:r>
                        <a:rPr sz="1200" b="0">
                          <a:solidFill>
                            <a:srgbClr val="14324A"/>
                          </a:solidFill>
                          <a:latin typeface="Calibri"/>
                        </a:rPr>
                        <a:t>25.0% repeated · 277.8 MiB</a:t>
                      </a:r>
                    </a:p>
                  </a:txBody>
                  <a:tcPr marL="54864" marR="54864" marT="27432" marB="27432">
                    <a:solidFill>
                      <a:srgbClr val="FFFFFF"/>
                    </a:solidFill>
                  </a:tcPr>
                </a:tc>
                <a:tc>
                  <a:txBody>
                    <a:bodyPr wrap="square"/>
                    <a:lstStyle/>
                    <a:p>
                      <a:pPr algn="l"/>
                      <a:r>
                        <a:rPr sz="1200" b="0">
                          <a:solidFill>
                            <a:srgbClr val="14324A"/>
                          </a:solidFill>
                          <a:latin typeface="Calibri"/>
                        </a:rPr>
                        <a:t>de-duplicate in place after a keyed comparison; keep the newest row</a:t>
                      </a:r>
                    </a:p>
                  </a:txBody>
                  <a:tcPr marL="54864" marR="54864" marT="27432" marB="27432">
                    <a:solidFill>
                      <a:srgbClr val="FFFFFF"/>
                    </a:solidFill>
                  </a:tcPr>
                </a:tc>
              </a:tr>
              <a:tr h="301752">
                <a:tc>
                  <a:txBody>
                    <a:bodyPr wrap="square"/>
                    <a:lstStyle/>
                    <a:p>
                      <a:pPr algn="l"/>
                      <a:r>
                        <a:rPr sz="1200" b="0">
                          <a:solidFill>
                            <a:srgbClr val="14324A"/>
                          </a:solidFill>
                          <a:latin typeface="Calibri"/>
                        </a:rPr>
                        <a:t>viusasa_staging.new_episode_views</a:t>
                      </a:r>
                    </a:p>
                  </a:txBody>
                  <a:tcPr marL="54864" marR="54864" marT="27432" marB="27432">
                    <a:solidFill>
                      <a:srgbClr val="FFFFFF"/>
                    </a:solidFill>
                  </a:tcPr>
                </a:tc>
                <a:tc>
                  <a:txBody>
                    <a:bodyPr wrap="square"/>
                    <a:lstStyle/>
                    <a:p>
                      <a:pPr algn="l"/>
                      <a:r>
                        <a:rPr sz="1200" b="0">
                          <a:solidFill>
                            <a:srgbClr val="14324A"/>
                          </a:solidFill>
                          <a:latin typeface="Calibri"/>
                        </a:rPr>
                        <a:t>repeated rows inside the table</a:t>
                      </a:r>
                    </a:p>
                  </a:txBody>
                  <a:tcPr marL="54864" marR="54864" marT="27432" marB="27432">
                    <a:solidFill>
                      <a:srgbClr val="FFFFFF"/>
                    </a:solidFill>
                  </a:tcPr>
                </a:tc>
                <a:tc>
                  <a:txBody>
                    <a:bodyPr wrap="square"/>
                    <a:lstStyle/>
                    <a:p>
                      <a:pPr algn="l"/>
                      <a:r>
                        <a:rPr sz="1200" b="0">
                          <a:solidFill>
                            <a:srgbClr val="14324A"/>
                          </a:solidFill>
                          <a:latin typeface="Calibri"/>
                        </a:rPr>
                        <a:t>66.1% repeated · 98.7 MiB</a:t>
                      </a:r>
                    </a:p>
                  </a:txBody>
                  <a:tcPr marL="54864" marR="54864" marT="27432" marB="27432">
                    <a:solidFill>
                      <a:srgbClr val="FFFFFF"/>
                    </a:solidFill>
                  </a:tcPr>
                </a:tc>
                <a:tc>
                  <a:txBody>
                    <a:bodyPr wrap="square"/>
                    <a:lstStyle/>
                    <a:p>
                      <a:pPr algn="l"/>
                      <a:r>
                        <a:rPr sz="1200" b="0">
                          <a:solidFill>
                            <a:srgbClr val="14324A"/>
                          </a:solidFill>
                          <a:latin typeface="Calibri"/>
                        </a:rPr>
                        <a:t>de-duplicate in place after a keyed comparison; keep the newest row</a:t>
                      </a:r>
                    </a:p>
                  </a:txBody>
                  <a:tcPr marL="54864" marR="54864" marT="27432" marB="27432">
                    <a:solidFill>
                      <a:srgbClr val="FFFFFF"/>
                    </a:solidFill>
                  </a:tcPr>
                </a:tc>
              </a:tr>
              <a:tr h="301752">
                <a:tc>
                  <a:txBody>
                    <a:bodyPr wrap="square"/>
                    <a:lstStyle/>
                    <a:p>
                      <a:pPr algn="l"/>
                      <a:r>
                        <a:rPr sz="1200" b="0">
                          <a:solidFill>
                            <a:srgbClr val="14324A"/>
                          </a:solidFill>
                          <a:latin typeface="Calibri"/>
                        </a:rPr>
                        <a:t>viusasa_staging.ussd_hits</a:t>
                      </a:r>
                    </a:p>
                  </a:txBody>
                  <a:tcPr marL="54864" marR="54864" marT="27432" marB="27432">
                    <a:solidFill>
                      <a:srgbClr val="FFFFFF"/>
                    </a:solidFill>
                  </a:tcPr>
                </a:tc>
                <a:tc>
                  <a:txBody>
                    <a:bodyPr wrap="square"/>
                    <a:lstStyle/>
                    <a:p>
                      <a:pPr algn="l"/>
                      <a:r>
                        <a:rPr sz="1200" b="0">
                          <a:solidFill>
                            <a:srgbClr val="14324A"/>
                          </a:solidFill>
                          <a:latin typeface="Calibri"/>
                        </a:rPr>
                        <a:t>repeated rows inside the table</a:t>
                      </a:r>
                    </a:p>
                  </a:txBody>
                  <a:tcPr marL="54864" marR="54864" marT="27432" marB="27432">
                    <a:solidFill>
                      <a:srgbClr val="FFFFFF"/>
                    </a:solidFill>
                  </a:tcPr>
                </a:tc>
                <a:tc>
                  <a:txBody>
                    <a:bodyPr wrap="square"/>
                    <a:lstStyle/>
                    <a:p>
                      <a:pPr algn="l"/>
                      <a:r>
                        <a:rPr sz="1200" b="0">
                          <a:solidFill>
                            <a:srgbClr val="14324A"/>
                          </a:solidFill>
                          <a:latin typeface="Calibri"/>
                        </a:rPr>
                        <a:t>8.5% repeated · 573.0 MiB</a:t>
                      </a:r>
                    </a:p>
                  </a:txBody>
                  <a:tcPr marL="54864" marR="54864" marT="27432" marB="27432">
                    <a:solidFill>
                      <a:srgbClr val="FFFFFF"/>
                    </a:solidFill>
                  </a:tcPr>
                </a:tc>
                <a:tc>
                  <a:txBody>
                    <a:bodyPr wrap="square"/>
                    <a:lstStyle/>
                    <a:p>
                      <a:pPr algn="l"/>
                      <a:r>
                        <a:rPr sz="1200" b="0">
                          <a:solidFill>
                            <a:srgbClr val="14324A"/>
                          </a:solidFill>
                          <a:latin typeface="Calibri"/>
                        </a:rPr>
                        <a:t>de-duplicate in place after a keyed comparison; keep the newest row</a:t>
                      </a:r>
                    </a:p>
                  </a:txBody>
                  <a:tcPr marL="54864" marR="54864" marT="27432" marB="27432">
                    <a:solidFill>
                      <a:srgbClr val="FFFFFF"/>
                    </a:solidFill>
                  </a:tcPr>
                </a:tc>
              </a:tr>
              <a:tr h="301752">
                <a:tc>
                  <a:txBody>
                    <a:bodyPr wrap="square"/>
                    <a:lstStyle/>
                    <a:p>
                      <a:pPr algn="l"/>
                      <a:r>
                        <a:rPr sz="1200" b="0">
                          <a:solidFill>
                            <a:srgbClr val="14324A"/>
                          </a:solidFill>
                          <a:latin typeface="Calibri"/>
                        </a:rPr>
                        <a:t>iebc_forms/viupay.failed_jobs ↔ viupay/viupay.failed_jobs</a:t>
                      </a:r>
                    </a:p>
                  </a:txBody>
                  <a:tcPr marL="54864" marR="54864" marT="27432" marB="27432">
                    <a:solidFill>
                      <a:srgbClr val="FFFFFF"/>
                    </a:solidFill>
                  </a:tcPr>
                </a:tc>
                <a:tc>
                  <a:txBody>
                    <a:bodyPr wrap="square"/>
                    <a:lstStyle/>
                    <a:p>
                      <a:pPr algn="l"/>
                      <a:r>
                        <a:rPr sz="1200" b="0">
                          <a:solidFill>
                            <a:srgbClr val="14324A"/>
                          </a:solidFill>
                          <a:latin typeface="Calibri"/>
                        </a:rPr>
                        <a:t>two copies of the same table across connections</a:t>
                      </a:r>
                    </a:p>
                  </a:txBody>
                  <a:tcPr marL="54864" marR="54864" marT="27432" marB="27432">
                    <a:solidFill>
                      <a:srgbClr val="FFFFFF"/>
                    </a:solidFill>
                  </a:tcPr>
                </a:tc>
                <a:tc>
                  <a:txBody>
                    <a:bodyPr wrap="square"/>
                    <a:lstStyle/>
                    <a:p>
                      <a:pPr algn="l"/>
                      <a:r>
                        <a:rPr sz="1200" b="0">
                          <a:solidFill>
                            <a:srgbClr val="14324A"/>
                          </a:solidFill>
                          <a:latin typeface="Calibri"/>
                        </a:rPr>
                        <a:t>overlap 78.0% · 31.6 MiB</a:t>
                      </a:r>
                    </a:p>
                  </a:txBody>
                  <a:tcPr marL="54864" marR="54864" marT="27432" marB="27432">
                    <a:solidFill>
                      <a:srgbClr val="FFFFFF"/>
                    </a:solidFill>
                  </a:tcPr>
                </a:tc>
                <a:tc>
                  <a:txBody>
                    <a:bodyPr wrap="square"/>
                    <a:lstStyle/>
                    <a:p>
                      <a:pPr algn="l"/>
                      <a:r>
                        <a:rPr sz="1200" b="0">
                          <a:solidFill>
                            <a:srgbClr val="14324A"/>
                          </a:solidFill>
                          <a:latin typeface="Calibri"/>
                        </a:rPr>
                        <a:t>name one authoritative copy; retire or redirect the other</a:t>
                      </a:r>
                    </a:p>
                  </a:txBody>
                  <a:tcPr marL="54864" marR="54864" marT="27432" marB="27432">
                    <a:solidFill>
                      <a:srgbClr val="FFFFFF"/>
                    </a:solidFill>
                  </a:tcPr>
                </a:tc>
              </a:tr>
              <a:tr h="301752">
                <a:tc>
                  <a:txBody>
                    <a:bodyPr wrap="square"/>
                    <a:lstStyle/>
                    <a:p>
                      <a:pPr algn="l"/>
                      <a:r>
                        <a:rPr sz="1200" b="0">
                          <a:solidFill>
                            <a:srgbClr val="14324A"/>
                          </a:solidFill>
                          <a:latin typeface="Calibri"/>
                        </a:rPr>
                        <a:t>iebc_forms/viutickets.movies ↔ viupay/viutickets.movies</a:t>
                      </a:r>
                    </a:p>
                  </a:txBody>
                  <a:tcPr marL="54864" marR="54864" marT="27432" marB="27432">
                    <a:solidFill>
                      <a:srgbClr val="FFFFFF"/>
                    </a:solidFill>
                  </a:tcPr>
                </a:tc>
                <a:tc>
                  <a:txBody>
                    <a:bodyPr wrap="square"/>
                    <a:lstStyle/>
                    <a:p>
                      <a:pPr algn="l"/>
                      <a:r>
                        <a:rPr sz="1200" b="0">
                          <a:solidFill>
                            <a:srgbClr val="14324A"/>
                          </a:solidFill>
                          <a:latin typeface="Calibri"/>
                        </a:rPr>
                        <a:t>two copies of the same table across connections</a:t>
                      </a:r>
                    </a:p>
                  </a:txBody>
                  <a:tcPr marL="54864" marR="54864" marT="27432" marB="27432">
                    <a:solidFill>
                      <a:srgbClr val="FFFFFF"/>
                    </a:solidFill>
                  </a:tcPr>
                </a:tc>
                <a:tc>
                  <a:txBody>
                    <a:bodyPr wrap="square"/>
                    <a:lstStyle/>
                    <a:p>
                      <a:pPr algn="l"/>
                      <a:r>
                        <a:rPr sz="1200" b="0">
                          <a:solidFill>
                            <a:srgbClr val="14324A"/>
                          </a:solidFill>
                          <a:latin typeface="Calibri"/>
                        </a:rPr>
                        <a:t>overlap 84.0% · 6.5 MiB</a:t>
                      </a:r>
                    </a:p>
                  </a:txBody>
                  <a:tcPr marL="54864" marR="54864" marT="27432" marB="27432">
                    <a:solidFill>
                      <a:srgbClr val="FFFFFF"/>
                    </a:solidFill>
                  </a:tcPr>
                </a:tc>
                <a:tc>
                  <a:txBody>
                    <a:bodyPr wrap="square"/>
                    <a:lstStyle/>
                    <a:p>
                      <a:pPr algn="l"/>
                      <a:r>
                        <a:rPr sz="1200" b="0">
                          <a:solidFill>
                            <a:srgbClr val="14324A"/>
                          </a:solidFill>
                          <a:latin typeface="Calibri"/>
                        </a:rPr>
                        <a:t>name one authoritative copy; retire or redirect the other</a:t>
                      </a:r>
                    </a:p>
                  </a:txBody>
                  <a:tcPr marL="54864" marR="54864" marT="27432" marB="27432">
                    <a:solidFill>
                      <a:srgbClr val="FFFFFF"/>
                    </a:solidFill>
                  </a:tcPr>
                </a:tc>
              </a:tr>
              <a:tr h="301752">
                <a:tc>
                  <a:txBody>
                    <a:bodyPr wrap="square"/>
                    <a:lstStyle/>
                    <a:p>
                      <a:pPr algn="l"/>
                      <a:r>
                        <a:rPr sz="1200" b="0">
                          <a:solidFill>
                            <a:srgbClr val="14324A"/>
                          </a:solidFill>
                          <a:latin typeface="Calibri"/>
                        </a:rPr>
                        <a:t>iebc_forms/viutickets.ussd_hits ↔ viupay/viutickets.ussd_hits</a:t>
                      </a:r>
                    </a:p>
                  </a:txBody>
                  <a:tcPr marL="54864" marR="54864" marT="27432" marB="27432">
                    <a:solidFill>
                      <a:srgbClr val="FFFFFF"/>
                    </a:solidFill>
                  </a:tcPr>
                </a:tc>
                <a:tc>
                  <a:txBody>
                    <a:bodyPr wrap="square"/>
                    <a:lstStyle/>
                    <a:p>
                      <a:pPr algn="l"/>
                      <a:r>
                        <a:rPr sz="1200" b="0">
                          <a:solidFill>
                            <a:srgbClr val="14324A"/>
                          </a:solidFill>
                          <a:latin typeface="Calibri"/>
                        </a:rPr>
                        <a:t>two copies of the same table across connections</a:t>
                      </a:r>
                    </a:p>
                  </a:txBody>
                  <a:tcPr marL="54864" marR="54864" marT="27432" marB="27432">
                    <a:solidFill>
                      <a:srgbClr val="FFFFFF"/>
                    </a:solidFill>
                  </a:tcPr>
                </a:tc>
                <a:tc>
                  <a:txBody>
                    <a:bodyPr wrap="square"/>
                    <a:lstStyle/>
                    <a:p>
                      <a:pPr algn="l"/>
                      <a:r>
                        <a:rPr sz="1200" b="0">
                          <a:solidFill>
                            <a:srgbClr val="14324A"/>
                          </a:solidFill>
                          <a:latin typeface="Calibri"/>
                        </a:rPr>
                        <a:t>overlap 100.0% · 6.5 MiB</a:t>
                      </a:r>
                    </a:p>
                  </a:txBody>
                  <a:tcPr marL="54864" marR="54864" marT="27432" marB="27432">
                    <a:solidFill>
                      <a:srgbClr val="FFFFFF"/>
                    </a:solidFill>
                  </a:tcPr>
                </a:tc>
                <a:tc>
                  <a:txBody>
                    <a:bodyPr wrap="square"/>
                    <a:lstStyle/>
                    <a:p>
                      <a:pPr algn="l"/>
                      <a:r>
                        <a:rPr sz="1200" b="0">
                          <a:solidFill>
                            <a:srgbClr val="14324A"/>
                          </a:solidFill>
                          <a:latin typeface="Calibri"/>
                        </a:rPr>
                        <a:t>name one authoritative copy; retire or redirect the other</a:t>
                      </a:r>
                    </a:p>
                  </a:txBody>
                  <a:tcPr marL="54864" marR="54864" marT="27432" marB="27432">
                    <a:solidFill>
                      <a:srgbClr val="FFFFFF"/>
                    </a:solidFill>
                  </a:tcPr>
                </a:tc>
              </a:tr>
              <a:tr h="301752">
                <a:tc>
                  <a:txBody>
                    <a:bodyPr wrap="square"/>
                    <a:lstStyle/>
                    <a:p>
                      <a:pPr algn="l"/>
                      <a:r>
                        <a:rPr sz="1200" b="0">
                          <a:solidFill>
                            <a:srgbClr val="14324A"/>
                          </a:solidFill>
                          <a:latin typeface="Calibri"/>
                        </a:rPr>
                        <a:t>iebc_forms/viutickets.payment_processings ↔ viupay/viutickets.payment_processings</a:t>
                      </a:r>
                    </a:p>
                  </a:txBody>
                  <a:tcPr marL="54864" marR="54864" marT="27432" marB="27432">
                    <a:solidFill>
                      <a:srgbClr val="FFFFFF"/>
                    </a:solidFill>
                  </a:tcPr>
                </a:tc>
                <a:tc>
                  <a:txBody>
                    <a:bodyPr wrap="square"/>
                    <a:lstStyle/>
                    <a:p>
                      <a:pPr algn="l"/>
                      <a:r>
                        <a:rPr sz="1200" b="0">
                          <a:solidFill>
                            <a:srgbClr val="14324A"/>
                          </a:solidFill>
                          <a:latin typeface="Calibri"/>
                        </a:rPr>
                        <a:t>two copies of the same table across connections</a:t>
                      </a:r>
                    </a:p>
                  </a:txBody>
                  <a:tcPr marL="54864" marR="54864" marT="27432" marB="27432">
                    <a:solidFill>
                      <a:srgbClr val="FFFFFF"/>
                    </a:solidFill>
                  </a:tcPr>
                </a:tc>
                <a:tc>
                  <a:txBody>
                    <a:bodyPr wrap="square"/>
                    <a:lstStyle/>
                    <a:p>
                      <a:pPr algn="l"/>
                      <a:r>
                        <a:rPr sz="1200" b="0">
                          <a:solidFill>
                            <a:srgbClr val="14324A"/>
                          </a:solidFill>
                          <a:latin typeface="Calibri"/>
                        </a:rPr>
                        <a:t>overlap 65.0% · 4.5 MiB</a:t>
                      </a:r>
                    </a:p>
                  </a:txBody>
                  <a:tcPr marL="54864" marR="54864" marT="27432" marB="27432">
                    <a:solidFill>
                      <a:srgbClr val="FFFFFF"/>
                    </a:solidFill>
                  </a:tcPr>
                </a:tc>
                <a:tc>
                  <a:txBody>
                    <a:bodyPr wrap="square"/>
                    <a:lstStyle/>
                    <a:p>
                      <a:pPr algn="l"/>
                      <a:r>
                        <a:rPr sz="1200" b="0">
                          <a:solidFill>
                            <a:srgbClr val="14324A"/>
                          </a:solidFill>
                          <a:latin typeface="Calibri"/>
                        </a:rPr>
                        <a:t>name one authoritative copy; retire or redirect the other</a:t>
                      </a:r>
                    </a:p>
                  </a:txBody>
                  <a:tcPr marL="54864" marR="54864" marT="27432" marB="27432">
                    <a:solidFill>
                      <a:srgbClr val="FFFFFF"/>
                    </a:solidFill>
                  </a:tcPr>
                </a:tc>
              </a:tr>
              <a:tr h="301752">
                <a:tc>
                  <a:txBody>
                    <a:bodyPr wrap="square"/>
                    <a:lstStyle/>
                    <a:p>
                      <a:pPr algn="l"/>
                      <a:r>
                        <a:rPr sz="1200" b="0">
                          <a:solidFill>
                            <a:srgbClr val="14324A"/>
                          </a:solidFill>
                          <a:latin typeface="Calibri"/>
                        </a:rPr>
                        <a:t>iebc_forms/viupay.payment_requests ↔ viupay/viupay.payment_requests</a:t>
                      </a:r>
                    </a:p>
                  </a:txBody>
                  <a:tcPr marL="54864" marR="54864" marT="27432" marB="27432">
                    <a:solidFill>
                      <a:srgbClr val="FFFFFF"/>
                    </a:solidFill>
                  </a:tcPr>
                </a:tc>
                <a:tc>
                  <a:txBody>
                    <a:bodyPr wrap="square"/>
                    <a:lstStyle/>
                    <a:p>
                      <a:pPr algn="l"/>
                      <a:r>
                        <a:rPr sz="1200" b="0">
                          <a:solidFill>
                            <a:srgbClr val="14324A"/>
                          </a:solidFill>
                          <a:latin typeface="Calibri"/>
                        </a:rPr>
                        <a:t>two copies of the same table across connections</a:t>
                      </a:r>
                    </a:p>
                  </a:txBody>
                  <a:tcPr marL="54864" marR="54864" marT="27432" marB="27432">
                    <a:solidFill>
                      <a:srgbClr val="FFFFFF"/>
                    </a:solidFill>
                  </a:tcPr>
                </a:tc>
                <a:tc>
                  <a:txBody>
                    <a:bodyPr wrap="square"/>
                    <a:lstStyle/>
                    <a:p>
                      <a:pPr algn="l"/>
                      <a:r>
                        <a:rPr sz="1200" b="0">
                          <a:solidFill>
                            <a:srgbClr val="14324A"/>
                          </a:solidFill>
                          <a:latin typeface="Calibri"/>
                        </a:rPr>
                        <a:t>overlap 50.0% · 3.5 MiB</a:t>
                      </a:r>
                    </a:p>
                  </a:txBody>
                  <a:tcPr marL="54864" marR="54864" marT="27432" marB="27432">
                    <a:solidFill>
                      <a:srgbClr val="FFFFFF"/>
                    </a:solidFill>
                  </a:tcPr>
                </a:tc>
                <a:tc>
                  <a:txBody>
                    <a:bodyPr wrap="square"/>
                    <a:lstStyle/>
                    <a:p>
                      <a:pPr algn="l"/>
                      <a:r>
                        <a:rPr sz="1200" b="0">
                          <a:solidFill>
                            <a:srgbClr val="14324A"/>
                          </a:solidFill>
                          <a:latin typeface="Calibri"/>
                        </a:rPr>
                        <a:t>name one authoritative copy; retire or redirect the other</a:t>
                      </a:r>
                    </a:p>
                  </a:txBody>
                  <a:tcPr marL="54864" marR="54864" marT="27432" marB="27432">
                    <a:solidFill>
                      <a:srgbClr val="FFFFFF"/>
                    </a:solidFill>
                  </a:tcPr>
                </a:tc>
              </a:tr>
              <a:tr h="301752">
                <a:tc>
                  <a:txBody>
                    <a:bodyPr wrap="square"/>
                    <a:lstStyle/>
                    <a:p>
                      <a:pPr algn="l"/>
                      <a:r>
                        <a:rPr sz="1200" b="0">
                          <a:solidFill>
                            <a:srgbClr val="14324A"/>
                          </a:solidFill>
                          <a:latin typeface="Calibri"/>
                        </a:rPr>
                        <a:t>iebc_forms/viutickets.movie_shows ↔ viupay/viutickets.movie_shows</a:t>
                      </a:r>
                    </a:p>
                  </a:txBody>
                  <a:tcPr marL="54864" marR="54864" marT="27432" marB="27432">
                    <a:solidFill>
                      <a:srgbClr val="FFFFFF"/>
                    </a:solidFill>
                  </a:tcPr>
                </a:tc>
                <a:tc>
                  <a:txBody>
                    <a:bodyPr wrap="square"/>
                    <a:lstStyle/>
                    <a:p>
                      <a:pPr algn="l"/>
                      <a:r>
                        <a:rPr sz="1200" b="0">
                          <a:solidFill>
                            <a:srgbClr val="14324A"/>
                          </a:solidFill>
                          <a:latin typeface="Calibri"/>
                        </a:rPr>
                        <a:t>two copies of the same table across connections</a:t>
                      </a:r>
                    </a:p>
                  </a:txBody>
                  <a:tcPr marL="54864" marR="54864" marT="27432" marB="27432">
                    <a:solidFill>
                      <a:srgbClr val="FFFFFF"/>
                    </a:solidFill>
                  </a:tcPr>
                </a:tc>
                <a:tc>
                  <a:txBody>
                    <a:bodyPr wrap="square"/>
                    <a:lstStyle/>
                    <a:p>
                      <a:pPr algn="l"/>
                      <a:r>
                        <a:rPr sz="1200" b="0">
                          <a:solidFill>
                            <a:srgbClr val="14324A"/>
                          </a:solidFill>
                          <a:latin typeface="Calibri"/>
                        </a:rPr>
                        <a:t>overlap 80.0% · 3.5 MiB</a:t>
                      </a:r>
                    </a:p>
                  </a:txBody>
                  <a:tcPr marL="54864" marR="54864" marT="27432" marB="27432">
                    <a:solidFill>
                      <a:srgbClr val="FFFFFF"/>
                    </a:solidFill>
                  </a:tcPr>
                </a:tc>
                <a:tc>
                  <a:txBody>
                    <a:bodyPr wrap="square"/>
                    <a:lstStyle/>
                    <a:p>
                      <a:pPr algn="l"/>
                      <a:r>
                        <a:rPr sz="1200" b="0">
                          <a:solidFill>
                            <a:srgbClr val="14324A"/>
                          </a:solidFill>
                          <a:latin typeface="Calibri"/>
                        </a:rPr>
                        <a:t>name one authoritative copy; retire or redirect the other</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E8772E"/>
                </a:solidFill>
                <a:latin typeface="Calibri"/>
              </a:rPr>
              <a:t>Each row names a table the census measured and the finding that puts it on the list; the bytes column is the strategy total the table belongs to, not the table alone.</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70879A"/>
                </a:solidFill>
                <a:latin typeface="Courier New"/>
              </a:rPr>
              <a:t>[measured]  Receipt R02: Estate intelligence census eij-1b359b3cbd2e, cost_strategies priced at reference list prices, not the owner's invoice: Huawei Cloud RDS for MySQL cloud SSD AF-Johannesburg 0.00015 USD/GB-hour x 730 h; OBS Standard 0.023 USD/GB-month</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70879A"/>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70879A"/>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70879A"/>
                </a:solidFill>
                <a:latin typeface="Courier New"/>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70879A"/>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4324A"/>
                </a:solidFill>
                <a:latin typeface="Cambria"/>
              </a:rPr>
              <a:t>Exact file shares (NAS) enumerated</a:t>
            </a:r>
          </a:p>
        </p:txBody>
      </p:sp>
      <p:graphicFrame>
        <p:nvGraphicFramePr>
          <p:cNvPr id="4" name="Table 3"/>
          <p:cNvGraphicFramePr>
            <a:graphicFrameLocks noGrp="1"/>
          </p:cNvGraphicFramePr>
          <p:nvPr/>
        </p:nvGraphicFramePr>
        <p:xfrm>
          <a:off x="594360" y="1920240"/>
          <a:ext cx="11002972" cy="3017520"/>
        </p:xfrm>
        <a:graphic>
          <a:graphicData uri="http://schemas.openxmlformats.org/drawingml/2006/table">
            <a:tbl>
              <a:tblPr firstRow="1" bandRow="1">
                <a:tableStyleId>{5C22544A-7EE6-4342-B048-85BDC9FD1C3A}</a:tableStyleId>
              </a:tblPr>
              <a:tblGrid>
                <a:gridCol w="1108213"/>
                <a:gridCol w="1108213"/>
                <a:gridCol w="1108213"/>
                <a:gridCol w="1108213"/>
                <a:gridCol w="1108213"/>
                <a:gridCol w="2137268"/>
                <a:gridCol w="3324639"/>
              </a:tblGrid>
              <a:tr h="301752">
                <a:tc>
                  <a:txBody>
                    <a:bodyPr wrap="square"/>
                    <a:lstStyle/>
                    <a:p>
                      <a:pPr algn="l"/>
                      <a:r>
                        <a:rPr sz="1100" b="1">
                          <a:solidFill>
                            <a:srgbClr val="14324A"/>
                          </a:solidFill>
                          <a:latin typeface="Calibri"/>
                        </a:rPr>
                        <a:t>Share</a:t>
                      </a:r>
                    </a:p>
                  </a:txBody>
                  <a:tcPr marL="54864" marR="54864" marT="27432" marB="27432">
                    <a:solidFill>
                      <a:srgbClr val="E8EEF3"/>
                    </a:solidFill>
                  </a:tcPr>
                </a:tc>
                <a:tc>
                  <a:txBody>
                    <a:bodyPr wrap="square"/>
                    <a:lstStyle/>
                    <a:p>
                      <a:pPr algn="l"/>
                      <a:r>
                        <a:rPr sz="1100" b="1">
                          <a:solidFill>
                            <a:srgbClr val="14324A"/>
                          </a:solidFill>
                          <a:latin typeface="Calibri"/>
                        </a:rPr>
                        <a:t>Enumeration</a:t>
                      </a:r>
                    </a:p>
                  </a:txBody>
                  <a:tcPr marL="54864" marR="54864" marT="27432" marB="27432">
                    <a:solidFill>
                      <a:srgbClr val="E8EEF3"/>
                    </a:solidFill>
                  </a:tcPr>
                </a:tc>
                <a:tc>
                  <a:txBody>
                    <a:bodyPr wrap="square"/>
                    <a:lstStyle/>
                    <a:p>
                      <a:pPr algn="l"/>
                      <a:r>
                        <a:rPr sz="1100" b="1">
                          <a:solidFill>
                            <a:srgbClr val="14324A"/>
                          </a:solidFill>
                          <a:latin typeface="Calibri"/>
                        </a:rPr>
                        <a:t>Held (TiB)</a:t>
                      </a:r>
                    </a:p>
                  </a:txBody>
                  <a:tcPr marL="54864" marR="54864" marT="27432" marB="27432">
                    <a:solidFill>
                      <a:srgbClr val="E8EEF3"/>
                    </a:solidFill>
                  </a:tcPr>
                </a:tc>
                <a:tc>
                  <a:txBody>
                    <a:bodyPr wrap="square"/>
                    <a:lstStyle/>
                    <a:p>
                      <a:pPr algn="l"/>
                      <a:r>
                        <a:rPr sz="1100" b="1">
                          <a:solidFill>
                            <a:srgbClr val="14324A"/>
                          </a:solidFill>
                          <a:latin typeface="Calibri"/>
                        </a:rPr>
                        <a:t>Files</a:t>
                      </a:r>
                    </a:p>
                  </a:txBody>
                  <a:tcPr marL="54864" marR="54864" marT="27432" marB="27432">
                    <a:solidFill>
                      <a:srgbClr val="E8EEF3"/>
                    </a:solidFill>
                  </a:tcPr>
                </a:tc>
                <a:tc>
                  <a:txBody>
                    <a:bodyPr wrap="square"/>
                    <a:lstStyle/>
                    <a:p>
                      <a:pPr algn="l"/>
                      <a:r>
                        <a:rPr sz="1100" b="1">
                          <a:solidFill>
                            <a:srgbClr val="14324A"/>
                          </a:solidFill>
                          <a:latin typeface="Calibri"/>
                        </a:rPr>
                        <a:t>Last write</a:t>
                      </a:r>
                    </a:p>
                  </a:txBody>
                  <a:tcPr marL="54864" marR="54864" marT="27432" marB="27432">
                    <a:solidFill>
                      <a:srgbClr val="E8EEF3"/>
                    </a:solidFill>
                  </a:tcPr>
                </a:tc>
                <a:tc>
                  <a:txBody>
                    <a:bodyPr wrap="square"/>
                    <a:lstStyle/>
                    <a:p>
                      <a:pPr algn="l"/>
                      <a:r>
                        <a:rPr sz="1100" b="1">
                          <a:solidFill>
                            <a:srgbClr val="14324A"/>
                          </a:solidFill>
                          <a:latin typeface="Calibri"/>
                        </a:rPr>
                        <a:t>Main formats</a:t>
                      </a:r>
                    </a:p>
                  </a:txBody>
                  <a:tcPr marL="54864" marR="54864" marT="27432" marB="27432">
                    <a:solidFill>
                      <a:srgbClr val="E8EEF3"/>
                    </a:solidFill>
                  </a:tcPr>
                </a:tc>
                <a:tc>
                  <a:txBody>
                    <a:bodyPr wrap="square"/>
                    <a:lstStyle/>
                    <a:p>
                      <a:pPr algn="l"/>
                      <a:r>
                        <a:rPr sz="1100" b="1">
                          <a:solidFill>
                            <a:srgbClr val="14324A"/>
                          </a:solidFill>
                          <a:latin typeface="Calibri"/>
                        </a:rPr>
                        <a:t>Proposed action</a:t>
                      </a:r>
                    </a:p>
                  </a:txBody>
                  <a:tcPr marL="54864" marR="54864" marT="27432" marB="27432">
                    <a:solidFill>
                      <a:srgbClr val="E8EEF3"/>
                    </a:solidFill>
                  </a:tcPr>
                </a:tc>
              </a:tr>
              <a:tr h="301752">
                <a:tc>
                  <a:txBody>
                    <a:bodyPr wrap="square"/>
                    <a:lstStyle/>
                    <a:p>
                      <a:pPr algn="l"/>
                      <a:r>
                        <a:rPr sz="1100" b="0">
                          <a:solidFill>
                            <a:srgbClr val="14324A"/>
                          </a:solidFill>
                          <a:latin typeface="Calibri"/>
                        </a:rPr>
                        <a:t>channel01</a:t>
                      </a:r>
                    </a:p>
                  </a:txBody>
                  <a:tcPr marL="54864" marR="54864" marT="27432" marB="27432">
                    <a:solidFill>
                      <a:srgbClr val="FFFFFF"/>
                    </a:solidFill>
                  </a:tcPr>
                </a:tc>
                <a:tc>
                  <a:txBody>
                    <a:bodyPr wrap="square"/>
                    <a:lstStyle/>
                    <a:p>
                      <a:pPr algn="l"/>
                      <a:r>
                        <a:rPr sz="1100" b="0">
                          <a:solidFill>
                            <a:srgbClr val="14324A"/>
                          </a:solidFill>
                          <a:latin typeface="Calibri"/>
                        </a:rPr>
                        <a:t>complete</a:t>
                      </a:r>
                    </a:p>
                  </a:txBody>
                  <a:tcPr marL="54864" marR="54864" marT="27432" marB="27432">
                    <a:solidFill>
                      <a:srgbClr val="FFFFFF"/>
                    </a:solidFill>
                  </a:tcPr>
                </a:tc>
                <a:tc>
                  <a:txBody>
                    <a:bodyPr wrap="square"/>
                    <a:lstStyle/>
                    <a:p>
                      <a:pPr algn="r"/>
                      <a:r>
                        <a:rPr sz="1100" b="0">
                          <a:solidFill>
                            <a:srgbClr val="14324A"/>
                          </a:solidFill>
                          <a:latin typeface="Courier New"/>
                        </a:rPr>
                        <a:t>6.87</a:t>
                      </a:r>
                    </a:p>
                  </a:txBody>
                  <a:tcPr marL="54864" marR="54864" marT="27432" marB="27432">
                    <a:solidFill>
                      <a:srgbClr val="FFFFFF"/>
                    </a:solidFill>
                  </a:tcPr>
                </a:tc>
                <a:tc>
                  <a:txBody>
                    <a:bodyPr wrap="square"/>
                    <a:lstStyle/>
                    <a:p>
                      <a:pPr algn="r"/>
                      <a:r>
                        <a:rPr sz="1100" b="0">
                          <a:solidFill>
                            <a:srgbClr val="14324A"/>
                          </a:solidFill>
                          <a:latin typeface="Courier New"/>
                        </a:rPr>
                        <a:t>95,122</a:t>
                      </a:r>
                    </a:p>
                  </a:txBody>
                  <a:tcPr marL="54864" marR="54864" marT="27432" marB="27432">
                    <a:solidFill>
                      <a:srgbClr val="FFFFFF"/>
                    </a:solidFill>
                  </a:tcPr>
                </a:tc>
                <a:tc>
                  <a:txBody>
                    <a:bodyPr wrap="square"/>
                    <a:lstStyle/>
                    <a:p>
                      <a:pPr algn="r"/>
                      <a:r>
                        <a:rPr sz="1100" b="0">
                          <a:solidFill>
                            <a:srgbClr val="14324A"/>
                          </a:solidFill>
                          <a:latin typeface="Courier New"/>
                        </a:rPr>
                        <a:t>2026-09-29</a:t>
                      </a:r>
                    </a:p>
                  </a:txBody>
                  <a:tcPr marL="54864" marR="54864" marT="27432" marB="27432">
                    <a:solidFill>
                      <a:srgbClr val="FFFFFF"/>
                    </a:solidFill>
                  </a:tcPr>
                </a:tc>
                <a:tc>
                  <a:txBody>
                    <a:bodyPr wrap="square"/>
                    <a:lstStyle/>
                    <a:p>
                      <a:pPr algn="r"/>
                      <a:r>
                        <a:rPr sz="1100" b="0">
                          <a:solidFill>
                            <a:srgbClr val="14324A"/>
                          </a:solidFill>
                          <a:latin typeface="Courier New"/>
                        </a:rPr>
                        <a:t>.mp4 95,108, .rmd 6, .mpt 3</a:t>
                      </a:r>
                    </a:p>
                  </a:txBody>
                  <a:tcPr marL="54864" marR="54864" marT="27432" marB="27432">
                    <a:solidFill>
                      <a:srgbClr val="FFFFFF"/>
                    </a:solidFill>
                  </a:tcPr>
                </a:tc>
                <a:tc>
                  <a:txBody>
                    <a:bodyPr wrap="square"/>
                    <a:lstStyle/>
                    <a:p>
                      <a:pPr algn="r"/>
                      <a:r>
                        <a:rPr sz="1100" b="0">
                          <a:solidFill>
                            <a:srgbClr val="14324A"/>
                          </a:solidFill>
                          <a:latin typeface="Courier New"/>
                        </a:rPr>
                        <a:t>fingerprint pass to measure duplication; then tier by channel</a:t>
                      </a:r>
                    </a:p>
                  </a:txBody>
                  <a:tcPr marL="54864" marR="54864" marT="27432" marB="27432">
                    <a:solidFill>
                      <a:srgbClr val="FFFFFF"/>
                    </a:solidFill>
                  </a:tcPr>
                </a:tc>
              </a:tr>
              <a:tr h="301752">
                <a:tc>
                  <a:txBody>
                    <a:bodyPr wrap="square"/>
                    <a:lstStyle/>
                    <a:p>
                      <a:pPr algn="l"/>
                      <a:r>
                        <a:rPr sz="1100" b="0">
                          <a:solidFill>
                            <a:srgbClr val="14324A"/>
                          </a:solidFill>
                          <a:latin typeface="Calibri"/>
                        </a:rPr>
                        <a:t>channel02</a:t>
                      </a:r>
                    </a:p>
                  </a:txBody>
                  <a:tcPr marL="54864" marR="54864" marT="27432" marB="27432">
                    <a:solidFill>
                      <a:srgbClr val="FFFFFF"/>
                    </a:solidFill>
                  </a:tcPr>
                </a:tc>
                <a:tc>
                  <a:txBody>
                    <a:bodyPr wrap="square"/>
                    <a:lstStyle/>
                    <a:p>
                      <a:pPr algn="l"/>
                      <a:r>
                        <a:rPr sz="1100" b="0">
                          <a:solidFill>
                            <a:srgbClr val="14324A"/>
                          </a:solidFill>
                          <a:latin typeface="Calibri"/>
                        </a:rPr>
                        <a:t>complete</a:t>
                      </a:r>
                    </a:p>
                  </a:txBody>
                  <a:tcPr marL="54864" marR="54864" marT="27432" marB="27432">
                    <a:solidFill>
                      <a:srgbClr val="FFFFFF"/>
                    </a:solidFill>
                  </a:tcPr>
                </a:tc>
                <a:tc>
                  <a:txBody>
                    <a:bodyPr wrap="square"/>
                    <a:lstStyle/>
                    <a:p>
                      <a:pPr algn="r"/>
                      <a:r>
                        <a:rPr sz="1100" b="0">
                          <a:solidFill>
                            <a:srgbClr val="14324A"/>
                          </a:solidFill>
                          <a:latin typeface="Courier New"/>
                        </a:rPr>
                        <a:t>6.87</a:t>
                      </a:r>
                    </a:p>
                  </a:txBody>
                  <a:tcPr marL="54864" marR="54864" marT="27432" marB="27432">
                    <a:solidFill>
                      <a:srgbClr val="FFFFFF"/>
                    </a:solidFill>
                  </a:tcPr>
                </a:tc>
                <a:tc>
                  <a:txBody>
                    <a:bodyPr wrap="square"/>
                    <a:lstStyle/>
                    <a:p>
                      <a:pPr algn="r"/>
                      <a:r>
                        <a:rPr sz="1100" b="0">
                          <a:solidFill>
                            <a:srgbClr val="14324A"/>
                          </a:solidFill>
                          <a:latin typeface="Courier New"/>
                        </a:rPr>
                        <a:t>95,134</a:t>
                      </a:r>
                    </a:p>
                  </a:txBody>
                  <a:tcPr marL="54864" marR="54864" marT="27432" marB="27432">
                    <a:solidFill>
                      <a:srgbClr val="FFFFFF"/>
                    </a:solidFill>
                  </a:tcPr>
                </a:tc>
                <a:tc>
                  <a:txBody>
                    <a:bodyPr wrap="square"/>
                    <a:lstStyle/>
                    <a:p>
                      <a:pPr algn="r"/>
                      <a:r>
                        <a:rPr sz="1100" b="0">
                          <a:solidFill>
                            <a:srgbClr val="14324A"/>
                          </a:solidFill>
                          <a:latin typeface="Courier New"/>
                        </a:rPr>
                        <a:t>2026-09-29</a:t>
                      </a:r>
                    </a:p>
                  </a:txBody>
                  <a:tcPr marL="54864" marR="54864" marT="27432" marB="27432">
                    <a:solidFill>
                      <a:srgbClr val="FFFFFF"/>
                    </a:solidFill>
                  </a:tcPr>
                </a:tc>
                <a:tc>
                  <a:txBody>
                    <a:bodyPr wrap="square"/>
                    <a:lstStyle/>
                    <a:p>
                      <a:pPr algn="r"/>
                      <a:r>
                        <a:rPr sz="1100" b="0">
                          <a:solidFill>
                            <a:srgbClr val="14324A"/>
                          </a:solidFill>
                          <a:latin typeface="Courier New"/>
                        </a:rPr>
                        <a:t>.mp4 95,129, .db 1, .jpg 1</a:t>
                      </a:r>
                    </a:p>
                  </a:txBody>
                  <a:tcPr marL="54864" marR="54864" marT="27432" marB="27432">
                    <a:solidFill>
                      <a:srgbClr val="FFFFFF"/>
                    </a:solidFill>
                  </a:tcPr>
                </a:tc>
                <a:tc>
                  <a:txBody>
                    <a:bodyPr wrap="square"/>
                    <a:lstStyle/>
                    <a:p>
                      <a:pPr algn="r"/>
                      <a:r>
                        <a:rPr sz="1100" b="0">
                          <a:solidFill>
                            <a:srgbClr val="14324A"/>
                          </a:solidFill>
                          <a:latin typeface="Courier New"/>
                        </a:rPr>
                        <a:t>fingerprint pass to measure duplication; then tier by channel</a:t>
                      </a:r>
                    </a:p>
                  </a:txBody>
                  <a:tcPr marL="54864" marR="54864" marT="27432" marB="27432">
                    <a:solidFill>
                      <a:srgbClr val="FFFFFF"/>
                    </a:solidFill>
                  </a:tcPr>
                </a:tc>
              </a:tr>
              <a:tr h="301752">
                <a:tc>
                  <a:txBody>
                    <a:bodyPr wrap="square"/>
                    <a:lstStyle/>
                    <a:p>
                      <a:pPr algn="l"/>
                      <a:r>
                        <a:rPr sz="1100" b="0">
                          <a:solidFill>
                            <a:srgbClr val="14324A"/>
                          </a:solidFill>
                          <a:latin typeface="Calibri"/>
                        </a:rPr>
                        <a:t>channel16</a:t>
                      </a:r>
                    </a:p>
                  </a:txBody>
                  <a:tcPr marL="54864" marR="54864" marT="27432" marB="27432">
                    <a:solidFill>
                      <a:srgbClr val="FFFFFF"/>
                    </a:solidFill>
                  </a:tcPr>
                </a:tc>
                <a:tc>
                  <a:txBody>
                    <a:bodyPr wrap="square"/>
                    <a:lstStyle/>
                    <a:p>
                      <a:pPr algn="l"/>
                      <a:r>
                        <a:rPr sz="1100" b="0">
                          <a:solidFill>
                            <a:srgbClr val="14324A"/>
                          </a:solidFill>
                          <a:latin typeface="Calibri"/>
                        </a:rPr>
                        <a:t>complete</a:t>
                      </a:r>
                    </a:p>
                  </a:txBody>
                  <a:tcPr marL="54864" marR="54864" marT="27432" marB="27432">
                    <a:solidFill>
                      <a:srgbClr val="FFFFFF"/>
                    </a:solidFill>
                  </a:tcPr>
                </a:tc>
                <a:tc>
                  <a:txBody>
                    <a:bodyPr wrap="square"/>
                    <a:lstStyle/>
                    <a:p>
                      <a:pPr algn="r"/>
                      <a:r>
                        <a:rPr sz="1100" b="0">
                          <a:solidFill>
                            <a:srgbClr val="14324A"/>
                          </a:solidFill>
                          <a:latin typeface="Courier New"/>
                        </a:rPr>
                        <a:t>6.81</a:t>
                      </a:r>
                    </a:p>
                  </a:txBody>
                  <a:tcPr marL="54864" marR="54864" marT="27432" marB="27432">
                    <a:solidFill>
                      <a:srgbClr val="FFFFFF"/>
                    </a:solidFill>
                  </a:tcPr>
                </a:tc>
                <a:tc>
                  <a:txBody>
                    <a:bodyPr wrap="square"/>
                    <a:lstStyle/>
                    <a:p>
                      <a:pPr algn="r"/>
                      <a:r>
                        <a:rPr sz="1100" b="0">
                          <a:solidFill>
                            <a:srgbClr val="14324A"/>
                          </a:solidFill>
                          <a:latin typeface="Courier New"/>
                        </a:rPr>
                        <a:t>94,597</a:t>
                      </a:r>
                    </a:p>
                  </a:txBody>
                  <a:tcPr marL="54864" marR="54864" marT="27432" marB="27432">
                    <a:solidFill>
                      <a:srgbClr val="FFFFFF"/>
                    </a:solidFill>
                  </a:tcPr>
                </a:tc>
                <a:tc>
                  <a:txBody>
                    <a:bodyPr wrap="square"/>
                    <a:lstStyle/>
                    <a:p>
                      <a:pPr algn="r"/>
                      <a:r>
                        <a:rPr sz="1100" b="0">
                          <a:solidFill>
                            <a:srgbClr val="14324A"/>
                          </a:solidFill>
                          <a:latin typeface="Courier New"/>
                        </a:rPr>
                        <a:t>2026-09-29</a:t>
                      </a:r>
                    </a:p>
                  </a:txBody>
                  <a:tcPr marL="54864" marR="54864" marT="27432" marB="27432">
                    <a:solidFill>
                      <a:srgbClr val="FFFFFF"/>
                    </a:solidFill>
                  </a:tcPr>
                </a:tc>
                <a:tc>
                  <a:txBody>
                    <a:bodyPr wrap="square"/>
                    <a:lstStyle/>
                    <a:p>
                      <a:pPr algn="r"/>
                      <a:r>
                        <a:rPr sz="1100" b="0">
                          <a:solidFill>
                            <a:srgbClr val="14324A"/>
                          </a:solidFill>
                          <a:latin typeface="Courier New"/>
                        </a:rPr>
                        <a:t>.mp4 94,592, .db 1, .jpg 1</a:t>
                      </a:r>
                    </a:p>
                  </a:txBody>
                  <a:tcPr marL="54864" marR="54864" marT="27432" marB="27432">
                    <a:solidFill>
                      <a:srgbClr val="FFFFFF"/>
                    </a:solidFill>
                  </a:tcPr>
                </a:tc>
                <a:tc>
                  <a:txBody>
                    <a:bodyPr wrap="square"/>
                    <a:lstStyle/>
                    <a:p>
                      <a:pPr algn="r"/>
                      <a:r>
                        <a:rPr sz="1100" b="0">
                          <a:solidFill>
                            <a:srgbClr val="14324A"/>
                          </a:solidFill>
                          <a:latin typeface="Courier New"/>
                        </a:rPr>
                        <a:t>fingerprint pass to measure duplication; then tier by channel</a:t>
                      </a:r>
                    </a:p>
                  </a:txBody>
                  <a:tcPr marL="54864" marR="54864" marT="27432" marB="27432">
                    <a:solidFill>
                      <a:srgbClr val="FFFFFF"/>
                    </a:solidFill>
                  </a:tcPr>
                </a:tc>
              </a:tr>
              <a:tr h="301752">
                <a:tc>
                  <a:txBody>
                    <a:bodyPr wrap="square"/>
                    <a:lstStyle/>
                    <a:p>
                      <a:pPr algn="l"/>
                      <a:r>
                        <a:rPr sz="1100" b="0">
                          <a:solidFill>
                            <a:srgbClr val="14324A"/>
                          </a:solidFill>
                          <a:latin typeface="Calibri"/>
                        </a:rPr>
                        <a:t>Channel15</a:t>
                      </a:r>
                    </a:p>
                  </a:txBody>
                  <a:tcPr marL="54864" marR="54864" marT="27432" marB="27432">
                    <a:solidFill>
                      <a:srgbClr val="FFFFFF"/>
                    </a:solidFill>
                  </a:tcPr>
                </a:tc>
                <a:tc>
                  <a:txBody>
                    <a:bodyPr wrap="square"/>
                    <a:lstStyle/>
                    <a:p>
                      <a:pPr algn="l"/>
                      <a:r>
                        <a:rPr sz="1100" b="0">
                          <a:solidFill>
                            <a:srgbClr val="14324A"/>
                          </a:solidFill>
                          <a:latin typeface="Calibri"/>
                        </a:rPr>
                        <a:t>complete</a:t>
                      </a:r>
                    </a:p>
                  </a:txBody>
                  <a:tcPr marL="54864" marR="54864" marT="27432" marB="27432">
                    <a:solidFill>
                      <a:srgbClr val="FFFFFF"/>
                    </a:solidFill>
                  </a:tcPr>
                </a:tc>
                <a:tc>
                  <a:txBody>
                    <a:bodyPr wrap="square"/>
                    <a:lstStyle/>
                    <a:p>
                      <a:pPr algn="r"/>
                      <a:r>
                        <a:rPr sz="1100" b="0">
                          <a:solidFill>
                            <a:srgbClr val="14324A"/>
                          </a:solidFill>
                          <a:latin typeface="Courier New"/>
                        </a:rPr>
                        <a:t>1.91</a:t>
                      </a:r>
                    </a:p>
                  </a:txBody>
                  <a:tcPr marL="54864" marR="54864" marT="27432" marB="27432">
                    <a:solidFill>
                      <a:srgbClr val="FFFFFF"/>
                    </a:solidFill>
                  </a:tcPr>
                </a:tc>
                <a:tc>
                  <a:txBody>
                    <a:bodyPr wrap="square"/>
                    <a:lstStyle/>
                    <a:p>
                      <a:pPr algn="r"/>
                      <a:r>
                        <a:rPr sz="1100" b="0">
                          <a:solidFill>
                            <a:srgbClr val="14324A"/>
                          </a:solidFill>
                          <a:latin typeface="Courier New"/>
                        </a:rPr>
                        <a:t>95,635</a:t>
                      </a:r>
                    </a:p>
                  </a:txBody>
                  <a:tcPr marL="54864" marR="54864" marT="27432" marB="27432">
                    <a:solidFill>
                      <a:srgbClr val="FFFFFF"/>
                    </a:solidFill>
                  </a:tcPr>
                </a:tc>
                <a:tc>
                  <a:txBody>
                    <a:bodyPr wrap="square"/>
                    <a:lstStyle/>
                    <a:p>
                      <a:pPr algn="r"/>
                      <a:r>
                        <a:rPr sz="1100" b="0">
                          <a:solidFill>
                            <a:srgbClr val="14324A"/>
                          </a:solidFill>
                          <a:latin typeface="Courier New"/>
                        </a:rPr>
                        <a:t>2026-09-29</a:t>
                      </a:r>
                    </a:p>
                  </a:txBody>
                  <a:tcPr marL="54864" marR="54864" marT="27432" marB="27432">
                    <a:solidFill>
                      <a:srgbClr val="FFFFFF"/>
                    </a:solidFill>
                  </a:tcPr>
                </a:tc>
                <a:tc>
                  <a:txBody>
                    <a:bodyPr wrap="square"/>
                    <a:lstStyle/>
                    <a:p>
                      <a:pPr algn="r"/>
                      <a:r>
                        <a:rPr sz="1100" b="0">
                          <a:solidFill>
                            <a:srgbClr val="14324A"/>
                          </a:solidFill>
                          <a:latin typeface="Courier New"/>
                        </a:rPr>
                        <a:t>.mp4 95,627, .rmd 3, .db 1</a:t>
                      </a:r>
                    </a:p>
                  </a:txBody>
                  <a:tcPr marL="54864" marR="54864" marT="27432" marB="27432">
                    <a:solidFill>
                      <a:srgbClr val="FFFFFF"/>
                    </a:solidFill>
                  </a:tcPr>
                </a:tc>
                <a:tc>
                  <a:txBody>
                    <a:bodyPr wrap="square"/>
                    <a:lstStyle/>
                    <a:p>
                      <a:pPr algn="r"/>
                      <a:r>
                        <a:rPr sz="1100" b="0">
                          <a:solidFill>
                            <a:srgbClr val="14324A"/>
                          </a:solidFill>
                          <a:latin typeface="Courier New"/>
                        </a:rPr>
                        <a:t>fingerprint pass to measure duplication; then tier by channel</a:t>
                      </a:r>
                    </a:p>
                  </a:txBody>
                  <a:tcPr marL="54864" marR="54864" marT="27432" marB="27432">
                    <a:solidFill>
                      <a:srgbClr val="FFFFFF"/>
                    </a:solidFill>
                  </a:tcPr>
                </a:tc>
              </a:tr>
              <a:tr h="301752">
                <a:tc>
                  <a:txBody>
                    <a:bodyPr wrap="square"/>
                    <a:lstStyle/>
                    <a:p>
                      <a:pPr algn="l"/>
                      <a:r>
                        <a:rPr sz="1100" b="0">
                          <a:solidFill>
                            <a:srgbClr val="14324A"/>
                          </a:solidFill>
                          <a:latin typeface="Calibri"/>
                        </a:rPr>
                        <a:t>Channel14</a:t>
                      </a:r>
                    </a:p>
                  </a:txBody>
                  <a:tcPr marL="54864" marR="54864" marT="27432" marB="27432">
                    <a:solidFill>
                      <a:srgbClr val="FFFFFF"/>
                    </a:solidFill>
                  </a:tcPr>
                </a:tc>
                <a:tc>
                  <a:txBody>
                    <a:bodyPr wrap="square"/>
                    <a:lstStyle/>
                    <a:p>
                      <a:pPr algn="l"/>
                      <a:r>
                        <a:rPr sz="1100" b="0">
                          <a:solidFill>
                            <a:srgbClr val="14324A"/>
                          </a:solidFill>
                          <a:latin typeface="Calibri"/>
                        </a:rPr>
                        <a:t>complete</a:t>
                      </a:r>
                    </a:p>
                  </a:txBody>
                  <a:tcPr marL="54864" marR="54864" marT="27432" marB="27432">
                    <a:solidFill>
                      <a:srgbClr val="FFFFFF"/>
                    </a:solidFill>
                  </a:tcPr>
                </a:tc>
                <a:tc>
                  <a:txBody>
                    <a:bodyPr wrap="square"/>
                    <a:lstStyle/>
                    <a:p>
                      <a:pPr algn="r"/>
                      <a:r>
                        <a:rPr sz="1100" b="0">
                          <a:solidFill>
                            <a:srgbClr val="14324A"/>
                          </a:solidFill>
                          <a:latin typeface="Courier New"/>
                        </a:rPr>
                        <a:t>1.91</a:t>
                      </a:r>
                    </a:p>
                  </a:txBody>
                  <a:tcPr marL="54864" marR="54864" marT="27432" marB="27432">
                    <a:solidFill>
                      <a:srgbClr val="FFFFFF"/>
                    </a:solidFill>
                  </a:tcPr>
                </a:tc>
                <a:tc>
                  <a:txBody>
                    <a:bodyPr wrap="square"/>
                    <a:lstStyle/>
                    <a:p>
                      <a:pPr algn="r"/>
                      <a:r>
                        <a:rPr sz="1100" b="0">
                          <a:solidFill>
                            <a:srgbClr val="14324A"/>
                          </a:solidFill>
                          <a:latin typeface="Courier New"/>
                        </a:rPr>
                        <a:t>95,615</a:t>
                      </a:r>
                    </a:p>
                  </a:txBody>
                  <a:tcPr marL="54864" marR="54864" marT="27432" marB="27432">
                    <a:solidFill>
                      <a:srgbClr val="FFFFFF"/>
                    </a:solidFill>
                  </a:tcPr>
                </a:tc>
                <a:tc>
                  <a:txBody>
                    <a:bodyPr wrap="square"/>
                    <a:lstStyle/>
                    <a:p>
                      <a:pPr algn="r"/>
                      <a:r>
                        <a:rPr sz="1100" b="0">
                          <a:solidFill>
                            <a:srgbClr val="14324A"/>
                          </a:solidFill>
                          <a:latin typeface="Courier New"/>
                        </a:rPr>
                        <a:t>2026-09-29</a:t>
                      </a:r>
                    </a:p>
                  </a:txBody>
                  <a:tcPr marL="54864" marR="54864" marT="27432" marB="27432">
                    <a:solidFill>
                      <a:srgbClr val="FFFFFF"/>
                    </a:solidFill>
                  </a:tcPr>
                </a:tc>
                <a:tc>
                  <a:txBody>
                    <a:bodyPr wrap="square"/>
                    <a:lstStyle/>
                    <a:p>
                      <a:pPr algn="r"/>
                      <a:r>
                        <a:rPr sz="1100" b="0">
                          <a:solidFill>
                            <a:srgbClr val="14324A"/>
                          </a:solidFill>
                          <a:latin typeface="Courier New"/>
                        </a:rPr>
                        <a:t>.mp4 95,609, .rmd 2, .db 1</a:t>
                      </a:r>
                    </a:p>
                  </a:txBody>
                  <a:tcPr marL="54864" marR="54864" marT="27432" marB="27432">
                    <a:solidFill>
                      <a:srgbClr val="FFFFFF"/>
                    </a:solidFill>
                  </a:tcPr>
                </a:tc>
                <a:tc>
                  <a:txBody>
                    <a:bodyPr wrap="square"/>
                    <a:lstStyle/>
                    <a:p>
                      <a:pPr algn="r"/>
                      <a:r>
                        <a:rPr sz="1100" b="0">
                          <a:solidFill>
                            <a:srgbClr val="14324A"/>
                          </a:solidFill>
                          <a:latin typeface="Courier New"/>
                        </a:rPr>
                        <a:t>fingerprint pass to measure duplication; then tier by channel</a:t>
                      </a:r>
                    </a:p>
                  </a:txBody>
                  <a:tcPr marL="54864" marR="54864" marT="27432" marB="27432">
                    <a:solidFill>
                      <a:srgbClr val="FFFFFF"/>
                    </a:solidFill>
                  </a:tcPr>
                </a:tc>
              </a:tr>
              <a:tr h="301752">
                <a:tc>
                  <a:txBody>
                    <a:bodyPr wrap="square"/>
                    <a:lstStyle/>
                    <a:p>
                      <a:pPr algn="l"/>
                      <a:r>
                        <a:rPr sz="1100" b="0">
                          <a:solidFill>
                            <a:srgbClr val="14324A"/>
                          </a:solidFill>
                          <a:latin typeface="Calibri"/>
                        </a:rPr>
                        <a:t>Channel11</a:t>
                      </a:r>
                    </a:p>
                  </a:txBody>
                  <a:tcPr marL="54864" marR="54864" marT="27432" marB="27432">
                    <a:solidFill>
                      <a:srgbClr val="FFFFFF"/>
                    </a:solidFill>
                  </a:tcPr>
                </a:tc>
                <a:tc>
                  <a:txBody>
                    <a:bodyPr wrap="square"/>
                    <a:lstStyle/>
                    <a:p>
                      <a:pPr algn="l"/>
                      <a:r>
                        <a:rPr sz="1100" b="0">
                          <a:solidFill>
                            <a:srgbClr val="14324A"/>
                          </a:solidFill>
                          <a:latin typeface="Calibri"/>
                        </a:rPr>
                        <a:t>complete</a:t>
                      </a:r>
                    </a:p>
                  </a:txBody>
                  <a:tcPr marL="54864" marR="54864" marT="27432" marB="27432">
                    <a:solidFill>
                      <a:srgbClr val="FFFFFF"/>
                    </a:solidFill>
                  </a:tcPr>
                </a:tc>
                <a:tc>
                  <a:txBody>
                    <a:bodyPr wrap="square"/>
                    <a:lstStyle/>
                    <a:p>
                      <a:pPr algn="r"/>
                      <a:r>
                        <a:rPr sz="1100" b="0">
                          <a:solidFill>
                            <a:srgbClr val="14324A"/>
                          </a:solidFill>
                          <a:latin typeface="Courier New"/>
                        </a:rPr>
                        <a:t>1.91</a:t>
                      </a:r>
                    </a:p>
                  </a:txBody>
                  <a:tcPr marL="54864" marR="54864" marT="27432" marB="27432">
                    <a:solidFill>
                      <a:srgbClr val="FFFFFF"/>
                    </a:solidFill>
                  </a:tcPr>
                </a:tc>
                <a:tc>
                  <a:txBody>
                    <a:bodyPr wrap="square"/>
                    <a:lstStyle/>
                    <a:p>
                      <a:pPr algn="r"/>
                      <a:r>
                        <a:rPr sz="1100" b="0">
                          <a:solidFill>
                            <a:srgbClr val="14324A"/>
                          </a:solidFill>
                          <a:latin typeface="Courier New"/>
                        </a:rPr>
                        <a:t>95,602</a:t>
                      </a:r>
                    </a:p>
                  </a:txBody>
                  <a:tcPr marL="54864" marR="54864" marT="27432" marB="27432">
                    <a:solidFill>
                      <a:srgbClr val="FFFFFF"/>
                    </a:solidFill>
                  </a:tcPr>
                </a:tc>
                <a:tc>
                  <a:txBody>
                    <a:bodyPr wrap="square"/>
                    <a:lstStyle/>
                    <a:p>
                      <a:pPr algn="r"/>
                      <a:r>
                        <a:rPr sz="1100" b="0">
                          <a:solidFill>
                            <a:srgbClr val="14324A"/>
                          </a:solidFill>
                          <a:latin typeface="Courier New"/>
                        </a:rPr>
                        <a:t>2026-09-29</a:t>
                      </a:r>
                    </a:p>
                  </a:txBody>
                  <a:tcPr marL="54864" marR="54864" marT="27432" marB="27432">
                    <a:solidFill>
                      <a:srgbClr val="FFFFFF"/>
                    </a:solidFill>
                  </a:tcPr>
                </a:tc>
                <a:tc>
                  <a:txBody>
                    <a:bodyPr wrap="square"/>
                    <a:lstStyle/>
                    <a:p>
                      <a:pPr algn="r"/>
                      <a:r>
                        <a:rPr sz="1100" b="0">
                          <a:solidFill>
                            <a:srgbClr val="14324A"/>
                          </a:solidFill>
                          <a:latin typeface="Courier New"/>
                        </a:rPr>
                        <a:t>.mp4 95,592, .rmd 6, .db 1</a:t>
                      </a:r>
                    </a:p>
                  </a:txBody>
                  <a:tcPr marL="54864" marR="54864" marT="27432" marB="27432">
                    <a:solidFill>
                      <a:srgbClr val="FFFFFF"/>
                    </a:solidFill>
                  </a:tcPr>
                </a:tc>
                <a:tc>
                  <a:txBody>
                    <a:bodyPr wrap="square"/>
                    <a:lstStyle/>
                    <a:p>
                      <a:pPr algn="r"/>
                      <a:r>
                        <a:rPr sz="1100" b="0">
                          <a:solidFill>
                            <a:srgbClr val="14324A"/>
                          </a:solidFill>
                          <a:latin typeface="Courier New"/>
                        </a:rPr>
                        <a:t>fingerprint pass to measure duplication; then tier by channel</a:t>
                      </a:r>
                    </a:p>
                  </a:txBody>
                  <a:tcPr marL="54864" marR="54864" marT="27432" marB="27432">
                    <a:solidFill>
                      <a:srgbClr val="FFFFFF"/>
                    </a:solidFill>
                  </a:tcPr>
                </a:tc>
              </a:tr>
              <a:tr h="301752">
                <a:tc>
                  <a:txBody>
                    <a:bodyPr wrap="square"/>
                    <a:lstStyle/>
                    <a:p>
                      <a:pPr algn="l"/>
                      <a:r>
                        <a:rPr sz="1100" b="0">
                          <a:solidFill>
                            <a:srgbClr val="14324A"/>
                          </a:solidFill>
                          <a:latin typeface="Calibri"/>
                        </a:rPr>
                        <a:t>Channel12</a:t>
                      </a:r>
                    </a:p>
                  </a:txBody>
                  <a:tcPr marL="54864" marR="54864" marT="27432" marB="27432">
                    <a:solidFill>
                      <a:srgbClr val="FFFFFF"/>
                    </a:solidFill>
                  </a:tcPr>
                </a:tc>
                <a:tc>
                  <a:txBody>
                    <a:bodyPr wrap="square"/>
                    <a:lstStyle/>
                    <a:p>
                      <a:pPr algn="l"/>
                      <a:r>
                        <a:rPr sz="1100" b="0">
                          <a:solidFill>
                            <a:srgbClr val="14324A"/>
                          </a:solidFill>
                          <a:latin typeface="Calibri"/>
                        </a:rPr>
                        <a:t>complete</a:t>
                      </a:r>
                    </a:p>
                  </a:txBody>
                  <a:tcPr marL="54864" marR="54864" marT="27432" marB="27432">
                    <a:solidFill>
                      <a:srgbClr val="FFFFFF"/>
                    </a:solidFill>
                  </a:tcPr>
                </a:tc>
                <a:tc>
                  <a:txBody>
                    <a:bodyPr wrap="square"/>
                    <a:lstStyle/>
                    <a:p>
                      <a:pPr algn="r"/>
                      <a:r>
                        <a:rPr sz="1100" b="0">
                          <a:solidFill>
                            <a:srgbClr val="14324A"/>
                          </a:solidFill>
                          <a:latin typeface="Courier New"/>
                        </a:rPr>
                        <a:t>1.91</a:t>
                      </a:r>
                    </a:p>
                  </a:txBody>
                  <a:tcPr marL="54864" marR="54864" marT="27432" marB="27432">
                    <a:solidFill>
                      <a:srgbClr val="FFFFFF"/>
                    </a:solidFill>
                  </a:tcPr>
                </a:tc>
                <a:tc>
                  <a:txBody>
                    <a:bodyPr wrap="square"/>
                    <a:lstStyle/>
                    <a:p>
                      <a:pPr algn="r"/>
                      <a:r>
                        <a:rPr sz="1100" b="0">
                          <a:solidFill>
                            <a:srgbClr val="14324A"/>
                          </a:solidFill>
                          <a:latin typeface="Courier New"/>
                        </a:rPr>
                        <a:t>95,600</a:t>
                      </a:r>
                    </a:p>
                  </a:txBody>
                  <a:tcPr marL="54864" marR="54864" marT="27432" marB="27432">
                    <a:solidFill>
                      <a:srgbClr val="FFFFFF"/>
                    </a:solidFill>
                  </a:tcPr>
                </a:tc>
                <a:tc>
                  <a:txBody>
                    <a:bodyPr wrap="square"/>
                    <a:lstStyle/>
                    <a:p>
                      <a:pPr algn="r"/>
                      <a:r>
                        <a:rPr sz="1100" b="0">
                          <a:solidFill>
                            <a:srgbClr val="14324A"/>
                          </a:solidFill>
                          <a:latin typeface="Courier New"/>
                        </a:rPr>
                        <a:t>2026-09-29</a:t>
                      </a:r>
                    </a:p>
                  </a:txBody>
                  <a:tcPr marL="54864" marR="54864" marT="27432" marB="27432">
                    <a:solidFill>
                      <a:srgbClr val="FFFFFF"/>
                    </a:solidFill>
                  </a:tcPr>
                </a:tc>
                <a:tc>
                  <a:txBody>
                    <a:bodyPr wrap="square"/>
                    <a:lstStyle/>
                    <a:p>
                      <a:pPr algn="r"/>
                      <a:r>
                        <a:rPr sz="1100" b="0">
                          <a:solidFill>
                            <a:srgbClr val="14324A"/>
                          </a:solidFill>
                          <a:latin typeface="Courier New"/>
                        </a:rPr>
                        <a:t>.mp4 95,590, .rmd 6, .db 1</a:t>
                      </a:r>
                    </a:p>
                  </a:txBody>
                  <a:tcPr marL="54864" marR="54864" marT="27432" marB="27432">
                    <a:solidFill>
                      <a:srgbClr val="FFFFFF"/>
                    </a:solidFill>
                  </a:tcPr>
                </a:tc>
                <a:tc>
                  <a:txBody>
                    <a:bodyPr wrap="square"/>
                    <a:lstStyle/>
                    <a:p>
                      <a:pPr algn="r"/>
                      <a:r>
                        <a:rPr sz="1100" b="0">
                          <a:solidFill>
                            <a:srgbClr val="14324A"/>
                          </a:solidFill>
                          <a:latin typeface="Courier New"/>
                        </a:rPr>
                        <a:t>fingerprint pass to measure duplication; then tier by channel</a:t>
                      </a:r>
                    </a:p>
                  </a:txBody>
                  <a:tcPr marL="54864" marR="54864" marT="27432" marB="27432">
                    <a:solidFill>
                      <a:srgbClr val="FFFFFF"/>
                    </a:solidFill>
                  </a:tcPr>
                </a:tc>
              </a:tr>
              <a:tr h="301752">
                <a:tc>
                  <a:txBody>
                    <a:bodyPr wrap="square"/>
                    <a:lstStyle/>
                    <a:p>
                      <a:pPr algn="l"/>
                      <a:r>
                        <a:rPr sz="1100" b="0">
                          <a:solidFill>
                            <a:srgbClr val="14324A"/>
                          </a:solidFill>
                          <a:latin typeface="Calibri"/>
                        </a:rPr>
                        <a:t>channel07</a:t>
                      </a:r>
                    </a:p>
                  </a:txBody>
                  <a:tcPr marL="54864" marR="54864" marT="27432" marB="27432">
                    <a:solidFill>
                      <a:srgbClr val="FFFFFF"/>
                    </a:solidFill>
                  </a:tcPr>
                </a:tc>
                <a:tc>
                  <a:txBody>
                    <a:bodyPr wrap="square"/>
                    <a:lstStyle/>
                    <a:p>
                      <a:pPr algn="l"/>
                      <a:r>
                        <a:rPr sz="1100" b="0">
                          <a:solidFill>
                            <a:srgbClr val="14324A"/>
                          </a:solidFill>
                          <a:latin typeface="Calibri"/>
                        </a:rPr>
                        <a:t>complete</a:t>
                      </a:r>
                    </a:p>
                  </a:txBody>
                  <a:tcPr marL="54864" marR="54864" marT="27432" marB="27432">
                    <a:solidFill>
                      <a:srgbClr val="FFFFFF"/>
                    </a:solidFill>
                  </a:tcPr>
                </a:tc>
                <a:tc>
                  <a:txBody>
                    <a:bodyPr wrap="square"/>
                    <a:lstStyle/>
                    <a:p>
                      <a:pPr algn="r"/>
                      <a:r>
                        <a:rPr sz="1100" b="0">
                          <a:solidFill>
                            <a:srgbClr val="14324A"/>
                          </a:solidFill>
                          <a:latin typeface="Courier New"/>
                        </a:rPr>
                        <a:t>1.91</a:t>
                      </a:r>
                    </a:p>
                  </a:txBody>
                  <a:tcPr marL="54864" marR="54864" marT="27432" marB="27432">
                    <a:solidFill>
                      <a:srgbClr val="FFFFFF"/>
                    </a:solidFill>
                  </a:tcPr>
                </a:tc>
                <a:tc>
                  <a:txBody>
                    <a:bodyPr wrap="square"/>
                    <a:lstStyle/>
                    <a:p>
                      <a:pPr algn="r"/>
                      <a:r>
                        <a:rPr sz="1100" b="0">
                          <a:solidFill>
                            <a:srgbClr val="14324A"/>
                          </a:solidFill>
                          <a:latin typeface="Courier New"/>
                        </a:rPr>
                        <a:t>95,550</a:t>
                      </a:r>
                    </a:p>
                  </a:txBody>
                  <a:tcPr marL="54864" marR="54864" marT="27432" marB="27432">
                    <a:solidFill>
                      <a:srgbClr val="FFFFFF"/>
                    </a:solidFill>
                  </a:tcPr>
                </a:tc>
                <a:tc>
                  <a:txBody>
                    <a:bodyPr wrap="square"/>
                    <a:lstStyle/>
                    <a:p>
                      <a:pPr algn="r"/>
                      <a:r>
                        <a:rPr sz="1100" b="0">
                          <a:solidFill>
                            <a:srgbClr val="14324A"/>
                          </a:solidFill>
                          <a:latin typeface="Courier New"/>
                        </a:rPr>
                        <a:t>2026-09-29</a:t>
                      </a:r>
                    </a:p>
                  </a:txBody>
                  <a:tcPr marL="54864" marR="54864" marT="27432" marB="27432">
                    <a:solidFill>
                      <a:srgbClr val="FFFFFF"/>
                    </a:solidFill>
                  </a:tcPr>
                </a:tc>
                <a:tc>
                  <a:txBody>
                    <a:bodyPr wrap="square"/>
                    <a:lstStyle/>
                    <a:p>
                      <a:pPr algn="r"/>
                      <a:r>
                        <a:rPr sz="1100" b="0">
                          <a:solidFill>
                            <a:srgbClr val="14324A"/>
                          </a:solidFill>
                          <a:latin typeface="Courier New"/>
                        </a:rPr>
                        <a:t>.mp4 95,546, .db 1, .jpg 1</a:t>
                      </a:r>
                    </a:p>
                  </a:txBody>
                  <a:tcPr marL="54864" marR="54864" marT="27432" marB="27432">
                    <a:solidFill>
                      <a:srgbClr val="FFFFFF"/>
                    </a:solidFill>
                  </a:tcPr>
                </a:tc>
                <a:tc>
                  <a:txBody>
                    <a:bodyPr wrap="square"/>
                    <a:lstStyle/>
                    <a:p>
                      <a:pPr algn="r"/>
                      <a:r>
                        <a:rPr sz="1100" b="0">
                          <a:solidFill>
                            <a:srgbClr val="14324A"/>
                          </a:solidFill>
                          <a:latin typeface="Courier New"/>
                        </a:rPr>
                        <a:t>fingerprint pass to measure duplication; then tier by channel</a:t>
                      </a:r>
                    </a:p>
                  </a:txBody>
                  <a:tcPr marL="54864" marR="54864" marT="27432" marB="27432">
                    <a:solidFill>
                      <a:srgbClr val="FFFFFF"/>
                    </a:solidFill>
                  </a:tcPr>
                </a:tc>
              </a:tr>
              <a:tr h="301752">
                <a:tc>
                  <a:txBody>
                    <a:bodyPr wrap="square"/>
                    <a:lstStyle/>
                    <a:p>
                      <a:pPr algn="l"/>
                      <a:r>
                        <a:rPr sz="1100" b="0">
                          <a:solidFill>
                            <a:srgbClr val="14324A"/>
                          </a:solidFill>
                          <a:latin typeface="Calibri"/>
                        </a:rPr>
                        <a:t>channel06</a:t>
                      </a:r>
                    </a:p>
                  </a:txBody>
                  <a:tcPr marL="54864" marR="54864" marT="27432" marB="27432">
                    <a:solidFill>
                      <a:srgbClr val="FFFFFF"/>
                    </a:solidFill>
                  </a:tcPr>
                </a:tc>
                <a:tc>
                  <a:txBody>
                    <a:bodyPr wrap="square"/>
                    <a:lstStyle/>
                    <a:p>
                      <a:pPr algn="l"/>
                      <a:r>
                        <a:rPr sz="1100" b="0">
                          <a:solidFill>
                            <a:srgbClr val="14324A"/>
                          </a:solidFill>
                          <a:latin typeface="Calibri"/>
                        </a:rPr>
                        <a:t>complete</a:t>
                      </a:r>
                    </a:p>
                  </a:txBody>
                  <a:tcPr marL="54864" marR="54864" marT="27432" marB="27432">
                    <a:solidFill>
                      <a:srgbClr val="FFFFFF"/>
                    </a:solidFill>
                  </a:tcPr>
                </a:tc>
                <a:tc>
                  <a:txBody>
                    <a:bodyPr wrap="square"/>
                    <a:lstStyle/>
                    <a:p>
                      <a:pPr algn="r"/>
                      <a:r>
                        <a:rPr sz="1100" b="0">
                          <a:solidFill>
                            <a:srgbClr val="14324A"/>
                          </a:solidFill>
                          <a:latin typeface="Courier New"/>
                        </a:rPr>
                        <a:t>1.91</a:t>
                      </a:r>
                    </a:p>
                  </a:txBody>
                  <a:tcPr marL="54864" marR="54864" marT="27432" marB="27432">
                    <a:solidFill>
                      <a:srgbClr val="FFFFFF"/>
                    </a:solidFill>
                  </a:tcPr>
                </a:tc>
                <a:tc>
                  <a:txBody>
                    <a:bodyPr wrap="square"/>
                    <a:lstStyle/>
                    <a:p>
                      <a:pPr algn="r"/>
                      <a:r>
                        <a:rPr sz="1100" b="0">
                          <a:solidFill>
                            <a:srgbClr val="14324A"/>
                          </a:solidFill>
                          <a:latin typeface="Courier New"/>
                        </a:rPr>
                        <a:t>95,548</a:t>
                      </a:r>
                    </a:p>
                  </a:txBody>
                  <a:tcPr marL="54864" marR="54864" marT="27432" marB="27432">
                    <a:solidFill>
                      <a:srgbClr val="FFFFFF"/>
                    </a:solidFill>
                  </a:tcPr>
                </a:tc>
                <a:tc>
                  <a:txBody>
                    <a:bodyPr wrap="square"/>
                    <a:lstStyle/>
                    <a:p>
                      <a:pPr algn="r"/>
                      <a:r>
                        <a:rPr sz="1100" b="0">
                          <a:solidFill>
                            <a:srgbClr val="14324A"/>
                          </a:solidFill>
                          <a:latin typeface="Courier New"/>
                        </a:rPr>
                        <a:t>2026-09-29</a:t>
                      </a:r>
                    </a:p>
                  </a:txBody>
                  <a:tcPr marL="54864" marR="54864" marT="27432" marB="27432">
                    <a:solidFill>
                      <a:srgbClr val="FFFFFF"/>
                    </a:solidFill>
                  </a:tcPr>
                </a:tc>
                <a:tc>
                  <a:txBody>
                    <a:bodyPr wrap="square"/>
                    <a:lstStyle/>
                    <a:p>
                      <a:pPr algn="r"/>
                      <a:r>
                        <a:rPr sz="1100" b="0">
                          <a:solidFill>
                            <a:srgbClr val="14324A"/>
                          </a:solidFill>
                          <a:latin typeface="Courier New"/>
                        </a:rPr>
                        <a:t>.mp4 95,544, .db 1, .jpg 1</a:t>
                      </a:r>
                    </a:p>
                  </a:txBody>
                  <a:tcPr marL="54864" marR="54864" marT="27432" marB="27432">
                    <a:solidFill>
                      <a:srgbClr val="FFFFFF"/>
                    </a:solidFill>
                  </a:tcPr>
                </a:tc>
                <a:tc>
                  <a:txBody>
                    <a:bodyPr wrap="square"/>
                    <a:lstStyle/>
                    <a:p>
                      <a:pPr algn="r"/>
                      <a:r>
                        <a:rPr sz="1100" b="0">
                          <a:solidFill>
                            <a:srgbClr val="14324A"/>
                          </a:solidFill>
                          <a:latin typeface="Courier New"/>
                        </a:rPr>
                        <a:t>fingerprint pass to measure duplication; then tier by channel</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E8772E"/>
                </a:solidFill>
                <a:latin typeface="Calibri"/>
              </a:rPr>
              <a:t>Sizes and dates were recorded; content fingerprints were not, so duplication across the channel shares is not yet measured.</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70879A"/>
                </a:solidFill>
                <a:latin typeface="Courier New"/>
              </a:rPr>
              <a:t>[measured]  Receipt R05: NAS share enumeration census run cr-cf4eef79995b (1,456,787 files, 43.6 TiB)</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70879A"/>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70879A"/>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70879A"/>
                </a:solidFill>
                <a:latin typeface="Courier New"/>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70879A"/>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4324A"/>
                </a:solidFill>
                <a:latin typeface="Cambria"/>
              </a:rPr>
              <a:t>Exact file shares (NAS) enumerated</a:t>
            </a:r>
          </a:p>
        </p:txBody>
      </p:sp>
      <p:graphicFrame>
        <p:nvGraphicFramePr>
          <p:cNvPr id="4" name="Table 3"/>
          <p:cNvGraphicFramePr>
            <a:graphicFrameLocks noGrp="1"/>
          </p:cNvGraphicFramePr>
          <p:nvPr/>
        </p:nvGraphicFramePr>
        <p:xfrm>
          <a:off x="594360" y="1920240"/>
          <a:ext cx="11002970" cy="1536192"/>
        </p:xfrm>
        <a:graphic>
          <a:graphicData uri="http://schemas.openxmlformats.org/drawingml/2006/table">
            <a:tbl>
              <a:tblPr firstRow="1" bandRow="1">
                <a:tableStyleId>{5C22544A-7EE6-4342-B048-85BDC9FD1C3A}</a:tableStyleId>
              </a:tblPr>
              <a:tblGrid>
                <a:gridCol w="1116243"/>
                <a:gridCol w="1116243"/>
                <a:gridCol w="1116243"/>
                <a:gridCol w="1116243"/>
                <a:gridCol w="1116243"/>
                <a:gridCol w="2073024"/>
                <a:gridCol w="3348731"/>
              </a:tblGrid>
              <a:tr h="384048">
                <a:tc>
                  <a:txBody>
                    <a:bodyPr wrap="square"/>
                    <a:lstStyle/>
                    <a:p>
                      <a:pPr algn="l"/>
                      <a:r>
                        <a:rPr sz="1200" b="1">
                          <a:solidFill>
                            <a:srgbClr val="14324A"/>
                          </a:solidFill>
                          <a:latin typeface="Calibri"/>
                        </a:rPr>
                        <a:t>Share</a:t>
                      </a:r>
                    </a:p>
                  </a:txBody>
                  <a:tcPr marL="54864" marR="54864" marT="27432" marB="27432">
                    <a:solidFill>
                      <a:srgbClr val="E8EEF3"/>
                    </a:solidFill>
                  </a:tcPr>
                </a:tc>
                <a:tc>
                  <a:txBody>
                    <a:bodyPr wrap="square"/>
                    <a:lstStyle/>
                    <a:p>
                      <a:pPr algn="l"/>
                      <a:r>
                        <a:rPr sz="1200" b="1">
                          <a:solidFill>
                            <a:srgbClr val="14324A"/>
                          </a:solidFill>
                          <a:latin typeface="Calibri"/>
                        </a:rPr>
                        <a:t>Enumeration</a:t>
                      </a:r>
                    </a:p>
                  </a:txBody>
                  <a:tcPr marL="54864" marR="54864" marT="27432" marB="27432">
                    <a:solidFill>
                      <a:srgbClr val="E8EEF3"/>
                    </a:solidFill>
                  </a:tcPr>
                </a:tc>
                <a:tc>
                  <a:txBody>
                    <a:bodyPr wrap="square"/>
                    <a:lstStyle/>
                    <a:p>
                      <a:pPr algn="l"/>
                      <a:r>
                        <a:rPr sz="1200" b="1">
                          <a:solidFill>
                            <a:srgbClr val="14324A"/>
                          </a:solidFill>
                          <a:latin typeface="Calibri"/>
                        </a:rPr>
                        <a:t>Held (TiB)</a:t>
                      </a:r>
                    </a:p>
                  </a:txBody>
                  <a:tcPr marL="54864" marR="54864" marT="27432" marB="27432">
                    <a:solidFill>
                      <a:srgbClr val="E8EEF3"/>
                    </a:solidFill>
                  </a:tcPr>
                </a:tc>
                <a:tc>
                  <a:txBody>
                    <a:bodyPr wrap="square"/>
                    <a:lstStyle/>
                    <a:p>
                      <a:pPr algn="l"/>
                      <a:r>
                        <a:rPr sz="1200" b="1">
                          <a:solidFill>
                            <a:srgbClr val="14324A"/>
                          </a:solidFill>
                          <a:latin typeface="Calibri"/>
                        </a:rPr>
                        <a:t>Files</a:t>
                      </a:r>
                    </a:p>
                  </a:txBody>
                  <a:tcPr marL="54864" marR="54864" marT="27432" marB="27432">
                    <a:solidFill>
                      <a:srgbClr val="E8EEF3"/>
                    </a:solidFill>
                  </a:tcPr>
                </a:tc>
                <a:tc>
                  <a:txBody>
                    <a:bodyPr wrap="square"/>
                    <a:lstStyle/>
                    <a:p>
                      <a:pPr algn="l"/>
                      <a:r>
                        <a:rPr sz="1200" b="1">
                          <a:solidFill>
                            <a:srgbClr val="14324A"/>
                          </a:solidFill>
                          <a:latin typeface="Calibri"/>
                        </a:rPr>
                        <a:t>Last write</a:t>
                      </a:r>
                    </a:p>
                  </a:txBody>
                  <a:tcPr marL="54864" marR="54864" marT="27432" marB="27432">
                    <a:solidFill>
                      <a:srgbClr val="E8EEF3"/>
                    </a:solidFill>
                  </a:tcPr>
                </a:tc>
                <a:tc>
                  <a:txBody>
                    <a:bodyPr wrap="square"/>
                    <a:lstStyle/>
                    <a:p>
                      <a:pPr algn="l"/>
                      <a:r>
                        <a:rPr sz="1200" b="1">
                          <a:solidFill>
                            <a:srgbClr val="14324A"/>
                          </a:solidFill>
                          <a:latin typeface="Calibri"/>
                        </a:rPr>
                        <a:t>Main formats</a:t>
                      </a:r>
                    </a:p>
                  </a:txBody>
                  <a:tcPr marL="54864" marR="54864" marT="27432" marB="27432">
                    <a:solidFill>
                      <a:srgbClr val="E8EEF3"/>
                    </a:solidFill>
                  </a:tcPr>
                </a:tc>
                <a:tc>
                  <a:txBody>
                    <a:bodyPr wrap="square"/>
                    <a:lstStyle/>
                    <a:p>
                      <a:pPr algn="l"/>
                      <a:r>
                        <a:rPr sz="1200" b="1">
                          <a:solidFill>
                            <a:srgbClr val="14324A"/>
                          </a:solidFill>
                          <a:latin typeface="Calibri"/>
                        </a:rPr>
                        <a:t>Proposed action</a:t>
                      </a:r>
                    </a:p>
                  </a:txBody>
                  <a:tcPr marL="54864" marR="54864" marT="27432" marB="27432">
                    <a:solidFill>
                      <a:srgbClr val="E8EEF3"/>
                    </a:solidFill>
                  </a:tcPr>
                </a:tc>
              </a:tr>
              <a:tr h="384048">
                <a:tc>
                  <a:txBody>
                    <a:bodyPr wrap="square"/>
                    <a:lstStyle/>
                    <a:p>
                      <a:pPr algn="l"/>
                      <a:r>
                        <a:rPr sz="1200" b="0">
                          <a:solidFill>
                            <a:srgbClr val="14324A"/>
                          </a:solidFill>
                          <a:latin typeface="Calibri"/>
                        </a:rPr>
                        <a:t>channel05</a:t>
                      </a:r>
                    </a:p>
                  </a:txBody>
                  <a:tcPr marL="54864" marR="54864" marT="27432" marB="27432">
                    <a:solidFill>
                      <a:srgbClr val="FFFFFF"/>
                    </a:solidFill>
                  </a:tcPr>
                </a:tc>
                <a:tc>
                  <a:txBody>
                    <a:bodyPr wrap="square"/>
                    <a:lstStyle/>
                    <a:p>
                      <a:pPr algn="l"/>
                      <a:r>
                        <a:rPr sz="1200" b="0">
                          <a:solidFill>
                            <a:srgbClr val="14324A"/>
                          </a:solidFill>
                          <a:latin typeface="Calibri"/>
                        </a:rPr>
                        <a:t>complete</a:t>
                      </a:r>
                    </a:p>
                  </a:txBody>
                  <a:tcPr marL="54864" marR="54864" marT="27432" marB="27432">
                    <a:solidFill>
                      <a:srgbClr val="FFFFFF"/>
                    </a:solidFill>
                  </a:tcPr>
                </a:tc>
                <a:tc>
                  <a:txBody>
                    <a:bodyPr wrap="square"/>
                    <a:lstStyle/>
                    <a:p>
                      <a:pPr algn="r"/>
                      <a:r>
                        <a:rPr sz="1200" b="0">
                          <a:solidFill>
                            <a:srgbClr val="14324A"/>
                          </a:solidFill>
                          <a:latin typeface="Courier New"/>
                        </a:rPr>
                        <a:t>1.9</a:t>
                      </a:r>
                    </a:p>
                  </a:txBody>
                  <a:tcPr marL="54864" marR="54864" marT="27432" marB="27432">
                    <a:solidFill>
                      <a:srgbClr val="FFFFFF"/>
                    </a:solidFill>
                  </a:tcPr>
                </a:tc>
                <a:tc>
                  <a:txBody>
                    <a:bodyPr wrap="square"/>
                    <a:lstStyle/>
                    <a:p>
                      <a:pPr algn="r"/>
                      <a:r>
                        <a:rPr sz="1200" b="0">
                          <a:solidFill>
                            <a:srgbClr val="14324A"/>
                          </a:solidFill>
                          <a:latin typeface="Courier New"/>
                        </a:rPr>
                        <a:t>95,494</a:t>
                      </a:r>
                    </a:p>
                  </a:txBody>
                  <a:tcPr marL="54864" marR="54864" marT="27432" marB="27432">
                    <a:solidFill>
                      <a:srgbClr val="FFFFFF"/>
                    </a:solidFill>
                  </a:tcPr>
                </a:tc>
                <a:tc>
                  <a:txBody>
                    <a:bodyPr wrap="square"/>
                    <a:lstStyle/>
                    <a:p>
                      <a:pPr algn="r"/>
                      <a:r>
                        <a:rPr sz="1200" b="0">
                          <a:solidFill>
                            <a:srgbClr val="14324A"/>
                          </a:solidFill>
                          <a:latin typeface="Courier New"/>
                        </a:rPr>
                        <a:t>2026-09-29</a:t>
                      </a:r>
                    </a:p>
                  </a:txBody>
                  <a:tcPr marL="54864" marR="54864" marT="27432" marB="27432">
                    <a:solidFill>
                      <a:srgbClr val="FFFFFF"/>
                    </a:solidFill>
                  </a:tcPr>
                </a:tc>
                <a:tc>
                  <a:txBody>
                    <a:bodyPr wrap="square"/>
                    <a:lstStyle/>
                    <a:p>
                      <a:pPr algn="r"/>
                      <a:r>
                        <a:rPr sz="1200" b="0">
                          <a:solidFill>
                            <a:srgbClr val="14324A"/>
                          </a:solidFill>
                          <a:latin typeface="Courier New"/>
                        </a:rPr>
                        <a:t>.mp4 95,490, .db 1, .jpg 1</a:t>
                      </a:r>
                    </a:p>
                  </a:txBody>
                  <a:tcPr marL="54864" marR="54864" marT="27432" marB="27432">
                    <a:solidFill>
                      <a:srgbClr val="FFFFFF"/>
                    </a:solidFill>
                  </a:tcPr>
                </a:tc>
                <a:tc>
                  <a:txBody>
                    <a:bodyPr wrap="square"/>
                    <a:lstStyle/>
                    <a:p>
                      <a:pPr algn="r"/>
                      <a:r>
                        <a:rPr sz="1200" b="0">
                          <a:solidFill>
                            <a:srgbClr val="14324A"/>
                          </a:solidFill>
                          <a:latin typeface="Courier New"/>
                        </a:rPr>
                        <a:t>fingerprint pass to measure duplication; then tier by channel</a:t>
                      </a:r>
                    </a:p>
                  </a:txBody>
                  <a:tcPr marL="54864" marR="54864" marT="27432" marB="27432">
                    <a:solidFill>
                      <a:srgbClr val="FFFFFF"/>
                    </a:solidFill>
                  </a:tcPr>
                </a:tc>
              </a:tr>
              <a:tr h="384048">
                <a:tc>
                  <a:txBody>
                    <a:bodyPr wrap="square"/>
                    <a:lstStyle/>
                    <a:p>
                      <a:pPr algn="l"/>
                      <a:r>
                        <a:rPr sz="1200" b="0">
                          <a:solidFill>
                            <a:srgbClr val="14324A"/>
                          </a:solidFill>
                          <a:latin typeface="Calibri"/>
                        </a:rPr>
                        <a:t>channel04</a:t>
                      </a:r>
                    </a:p>
                  </a:txBody>
                  <a:tcPr marL="54864" marR="54864" marT="27432" marB="27432">
                    <a:solidFill>
                      <a:srgbClr val="FFFFFF"/>
                    </a:solidFill>
                  </a:tcPr>
                </a:tc>
                <a:tc>
                  <a:txBody>
                    <a:bodyPr wrap="square"/>
                    <a:lstStyle/>
                    <a:p>
                      <a:pPr algn="l"/>
                      <a:r>
                        <a:rPr sz="1200" b="0">
                          <a:solidFill>
                            <a:srgbClr val="14324A"/>
                          </a:solidFill>
                          <a:latin typeface="Calibri"/>
                        </a:rPr>
                        <a:t>complete</a:t>
                      </a:r>
                    </a:p>
                  </a:txBody>
                  <a:tcPr marL="54864" marR="54864" marT="27432" marB="27432">
                    <a:solidFill>
                      <a:srgbClr val="FFFFFF"/>
                    </a:solidFill>
                  </a:tcPr>
                </a:tc>
                <a:tc>
                  <a:txBody>
                    <a:bodyPr wrap="square"/>
                    <a:lstStyle/>
                    <a:p>
                      <a:pPr algn="r"/>
                      <a:r>
                        <a:rPr sz="1200" b="0">
                          <a:solidFill>
                            <a:srgbClr val="14324A"/>
                          </a:solidFill>
                          <a:latin typeface="Courier New"/>
                        </a:rPr>
                        <a:t>1.9</a:t>
                      </a:r>
                    </a:p>
                  </a:txBody>
                  <a:tcPr marL="54864" marR="54864" marT="27432" marB="27432">
                    <a:solidFill>
                      <a:srgbClr val="FFFFFF"/>
                    </a:solidFill>
                  </a:tcPr>
                </a:tc>
                <a:tc>
                  <a:txBody>
                    <a:bodyPr wrap="square"/>
                    <a:lstStyle/>
                    <a:p>
                      <a:pPr algn="r"/>
                      <a:r>
                        <a:rPr sz="1200" b="0">
                          <a:solidFill>
                            <a:srgbClr val="14324A"/>
                          </a:solidFill>
                          <a:latin typeface="Courier New"/>
                        </a:rPr>
                        <a:t>95,475</a:t>
                      </a:r>
                    </a:p>
                  </a:txBody>
                  <a:tcPr marL="54864" marR="54864" marT="27432" marB="27432">
                    <a:solidFill>
                      <a:srgbClr val="FFFFFF"/>
                    </a:solidFill>
                  </a:tcPr>
                </a:tc>
                <a:tc>
                  <a:txBody>
                    <a:bodyPr wrap="square"/>
                    <a:lstStyle/>
                    <a:p>
                      <a:pPr algn="r"/>
                      <a:r>
                        <a:rPr sz="1200" b="0">
                          <a:solidFill>
                            <a:srgbClr val="14324A"/>
                          </a:solidFill>
                          <a:latin typeface="Courier New"/>
                        </a:rPr>
                        <a:t>2026-09-29</a:t>
                      </a:r>
                    </a:p>
                  </a:txBody>
                  <a:tcPr marL="54864" marR="54864" marT="27432" marB="27432">
                    <a:solidFill>
                      <a:srgbClr val="FFFFFF"/>
                    </a:solidFill>
                  </a:tcPr>
                </a:tc>
                <a:tc>
                  <a:txBody>
                    <a:bodyPr wrap="square"/>
                    <a:lstStyle/>
                    <a:p>
                      <a:pPr algn="r"/>
                      <a:r>
                        <a:rPr sz="1200" b="0">
                          <a:solidFill>
                            <a:srgbClr val="14324A"/>
                          </a:solidFill>
                          <a:latin typeface="Courier New"/>
                        </a:rPr>
                        <a:t>.mp4 95,470, .db 1, .jpg 1</a:t>
                      </a:r>
                    </a:p>
                  </a:txBody>
                  <a:tcPr marL="54864" marR="54864" marT="27432" marB="27432">
                    <a:solidFill>
                      <a:srgbClr val="FFFFFF"/>
                    </a:solidFill>
                  </a:tcPr>
                </a:tc>
                <a:tc>
                  <a:txBody>
                    <a:bodyPr wrap="square"/>
                    <a:lstStyle/>
                    <a:p>
                      <a:pPr algn="r"/>
                      <a:r>
                        <a:rPr sz="1200" b="0">
                          <a:solidFill>
                            <a:srgbClr val="14324A"/>
                          </a:solidFill>
                          <a:latin typeface="Courier New"/>
                        </a:rPr>
                        <a:t>fingerprint pass to measure duplication; then tier by channel</a:t>
                      </a:r>
                    </a:p>
                  </a:txBody>
                  <a:tcPr marL="54864" marR="54864" marT="27432" marB="27432">
                    <a:solidFill>
                      <a:srgbClr val="FFFFFF"/>
                    </a:solidFill>
                  </a:tcPr>
                </a:tc>
              </a:tr>
              <a:tr h="384048">
                <a:tc>
                  <a:txBody>
                    <a:bodyPr wrap="square"/>
                    <a:lstStyle/>
                    <a:p>
                      <a:pPr algn="l"/>
                      <a:r>
                        <a:rPr sz="1200" b="0">
                          <a:solidFill>
                            <a:srgbClr val="14324A"/>
                          </a:solidFill>
                          <a:latin typeface="Calibri"/>
                        </a:rPr>
                        <a:t>channel03</a:t>
                      </a:r>
                    </a:p>
                  </a:txBody>
                  <a:tcPr marL="54864" marR="54864" marT="27432" marB="27432">
                    <a:solidFill>
                      <a:srgbClr val="FFFFFF"/>
                    </a:solidFill>
                  </a:tcPr>
                </a:tc>
                <a:tc>
                  <a:txBody>
                    <a:bodyPr wrap="square"/>
                    <a:lstStyle/>
                    <a:p>
                      <a:pPr algn="l"/>
                      <a:r>
                        <a:rPr sz="1200" b="0">
                          <a:solidFill>
                            <a:srgbClr val="14324A"/>
                          </a:solidFill>
                          <a:latin typeface="Calibri"/>
                        </a:rPr>
                        <a:t>complete</a:t>
                      </a:r>
                    </a:p>
                  </a:txBody>
                  <a:tcPr marL="54864" marR="54864" marT="27432" marB="27432">
                    <a:solidFill>
                      <a:srgbClr val="FFFFFF"/>
                    </a:solidFill>
                  </a:tcPr>
                </a:tc>
                <a:tc>
                  <a:txBody>
                    <a:bodyPr wrap="square"/>
                    <a:lstStyle/>
                    <a:p>
                      <a:pPr algn="r"/>
                      <a:r>
                        <a:rPr sz="1200" b="0">
                          <a:solidFill>
                            <a:srgbClr val="14324A"/>
                          </a:solidFill>
                          <a:latin typeface="Courier New"/>
                        </a:rPr>
                        <a:t>1.9</a:t>
                      </a:r>
                    </a:p>
                  </a:txBody>
                  <a:tcPr marL="54864" marR="54864" marT="27432" marB="27432">
                    <a:solidFill>
                      <a:srgbClr val="FFFFFF"/>
                    </a:solidFill>
                  </a:tcPr>
                </a:tc>
                <a:tc>
                  <a:txBody>
                    <a:bodyPr wrap="square"/>
                    <a:lstStyle/>
                    <a:p>
                      <a:pPr algn="r"/>
                      <a:r>
                        <a:rPr sz="1200" b="0">
                          <a:solidFill>
                            <a:srgbClr val="14324A"/>
                          </a:solidFill>
                          <a:latin typeface="Courier New"/>
                        </a:rPr>
                        <a:t>95,419</a:t>
                      </a:r>
                    </a:p>
                  </a:txBody>
                  <a:tcPr marL="54864" marR="54864" marT="27432" marB="27432">
                    <a:solidFill>
                      <a:srgbClr val="FFFFFF"/>
                    </a:solidFill>
                  </a:tcPr>
                </a:tc>
                <a:tc>
                  <a:txBody>
                    <a:bodyPr wrap="square"/>
                    <a:lstStyle/>
                    <a:p>
                      <a:pPr algn="r"/>
                      <a:r>
                        <a:rPr sz="1200" b="0">
                          <a:solidFill>
                            <a:srgbClr val="14324A"/>
                          </a:solidFill>
                          <a:latin typeface="Courier New"/>
                        </a:rPr>
                        <a:t>2026-09-29</a:t>
                      </a:r>
                    </a:p>
                  </a:txBody>
                  <a:tcPr marL="54864" marR="54864" marT="27432" marB="27432">
                    <a:solidFill>
                      <a:srgbClr val="FFFFFF"/>
                    </a:solidFill>
                  </a:tcPr>
                </a:tc>
                <a:tc>
                  <a:txBody>
                    <a:bodyPr wrap="square"/>
                    <a:lstStyle/>
                    <a:p>
                      <a:pPr algn="r"/>
                      <a:r>
                        <a:rPr sz="1200" b="0">
                          <a:solidFill>
                            <a:srgbClr val="14324A"/>
                          </a:solidFill>
                          <a:latin typeface="Courier New"/>
                        </a:rPr>
                        <a:t>.mp4 95,415, .db 1, .jpg 1</a:t>
                      </a:r>
                    </a:p>
                  </a:txBody>
                  <a:tcPr marL="54864" marR="54864" marT="27432" marB="27432">
                    <a:solidFill>
                      <a:srgbClr val="FFFFFF"/>
                    </a:solidFill>
                  </a:tcPr>
                </a:tc>
                <a:tc>
                  <a:txBody>
                    <a:bodyPr wrap="square"/>
                    <a:lstStyle/>
                    <a:p>
                      <a:pPr algn="r"/>
                      <a:r>
                        <a:rPr sz="1200" b="0">
                          <a:solidFill>
                            <a:srgbClr val="14324A"/>
                          </a:solidFill>
                          <a:latin typeface="Courier New"/>
                        </a:rPr>
                        <a:t>fingerprint pass to measure duplication; then tier by channel</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E8772E"/>
                </a:solidFill>
                <a:latin typeface="Calibri"/>
              </a:rPr>
              <a:t>Sizes and dates were recorded; content fingerprints were not, so duplication across the channel shares is not yet measured.</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70879A"/>
                </a:solidFill>
                <a:latin typeface="Courier New"/>
              </a:rPr>
              <a:t>[measured]  Receipt R05: NAS share enumeration census run cr-cf4eef79995b (1,456,787 files, 43.6 TiB)</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70879A"/>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70879A"/>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70879A"/>
                </a:solidFill>
                <a:latin typeface="Courier New"/>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70879A"/>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4324A"/>
                </a:solidFill>
                <a:latin typeface="Cambria"/>
              </a:rPr>
              <a:t>Object-store buckets that could not be read</a:t>
            </a:r>
          </a:p>
        </p:txBody>
      </p:sp>
      <p:graphicFrame>
        <p:nvGraphicFramePr>
          <p:cNvPr id="4" name="Table 3"/>
          <p:cNvGraphicFramePr>
            <a:graphicFrameLocks noGrp="1"/>
          </p:cNvGraphicFramePr>
          <p:nvPr/>
        </p:nvGraphicFramePr>
        <p:xfrm>
          <a:off x="594360" y="1920240"/>
          <a:ext cx="11002973" cy="3017520"/>
        </p:xfrm>
        <a:graphic>
          <a:graphicData uri="http://schemas.openxmlformats.org/drawingml/2006/table">
            <a:tbl>
              <a:tblPr firstRow="1" bandRow="1">
                <a:tableStyleId>{5C22544A-7EE6-4342-B048-85BDC9FD1C3A}</a:tableStyleId>
              </a:tblPr>
              <a:tblGrid>
                <a:gridCol w="2895519"/>
                <a:gridCol w="2026863"/>
                <a:gridCol w="6080591"/>
              </a:tblGrid>
              <a:tr h="301752">
                <a:tc>
                  <a:txBody>
                    <a:bodyPr wrap="square"/>
                    <a:lstStyle/>
                    <a:p>
                      <a:pPr algn="l"/>
                      <a:r>
                        <a:rPr sz="1200" b="1">
                          <a:solidFill>
                            <a:srgbClr val="14324A"/>
                          </a:solidFill>
                          <a:latin typeface="Calibri"/>
                        </a:rPr>
                        <a:t>Bucket</a:t>
                      </a:r>
                    </a:p>
                  </a:txBody>
                  <a:tcPr marL="54864" marR="54864" marT="27432" marB="27432">
                    <a:solidFill>
                      <a:srgbClr val="E8EEF3"/>
                    </a:solidFill>
                  </a:tcPr>
                </a:tc>
                <a:tc>
                  <a:txBody>
                    <a:bodyPr wrap="square"/>
                    <a:lstStyle/>
                    <a:p>
                      <a:pPr algn="l"/>
                      <a:r>
                        <a:rPr sz="1200" b="1">
                          <a:solidFill>
                            <a:srgbClr val="14324A"/>
                          </a:solidFill>
                          <a:latin typeface="Calibri"/>
                        </a:rPr>
                        <a:t>Error returned</a:t>
                      </a:r>
                    </a:p>
                  </a:txBody>
                  <a:tcPr marL="54864" marR="54864" marT="27432" marB="27432">
                    <a:solidFill>
                      <a:srgbClr val="E8EEF3"/>
                    </a:solidFill>
                  </a:tcPr>
                </a:tc>
                <a:tc>
                  <a:txBody>
                    <a:bodyPr wrap="square"/>
                    <a:lstStyle/>
                    <a:p>
                      <a:pPr algn="l"/>
                      <a:r>
                        <a:rPr sz="1200" b="1">
                          <a:solidFill>
                            <a:srgbClr val="14324A"/>
                          </a:solidFill>
                          <a:latin typeface="Calibri"/>
                        </a:rPr>
                        <a:t>Proposed action</a:t>
                      </a:r>
                    </a:p>
                  </a:txBody>
                  <a:tcPr marL="54864" marR="54864" marT="27432" marB="27432">
                    <a:solidFill>
                      <a:srgbClr val="E8EEF3"/>
                    </a:solidFill>
                  </a:tcPr>
                </a:tc>
              </a:tr>
              <a:tr h="301752">
                <a:tc>
                  <a:txBody>
                    <a:bodyPr wrap="square"/>
                    <a:lstStyle/>
                    <a:p>
                      <a:pPr algn="l"/>
                      <a:r>
                        <a:rPr sz="1200" b="0">
                          <a:solidFill>
                            <a:srgbClr val="14324A"/>
                          </a:solidFill>
                          <a:latin typeface="Calibri"/>
                        </a:rPr>
                        <a:t>apr252017</a:t>
                      </a:r>
                    </a:p>
                  </a:txBody>
                  <a:tcPr marL="54864" marR="54864" marT="27432" marB="27432">
                    <a:solidFill>
                      <a:srgbClr val="FFFFFF"/>
                    </a:solidFill>
                  </a:tcPr>
                </a:tc>
                <a:tc>
                  <a:txBody>
                    <a:bodyPr wrap="square"/>
                    <a:lstStyle/>
                    <a:p>
                      <a:pPr algn="l"/>
                      <a:r>
                        <a:rPr sz="1200" b="0">
                          <a:solidFill>
                            <a:srgbClr val="14324A"/>
                          </a:solidFill>
                          <a:latin typeface="Calibri"/>
                        </a:rPr>
                        <a:t>NoSuchBucket</a:t>
                      </a:r>
                    </a:p>
                  </a:txBody>
                  <a:tcPr marL="54864" marR="54864" marT="27432" marB="27432">
                    <a:solidFill>
                      <a:srgbClr val="FFFFFF"/>
                    </a:solidFill>
                  </a:tcPr>
                </a:tc>
                <a:tc>
                  <a:txBody>
                    <a:bodyPr wrap="square"/>
                    <a:lstStyle/>
                    <a:p>
                      <a:pPr algn="l"/>
                      <a:r>
                        <a:rPr sz="1200" b="0">
                          <a:solidFill>
                            <a:srgbClr val="14324A"/>
                          </a:solidFill>
                          <a:latin typeface="Calibri"/>
                        </a:rPr>
                        <a:t>reconcile with provider; remove from inventory if gone</a:t>
                      </a:r>
                    </a:p>
                  </a:txBody>
                  <a:tcPr marL="54864" marR="54864" marT="27432" marB="27432">
                    <a:solidFill>
                      <a:srgbClr val="FFFFFF"/>
                    </a:solidFill>
                  </a:tcPr>
                </a:tc>
              </a:tr>
              <a:tr h="301752">
                <a:tc>
                  <a:txBody>
                    <a:bodyPr wrap="square"/>
                    <a:lstStyle/>
                    <a:p>
                      <a:pPr algn="l"/>
                      <a:r>
                        <a:rPr sz="1200" b="0">
                          <a:solidFill>
                            <a:srgbClr val="14324A"/>
                          </a:solidFill>
                          <a:latin typeface="Calibri"/>
                        </a:rPr>
                        <a:t>citizen-vod</a:t>
                      </a:r>
                    </a:p>
                  </a:txBody>
                  <a:tcPr marL="54864" marR="54864" marT="27432" marB="27432">
                    <a:solidFill>
                      <a:srgbClr val="FFFFFF"/>
                    </a:solidFill>
                  </a:tcPr>
                </a:tc>
                <a:tc>
                  <a:txBody>
                    <a:bodyPr wrap="square"/>
                    <a:lstStyle/>
                    <a:p>
                      <a:pPr algn="l"/>
                      <a:r>
                        <a:rPr sz="1200" b="0">
                          <a:solidFill>
                            <a:srgbClr val="14324A"/>
                          </a:solidFill>
                          <a:latin typeface="Calibri"/>
                        </a:rPr>
                        <a:t>NoSuchBucket</a:t>
                      </a:r>
                    </a:p>
                  </a:txBody>
                  <a:tcPr marL="54864" marR="54864" marT="27432" marB="27432">
                    <a:solidFill>
                      <a:srgbClr val="FFFFFF"/>
                    </a:solidFill>
                  </a:tcPr>
                </a:tc>
                <a:tc>
                  <a:txBody>
                    <a:bodyPr wrap="square"/>
                    <a:lstStyle/>
                    <a:p>
                      <a:pPr algn="l"/>
                      <a:r>
                        <a:rPr sz="1200" b="0">
                          <a:solidFill>
                            <a:srgbClr val="14324A"/>
                          </a:solidFill>
                          <a:latin typeface="Calibri"/>
                        </a:rPr>
                        <a:t>reconcile with provider; remove from inventory if gone</a:t>
                      </a:r>
                    </a:p>
                  </a:txBody>
                  <a:tcPr marL="54864" marR="54864" marT="27432" marB="27432">
                    <a:solidFill>
                      <a:srgbClr val="FFFFFF"/>
                    </a:solidFill>
                  </a:tcPr>
                </a:tc>
              </a:tr>
              <a:tr h="301752">
                <a:tc>
                  <a:txBody>
                    <a:bodyPr wrap="square"/>
                    <a:lstStyle/>
                    <a:p>
                      <a:pPr algn="l"/>
                      <a:r>
                        <a:rPr sz="1200" b="0">
                          <a:solidFill>
                            <a:srgbClr val="14324A"/>
                          </a:solidFill>
                          <a:latin typeface="Calibri"/>
                        </a:rPr>
                        <a:t>elections</a:t>
                      </a:r>
                    </a:p>
                  </a:txBody>
                  <a:tcPr marL="54864" marR="54864" marT="27432" marB="27432">
                    <a:solidFill>
                      <a:srgbClr val="FFFFFF"/>
                    </a:solidFill>
                  </a:tcPr>
                </a:tc>
                <a:tc>
                  <a:txBody>
                    <a:bodyPr wrap="square"/>
                    <a:lstStyle/>
                    <a:p>
                      <a:pPr algn="l"/>
                      <a:r>
                        <a:rPr sz="1200" b="0">
                          <a:solidFill>
                            <a:srgbClr val="14324A"/>
                          </a:solidFill>
                          <a:latin typeface="Calibri"/>
                        </a:rPr>
                        <a:t>ClientError</a:t>
                      </a:r>
                    </a:p>
                  </a:txBody>
                  <a:tcPr marL="54864" marR="54864" marT="27432" marB="27432">
                    <a:solidFill>
                      <a:srgbClr val="FFFFFF"/>
                    </a:solidFill>
                  </a:tcPr>
                </a:tc>
                <a:tc>
                  <a:txBody>
                    <a:bodyPr wrap="square"/>
                    <a:lstStyle/>
                    <a:p>
                      <a:pPr algn="l"/>
                      <a:r>
                        <a:rPr sz="1200" b="0">
                          <a:solidFill>
                            <a:srgbClr val="14324A"/>
                          </a:solidFill>
                          <a:latin typeface="Calibri"/>
                        </a:rPr>
                        <a:t>reconcile with provider; remove from inventory if gone</a:t>
                      </a:r>
                    </a:p>
                  </a:txBody>
                  <a:tcPr marL="54864" marR="54864" marT="27432" marB="27432">
                    <a:solidFill>
                      <a:srgbClr val="FFFFFF"/>
                    </a:solidFill>
                  </a:tcPr>
                </a:tc>
              </a:tr>
              <a:tr h="301752">
                <a:tc>
                  <a:txBody>
                    <a:bodyPr wrap="square"/>
                    <a:lstStyle/>
                    <a:p>
                      <a:pPr algn="l"/>
                      <a:r>
                        <a:rPr sz="1200" b="0">
                          <a:solidFill>
                            <a:srgbClr val="14324A"/>
                          </a:solidFill>
                          <a:latin typeface="Calibri"/>
                        </a:rPr>
                        <a:t>feb272017</a:t>
                      </a:r>
                    </a:p>
                  </a:txBody>
                  <a:tcPr marL="54864" marR="54864" marT="27432" marB="27432">
                    <a:solidFill>
                      <a:srgbClr val="FFFFFF"/>
                    </a:solidFill>
                  </a:tcPr>
                </a:tc>
                <a:tc>
                  <a:txBody>
                    <a:bodyPr wrap="square"/>
                    <a:lstStyle/>
                    <a:p>
                      <a:pPr algn="l"/>
                      <a:r>
                        <a:rPr sz="1200" b="0">
                          <a:solidFill>
                            <a:srgbClr val="14324A"/>
                          </a:solidFill>
                          <a:latin typeface="Calibri"/>
                        </a:rPr>
                        <a:t>NoSuchBucket</a:t>
                      </a:r>
                    </a:p>
                  </a:txBody>
                  <a:tcPr marL="54864" marR="54864" marT="27432" marB="27432">
                    <a:solidFill>
                      <a:srgbClr val="FFFFFF"/>
                    </a:solidFill>
                  </a:tcPr>
                </a:tc>
                <a:tc>
                  <a:txBody>
                    <a:bodyPr wrap="square"/>
                    <a:lstStyle/>
                    <a:p>
                      <a:pPr algn="l"/>
                      <a:r>
                        <a:rPr sz="1200" b="0">
                          <a:solidFill>
                            <a:srgbClr val="14324A"/>
                          </a:solidFill>
                          <a:latin typeface="Calibri"/>
                        </a:rPr>
                        <a:t>reconcile with provider; remove from inventory if gone</a:t>
                      </a:r>
                    </a:p>
                  </a:txBody>
                  <a:tcPr marL="54864" marR="54864" marT="27432" marB="27432">
                    <a:solidFill>
                      <a:srgbClr val="FFFFFF"/>
                    </a:solidFill>
                  </a:tcPr>
                </a:tc>
              </a:tr>
              <a:tr h="301752">
                <a:tc>
                  <a:txBody>
                    <a:bodyPr wrap="square"/>
                    <a:lstStyle/>
                    <a:p>
                      <a:pPr algn="l"/>
                      <a:r>
                        <a:rPr sz="1200" b="0">
                          <a:solidFill>
                            <a:srgbClr val="14324A"/>
                          </a:solidFill>
                          <a:latin typeface="Calibri"/>
                        </a:rPr>
                        <a:t>instore-radio-items</a:t>
                      </a:r>
                    </a:p>
                  </a:txBody>
                  <a:tcPr marL="54864" marR="54864" marT="27432" marB="27432">
                    <a:solidFill>
                      <a:srgbClr val="FFFFFF"/>
                    </a:solidFill>
                  </a:tcPr>
                </a:tc>
                <a:tc>
                  <a:txBody>
                    <a:bodyPr wrap="square"/>
                    <a:lstStyle/>
                    <a:p>
                      <a:pPr algn="l"/>
                      <a:r>
                        <a:rPr sz="1200" b="0">
                          <a:solidFill>
                            <a:srgbClr val="14324A"/>
                          </a:solidFill>
                          <a:latin typeface="Calibri"/>
                        </a:rPr>
                        <a:t>ClientError</a:t>
                      </a:r>
                    </a:p>
                  </a:txBody>
                  <a:tcPr marL="54864" marR="54864" marT="27432" marB="27432">
                    <a:solidFill>
                      <a:srgbClr val="FFFFFF"/>
                    </a:solidFill>
                  </a:tcPr>
                </a:tc>
                <a:tc>
                  <a:txBody>
                    <a:bodyPr wrap="square"/>
                    <a:lstStyle/>
                    <a:p>
                      <a:pPr algn="l"/>
                      <a:r>
                        <a:rPr sz="1200" b="0">
                          <a:solidFill>
                            <a:srgbClr val="14324A"/>
                          </a:solidFill>
                          <a:latin typeface="Calibri"/>
                        </a:rPr>
                        <a:t>reconcile with provider; remove from inventory if gone</a:t>
                      </a:r>
                    </a:p>
                  </a:txBody>
                  <a:tcPr marL="54864" marR="54864" marT="27432" marB="27432">
                    <a:solidFill>
                      <a:srgbClr val="FFFFFF"/>
                    </a:solidFill>
                  </a:tcPr>
                </a:tc>
              </a:tr>
              <a:tr h="301752">
                <a:tc>
                  <a:txBody>
                    <a:bodyPr wrap="square"/>
                    <a:lstStyle/>
                    <a:p>
                      <a:pPr algn="l"/>
                      <a:r>
                        <a:rPr sz="1200" b="0">
                          <a:solidFill>
                            <a:srgbClr val="14324A"/>
                          </a:solidFill>
                          <a:latin typeface="Calibri"/>
                        </a:rPr>
                        <a:t>iso-rms-storage</a:t>
                      </a:r>
                    </a:p>
                  </a:txBody>
                  <a:tcPr marL="54864" marR="54864" marT="27432" marB="27432">
                    <a:solidFill>
                      <a:srgbClr val="FFFFFF"/>
                    </a:solidFill>
                  </a:tcPr>
                </a:tc>
                <a:tc>
                  <a:txBody>
                    <a:bodyPr wrap="square"/>
                    <a:lstStyle/>
                    <a:p>
                      <a:pPr algn="l"/>
                      <a:r>
                        <a:rPr sz="1200" b="0">
                          <a:solidFill>
                            <a:srgbClr val="14324A"/>
                          </a:solidFill>
                          <a:latin typeface="Calibri"/>
                        </a:rPr>
                        <a:t>NoSuchBucket</a:t>
                      </a:r>
                    </a:p>
                  </a:txBody>
                  <a:tcPr marL="54864" marR="54864" marT="27432" marB="27432">
                    <a:solidFill>
                      <a:srgbClr val="FFFFFF"/>
                    </a:solidFill>
                  </a:tcPr>
                </a:tc>
                <a:tc>
                  <a:txBody>
                    <a:bodyPr wrap="square"/>
                    <a:lstStyle/>
                    <a:p>
                      <a:pPr algn="l"/>
                      <a:r>
                        <a:rPr sz="1200" b="0">
                          <a:solidFill>
                            <a:srgbClr val="14324A"/>
                          </a:solidFill>
                          <a:latin typeface="Calibri"/>
                        </a:rPr>
                        <a:t>reconcile with provider; remove from inventory if gone</a:t>
                      </a:r>
                    </a:p>
                  </a:txBody>
                  <a:tcPr marL="54864" marR="54864" marT="27432" marB="27432">
                    <a:solidFill>
                      <a:srgbClr val="FFFFFF"/>
                    </a:solidFill>
                  </a:tcPr>
                </a:tc>
              </a:tr>
              <a:tr h="301752">
                <a:tc>
                  <a:txBody>
                    <a:bodyPr wrap="square"/>
                    <a:lstStyle/>
                    <a:p>
                      <a:pPr algn="l"/>
                      <a:r>
                        <a:rPr sz="1200" b="0">
                          <a:solidFill>
                            <a:srgbClr val="14324A"/>
                          </a:solidFill>
                          <a:latin typeface="Calibri"/>
                        </a:rPr>
                        <a:t>librarydirectupload2</a:t>
                      </a:r>
                    </a:p>
                  </a:txBody>
                  <a:tcPr marL="54864" marR="54864" marT="27432" marB="27432">
                    <a:solidFill>
                      <a:srgbClr val="FFFFFF"/>
                    </a:solidFill>
                  </a:tcPr>
                </a:tc>
                <a:tc>
                  <a:txBody>
                    <a:bodyPr wrap="square"/>
                    <a:lstStyle/>
                    <a:p>
                      <a:pPr algn="l"/>
                      <a:r>
                        <a:rPr sz="1200" b="0">
                          <a:solidFill>
                            <a:srgbClr val="14324A"/>
                          </a:solidFill>
                          <a:latin typeface="Calibri"/>
                        </a:rPr>
                        <a:t>NoSuchBucket</a:t>
                      </a:r>
                    </a:p>
                  </a:txBody>
                  <a:tcPr marL="54864" marR="54864" marT="27432" marB="27432">
                    <a:solidFill>
                      <a:srgbClr val="FFFFFF"/>
                    </a:solidFill>
                  </a:tcPr>
                </a:tc>
                <a:tc>
                  <a:txBody>
                    <a:bodyPr wrap="square"/>
                    <a:lstStyle/>
                    <a:p>
                      <a:pPr algn="l"/>
                      <a:r>
                        <a:rPr sz="1200" b="0">
                          <a:solidFill>
                            <a:srgbClr val="14324A"/>
                          </a:solidFill>
                          <a:latin typeface="Calibri"/>
                        </a:rPr>
                        <a:t>reconcile with provider; remove from inventory if gone</a:t>
                      </a:r>
                    </a:p>
                  </a:txBody>
                  <a:tcPr marL="54864" marR="54864" marT="27432" marB="27432">
                    <a:solidFill>
                      <a:srgbClr val="FFFFFF"/>
                    </a:solidFill>
                  </a:tcPr>
                </a:tc>
              </a:tr>
              <a:tr h="301752">
                <a:tc>
                  <a:txBody>
                    <a:bodyPr wrap="square"/>
                    <a:lstStyle/>
                    <a:p>
                      <a:pPr algn="l"/>
                      <a:r>
                        <a:rPr sz="1200" b="0">
                          <a:solidFill>
                            <a:srgbClr val="14324A"/>
                          </a:solidFill>
                          <a:latin typeface="Calibri"/>
                        </a:rPr>
                        <a:t>na7p4100</a:t>
                      </a:r>
                    </a:p>
                  </a:txBody>
                  <a:tcPr marL="54864" marR="54864" marT="27432" marB="27432">
                    <a:solidFill>
                      <a:srgbClr val="FFFFFF"/>
                    </a:solidFill>
                  </a:tcPr>
                </a:tc>
                <a:tc>
                  <a:txBody>
                    <a:bodyPr wrap="square"/>
                    <a:lstStyle/>
                    <a:p>
                      <a:pPr algn="l"/>
                      <a:r>
                        <a:rPr sz="1200" b="0">
                          <a:solidFill>
                            <a:srgbClr val="14324A"/>
                          </a:solidFill>
                          <a:latin typeface="Calibri"/>
                        </a:rPr>
                        <a:t>NoSuchBucket</a:t>
                      </a:r>
                    </a:p>
                  </a:txBody>
                  <a:tcPr marL="54864" marR="54864" marT="27432" marB="27432">
                    <a:solidFill>
                      <a:srgbClr val="FFFFFF"/>
                    </a:solidFill>
                  </a:tcPr>
                </a:tc>
                <a:tc>
                  <a:txBody>
                    <a:bodyPr wrap="square"/>
                    <a:lstStyle/>
                    <a:p>
                      <a:pPr algn="l"/>
                      <a:r>
                        <a:rPr sz="1200" b="0">
                          <a:solidFill>
                            <a:srgbClr val="14324A"/>
                          </a:solidFill>
                          <a:latin typeface="Calibri"/>
                        </a:rPr>
                        <a:t>reconcile with provider; remove from inventory if gone</a:t>
                      </a:r>
                    </a:p>
                  </a:txBody>
                  <a:tcPr marL="54864" marR="54864" marT="27432" marB="27432">
                    <a:solidFill>
                      <a:srgbClr val="FFFFFF"/>
                    </a:solidFill>
                  </a:tcPr>
                </a:tc>
              </a:tr>
              <a:tr h="301752">
                <a:tc>
                  <a:txBody>
                    <a:bodyPr wrap="square"/>
                    <a:lstStyle/>
                    <a:p>
                      <a:pPr algn="l"/>
                      <a:r>
                        <a:rPr sz="1200" b="0">
                          <a:solidFill>
                            <a:srgbClr val="14324A"/>
                          </a:solidFill>
                          <a:latin typeface="Calibri"/>
                        </a:rPr>
                        <a:t>na7p410c</a:t>
                      </a:r>
                    </a:p>
                  </a:txBody>
                  <a:tcPr marL="54864" marR="54864" marT="27432" marB="27432">
                    <a:solidFill>
                      <a:srgbClr val="FFFFFF"/>
                    </a:solidFill>
                  </a:tcPr>
                </a:tc>
                <a:tc>
                  <a:txBody>
                    <a:bodyPr wrap="square"/>
                    <a:lstStyle/>
                    <a:p>
                      <a:pPr algn="l"/>
                      <a:r>
                        <a:rPr sz="1200" b="0">
                          <a:solidFill>
                            <a:srgbClr val="14324A"/>
                          </a:solidFill>
                          <a:latin typeface="Calibri"/>
                        </a:rPr>
                        <a:t>NoSuchBucket</a:t>
                      </a:r>
                    </a:p>
                  </a:txBody>
                  <a:tcPr marL="54864" marR="54864" marT="27432" marB="27432">
                    <a:solidFill>
                      <a:srgbClr val="FFFFFF"/>
                    </a:solidFill>
                  </a:tcPr>
                </a:tc>
                <a:tc>
                  <a:txBody>
                    <a:bodyPr wrap="square"/>
                    <a:lstStyle/>
                    <a:p>
                      <a:pPr algn="l"/>
                      <a:r>
                        <a:rPr sz="1200" b="0">
                          <a:solidFill>
                            <a:srgbClr val="14324A"/>
                          </a:solidFill>
                          <a:latin typeface="Calibri"/>
                        </a:rPr>
                        <a:t>reconcile with provider; remove from inventory if gone</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E8772E"/>
                </a:solidFill>
                <a:latin typeface="Calibri"/>
              </a:rPr>
              <a:t>These names are in the bucket inventory but returned an error when listed; each needs reconciling with the provider — deleted, renamed or access withdrawn.</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70879A"/>
                </a:solidFill>
                <a:latin typeface="Courier New"/>
              </a:rPr>
              <a:t>[measured]  Receipt R04: OBS bucket enumeration census run cr-f1415e395361 (22,975,591 objects, 130.3 TiB)</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70879A"/>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70879A"/>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70879A"/>
                </a:solidFill>
                <a:latin typeface="Courier New"/>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70879A"/>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4324A"/>
                </a:solidFill>
                <a:latin typeface="Cambria"/>
              </a:rPr>
              <a:t>Object-store buckets that could not be read</a:t>
            </a:r>
          </a:p>
        </p:txBody>
      </p:sp>
      <p:graphicFrame>
        <p:nvGraphicFramePr>
          <p:cNvPr id="4" name="Table 3"/>
          <p:cNvGraphicFramePr>
            <a:graphicFrameLocks noGrp="1"/>
          </p:cNvGraphicFramePr>
          <p:nvPr/>
        </p:nvGraphicFramePr>
        <p:xfrm>
          <a:off x="594360" y="1920240"/>
          <a:ext cx="11002975" cy="3017520"/>
        </p:xfrm>
        <a:graphic>
          <a:graphicData uri="http://schemas.openxmlformats.org/drawingml/2006/table">
            <a:tbl>
              <a:tblPr firstRow="1" bandRow="1">
                <a:tableStyleId>{5C22544A-7EE6-4342-B048-85BDC9FD1C3A}</a:tableStyleId>
              </a:tblPr>
              <a:tblGrid>
                <a:gridCol w="2200595"/>
                <a:gridCol w="2200595"/>
                <a:gridCol w="6601785"/>
              </a:tblGrid>
              <a:tr h="301752">
                <a:tc>
                  <a:txBody>
                    <a:bodyPr wrap="square"/>
                    <a:lstStyle/>
                    <a:p>
                      <a:pPr algn="l"/>
                      <a:r>
                        <a:rPr sz="1200" b="1">
                          <a:solidFill>
                            <a:srgbClr val="14324A"/>
                          </a:solidFill>
                          <a:latin typeface="Calibri"/>
                        </a:rPr>
                        <a:t>Bucket</a:t>
                      </a:r>
                    </a:p>
                  </a:txBody>
                  <a:tcPr marL="54864" marR="54864" marT="27432" marB="27432">
                    <a:solidFill>
                      <a:srgbClr val="E8EEF3"/>
                    </a:solidFill>
                  </a:tcPr>
                </a:tc>
                <a:tc>
                  <a:txBody>
                    <a:bodyPr wrap="square"/>
                    <a:lstStyle/>
                    <a:p>
                      <a:pPr algn="l"/>
                      <a:r>
                        <a:rPr sz="1200" b="1">
                          <a:solidFill>
                            <a:srgbClr val="14324A"/>
                          </a:solidFill>
                          <a:latin typeface="Calibri"/>
                        </a:rPr>
                        <a:t>Error returned</a:t>
                      </a:r>
                    </a:p>
                  </a:txBody>
                  <a:tcPr marL="54864" marR="54864" marT="27432" marB="27432">
                    <a:solidFill>
                      <a:srgbClr val="E8EEF3"/>
                    </a:solidFill>
                  </a:tcPr>
                </a:tc>
                <a:tc>
                  <a:txBody>
                    <a:bodyPr wrap="square"/>
                    <a:lstStyle/>
                    <a:p>
                      <a:pPr algn="l"/>
                      <a:r>
                        <a:rPr sz="1200" b="1">
                          <a:solidFill>
                            <a:srgbClr val="14324A"/>
                          </a:solidFill>
                          <a:latin typeface="Calibri"/>
                        </a:rPr>
                        <a:t>Proposed action</a:t>
                      </a:r>
                    </a:p>
                  </a:txBody>
                  <a:tcPr marL="54864" marR="54864" marT="27432" marB="27432">
                    <a:solidFill>
                      <a:srgbClr val="E8EEF3"/>
                    </a:solidFill>
                  </a:tcPr>
                </a:tc>
              </a:tr>
              <a:tr h="301752">
                <a:tc>
                  <a:txBody>
                    <a:bodyPr wrap="square"/>
                    <a:lstStyle/>
                    <a:p>
                      <a:pPr algn="l"/>
                      <a:r>
                        <a:rPr sz="1200" b="0">
                          <a:solidFill>
                            <a:srgbClr val="14324A"/>
                          </a:solidFill>
                          <a:latin typeface="Calibri"/>
                        </a:rPr>
                        <a:t>na7p419y</a:t>
                      </a:r>
                    </a:p>
                  </a:txBody>
                  <a:tcPr marL="54864" marR="54864" marT="27432" marB="27432">
                    <a:solidFill>
                      <a:srgbClr val="FFFFFF"/>
                    </a:solidFill>
                  </a:tcPr>
                </a:tc>
                <a:tc>
                  <a:txBody>
                    <a:bodyPr wrap="square"/>
                    <a:lstStyle/>
                    <a:p>
                      <a:pPr algn="l"/>
                      <a:r>
                        <a:rPr sz="1200" b="0">
                          <a:solidFill>
                            <a:srgbClr val="14324A"/>
                          </a:solidFill>
                          <a:latin typeface="Calibri"/>
                        </a:rPr>
                        <a:t>NoSuchBucket</a:t>
                      </a:r>
                    </a:p>
                  </a:txBody>
                  <a:tcPr marL="54864" marR="54864" marT="27432" marB="27432">
                    <a:solidFill>
                      <a:srgbClr val="FFFFFF"/>
                    </a:solidFill>
                  </a:tcPr>
                </a:tc>
                <a:tc>
                  <a:txBody>
                    <a:bodyPr wrap="square"/>
                    <a:lstStyle/>
                    <a:p>
                      <a:pPr algn="l"/>
                      <a:r>
                        <a:rPr sz="1200" b="0">
                          <a:solidFill>
                            <a:srgbClr val="14324A"/>
                          </a:solidFill>
                          <a:latin typeface="Calibri"/>
                        </a:rPr>
                        <a:t>reconcile with provider; remove from inventory if gone</a:t>
                      </a:r>
                    </a:p>
                  </a:txBody>
                  <a:tcPr marL="54864" marR="54864" marT="27432" marB="27432">
                    <a:solidFill>
                      <a:srgbClr val="FFFFFF"/>
                    </a:solidFill>
                  </a:tcPr>
                </a:tc>
              </a:tr>
              <a:tr h="301752">
                <a:tc>
                  <a:txBody>
                    <a:bodyPr wrap="square"/>
                    <a:lstStyle/>
                    <a:p>
                      <a:pPr algn="l"/>
                      <a:r>
                        <a:rPr sz="1200" b="0">
                          <a:solidFill>
                            <a:srgbClr val="14324A"/>
                          </a:solidFill>
                          <a:latin typeface="Calibri"/>
                        </a:rPr>
                        <a:t>na7p41ab</a:t>
                      </a:r>
                    </a:p>
                  </a:txBody>
                  <a:tcPr marL="54864" marR="54864" marT="27432" marB="27432">
                    <a:solidFill>
                      <a:srgbClr val="FFFFFF"/>
                    </a:solidFill>
                  </a:tcPr>
                </a:tc>
                <a:tc>
                  <a:txBody>
                    <a:bodyPr wrap="square"/>
                    <a:lstStyle/>
                    <a:p>
                      <a:pPr algn="l"/>
                      <a:r>
                        <a:rPr sz="1200" b="0">
                          <a:solidFill>
                            <a:srgbClr val="14324A"/>
                          </a:solidFill>
                          <a:latin typeface="Calibri"/>
                        </a:rPr>
                        <a:t>NoSuchBucket</a:t>
                      </a:r>
                    </a:p>
                  </a:txBody>
                  <a:tcPr marL="54864" marR="54864" marT="27432" marB="27432">
                    <a:solidFill>
                      <a:srgbClr val="FFFFFF"/>
                    </a:solidFill>
                  </a:tcPr>
                </a:tc>
                <a:tc>
                  <a:txBody>
                    <a:bodyPr wrap="square"/>
                    <a:lstStyle/>
                    <a:p>
                      <a:pPr algn="l"/>
                      <a:r>
                        <a:rPr sz="1200" b="0">
                          <a:solidFill>
                            <a:srgbClr val="14324A"/>
                          </a:solidFill>
                          <a:latin typeface="Calibri"/>
                        </a:rPr>
                        <a:t>reconcile with provider; remove from inventory if gone</a:t>
                      </a:r>
                    </a:p>
                  </a:txBody>
                  <a:tcPr marL="54864" marR="54864" marT="27432" marB="27432">
                    <a:solidFill>
                      <a:srgbClr val="FFFFFF"/>
                    </a:solidFill>
                  </a:tcPr>
                </a:tc>
              </a:tr>
              <a:tr h="301752">
                <a:tc>
                  <a:txBody>
                    <a:bodyPr wrap="square"/>
                    <a:lstStyle/>
                    <a:p>
                      <a:pPr algn="l"/>
                      <a:r>
                        <a:rPr sz="1200" b="0">
                          <a:solidFill>
                            <a:srgbClr val="14324A"/>
                          </a:solidFill>
                          <a:latin typeface="Calibri"/>
                        </a:rPr>
                        <a:t>na7p41f4</a:t>
                      </a:r>
                    </a:p>
                  </a:txBody>
                  <a:tcPr marL="54864" marR="54864" marT="27432" marB="27432">
                    <a:solidFill>
                      <a:srgbClr val="FFFFFF"/>
                    </a:solidFill>
                  </a:tcPr>
                </a:tc>
                <a:tc>
                  <a:txBody>
                    <a:bodyPr wrap="square"/>
                    <a:lstStyle/>
                    <a:p>
                      <a:pPr algn="l"/>
                      <a:r>
                        <a:rPr sz="1200" b="0">
                          <a:solidFill>
                            <a:srgbClr val="14324A"/>
                          </a:solidFill>
                          <a:latin typeface="Calibri"/>
                        </a:rPr>
                        <a:t>NoSuchBucket</a:t>
                      </a:r>
                    </a:p>
                  </a:txBody>
                  <a:tcPr marL="54864" marR="54864" marT="27432" marB="27432">
                    <a:solidFill>
                      <a:srgbClr val="FFFFFF"/>
                    </a:solidFill>
                  </a:tcPr>
                </a:tc>
                <a:tc>
                  <a:txBody>
                    <a:bodyPr wrap="square"/>
                    <a:lstStyle/>
                    <a:p>
                      <a:pPr algn="l"/>
                      <a:r>
                        <a:rPr sz="1200" b="0">
                          <a:solidFill>
                            <a:srgbClr val="14324A"/>
                          </a:solidFill>
                          <a:latin typeface="Calibri"/>
                        </a:rPr>
                        <a:t>reconcile with provider; remove from inventory if gone</a:t>
                      </a:r>
                    </a:p>
                  </a:txBody>
                  <a:tcPr marL="54864" marR="54864" marT="27432" marB="27432">
                    <a:solidFill>
                      <a:srgbClr val="FFFFFF"/>
                    </a:solidFill>
                  </a:tcPr>
                </a:tc>
              </a:tr>
              <a:tr h="301752">
                <a:tc>
                  <a:txBody>
                    <a:bodyPr wrap="square"/>
                    <a:lstStyle/>
                    <a:p>
                      <a:pPr algn="l"/>
                      <a:r>
                        <a:rPr sz="1200" b="0">
                          <a:solidFill>
                            <a:srgbClr val="14324A"/>
                          </a:solidFill>
                          <a:latin typeface="Calibri"/>
                        </a:rPr>
                        <a:t>na7p41j6</a:t>
                      </a:r>
                    </a:p>
                  </a:txBody>
                  <a:tcPr marL="54864" marR="54864" marT="27432" marB="27432">
                    <a:solidFill>
                      <a:srgbClr val="FFFFFF"/>
                    </a:solidFill>
                  </a:tcPr>
                </a:tc>
                <a:tc>
                  <a:txBody>
                    <a:bodyPr wrap="square"/>
                    <a:lstStyle/>
                    <a:p>
                      <a:pPr algn="l"/>
                      <a:r>
                        <a:rPr sz="1200" b="0">
                          <a:solidFill>
                            <a:srgbClr val="14324A"/>
                          </a:solidFill>
                          <a:latin typeface="Calibri"/>
                        </a:rPr>
                        <a:t>NoSuchBucket</a:t>
                      </a:r>
                    </a:p>
                  </a:txBody>
                  <a:tcPr marL="54864" marR="54864" marT="27432" marB="27432">
                    <a:solidFill>
                      <a:srgbClr val="FFFFFF"/>
                    </a:solidFill>
                  </a:tcPr>
                </a:tc>
                <a:tc>
                  <a:txBody>
                    <a:bodyPr wrap="square"/>
                    <a:lstStyle/>
                    <a:p>
                      <a:pPr algn="l"/>
                      <a:r>
                        <a:rPr sz="1200" b="0">
                          <a:solidFill>
                            <a:srgbClr val="14324A"/>
                          </a:solidFill>
                          <a:latin typeface="Calibri"/>
                        </a:rPr>
                        <a:t>reconcile with provider; remove from inventory if gone</a:t>
                      </a:r>
                    </a:p>
                  </a:txBody>
                  <a:tcPr marL="54864" marR="54864" marT="27432" marB="27432">
                    <a:solidFill>
                      <a:srgbClr val="FFFFFF"/>
                    </a:solidFill>
                  </a:tcPr>
                </a:tc>
              </a:tr>
              <a:tr h="301752">
                <a:tc>
                  <a:txBody>
                    <a:bodyPr wrap="square"/>
                    <a:lstStyle/>
                    <a:p>
                      <a:pPr algn="l"/>
                      <a:r>
                        <a:rPr sz="1200" b="0">
                          <a:solidFill>
                            <a:srgbClr val="14324A"/>
                          </a:solidFill>
                          <a:latin typeface="Calibri"/>
                        </a:rPr>
                        <a:t>na7p41jk</a:t>
                      </a:r>
                    </a:p>
                  </a:txBody>
                  <a:tcPr marL="54864" marR="54864" marT="27432" marB="27432">
                    <a:solidFill>
                      <a:srgbClr val="FFFFFF"/>
                    </a:solidFill>
                  </a:tcPr>
                </a:tc>
                <a:tc>
                  <a:txBody>
                    <a:bodyPr wrap="square"/>
                    <a:lstStyle/>
                    <a:p>
                      <a:pPr algn="l"/>
                      <a:r>
                        <a:rPr sz="1200" b="0">
                          <a:solidFill>
                            <a:srgbClr val="14324A"/>
                          </a:solidFill>
                          <a:latin typeface="Calibri"/>
                        </a:rPr>
                        <a:t>NoSuchBucket</a:t>
                      </a:r>
                    </a:p>
                  </a:txBody>
                  <a:tcPr marL="54864" marR="54864" marT="27432" marB="27432">
                    <a:solidFill>
                      <a:srgbClr val="FFFFFF"/>
                    </a:solidFill>
                  </a:tcPr>
                </a:tc>
                <a:tc>
                  <a:txBody>
                    <a:bodyPr wrap="square"/>
                    <a:lstStyle/>
                    <a:p>
                      <a:pPr algn="l"/>
                      <a:r>
                        <a:rPr sz="1200" b="0">
                          <a:solidFill>
                            <a:srgbClr val="14324A"/>
                          </a:solidFill>
                          <a:latin typeface="Calibri"/>
                        </a:rPr>
                        <a:t>reconcile with provider; remove from inventory if gone</a:t>
                      </a:r>
                    </a:p>
                  </a:txBody>
                  <a:tcPr marL="54864" marR="54864" marT="27432" marB="27432">
                    <a:solidFill>
                      <a:srgbClr val="FFFFFF"/>
                    </a:solidFill>
                  </a:tcPr>
                </a:tc>
              </a:tr>
              <a:tr h="301752">
                <a:tc>
                  <a:txBody>
                    <a:bodyPr wrap="square"/>
                    <a:lstStyle/>
                    <a:p>
                      <a:pPr algn="l"/>
                      <a:r>
                        <a:rPr sz="1200" b="0">
                          <a:solidFill>
                            <a:srgbClr val="14324A"/>
                          </a:solidFill>
                          <a:latin typeface="Calibri"/>
                        </a:rPr>
                        <a:t>na7p42ry</a:t>
                      </a:r>
                    </a:p>
                  </a:txBody>
                  <a:tcPr marL="54864" marR="54864" marT="27432" marB="27432">
                    <a:solidFill>
                      <a:srgbClr val="FFFFFF"/>
                    </a:solidFill>
                  </a:tcPr>
                </a:tc>
                <a:tc>
                  <a:txBody>
                    <a:bodyPr wrap="square"/>
                    <a:lstStyle/>
                    <a:p>
                      <a:pPr algn="l"/>
                      <a:r>
                        <a:rPr sz="1200" b="0">
                          <a:solidFill>
                            <a:srgbClr val="14324A"/>
                          </a:solidFill>
                          <a:latin typeface="Calibri"/>
                        </a:rPr>
                        <a:t>NoSuchBucket</a:t>
                      </a:r>
                    </a:p>
                  </a:txBody>
                  <a:tcPr marL="54864" marR="54864" marT="27432" marB="27432">
                    <a:solidFill>
                      <a:srgbClr val="FFFFFF"/>
                    </a:solidFill>
                  </a:tcPr>
                </a:tc>
                <a:tc>
                  <a:txBody>
                    <a:bodyPr wrap="square"/>
                    <a:lstStyle/>
                    <a:p>
                      <a:pPr algn="l"/>
                      <a:r>
                        <a:rPr sz="1200" b="0">
                          <a:solidFill>
                            <a:srgbClr val="14324A"/>
                          </a:solidFill>
                          <a:latin typeface="Calibri"/>
                        </a:rPr>
                        <a:t>reconcile with provider; remove from inventory if gone</a:t>
                      </a:r>
                    </a:p>
                  </a:txBody>
                  <a:tcPr marL="54864" marR="54864" marT="27432" marB="27432">
                    <a:solidFill>
                      <a:srgbClr val="FFFFFF"/>
                    </a:solidFill>
                  </a:tcPr>
                </a:tc>
              </a:tr>
              <a:tr h="301752">
                <a:tc>
                  <a:txBody>
                    <a:bodyPr wrap="square"/>
                    <a:lstStyle/>
                    <a:p>
                      <a:pPr algn="l"/>
                      <a:r>
                        <a:rPr sz="1200" b="0">
                          <a:solidFill>
                            <a:srgbClr val="14324A"/>
                          </a:solidFill>
                          <a:latin typeface="Calibri"/>
                        </a:rPr>
                        <a:t>na7p42s5</a:t>
                      </a:r>
                    </a:p>
                  </a:txBody>
                  <a:tcPr marL="54864" marR="54864" marT="27432" marB="27432">
                    <a:solidFill>
                      <a:srgbClr val="FFFFFF"/>
                    </a:solidFill>
                  </a:tcPr>
                </a:tc>
                <a:tc>
                  <a:txBody>
                    <a:bodyPr wrap="square"/>
                    <a:lstStyle/>
                    <a:p>
                      <a:pPr algn="l"/>
                      <a:r>
                        <a:rPr sz="1200" b="0">
                          <a:solidFill>
                            <a:srgbClr val="14324A"/>
                          </a:solidFill>
                          <a:latin typeface="Calibri"/>
                        </a:rPr>
                        <a:t>NoSuchBucket</a:t>
                      </a:r>
                    </a:p>
                  </a:txBody>
                  <a:tcPr marL="54864" marR="54864" marT="27432" marB="27432">
                    <a:solidFill>
                      <a:srgbClr val="FFFFFF"/>
                    </a:solidFill>
                  </a:tcPr>
                </a:tc>
                <a:tc>
                  <a:txBody>
                    <a:bodyPr wrap="square"/>
                    <a:lstStyle/>
                    <a:p>
                      <a:pPr algn="l"/>
                      <a:r>
                        <a:rPr sz="1200" b="0">
                          <a:solidFill>
                            <a:srgbClr val="14324A"/>
                          </a:solidFill>
                          <a:latin typeface="Calibri"/>
                        </a:rPr>
                        <a:t>reconcile with provider; remove from inventory if gone</a:t>
                      </a:r>
                    </a:p>
                  </a:txBody>
                  <a:tcPr marL="54864" marR="54864" marT="27432" marB="27432">
                    <a:solidFill>
                      <a:srgbClr val="FFFFFF"/>
                    </a:solidFill>
                  </a:tcPr>
                </a:tc>
              </a:tr>
              <a:tr h="301752">
                <a:tc>
                  <a:txBody>
                    <a:bodyPr wrap="square"/>
                    <a:lstStyle/>
                    <a:p>
                      <a:pPr algn="l"/>
                      <a:r>
                        <a:rPr sz="1200" b="0">
                          <a:solidFill>
                            <a:srgbClr val="14324A"/>
                          </a:solidFill>
                          <a:latin typeface="Calibri"/>
                        </a:rPr>
                        <a:t>na7p42s7</a:t>
                      </a:r>
                    </a:p>
                  </a:txBody>
                  <a:tcPr marL="54864" marR="54864" marT="27432" marB="27432">
                    <a:solidFill>
                      <a:srgbClr val="FFFFFF"/>
                    </a:solidFill>
                  </a:tcPr>
                </a:tc>
                <a:tc>
                  <a:txBody>
                    <a:bodyPr wrap="square"/>
                    <a:lstStyle/>
                    <a:p>
                      <a:pPr algn="l"/>
                      <a:r>
                        <a:rPr sz="1200" b="0">
                          <a:solidFill>
                            <a:srgbClr val="14324A"/>
                          </a:solidFill>
                          <a:latin typeface="Calibri"/>
                        </a:rPr>
                        <a:t>NoSuchBucket</a:t>
                      </a:r>
                    </a:p>
                  </a:txBody>
                  <a:tcPr marL="54864" marR="54864" marT="27432" marB="27432">
                    <a:solidFill>
                      <a:srgbClr val="FFFFFF"/>
                    </a:solidFill>
                  </a:tcPr>
                </a:tc>
                <a:tc>
                  <a:txBody>
                    <a:bodyPr wrap="square"/>
                    <a:lstStyle/>
                    <a:p>
                      <a:pPr algn="l"/>
                      <a:r>
                        <a:rPr sz="1200" b="0">
                          <a:solidFill>
                            <a:srgbClr val="14324A"/>
                          </a:solidFill>
                          <a:latin typeface="Calibri"/>
                        </a:rPr>
                        <a:t>reconcile with provider; remove from inventory if gone</a:t>
                      </a:r>
                    </a:p>
                  </a:txBody>
                  <a:tcPr marL="54864" marR="54864" marT="27432" marB="27432">
                    <a:solidFill>
                      <a:srgbClr val="FFFFFF"/>
                    </a:solidFill>
                  </a:tcPr>
                </a:tc>
              </a:tr>
              <a:tr h="301752">
                <a:tc>
                  <a:txBody>
                    <a:bodyPr wrap="square"/>
                    <a:lstStyle/>
                    <a:p>
                      <a:pPr algn="l"/>
                      <a:r>
                        <a:rPr sz="1200" b="0">
                          <a:solidFill>
                            <a:srgbClr val="14324A"/>
                          </a:solidFill>
                          <a:latin typeface="Calibri"/>
                        </a:rPr>
                        <a:t>na7p42tq</a:t>
                      </a:r>
                    </a:p>
                  </a:txBody>
                  <a:tcPr marL="54864" marR="54864" marT="27432" marB="27432">
                    <a:solidFill>
                      <a:srgbClr val="FFFFFF"/>
                    </a:solidFill>
                  </a:tcPr>
                </a:tc>
                <a:tc>
                  <a:txBody>
                    <a:bodyPr wrap="square"/>
                    <a:lstStyle/>
                    <a:p>
                      <a:pPr algn="l"/>
                      <a:r>
                        <a:rPr sz="1200" b="0">
                          <a:solidFill>
                            <a:srgbClr val="14324A"/>
                          </a:solidFill>
                          <a:latin typeface="Calibri"/>
                        </a:rPr>
                        <a:t>NoSuchBucket</a:t>
                      </a:r>
                    </a:p>
                  </a:txBody>
                  <a:tcPr marL="54864" marR="54864" marT="27432" marB="27432">
                    <a:solidFill>
                      <a:srgbClr val="FFFFFF"/>
                    </a:solidFill>
                  </a:tcPr>
                </a:tc>
                <a:tc>
                  <a:txBody>
                    <a:bodyPr wrap="square"/>
                    <a:lstStyle/>
                    <a:p>
                      <a:pPr algn="l"/>
                      <a:r>
                        <a:rPr sz="1200" b="0">
                          <a:solidFill>
                            <a:srgbClr val="14324A"/>
                          </a:solidFill>
                          <a:latin typeface="Calibri"/>
                        </a:rPr>
                        <a:t>reconcile with provider; remove from inventory if gone</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E8772E"/>
                </a:solidFill>
                <a:latin typeface="Calibri"/>
              </a:rPr>
              <a:t>These names are in the bucket inventory but returned an error when listed; each needs reconciling with the provider — deleted, renamed or access withdrawn.</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70879A"/>
                </a:solidFill>
                <a:latin typeface="Courier New"/>
              </a:rPr>
              <a:t>[measured]  Receipt R04: OBS bucket enumeration census run cr-f1415e395361 (22,975,591 objects, 130.3 TiB)</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70879A"/>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70879A"/>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70879A"/>
                </a:solidFill>
                <a:latin typeface="Courier New"/>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1920240"/>
            <a:ext cx="2613355" cy="1885492"/>
          </a:xfrm>
          <a:prstGeom prst="rect">
            <a:avLst/>
          </a:prstGeom>
          <a:noFill/>
        </p:spPr>
        <p:txBody>
          <a:bodyPr wrap="square" lIns="0" rIns="0" tIns="0" bIns="0" anchor="ctr">
            <a:spAutoFit/>
          </a:bodyPr>
          <a:lstStyle/>
          <a:p>
            <a:pPr algn="l"/>
            <a:r>
              <a:rPr sz="9600" b="0" i="0">
                <a:solidFill>
                  <a:srgbClr val="E8772E"/>
                </a:solidFill>
                <a:latin typeface="Courier New"/>
              </a:rPr>
              <a:t>03</a:t>
            </a:r>
          </a:p>
        </p:txBody>
      </p:sp>
      <p:sp>
        <p:nvSpPr>
          <p:cNvPr id="3" name="TextBox 2"/>
          <p:cNvSpPr txBox="1"/>
          <p:nvPr/>
        </p:nvSpPr>
        <p:spPr>
          <a:xfrm>
            <a:off x="3390595" y="2297887"/>
            <a:ext cx="8206740" cy="1508760"/>
          </a:xfrm>
          <a:prstGeom prst="rect">
            <a:avLst/>
          </a:prstGeom>
          <a:noFill/>
        </p:spPr>
        <p:txBody>
          <a:bodyPr wrap="square" lIns="0" rIns="0" tIns="0" bIns="0" anchor="ctr">
            <a:spAutoFit/>
          </a:bodyPr>
          <a:lstStyle/>
          <a:p>
            <a:pPr algn="l"/>
            <a:r>
              <a:rPr sz="3200" b="0" i="0">
                <a:solidFill>
                  <a:srgbClr val="14324A"/>
                </a:solidFill>
                <a:latin typeface="Cambria"/>
              </a:rPr>
              <a:t>Cost of keeping idle bytes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70879A"/>
                </a:solidFill>
                <a:latin typeface="Calibri"/>
              </a:rPr>
              <a:t>COST STRATEGIES</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4324A"/>
                </a:solidFill>
                <a:latin typeface="Cambria"/>
              </a:rPr>
              <a:t>Object-store tiering and duplicate reconciliation dominate the bytes any strategy reaches</a:t>
            </a:r>
          </a:p>
        </p:txBody>
      </p:sp>
      <p:graphicFrame>
        <p:nvGraphicFramePr>
          <p:cNvPr id="4" name="Chart 3"/>
          <p:cNvGraphicFramePr>
            <a:graphicFrameLocks noGrp="1"/>
          </p:cNvGraphicFramePr>
          <p:nvPr/>
        </p:nvGraphicFramePr>
        <p:xfrm>
          <a:off x="594360" y="1920240"/>
          <a:ext cx="11002975" cy="3394252"/>
        </p:xfrm>
        <a:graphic>
          <a:graphicData uri="http://schemas.openxmlformats.org/drawingml/2006/chart">
            <c:chart xmlns:c="http://schemas.openxmlformats.org/drawingml/2006/chart" r:id="rId2"/>
          </a:graphicData>
        </a:graphic>
      </p:graphicFrame>
      <p:sp>
        <p:nvSpPr>
          <p:cNvPr id="5" name="TextBox 4"/>
          <p:cNvSpPr txBox="1"/>
          <p:nvPr/>
        </p:nvSpPr>
        <p:spPr>
          <a:xfrm>
            <a:off x="594360" y="5314492"/>
            <a:ext cx="8206740" cy="376732"/>
          </a:xfrm>
          <a:prstGeom prst="rect">
            <a:avLst/>
          </a:prstGeom>
          <a:noFill/>
        </p:spPr>
        <p:txBody>
          <a:bodyPr wrap="square" lIns="0" rIns="0" tIns="0" bIns="0" anchor="b">
            <a:spAutoFit/>
          </a:bodyPr>
          <a:lstStyle/>
          <a:p>
            <a:pPr algn="l"/>
            <a:r>
              <a:rPr sz="1400" b="0" i="1">
                <a:solidFill>
                  <a:srgbClr val="E8772E"/>
                </a:solidFill>
                <a:latin typeface="Calibri"/>
              </a:rPr>
              <a:t>The three largest strategies address 50,784.6 GiB of the 50,799.8 GiB all strategies reach, but strategies may overlap and tiering is not deletion.</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70879A"/>
                </a:solidFill>
                <a:latin typeface="Courier New"/>
              </a:rPr>
              <a:t>[estimated]  Receipt R02: Estate intelligence census eij-1b359b3cbd2e, cost_strategies priced at reference list prices, not the owner's invoice: Huawei Cloud RDS for MySQL cloud SSD AF-Johannesburg 0.00015 USD/GB-hour x 730 h; OBS Standard 0.023 USD/GB-month</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70879A"/>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70879A"/>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70879A"/>
                </a:solidFill>
                <a:latin typeface="Courier New"/>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70879A"/>
                </a:solidFill>
                <a:latin typeface="Calibri"/>
              </a:rPr>
              <a:t>PRICED OPTIONS</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4324A"/>
                </a:solidFill>
                <a:latin typeface="Cambria"/>
              </a:rPr>
              <a:t>The three priced moves differ sharply in size, certainty and reversibility</a:t>
            </a:r>
          </a:p>
        </p:txBody>
      </p:sp>
      <p:graphicFrame>
        <p:nvGraphicFramePr>
          <p:cNvPr id="4" name="Table 3"/>
          <p:cNvGraphicFramePr>
            <a:graphicFrameLocks noGrp="1"/>
          </p:cNvGraphicFramePr>
          <p:nvPr/>
        </p:nvGraphicFramePr>
        <p:xfrm>
          <a:off x="594360" y="1920240"/>
          <a:ext cx="11002975" cy="1371600"/>
        </p:xfrm>
        <a:graphic>
          <a:graphicData uri="http://schemas.openxmlformats.org/drawingml/2006/table">
            <a:tbl>
              <a:tblPr firstRow="1" bandRow="1">
                <a:tableStyleId>{5C22544A-7EE6-4342-B048-85BDC9FD1C3A}</a:tableStyleId>
              </a:tblPr>
              <a:tblGrid>
                <a:gridCol w="3080833"/>
                <a:gridCol w="2640714"/>
                <a:gridCol w="2640714"/>
                <a:gridCol w="2640714"/>
              </a:tblGrid>
              <a:tr h="457200">
                <a:tc>
                  <a:txBody>
                    <a:bodyPr wrap="square"/>
                    <a:lstStyle/>
                    <a:p>
                      <a:pPr algn="l"/>
                      <a:r>
                        <a:rPr sz="1300" b="0">
                          <a:solidFill>
                            <a:srgbClr val="14324A"/>
                          </a:solidFill>
                          <a:latin typeface="Calibri"/>
                        </a:rPr>
                        <a:t/>
                      </a:r>
                    </a:p>
                  </a:txBody>
                  <a:tcPr marL="73152" marR="73152">
                    <a:solidFill>
                      <a:srgbClr val="E8EEF3"/>
                    </a:solidFill>
                  </a:tcPr>
                </a:tc>
                <a:tc>
                  <a:txBody>
                    <a:bodyPr wrap="square"/>
                    <a:lstStyle/>
                    <a:p>
                      <a:pPr algn="l"/>
                      <a:r>
                        <a:rPr sz="1300" b="1">
                          <a:solidFill>
                            <a:srgbClr val="14324A"/>
                          </a:solidFill>
                          <a:latin typeface="Calibri"/>
                        </a:rPr>
                        <a:t>Move buckets not written for over a year to archive-class st</a:t>
                      </a:r>
                    </a:p>
                  </a:txBody>
                  <a:tcPr marL="73152" marR="73152">
                    <a:solidFill>
                      <a:srgbClr val="E8EEF3"/>
                    </a:solidFill>
                  </a:tcPr>
                </a:tc>
                <a:tc>
                  <a:txBody>
                    <a:bodyPr wrap="square"/>
                    <a:lstStyle/>
                    <a:p>
                      <a:pPr algn="l"/>
                      <a:r>
                        <a:rPr sz="1300" b="1">
                          <a:solidFill>
                            <a:srgbClr val="14324A"/>
                          </a:solidFill>
                          <a:latin typeface="Calibri"/>
                        </a:rPr>
                        <a:t>Reconcile duplicate objects across OBS buckets</a:t>
                      </a:r>
                    </a:p>
                  </a:txBody>
                  <a:tcPr marL="73152" marR="73152">
                    <a:solidFill>
                      <a:srgbClr val="E8EEF3"/>
                    </a:solidFill>
                  </a:tcPr>
                </a:tc>
                <a:tc>
                  <a:txBody>
                    <a:bodyPr wrap="square"/>
                    <a:lstStyle/>
                    <a:p>
                      <a:pPr algn="l"/>
                      <a:r>
                        <a:rPr sz="1300" b="1">
                          <a:solidFill>
                            <a:srgbClr val="14324A"/>
                          </a:solidFill>
                          <a:latin typeface="Calibri"/>
                        </a:rPr>
                        <a:t>Move tables not written for over a year to cold storage</a:t>
                      </a:r>
                    </a:p>
                  </a:txBody>
                  <a:tcPr marL="73152" marR="73152">
                    <a:solidFill>
                      <a:srgbClr val="E8EEF3"/>
                    </a:solidFill>
                  </a:tcPr>
                </a:tc>
              </a:tr>
              <a:tr h="457200">
                <a:tc>
                  <a:txBody>
                    <a:bodyPr wrap="square"/>
                    <a:lstStyle/>
                    <a:p>
                      <a:pPr algn="l"/>
                      <a:r>
                        <a:rPr sz="1300" b="0">
                          <a:solidFill>
                            <a:srgbClr val="70879A"/>
                          </a:solidFill>
                          <a:latin typeface="Calibri"/>
                        </a:rPr>
                        <a:t>Reclaimable gib</a:t>
                      </a:r>
                    </a:p>
                  </a:txBody>
                  <a:tcPr marL="73152" marR="73152">
                    <a:solidFill>
                      <a:srgbClr val="FFFFFF"/>
                    </a:solidFill>
                  </a:tcPr>
                </a:tc>
                <a:tc>
                  <a:txBody>
                    <a:bodyPr wrap="square"/>
                    <a:lstStyle/>
                    <a:p>
                      <a:pPr algn="r"/>
                      <a:r>
                        <a:rPr sz="1300" b="0">
                          <a:solidFill>
                            <a:srgbClr val="14324A"/>
                          </a:solidFill>
                          <a:latin typeface="Courier New"/>
                        </a:rPr>
                        <a:t>42,891.0</a:t>
                      </a:r>
                    </a:p>
                  </a:txBody>
                  <a:tcPr marL="73152" marR="73152">
                    <a:solidFill>
                      <a:srgbClr val="FFFFFF"/>
                    </a:solidFill>
                  </a:tcPr>
                </a:tc>
                <a:tc>
                  <a:txBody>
                    <a:bodyPr wrap="square"/>
                    <a:lstStyle/>
                    <a:p>
                      <a:pPr algn="r"/>
                      <a:r>
                        <a:rPr sz="1300" b="0">
                          <a:solidFill>
                            <a:srgbClr val="14324A"/>
                          </a:solidFill>
                          <a:latin typeface="Courier New"/>
                        </a:rPr>
                        <a:t>7,839.5</a:t>
                      </a:r>
                    </a:p>
                  </a:txBody>
                  <a:tcPr marL="73152" marR="73152">
                    <a:solidFill>
                      <a:srgbClr val="FFFFFF"/>
                    </a:solidFill>
                  </a:tcPr>
                </a:tc>
                <a:tc>
                  <a:txBody>
                    <a:bodyPr wrap="square"/>
                    <a:lstStyle/>
                    <a:p>
                      <a:pPr algn="r"/>
                      <a:r>
                        <a:rPr sz="1300" b="0">
                          <a:solidFill>
                            <a:srgbClr val="14324A"/>
                          </a:solidFill>
                          <a:latin typeface="Courier New"/>
                        </a:rPr>
                        <a:t>54.1</a:t>
                      </a:r>
                    </a:p>
                  </a:txBody>
                  <a:tcPr marL="73152" marR="73152">
                    <a:solidFill>
                      <a:srgbClr val="FFFFFF"/>
                    </a:solidFill>
                  </a:tcPr>
                </a:tc>
              </a:tr>
              <a:tr h="457200">
                <a:tc>
                  <a:txBody>
                    <a:bodyPr wrap="square"/>
                    <a:lstStyle/>
                    <a:p>
                      <a:pPr algn="l"/>
                      <a:r>
                        <a:rPr sz="1300" b="0">
                          <a:solidFill>
                            <a:srgbClr val="70879A"/>
                          </a:solidFill>
                          <a:latin typeface="Calibri"/>
                        </a:rPr>
                        <a:t>Monthly saving usd</a:t>
                      </a:r>
                    </a:p>
                  </a:txBody>
                  <a:tcPr marL="73152" marR="73152">
                    <a:solidFill>
                      <a:srgbClr val="FFFFFF"/>
                    </a:solidFill>
                  </a:tcPr>
                </a:tc>
                <a:tc>
                  <a:txBody>
                    <a:bodyPr wrap="square"/>
                    <a:lstStyle/>
                    <a:p>
                      <a:pPr algn="r"/>
                      <a:r>
                        <a:rPr sz="1300" b="0">
                          <a:solidFill>
                            <a:srgbClr val="14324A"/>
                          </a:solidFill>
                          <a:latin typeface="Courier New"/>
                        </a:rPr>
                        <a:t>986.5</a:t>
                      </a:r>
                    </a:p>
                  </a:txBody>
                  <a:tcPr marL="73152" marR="73152">
                    <a:solidFill>
                      <a:srgbClr val="FFFFFF"/>
                    </a:solidFill>
                  </a:tcPr>
                </a:tc>
                <a:tc>
                  <a:txBody>
                    <a:bodyPr wrap="square"/>
                    <a:lstStyle/>
                    <a:p>
                      <a:pPr algn="r"/>
                      <a:r>
                        <a:rPr sz="1300" b="0">
                          <a:solidFill>
                            <a:srgbClr val="14324A"/>
                          </a:solidFill>
                          <a:latin typeface="Courier New"/>
                        </a:rPr>
                        <a:t>180.3</a:t>
                      </a:r>
                    </a:p>
                  </a:txBody>
                  <a:tcPr marL="73152" marR="73152">
                    <a:solidFill>
                      <a:srgbClr val="FFFFFF"/>
                    </a:solidFill>
                  </a:tcPr>
                </a:tc>
                <a:tc>
                  <a:txBody>
                    <a:bodyPr wrap="square"/>
                    <a:lstStyle/>
                    <a:p>
                      <a:pPr algn="r"/>
                      <a:r>
                        <a:rPr sz="1300" b="0">
                          <a:solidFill>
                            <a:srgbClr val="14324A"/>
                          </a:solidFill>
                          <a:latin typeface="Courier New"/>
                        </a:rPr>
                        <a:t>5.9</a:t>
                      </a:r>
                    </a:p>
                  </a:txBody>
                  <a:tcPr marL="73152" marR="7315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E8772E"/>
                </a:solidFill>
                <a:latin typeface="Calibri"/>
              </a:rPr>
              <a:t>Archive tiering is up to 986.5 USD a month, duplicate reconciliation 180.3 USD and cold tables 5.9 USD, all at list prices.</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70879A"/>
                </a:solidFill>
                <a:latin typeface="Courier New"/>
              </a:rPr>
              <a:t>[estimated]  Receipt R02: Estate intelligence census eij-1b359b3cbd2e, cost_strategies priced at reference list prices, not the owner's invoice: Huawei Cloud RDS for MySQL cloud SSD AF-Johannesburg 0.00015 USD/GB-hour x 730 h; OBS Standard 0.023 USD/GB-month</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70879A"/>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70879A"/>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70879A"/>
                </a:solidFill>
                <a:latin typeface="Courier New"/>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1920240"/>
            <a:ext cx="2613355" cy="1885492"/>
          </a:xfrm>
          <a:prstGeom prst="rect">
            <a:avLst/>
          </a:prstGeom>
          <a:noFill/>
        </p:spPr>
        <p:txBody>
          <a:bodyPr wrap="square" lIns="0" rIns="0" tIns="0" bIns="0" anchor="ctr">
            <a:spAutoFit/>
          </a:bodyPr>
          <a:lstStyle/>
          <a:p>
            <a:pPr algn="l"/>
            <a:r>
              <a:rPr sz="9600" b="0" i="0">
                <a:solidFill>
                  <a:srgbClr val="E8772E"/>
                </a:solidFill>
                <a:latin typeface="Courier New"/>
              </a:rPr>
              <a:t>04</a:t>
            </a:r>
          </a:p>
        </p:txBody>
      </p:sp>
      <p:sp>
        <p:nvSpPr>
          <p:cNvPr id="3" name="TextBox 2"/>
          <p:cNvSpPr txBox="1"/>
          <p:nvPr/>
        </p:nvSpPr>
        <p:spPr>
          <a:xfrm>
            <a:off x="3390595" y="2297887"/>
            <a:ext cx="8206740" cy="1508760"/>
          </a:xfrm>
          <a:prstGeom prst="rect">
            <a:avLst/>
          </a:prstGeom>
          <a:noFill/>
        </p:spPr>
        <p:txBody>
          <a:bodyPr wrap="square" lIns="0" rIns="0" tIns="0" bIns="0" anchor="ctr">
            <a:spAutoFit/>
          </a:bodyPr>
          <a:lstStyle/>
          <a:p>
            <a:pPr algn="l"/>
            <a:r>
              <a:rPr sz="3200" b="0" i="0">
                <a:solidFill>
                  <a:srgbClr val="14324A"/>
                </a:solidFill>
                <a:latin typeface="Cambria"/>
              </a:rPr>
              <a:t>Condition of database rows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70879A"/>
                </a:solidFill>
                <a:latin typeface="Calibri"/>
              </a:rPr>
              <a:t>ROW CONDITION</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4324A"/>
                </a:solidFill>
                <a:latin typeface="Cambria"/>
              </a:rPr>
              <a:t>Empty fields, not duplication, dominate the condition of database rows</a:t>
            </a:r>
          </a:p>
        </p:txBody>
      </p:sp>
      <p:graphicFrame>
        <p:nvGraphicFramePr>
          <p:cNvPr id="4" name="Chart 3"/>
          <p:cNvGraphicFramePr>
            <a:graphicFrameLocks noGrp="1"/>
          </p:cNvGraphicFramePr>
          <p:nvPr/>
        </p:nvGraphicFramePr>
        <p:xfrm>
          <a:off x="594360" y="1920240"/>
          <a:ext cx="11002975" cy="3394252"/>
        </p:xfrm>
        <a:graphic>
          <a:graphicData uri="http://schemas.openxmlformats.org/drawingml/2006/chart">
            <c:chart xmlns:c="http://schemas.openxmlformats.org/drawingml/2006/chart" r:id="rId2"/>
          </a:graphicData>
        </a:graphic>
      </p:graphicFrame>
      <p:sp>
        <p:nvSpPr>
          <p:cNvPr id="5" name="TextBox 4"/>
          <p:cNvSpPr txBox="1"/>
          <p:nvPr/>
        </p:nvSpPr>
        <p:spPr>
          <a:xfrm>
            <a:off x="594360" y="5314492"/>
            <a:ext cx="8206740" cy="376732"/>
          </a:xfrm>
          <a:prstGeom prst="rect">
            <a:avLst/>
          </a:prstGeom>
          <a:noFill/>
        </p:spPr>
        <p:txBody>
          <a:bodyPr wrap="square" lIns="0" rIns="0" tIns="0" bIns="0" anchor="b">
            <a:spAutoFit/>
          </a:bodyPr>
          <a:lstStyle/>
          <a:p>
            <a:pPr algn="l"/>
            <a:r>
              <a:rPr sz="1400" b="0" i="1">
                <a:solidFill>
                  <a:srgbClr val="E8772E"/>
                </a:solidFill>
                <a:latin typeface="Calibri"/>
              </a:rPr>
              <a:t>Empty fields touch 81.7% of rows and degradation 23.0%, against 1.5% exact duplicates; these overlap and must not be added together.</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70879A"/>
                </a:solidFill>
                <a:latin typeface="Courier New"/>
              </a:rPr>
              <a:t>[estimated]  Receipt R01: Estate intelligence census eij-1b359b3cbd2e, digest-verified report (measured 2026-09-29), headline aggregates and per-database measures</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70879A"/>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70879A"/>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70879A"/>
                </a:solidFill>
                <a:latin typeface="Courier New"/>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70879A"/>
                </a:solidFill>
                <a:latin typeface="Calibri"/>
              </a:rPr>
              <a:t>DATABASE SIZE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4324A"/>
                </a:solidFill>
                <a:latin typeface="Cambria"/>
              </a:rPr>
              <a:t>Database bytes concentrate heavily in a few databases</a:t>
            </a:r>
          </a:p>
        </p:txBody>
      </p:sp>
      <p:graphicFrame>
        <p:nvGraphicFramePr>
          <p:cNvPr id="4" name="Chart 3"/>
          <p:cNvGraphicFramePr>
            <a:graphicFrameLocks noGrp="1"/>
          </p:cNvGraphicFramePr>
          <p:nvPr/>
        </p:nvGraphicFramePr>
        <p:xfrm>
          <a:off x="594360" y="1920240"/>
          <a:ext cx="11002975" cy="3394252"/>
        </p:xfrm>
        <a:graphic>
          <a:graphicData uri="http://schemas.openxmlformats.org/drawingml/2006/chart">
            <c:chart xmlns:c="http://schemas.openxmlformats.org/drawingml/2006/chart" r:id="rId2"/>
          </a:graphicData>
        </a:graphic>
      </p:graphicFrame>
      <p:sp>
        <p:nvSpPr>
          <p:cNvPr id="5" name="TextBox 4"/>
          <p:cNvSpPr txBox="1"/>
          <p:nvPr/>
        </p:nvSpPr>
        <p:spPr>
          <a:xfrm>
            <a:off x="594360" y="5314492"/>
            <a:ext cx="8206740" cy="376732"/>
          </a:xfrm>
          <a:prstGeom prst="rect">
            <a:avLst/>
          </a:prstGeom>
          <a:noFill/>
        </p:spPr>
        <p:txBody>
          <a:bodyPr wrap="square" lIns="0" rIns="0" tIns="0" bIns="0" anchor="b">
            <a:spAutoFit/>
          </a:bodyPr>
          <a:lstStyle/>
          <a:p>
            <a:pPr algn="l"/>
            <a:r>
              <a:rPr sz="1400" b="0" i="1">
                <a:solidFill>
                  <a:srgbClr val="E8772E"/>
                </a:solidFill>
                <a:latin typeface="Calibri"/>
              </a:rPr>
              <a:t>The largest databases hold 350.3 GiB of 351.3 GiB, or 99.7%; size does not show they hold the worst rows.</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70879A"/>
                </a:solidFill>
                <a:latin typeface="Courier New"/>
              </a:rPr>
              <a:t>[measured]  Receipt R01: Estate intelligence census eij-1b359b3cbd2e, digest-verified report (measured 2026-09-29), headline aggregates and per-database measures</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70879A"/>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70879A"/>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70879A"/>
                </a:solidFill>
                <a:latin typeface="Courier New"/>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70879A"/>
                </a:solidFill>
                <a:latin typeface="Calibri"/>
              </a:rPr>
              <a:t>ROW CONDITION</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4324A"/>
                </a:solidFill>
                <a:latin typeface="Cambria"/>
              </a:rPr>
              <a:t>Completeness, cleansing and de-identification matter more than removing duplicate rows</a:t>
            </a:r>
          </a:p>
        </p:txBody>
      </p:sp>
      <p:sp>
        <p:nvSpPr>
          <p:cNvPr id="4" name="TextBox 3"/>
          <p:cNvSpPr txBox="1"/>
          <p:nvPr/>
        </p:nvSpPr>
        <p:spPr>
          <a:xfrm>
            <a:off x="594360" y="1920240"/>
            <a:ext cx="640080" cy="942975"/>
          </a:xfrm>
          <a:prstGeom prst="rect">
            <a:avLst/>
          </a:prstGeom>
          <a:noFill/>
        </p:spPr>
        <p:txBody>
          <a:bodyPr wrap="square" lIns="0" rIns="0" tIns="0" bIns="0" anchor="t">
            <a:spAutoFit/>
          </a:bodyPr>
          <a:lstStyle/>
          <a:p>
            <a:pPr algn="l"/>
            <a:r>
              <a:rPr sz="2600" b="0" i="0">
                <a:solidFill>
                  <a:srgbClr val="E8772E"/>
                </a:solidFill>
                <a:latin typeface="Courier New"/>
              </a:rPr>
              <a:t>01</a:t>
            </a:r>
          </a:p>
        </p:txBody>
      </p:sp>
      <p:sp>
        <p:nvSpPr>
          <p:cNvPr id="5" name="TextBox 4"/>
          <p:cNvSpPr txBox="1"/>
          <p:nvPr/>
        </p:nvSpPr>
        <p:spPr>
          <a:xfrm>
            <a:off x="1417320" y="1993392"/>
            <a:ext cx="10180015" cy="851535"/>
          </a:xfrm>
          <a:prstGeom prst="rect">
            <a:avLst/>
          </a:prstGeom>
          <a:noFill/>
        </p:spPr>
        <p:txBody>
          <a:bodyPr wrap="square" lIns="0" rIns="0" tIns="0" bIns="0" anchor="t">
            <a:spAutoFit/>
          </a:bodyPr>
          <a:lstStyle/>
          <a:p>
            <a:pPr algn="l"/>
            <a:r>
              <a:rPr sz="1400" b="0" i="0">
                <a:solidFill>
                  <a:srgbClr val="14324A"/>
                </a:solidFill>
                <a:latin typeface="Calibri"/>
              </a:rPr>
              <a:t>Exact duplicate rows are only 1.5% of rows, while degraded rows are 23.0% and rows with empty required-looking fields are 81.7%.</a:t>
            </a:r>
          </a:p>
        </p:txBody>
      </p:sp>
      <p:cxnSp>
        <p:nvCxnSpPr>
          <p:cNvPr id="6" name="Connector 5"/>
          <p:cNvCxnSpPr/>
          <p:nvPr/>
        </p:nvCxnSpPr>
        <p:spPr>
          <a:xfrm>
            <a:off x="594360" y="2753487"/>
            <a:ext cx="11002975" cy="0"/>
          </a:xfrm>
          <a:prstGeom prst="line">
            <a:avLst/>
          </a:prstGeom>
          <a:ln w="9525">
            <a:solidFill>
              <a:srgbClr val="D3DCE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2863215"/>
            <a:ext cx="640080" cy="942975"/>
          </a:xfrm>
          <a:prstGeom prst="rect">
            <a:avLst/>
          </a:prstGeom>
          <a:noFill/>
        </p:spPr>
        <p:txBody>
          <a:bodyPr wrap="square" lIns="0" rIns="0" tIns="0" bIns="0" anchor="t">
            <a:spAutoFit/>
          </a:bodyPr>
          <a:lstStyle/>
          <a:p>
            <a:pPr algn="l"/>
            <a:r>
              <a:rPr sz="2600" b="0" i="0">
                <a:solidFill>
                  <a:srgbClr val="E8772E"/>
                </a:solidFill>
                <a:latin typeface="Courier New"/>
              </a:rPr>
              <a:t>02</a:t>
            </a:r>
          </a:p>
        </p:txBody>
      </p:sp>
      <p:sp>
        <p:nvSpPr>
          <p:cNvPr id="8" name="TextBox 7"/>
          <p:cNvSpPr txBox="1"/>
          <p:nvPr/>
        </p:nvSpPr>
        <p:spPr>
          <a:xfrm>
            <a:off x="1417320" y="2936367"/>
            <a:ext cx="10180015" cy="851535"/>
          </a:xfrm>
          <a:prstGeom prst="rect">
            <a:avLst/>
          </a:prstGeom>
          <a:noFill/>
        </p:spPr>
        <p:txBody>
          <a:bodyPr wrap="square" lIns="0" rIns="0" tIns="0" bIns="0" anchor="t">
            <a:spAutoFit/>
          </a:bodyPr>
          <a:lstStyle/>
          <a:p>
            <a:pPr algn="l"/>
            <a:r>
              <a:rPr sz="1400" b="0" i="0">
                <a:solidFill>
                  <a:srgbClr val="14324A"/>
                </a:solidFill>
                <a:latin typeface="Calibri"/>
              </a:rPr>
              <a:t>Personal-data markers appear in 71.8% of the 1.0m sampled rows; this is preparation work for products, not a rights question.</a:t>
            </a:r>
          </a:p>
        </p:txBody>
      </p:sp>
      <p:cxnSp>
        <p:nvCxnSpPr>
          <p:cNvPr id="9" name="Connector 8"/>
          <p:cNvCxnSpPr/>
          <p:nvPr/>
        </p:nvCxnSpPr>
        <p:spPr>
          <a:xfrm>
            <a:off x="594360" y="3696461"/>
            <a:ext cx="11002975" cy="0"/>
          </a:xfrm>
          <a:prstGeom prst="line">
            <a:avLst/>
          </a:prstGeom>
          <a:ln w="9525">
            <a:solidFill>
              <a:srgbClr val="D3DCE4"/>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94360" y="3806189"/>
            <a:ext cx="640080" cy="942975"/>
          </a:xfrm>
          <a:prstGeom prst="rect">
            <a:avLst/>
          </a:prstGeom>
          <a:noFill/>
        </p:spPr>
        <p:txBody>
          <a:bodyPr wrap="square" lIns="0" rIns="0" tIns="0" bIns="0" anchor="t">
            <a:spAutoFit/>
          </a:bodyPr>
          <a:lstStyle/>
          <a:p>
            <a:pPr algn="l"/>
            <a:r>
              <a:rPr sz="2600" b="0" i="0">
                <a:solidFill>
                  <a:srgbClr val="E8772E"/>
                </a:solidFill>
                <a:latin typeface="Courier New"/>
              </a:rPr>
              <a:t>03</a:t>
            </a:r>
          </a:p>
        </p:txBody>
      </p:sp>
      <p:sp>
        <p:nvSpPr>
          <p:cNvPr id="11" name="TextBox 10"/>
          <p:cNvSpPr txBox="1"/>
          <p:nvPr/>
        </p:nvSpPr>
        <p:spPr>
          <a:xfrm>
            <a:off x="1417320" y="3879341"/>
            <a:ext cx="10180015" cy="851535"/>
          </a:xfrm>
          <a:prstGeom prst="rect">
            <a:avLst/>
          </a:prstGeom>
          <a:noFill/>
        </p:spPr>
        <p:txBody>
          <a:bodyPr wrap="square" lIns="0" rIns="0" tIns="0" bIns="0" anchor="t">
            <a:spAutoFit/>
          </a:bodyPr>
          <a:lstStyle/>
          <a:p>
            <a:pPr algn="l"/>
            <a:r>
              <a:rPr sz="1400" b="0" i="0">
                <a:solidFill>
                  <a:srgbClr val="14324A"/>
                </a:solidFill>
                <a:latin typeface="Calibri"/>
              </a:rPr>
              <a:t>15.4% of bytes have not been written for over a year, which dates the value of some tables.</a:t>
            </a:r>
          </a:p>
        </p:txBody>
      </p:sp>
      <p:cxnSp>
        <p:nvCxnSpPr>
          <p:cNvPr id="12" name="Connector 11"/>
          <p:cNvCxnSpPr/>
          <p:nvPr/>
        </p:nvCxnSpPr>
        <p:spPr>
          <a:xfrm>
            <a:off x="594360" y="4639437"/>
            <a:ext cx="11002975" cy="0"/>
          </a:xfrm>
          <a:prstGeom prst="line">
            <a:avLst/>
          </a:prstGeom>
          <a:ln w="9525">
            <a:solidFill>
              <a:srgbClr val="D3DCE4"/>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94360" y="4749165"/>
            <a:ext cx="640080" cy="942975"/>
          </a:xfrm>
          <a:prstGeom prst="rect">
            <a:avLst/>
          </a:prstGeom>
          <a:noFill/>
        </p:spPr>
        <p:txBody>
          <a:bodyPr wrap="square" lIns="0" rIns="0" tIns="0" bIns="0" anchor="t">
            <a:spAutoFit/>
          </a:bodyPr>
          <a:lstStyle/>
          <a:p>
            <a:pPr algn="l"/>
            <a:r>
              <a:rPr sz="2600" b="0" i="0">
                <a:solidFill>
                  <a:srgbClr val="E8772E"/>
                </a:solidFill>
                <a:latin typeface="Courier New"/>
              </a:rPr>
              <a:t>04</a:t>
            </a:r>
          </a:p>
        </p:txBody>
      </p:sp>
      <p:sp>
        <p:nvSpPr>
          <p:cNvPr id="14" name="TextBox 13"/>
          <p:cNvSpPr txBox="1"/>
          <p:nvPr/>
        </p:nvSpPr>
        <p:spPr>
          <a:xfrm>
            <a:off x="1417320" y="4822317"/>
            <a:ext cx="10180015" cy="851535"/>
          </a:xfrm>
          <a:prstGeom prst="rect">
            <a:avLst/>
          </a:prstGeom>
          <a:noFill/>
        </p:spPr>
        <p:txBody>
          <a:bodyPr wrap="square" lIns="0" rIns="0" tIns="0" bIns="0" anchor="t">
            <a:spAutoFit/>
          </a:bodyPr>
          <a:lstStyle/>
          <a:p>
            <a:pPr algn="l"/>
            <a:r>
              <a:rPr sz="1400" b="0" i="0">
                <a:solidFill>
                  <a:srgbClr val="14324A"/>
                </a:solidFill>
                <a:latin typeface="Calibri"/>
              </a:rPr>
              <a:t>These ratios come from complete passes where possible and stratified samples elsewhere, so they are estimates.</a:t>
            </a:r>
          </a:p>
        </p:txBody>
      </p:sp>
      <p:cxnSp>
        <p:nvCxnSpPr>
          <p:cNvPr id="15" name="Connector 14"/>
          <p:cNvCxnSpPr/>
          <p:nvPr/>
        </p:nvCxnSpPr>
        <p:spPr>
          <a:xfrm>
            <a:off x="594360" y="5582412"/>
            <a:ext cx="11002975" cy="0"/>
          </a:xfrm>
          <a:prstGeom prst="line">
            <a:avLst/>
          </a:prstGeom>
          <a:ln w="9525">
            <a:solidFill>
              <a:srgbClr val="D3DCE4"/>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70879A"/>
                </a:solidFill>
                <a:latin typeface="Calibri"/>
              </a:rPr>
              <a:t>EI-eij-1b359b3cbd2e</a:t>
            </a:r>
          </a:p>
        </p:txBody>
      </p:sp>
      <p:sp>
        <p:nvSpPr>
          <p:cNvPr id="17" name="TextBox 16"/>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70879A"/>
                </a:solidFill>
                <a:latin typeface="Calibri"/>
              </a:rPr>
              <a:t>Tenant confidential</a:t>
            </a:r>
          </a:p>
        </p:txBody>
      </p:sp>
      <p:sp>
        <p:nvSpPr>
          <p:cNvPr id="18" name="TextBox 17"/>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70879A"/>
                </a:solidFill>
                <a:latin typeface="Courier New"/>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1920240"/>
            <a:ext cx="2613355" cy="1885492"/>
          </a:xfrm>
          <a:prstGeom prst="rect">
            <a:avLst/>
          </a:prstGeom>
          <a:noFill/>
        </p:spPr>
        <p:txBody>
          <a:bodyPr wrap="square" lIns="0" rIns="0" tIns="0" bIns="0" anchor="ctr">
            <a:spAutoFit/>
          </a:bodyPr>
          <a:lstStyle/>
          <a:p>
            <a:pPr algn="l"/>
            <a:r>
              <a:rPr sz="9600" b="0" i="0">
                <a:solidFill>
                  <a:srgbClr val="E8772E"/>
                </a:solidFill>
                <a:latin typeface="Courier New"/>
              </a:rPr>
              <a:t>05</a:t>
            </a:r>
          </a:p>
        </p:txBody>
      </p:sp>
      <p:sp>
        <p:nvSpPr>
          <p:cNvPr id="3" name="TextBox 2"/>
          <p:cNvSpPr txBox="1"/>
          <p:nvPr/>
        </p:nvSpPr>
        <p:spPr>
          <a:xfrm>
            <a:off x="3390595" y="2297887"/>
            <a:ext cx="8206740" cy="1508760"/>
          </a:xfrm>
          <a:prstGeom prst="rect">
            <a:avLst/>
          </a:prstGeom>
          <a:noFill/>
        </p:spPr>
        <p:txBody>
          <a:bodyPr wrap="square" lIns="0" rIns="0" tIns="0" bIns="0" anchor="ctr">
            <a:spAutoFit/>
          </a:bodyPr>
          <a:lstStyle/>
          <a:p>
            <a:pPr algn="l"/>
            <a:r>
              <a:rPr sz="3200" b="0" i="0">
                <a:solidFill>
                  <a:srgbClr val="14324A"/>
                </a:solidFill>
                <a:latin typeface="Cambria"/>
              </a:rPr>
              <a:t>Audio: speech by language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70879A"/>
                </a:solidFill>
                <a:latin typeface="Calibri"/>
              </a:rPr>
              <a:t>STAGED AUDIO</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4324A"/>
                </a:solidFill>
                <a:latin typeface="Cambria"/>
              </a:rPr>
              <a:t>Speech hours sit mainly in six language folders, with two folders very thin</a:t>
            </a:r>
          </a:p>
        </p:txBody>
      </p:sp>
      <p:graphicFrame>
        <p:nvGraphicFramePr>
          <p:cNvPr id="4" name="Chart 3"/>
          <p:cNvGraphicFramePr>
            <a:graphicFrameLocks noGrp="1"/>
          </p:cNvGraphicFramePr>
          <p:nvPr/>
        </p:nvGraphicFramePr>
        <p:xfrm>
          <a:off x="594360" y="1920240"/>
          <a:ext cx="11002975" cy="3394252"/>
        </p:xfrm>
        <a:graphic>
          <a:graphicData uri="http://schemas.openxmlformats.org/drawingml/2006/chart">
            <c:chart xmlns:c="http://schemas.openxmlformats.org/drawingml/2006/chart" r:id="rId2"/>
          </a:graphicData>
        </a:graphic>
      </p:graphicFrame>
      <p:sp>
        <p:nvSpPr>
          <p:cNvPr id="5" name="TextBox 4"/>
          <p:cNvSpPr txBox="1"/>
          <p:nvPr/>
        </p:nvSpPr>
        <p:spPr>
          <a:xfrm>
            <a:off x="594360" y="5314492"/>
            <a:ext cx="8206740" cy="376732"/>
          </a:xfrm>
          <a:prstGeom prst="rect">
            <a:avLst/>
          </a:prstGeom>
          <a:noFill/>
        </p:spPr>
        <p:txBody>
          <a:bodyPr wrap="square" lIns="0" rIns="0" tIns="0" bIns="0" anchor="b">
            <a:spAutoFit/>
          </a:bodyPr>
          <a:lstStyle/>
          <a:p>
            <a:pPr algn="l"/>
            <a:r>
              <a:rPr sz="1400" b="0" i="1">
                <a:solidFill>
                  <a:srgbClr val="E8772E"/>
                </a:solidFill>
                <a:latin typeface="Calibri"/>
              </a:rPr>
              <a:t>Estimated speech of 421.4 hours is preparation capacity, not verified clean speech or a balanced training set.</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70879A"/>
                </a:solidFill>
                <a:latin typeface="Courier New"/>
              </a:rPr>
              <a:t>[estimated]  Receipt R06: Estate language reading m9j-9e8fcb46a809 on akki-vm (2 GPUs, 1.034 GPU-h): audio language model lcj-7128593897d4 sha256 5c1feb8497e8…, music detector m9j-686de001bfe7 sha256 0fea3eee0393…; model readings, not human labels</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70879A"/>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70879A"/>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70879A"/>
                </a:solidFill>
                <a:latin typeface="Courier New"/>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70879A"/>
                </a:solidFill>
                <a:latin typeface="Calibri"/>
              </a:rPr>
              <a:t>LANGUAGE AGREEMENT</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4324A"/>
                </a:solidFill>
                <a:latin typeface="Cambria"/>
              </a:rPr>
              <a:t>Agreement between model language labels and folder names varies by language folder</a:t>
            </a:r>
          </a:p>
        </p:txBody>
      </p:sp>
      <p:graphicFrame>
        <p:nvGraphicFramePr>
          <p:cNvPr id="4" name="Chart 3"/>
          <p:cNvGraphicFramePr>
            <a:graphicFrameLocks noGrp="1"/>
          </p:cNvGraphicFramePr>
          <p:nvPr/>
        </p:nvGraphicFramePr>
        <p:xfrm>
          <a:off x="594360" y="1920240"/>
          <a:ext cx="11002975" cy="3394252"/>
        </p:xfrm>
        <a:graphic>
          <a:graphicData uri="http://schemas.openxmlformats.org/drawingml/2006/chart">
            <c:chart xmlns:c="http://schemas.openxmlformats.org/drawingml/2006/chart" r:id="rId2"/>
          </a:graphicData>
        </a:graphic>
      </p:graphicFrame>
      <p:sp>
        <p:nvSpPr>
          <p:cNvPr id="5" name="TextBox 4"/>
          <p:cNvSpPr txBox="1"/>
          <p:nvPr/>
        </p:nvSpPr>
        <p:spPr>
          <a:xfrm>
            <a:off x="594360" y="5314492"/>
            <a:ext cx="8206740" cy="376732"/>
          </a:xfrm>
          <a:prstGeom prst="rect">
            <a:avLst/>
          </a:prstGeom>
          <a:noFill/>
        </p:spPr>
        <p:txBody>
          <a:bodyPr wrap="square" lIns="0" rIns="0" tIns="0" bIns="0" anchor="b">
            <a:spAutoFit/>
          </a:bodyPr>
          <a:lstStyle/>
          <a:p>
            <a:pPr algn="l"/>
            <a:r>
              <a:rPr sz="1400" b="0" i="1">
                <a:solidFill>
                  <a:srgbClr val="E8772E"/>
                </a:solidFill>
                <a:latin typeface="Calibri"/>
              </a:rPr>
              <a:t>Across all folders 82.3% of judged windows agree with the folder; this is a model reading, not human accuracy.</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70879A"/>
                </a:solidFill>
                <a:latin typeface="Courier New"/>
              </a:rPr>
              <a:t>[measured]  Receipt R06: Estate language reading m9j-9e8fcb46a809 on akki-vm (2 GPUs, 1.034 GPU-h): audio language model lcj-7128593897d4 sha256 5c1feb8497e8…, music detector m9j-686de001bfe7 sha256 0fea3eee0393…; model readings, not human labels</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70879A"/>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70879A"/>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70879A"/>
                </a:solidFill>
                <a:latin typeface="Courier New"/>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70879A"/>
                </a:solidFill>
                <a:latin typeface="Calibri"/>
              </a:rPr>
              <a:t>AUDIO</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4324A"/>
                </a:solidFill>
                <a:latin typeface="Cambria"/>
              </a:rPr>
              <a:t>Of 529.5 recorded hours, an estimated 421.4 are speech, so music must be separated first</a:t>
            </a:r>
          </a:p>
        </p:txBody>
      </p:sp>
      <p:sp>
        <p:nvSpPr>
          <p:cNvPr id="4" name="TextBox 3"/>
          <p:cNvSpPr txBox="1"/>
          <p:nvPr/>
        </p:nvSpPr>
        <p:spPr>
          <a:xfrm>
            <a:off x="594360" y="1920240"/>
            <a:ext cx="640080" cy="942975"/>
          </a:xfrm>
          <a:prstGeom prst="rect">
            <a:avLst/>
          </a:prstGeom>
          <a:noFill/>
        </p:spPr>
        <p:txBody>
          <a:bodyPr wrap="square" lIns="0" rIns="0" tIns="0" bIns="0" anchor="t">
            <a:spAutoFit/>
          </a:bodyPr>
          <a:lstStyle/>
          <a:p>
            <a:pPr algn="l"/>
            <a:r>
              <a:rPr sz="2600" b="0" i="0">
                <a:solidFill>
                  <a:srgbClr val="E8772E"/>
                </a:solidFill>
                <a:latin typeface="Courier New"/>
              </a:rPr>
              <a:t>01</a:t>
            </a:r>
          </a:p>
        </p:txBody>
      </p:sp>
      <p:sp>
        <p:nvSpPr>
          <p:cNvPr id="5" name="TextBox 4"/>
          <p:cNvSpPr txBox="1"/>
          <p:nvPr/>
        </p:nvSpPr>
        <p:spPr>
          <a:xfrm>
            <a:off x="1417320" y="1993392"/>
            <a:ext cx="10180015" cy="851535"/>
          </a:xfrm>
          <a:prstGeom prst="rect">
            <a:avLst/>
          </a:prstGeom>
          <a:noFill/>
        </p:spPr>
        <p:txBody>
          <a:bodyPr wrap="square" lIns="0" rIns="0" tIns="0" bIns="0" anchor="t">
            <a:spAutoFit/>
          </a:bodyPr>
          <a:lstStyle/>
          <a:p>
            <a:pPr algn="l"/>
            <a:r>
              <a:rPr sz="1400" b="0" i="0">
                <a:solidFill>
                  <a:srgbClr val="14324A"/>
                </a:solidFill>
                <a:latin typeface="Calibri"/>
              </a:rPr>
              <a:t>The staged corpus records 529.5 hours; an estimated 421.4 hours are speech and 108.2 hours music, with 20.4% of windows called music.</a:t>
            </a:r>
          </a:p>
        </p:txBody>
      </p:sp>
      <p:cxnSp>
        <p:nvCxnSpPr>
          <p:cNvPr id="6" name="Connector 5"/>
          <p:cNvCxnSpPr/>
          <p:nvPr/>
        </p:nvCxnSpPr>
        <p:spPr>
          <a:xfrm>
            <a:off x="594360" y="2753487"/>
            <a:ext cx="11002975" cy="0"/>
          </a:xfrm>
          <a:prstGeom prst="line">
            <a:avLst/>
          </a:prstGeom>
          <a:ln w="9525">
            <a:solidFill>
              <a:srgbClr val="D3DCE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2863215"/>
            <a:ext cx="640080" cy="942975"/>
          </a:xfrm>
          <a:prstGeom prst="rect">
            <a:avLst/>
          </a:prstGeom>
          <a:noFill/>
        </p:spPr>
        <p:txBody>
          <a:bodyPr wrap="square" lIns="0" rIns="0" tIns="0" bIns="0" anchor="t">
            <a:spAutoFit/>
          </a:bodyPr>
          <a:lstStyle/>
          <a:p>
            <a:pPr algn="l"/>
            <a:r>
              <a:rPr sz="2600" b="0" i="0">
                <a:solidFill>
                  <a:srgbClr val="E8772E"/>
                </a:solidFill>
                <a:latin typeface="Courier New"/>
              </a:rPr>
              <a:t>02</a:t>
            </a:r>
          </a:p>
        </p:txBody>
      </p:sp>
      <p:sp>
        <p:nvSpPr>
          <p:cNvPr id="8" name="TextBox 7"/>
          <p:cNvSpPr txBox="1"/>
          <p:nvPr/>
        </p:nvSpPr>
        <p:spPr>
          <a:xfrm>
            <a:off x="1417320" y="2936367"/>
            <a:ext cx="10180015" cy="851535"/>
          </a:xfrm>
          <a:prstGeom prst="rect">
            <a:avLst/>
          </a:prstGeom>
          <a:noFill/>
        </p:spPr>
        <p:txBody>
          <a:bodyPr wrap="square" lIns="0" rIns="0" tIns="0" bIns="0" anchor="t">
            <a:spAutoFit/>
          </a:bodyPr>
          <a:lstStyle/>
          <a:p>
            <a:pPr algn="l"/>
            <a:r>
              <a:rPr sz="1400" b="0" i="0">
                <a:solidFill>
                  <a:srgbClr val="14324A"/>
                </a:solidFill>
                <a:latin typeface="Calibri"/>
              </a:rPr>
              <a:t>539 files are mostly music, and the model declined to label 10.7% of speech windows.</a:t>
            </a:r>
          </a:p>
        </p:txBody>
      </p:sp>
      <p:cxnSp>
        <p:nvCxnSpPr>
          <p:cNvPr id="9" name="Connector 8"/>
          <p:cNvCxnSpPr/>
          <p:nvPr/>
        </p:nvCxnSpPr>
        <p:spPr>
          <a:xfrm>
            <a:off x="594360" y="3696461"/>
            <a:ext cx="11002975" cy="0"/>
          </a:xfrm>
          <a:prstGeom prst="line">
            <a:avLst/>
          </a:prstGeom>
          <a:ln w="9525">
            <a:solidFill>
              <a:srgbClr val="D3DCE4"/>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94360" y="3806189"/>
            <a:ext cx="640080" cy="942975"/>
          </a:xfrm>
          <a:prstGeom prst="rect">
            <a:avLst/>
          </a:prstGeom>
          <a:noFill/>
        </p:spPr>
        <p:txBody>
          <a:bodyPr wrap="square" lIns="0" rIns="0" tIns="0" bIns="0" anchor="t">
            <a:spAutoFit/>
          </a:bodyPr>
          <a:lstStyle/>
          <a:p>
            <a:pPr algn="l"/>
            <a:r>
              <a:rPr sz="2600" b="0" i="0">
                <a:solidFill>
                  <a:srgbClr val="E8772E"/>
                </a:solidFill>
                <a:latin typeface="Courier New"/>
              </a:rPr>
              <a:t>03</a:t>
            </a:r>
          </a:p>
        </p:txBody>
      </p:sp>
      <p:sp>
        <p:nvSpPr>
          <p:cNvPr id="11" name="TextBox 10"/>
          <p:cNvSpPr txBox="1"/>
          <p:nvPr/>
        </p:nvSpPr>
        <p:spPr>
          <a:xfrm>
            <a:off x="1417320" y="3879341"/>
            <a:ext cx="10180015" cy="851535"/>
          </a:xfrm>
          <a:prstGeom prst="rect">
            <a:avLst/>
          </a:prstGeom>
          <a:noFill/>
        </p:spPr>
        <p:txBody>
          <a:bodyPr wrap="square" lIns="0" rIns="0" tIns="0" bIns="0" anchor="t">
            <a:spAutoFit/>
          </a:bodyPr>
          <a:lstStyle/>
          <a:p>
            <a:pPr algn="l"/>
            <a:r>
              <a:rPr sz="1400" b="0" i="0">
                <a:solidFill>
                  <a:srgbClr val="14324A"/>
                </a:solidFill>
                <a:latin typeface="Calibri"/>
              </a:rPr>
              <a:t>82.3% of judged windows agree with the folder language, so language validation is needed folder by folder before packaging.</a:t>
            </a:r>
          </a:p>
        </p:txBody>
      </p:sp>
      <p:cxnSp>
        <p:nvCxnSpPr>
          <p:cNvPr id="12" name="Connector 11"/>
          <p:cNvCxnSpPr/>
          <p:nvPr/>
        </p:nvCxnSpPr>
        <p:spPr>
          <a:xfrm>
            <a:off x="594360" y="4639437"/>
            <a:ext cx="11002975" cy="0"/>
          </a:xfrm>
          <a:prstGeom prst="line">
            <a:avLst/>
          </a:prstGeom>
          <a:ln w="9525">
            <a:solidFill>
              <a:srgbClr val="D3DCE4"/>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94360" y="4749165"/>
            <a:ext cx="640080" cy="942975"/>
          </a:xfrm>
          <a:prstGeom prst="rect">
            <a:avLst/>
          </a:prstGeom>
          <a:noFill/>
        </p:spPr>
        <p:txBody>
          <a:bodyPr wrap="square" lIns="0" rIns="0" tIns="0" bIns="0" anchor="t">
            <a:spAutoFit/>
          </a:bodyPr>
          <a:lstStyle/>
          <a:p>
            <a:pPr algn="l"/>
            <a:r>
              <a:rPr sz="2600" b="0" i="0">
                <a:solidFill>
                  <a:srgbClr val="E8772E"/>
                </a:solidFill>
                <a:latin typeface="Courier New"/>
              </a:rPr>
              <a:t>04</a:t>
            </a:r>
          </a:p>
        </p:txBody>
      </p:sp>
      <p:sp>
        <p:nvSpPr>
          <p:cNvPr id="14" name="TextBox 13"/>
          <p:cNvSpPr txBox="1"/>
          <p:nvPr/>
        </p:nvSpPr>
        <p:spPr>
          <a:xfrm>
            <a:off x="1417320" y="4822317"/>
            <a:ext cx="10180015" cy="851535"/>
          </a:xfrm>
          <a:prstGeom prst="rect">
            <a:avLst/>
          </a:prstGeom>
          <a:noFill/>
        </p:spPr>
        <p:txBody>
          <a:bodyPr wrap="square" lIns="0" rIns="0" tIns="0" bIns="0" anchor="t">
            <a:spAutoFit/>
          </a:bodyPr>
          <a:lstStyle/>
          <a:p>
            <a:pPr algn="l"/>
            <a:r>
              <a:rPr sz="1400" b="0" i="0">
                <a:solidFill>
                  <a:srgbClr val="14324A"/>
                </a:solidFill>
                <a:latin typeface="Calibri"/>
              </a:rPr>
              <a:t>Noise and intelligibility were not scored, so clean speech has not been established.</a:t>
            </a:r>
          </a:p>
        </p:txBody>
      </p:sp>
      <p:cxnSp>
        <p:nvCxnSpPr>
          <p:cNvPr id="15" name="Connector 14"/>
          <p:cNvCxnSpPr/>
          <p:nvPr/>
        </p:nvCxnSpPr>
        <p:spPr>
          <a:xfrm>
            <a:off x="594360" y="5582412"/>
            <a:ext cx="11002975" cy="0"/>
          </a:xfrm>
          <a:prstGeom prst="line">
            <a:avLst/>
          </a:prstGeom>
          <a:ln w="9525">
            <a:solidFill>
              <a:srgbClr val="D3DCE4"/>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70879A"/>
                </a:solidFill>
                <a:latin typeface="Calibri"/>
              </a:rPr>
              <a:t>EI-eij-1b359b3cbd2e</a:t>
            </a:r>
          </a:p>
        </p:txBody>
      </p:sp>
      <p:sp>
        <p:nvSpPr>
          <p:cNvPr id="17" name="TextBox 16"/>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70879A"/>
                </a:solidFill>
                <a:latin typeface="Calibri"/>
              </a:rPr>
              <a:t>Tenant confidential</a:t>
            </a:r>
          </a:p>
        </p:txBody>
      </p:sp>
      <p:sp>
        <p:nvSpPr>
          <p:cNvPr id="18" name="TextBox 17"/>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70879A"/>
                </a:solidFill>
                <a:latin typeface="Courier New"/>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70879A"/>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4324A"/>
                </a:solidFill>
                <a:latin typeface="Cambria"/>
              </a:rPr>
              <a:t>Audio held by language folder — what both GPUs read</a:t>
            </a:r>
          </a:p>
        </p:txBody>
      </p:sp>
      <p:graphicFrame>
        <p:nvGraphicFramePr>
          <p:cNvPr id="4" name="Table 3"/>
          <p:cNvGraphicFramePr>
            <a:graphicFrameLocks noGrp="1"/>
          </p:cNvGraphicFramePr>
          <p:nvPr/>
        </p:nvGraphicFramePr>
        <p:xfrm>
          <a:off x="594360" y="1920240"/>
          <a:ext cx="11002972" cy="3017520"/>
        </p:xfrm>
        <a:graphic>
          <a:graphicData uri="http://schemas.openxmlformats.org/drawingml/2006/table">
            <a:tbl>
              <a:tblPr firstRow="1" bandRow="1">
                <a:tableStyleId>{5C22544A-7EE6-4342-B048-85BDC9FD1C3A}</a:tableStyleId>
              </a:tblPr>
              <a:tblGrid>
                <a:gridCol w="1778258"/>
                <a:gridCol w="1555976"/>
                <a:gridCol w="1555976"/>
                <a:gridCol w="2111682"/>
                <a:gridCol w="2000540"/>
                <a:gridCol w="2000540"/>
              </a:tblGrid>
              <a:tr h="335280">
                <a:tc>
                  <a:txBody>
                    <a:bodyPr wrap="square"/>
                    <a:lstStyle/>
                    <a:p>
                      <a:pPr algn="l"/>
                      <a:r>
                        <a:rPr sz="1100" b="1">
                          <a:solidFill>
                            <a:srgbClr val="14324A"/>
                          </a:solidFill>
                          <a:latin typeface="Calibri"/>
                        </a:rPr>
                        <a:t>Language</a:t>
                      </a:r>
                    </a:p>
                  </a:txBody>
                  <a:tcPr marL="54864" marR="54864" marT="27432" marB="27432">
                    <a:solidFill>
                      <a:srgbClr val="E8EEF3"/>
                    </a:solidFill>
                  </a:tcPr>
                </a:tc>
                <a:tc>
                  <a:txBody>
                    <a:bodyPr wrap="square"/>
                    <a:lstStyle/>
                    <a:p>
                      <a:pPr algn="l"/>
                      <a:r>
                        <a:rPr sz="1100" b="1">
                          <a:solidFill>
                            <a:srgbClr val="14324A"/>
                          </a:solidFill>
                          <a:latin typeface="Calibri"/>
                        </a:rPr>
                        <a:t>Files</a:t>
                      </a:r>
                    </a:p>
                  </a:txBody>
                  <a:tcPr marL="54864" marR="54864" marT="27432" marB="27432">
                    <a:solidFill>
                      <a:srgbClr val="E8EEF3"/>
                    </a:solidFill>
                  </a:tcPr>
                </a:tc>
                <a:tc>
                  <a:txBody>
                    <a:bodyPr wrap="square"/>
                    <a:lstStyle/>
                    <a:p>
                      <a:pPr algn="l"/>
                      <a:r>
                        <a:rPr sz="1100" b="1">
                          <a:solidFill>
                            <a:srgbClr val="14324A"/>
                          </a:solidFill>
                          <a:latin typeface="Calibri"/>
                        </a:rPr>
                        <a:t>Hours recorded</a:t>
                      </a:r>
                    </a:p>
                  </a:txBody>
                  <a:tcPr marL="54864" marR="54864" marT="27432" marB="27432">
                    <a:solidFill>
                      <a:srgbClr val="E8EEF3"/>
                    </a:solidFill>
                  </a:tcPr>
                </a:tc>
                <a:tc>
                  <a:txBody>
                    <a:bodyPr wrap="square"/>
                    <a:lstStyle/>
                    <a:p>
                      <a:pPr algn="l"/>
                      <a:r>
                        <a:rPr sz="1100" b="1">
                          <a:solidFill>
                            <a:srgbClr val="14324A"/>
                          </a:solidFill>
                          <a:latin typeface="Calibri"/>
                        </a:rPr>
                        <a:t>Speech hours (est.)</a:t>
                      </a:r>
                    </a:p>
                  </a:txBody>
                  <a:tcPr marL="54864" marR="54864" marT="27432" marB="27432">
                    <a:solidFill>
                      <a:srgbClr val="E8EEF3"/>
                    </a:solidFill>
                  </a:tcPr>
                </a:tc>
                <a:tc>
                  <a:txBody>
                    <a:bodyPr wrap="square"/>
                    <a:lstStyle/>
                    <a:p>
                      <a:pPr algn="l"/>
                      <a:r>
                        <a:rPr sz="1100" b="1">
                          <a:solidFill>
                            <a:srgbClr val="14324A"/>
                          </a:solidFill>
                          <a:latin typeface="Calibri"/>
                        </a:rPr>
                        <a:t>Music hours (est.)</a:t>
                      </a:r>
                    </a:p>
                  </a:txBody>
                  <a:tcPr marL="54864" marR="54864" marT="27432" marB="27432">
                    <a:solidFill>
                      <a:srgbClr val="E8EEF3"/>
                    </a:solidFill>
                  </a:tcPr>
                </a:tc>
                <a:tc>
                  <a:txBody>
                    <a:bodyPr wrap="square"/>
                    <a:lstStyle/>
                    <a:p>
                      <a:pPr algn="l"/>
                      <a:r>
                        <a:rPr sz="1100" b="1">
                          <a:solidFill>
                            <a:srgbClr val="14324A"/>
                          </a:solidFill>
                          <a:latin typeface="Calibri"/>
                        </a:rPr>
                        <a:t>Agrees with folder</a:t>
                      </a:r>
                    </a:p>
                  </a:txBody>
                  <a:tcPr marL="54864" marR="54864" marT="27432" marB="27432">
                    <a:solidFill>
                      <a:srgbClr val="E8EEF3"/>
                    </a:solidFill>
                  </a:tcPr>
                </a:tc>
              </a:tr>
              <a:tr h="335280">
                <a:tc>
                  <a:txBody>
                    <a:bodyPr wrap="square"/>
                    <a:lstStyle/>
                    <a:p>
                      <a:pPr algn="l"/>
                      <a:r>
                        <a:rPr sz="1100" b="0">
                          <a:solidFill>
                            <a:srgbClr val="14324A"/>
                          </a:solidFill>
                          <a:latin typeface="Calibri"/>
                        </a:rPr>
                        <a:t>Ekegusii (Kisii)</a:t>
                      </a:r>
                    </a:p>
                  </a:txBody>
                  <a:tcPr marL="54864" marR="54864" marT="27432" marB="27432">
                    <a:solidFill>
                      <a:srgbClr val="FFFFFF"/>
                    </a:solidFill>
                  </a:tcPr>
                </a:tc>
                <a:tc>
                  <a:txBody>
                    <a:bodyPr wrap="square"/>
                    <a:lstStyle/>
                    <a:p>
                      <a:pPr algn="l"/>
                      <a:r>
                        <a:rPr sz="1100" b="0">
                          <a:solidFill>
                            <a:srgbClr val="14324A"/>
                          </a:solidFill>
                          <a:latin typeface="Calibri"/>
                        </a:rPr>
                        <a:t>732</a:t>
                      </a:r>
                    </a:p>
                  </a:txBody>
                  <a:tcPr marL="54864" marR="54864" marT="27432" marB="27432">
                    <a:solidFill>
                      <a:srgbClr val="FFFFFF"/>
                    </a:solidFill>
                  </a:tcPr>
                </a:tc>
                <a:tc>
                  <a:txBody>
                    <a:bodyPr wrap="square"/>
                    <a:lstStyle/>
                    <a:p>
                      <a:pPr algn="r"/>
                      <a:r>
                        <a:rPr sz="1100" b="0">
                          <a:solidFill>
                            <a:srgbClr val="14324A"/>
                          </a:solidFill>
                          <a:latin typeface="Courier New"/>
                        </a:rPr>
                        <a:t>92.2</a:t>
                      </a:r>
                    </a:p>
                  </a:txBody>
                  <a:tcPr marL="54864" marR="54864" marT="27432" marB="27432">
                    <a:solidFill>
                      <a:srgbClr val="FFFFFF"/>
                    </a:solidFill>
                  </a:tcPr>
                </a:tc>
                <a:tc>
                  <a:txBody>
                    <a:bodyPr wrap="square"/>
                    <a:lstStyle/>
                    <a:p>
                      <a:pPr algn="r"/>
                      <a:r>
                        <a:rPr sz="1100" b="0">
                          <a:solidFill>
                            <a:srgbClr val="14324A"/>
                          </a:solidFill>
                          <a:latin typeface="Courier New"/>
                        </a:rPr>
                        <a:t>76.7</a:t>
                      </a:r>
                    </a:p>
                  </a:txBody>
                  <a:tcPr marL="54864" marR="54864" marT="27432" marB="27432">
                    <a:solidFill>
                      <a:srgbClr val="FFFFFF"/>
                    </a:solidFill>
                  </a:tcPr>
                </a:tc>
                <a:tc>
                  <a:txBody>
                    <a:bodyPr wrap="square"/>
                    <a:lstStyle/>
                    <a:p>
                      <a:pPr algn="r"/>
                      <a:r>
                        <a:rPr sz="1100" b="0">
                          <a:solidFill>
                            <a:srgbClr val="14324A"/>
                          </a:solidFill>
                          <a:latin typeface="Courier New"/>
                        </a:rPr>
                        <a:t>15.6</a:t>
                      </a:r>
                    </a:p>
                  </a:txBody>
                  <a:tcPr marL="54864" marR="54864" marT="27432" marB="27432">
                    <a:solidFill>
                      <a:srgbClr val="FFFFFF"/>
                    </a:solidFill>
                  </a:tcPr>
                </a:tc>
                <a:tc>
                  <a:txBody>
                    <a:bodyPr wrap="square"/>
                    <a:lstStyle/>
                    <a:p>
                      <a:pPr algn="r"/>
                      <a:r>
                        <a:rPr sz="1100" b="0">
                          <a:solidFill>
                            <a:srgbClr val="14324A"/>
                          </a:solidFill>
                          <a:latin typeface="Courier New"/>
                        </a:rPr>
                        <a:t>86.1%</a:t>
                      </a:r>
                    </a:p>
                  </a:txBody>
                  <a:tcPr marL="54864" marR="54864" marT="27432" marB="27432">
                    <a:solidFill>
                      <a:srgbClr val="FFFFFF"/>
                    </a:solidFill>
                  </a:tcPr>
                </a:tc>
              </a:tr>
              <a:tr h="335280">
                <a:tc>
                  <a:txBody>
                    <a:bodyPr wrap="square"/>
                    <a:lstStyle/>
                    <a:p>
                      <a:pPr algn="l"/>
                      <a:r>
                        <a:rPr sz="1100" b="0">
                          <a:solidFill>
                            <a:srgbClr val="14324A"/>
                          </a:solidFill>
                          <a:latin typeface="Calibri"/>
                        </a:rPr>
                        <a:t>Kalenjin</a:t>
                      </a:r>
                    </a:p>
                  </a:txBody>
                  <a:tcPr marL="54864" marR="54864" marT="27432" marB="27432">
                    <a:solidFill>
                      <a:srgbClr val="FFFFFF"/>
                    </a:solidFill>
                  </a:tcPr>
                </a:tc>
                <a:tc>
                  <a:txBody>
                    <a:bodyPr wrap="square"/>
                    <a:lstStyle/>
                    <a:p>
                      <a:pPr algn="l"/>
                      <a:r>
                        <a:rPr sz="1100" b="0">
                          <a:solidFill>
                            <a:srgbClr val="14324A"/>
                          </a:solidFill>
                          <a:latin typeface="Calibri"/>
                        </a:rPr>
                        <a:t>295</a:t>
                      </a:r>
                    </a:p>
                  </a:txBody>
                  <a:tcPr marL="54864" marR="54864" marT="27432" marB="27432">
                    <a:solidFill>
                      <a:srgbClr val="FFFFFF"/>
                    </a:solidFill>
                  </a:tcPr>
                </a:tc>
                <a:tc>
                  <a:txBody>
                    <a:bodyPr wrap="square"/>
                    <a:lstStyle/>
                    <a:p>
                      <a:pPr algn="r"/>
                      <a:r>
                        <a:rPr sz="1100" b="0">
                          <a:solidFill>
                            <a:srgbClr val="14324A"/>
                          </a:solidFill>
                          <a:latin typeface="Courier New"/>
                        </a:rPr>
                        <a:t>89.8</a:t>
                      </a:r>
                    </a:p>
                  </a:txBody>
                  <a:tcPr marL="54864" marR="54864" marT="27432" marB="27432">
                    <a:solidFill>
                      <a:srgbClr val="FFFFFF"/>
                    </a:solidFill>
                  </a:tcPr>
                </a:tc>
                <a:tc>
                  <a:txBody>
                    <a:bodyPr wrap="square"/>
                    <a:lstStyle/>
                    <a:p>
                      <a:pPr algn="r"/>
                      <a:r>
                        <a:rPr sz="1100" b="0">
                          <a:solidFill>
                            <a:srgbClr val="14324A"/>
                          </a:solidFill>
                          <a:latin typeface="Courier New"/>
                        </a:rPr>
                        <a:t>73.2</a:t>
                      </a:r>
                    </a:p>
                  </a:txBody>
                  <a:tcPr marL="54864" marR="54864" marT="27432" marB="27432">
                    <a:solidFill>
                      <a:srgbClr val="FFFFFF"/>
                    </a:solidFill>
                  </a:tcPr>
                </a:tc>
                <a:tc>
                  <a:txBody>
                    <a:bodyPr wrap="square"/>
                    <a:lstStyle/>
                    <a:p>
                      <a:pPr algn="r"/>
                      <a:r>
                        <a:rPr sz="1100" b="0">
                          <a:solidFill>
                            <a:srgbClr val="14324A"/>
                          </a:solidFill>
                          <a:latin typeface="Courier New"/>
                        </a:rPr>
                        <a:t>16.6</a:t>
                      </a:r>
                    </a:p>
                  </a:txBody>
                  <a:tcPr marL="54864" marR="54864" marT="27432" marB="27432">
                    <a:solidFill>
                      <a:srgbClr val="FFFFFF"/>
                    </a:solidFill>
                  </a:tcPr>
                </a:tc>
                <a:tc>
                  <a:txBody>
                    <a:bodyPr wrap="square"/>
                    <a:lstStyle/>
                    <a:p>
                      <a:pPr algn="r"/>
                      <a:r>
                        <a:rPr sz="1100" b="0">
                          <a:solidFill>
                            <a:srgbClr val="14324A"/>
                          </a:solidFill>
                          <a:latin typeface="Courier New"/>
                        </a:rPr>
                        <a:t>89.9%</a:t>
                      </a:r>
                    </a:p>
                  </a:txBody>
                  <a:tcPr marL="54864" marR="54864" marT="27432" marB="27432">
                    <a:solidFill>
                      <a:srgbClr val="FFFFFF"/>
                    </a:solidFill>
                  </a:tcPr>
                </a:tc>
              </a:tr>
              <a:tr h="335280">
                <a:tc>
                  <a:txBody>
                    <a:bodyPr wrap="square"/>
                    <a:lstStyle/>
                    <a:p>
                      <a:pPr algn="l"/>
                      <a:r>
                        <a:rPr sz="1100" b="0">
                          <a:solidFill>
                            <a:srgbClr val="14324A"/>
                          </a:solidFill>
                          <a:latin typeface="Calibri"/>
                        </a:rPr>
                        <a:t>Kiswahili</a:t>
                      </a:r>
                    </a:p>
                  </a:txBody>
                  <a:tcPr marL="54864" marR="54864" marT="27432" marB="27432">
                    <a:solidFill>
                      <a:srgbClr val="FFFFFF"/>
                    </a:solidFill>
                  </a:tcPr>
                </a:tc>
                <a:tc>
                  <a:txBody>
                    <a:bodyPr wrap="square"/>
                    <a:lstStyle/>
                    <a:p>
                      <a:pPr algn="l"/>
                      <a:r>
                        <a:rPr sz="1100" b="0">
                          <a:solidFill>
                            <a:srgbClr val="14324A"/>
                          </a:solidFill>
                          <a:latin typeface="Calibri"/>
                        </a:rPr>
                        <a:t>549</a:t>
                      </a:r>
                    </a:p>
                  </a:txBody>
                  <a:tcPr marL="54864" marR="54864" marT="27432" marB="27432">
                    <a:solidFill>
                      <a:srgbClr val="FFFFFF"/>
                    </a:solidFill>
                  </a:tcPr>
                </a:tc>
                <a:tc>
                  <a:txBody>
                    <a:bodyPr wrap="square"/>
                    <a:lstStyle/>
                    <a:p>
                      <a:pPr algn="r"/>
                      <a:r>
                        <a:rPr sz="1100" b="0">
                          <a:solidFill>
                            <a:srgbClr val="14324A"/>
                          </a:solidFill>
                          <a:latin typeface="Courier New"/>
                        </a:rPr>
                        <a:t>87.7</a:t>
                      </a:r>
                    </a:p>
                  </a:txBody>
                  <a:tcPr marL="54864" marR="54864" marT="27432" marB="27432">
                    <a:solidFill>
                      <a:srgbClr val="FFFFFF"/>
                    </a:solidFill>
                  </a:tcPr>
                </a:tc>
                <a:tc>
                  <a:txBody>
                    <a:bodyPr wrap="square"/>
                    <a:lstStyle/>
                    <a:p>
                      <a:pPr algn="r"/>
                      <a:r>
                        <a:rPr sz="1100" b="0">
                          <a:solidFill>
                            <a:srgbClr val="14324A"/>
                          </a:solidFill>
                          <a:latin typeface="Courier New"/>
                        </a:rPr>
                        <a:t>78.5</a:t>
                      </a:r>
                    </a:p>
                  </a:txBody>
                  <a:tcPr marL="54864" marR="54864" marT="27432" marB="27432">
                    <a:solidFill>
                      <a:srgbClr val="FFFFFF"/>
                    </a:solidFill>
                  </a:tcPr>
                </a:tc>
                <a:tc>
                  <a:txBody>
                    <a:bodyPr wrap="square"/>
                    <a:lstStyle/>
                    <a:p>
                      <a:pPr algn="r"/>
                      <a:r>
                        <a:rPr sz="1100" b="0">
                          <a:solidFill>
                            <a:srgbClr val="14324A"/>
                          </a:solidFill>
                          <a:latin typeface="Courier New"/>
                        </a:rPr>
                        <a:t>9.2</a:t>
                      </a:r>
                    </a:p>
                  </a:txBody>
                  <a:tcPr marL="54864" marR="54864" marT="27432" marB="27432">
                    <a:solidFill>
                      <a:srgbClr val="FFFFFF"/>
                    </a:solidFill>
                  </a:tcPr>
                </a:tc>
                <a:tc>
                  <a:txBody>
                    <a:bodyPr wrap="square"/>
                    <a:lstStyle/>
                    <a:p>
                      <a:pPr algn="r"/>
                      <a:r>
                        <a:rPr sz="1100" b="0">
                          <a:solidFill>
                            <a:srgbClr val="14324A"/>
                          </a:solidFill>
                          <a:latin typeface="Courier New"/>
                        </a:rPr>
                        <a:t>78.7%</a:t>
                      </a:r>
                    </a:p>
                  </a:txBody>
                  <a:tcPr marL="54864" marR="54864" marT="27432" marB="27432">
                    <a:solidFill>
                      <a:srgbClr val="FFFFFF"/>
                    </a:solidFill>
                  </a:tcPr>
                </a:tc>
              </a:tr>
              <a:tr h="335280">
                <a:tc>
                  <a:txBody>
                    <a:bodyPr wrap="square"/>
                    <a:lstStyle/>
                    <a:p>
                      <a:pPr algn="l"/>
                      <a:r>
                        <a:rPr sz="1100" b="0">
                          <a:solidFill>
                            <a:srgbClr val="14324A"/>
                          </a:solidFill>
                          <a:latin typeface="Calibri"/>
                        </a:rPr>
                        <a:t>Kikamba (Kamba)</a:t>
                      </a:r>
                    </a:p>
                  </a:txBody>
                  <a:tcPr marL="54864" marR="54864" marT="27432" marB="27432">
                    <a:solidFill>
                      <a:srgbClr val="FFFFFF"/>
                    </a:solidFill>
                  </a:tcPr>
                </a:tc>
                <a:tc>
                  <a:txBody>
                    <a:bodyPr wrap="square"/>
                    <a:lstStyle/>
                    <a:p>
                      <a:pPr algn="l"/>
                      <a:r>
                        <a:rPr sz="1100" b="0">
                          <a:solidFill>
                            <a:srgbClr val="14324A"/>
                          </a:solidFill>
                          <a:latin typeface="Calibri"/>
                        </a:rPr>
                        <a:t>1166</a:t>
                      </a:r>
                    </a:p>
                  </a:txBody>
                  <a:tcPr marL="54864" marR="54864" marT="27432" marB="27432">
                    <a:solidFill>
                      <a:srgbClr val="FFFFFF"/>
                    </a:solidFill>
                  </a:tcPr>
                </a:tc>
                <a:tc>
                  <a:txBody>
                    <a:bodyPr wrap="square"/>
                    <a:lstStyle/>
                    <a:p>
                      <a:pPr algn="r"/>
                      <a:r>
                        <a:rPr sz="1100" b="0">
                          <a:solidFill>
                            <a:srgbClr val="14324A"/>
                          </a:solidFill>
                          <a:latin typeface="Courier New"/>
                        </a:rPr>
                        <a:t>85.4</a:t>
                      </a:r>
                    </a:p>
                  </a:txBody>
                  <a:tcPr marL="54864" marR="54864" marT="27432" marB="27432">
                    <a:solidFill>
                      <a:srgbClr val="FFFFFF"/>
                    </a:solidFill>
                  </a:tcPr>
                </a:tc>
                <a:tc>
                  <a:txBody>
                    <a:bodyPr wrap="square"/>
                    <a:lstStyle/>
                    <a:p>
                      <a:pPr algn="r"/>
                      <a:r>
                        <a:rPr sz="1100" b="0">
                          <a:solidFill>
                            <a:srgbClr val="14324A"/>
                          </a:solidFill>
                          <a:latin typeface="Courier New"/>
                        </a:rPr>
                        <a:t>67.8</a:t>
                      </a:r>
                    </a:p>
                  </a:txBody>
                  <a:tcPr marL="54864" marR="54864" marT="27432" marB="27432">
                    <a:solidFill>
                      <a:srgbClr val="FFFFFF"/>
                    </a:solidFill>
                  </a:tcPr>
                </a:tc>
                <a:tc>
                  <a:txBody>
                    <a:bodyPr wrap="square"/>
                    <a:lstStyle/>
                    <a:p>
                      <a:pPr algn="r"/>
                      <a:r>
                        <a:rPr sz="1100" b="0">
                          <a:solidFill>
                            <a:srgbClr val="14324A"/>
                          </a:solidFill>
                          <a:latin typeface="Courier New"/>
                        </a:rPr>
                        <a:t>17.6</a:t>
                      </a:r>
                    </a:p>
                  </a:txBody>
                  <a:tcPr marL="54864" marR="54864" marT="27432" marB="27432">
                    <a:solidFill>
                      <a:srgbClr val="FFFFFF"/>
                    </a:solidFill>
                  </a:tcPr>
                </a:tc>
                <a:tc>
                  <a:txBody>
                    <a:bodyPr wrap="square"/>
                    <a:lstStyle/>
                    <a:p>
                      <a:pPr algn="r"/>
                      <a:r>
                        <a:rPr sz="1100" b="0">
                          <a:solidFill>
                            <a:srgbClr val="14324A"/>
                          </a:solidFill>
                          <a:latin typeface="Courier New"/>
                        </a:rPr>
                        <a:t>70.9%</a:t>
                      </a:r>
                    </a:p>
                  </a:txBody>
                  <a:tcPr marL="54864" marR="54864" marT="27432" marB="27432">
                    <a:solidFill>
                      <a:srgbClr val="FFFFFF"/>
                    </a:solidFill>
                  </a:tcPr>
                </a:tc>
              </a:tr>
              <a:tr h="335280">
                <a:tc>
                  <a:txBody>
                    <a:bodyPr wrap="square"/>
                    <a:lstStyle/>
                    <a:p>
                      <a:pPr algn="l"/>
                      <a:r>
                        <a:rPr sz="1100" b="0">
                          <a:solidFill>
                            <a:srgbClr val="14324A"/>
                          </a:solidFill>
                          <a:latin typeface="Calibri"/>
                        </a:rPr>
                        <a:t>Gikuyu (Kikuyu)</a:t>
                      </a:r>
                    </a:p>
                  </a:txBody>
                  <a:tcPr marL="54864" marR="54864" marT="27432" marB="27432">
                    <a:solidFill>
                      <a:srgbClr val="FFFFFF"/>
                    </a:solidFill>
                  </a:tcPr>
                </a:tc>
                <a:tc>
                  <a:txBody>
                    <a:bodyPr wrap="square"/>
                    <a:lstStyle/>
                    <a:p>
                      <a:pPr algn="l"/>
                      <a:r>
                        <a:rPr sz="1100" b="0">
                          <a:solidFill>
                            <a:srgbClr val="14324A"/>
                          </a:solidFill>
                          <a:latin typeface="Calibri"/>
                        </a:rPr>
                        <a:t>584</a:t>
                      </a:r>
                    </a:p>
                  </a:txBody>
                  <a:tcPr marL="54864" marR="54864" marT="27432" marB="27432">
                    <a:solidFill>
                      <a:srgbClr val="FFFFFF"/>
                    </a:solidFill>
                  </a:tcPr>
                </a:tc>
                <a:tc>
                  <a:txBody>
                    <a:bodyPr wrap="square"/>
                    <a:lstStyle/>
                    <a:p>
                      <a:pPr algn="r"/>
                      <a:r>
                        <a:rPr sz="1100" b="0">
                          <a:solidFill>
                            <a:srgbClr val="14324A"/>
                          </a:solidFill>
                          <a:latin typeface="Courier New"/>
                        </a:rPr>
                        <a:t>82.1</a:t>
                      </a:r>
                    </a:p>
                  </a:txBody>
                  <a:tcPr marL="54864" marR="54864" marT="27432" marB="27432">
                    <a:solidFill>
                      <a:srgbClr val="FFFFFF"/>
                    </a:solidFill>
                  </a:tcPr>
                </a:tc>
                <a:tc>
                  <a:txBody>
                    <a:bodyPr wrap="square"/>
                    <a:lstStyle/>
                    <a:p>
                      <a:pPr algn="r"/>
                      <a:r>
                        <a:rPr sz="1100" b="0">
                          <a:solidFill>
                            <a:srgbClr val="14324A"/>
                          </a:solidFill>
                          <a:latin typeface="Courier New"/>
                        </a:rPr>
                        <a:t>65.9</a:t>
                      </a:r>
                    </a:p>
                  </a:txBody>
                  <a:tcPr marL="54864" marR="54864" marT="27432" marB="27432">
                    <a:solidFill>
                      <a:srgbClr val="FFFFFF"/>
                    </a:solidFill>
                  </a:tcPr>
                </a:tc>
                <a:tc>
                  <a:txBody>
                    <a:bodyPr wrap="square"/>
                    <a:lstStyle/>
                    <a:p>
                      <a:pPr algn="r"/>
                      <a:r>
                        <a:rPr sz="1100" b="0">
                          <a:solidFill>
                            <a:srgbClr val="14324A"/>
                          </a:solidFill>
                          <a:latin typeface="Courier New"/>
                        </a:rPr>
                        <a:t>16.2</a:t>
                      </a:r>
                    </a:p>
                  </a:txBody>
                  <a:tcPr marL="54864" marR="54864" marT="27432" marB="27432">
                    <a:solidFill>
                      <a:srgbClr val="FFFFFF"/>
                    </a:solidFill>
                  </a:tcPr>
                </a:tc>
                <a:tc>
                  <a:txBody>
                    <a:bodyPr wrap="square"/>
                    <a:lstStyle/>
                    <a:p>
                      <a:pPr algn="r"/>
                      <a:r>
                        <a:rPr sz="1100" b="0">
                          <a:solidFill>
                            <a:srgbClr val="14324A"/>
                          </a:solidFill>
                          <a:latin typeface="Courier New"/>
                        </a:rPr>
                        <a:t>79.8%</a:t>
                      </a:r>
                    </a:p>
                  </a:txBody>
                  <a:tcPr marL="54864" marR="54864" marT="27432" marB="27432">
                    <a:solidFill>
                      <a:srgbClr val="FFFFFF"/>
                    </a:solidFill>
                  </a:tcPr>
                </a:tc>
              </a:tr>
              <a:tr h="335280">
                <a:tc>
                  <a:txBody>
                    <a:bodyPr wrap="square"/>
                    <a:lstStyle/>
                    <a:p>
                      <a:pPr algn="l"/>
                      <a:r>
                        <a:rPr sz="1100" b="0">
                          <a:solidFill>
                            <a:srgbClr val="14324A"/>
                          </a:solidFill>
                          <a:latin typeface="Calibri"/>
                        </a:rPr>
                        <a:t>Dholuo (Luo)</a:t>
                      </a:r>
                    </a:p>
                  </a:txBody>
                  <a:tcPr marL="54864" marR="54864" marT="27432" marB="27432">
                    <a:solidFill>
                      <a:srgbClr val="FFFFFF"/>
                    </a:solidFill>
                  </a:tcPr>
                </a:tc>
                <a:tc>
                  <a:txBody>
                    <a:bodyPr wrap="square"/>
                    <a:lstStyle/>
                    <a:p>
                      <a:pPr algn="l"/>
                      <a:r>
                        <a:rPr sz="1100" b="0">
                          <a:solidFill>
                            <a:srgbClr val="14324A"/>
                          </a:solidFill>
                          <a:latin typeface="Calibri"/>
                        </a:rPr>
                        <a:t>558</a:t>
                      </a:r>
                    </a:p>
                  </a:txBody>
                  <a:tcPr marL="54864" marR="54864" marT="27432" marB="27432">
                    <a:solidFill>
                      <a:srgbClr val="FFFFFF"/>
                    </a:solidFill>
                  </a:tcPr>
                </a:tc>
                <a:tc>
                  <a:txBody>
                    <a:bodyPr wrap="square"/>
                    <a:lstStyle/>
                    <a:p>
                      <a:pPr algn="r"/>
                      <a:r>
                        <a:rPr sz="1100" b="0">
                          <a:solidFill>
                            <a:srgbClr val="14324A"/>
                          </a:solidFill>
                          <a:latin typeface="Courier New"/>
                        </a:rPr>
                        <a:t>82.1</a:t>
                      </a:r>
                    </a:p>
                  </a:txBody>
                  <a:tcPr marL="54864" marR="54864" marT="27432" marB="27432">
                    <a:solidFill>
                      <a:srgbClr val="FFFFFF"/>
                    </a:solidFill>
                  </a:tcPr>
                </a:tc>
                <a:tc>
                  <a:txBody>
                    <a:bodyPr wrap="square"/>
                    <a:lstStyle/>
                    <a:p>
                      <a:pPr algn="r"/>
                      <a:r>
                        <a:rPr sz="1100" b="0">
                          <a:solidFill>
                            <a:srgbClr val="14324A"/>
                          </a:solidFill>
                          <a:latin typeface="Courier New"/>
                        </a:rPr>
                        <a:t>51.7</a:t>
                      </a:r>
                    </a:p>
                  </a:txBody>
                  <a:tcPr marL="54864" marR="54864" marT="27432" marB="27432">
                    <a:solidFill>
                      <a:srgbClr val="FFFFFF"/>
                    </a:solidFill>
                  </a:tcPr>
                </a:tc>
                <a:tc>
                  <a:txBody>
                    <a:bodyPr wrap="square"/>
                    <a:lstStyle/>
                    <a:p>
                      <a:pPr algn="r"/>
                      <a:r>
                        <a:rPr sz="1100" b="0">
                          <a:solidFill>
                            <a:srgbClr val="14324A"/>
                          </a:solidFill>
                          <a:latin typeface="Courier New"/>
                        </a:rPr>
                        <a:t>30.4</a:t>
                      </a:r>
                    </a:p>
                  </a:txBody>
                  <a:tcPr marL="54864" marR="54864" marT="27432" marB="27432">
                    <a:solidFill>
                      <a:srgbClr val="FFFFFF"/>
                    </a:solidFill>
                  </a:tcPr>
                </a:tc>
                <a:tc>
                  <a:txBody>
                    <a:bodyPr wrap="square"/>
                    <a:lstStyle/>
                    <a:p>
                      <a:pPr algn="r"/>
                      <a:r>
                        <a:rPr sz="1100" b="0">
                          <a:solidFill>
                            <a:srgbClr val="14324A"/>
                          </a:solidFill>
                          <a:latin typeface="Courier New"/>
                        </a:rPr>
                        <a:t>89.5%</a:t>
                      </a:r>
                    </a:p>
                  </a:txBody>
                  <a:tcPr marL="54864" marR="54864" marT="27432" marB="27432">
                    <a:solidFill>
                      <a:srgbClr val="FFFFFF"/>
                    </a:solidFill>
                  </a:tcPr>
                </a:tc>
              </a:tr>
              <a:tr h="335280">
                <a:tc>
                  <a:txBody>
                    <a:bodyPr wrap="square"/>
                    <a:lstStyle/>
                    <a:p>
                      <a:pPr algn="l"/>
                      <a:r>
                        <a:rPr sz="1100" b="0">
                          <a:solidFill>
                            <a:srgbClr val="14324A"/>
                          </a:solidFill>
                          <a:latin typeface="Calibri"/>
                        </a:rPr>
                        <a:t>Wanga (Luhya)</a:t>
                      </a:r>
                    </a:p>
                  </a:txBody>
                  <a:tcPr marL="54864" marR="54864" marT="27432" marB="27432">
                    <a:solidFill>
                      <a:srgbClr val="FFFFFF"/>
                    </a:solidFill>
                  </a:tcPr>
                </a:tc>
                <a:tc>
                  <a:txBody>
                    <a:bodyPr wrap="square"/>
                    <a:lstStyle/>
                    <a:p>
                      <a:pPr algn="l"/>
                      <a:r>
                        <a:rPr sz="1100" b="0">
                          <a:solidFill>
                            <a:srgbClr val="14324A"/>
                          </a:solidFill>
                          <a:latin typeface="Calibri"/>
                        </a:rPr>
                        <a:t>60</a:t>
                      </a:r>
                    </a:p>
                  </a:txBody>
                  <a:tcPr marL="54864" marR="54864" marT="27432" marB="27432">
                    <a:solidFill>
                      <a:srgbClr val="FFFFFF"/>
                    </a:solidFill>
                  </a:tcPr>
                </a:tc>
                <a:tc>
                  <a:txBody>
                    <a:bodyPr wrap="square"/>
                    <a:lstStyle/>
                    <a:p>
                      <a:pPr algn="r"/>
                      <a:r>
                        <a:rPr sz="1100" b="0">
                          <a:solidFill>
                            <a:srgbClr val="14324A"/>
                          </a:solidFill>
                          <a:latin typeface="Courier New"/>
                        </a:rPr>
                        <a:t>9.2</a:t>
                      </a:r>
                    </a:p>
                  </a:txBody>
                  <a:tcPr marL="54864" marR="54864" marT="27432" marB="27432">
                    <a:solidFill>
                      <a:srgbClr val="FFFFFF"/>
                    </a:solidFill>
                  </a:tcPr>
                </a:tc>
                <a:tc>
                  <a:txBody>
                    <a:bodyPr wrap="square"/>
                    <a:lstStyle/>
                    <a:p>
                      <a:pPr algn="r"/>
                      <a:r>
                        <a:rPr sz="1100" b="0">
                          <a:solidFill>
                            <a:srgbClr val="14324A"/>
                          </a:solidFill>
                          <a:latin typeface="Courier New"/>
                        </a:rPr>
                        <a:t>6.8</a:t>
                      </a:r>
                    </a:p>
                  </a:txBody>
                  <a:tcPr marL="54864" marR="54864" marT="27432" marB="27432">
                    <a:solidFill>
                      <a:srgbClr val="FFFFFF"/>
                    </a:solidFill>
                  </a:tcPr>
                </a:tc>
                <a:tc>
                  <a:txBody>
                    <a:bodyPr wrap="square"/>
                    <a:lstStyle/>
                    <a:p>
                      <a:pPr algn="r"/>
                      <a:r>
                        <a:rPr sz="1100" b="0">
                          <a:solidFill>
                            <a:srgbClr val="14324A"/>
                          </a:solidFill>
                          <a:latin typeface="Courier New"/>
                        </a:rPr>
                        <a:t>2.3</a:t>
                      </a:r>
                    </a:p>
                  </a:txBody>
                  <a:tcPr marL="54864" marR="54864" marT="27432" marB="27432">
                    <a:solidFill>
                      <a:srgbClr val="FFFFFF"/>
                    </a:solidFill>
                  </a:tcPr>
                </a:tc>
                <a:tc>
                  <a:txBody>
                    <a:bodyPr wrap="square"/>
                    <a:lstStyle/>
                    <a:p>
                      <a:pPr algn="r"/>
                      <a:r>
                        <a:rPr sz="1100" b="0">
                          <a:solidFill>
                            <a:srgbClr val="14324A"/>
                          </a:solidFill>
                          <a:latin typeface="Courier New"/>
                        </a:rPr>
                        <a:t>88.7%</a:t>
                      </a:r>
                    </a:p>
                  </a:txBody>
                  <a:tcPr marL="54864" marR="54864" marT="27432" marB="27432">
                    <a:solidFill>
                      <a:srgbClr val="FFFFFF"/>
                    </a:solidFill>
                  </a:tcPr>
                </a:tc>
              </a:tr>
              <a:tr h="335280">
                <a:tc>
                  <a:txBody>
                    <a:bodyPr wrap="square"/>
                    <a:lstStyle/>
                    <a:p>
                      <a:pPr algn="l"/>
                      <a:r>
                        <a:rPr sz="1100" b="0">
                          <a:solidFill>
                            <a:srgbClr val="14324A"/>
                          </a:solidFill>
                          <a:latin typeface="Calibri"/>
                        </a:rPr>
                        <a:t>Bukusu (Luhya)</a:t>
                      </a:r>
                    </a:p>
                  </a:txBody>
                  <a:tcPr marL="54864" marR="54864" marT="27432" marB="27432">
                    <a:solidFill>
                      <a:srgbClr val="FFFFFF"/>
                    </a:solidFill>
                  </a:tcPr>
                </a:tc>
                <a:tc>
                  <a:txBody>
                    <a:bodyPr wrap="square"/>
                    <a:lstStyle/>
                    <a:p>
                      <a:pPr algn="l"/>
                      <a:r>
                        <a:rPr sz="1100" b="0">
                          <a:solidFill>
                            <a:srgbClr val="14324A"/>
                          </a:solidFill>
                          <a:latin typeface="Calibri"/>
                        </a:rPr>
                        <a:t>14</a:t>
                      </a:r>
                    </a:p>
                  </a:txBody>
                  <a:tcPr marL="54864" marR="54864" marT="27432" marB="27432">
                    <a:solidFill>
                      <a:srgbClr val="FFFFFF"/>
                    </a:solidFill>
                  </a:tcPr>
                </a:tc>
                <a:tc>
                  <a:txBody>
                    <a:bodyPr wrap="square"/>
                    <a:lstStyle/>
                    <a:p>
                      <a:pPr algn="r"/>
                      <a:r>
                        <a:rPr sz="1100" b="0">
                          <a:solidFill>
                            <a:srgbClr val="14324A"/>
                          </a:solidFill>
                          <a:latin typeface="Courier New"/>
                        </a:rPr>
                        <a:t>1.1</a:t>
                      </a:r>
                    </a:p>
                  </a:txBody>
                  <a:tcPr marL="54864" marR="54864" marT="27432" marB="27432">
                    <a:solidFill>
                      <a:srgbClr val="FFFFFF"/>
                    </a:solidFill>
                  </a:tcPr>
                </a:tc>
                <a:tc>
                  <a:txBody>
                    <a:bodyPr wrap="square"/>
                    <a:lstStyle/>
                    <a:p>
                      <a:pPr algn="r"/>
                      <a:r>
                        <a:rPr sz="1100" b="0">
                          <a:solidFill>
                            <a:srgbClr val="14324A"/>
                          </a:solidFill>
                          <a:latin typeface="Courier New"/>
                        </a:rPr>
                        <a:t>0.7</a:t>
                      </a:r>
                    </a:p>
                  </a:txBody>
                  <a:tcPr marL="54864" marR="54864" marT="27432" marB="27432">
                    <a:solidFill>
                      <a:srgbClr val="FFFFFF"/>
                    </a:solidFill>
                  </a:tcPr>
                </a:tc>
                <a:tc>
                  <a:txBody>
                    <a:bodyPr wrap="square"/>
                    <a:lstStyle/>
                    <a:p>
                      <a:pPr algn="r"/>
                      <a:r>
                        <a:rPr sz="1100" b="0">
                          <a:solidFill>
                            <a:srgbClr val="14324A"/>
                          </a:solidFill>
                          <a:latin typeface="Courier New"/>
                        </a:rPr>
                        <a:t>0.3</a:t>
                      </a:r>
                    </a:p>
                  </a:txBody>
                  <a:tcPr marL="54864" marR="54864" marT="27432" marB="27432">
                    <a:solidFill>
                      <a:srgbClr val="FFFFFF"/>
                    </a:solidFill>
                  </a:tcPr>
                </a:tc>
                <a:tc>
                  <a:txBody>
                    <a:bodyPr wrap="square"/>
                    <a:lstStyle/>
                    <a:p>
                      <a:pPr algn="r"/>
                      <a:r>
                        <a:rPr sz="1100" b="0">
                          <a:solidFill>
                            <a:srgbClr val="14324A"/>
                          </a:solidFill>
                          <a:latin typeface="Courier New"/>
                        </a:rPr>
                        <a:t>0.0%</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E8772E"/>
                </a:solidFill>
                <a:latin typeface="Calibri"/>
              </a:rPr>
              <a:t>Hours are recorded duration; speech and music hours split those hours by the music detector; agreement is the share of labelled windows whose language matched the folder name. Model readings, not human labels.</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70879A"/>
                </a:solidFill>
                <a:latin typeface="Courier New"/>
              </a:rPr>
              <a:t>[measured]  Receipt R06: Estate language reading m9j-9e8fcb46a809 on akki-vm (2 GPUs, 1.034 GPU-h): audio language model lcj-7128593897d4 sha256 5c1feb8497e8…, music detector m9j-686de001bfe7 sha256 0fea3eee0393…; model readings, not human labels</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70879A"/>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70879A"/>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70879A"/>
                </a:solidFill>
                <a:latin typeface="Courier New"/>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70879A"/>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4324A"/>
                </a:solidFill>
                <a:latin typeface="Cambria"/>
              </a:rPr>
              <a:t>Audio quality signals by language folder</a:t>
            </a:r>
          </a:p>
        </p:txBody>
      </p:sp>
      <p:graphicFrame>
        <p:nvGraphicFramePr>
          <p:cNvPr id="4" name="Table 3"/>
          <p:cNvGraphicFramePr>
            <a:graphicFrameLocks noGrp="1"/>
          </p:cNvGraphicFramePr>
          <p:nvPr/>
        </p:nvGraphicFramePr>
        <p:xfrm>
          <a:off x="594360" y="1920240"/>
          <a:ext cx="11002972" cy="3017520"/>
        </p:xfrm>
        <a:graphic>
          <a:graphicData uri="http://schemas.openxmlformats.org/drawingml/2006/table">
            <a:tbl>
              <a:tblPr firstRow="1" bandRow="1">
                <a:tableStyleId>{5C22544A-7EE6-4342-B048-85BDC9FD1C3A}</a:tableStyleId>
              </a:tblPr>
              <a:tblGrid>
                <a:gridCol w="1467063"/>
                <a:gridCol w="1283680"/>
                <a:gridCol w="1375371"/>
                <a:gridCol w="1833829"/>
                <a:gridCol w="1833829"/>
                <a:gridCol w="1833829"/>
                <a:gridCol w="1375371"/>
              </a:tblGrid>
              <a:tr h="335280">
                <a:tc>
                  <a:txBody>
                    <a:bodyPr wrap="square"/>
                    <a:lstStyle/>
                    <a:p>
                      <a:pPr algn="l"/>
                      <a:r>
                        <a:rPr sz="1100" b="1">
                          <a:solidFill>
                            <a:srgbClr val="14324A"/>
                          </a:solidFill>
                          <a:latin typeface="Calibri"/>
                        </a:rPr>
                        <a:t>Language</a:t>
                      </a:r>
                    </a:p>
                  </a:txBody>
                  <a:tcPr marL="54864" marR="54864" marT="27432" marB="27432">
                    <a:solidFill>
                      <a:srgbClr val="E8EEF3"/>
                    </a:solidFill>
                  </a:tcPr>
                </a:tc>
                <a:tc>
                  <a:txBody>
                    <a:bodyPr wrap="square"/>
                    <a:lstStyle/>
                    <a:p>
                      <a:pPr algn="l"/>
                      <a:r>
                        <a:rPr sz="1100" b="1">
                          <a:solidFill>
                            <a:srgbClr val="14324A"/>
                          </a:solidFill>
                          <a:latin typeface="Calibri"/>
                        </a:rPr>
                        <a:t>Files</a:t>
                      </a:r>
                    </a:p>
                  </a:txBody>
                  <a:tcPr marL="54864" marR="54864" marT="27432" marB="27432">
                    <a:solidFill>
                      <a:srgbClr val="E8EEF3"/>
                    </a:solidFill>
                  </a:tcPr>
                </a:tc>
                <a:tc>
                  <a:txBody>
                    <a:bodyPr wrap="square"/>
                    <a:lstStyle/>
                    <a:p>
                      <a:pPr algn="l"/>
                      <a:r>
                        <a:rPr sz="1100" b="1">
                          <a:solidFill>
                            <a:srgbClr val="14324A"/>
                          </a:solidFill>
                          <a:latin typeface="Calibri"/>
                        </a:rPr>
                        <a:t>Decode failures</a:t>
                      </a:r>
                    </a:p>
                  </a:txBody>
                  <a:tcPr marL="54864" marR="54864" marT="27432" marB="27432">
                    <a:solidFill>
                      <a:srgbClr val="E8EEF3"/>
                    </a:solidFill>
                  </a:tcPr>
                </a:tc>
                <a:tc>
                  <a:txBody>
                    <a:bodyPr wrap="square"/>
                    <a:lstStyle/>
                    <a:p>
                      <a:pPr algn="l"/>
                      <a:r>
                        <a:rPr sz="1100" b="1">
                          <a:solidFill>
                            <a:srgbClr val="14324A"/>
                          </a:solidFill>
                          <a:latin typeface="Calibri"/>
                        </a:rPr>
                        <a:t>Music-majority files</a:t>
                      </a:r>
                    </a:p>
                  </a:txBody>
                  <a:tcPr marL="54864" marR="54864" marT="27432" marB="27432">
                    <a:solidFill>
                      <a:srgbClr val="E8EEF3"/>
                    </a:solidFill>
                  </a:tcPr>
                </a:tc>
                <a:tc>
                  <a:txBody>
                    <a:bodyPr wrap="square"/>
                    <a:lstStyle/>
                    <a:p>
                      <a:pPr algn="l"/>
                      <a:r>
                        <a:rPr sz="1100" b="1">
                          <a:solidFill>
                            <a:srgbClr val="14324A"/>
                          </a:solidFill>
                          <a:latin typeface="Calibri"/>
                        </a:rPr>
                        <a:t>Mixed-language files</a:t>
                      </a:r>
                    </a:p>
                  </a:txBody>
                  <a:tcPr marL="54864" marR="54864" marT="27432" marB="27432">
                    <a:solidFill>
                      <a:srgbClr val="E8EEF3"/>
                    </a:solidFill>
                  </a:tcPr>
                </a:tc>
                <a:tc>
                  <a:txBody>
                    <a:bodyPr wrap="square"/>
                    <a:lstStyle/>
                    <a:p>
                      <a:pPr algn="l"/>
                      <a:r>
                        <a:rPr sz="1100" b="1">
                          <a:solidFill>
                            <a:srgbClr val="14324A"/>
                          </a:solidFill>
                          <a:latin typeface="Calibri"/>
                        </a:rPr>
                        <a:t>Low-confidence files</a:t>
                      </a:r>
                    </a:p>
                  </a:txBody>
                  <a:tcPr marL="54864" marR="54864" marT="27432" marB="27432">
                    <a:solidFill>
                      <a:srgbClr val="E8EEF3"/>
                    </a:solidFill>
                  </a:tcPr>
                </a:tc>
                <a:tc>
                  <a:txBody>
                    <a:bodyPr wrap="square"/>
                    <a:lstStyle/>
                    <a:p>
                      <a:pPr algn="l"/>
                      <a:r>
                        <a:rPr sz="1100" b="1">
                          <a:solidFill>
                            <a:srgbClr val="14324A"/>
                          </a:solidFill>
                          <a:latin typeface="Calibri"/>
                        </a:rPr>
                        <a:t>Mean confidence</a:t>
                      </a:r>
                    </a:p>
                  </a:txBody>
                  <a:tcPr marL="54864" marR="54864" marT="27432" marB="27432">
                    <a:solidFill>
                      <a:srgbClr val="E8EEF3"/>
                    </a:solidFill>
                  </a:tcPr>
                </a:tc>
              </a:tr>
              <a:tr h="335280">
                <a:tc>
                  <a:txBody>
                    <a:bodyPr wrap="square"/>
                    <a:lstStyle/>
                    <a:p>
                      <a:pPr algn="l"/>
                      <a:r>
                        <a:rPr sz="1100" b="0">
                          <a:solidFill>
                            <a:srgbClr val="14324A"/>
                          </a:solidFill>
                          <a:latin typeface="Calibri"/>
                        </a:rPr>
                        <a:t>Ekegusii (Kisii)</a:t>
                      </a:r>
                    </a:p>
                  </a:txBody>
                  <a:tcPr marL="54864" marR="54864" marT="27432" marB="27432">
                    <a:solidFill>
                      <a:srgbClr val="FFFFFF"/>
                    </a:solidFill>
                  </a:tcPr>
                </a:tc>
                <a:tc>
                  <a:txBody>
                    <a:bodyPr wrap="square"/>
                    <a:lstStyle/>
                    <a:p>
                      <a:pPr algn="r"/>
                      <a:r>
                        <a:rPr sz="1100" b="0">
                          <a:solidFill>
                            <a:srgbClr val="14324A"/>
                          </a:solidFill>
                          <a:latin typeface="Courier New"/>
                        </a:rPr>
                        <a:t>732</a:t>
                      </a:r>
                    </a:p>
                  </a:txBody>
                  <a:tcPr marL="54864" marR="54864" marT="27432" marB="27432">
                    <a:solidFill>
                      <a:srgbClr val="FFFFFF"/>
                    </a:solidFill>
                  </a:tcPr>
                </a:tc>
                <a:tc>
                  <a:txBody>
                    <a:bodyPr wrap="square"/>
                    <a:lstStyle/>
                    <a:p>
                      <a:pPr algn="r"/>
                      <a:r>
                        <a:rPr sz="1100" b="0">
                          <a:solidFill>
                            <a:srgbClr val="14324A"/>
                          </a:solidFill>
                          <a:latin typeface="Courier New"/>
                        </a:rPr>
                        <a:t>0</a:t>
                      </a:r>
                    </a:p>
                  </a:txBody>
                  <a:tcPr marL="54864" marR="54864" marT="27432" marB="27432">
                    <a:solidFill>
                      <a:srgbClr val="FFFFFF"/>
                    </a:solidFill>
                  </a:tcPr>
                </a:tc>
                <a:tc>
                  <a:txBody>
                    <a:bodyPr wrap="square"/>
                    <a:lstStyle/>
                    <a:p>
                      <a:pPr algn="r"/>
                      <a:r>
                        <a:rPr sz="1100" b="0">
                          <a:solidFill>
                            <a:srgbClr val="14324A"/>
                          </a:solidFill>
                          <a:latin typeface="Courier New"/>
                        </a:rPr>
                        <a:t>46</a:t>
                      </a:r>
                    </a:p>
                  </a:txBody>
                  <a:tcPr marL="54864" marR="54864" marT="27432" marB="27432">
                    <a:solidFill>
                      <a:srgbClr val="FFFFFF"/>
                    </a:solidFill>
                  </a:tcPr>
                </a:tc>
                <a:tc>
                  <a:txBody>
                    <a:bodyPr wrap="square"/>
                    <a:lstStyle/>
                    <a:p>
                      <a:pPr algn="r"/>
                      <a:r>
                        <a:rPr sz="1100" b="0">
                          <a:solidFill>
                            <a:srgbClr val="14324A"/>
                          </a:solidFill>
                          <a:latin typeface="Courier New"/>
                        </a:rPr>
                        <a:t>29</a:t>
                      </a:r>
                    </a:p>
                  </a:txBody>
                  <a:tcPr marL="54864" marR="54864" marT="27432" marB="27432">
                    <a:solidFill>
                      <a:srgbClr val="FFFFFF"/>
                    </a:solidFill>
                  </a:tcPr>
                </a:tc>
                <a:tc>
                  <a:txBody>
                    <a:bodyPr wrap="square"/>
                    <a:lstStyle/>
                    <a:p>
                      <a:pPr algn="r"/>
                      <a:r>
                        <a:rPr sz="1100" b="0">
                          <a:solidFill>
                            <a:srgbClr val="14324A"/>
                          </a:solidFill>
                          <a:latin typeface="Courier New"/>
                        </a:rPr>
                        <a:t>1</a:t>
                      </a:r>
                    </a:p>
                  </a:txBody>
                  <a:tcPr marL="54864" marR="54864" marT="27432" marB="27432">
                    <a:solidFill>
                      <a:srgbClr val="FFFFFF"/>
                    </a:solidFill>
                  </a:tcPr>
                </a:tc>
                <a:tc>
                  <a:txBody>
                    <a:bodyPr wrap="square"/>
                    <a:lstStyle/>
                    <a:p>
                      <a:pPr algn="r"/>
                      <a:r>
                        <a:rPr sz="1100" b="0">
                          <a:solidFill>
                            <a:srgbClr val="14324A"/>
                          </a:solidFill>
                          <a:latin typeface="Courier New"/>
                        </a:rPr>
                        <a:t>0.905</a:t>
                      </a:r>
                    </a:p>
                  </a:txBody>
                  <a:tcPr marL="54864" marR="54864" marT="27432" marB="27432">
                    <a:solidFill>
                      <a:srgbClr val="FFFFFF"/>
                    </a:solidFill>
                  </a:tcPr>
                </a:tc>
              </a:tr>
              <a:tr h="335280">
                <a:tc>
                  <a:txBody>
                    <a:bodyPr wrap="square"/>
                    <a:lstStyle/>
                    <a:p>
                      <a:pPr algn="l"/>
                      <a:r>
                        <a:rPr sz="1100" b="0">
                          <a:solidFill>
                            <a:srgbClr val="14324A"/>
                          </a:solidFill>
                          <a:latin typeface="Calibri"/>
                        </a:rPr>
                        <a:t>Kalenjin</a:t>
                      </a:r>
                    </a:p>
                  </a:txBody>
                  <a:tcPr marL="54864" marR="54864" marT="27432" marB="27432">
                    <a:solidFill>
                      <a:srgbClr val="FFFFFF"/>
                    </a:solidFill>
                  </a:tcPr>
                </a:tc>
                <a:tc>
                  <a:txBody>
                    <a:bodyPr wrap="square"/>
                    <a:lstStyle/>
                    <a:p>
                      <a:pPr algn="r"/>
                      <a:r>
                        <a:rPr sz="1100" b="0">
                          <a:solidFill>
                            <a:srgbClr val="14324A"/>
                          </a:solidFill>
                          <a:latin typeface="Courier New"/>
                        </a:rPr>
                        <a:t>295</a:t>
                      </a:r>
                    </a:p>
                  </a:txBody>
                  <a:tcPr marL="54864" marR="54864" marT="27432" marB="27432">
                    <a:solidFill>
                      <a:srgbClr val="FFFFFF"/>
                    </a:solidFill>
                  </a:tcPr>
                </a:tc>
                <a:tc>
                  <a:txBody>
                    <a:bodyPr wrap="square"/>
                    <a:lstStyle/>
                    <a:p>
                      <a:pPr algn="r"/>
                      <a:r>
                        <a:rPr sz="1100" b="0">
                          <a:solidFill>
                            <a:srgbClr val="14324A"/>
                          </a:solidFill>
                          <a:latin typeface="Courier New"/>
                        </a:rPr>
                        <a:t>0</a:t>
                      </a:r>
                    </a:p>
                  </a:txBody>
                  <a:tcPr marL="54864" marR="54864" marT="27432" marB="27432">
                    <a:solidFill>
                      <a:srgbClr val="FFFFFF"/>
                    </a:solidFill>
                  </a:tcPr>
                </a:tc>
                <a:tc>
                  <a:txBody>
                    <a:bodyPr wrap="square"/>
                    <a:lstStyle/>
                    <a:p>
                      <a:pPr algn="r"/>
                      <a:r>
                        <a:rPr sz="1100" b="0">
                          <a:solidFill>
                            <a:srgbClr val="14324A"/>
                          </a:solidFill>
                          <a:latin typeface="Courier New"/>
                        </a:rPr>
                        <a:t>18</a:t>
                      </a:r>
                    </a:p>
                  </a:txBody>
                  <a:tcPr marL="54864" marR="54864" marT="27432" marB="27432">
                    <a:solidFill>
                      <a:srgbClr val="FFFFFF"/>
                    </a:solidFill>
                  </a:tcPr>
                </a:tc>
                <a:tc>
                  <a:txBody>
                    <a:bodyPr wrap="square"/>
                    <a:lstStyle/>
                    <a:p>
                      <a:pPr algn="r"/>
                      <a:r>
                        <a:rPr sz="1100" b="0">
                          <a:solidFill>
                            <a:srgbClr val="14324A"/>
                          </a:solidFill>
                          <a:latin typeface="Courier New"/>
                        </a:rPr>
                        <a:t>5</a:t>
                      </a:r>
                    </a:p>
                  </a:txBody>
                  <a:tcPr marL="54864" marR="54864" marT="27432" marB="27432">
                    <a:solidFill>
                      <a:srgbClr val="FFFFFF"/>
                    </a:solidFill>
                  </a:tcPr>
                </a:tc>
                <a:tc>
                  <a:txBody>
                    <a:bodyPr wrap="square"/>
                    <a:lstStyle/>
                    <a:p>
                      <a:pPr algn="r"/>
                      <a:r>
                        <a:rPr sz="1100" b="0">
                          <a:solidFill>
                            <a:srgbClr val="14324A"/>
                          </a:solidFill>
                          <a:latin typeface="Courier New"/>
                        </a:rPr>
                        <a:t>0</a:t>
                      </a:r>
                    </a:p>
                  </a:txBody>
                  <a:tcPr marL="54864" marR="54864" marT="27432" marB="27432">
                    <a:solidFill>
                      <a:srgbClr val="FFFFFF"/>
                    </a:solidFill>
                  </a:tcPr>
                </a:tc>
                <a:tc>
                  <a:txBody>
                    <a:bodyPr wrap="square"/>
                    <a:lstStyle/>
                    <a:p>
                      <a:pPr algn="r"/>
                      <a:r>
                        <a:rPr sz="1100" b="0">
                          <a:solidFill>
                            <a:srgbClr val="14324A"/>
                          </a:solidFill>
                          <a:latin typeface="Courier New"/>
                        </a:rPr>
                        <a:t>0.912</a:t>
                      </a:r>
                    </a:p>
                  </a:txBody>
                  <a:tcPr marL="54864" marR="54864" marT="27432" marB="27432">
                    <a:solidFill>
                      <a:srgbClr val="FFFFFF"/>
                    </a:solidFill>
                  </a:tcPr>
                </a:tc>
              </a:tr>
              <a:tr h="335280">
                <a:tc>
                  <a:txBody>
                    <a:bodyPr wrap="square"/>
                    <a:lstStyle/>
                    <a:p>
                      <a:pPr algn="l"/>
                      <a:r>
                        <a:rPr sz="1100" b="0">
                          <a:solidFill>
                            <a:srgbClr val="14324A"/>
                          </a:solidFill>
                          <a:latin typeface="Calibri"/>
                        </a:rPr>
                        <a:t>Kiswahili</a:t>
                      </a:r>
                    </a:p>
                  </a:txBody>
                  <a:tcPr marL="54864" marR="54864" marT="27432" marB="27432">
                    <a:solidFill>
                      <a:srgbClr val="FFFFFF"/>
                    </a:solidFill>
                  </a:tcPr>
                </a:tc>
                <a:tc>
                  <a:txBody>
                    <a:bodyPr wrap="square"/>
                    <a:lstStyle/>
                    <a:p>
                      <a:pPr algn="r"/>
                      <a:r>
                        <a:rPr sz="1100" b="0">
                          <a:solidFill>
                            <a:srgbClr val="14324A"/>
                          </a:solidFill>
                          <a:latin typeface="Courier New"/>
                        </a:rPr>
                        <a:t>549</a:t>
                      </a:r>
                    </a:p>
                  </a:txBody>
                  <a:tcPr marL="54864" marR="54864" marT="27432" marB="27432">
                    <a:solidFill>
                      <a:srgbClr val="FFFFFF"/>
                    </a:solidFill>
                  </a:tcPr>
                </a:tc>
                <a:tc>
                  <a:txBody>
                    <a:bodyPr wrap="square"/>
                    <a:lstStyle/>
                    <a:p>
                      <a:pPr algn="r"/>
                      <a:r>
                        <a:rPr sz="1100" b="0">
                          <a:solidFill>
                            <a:srgbClr val="14324A"/>
                          </a:solidFill>
                          <a:latin typeface="Courier New"/>
                        </a:rPr>
                        <a:t>0</a:t>
                      </a:r>
                    </a:p>
                  </a:txBody>
                  <a:tcPr marL="54864" marR="54864" marT="27432" marB="27432">
                    <a:solidFill>
                      <a:srgbClr val="FFFFFF"/>
                    </a:solidFill>
                  </a:tcPr>
                </a:tc>
                <a:tc>
                  <a:txBody>
                    <a:bodyPr wrap="square"/>
                    <a:lstStyle/>
                    <a:p>
                      <a:pPr algn="r"/>
                      <a:r>
                        <a:rPr sz="1100" b="0">
                          <a:solidFill>
                            <a:srgbClr val="14324A"/>
                          </a:solidFill>
                          <a:latin typeface="Courier New"/>
                        </a:rPr>
                        <a:t>26</a:t>
                      </a:r>
                    </a:p>
                  </a:txBody>
                  <a:tcPr marL="54864" marR="54864" marT="27432" marB="27432">
                    <a:solidFill>
                      <a:srgbClr val="FFFFFF"/>
                    </a:solidFill>
                  </a:tcPr>
                </a:tc>
                <a:tc>
                  <a:txBody>
                    <a:bodyPr wrap="square"/>
                    <a:lstStyle/>
                    <a:p>
                      <a:pPr algn="r"/>
                      <a:r>
                        <a:rPr sz="1100" b="0">
                          <a:solidFill>
                            <a:srgbClr val="14324A"/>
                          </a:solidFill>
                          <a:latin typeface="Courier New"/>
                        </a:rPr>
                        <a:t>44</a:t>
                      </a:r>
                    </a:p>
                  </a:txBody>
                  <a:tcPr marL="54864" marR="54864" marT="27432" marB="27432">
                    <a:solidFill>
                      <a:srgbClr val="FFFFFF"/>
                    </a:solidFill>
                  </a:tcPr>
                </a:tc>
                <a:tc>
                  <a:txBody>
                    <a:bodyPr wrap="square"/>
                    <a:lstStyle/>
                    <a:p>
                      <a:pPr algn="r"/>
                      <a:r>
                        <a:rPr sz="1100" b="0">
                          <a:solidFill>
                            <a:srgbClr val="14324A"/>
                          </a:solidFill>
                          <a:latin typeface="Courier New"/>
                        </a:rPr>
                        <a:t>0</a:t>
                      </a:r>
                    </a:p>
                  </a:txBody>
                  <a:tcPr marL="54864" marR="54864" marT="27432" marB="27432">
                    <a:solidFill>
                      <a:srgbClr val="FFFFFF"/>
                    </a:solidFill>
                  </a:tcPr>
                </a:tc>
                <a:tc>
                  <a:txBody>
                    <a:bodyPr wrap="square"/>
                    <a:lstStyle/>
                    <a:p>
                      <a:pPr algn="r"/>
                      <a:r>
                        <a:rPr sz="1100" b="0">
                          <a:solidFill>
                            <a:srgbClr val="14324A"/>
                          </a:solidFill>
                          <a:latin typeface="Courier New"/>
                        </a:rPr>
                        <a:t>0.875</a:t>
                      </a:r>
                    </a:p>
                  </a:txBody>
                  <a:tcPr marL="54864" marR="54864" marT="27432" marB="27432">
                    <a:solidFill>
                      <a:srgbClr val="FFFFFF"/>
                    </a:solidFill>
                  </a:tcPr>
                </a:tc>
              </a:tr>
              <a:tr h="335280">
                <a:tc>
                  <a:txBody>
                    <a:bodyPr wrap="square"/>
                    <a:lstStyle/>
                    <a:p>
                      <a:pPr algn="l"/>
                      <a:r>
                        <a:rPr sz="1100" b="0">
                          <a:solidFill>
                            <a:srgbClr val="14324A"/>
                          </a:solidFill>
                          <a:latin typeface="Calibri"/>
                        </a:rPr>
                        <a:t>Kikamba (Kamba)</a:t>
                      </a:r>
                    </a:p>
                  </a:txBody>
                  <a:tcPr marL="54864" marR="54864" marT="27432" marB="27432">
                    <a:solidFill>
                      <a:srgbClr val="FFFFFF"/>
                    </a:solidFill>
                  </a:tcPr>
                </a:tc>
                <a:tc>
                  <a:txBody>
                    <a:bodyPr wrap="square"/>
                    <a:lstStyle/>
                    <a:p>
                      <a:pPr algn="r"/>
                      <a:r>
                        <a:rPr sz="1100" b="0">
                          <a:solidFill>
                            <a:srgbClr val="14324A"/>
                          </a:solidFill>
                          <a:latin typeface="Courier New"/>
                        </a:rPr>
                        <a:t>1166</a:t>
                      </a:r>
                    </a:p>
                  </a:txBody>
                  <a:tcPr marL="54864" marR="54864" marT="27432" marB="27432">
                    <a:solidFill>
                      <a:srgbClr val="FFFFFF"/>
                    </a:solidFill>
                  </a:tcPr>
                </a:tc>
                <a:tc>
                  <a:txBody>
                    <a:bodyPr wrap="square"/>
                    <a:lstStyle/>
                    <a:p>
                      <a:pPr algn="r"/>
                      <a:r>
                        <a:rPr sz="1100" b="0">
                          <a:solidFill>
                            <a:srgbClr val="14324A"/>
                          </a:solidFill>
                          <a:latin typeface="Courier New"/>
                        </a:rPr>
                        <a:t>0</a:t>
                      </a:r>
                    </a:p>
                  </a:txBody>
                  <a:tcPr marL="54864" marR="54864" marT="27432" marB="27432">
                    <a:solidFill>
                      <a:srgbClr val="FFFFFF"/>
                    </a:solidFill>
                  </a:tcPr>
                </a:tc>
                <a:tc>
                  <a:txBody>
                    <a:bodyPr wrap="square"/>
                    <a:lstStyle/>
                    <a:p>
                      <a:pPr algn="r"/>
                      <a:r>
                        <a:rPr sz="1100" b="0">
                          <a:solidFill>
                            <a:srgbClr val="14324A"/>
                          </a:solidFill>
                          <a:latin typeface="Courier New"/>
                        </a:rPr>
                        <a:t>192</a:t>
                      </a:r>
                    </a:p>
                  </a:txBody>
                  <a:tcPr marL="54864" marR="54864" marT="27432" marB="27432">
                    <a:solidFill>
                      <a:srgbClr val="FFFFFF"/>
                    </a:solidFill>
                  </a:tcPr>
                </a:tc>
                <a:tc>
                  <a:txBody>
                    <a:bodyPr wrap="square"/>
                    <a:lstStyle/>
                    <a:p>
                      <a:pPr algn="r"/>
                      <a:r>
                        <a:rPr sz="1100" b="0">
                          <a:solidFill>
                            <a:srgbClr val="14324A"/>
                          </a:solidFill>
                          <a:latin typeface="Courier New"/>
                        </a:rPr>
                        <a:t>232</a:t>
                      </a:r>
                    </a:p>
                  </a:txBody>
                  <a:tcPr marL="54864" marR="54864" marT="27432" marB="27432">
                    <a:solidFill>
                      <a:srgbClr val="FFFFFF"/>
                    </a:solidFill>
                  </a:tcPr>
                </a:tc>
                <a:tc>
                  <a:txBody>
                    <a:bodyPr wrap="square"/>
                    <a:lstStyle/>
                    <a:p>
                      <a:pPr algn="r"/>
                      <a:r>
                        <a:rPr sz="1100" b="0">
                          <a:solidFill>
                            <a:srgbClr val="14324A"/>
                          </a:solidFill>
                          <a:latin typeface="Courier New"/>
                        </a:rPr>
                        <a:t>12</a:t>
                      </a:r>
                    </a:p>
                  </a:txBody>
                  <a:tcPr marL="54864" marR="54864" marT="27432" marB="27432">
                    <a:solidFill>
                      <a:srgbClr val="FFFFFF"/>
                    </a:solidFill>
                  </a:tcPr>
                </a:tc>
                <a:tc>
                  <a:txBody>
                    <a:bodyPr wrap="square"/>
                    <a:lstStyle/>
                    <a:p>
                      <a:pPr algn="r"/>
                      <a:r>
                        <a:rPr sz="1100" b="0">
                          <a:solidFill>
                            <a:srgbClr val="14324A"/>
                          </a:solidFill>
                          <a:latin typeface="Courier New"/>
                        </a:rPr>
                        <a:t>0.870</a:t>
                      </a:r>
                    </a:p>
                  </a:txBody>
                  <a:tcPr marL="54864" marR="54864" marT="27432" marB="27432">
                    <a:solidFill>
                      <a:srgbClr val="FFFFFF"/>
                    </a:solidFill>
                  </a:tcPr>
                </a:tc>
              </a:tr>
              <a:tr h="335280">
                <a:tc>
                  <a:txBody>
                    <a:bodyPr wrap="square"/>
                    <a:lstStyle/>
                    <a:p>
                      <a:pPr algn="l"/>
                      <a:r>
                        <a:rPr sz="1100" b="0">
                          <a:solidFill>
                            <a:srgbClr val="14324A"/>
                          </a:solidFill>
                          <a:latin typeface="Calibri"/>
                        </a:rPr>
                        <a:t>Gikuyu (Kikuyu)</a:t>
                      </a:r>
                    </a:p>
                  </a:txBody>
                  <a:tcPr marL="54864" marR="54864" marT="27432" marB="27432">
                    <a:solidFill>
                      <a:srgbClr val="FFFFFF"/>
                    </a:solidFill>
                  </a:tcPr>
                </a:tc>
                <a:tc>
                  <a:txBody>
                    <a:bodyPr wrap="square"/>
                    <a:lstStyle/>
                    <a:p>
                      <a:pPr algn="r"/>
                      <a:r>
                        <a:rPr sz="1100" b="0">
                          <a:solidFill>
                            <a:srgbClr val="14324A"/>
                          </a:solidFill>
                          <a:latin typeface="Courier New"/>
                        </a:rPr>
                        <a:t>584</a:t>
                      </a:r>
                    </a:p>
                  </a:txBody>
                  <a:tcPr marL="54864" marR="54864" marT="27432" marB="27432">
                    <a:solidFill>
                      <a:srgbClr val="FFFFFF"/>
                    </a:solidFill>
                  </a:tcPr>
                </a:tc>
                <a:tc>
                  <a:txBody>
                    <a:bodyPr wrap="square"/>
                    <a:lstStyle/>
                    <a:p>
                      <a:pPr algn="r"/>
                      <a:r>
                        <a:rPr sz="1100" b="0">
                          <a:solidFill>
                            <a:srgbClr val="14324A"/>
                          </a:solidFill>
                          <a:latin typeface="Courier New"/>
                        </a:rPr>
                        <a:t>0</a:t>
                      </a:r>
                    </a:p>
                  </a:txBody>
                  <a:tcPr marL="54864" marR="54864" marT="27432" marB="27432">
                    <a:solidFill>
                      <a:srgbClr val="FFFFFF"/>
                    </a:solidFill>
                  </a:tcPr>
                </a:tc>
                <a:tc>
                  <a:txBody>
                    <a:bodyPr wrap="square"/>
                    <a:lstStyle/>
                    <a:p>
                      <a:pPr algn="r"/>
                      <a:r>
                        <a:rPr sz="1100" b="0">
                          <a:solidFill>
                            <a:srgbClr val="14324A"/>
                          </a:solidFill>
                          <a:latin typeface="Courier New"/>
                        </a:rPr>
                        <a:t>71</a:t>
                      </a:r>
                    </a:p>
                  </a:txBody>
                  <a:tcPr marL="54864" marR="54864" marT="27432" marB="27432">
                    <a:solidFill>
                      <a:srgbClr val="FFFFFF"/>
                    </a:solidFill>
                  </a:tcPr>
                </a:tc>
                <a:tc>
                  <a:txBody>
                    <a:bodyPr wrap="square"/>
                    <a:lstStyle/>
                    <a:p>
                      <a:pPr algn="r"/>
                      <a:r>
                        <a:rPr sz="1100" b="0">
                          <a:solidFill>
                            <a:srgbClr val="14324A"/>
                          </a:solidFill>
                          <a:latin typeface="Courier New"/>
                        </a:rPr>
                        <a:t>89</a:t>
                      </a:r>
                    </a:p>
                  </a:txBody>
                  <a:tcPr marL="54864" marR="54864" marT="27432" marB="27432">
                    <a:solidFill>
                      <a:srgbClr val="FFFFFF"/>
                    </a:solidFill>
                  </a:tcPr>
                </a:tc>
                <a:tc>
                  <a:txBody>
                    <a:bodyPr wrap="square"/>
                    <a:lstStyle/>
                    <a:p>
                      <a:pPr algn="r"/>
                      <a:r>
                        <a:rPr sz="1100" b="0">
                          <a:solidFill>
                            <a:srgbClr val="14324A"/>
                          </a:solidFill>
                          <a:latin typeface="Courier New"/>
                        </a:rPr>
                        <a:t>32</a:t>
                      </a:r>
                    </a:p>
                  </a:txBody>
                  <a:tcPr marL="54864" marR="54864" marT="27432" marB="27432">
                    <a:solidFill>
                      <a:srgbClr val="FFFFFF"/>
                    </a:solidFill>
                  </a:tcPr>
                </a:tc>
                <a:tc>
                  <a:txBody>
                    <a:bodyPr wrap="square"/>
                    <a:lstStyle/>
                    <a:p>
                      <a:pPr algn="r"/>
                      <a:r>
                        <a:rPr sz="1100" b="0">
                          <a:solidFill>
                            <a:srgbClr val="14324A"/>
                          </a:solidFill>
                          <a:latin typeface="Courier New"/>
                        </a:rPr>
                        <a:t>0.817</a:t>
                      </a:r>
                    </a:p>
                  </a:txBody>
                  <a:tcPr marL="54864" marR="54864" marT="27432" marB="27432">
                    <a:solidFill>
                      <a:srgbClr val="FFFFFF"/>
                    </a:solidFill>
                  </a:tcPr>
                </a:tc>
              </a:tr>
              <a:tr h="335280">
                <a:tc>
                  <a:txBody>
                    <a:bodyPr wrap="square"/>
                    <a:lstStyle/>
                    <a:p>
                      <a:pPr algn="l"/>
                      <a:r>
                        <a:rPr sz="1100" b="0">
                          <a:solidFill>
                            <a:srgbClr val="14324A"/>
                          </a:solidFill>
                          <a:latin typeface="Calibri"/>
                        </a:rPr>
                        <a:t>Dholuo (Luo)</a:t>
                      </a:r>
                    </a:p>
                  </a:txBody>
                  <a:tcPr marL="54864" marR="54864" marT="27432" marB="27432">
                    <a:solidFill>
                      <a:srgbClr val="FFFFFF"/>
                    </a:solidFill>
                  </a:tcPr>
                </a:tc>
                <a:tc>
                  <a:txBody>
                    <a:bodyPr wrap="square"/>
                    <a:lstStyle/>
                    <a:p>
                      <a:pPr algn="r"/>
                      <a:r>
                        <a:rPr sz="1100" b="0">
                          <a:solidFill>
                            <a:srgbClr val="14324A"/>
                          </a:solidFill>
                          <a:latin typeface="Courier New"/>
                        </a:rPr>
                        <a:t>558</a:t>
                      </a:r>
                    </a:p>
                  </a:txBody>
                  <a:tcPr marL="54864" marR="54864" marT="27432" marB="27432">
                    <a:solidFill>
                      <a:srgbClr val="FFFFFF"/>
                    </a:solidFill>
                  </a:tcPr>
                </a:tc>
                <a:tc>
                  <a:txBody>
                    <a:bodyPr wrap="square"/>
                    <a:lstStyle/>
                    <a:p>
                      <a:pPr algn="r"/>
                      <a:r>
                        <a:rPr sz="1100" b="0">
                          <a:solidFill>
                            <a:srgbClr val="14324A"/>
                          </a:solidFill>
                          <a:latin typeface="Courier New"/>
                        </a:rPr>
                        <a:t>0</a:t>
                      </a:r>
                    </a:p>
                  </a:txBody>
                  <a:tcPr marL="54864" marR="54864" marT="27432" marB="27432">
                    <a:solidFill>
                      <a:srgbClr val="FFFFFF"/>
                    </a:solidFill>
                  </a:tcPr>
                </a:tc>
                <a:tc>
                  <a:txBody>
                    <a:bodyPr wrap="square"/>
                    <a:lstStyle/>
                    <a:p>
                      <a:pPr algn="r"/>
                      <a:r>
                        <a:rPr sz="1100" b="0">
                          <a:solidFill>
                            <a:srgbClr val="14324A"/>
                          </a:solidFill>
                          <a:latin typeface="Courier New"/>
                        </a:rPr>
                        <a:t>169</a:t>
                      </a:r>
                    </a:p>
                  </a:txBody>
                  <a:tcPr marL="54864" marR="54864" marT="27432" marB="27432">
                    <a:solidFill>
                      <a:srgbClr val="FFFFFF"/>
                    </a:solidFill>
                  </a:tcPr>
                </a:tc>
                <a:tc>
                  <a:txBody>
                    <a:bodyPr wrap="square"/>
                    <a:lstStyle/>
                    <a:p>
                      <a:pPr algn="r"/>
                      <a:r>
                        <a:rPr sz="1100" b="0">
                          <a:solidFill>
                            <a:srgbClr val="14324A"/>
                          </a:solidFill>
                          <a:latin typeface="Courier New"/>
                        </a:rPr>
                        <a:t>27</a:t>
                      </a:r>
                    </a:p>
                  </a:txBody>
                  <a:tcPr marL="54864" marR="54864" marT="27432" marB="27432">
                    <a:solidFill>
                      <a:srgbClr val="FFFFFF"/>
                    </a:solidFill>
                  </a:tcPr>
                </a:tc>
                <a:tc>
                  <a:txBody>
                    <a:bodyPr wrap="square"/>
                    <a:lstStyle/>
                    <a:p>
                      <a:pPr algn="r"/>
                      <a:r>
                        <a:rPr sz="1100" b="0">
                          <a:solidFill>
                            <a:srgbClr val="14324A"/>
                          </a:solidFill>
                          <a:latin typeface="Courier New"/>
                        </a:rPr>
                        <a:t>0</a:t>
                      </a:r>
                    </a:p>
                  </a:txBody>
                  <a:tcPr marL="54864" marR="54864" marT="27432" marB="27432">
                    <a:solidFill>
                      <a:srgbClr val="FFFFFF"/>
                    </a:solidFill>
                  </a:tcPr>
                </a:tc>
                <a:tc>
                  <a:txBody>
                    <a:bodyPr wrap="square"/>
                    <a:lstStyle/>
                    <a:p>
                      <a:pPr algn="r"/>
                      <a:r>
                        <a:rPr sz="1100" b="0">
                          <a:solidFill>
                            <a:srgbClr val="14324A"/>
                          </a:solidFill>
                          <a:latin typeface="Courier New"/>
                        </a:rPr>
                        <a:t>0.939</a:t>
                      </a:r>
                    </a:p>
                  </a:txBody>
                  <a:tcPr marL="54864" marR="54864" marT="27432" marB="27432">
                    <a:solidFill>
                      <a:srgbClr val="FFFFFF"/>
                    </a:solidFill>
                  </a:tcPr>
                </a:tc>
              </a:tr>
              <a:tr h="335280">
                <a:tc>
                  <a:txBody>
                    <a:bodyPr wrap="square"/>
                    <a:lstStyle/>
                    <a:p>
                      <a:pPr algn="l"/>
                      <a:r>
                        <a:rPr sz="1100" b="0">
                          <a:solidFill>
                            <a:srgbClr val="14324A"/>
                          </a:solidFill>
                          <a:latin typeface="Calibri"/>
                        </a:rPr>
                        <a:t>Wanga (Luhya)</a:t>
                      </a:r>
                    </a:p>
                  </a:txBody>
                  <a:tcPr marL="54864" marR="54864" marT="27432" marB="27432">
                    <a:solidFill>
                      <a:srgbClr val="FFFFFF"/>
                    </a:solidFill>
                  </a:tcPr>
                </a:tc>
                <a:tc>
                  <a:txBody>
                    <a:bodyPr wrap="square"/>
                    <a:lstStyle/>
                    <a:p>
                      <a:pPr algn="r"/>
                      <a:r>
                        <a:rPr sz="1100" b="0">
                          <a:solidFill>
                            <a:srgbClr val="14324A"/>
                          </a:solidFill>
                          <a:latin typeface="Courier New"/>
                        </a:rPr>
                        <a:t>60</a:t>
                      </a:r>
                    </a:p>
                  </a:txBody>
                  <a:tcPr marL="54864" marR="54864" marT="27432" marB="27432">
                    <a:solidFill>
                      <a:srgbClr val="FFFFFF"/>
                    </a:solidFill>
                  </a:tcPr>
                </a:tc>
                <a:tc>
                  <a:txBody>
                    <a:bodyPr wrap="square"/>
                    <a:lstStyle/>
                    <a:p>
                      <a:pPr algn="r"/>
                      <a:r>
                        <a:rPr sz="1100" b="0">
                          <a:solidFill>
                            <a:srgbClr val="14324A"/>
                          </a:solidFill>
                          <a:latin typeface="Courier New"/>
                        </a:rPr>
                        <a:t>0</a:t>
                      </a:r>
                    </a:p>
                  </a:txBody>
                  <a:tcPr marL="54864" marR="54864" marT="27432" marB="27432">
                    <a:solidFill>
                      <a:srgbClr val="FFFFFF"/>
                    </a:solidFill>
                  </a:tcPr>
                </a:tc>
                <a:tc>
                  <a:txBody>
                    <a:bodyPr wrap="square"/>
                    <a:lstStyle/>
                    <a:p>
                      <a:pPr algn="r"/>
                      <a:r>
                        <a:rPr sz="1100" b="0">
                          <a:solidFill>
                            <a:srgbClr val="14324A"/>
                          </a:solidFill>
                          <a:latin typeface="Courier New"/>
                        </a:rPr>
                        <a:t>13</a:t>
                      </a:r>
                    </a:p>
                  </a:txBody>
                  <a:tcPr marL="54864" marR="54864" marT="27432" marB="27432">
                    <a:solidFill>
                      <a:srgbClr val="FFFFFF"/>
                    </a:solidFill>
                  </a:tcPr>
                </a:tc>
                <a:tc>
                  <a:txBody>
                    <a:bodyPr wrap="square"/>
                    <a:lstStyle/>
                    <a:p>
                      <a:pPr algn="r"/>
                      <a:r>
                        <a:rPr sz="1100" b="0">
                          <a:solidFill>
                            <a:srgbClr val="14324A"/>
                          </a:solidFill>
                          <a:latin typeface="Courier New"/>
                        </a:rPr>
                        <a:t>3</a:t>
                      </a:r>
                    </a:p>
                  </a:txBody>
                  <a:tcPr marL="54864" marR="54864" marT="27432" marB="27432">
                    <a:solidFill>
                      <a:srgbClr val="FFFFFF"/>
                    </a:solidFill>
                  </a:tcPr>
                </a:tc>
                <a:tc>
                  <a:txBody>
                    <a:bodyPr wrap="square"/>
                    <a:lstStyle/>
                    <a:p>
                      <a:pPr algn="r"/>
                      <a:r>
                        <a:rPr sz="1100" b="0">
                          <a:solidFill>
                            <a:srgbClr val="14324A"/>
                          </a:solidFill>
                          <a:latin typeface="Courier New"/>
                        </a:rPr>
                        <a:t>0</a:t>
                      </a:r>
                    </a:p>
                  </a:txBody>
                  <a:tcPr marL="54864" marR="54864" marT="27432" marB="27432">
                    <a:solidFill>
                      <a:srgbClr val="FFFFFF"/>
                    </a:solidFill>
                  </a:tcPr>
                </a:tc>
                <a:tc>
                  <a:txBody>
                    <a:bodyPr wrap="square"/>
                    <a:lstStyle/>
                    <a:p>
                      <a:pPr algn="r"/>
                      <a:r>
                        <a:rPr sz="1100" b="0">
                          <a:solidFill>
                            <a:srgbClr val="14324A"/>
                          </a:solidFill>
                          <a:latin typeface="Courier New"/>
                        </a:rPr>
                        <a:t>0.922</a:t>
                      </a:r>
                    </a:p>
                  </a:txBody>
                  <a:tcPr marL="54864" marR="54864" marT="27432" marB="27432">
                    <a:solidFill>
                      <a:srgbClr val="FFFFFF"/>
                    </a:solidFill>
                  </a:tcPr>
                </a:tc>
              </a:tr>
              <a:tr h="335280">
                <a:tc>
                  <a:txBody>
                    <a:bodyPr wrap="square"/>
                    <a:lstStyle/>
                    <a:p>
                      <a:pPr algn="l"/>
                      <a:r>
                        <a:rPr sz="1100" b="0">
                          <a:solidFill>
                            <a:srgbClr val="14324A"/>
                          </a:solidFill>
                          <a:latin typeface="Calibri"/>
                        </a:rPr>
                        <a:t>Bukusu (Luhya)</a:t>
                      </a:r>
                    </a:p>
                  </a:txBody>
                  <a:tcPr marL="54864" marR="54864" marT="27432" marB="27432">
                    <a:solidFill>
                      <a:srgbClr val="FFFFFF"/>
                    </a:solidFill>
                  </a:tcPr>
                </a:tc>
                <a:tc>
                  <a:txBody>
                    <a:bodyPr wrap="square"/>
                    <a:lstStyle/>
                    <a:p>
                      <a:pPr algn="r"/>
                      <a:r>
                        <a:rPr sz="1100" b="0">
                          <a:solidFill>
                            <a:srgbClr val="14324A"/>
                          </a:solidFill>
                          <a:latin typeface="Courier New"/>
                        </a:rPr>
                        <a:t>14</a:t>
                      </a:r>
                    </a:p>
                  </a:txBody>
                  <a:tcPr marL="54864" marR="54864" marT="27432" marB="27432">
                    <a:solidFill>
                      <a:srgbClr val="FFFFFF"/>
                    </a:solidFill>
                  </a:tcPr>
                </a:tc>
                <a:tc>
                  <a:txBody>
                    <a:bodyPr wrap="square"/>
                    <a:lstStyle/>
                    <a:p>
                      <a:pPr algn="r"/>
                      <a:r>
                        <a:rPr sz="1100" b="0">
                          <a:solidFill>
                            <a:srgbClr val="14324A"/>
                          </a:solidFill>
                          <a:latin typeface="Courier New"/>
                        </a:rPr>
                        <a:t>0</a:t>
                      </a:r>
                    </a:p>
                  </a:txBody>
                  <a:tcPr marL="54864" marR="54864" marT="27432" marB="27432">
                    <a:solidFill>
                      <a:srgbClr val="FFFFFF"/>
                    </a:solidFill>
                  </a:tcPr>
                </a:tc>
                <a:tc>
                  <a:txBody>
                    <a:bodyPr wrap="square"/>
                    <a:lstStyle/>
                    <a:p>
                      <a:pPr algn="r"/>
                      <a:r>
                        <a:rPr sz="1100" b="0">
                          <a:solidFill>
                            <a:srgbClr val="14324A"/>
                          </a:solidFill>
                          <a:latin typeface="Courier New"/>
                        </a:rPr>
                        <a:t>4</a:t>
                      </a:r>
                    </a:p>
                  </a:txBody>
                  <a:tcPr marL="54864" marR="54864" marT="27432" marB="27432">
                    <a:solidFill>
                      <a:srgbClr val="FFFFFF"/>
                    </a:solidFill>
                  </a:tcPr>
                </a:tc>
                <a:tc>
                  <a:txBody>
                    <a:bodyPr wrap="square"/>
                    <a:lstStyle/>
                    <a:p>
                      <a:pPr algn="r"/>
                      <a:r>
                        <a:rPr sz="1100" b="0">
                          <a:solidFill>
                            <a:srgbClr val="14324A"/>
                          </a:solidFill>
                          <a:latin typeface="Courier New"/>
                        </a:rPr>
                        <a:t>11</a:t>
                      </a:r>
                    </a:p>
                  </a:txBody>
                  <a:tcPr marL="54864" marR="54864" marT="27432" marB="27432">
                    <a:solidFill>
                      <a:srgbClr val="FFFFFF"/>
                    </a:solidFill>
                  </a:tcPr>
                </a:tc>
                <a:tc>
                  <a:txBody>
                    <a:bodyPr wrap="square"/>
                    <a:lstStyle/>
                    <a:p>
                      <a:pPr algn="r"/>
                      <a:r>
                        <a:rPr sz="1100" b="0">
                          <a:solidFill>
                            <a:srgbClr val="14324A"/>
                          </a:solidFill>
                          <a:latin typeface="Courier New"/>
                        </a:rPr>
                        <a:t>0</a:t>
                      </a:r>
                    </a:p>
                  </a:txBody>
                  <a:tcPr marL="54864" marR="54864" marT="27432" marB="27432">
                    <a:solidFill>
                      <a:srgbClr val="FFFFFF"/>
                    </a:solidFill>
                  </a:tcPr>
                </a:tc>
                <a:tc>
                  <a:txBody>
                    <a:bodyPr wrap="square"/>
                    <a:lstStyle/>
                    <a:p>
                      <a:pPr algn="r"/>
                      <a:r>
                        <a:rPr sz="1100" b="0">
                          <a:solidFill>
                            <a:srgbClr val="14324A"/>
                          </a:solidFill>
                          <a:latin typeface="Courier New"/>
                        </a:rPr>
                        <a:t>0.866</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E8772E"/>
                </a:solidFill>
                <a:latin typeface="Calibri"/>
              </a:rPr>
              <a:t>Decode failures, digital silence, music-dominated files, mixed-language files (no language reaches sixty percent of labelled windows) and low-confidence files are the quality signals the reading can measure; noise and intelligibility were not scored.</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70879A"/>
                </a:solidFill>
                <a:latin typeface="Courier New"/>
              </a:rPr>
              <a:t>[measured]  Receipt R06: Estate language reading m9j-9e8fcb46a809 on akki-vm (2 GPUs, 1.034 GPU-h): audio language model lcj-7128593897d4 sha256 5c1feb8497e8…, music detector m9j-686de001bfe7 sha256 0fea3eee0393…; model readings, not human labels</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70879A"/>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70879A"/>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70879A"/>
                </a:solidFill>
                <a:latin typeface="Courier New"/>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1920240"/>
            <a:ext cx="2613355" cy="1885492"/>
          </a:xfrm>
          <a:prstGeom prst="rect">
            <a:avLst/>
          </a:prstGeom>
          <a:noFill/>
        </p:spPr>
        <p:txBody>
          <a:bodyPr wrap="square" lIns="0" rIns="0" tIns="0" bIns="0" anchor="ctr">
            <a:spAutoFit/>
          </a:bodyPr>
          <a:lstStyle/>
          <a:p>
            <a:pPr algn="l"/>
            <a:r>
              <a:rPr sz="9600" b="0" i="0">
                <a:solidFill>
                  <a:srgbClr val="E8772E"/>
                </a:solidFill>
                <a:latin typeface="Courier New"/>
              </a:rPr>
              <a:t>06</a:t>
            </a:r>
          </a:p>
        </p:txBody>
      </p:sp>
      <p:sp>
        <p:nvSpPr>
          <p:cNvPr id="3" name="TextBox 2"/>
          <p:cNvSpPr txBox="1"/>
          <p:nvPr/>
        </p:nvSpPr>
        <p:spPr>
          <a:xfrm>
            <a:off x="3390595" y="2297887"/>
            <a:ext cx="8206740" cy="1508760"/>
          </a:xfrm>
          <a:prstGeom prst="rect">
            <a:avLst/>
          </a:prstGeom>
          <a:noFill/>
        </p:spPr>
        <p:txBody>
          <a:bodyPr wrap="square" lIns="0" rIns="0" tIns="0" bIns="0" anchor="ctr">
            <a:spAutoFit/>
          </a:bodyPr>
          <a:lstStyle/>
          <a:p>
            <a:pPr algn="l"/>
            <a:r>
              <a:rPr sz="3200" b="0" i="0">
                <a:solidFill>
                  <a:srgbClr val="14324A"/>
                </a:solidFill>
                <a:latin typeface="Cambria"/>
              </a:rPr>
              <a:t>Written text: scripts and transcripts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70879A"/>
                </a:solidFill>
                <a:latin typeface="Calibri"/>
              </a:rPr>
              <a:t>NEWS SCRIPTS</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4324A"/>
                </a:solidFill>
                <a:latin typeface="Cambria"/>
              </a:rPr>
              <a:t>Live news scripts spread across 13 stations in uneven volumes</a:t>
            </a:r>
          </a:p>
        </p:txBody>
      </p:sp>
      <p:graphicFrame>
        <p:nvGraphicFramePr>
          <p:cNvPr id="4" name="Chart 3"/>
          <p:cNvGraphicFramePr>
            <a:graphicFrameLocks noGrp="1"/>
          </p:cNvGraphicFramePr>
          <p:nvPr/>
        </p:nvGraphicFramePr>
        <p:xfrm>
          <a:off x="594360" y="1920240"/>
          <a:ext cx="11002975" cy="3394252"/>
        </p:xfrm>
        <a:graphic>
          <a:graphicData uri="http://schemas.openxmlformats.org/drawingml/2006/chart">
            <c:chart xmlns:c="http://schemas.openxmlformats.org/drawingml/2006/chart" r:id="rId2"/>
          </a:graphicData>
        </a:graphic>
      </p:graphicFrame>
      <p:sp>
        <p:nvSpPr>
          <p:cNvPr id="5" name="TextBox 4"/>
          <p:cNvSpPr txBox="1"/>
          <p:nvPr/>
        </p:nvSpPr>
        <p:spPr>
          <a:xfrm>
            <a:off x="594360" y="5314492"/>
            <a:ext cx="8206740" cy="376732"/>
          </a:xfrm>
          <a:prstGeom prst="rect">
            <a:avLst/>
          </a:prstGeom>
          <a:noFill/>
        </p:spPr>
        <p:txBody>
          <a:bodyPr wrap="square" lIns="0" rIns="0" tIns="0" bIns="0" anchor="b">
            <a:spAutoFit/>
          </a:bodyPr>
          <a:lstStyle/>
          <a:p>
            <a:pPr algn="l"/>
            <a:r>
              <a:rPr sz="1400" b="0" i="1">
                <a:solidFill>
                  <a:srgbClr val="E8772E"/>
                </a:solidFill>
                <a:latin typeface="Calibri"/>
              </a:rPr>
              <a:t>Volume is inventory, not uniqueness or continuous coverage, and the language shown is the station's recorded broadcast language.</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70879A"/>
                </a:solidFill>
                <a:latin typeface="Courier New"/>
              </a:rPr>
              <a:t>[measured]  Receipt R08: Aggregate-only database reading etx-81e10befe6e0: news_vault.stories (script, title, date, hour_id) → news_vault.hours (station_id, time, type_id) → news_vault.stations (name); news_vault.news (2022 bulletins); local.uploaded_files (language_id, audio_length, status) ← local.transcripts (file_id, start_time, end_time, transcript) ; local.folder_languages (Language, code, station)</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70879A"/>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70879A"/>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70879A"/>
                </a:solidFill>
                <a:latin typeface="Courier New"/>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70879A"/>
                </a:solidFill>
                <a:latin typeface="Calibri"/>
              </a:rPr>
              <a:t>BULLETIN COVERAGE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4324A"/>
                </a:solidFill>
                <a:latin typeface="Cambria"/>
              </a:rPr>
              <a:t>Bulletin-hour coverage on scripted days differs widely between stations</a:t>
            </a:r>
          </a:p>
        </p:txBody>
      </p:sp>
      <p:graphicFrame>
        <p:nvGraphicFramePr>
          <p:cNvPr id="4" name="Chart 3"/>
          <p:cNvGraphicFramePr>
            <a:graphicFrameLocks noGrp="1"/>
          </p:cNvGraphicFramePr>
          <p:nvPr/>
        </p:nvGraphicFramePr>
        <p:xfrm>
          <a:off x="594360" y="1920240"/>
          <a:ext cx="11002975" cy="3394252"/>
        </p:xfrm>
        <a:graphic>
          <a:graphicData uri="http://schemas.openxmlformats.org/drawingml/2006/chart">
            <c:chart xmlns:c="http://schemas.openxmlformats.org/drawingml/2006/chart" r:id="rId2"/>
          </a:graphicData>
        </a:graphic>
      </p:graphicFrame>
      <p:sp>
        <p:nvSpPr>
          <p:cNvPr id="5" name="TextBox 4"/>
          <p:cNvSpPr txBox="1"/>
          <p:nvPr/>
        </p:nvSpPr>
        <p:spPr>
          <a:xfrm>
            <a:off x="594360" y="5314492"/>
            <a:ext cx="8206740" cy="376732"/>
          </a:xfrm>
          <a:prstGeom prst="rect">
            <a:avLst/>
          </a:prstGeom>
          <a:noFill/>
        </p:spPr>
        <p:txBody>
          <a:bodyPr wrap="square" lIns="0" rIns="0" tIns="0" bIns="0" anchor="b">
            <a:spAutoFit/>
          </a:bodyPr>
          <a:lstStyle/>
          <a:p>
            <a:pPr algn="l"/>
            <a:r>
              <a:rPr sz="1400" b="0" i="1">
                <a:solidFill>
                  <a:srgbClr val="E8772E"/>
                </a:solidFill>
                <a:latin typeface="Calibri"/>
              </a:rPr>
              <a:t>These averages hold only for days that carry a script and do not prove uninterrupted hourly coverage.</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70879A"/>
                </a:solidFill>
                <a:latin typeface="Courier New"/>
              </a:rPr>
              <a:t>[measured]  Receipt R08: Aggregate-only database reading etx-81e10befe6e0: news_vault.stories (script, title, date, hour_id) → news_vault.hours (station_id, time, type_id) → news_vault.stations (name); news_vault.news (2022 bulletins); local.uploaded_files (language_id, audio_length, status) ← local.transcripts (file_id, start_time, end_time, transcript) ; local.folder_languages (Language, code, station)</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70879A"/>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70879A"/>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70879A"/>
                </a:solidFill>
                <a:latin typeface="Courier New"/>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70879A"/>
                </a:solidFill>
                <a:latin typeface="Calibri"/>
              </a:rPr>
              <a:t>WRITTEN TEXT</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4324A"/>
                </a:solidFill>
                <a:latin typeface="Cambria"/>
              </a:rPr>
              <a:t>The estate holds 248841 live news scripts, but only on 226 calendar dates</a:t>
            </a:r>
          </a:p>
        </p:txBody>
      </p:sp>
      <p:sp>
        <p:nvSpPr>
          <p:cNvPr id="4" name="TextBox 3"/>
          <p:cNvSpPr txBox="1"/>
          <p:nvPr/>
        </p:nvSpPr>
        <p:spPr>
          <a:xfrm>
            <a:off x="594360" y="1920240"/>
            <a:ext cx="640080" cy="942975"/>
          </a:xfrm>
          <a:prstGeom prst="rect">
            <a:avLst/>
          </a:prstGeom>
          <a:noFill/>
        </p:spPr>
        <p:txBody>
          <a:bodyPr wrap="square" lIns="0" rIns="0" tIns="0" bIns="0" anchor="t">
            <a:spAutoFit/>
          </a:bodyPr>
          <a:lstStyle/>
          <a:p>
            <a:pPr algn="l"/>
            <a:r>
              <a:rPr sz="2600" b="0" i="0">
                <a:solidFill>
                  <a:srgbClr val="E8772E"/>
                </a:solidFill>
                <a:latin typeface="Courier New"/>
              </a:rPr>
              <a:t>01</a:t>
            </a:r>
          </a:p>
        </p:txBody>
      </p:sp>
      <p:sp>
        <p:nvSpPr>
          <p:cNvPr id="5" name="TextBox 4"/>
          <p:cNvSpPr txBox="1"/>
          <p:nvPr/>
        </p:nvSpPr>
        <p:spPr>
          <a:xfrm>
            <a:off x="1417320" y="1993392"/>
            <a:ext cx="10180015" cy="851535"/>
          </a:xfrm>
          <a:prstGeom prst="rect">
            <a:avLst/>
          </a:prstGeom>
          <a:noFill/>
        </p:spPr>
        <p:txBody>
          <a:bodyPr wrap="square" lIns="0" rIns="0" tIns="0" bIns="0" anchor="t">
            <a:spAutoFit/>
          </a:bodyPr>
          <a:lstStyle/>
          <a:p>
            <a:pPr algn="l"/>
            <a:r>
              <a:rPr sz="1400" b="0" i="0">
                <a:solidFill>
                  <a:srgbClr val="14324A"/>
                </a:solidFill>
                <a:latin typeface="Calibri"/>
              </a:rPr>
              <a:t>248841 live scripts and 189.3m characters come from 13 stations, on 226 dates across a span of 1432 days.</a:t>
            </a:r>
          </a:p>
        </p:txBody>
      </p:sp>
      <p:cxnSp>
        <p:nvCxnSpPr>
          <p:cNvPr id="6" name="Connector 5"/>
          <p:cNvCxnSpPr/>
          <p:nvPr/>
        </p:nvCxnSpPr>
        <p:spPr>
          <a:xfrm>
            <a:off x="594360" y="2753487"/>
            <a:ext cx="11002975" cy="0"/>
          </a:xfrm>
          <a:prstGeom prst="line">
            <a:avLst/>
          </a:prstGeom>
          <a:ln w="9525">
            <a:solidFill>
              <a:srgbClr val="D3DCE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2863215"/>
            <a:ext cx="640080" cy="942975"/>
          </a:xfrm>
          <a:prstGeom prst="rect">
            <a:avLst/>
          </a:prstGeom>
          <a:noFill/>
        </p:spPr>
        <p:txBody>
          <a:bodyPr wrap="square" lIns="0" rIns="0" tIns="0" bIns="0" anchor="t">
            <a:spAutoFit/>
          </a:bodyPr>
          <a:lstStyle/>
          <a:p>
            <a:pPr algn="l"/>
            <a:r>
              <a:rPr sz="2600" b="0" i="0">
                <a:solidFill>
                  <a:srgbClr val="E8772E"/>
                </a:solidFill>
                <a:latin typeface="Courier New"/>
              </a:rPr>
              <a:t>02</a:t>
            </a:r>
          </a:p>
        </p:txBody>
      </p:sp>
      <p:sp>
        <p:nvSpPr>
          <p:cNvPr id="8" name="TextBox 7"/>
          <p:cNvSpPr txBox="1"/>
          <p:nvPr/>
        </p:nvSpPr>
        <p:spPr>
          <a:xfrm>
            <a:off x="1417320" y="2936367"/>
            <a:ext cx="10180015" cy="851535"/>
          </a:xfrm>
          <a:prstGeom prst="rect">
            <a:avLst/>
          </a:prstGeom>
          <a:noFill/>
        </p:spPr>
        <p:txBody>
          <a:bodyPr wrap="square" lIns="0" rIns="0" tIns="0" bIns="0" anchor="t">
            <a:spAutoFit/>
          </a:bodyPr>
          <a:lstStyle/>
          <a:p>
            <a:pPr algn="l"/>
            <a:r>
              <a:rPr sz="1400" b="0" i="0">
                <a:solidFill>
                  <a:srgbClr val="14324A"/>
                </a:solidFill>
                <a:latin typeface="Calibri"/>
              </a:rPr>
              <a:t>38.0% of script rows revise an earlier script, leaving 159100 distinct texts; 10206 rows are marked deleted.</a:t>
            </a:r>
          </a:p>
        </p:txBody>
      </p:sp>
      <p:cxnSp>
        <p:nvCxnSpPr>
          <p:cNvPr id="9" name="Connector 8"/>
          <p:cNvCxnSpPr/>
          <p:nvPr/>
        </p:nvCxnSpPr>
        <p:spPr>
          <a:xfrm>
            <a:off x="594360" y="3696461"/>
            <a:ext cx="11002975" cy="0"/>
          </a:xfrm>
          <a:prstGeom prst="line">
            <a:avLst/>
          </a:prstGeom>
          <a:ln w="9525">
            <a:solidFill>
              <a:srgbClr val="D3DCE4"/>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94360" y="3806189"/>
            <a:ext cx="640080" cy="942975"/>
          </a:xfrm>
          <a:prstGeom prst="rect">
            <a:avLst/>
          </a:prstGeom>
          <a:noFill/>
        </p:spPr>
        <p:txBody>
          <a:bodyPr wrap="square" lIns="0" rIns="0" tIns="0" bIns="0" anchor="t">
            <a:spAutoFit/>
          </a:bodyPr>
          <a:lstStyle/>
          <a:p>
            <a:pPr algn="l"/>
            <a:r>
              <a:rPr sz="2600" b="0" i="0">
                <a:solidFill>
                  <a:srgbClr val="E8772E"/>
                </a:solidFill>
                <a:latin typeface="Courier New"/>
              </a:rPr>
              <a:t>03</a:t>
            </a:r>
          </a:p>
        </p:txBody>
      </p:sp>
      <p:sp>
        <p:nvSpPr>
          <p:cNvPr id="11" name="TextBox 10"/>
          <p:cNvSpPr txBox="1"/>
          <p:nvPr/>
        </p:nvSpPr>
        <p:spPr>
          <a:xfrm>
            <a:off x="1417320" y="3879341"/>
            <a:ext cx="10180015" cy="851535"/>
          </a:xfrm>
          <a:prstGeom prst="rect">
            <a:avLst/>
          </a:prstGeom>
          <a:noFill/>
        </p:spPr>
        <p:txBody>
          <a:bodyPr wrap="square" lIns="0" rIns="0" tIns="0" bIns="0" anchor="t">
            <a:spAutoFit/>
          </a:bodyPr>
          <a:lstStyle/>
          <a:p>
            <a:pPr algn="l"/>
            <a:r>
              <a:rPr sz="1400" b="0" i="0">
                <a:solidFill>
                  <a:srgbClr val="14324A"/>
                </a:solidFill>
                <a:latin typeface="Calibri"/>
              </a:rPr>
              <a:t>The text model read 399 staged transcripts, with 99.6% of passages agreeing with folder language; 3540 transcripts were not reached.</a:t>
            </a:r>
          </a:p>
        </p:txBody>
      </p:sp>
      <p:cxnSp>
        <p:nvCxnSpPr>
          <p:cNvPr id="12" name="Connector 11"/>
          <p:cNvCxnSpPr/>
          <p:nvPr/>
        </p:nvCxnSpPr>
        <p:spPr>
          <a:xfrm>
            <a:off x="594360" y="4639437"/>
            <a:ext cx="11002975" cy="0"/>
          </a:xfrm>
          <a:prstGeom prst="line">
            <a:avLst/>
          </a:prstGeom>
          <a:ln w="9525">
            <a:solidFill>
              <a:srgbClr val="D3DCE4"/>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94360" y="4749165"/>
            <a:ext cx="640080" cy="942975"/>
          </a:xfrm>
          <a:prstGeom prst="rect">
            <a:avLst/>
          </a:prstGeom>
          <a:noFill/>
        </p:spPr>
        <p:txBody>
          <a:bodyPr wrap="square" lIns="0" rIns="0" tIns="0" bIns="0" anchor="t">
            <a:spAutoFit/>
          </a:bodyPr>
          <a:lstStyle/>
          <a:p>
            <a:pPr algn="l"/>
            <a:r>
              <a:rPr sz="2600" b="0" i="0">
                <a:solidFill>
                  <a:srgbClr val="E8772E"/>
                </a:solidFill>
                <a:latin typeface="Courier New"/>
              </a:rPr>
              <a:t>04</a:t>
            </a:r>
          </a:p>
        </p:txBody>
      </p:sp>
      <p:sp>
        <p:nvSpPr>
          <p:cNvPr id="14" name="TextBox 13"/>
          <p:cNvSpPr txBox="1"/>
          <p:nvPr/>
        </p:nvSpPr>
        <p:spPr>
          <a:xfrm>
            <a:off x="1417320" y="4822317"/>
            <a:ext cx="10180015" cy="851535"/>
          </a:xfrm>
          <a:prstGeom prst="rect">
            <a:avLst/>
          </a:prstGeom>
          <a:noFill/>
        </p:spPr>
        <p:txBody>
          <a:bodyPr wrap="square" lIns="0" rIns="0" tIns="0" bIns="0" anchor="t">
            <a:spAutoFit/>
          </a:bodyPr>
          <a:lstStyle/>
          <a:p>
            <a:pPr algn="l"/>
            <a:r>
              <a:rPr sz="1400" b="0" i="0">
                <a:solidFill>
                  <a:srgbClr val="14324A"/>
                </a:solidFill>
                <a:latin typeface="Calibri"/>
              </a:rPr>
              <a:t>The workbench registers 83014 recordings and 12,290.6 hours in 13 languages; it is a separate inventory, not to be added to the staged corpus.</a:t>
            </a:r>
          </a:p>
        </p:txBody>
      </p:sp>
      <p:cxnSp>
        <p:nvCxnSpPr>
          <p:cNvPr id="15" name="Connector 14"/>
          <p:cNvCxnSpPr/>
          <p:nvPr/>
        </p:nvCxnSpPr>
        <p:spPr>
          <a:xfrm>
            <a:off x="594360" y="5582412"/>
            <a:ext cx="11002975" cy="0"/>
          </a:xfrm>
          <a:prstGeom prst="line">
            <a:avLst/>
          </a:prstGeom>
          <a:ln w="9525">
            <a:solidFill>
              <a:srgbClr val="D3DCE4"/>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70879A"/>
                </a:solidFill>
                <a:latin typeface="Calibri"/>
              </a:rPr>
              <a:t>EI-eij-1b359b3cbd2e</a:t>
            </a:r>
          </a:p>
        </p:txBody>
      </p:sp>
      <p:sp>
        <p:nvSpPr>
          <p:cNvPr id="17" name="TextBox 16"/>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70879A"/>
                </a:solidFill>
                <a:latin typeface="Calibri"/>
              </a:rPr>
              <a:t>Tenant confidential</a:t>
            </a:r>
          </a:p>
        </p:txBody>
      </p:sp>
      <p:sp>
        <p:nvSpPr>
          <p:cNvPr id="18" name="TextBox 17"/>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70879A"/>
                </a:solidFill>
                <a:latin typeface="Courier New"/>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70879A"/>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4324A"/>
                </a:solidFill>
                <a:latin typeface="Cambria"/>
              </a:rPr>
              <a:t>Hourly news scripts by station (news_vault.stories)</a:t>
            </a:r>
          </a:p>
        </p:txBody>
      </p:sp>
      <p:graphicFrame>
        <p:nvGraphicFramePr>
          <p:cNvPr id="4" name="Table 3"/>
          <p:cNvGraphicFramePr>
            <a:graphicFrameLocks noGrp="1"/>
          </p:cNvGraphicFramePr>
          <p:nvPr/>
        </p:nvGraphicFramePr>
        <p:xfrm>
          <a:off x="594360" y="1920240"/>
          <a:ext cx="11002972" cy="3017520"/>
        </p:xfrm>
        <a:graphic>
          <a:graphicData uri="http://schemas.openxmlformats.org/drawingml/2006/table">
            <a:tbl>
              <a:tblPr firstRow="1" bandRow="1">
                <a:tableStyleId>{5C22544A-7EE6-4342-B048-85BDC9FD1C3A}</a:tableStyleId>
              </a:tblPr>
              <a:tblGrid>
                <a:gridCol w="1194121"/>
                <a:gridCol w="1535298"/>
                <a:gridCol w="1194121"/>
                <a:gridCol w="1194121"/>
                <a:gridCol w="2047065"/>
                <a:gridCol w="2644125"/>
                <a:gridCol w="1194121"/>
              </a:tblGrid>
              <a:tr h="301752">
                <a:tc>
                  <a:txBody>
                    <a:bodyPr wrap="square"/>
                    <a:lstStyle/>
                    <a:p>
                      <a:pPr algn="l"/>
                      <a:r>
                        <a:rPr sz="1100" b="1">
                          <a:solidFill>
                            <a:srgbClr val="14324A"/>
                          </a:solidFill>
                          <a:latin typeface="Calibri"/>
                        </a:rPr>
                        <a:t>Station</a:t>
                      </a:r>
                    </a:p>
                  </a:txBody>
                  <a:tcPr marL="54864" marR="54864" marT="27432" marB="27432">
                    <a:solidFill>
                      <a:srgbClr val="E8EEF3"/>
                    </a:solidFill>
                  </a:tcPr>
                </a:tc>
                <a:tc>
                  <a:txBody>
                    <a:bodyPr wrap="square"/>
                    <a:lstStyle/>
                    <a:p>
                      <a:pPr algn="l"/>
                      <a:r>
                        <a:rPr sz="1100" b="1">
                          <a:solidFill>
                            <a:srgbClr val="14324A"/>
                          </a:solidFill>
                          <a:latin typeface="Calibri"/>
                        </a:rPr>
                        <a:t>Broadcast language</a:t>
                      </a:r>
                    </a:p>
                  </a:txBody>
                  <a:tcPr marL="54864" marR="54864" marT="27432" marB="27432">
                    <a:solidFill>
                      <a:srgbClr val="E8EEF3"/>
                    </a:solidFill>
                  </a:tcPr>
                </a:tc>
                <a:tc>
                  <a:txBody>
                    <a:bodyPr wrap="square"/>
                    <a:lstStyle/>
                    <a:p>
                      <a:pPr algn="l"/>
                      <a:r>
                        <a:rPr sz="1100" b="1">
                          <a:solidFill>
                            <a:srgbClr val="14324A"/>
                          </a:solidFill>
                          <a:latin typeface="Calibri"/>
                        </a:rPr>
                        <a:t>Live scripts</a:t>
                      </a:r>
                    </a:p>
                  </a:txBody>
                  <a:tcPr marL="54864" marR="54864" marT="27432" marB="27432">
                    <a:solidFill>
                      <a:srgbClr val="E8EEF3"/>
                    </a:solidFill>
                  </a:tcPr>
                </a:tc>
                <a:tc>
                  <a:txBody>
                    <a:bodyPr wrap="square"/>
                    <a:lstStyle/>
                    <a:p>
                      <a:pPr algn="l"/>
                      <a:r>
                        <a:rPr sz="1100" b="1">
                          <a:solidFill>
                            <a:srgbClr val="14324A"/>
                          </a:solidFill>
                          <a:latin typeface="Calibri"/>
                        </a:rPr>
                        <a:t>Scripted days</a:t>
                      </a:r>
                    </a:p>
                  </a:txBody>
                  <a:tcPr marL="54864" marR="54864" marT="27432" marB="27432">
                    <a:solidFill>
                      <a:srgbClr val="E8EEF3"/>
                    </a:solidFill>
                  </a:tcPr>
                </a:tc>
                <a:tc>
                  <a:txBody>
                    <a:bodyPr wrap="square"/>
                    <a:lstStyle/>
                    <a:p>
                      <a:pPr algn="l"/>
                      <a:r>
                        <a:rPr sz="1100" b="1">
                          <a:solidFill>
                            <a:srgbClr val="14324A"/>
                          </a:solidFill>
                          <a:latin typeface="Calibri"/>
                        </a:rPr>
                        <a:t>Scripts per scripted day</a:t>
                      </a:r>
                    </a:p>
                  </a:txBody>
                  <a:tcPr marL="54864" marR="54864" marT="27432" marB="27432">
                    <a:solidFill>
                      <a:srgbClr val="E8EEF3"/>
                    </a:solidFill>
                  </a:tcPr>
                </a:tc>
                <a:tc>
                  <a:txBody>
                    <a:bodyPr wrap="square"/>
                    <a:lstStyle/>
                    <a:p>
                      <a:pPr algn="l"/>
                      <a:r>
                        <a:rPr sz="1100" b="1">
                          <a:solidFill>
                            <a:srgbClr val="14324A"/>
                          </a:solidFill>
                          <a:latin typeface="Calibri"/>
                        </a:rPr>
                        <a:t>Bulletin hours per scripted day</a:t>
                      </a:r>
                    </a:p>
                  </a:txBody>
                  <a:tcPr marL="54864" marR="54864" marT="27432" marB="27432">
                    <a:solidFill>
                      <a:srgbClr val="E8EEF3"/>
                    </a:solidFill>
                  </a:tcPr>
                </a:tc>
                <a:tc>
                  <a:txBody>
                    <a:bodyPr wrap="square"/>
                    <a:lstStyle/>
                    <a:p>
                      <a:pPr algn="l"/>
                      <a:r>
                        <a:rPr sz="1100" b="1">
                          <a:solidFill>
                            <a:srgbClr val="14324A"/>
                          </a:solidFill>
                          <a:latin typeface="Calibri"/>
                        </a:rPr>
                        <a:t>Characters</a:t>
                      </a:r>
                    </a:p>
                  </a:txBody>
                  <a:tcPr marL="54864" marR="54864" marT="27432" marB="27432">
                    <a:solidFill>
                      <a:srgbClr val="E8EEF3"/>
                    </a:solidFill>
                  </a:tcPr>
                </a:tc>
              </a:tr>
              <a:tr h="301752">
                <a:tc>
                  <a:txBody>
                    <a:bodyPr wrap="square"/>
                    <a:lstStyle/>
                    <a:p>
                      <a:pPr algn="l"/>
                      <a:r>
                        <a:rPr sz="1100" b="0">
                          <a:solidFill>
                            <a:srgbClr val="14324A"/>
                          </a:solidFill>
                          <a:latin typeface="Calibri"/>
                        </a:rPr>
                        <a:t>Muuga FM</a:t>
                      </a:r>
                    </a:p>
                  </a:txBody>
                  <a:tcPr marL="54864" marR="54864" marT="27432" marB="27432">
                    <a:solidFill>
                      <a:srgbClr val="FFFFFF"/>
                    </a:solidFill>
                  </a:tcPr>
                </a:tc>
                <a:tc>
                  <a:txBody>
                    <a:bodyPr wrap="square"/>
                    <a:lstStyle/>
                    <a:p>
                      <a:pPr algn="l"/>
                      <a:r>
                        <a:rPr sz="1100" b="0">
                          <a:solidFill>
                            <a:srgbClr val="14324A"/>
                          </a:solidFill>
                          <a:latin typeface="Calibri"/>
                        </a:rPr>
                        <a:t>Meru</a:t>
                      </a:r>
                    </a:p>
                  </a:txBody>
                  <a:tcPr marL="54864" marR="54864" marT="27432" marB="27432">
                    <a:solidFill>
                      <a:srgbClr val="FFFFFF"/>
                    </a:solidFill>
                  </a:tcPr>
                </a:tc>
                <a:tc>
                  <a:txBody>
                    <a:bodyPr wrap="square"/>
                    <a:lstStyle/>
                    <a:p>
                      <a:pPr algn="r"/>
                      <a:r>
                        <a:rPr sz="1100" b="0">
                          <a:solidFill>
                            <a:srgbClr val="14324A"/>
                          </a:solidFill>
                          <a:latin typeface="Courier New"/>
                        </a:rPr>
                        <a:t>27467</a:t>
                      </a:r>
                    </a:p>
                  </a:txBody>
                  <a:tcPr marL="54864" marR="54864" marT="27432" marB="27432">
                    <a:solidFill>
                      <a:srgbClr val="FFFFFF"/>
                    </a:solidFill>
                  </a:tcPr>
                </a:tc>
                <a:tc>
                  <a:txBody>
                    <a:bodyPr wrap="square"/>
                    <a:lstStyle/>
                    <a:p>
                      <a:pPr algn="r"/>
                      <a:r>
                        <a:rPr sz="1100" b="0">
                          <a:solidFill>
                            <a:srgbClr val="14324A"/>
                          </a:solidFill>
                          <a:latin typeface="Courier New"/>
                        </a:rPr>
                        <a:t>221</a:t>
                      </a:r>
                    </a:p>
                  </a:txBody>
                  <a:tcPr marL="54864" marR="54864" marT="27432" marB="27432">
                    <a:solidFill>
                      <a:srgbClr val="FFFFFF"/>
                    </a:solidFill>
                  </a:tcPr>
                </a:tc>
                <a:tc>
                  <a:txBody>
                    <a:bodyPr wrap="square"/>
                    <a:lstStyle/>
                    <a:p>
                      <a:pPr algn="r"/>
                      <a:r>
                        <a:rPr sz="1100" b="0">
                          <a:solidFill>
                            <a:srgbClr val="14324A"/>
                          </a:solidFill>
                          <a:latin typeface="Courier New"/>
                        </a:rPr>
                        <a:t>127.53</a:t>
                      </a:r>
                    </a:p>
                  </a:txBody>
                  <a:tcPr marL="54864" marR="54864" marT="27432" marB="27432">
                    <a:solidFill>
                      <a:srgbClr val="FFFFFF"/>
                    </a:solidFill>
                  </a:tcPr>
                </a:tc>
                <a:tc>
                  <a:txBody>
                    <a:bodyPr wrap="square"/>
                    <a:lstStyle/>
                    <a:p>
                      <a:pPr algn="r"/>
                      <a:r>
                        <a:rPr sz="1100" b="0">
                          <a:solidFill>
                            <a:srgbClr val="14324A"/>
                          </a:solidFill>
                          <a:latin typeface="Courier New"/>
                        </a:rPr>
                        <a:t>17.98</a:t>
                      </a:r>
                    </a:p>
                  </a:txBody>
                  <a:tcPr marL="54864" marR="54864" marT="27432" marB="27432">
                    <a:solidFill>
                      <a:srgbClr val="FFFFFF"/>
                    </a:solidFill>
                  </a:tcPr>
                </a:tc>
                <a:tc>
                  <a:txBody>
                    <a:bodyPr wrap="square"/>
                    <a:lstStyle/>
                    <a:p>
                      <a:pPr algn="r"/>
                      <a:r>
                        <a:rPr sz="1100" b="0">
                          <a:solidFill>
                            <a:srgbClr val="14324A"/>
                          </a:solidFill>
                          <a:latin typeface="Courier New"/>
                        </a:rPr>
                        <a:t>14128382</a:t>
                      </a:r>
                    </a:p>
                  </a:txBody>
                  <a:tcPr marL="54864" marR="54864" marT="27432" marB="27432">
                    <a:solidFill>
                      <a:srgbClr val="FFFFFF"/>
                    </a:solidFill>
                  </a:tcPr>
                </a:tc>
              </a:tr>
              <a:tr h="301752">
                <a:tc>
                  <a:txBody>
                    <a:bodyPr wrap="square"/>
                    <a:lstStyle/>
                    <a:p>
                      <a:pPr algn="l"/>
                      <a:r>
                        <a:rPr sz="1100" b="0">
                          <a:solidFill>
                            <a:srgbClr val="14324A"/>
                          </a:solidFill>
                          <a:latin typeface="Calibri"/>
                        </a:rPr>
                        <a:t>Radio Citizen</a:t>
                      </a:r>
                    </a:p>
                  </a:txBody>
                  <a:tcPr marL="54864" marR="54864" marT="27432" marB="27432">
                    <a:solidFill>
                      <a:srgbClr val="FFFFFF"/>
                    </a:solidFill>
                  </a:tcPr>
                </a:tc>
                <a:tc>
                  <a:txBody>
                    <a:bodyPr wrap="square"/>
                    <a:lstStyle/>
                    <a:p>
                      <a:pPr algn="l"/>
                      <a:r>
                        <a:rPr sz="1100" b="0">
                          <a:solidFill>
                            <a:srgbClr val="14324A"/>
                          </a:solidFill>
                          <a:latin typeface="Calibri"/>
                        </a:rPr>
                        <a:t>Kiswahili</a:t>
                      </a:r>
                    </a:p>
                  </a:txBody>
                  <a:tcPr marL="54864" marR="54864" marT="27432" marB="27432">
                    <a:solidFill>
                      <a:srgbClr val="FFFFFF"/>
                    </a:solidFill>
                  </a:tcPr>
                </a:tc>
                <a:tc>
                  <a:txBody>
                    <a:bodyPr wrap="square"/>
                    <a:lstStyle/>
                    <a:p>
                      <a:pPr algn="r"/>
                      <a:r>
                        <a:rPr sz="1100" b="0">
                          <a:solidFill>
                            <a:srgbClr val="14324A"/>
                          </a:solidFill>
                          <a:latin typeface="Courier New"/>
                        </a:rPr>
                        <a:t>27240</a:t>
                      </a:r>
                    </a:p>
                  </a:txBody>
                  <a:tcPr marL="54864" marR="54864" marT="27432" marB="27432">
                    <a:solidFill>
                      <a:srgbClr val="FFFFFF"/>
                    </a:solidFill>
                  </a:tcPr>
                </a:tc>
                <a:tc>
                  <a:txBody>
                    <a:bodyPr wrap="square"/>
                    <a:lstStyle/>
                    <a:p>
                      <a:pPr algn="r"/>
                      <a:r>
                        <a:rPr sz="1100" b="0">
                          <a:solidFill>
                            <a:srgbClr val="14324A"/>
                          </a:solidFill>
                          <a:latin typeface="Courier New"/>
                        </a:rPr>
                        <a:t>219</a:t>
                      </a:r>
                    </a:p>
                  </a:txBody>
                  <a:tcPr marL="54864" marR="54864" marT="27432" marB="27432">
                    <a:solidFill>
                      <a:srgbClr val="FFFFFF"/>
                    </a:solidFill>
                  </a:tcPr>
                </a:tc>
                <a:tc>
                  <a:txBody>
                    <a:bodyPr wrap="square"/>
                    <a:lstStyle/>
                    <a:p>
                      <a:pPr algn="r"/>
                      <a:r>
                        <a:rPr sz="1100" b="0">
                          <a:solidFill>
                            <a:srgbClr val="14324A"/>
                          </a:solidFill>
                          <a:latin typeface="Courier New"/>
                        </a:rPr>
                        <a:t>126.98</a:t>
                      </a:r>
                    </a:p>
                  </a:txBody>
                  <a:tcPr marL="54864" marR="54864" marT="27432" marB="27432">
                    <a:solidFill>
                      <a:srgbClr val="FFFFFF"/>
                    </a:solidFill>
                  </a:tcPr>
                </a:tc>
                <a:tc>
                  <a:txBody>
                    <a:bodyPr wrap="square"/>
                    <a:lstStyle/>
                    <a:p>
                      <a:pPr algn="r"/>
                      <a:r>
                        <a:rPr sz="1100" b="0">
                          <a:solidFill>
                            <a:srgbClr val="14324A"/>
                          </a:solidFill>
                          <a:latin typeface="Courier New"/>
                        </a:rPr>
                        <a:t>18.18</a:t>
                      </a:r>
                    </a:p>
                  </a:txBody>
                  <a:tcPr marL="54864" marR="54864" marT="27432" marB="27432">
                    <a:solidFill>
                      <a:srgbClr val="FFFFFF"/>
                    </a:solidFill>
                  </a:tcPr>
                </a:tc>
                <a:tc>
                  <a:txBody>
                    <a:bodyPr wrap="square"/>
                    <a:lstStyle/>
                    <a:p>
                      <a:pPr algn="r"/>
                      <a:r>
                        <a:rPr sz="1100" b="0">
                          <a:solidFill>
                            <a:srgbClr val="14324A"/>
                          </a:solidFill>
                          <a:latin typeface="Courier New"/>
                        </a:rPr>
                        <a:t>22231911</a:t>
                      </a:r>
                    </a:p>
                  </a:txBody>
                  <a:tcPr marL="54864" marR="54864" marT="27432" marB="27432">
                    <a:solidFill>
                      <a:srgbClr val="FFFFFF"/>
                    </a:solidFill>
                  </a:tcPr>
                </a:tc>
              </a:tr>
              <a:tr h="301752">
                <a:tc>
                  <a:txBody>
                    <a:bodyPr wrap="square"/>
                    <a:lstStyle/>
                    <a:p>
                      <a:pPr algn="l"/>
                      <a:r>
                        <a:rPr sz="1100" b="0">
                          <a:solidFill>
                            <a:srgbClr val="14324A"/>
                          </a:solidFill>
                          <a:latin typeface="Calibri"/>
                        </a:rPr>
                        <a:t>Chamgei</a:t>
                      </a:r>
                    </a:p>
                  </a:txBody>
                  <a:tcPr marL="54864" marR="54864" marT="27432" marB="27432">
                    <a:solidFill>
                      <a:srgbClr val="FFFFFF"/>
                    </a:solidFill>
                  </a:tcPr>
                </a:tc>
                <a:tc>
                  <a:txBody>
                    <a:bodyPr wrap="square"/>
                    <a:lstStyle/>
                    <a:p>
                      <a:pPr algn="l"/>
                      <a:r>
                        <a:rPr sz="1100" b="0">
                          <a:solidFill>
                            <a:srgbClr val="14324A"/>
                          </a:solidFill>
                          <a:latin typeface="Calibri"/>
                        </a:rPr>
                        <a:t>Kalenjin</a:t>
                      </a:r>
                    </a:p>
                  </a:txBody>
                  <a:tcPr marL="54864" marR="54864" marT="27432" marB="27432">
                    <a:solidFill>
                      <a:srgbClr val="FFFFFF"/>
                    </a:solidFill>
                  </a:tcPr>
                </a:tc>
                <a:tc>
                  <a:txBody>
                    <a:bodyPr wrap="square"/>
                    <a:lstStyle/>
                    <a:p>
                      <a:pPr algn="r"/>
                      <a:r>
                        <a:rPr sz="1100" b="0">
                          <a:solidFill>
                            <a:srgbClr val="14324A"/>
                          </a:solidFill>
                          <a:latin typeface="Courier New"/>
                        </a:rPr>
                        <a:t>26787</a:t>
                      </a:r>
                    </a:p>
                  </a:txBody>
                  <a:tcPr marL="54864" marR="54864" marT="27432" marB="27432">
                    <a:solidFill>
                      <a:srgbClr val="FFFFFF"/>
                    </a:solidFill>
                  </a:tcPr>
                </a:tc>
                <a:tc>
                  <a:txBody>
                    <a:bodyPr wrap="square"/>
                    <a:lstStyle/>
                    <a:p>
                      <a:pPr algn="r"/>
                      <a:r>
                        <a:rPr sz="1100" b="0">
                          <a:solidFill>
                            <a:srgbClr val="14324A"/>
                          </a:solidFill>
                          <a:latin typeface="Courier New"/>
                        </a:rPr>
                        <a:t>224</a:t>
                      </a:r>
                    </a:p>
                  </a:txBody>
                  <a:tcPr marL="54864" marR="54864" marT="27432" marB="27432">
                    <a:solidFill>
                      <a:srgbClr val="FFFFFF"/>
                    </a:solidFill>
                  </a:tcPr>
                </a:tc>
                <a:tc>
                  <a:txBody>
                    <a:bodyPr wrap="square"/>
                    <a:lstStyle/>
                    <a:p>
                      <a:pPr algn="r"/>
                      <a:r>
                        <a:rPr sz="1100" b="0">
                          <a:solidFill>
                            <a:srgbClr val="14324A"/>
                          </a:solidFill>
                          <a:latin typeface="Courier New"/>
                        </a:rPr>
                        <a:t>130.68</a:t>
                      </a:r>
                    </a:p>
                  </a:txBody>
                  <a:tcPr marL="54864" marR="54864" marT="27432" marB="27432">
                    <a:solidFill>
                      <a:srgbClr val="FFFFFF"/>
                    </a:solidFill>
                  </a:tcPr>
                </a:tc>
                <a:tc>
                  <a:txBody>
                    <a:bodyPr wrap="square"/>
                    <a:lstStyle/>
                    <a:p>
                      <a:pPr algn="r"/>
                      <a:r>
                        <a:rPr sz="1100" b="0">
                          <a:solidFill>
                            <a:srgbClr val="14324A"/>
                          </a:solidFill>
                          <a:latin typeface="Courier New"/>
                        </a:rPr>
                        <a:t>18.75</a:t>
                      </a:r>
                    </a:p>
                  </a:txBody>
                  <a:tcPr marL="54864" marR="54864" marT="27432" marB="27432">
                    <a:solidFill>
                      <a:srgbClr val="FFFFFF"/>
                    </a:solidFill>
                  </a:tcPr>
                </a:tc>
                <a:tc>
                  <a:txBody>
                    <a:bodyPr wrap="square"/>
                    <a:lstStyle/>
                    <a:p>
                      <a:pPr algn="r"/>
                      <a:r>
                        <a:rPr sz="1100" b="0">
                          <a:solidFill>
                            <a:srgbClr val="14324A"/>
                          </a:solidFill>
                          <a:latin typeface="Courier New"/>
                        </a:rPr>
                        <a:t>20538503</a:t>
                      </a:r>
                    </a:p>
                  </a:txBody>
                  <a:tcPr marL="54864" marR="54864" marT="27432" marB="27432">
                    <a:solidFill>
                      <a:srgbClr val="FFFFFF"/>
                    </a:solidFill>
                  </a:tcPr>
                </a:tc>
              </a:tr>
              <a:tr h="301752">
                <a:tc>
                  <a:txBody>
                    <a:bodyPr wrap="square"/>
                    <a:lstStyle/>
                    <a:p>
                      <a:pPr algn="l"/>
                      <a:r>
                        <a:rPr sz="1100" b="0">
                          <a:solidFill>
                            <a:srgbClr val="14324A"/>
                          </a:solidFill>
                          <a:latin typeface="Calibri"/>
                        </a:rPr>
                        <a:t>Mulembe FM</a:t>
                      </a:r>
                    </a:p>
                  </a:txBody>
                  <a:tcPr marL="54864" marR="54864" marT="27432" marB="27432">
                    <a:solidFill>
                      <a:srgbClr val="FFFFFF"/>
                    </a:solidFill>
                  </a:tcPr>
                </a:tc>
                <a:tc>
                  <a:txBody>
                    <a:bodyPr wrap="square"/>
                    <a:lstStyle/>
                    <a:p>
                      <a:pPr algn="l"/>
                      <a:r>
                        <a:rPr sz="1100" b="0">
                          <a:solidFill>
                            <a:srgbClr val="14324A"/>
                          </a:solidFill>
                          <a:latin typeface="Calibri"/>
                        </a:rPr>
                        <a:t>Luhya</a:t>
                      </a:r>
                    </a:p>
                  </a:txBody>
                  <a:tcPr marL="54864" marR="54864" marT="27432" marB="27432">
                    <a:solidFill>
                      <a:srgbClr val="FFFFFF"/>
                    </a:solidFill>
                  </a:tcPr>
                </a:tc>
                <a:tc>
                  <a:txBody>
                    <a:bodyPr wrap="square"/>
                    <a:lstStyle/>
                    <a:p>
                      <a:pPr algn="r"/>
                      <a:r>
                        <a:rPr sz="1100" b="0">
                          <a:solidFill>
                            <a:srgbClr val="14324A"/>
                          </a:solidFill>
                          <a:latin typeface="Courier New"/>
                        </a:rPr>
                        <a:t>22191</a:t>
                      </a:r>
                    </a:p>
                  </a:txBody>
                  <a:tcPr marL="54864" marR="54864" marT="27432" marB="27432">
                    <a:solidFill>
                      <a:srgbClr val="FFFFFF"/>
                    </a:solidFill>
                  </a:tcPr>
                </a:tc>
                <a:tc>
                  <a:txBody>
                    <a:bodyPr wrap="square"/>
                    <a:lstStyle/>
                    <a:p>
                      <a:pPr algn="r"/>
                      <a:r>
                        <a:rPr sz="1100" b="0">
                          <a:solidFill>
                            <a:srgbClr val="14324A"/>
                          </a:solidFill>
                          <a:latin typeface="Courier New"/>
                        </a:rPr>
                        <a:t>225</a:t>
                      </a:r>
                    </a:p>
                  </a:txBody>
                  <a:tcPr marL="54864" marR="54864" marT="27432" marB="27432">
                    <a:solidFill>
                      <a:srgbClr val="FFFFFF"/>
                    </a:solidFill>
                  </a:tcPr>
                </a:tc>
                <a:tc>
                  <a:txBody>
                    <a:bodyPr wrap="square"/>
                    <a:lstStyle/>
                    <a:p>
                      <a:pPr algn="r"/>
                      <a:r>
                        <a:rPr sz="1100" b="0">
                          <a:solidFill>
                            <a:srgbClr val="14324A"/>
                          </a:solidFill>
                          <a:latin typeface="Courier New"/>
                        </a:rPr>
                        <a:t>102.58</a:t>
                      </a:r>
                    </a:p>
                  </a:txBody>
                  <a:tcPr marL="54864" marR="54864" marT="27432" marB="27432">
                    <a:solidFill>
                      <a:srgbClr val="FFFFFF"/>
                    </a:solidFill>
                  </a:tcPr>
                </a:tc>
                <a:tc>
                  <a:txBody>
                    <a:bodyPr wrap="square"/>
                    <a:lstStyle/>
                    <a:p>
                      <a:pPr algn="r"/>
                      <a:r>
                        <a:rPr sz="1100" b="0">
                          <a:solidFill>
                            <a:srgbClr val="14324A"/>
                          </a:solidFill>
                          <a:latin typeface="Courier New"/>
                        </a:rPr>
                        <a:t>15.0</a:t>
                      </a:r>
                    </a:p>
                  </a:txBody>
                  <a:tcPr marL="54864" marR="54864" marT="27432" marB="27432">
                    <a:solidFill>
                      <a:srgbClr val="FFFFFF"/>
                    </a:solidFill>
                  </a:tcPr>
                </a:tc>
                <a:tc>
                  <a:txBody>
                    <a:bodyPr wrap="square"/>
                    <a:lstStyle/>
                    <a:p>
                      <a:pPr algn="r"/>
                      <a:r>
                        <a:rPr sz="1100" b="0">
                          <a:solidFill>
                            <a:srgbClr val="14324A"/>
                          </a:solidFill>
                          <a:latin typeface="Courier New"/>
                        </a:rPr>
                        <a:t>15496412</a:t>
                      </a:r>
                    </a:p>
                  </a:txBody>
                  <a:tcPr marL="54864" marR="54864" marT="27432" marB="27432">
                    <a:solidFill>
                      <a:srgbClr val="FFFFFF"/>
                    </a:solidFill>
                  </a:tcPr>
                </a:tc>
              </a:tr>
              <a:tr h="301752">
                <a:tc>
                  <a:txBody>
                    <a:bodyPr wrap="square"/>
                    <a:lstStyle/>
                    <a:p>
                      <a:pPr algn="l"/>
                      <a:r>
                        <a:rPr sz="1100" b="0">
                          <a:solidFill>
                            <a:srgbClr val="14324A"/>
                          </a:solidFill>
                          <a:latin typeface="Calibri"/>
                        </a:rPr>
                        <a:t>Wimwaro FM</a:t>
                      </a:r>
                    </a:p>
                  </a:txBody>
                  <a:tcPr marL="54864" marR="54864" marT="27432" marB="27432">
                    <a:solidFill>
                      <a:srgbClr val="FFFFFF"/>
                    </a:solidFill>
                  </a:tcPr>
                </a:tc>
                <a:tc>
                  <a:txBody>
                    <a:bodyPr wrap="square"/>
                    <a:lstStyle/>
                    <a:p>
                      <a:pPr algn="l"/>
                      <a:r>
                        <a:rPr sz="1100" b="0">
                          <a:solidFill>
                            <a:srgbClr val="14324A"/>
                          </a:solidFill>
                          <a:latin typeface="Calibri"/>
                        </a:rPr>
                        <a:t>Embu</a:t>
                      </a:r>
                    </a:p>
                  </a:txBody>
                  <a:tcPr marL="54864" marR="54864" marT="27432" marB="27432">
                    <a:solidFill>
                      <a:srgbClr val="FFFFFF"/>
                    </a:solidFill>
                  </a:tcPr>
                </a:tc>
                <a:tc>
                  <a:txBody>
                    <a:bodyPr wrap="square"/>
                    <a:lstStyle/>
                    <a:p>
                      <a:pPr algn="r"/>
                      <a:r>
                        <a:rPr sz="1100" b="0">
                          <a:solidFill>
                            <a:srgbClr val="14324A"/>
                          </a:solidFill>
                          <a:latin typeface="Courier New"/>
                        </a:rPr>
                        <a:t>19664</a:t>
                      </a:r>
                    </a:p>
                  </a:txBody>
                  <a:tcPr marL="54864" marR="54864" marT="27432" marB="27432">
                    <a:solidFill>
                      <a:srgbClr val="FFFFFF"/>
                    </a:solidFill>
                  </a:tcPr>
                </a:tc>
                <a:tc>
                  <a:txBody>
                    <a:bodyPr wrap="square"/>
                    <a:lstStyle/>
                    <a:p>
                      <a:pPr algn="r"/>
                      <a:r>
                        <a:rPr sz="1100" b="0">
                          <a:solidFill>
                            <a:srgbClr val="14324A"/>
                          </a:solidFill>
                          <a:latin typeface="Courier New"/>
                        </a:rPr>
                        <a:t>223</a:t>
                      </a:r>
                    </a:p>
                  </a:txBody>
                  <a:tcPr marL="54864" marR="54864" marT="27432" marB="27432">
                    <a:solidFill>
                      <a:srgbClr val="FFFFFF"/>
                    </a:solidFill>
                  </a:tcPr>
                </a:tc>
                <a:tc>
                  <a:txBody>
                    <a:bodyPr wrap="square"/>
                    <a:lstStyle/>
                    <a:p>
                      <a:pPr algn="r"/>
                      <a:r>
                        <a:rPr sz="1100" b="0">
                          <a:solidFill>
                            <a:srgbClr val="14324A"/>
                          </a:solidFill>
                          <a:latin typeface="Courier New"/>
                        </a:rPr>
                        <a:t>90.1</a:t>
                      </a:r>
                    </a:p>
                  </a:txBody>
                  <a:tcPr marL="54864" marR="54864" marT="27432" marB="27432">
                    <a:solidFill>
                      <a:srgbClr val="FFFFFF"/>
                    </a:solidFill>
                  </a:tcPr>
                </a:tc>
                <a:tc>
                  <a:txBody>
                    <a:bodyPr wrap="square"/>
                    <a:lstStyle/>
                    <a:p>
                      <a:pPr algn="r"/>
                      <a:r>
                        <a:rPr sz="1100" b="0">
                          <a:solidFill>
                            <a:srgbClr val="14324A"/>
                          </a:solidFill>
                          <a:latin typeface="Courier New"/>
                        </a:rPr>
                        <a:t>15.76</a:t>
                      </a:r>
                    </a:p>
                  </a:txBody>
                  <a:tcPr marL="54864" marR="54864" marT="27432" marB="27432">
                    <a:solidFill>
                      <a:srgbClr val="FFFFFF"/>
                    </a:solidFill>
                  </a:tcPr>
                </a:tc>
                <a:tc>
                  <a:txBody>
                    <a:bodyPr wrap="square"/>
                    <a:lstStyle/>
                    <a:p>
                      <a:pPr algn="r"/>
                      <a:r>
                        <a:rPr sz="1100" b="0">
                          <a:solidFill>
                            <a:srgbClr val="14324A"/>
                          </a:solidFill>
                          <a:latin typeface="Courier New"/>
                        </a:rPr>
                        <a:t>12408784</a:t>
                      </a:r>
                    </a:p>
                  </a:txBody>
                  <a:tcPr marL="54864" marR="54864" marT="27432" marB="27432">
                    <a:solidFill>
                      <a:srgbClr val="FFFFFF"/>
                    </a:solidFill>
                  </a:tcPr>
                </a:tc>
              </a:tr>
              <a:tr h="301752">
                <a:tc>
                  <a:txBody>
                    <a:bodyPr wrap="square"/>
                    <a:lstStyle/>
                    <a:p>
                      <a:pPr algn="l"/>
                      <a:r>
                        <a:rPr sz="1100" b="0">
                          <a:solidFill>
                            <a:srgbClr val="14324A"/>
                          </a:solidFill>
                          <a:latin typeface="Calibri"/>
                        </a:rPr>
                        <a:t>Hot 96</a:t>
                      </a:r>
                    </a:p>
                  </a:txBody>
                  <a:tcPr marL="54864" marR="54864" marT="27432" marB="27432">
                    <a:solidFill>
                      <a:srgbClr val="FFFFFF"/>
                    </a:solidFill>
                  </a:tcPr>
                </a:tc>
                <a:tc>
                  <a:txBody>
                    <a:bodyPr wrap="square"/>
                    <a:lstStyle/>
                    <a:p>
                      <a:pPr algn="l"/>
                      <a:r>
                        <a:rPr sz="1100" b="0">
                          <a:solidFill>
                            <a:srgbClr val="14324A"/>
                          </a:solidFill>
                          <a:latin typeface="Calibri"/>
                        </a:rPr>
                        <a:t>English</a:t>
                      </a:r>
                    </a:p>
                  </a:txBody>
                  <a:tcPr marL="54864" marR="54864" marT="27432" marB="27432">
                    <a:solidFill>
                      <a:srgbClr val="FFFFFF"/>
                    </a:solidFill>
                  </a:tcPr>
                </a:tc>
                <a:tc>
                  <a:txBody>
                    <a:bodyPr wrap="square"/>
                    <a:lstStyle/>
                    <a:p>
                      <a:pPr algn="r"/>
                      <a:r>
                        <a:rPr sz="1100" b="0">
                          <a:solidFill>
                            <a:srgbClr val="14324A"/>
                          </a:solidFill>
                          <a:latin typeface="Courier New"/>
                        </a:rPr>
                        <a:t>18136</a:t>
                      </a:r>
                    </a:p>
                  </a:txBody>
                  <a:tcPr marL="54864" marR="54864" marT="27432" marB="27432">
                    <a:solidFill>
                      <a:srgbClr val="FFFFFF"/>
                    </a:solidFill>
                  </a:tcPr>
                </a:tc>
                <a:tc>
                  <a:txBody>
                    <a:bodyPr wrap="square"/>
                    <a:lstStyle/>
                    <a:p>
                      <a:pPr algn="r"/>
                      <a:r>
                        <a:rPr sz="1100" b="0">
                          <a:solidFill>
                            <a:srgbClr val="14324A"/>
                          </a:solidFill>
                          <a:latin typeface="Courier New"/>
                        </a:rPr>
                        <a:t>225</a:t>
                      </a:r>
                    </a:p>
                  </a:txBody>
                  <a:tcPr marL="54864" marR="54864" marT="27432" marB="27432">
                    <a:solidFill>
                      <a:srgbClr val="FFFFFF"/>
                    </a:solidFill>
                  </a:tcPr>
                </a:tc>
                <a:tc>
                  <a:txBody>
                    <a:bodyPr wrap="square"/>
                    <a:lstStyle/>
                    <a:p>
                      <a:pPr algn="r"/>
                      <a:r>
                        <a:rPr sz="1100" b="0">
                          <a:solidFill>
                            <a:srgbClr val="14324A"/>
                          </a:solidFill>
                          <a:latin typeface="Courier New"/>
                        </a:rPr>
                        <a:t>83.18</a:t>
                      </a:r>
                    </a:p>
                  </a:txBody>
                  <a:tcPr marL="54864" marR="54864" marT="27432" marB="27432">
                    <a:solidFill>
                      <a:srgbClr val="FFFFFF"/>
                    </a:solidFill>
                  </a:tcPr>
                </a:tc>
                <a:tc>
                  <a:txBody>
                    <a:bodyPr wrap="square"/>
                    <a:lstStyle/>
                    <a:p>
                      <a:pPr algn="r"/>
                      <a:r>
                        <a:rPr sz="1100" b="0">
                          <a:solidFill>
                            <a:srgbClr val="14324A"/>
                          </a:solidFill>
                          <a:latin typeface="Courier New"/>
                        </a:rPr>
                        <a:t>15.08</a:t>
                      </a:r>
                    </a:p>
                  </a:txBody>
                  <a:tcPr marL="54864" marR="54864" marT="27432" marB="27432">
                    <a:solidFill>
                      <a:srgbClr val="FFFFFF"/>
                    </a:solidFill>
                  </a:tcPr>
                </a:tc>
                <a:tc>
                  <a:txBody>
                    <a:bodyPr wrap="square"/>
                    <a:lstStyle/>
                    <a:p>
                      <a:pPr algn="r"/>
                      <a:r>
                        <a:rPr sz="1100" b="0">
                          <a:solidFill>
                            <a:srgbClr val="14324A"/>
                          </a:solidFill>
                          <a:latin typeface="Courier New"/>
                        </a:rPr>
                        <a:t>12470183</a:t>
                      </a:r>
                    </a:p>
                  </a:txBody>
                  <a:tcPr marL="54864" marR="54864" marT="27432" marB="27432">
                    <a:solidFill>
                      <a:srgbClr val="FFFFFF"/>
                    </a:solidFill>
                  </a:tcPr>
                </a:tc>
              </a:tr>
              <a:tr h="301752">
                <a:tc>
                  <a:txBody>
                    <a:bodyPr wrap="square"/>
                    <a:lstStyle/>
                    <a:p>
                      <a:pPr algn="l"/>
                      <a:r>
                        <a:rPr sz="1100" b="0">
                          <a:solidFill>
                            <a:srgbClr val="14324A"/>
                          </a:solidFill>
                          <a:latin typeface="Calibri"/>
                        </a:rPr>
                        <a:t>Egesa</a:t>
                      </a:r>
                    </a:p>
                  </a:txBody>
                  <a:tcPr marL="54864" marR="54864" marT="27432" marB="27432">
                    <a:solidFill>
                      <a:srgbClr val="FFFFFF"/>
                    </a:solidFill>
                  </a:tcPr>
                </a:tc>
                <a:tc>
                  <a:txBody>
                    <a:bodyPr wrap="square"/>
                    <a:lstStyle/>
                    <a:p>
                      <a:pPr algn="l"/>
                      <a:r>
                        <a:rPr sz="1100" b="0">
                          <a:solidFill>
                            <a:srgbClr val="14324A"/>
                          </a:solidFill>
                          <a:latin typeface="Calibri"/>
                        </a:rPr>
                        <a:t>Kisii</a:t>
                      </a:r>
                    </a:p>
                  </a:txBody>
                  <a:tcPr marL="54864" marR="54864" marT="27432" marB="27432">
                    <a:solidFill>
                      <a:srgbClr val="FFFFFF"/>
                    </a:solidFill>
                  </a:tcPr>
                </a:tc>
                <a:tc>
                  <a:txBody>
                    <a:bodyPr wrap="square"/>
                    <a:lstStyle/>
                    <a:p>
                      <a:pPr algn="r"/>
                      <a:r>
                        <a:rPr sz="1100" b="0">
                          <a:solidFill>
                            <a:srgbClr val="14324A"/>
                          </a:solidFill>
                          <a:latin typeface="Courier New"/>
                        </a:rPr>
                        <a:t>17606</a:t>
                      </a:r>
                    </a:p>
                  </a:txBody>
                  <a:tcPr marL="54864" marR="54864" marT="27432" marB="27432">
                    <a:solidFill>
                      <a:srgbClr val="FFFFFF"/>
                    </a:solidFill>
                  </a:tcPr>
                </a:tc>
                <a:tc>
                  <a:txBody>
                    <a:bodyPr wrap="square"/>
                    <a:lstStyle/>
                    <a:p>
                      <a:pPr algn="r"/>
                      <a:r>
                        <a:rPr sz="1100" b="0">
                          <a:solidFill>
                            <a:srgbClr val="14324A"/>
                          </a:solidFill>
                          <a:latin typeface="Courier New"/>
                        </a:rPr>
                        <a:t>219</a:t>
                      </a:r>
                    </a:p>
                  </a:txBody>
                  <a:tcPr marL="54864" marR="54864" marT="27432" marB="27432">
                    <a:solidFill>
                      <a:srgbClr val="FFFFFF"/>
                    </a:solidFill>
                  </a:tcPr>
                </a:tc>
                <a:tc>
                  <a:txBody>
                    <a:bodyPr wrap="square"/>
                    <a:lstStyle/>
                    <a:p>
                      <a:pPr algn="r"/>
                      <a:r>
                        <a:rPr sz="1100" b="0">
                          <a:solidFill>
                            <a:srgbClr val="14324A"/>
                          </a:solidFill>
                          <a:latin typeface="Courier New"/>
                        </a:rPr>
                        <a:t>84.36</a:t>
                      </a:r>
                    </a:p>
                  </a:txBody>
                  <a:tcPr marL="54864" marR="54864" marT="27432" marB="27432">
                    <a:solidFill>
                      <a:srgbClr val="FFFFFF"/>
                    </a:solidFill>
                  </a:tcPr>
                </a:tc>
                <a:tc>
                  <a:txBody>
                    <a:bodyPr wrap="square"/>
                    <a:lstStyle/>
                    <a:p>
                      <a:pPr algn="r"/>
                      <a:r>
                        <a:rPr sz="1100" b="0">
                          <a:solidFill>
                            <a:srgbClr val="14324A"/>
                          </a:solidFill>
                          <a:latin typeface="Courier New"/>
                        </a:rPr>
                        <a:t>11.3</a:t>
                      </a:r>
                    </a:p>
                  </a:txBody>
                  <a:tcPr marL="54864" marR="54864" marT="27432" marB="27432">
                    <a:solidFill>
                      <a:srgbClr val="FFFFFF"/>
                    </a:solidFill>
                  </a:tcPr>
                </a:tc>
                <a:tc>
                  <a:txBody>
                    <a:bodyPr wrap="square"/>
                    <a:lstStyle/>
                    <a:p>
                      <a:pPr algn="r"/>
                      <a:r>
                        <a:rPr sz="1100" b="0">
                          <a:solidFill>
                            <a:srgbClr val="14324A"/>
                          </a:solidFill>
                          <a:latin typeface="Courier New"/>
                        </a:rPr>
                        <a:t>14458656</a:t>
                      </a:r>
                    </a:p>
                  </a:txBody>
                  <a:tcPr marL="54864" marR="54864" marT="27432" marB="27432">
                    <a:solidFill>
                      <a:srgbClr val="FFFFFF"/>
                    </a:solidFill>
                  </a:tcPr>
                </a:tc>
              </a:tr>
              <a:tr h="301752">
                <a:tc>
                  <a:txBody>
                    <a:bodyPr wrap="square"/>
                    <a:lstStyle/>
                    <a:p>
                      <a:pPr algn="l"/>
                      <a:r>
                        <a:rPr sz="1100" b="0">
                          <a:solidFill>
                            <a:srgbClr val="14324A"/>
                          </a:solidFill>
                          <a:latin typeface="Calibri"/>
                        </a:rPr>
                        <a:t>Musyi FM</a:t>
                      </a:r>
                    </a:p>
                  </a:txBody>
                  <a:tcPr marL="54864" marR="54864" marT="27432" marB="27432">
                    <a:solidFill>
                      <a:srgbClr val="FFFFFF"/>
                    </a:solidFill>
                  </a:tcPr>
                </a:tc>
                <a:tc>
                  <a:txBody>
                    <a:bodyPr wrap="square"/>
                    <a:lstStyle/>
                    <a:p>
                      <a:pPr algn="l"/>
                      <a:r>
                        <a:rPr sz="1100" b="0">
                          <a:solidFill>
                            <a:srgbClr val="14324A"/>
                          </a:solidFill>
                          <a:latin typeface="Calibri"/>
                        </a:rPr>
                        <a:t>Akamba</a:t>
                      </a:r>
                    </a:p>
                  </a:txBody>
                  <a:tcPr marL="54864" marR="54864" marT="27432" marB="27432">
                    <a:solidFill>
                      <a:srgbClr val="FFFFFF"/>
                    </a:solidFill>
                  </a:tcPr>
                </a:tc>
                <a:tc>
                  <a:txBody>
                    <a:bodyPr wrap="square"/>
                    <a:lstStyle/>
                    <a:p>
                      <a:pPr algn="r"/>
                      <a:r>
                        <a:rPr sz="1100" b="0">
                          <a:solidFill>
                            <a:srgbClr val="14324A"/>
                          </a:solidFill>
                          <a:latin typeface="Courier New"/>
                        </a:rPr>
                        <a:t>17581</a:t>
                      </a:r>
                    </a:p>
                  </a:txBody>
                  <a:tcPr marL="54864" marR="54864" marT="27432" marB="27432">
                    <a:solidFill>
                      <a:srgbClr val="FFFFFF"/>
                    </a:solidFill>
                  </a:tcPr>
                </a:tc>
                <a:tc>
                  <a:txBody>
                    <a:bodyPr wrap="square"/>
                    <a:lstStyle/>
                    <a:p>
                      <a:pPr algn="r"/>
                      <a:r>
                        <a:rPr sz="1100" b="0">
                          <a:solidFill>
                            <a:srgbClr val="14324A"/>
                          </a:solidFill>
                          <a:latin typeface="Courier New"/>
                        </a:rPr>
                        <a:t>199</a:t>
                      </a:r>
                    </a:p>
                  </a:txBody>
                  <a:tcPr marL="54864" marR="54864" marT="27432" marB="27432">
                    <a:solidFill>
                      <a:srgbClr val="FFFFFF"/>
                    </a:solidFill>
                  </a:tcPr>
                </a:tc>
                <a:tc>
                  <a:txBody>
                    <a:bodyPr wrap="square"/>
                    <a:lstStyle/>
                    <a:p>
                      <a:pPr algn="r"/>
                      <a:r>
                        <a:rPr sz="1100" b="0">
                          <a:solidFill>
                            <a:srgbClr val="14324A"/>
                          </a:solidFill>
                          <a:latin typeface="Courier New"/>
                        </a:rPr>
                        <a:t>91.48</a:t>
                      </a:r>
                    </a:p>
                  </a:txBody>
                  <a:tcPr marL="54864" marR="54864" marT="27432" marB="27432">
                    <a:solidFill>
                      <a:srgbClr val="FFFFFF"/>
                    </a:solidFill>
                  </a:tcPr>
                </a:tc>
                <a:tc>
                  <a:txBody>
                    <a:bodyPr wrap="square"/>
                    <a:lstStyle/>
                    <a:p>
                      <a:pPr algn="r"/>
                      <a:r>
                        <a:rPr sz="1100" b="0">
                          <a:solidFill>
                            <a:srgbClr val="14324A"/>
                          </a:solidFill>
                          <a:latin typeface="Courier New"/>
                        </a:rPr>
                        <a:t>17.69</a:t>
                      </a:r>
                    </a:p>
                  </a:txBody>
                  <a:tcPr marL="54864" marR="54864" marT="27432" marB="27432">
                    <a:solidFill>
                      <a:srgbClr val="FFFFFF"/>
                    </a:solidFill>
                  </a:tcPr>
                </a:tc>
                <a:tc>
                  <a:txBody>
                    <a:bodyPr wrap="square"/>
                    <a:lstStyle/>
                    <a:p>
                      <a:pPr algn="r"/>
                      <a:r>
                        <a:rPr sz="1100" b="0">
                          <a:solidFill>
                            <a:srgbClr val="14324A"/>
                          </a:solidFill>
                          <a:latin typeface="Courier New"/>
                        </a:rPr>
                        <a:t>16521768</a:t>
                      </a:r>
                    </a:p>
                  </a:txBody>
                  <a:tcPr marL="54864" marR="54864" marT="27432" marB="27432">
                    <a:solidFill>
                      <a:srgbClr val="FFFFFF"/>
                    </a:solidFill>
                  </a:tcPr>
                </a:tc>
              </a:tr>
              <a:tr h="301752">
                <a:tc>
                  <a:txBody>
                    <a:bodyPr wrap="square"/>
                    <a:lstStyle/>
                    <a:p>
                      <a:pPr algn="l"/>
                      <a:r>
                        <a:rPr sz="1100" b="0">
                          <a:solidFill>
                            <a:srgbClr val="14324A"/>
                          </a:solidFill>
                          <a:latin typeface="Calibri"/>
                        </a:rPr>
                        <a:t>Sulwe FM</a:t>
                      </a:r>
                    </a:p>
                  </a:txBody>
                  <a:tcPr marL="54864" marR="54864" marT="27432" marB="27432">
                    <a:solidFill>
                      <a:srgbClr val="FFFFFF"/>
                    </a:solidFill>
                  </a:tcPr>
                </a:tc>
                <a:tc>
                  <a:txBody>
                    <a:bodyPr wrap="square"/>
                    <a:lstStyle/>
                    <a:p>
                      <a:pPr algn="l"/>
                      <a:r>
                        <a:rPr sz="1100" b="0">
                          <a:solidFill>
                            <a:srgbClr val="14324A"/>
                          </a:solidFill>
                          <a:latin typeface="Calibri"/>
                        </a:rPr>
                        <a:t>Bukusu</a:t>
                      </a:r>
                    </a:p>
                  </a:txBody>
                  <a:tcPr marL="54864" marR="54864" marT="27432" marB="27432">
                    <a:solidFill>
                      <a:srgbClr val="FFFFFF"/>
                    </a:solidFill>
                  </a:tcPr>
                </a:tc>
                <a:tc>
                  <a:txBody>
                    <a:bodyPr wrap="square"/>
                    <a:lstStyle/>
                    <a:p>
                      <a:pPr algn="r"/>
                      <a:r>
                        <a:rPr sz="1100" b="0">
                          <a:solidFill>
                            <a:srgbClr val="14324A"/>
                          </a:solidFill>
                          <a:latin typeface="Courier New"/>
                        </a:rPr>
                        <a:t>16749</a:t>
                      </a:r>
                    </a:p>
                  </a:txBody>
                  <a:tcPr marL="54864" marR="54864" marT="27432" marB="27432">
                    <a:solidFill>
                      <a:srgbClr val="FFFFFF"/>
                    </a:solidFill>
                  </a:tcPr>
                </a:tc>
                <a:tc>
                  <a:txBody>
                    <a:bodyPr wrap="square"/>
                    <a:lstStyle/>
                    <a:p>
                      <a:pPr algn="r"/>
                      <a:r>
                        <a:rPr sz="1100" b="0">
                          <a:solidFill>
                            <a:srgbClr val="14324A"/>
                          </a:solidFill>
                          <a:latin typeface="Courier New"/>
                        </a:rPr>
                        <a:t>225</a:t>
                      </a:r>
                    </a:p>
                  </a:txBody>
                  <a:tcPr marL="54864" marR="54864" marT="27432" marB="27432">
                    <a:solidFill>
                      <a:srgbClr val="FFFFFF"/>
                    </a:solidFill>
                  </a:tcPr>
                </a:tc>
                <a:tc>
                  <a:txBody>
                    <a:bodyPr wrap="square"/>
                    <a:lstStyle/>
                    <a:p>
                      <a:pPr algn="r"/>
                      <a:r>
                        <a:rPr sz="1100" b="0">
                          <a:solidFill>
                            <a:srgbClr val="14324A"/>
                          </a:solidFill>
                          <a:latin typeface="Courier New"/>
                        </a:rPr>
                        <a:t>76.6</a:t>
                      </a:r>
                    </a:p>
                  </a:txBody>
                  <a:tcPr marL="54864" marR="54864" marT="27432" marB="27432">
                    <a:solidFill>
                      <a:srgbClr val="FFFFFF"/>
                    </a:solidFill>
                  </a:tcPr>
                </a:tc>
                <a:tc>
                  <a:txBody>
                    <a:bodyPr wrap="square"/>
                    <a:lstStyle/>
                    <a:p>
                      <a:pPr algn="r"/>
                      <a:r>
                        <a:rPr sz="1100" b="0">
                          <a:solidFill>
                            <a:srgbClr val="14324A"/>
                          </a:solidFill>
                          <a:latin typeface="Courier New"/>
                        </a:rPr>
                        <a:t>11.95</a:t>
                      </a:r>
                    </a:p>
                  </a:txBody>
                  <a:tcPr marL="54864" marR="54864" marT="27432" marB="27432">
                    <a:solidFill>
                      <a:srgbClr val="FFFFFF"/>
                    </a:solidFill>
                  </a:tcPr>
                </a:tc>
                <a:tc>
                  <a:txBody>
                    <a:bodyPr wrap="square"/>
                    <a:lstStyle/>
                    <a:p>
                      <a:pPr algn="r"/>
                      <a:r>
                        <a:rPr sz="1100" b="0">
                          <a:solidFill>
                            <a:srgbClr val="14324A"/>
                          </a:solidFill>
                          <a:latin typeface="Courier New"/>
                        </a:rPr>
                        <a:t>14484808</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E8772E"/>
                </a:solidFill>
                <a:latin typeface="Calibri"/>
              </a:rPr>
              <a:t>A scripted day is a calendar date with at least one script for the station; bulletin hours are the distinct hour slots scripted that day. The script texts themselves were not read; the language is the station's broadcast language as recorded in the estate.</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70879A"/>
                </a:solidFill>
                <a:latin typeface="Courier New"/>
              </a:rPr>
              <a:t>[measured]  Receipt R08: Aggregate-only database reading etx-81e10befe6e0: news_vault.stories (script, title, date, hour_id) → news_vault.hours (station_id, time, type_id) → news_vault.stations (name); news_vault.news (2022 bulletins); local.uploaded_files (language_id, audio_length, status) ← local.transcripts (file_id, start_time, end_time, transcript) ; local.folder_languages (Language, code, station)</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70879A"/>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70879A"/>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70879A"/>
                </a:solidFill>
                <a:latin typeface="Courier New"/>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70879A"/>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4324A"/>
                </a:solidFill>
                <a:latin typeface="Cambria"/>
              </a:rPr>
              <a:t>Hourly news scripts by station (news_vault.stories)</a:t>
            </a:r>
          </a:p>
        </p:txBody>
      </p:sp>
      <p:graphicFrame>
        <p:nvGraphicFramePr>
          <p:cNvPr id="4" name="Table 3"/>
          <p:cNvGraphicFramePr>
            <a:graphicFrameLocks noGrp="1"/>
          </p:cNvGraphicFramePr>
          <p:nvPr/>
        </p:nvGraphicFramePr>
        <p:xfrm>
          <a:off x="594360" y="1920240"/>
          <a:ext cx="11002971" cy="2304288"/>
        </p:xfrm>
        <a:graphic>
          <a:graphicData uri="http://schemas.openxmlformats.org/drawingml/2006/table">
            <a:tbl>
              <a:tblPr firstRow="1" bandRow="1">
                <a:tableStyleId>{5C22544A-7EE6-4342-B048-85BDC9FD1C3A}</a:tableStyleId>
              </a:tblPr>
              <a:tblGrid>
                <a:gridCol w="1269574"/>
                <a:gridCol w="1523488"/>
                <a:gridCol w="1184935"/>
                <a:gridCol w="1184935"/>
                <a:gridCol w="2031318"/>
                <a:gridCol w="2623786"/>
                <a:gridCol w="1184935"/>
              </a:tblGrid>
              <a:tr h="384048">
                <a:tc>
                  <a:txBody>
                    <a:bodyPr wrap="square"/>
                    <a:lstStyle/>
                    <a:p>
                      <a:pPr algn="l"/>
                      <a:r>
                        <a:rPr sz="1200" b="1">
                          <a:solidFill>
                            <a:srgbClr val="14324A"/>
                          </a:solidFill>
                          <a:latin typeface="Calibri"/>
                        </a:rPr>
                        <a:t>Station</a:t>
                      </a:r>
                    </a:p>
                  </a:txBody>
                  <a:tcPr marL="54864" marR="54864" marT="27432" marB="27432">
                    <a:solidFill>
                      <a:srgbClr val="E8EEF3"/>
                    </a:solidFill>
                  </a:tcPr>
                </a:tc>
                <a:tc>
                  <a:txBody>
                    <a:bodyPr wrap="square"/>
                    <a:lstStyle/>
                    <a:p>
                      <a:pPr algn="l"/>
                      <a:r>
                        <a:rPr sz="1200" b="1">
                          <a:solidFill>
                            <a:srgbClr val="14324A"/>
                          </a:solidFill>
                          <a:latin typeface="Calibri"/>
                        </a:rPr>
                        <a:t>Broadcast language</a:t>
                      </a:r>
                    </a:p>
                  </a:txBody>
                  <a:tcPr marL="54864" marR="54864" marT="27432" marB="27432">
                    <a:solidFill>
                      <a:srgbClr val="E8EEF3"/>
                    </a:solidFill>
                  </a:tcPr>
                </a:tc>
                <a:tc>
                  <a:txBody>
                    <a:bodyPr wrap="square"/>
                    <a:lstStyle/>
                    <a:p>
                      <a:pPr algn="l"/>
                      <a:r>
                        <a:rPr sz="1200" b="1">
                          <a:solidFill>
                            <a:srgbClr val="14324A"/>
                          </a:solidFill>
                          <a:latin typeface="Calibri"/>
                        </a:rPr>
                        <a:t>Live scripts</a:t>
                      </a:r>
                    </a:p>
                  </a:txBody>
                  <a:tcPr marL="54864" marR="54864" marT="27432" marB="27432">
                    <a:solidFill>
                      <a:srgbClr val="E8EEF3"/>
                    </a:solidFill>
                  </a:tcPr>
                </a:tc>
                <a:tc>
                  <a:txBody>
                    <a:bodyPr wrap="square"/>
                    <a:lstStyle/>
                    <a:p>
                      <a:pPr algn="l"/>
                      <a:r>
                        <a:rPr sz="1200" b="1">
                          <a:solidFill>
                            <a:srgbClr val="14324A"/>
                          </a:solidFill>
                          <a:latin typeface="Calibri"/>
                        </a:rPr>
                        <a:t>Scripted days</a:t>
                      </a:r>
                    </a:p>
                  </a:txBody>
                  <a:tcPr marL="54864" marR="54864" marT="27432" marB="27432">
                    <a:solidFill>
                      <a:srgbClr val="E8EEF3"/>
                    </a:solidFill>
                  </a:tcPr>
                </a:tc>
                <a:tc>
                  <a:txBody>
                    <a:bodyPr wrap="square"/>
                    <a:lstStyle/>
                    <a:p>
                      <a:pPr algn="l"/>
                      <a:r>
                        <a:rPr sz="1200" b="1">
                          <a:solidFill>
                            <a:srgbClr val="14324A"/>
                          </a:solidFill>
                          <a:latin typeface="Calibri"/>
                        </a:rPr>
                        <a:t>Scripts per scripted day</a:t>
                      </a:r>
                    </a:p>
                  </a:txBody>
                  <a:tcPr marL="54864" marR="54864" marT="27432" marB="27432">
                    <a:solidFill>
                      <a:srgbClr val="E8EEF3"/>
                    </a:solidFill>
                  </a:tcPr>
                </a:tc>
                <a:tc>
                  <a:txBody>
                    <a:bodyPr wrap="square"/>
                    <a:lstStyle/>
                    <a:p>
                      <a:pPr algn="l"/>
                      <a:r>
                        <a:rPr sz="1200" b="1">
                          <a:solidFill>
                            <a:srgbClr val="14324A"/>
                          </a:solidFill>
                          <a:latin typeface="Calibri"/>
                        </a:rPr>
                        <a:t>Bulletin hours per scripted day</a:t>
                      </a:r>
                    </a:p>
                  </a:txBody>
                  <a:tcPr marL="54864" marR="54864" marT="27432" marB="27432">
                    <a:solidFill>
                      <a:srgbClr val="E8EEF3"/>
                    </a:solidFill>
                  </a:tcPr>
                </a:tc>
                <a:tc>
                  <a:txBody>
                    <a:bodyPr wrap="square"/>
                    <a:lstStyle/>
                    <a:p>
                      <a:pPr algn="l"/>
                      <a:r>
                        <a:rPr sz="1200" b="1">
                          <a:solidFill>
                            <a:srgbClr val="14324A"/>
                          </a:solidFill>
                          <a:latin typeface="Calibri"/>
                        </a:rPr>
                        <a:t>Characters</a:t>
                      </a:r>
                    </a:p>
                  </a:txBody>
                  <a:tcPr marL="54864" marR="54864" marT="27432" marB="27432">
                    <a:solidFill>
                      <a:srgbClr val="E8EEF3"/>
                    </a:solidFill>
                  </a:tcPr>
                </a:tc>
              </a:tr>
              <a:tr h="384048">
                <a:tc>
                  <a:txBody>
                    <a:bodyPr wrap="square"/>
                    <a:lstStyle/>
                    <a:p>
                      <a:pPr algn="l"/>
                      <a:r>
                        <a:rPr sz="1200" b="0">
                          <a:solidFill>
                            <a:srgbClr val="14324A"/>
                          </a:solidFill>
                          <a:latin typeface="Calibri"/>
                        </a:rPr>
                        <a:t>Bahari FM</a:t>
                      </a:r>
                    </a:p>
                  </a:txBody>
                  <a:tcPr marL="54864" marR="54864" marT="27432" marB="27432">
                    <a:solidFill>
                      <a:srgbClr val="FFFFFF"/>
                    </a:solidFill>
                  </a:tcPr>
                </a:tc>
                <a:tc>
                  <a:txBody>
                    <a:bodyPr wrap="square"/>
                    <a:lstStyle/>
                    <a:p>
                      <a:pPr algn="l"/>
                      <a:r>
                        <a:rPr sz="1200" b="0">
                          <a:solidFill>
                            <a:srgbClr val="14324A"/>
                          </a:solidFill>
                          <a:latin typeface="Calibri"/>
                        </a:rPr>
                        <a:t>Kiswahili</a:t>
                      </a:r>
                    </a:p>
                  </a:txBody>
                  <a:tcPr marL="54864" marR="54864" marT="27432" marB="27432">
                    <a:solidFill>
                      <a:srgbClr val="FFFFFF"/>
                    </a:solidFill>
                  </a:tcPr>
                </a:tc>
                <a:tc>
                  <a:txBody>
                    <a:bodyPr wrap="square"/>
                    <a:lstStyle/>
                    <a:p>
                      <a:pPr algn="r"/>
                      <a:r>
                        <a:rPr sz="1200" b="0">
                          <a:solidFill>
                            <a:srgbClr val="14324A"/>
                          </a:solidFill>
                          <a:latin typeface="Courier New"/>
                        </a:rPr>
                        <a:t>16177</a:t>
                      </a:r>
                    </a:p>
                  </a:txBody>
                  <a:tcPr marL="54864" marR="54864" marT="27432" marB="27432">
                    <a:solidFill>
                      <a:srgbClr val="FFFFFF"/>
                    </a:solidFill>
                  </a:tcPr>
                </a:tc>
                <a:tc>
                  <a:txBody>
                    <a:bodyPr wrap="square"/>
                    <a:lstStyle/>
                    <a:p>
                      <a:pPr algn="r"/>
                      <a:r>
                        <a:rPr sz="1200" b="0">
                          <a:solidFill>
                            <a:srgbClr val="14324A"/>
                          </a:solidFill>
                          <a:latin typeface="Courier New"/>
                        </a:rPr>
                        <a:t>222</a:t>
                      </a:r>
                    </a:p>
                  </a:txBody>
                  <a:tcPr marL="54864" marR="54864" marT="27432" marB="27432">
                    <a:solidFill>
                      <a:srgbClr val="FFFFFF"/>
                    </a:solidFill>
                  </a:tcPr>
                </a:tc>
                <a:tc>
                  <a:txBody>
                    <a:bodyPr wrap="square"/>
                    <a:lstStyle/>
                    <a:p>
                      <a:pPr algn="r"/>
                      <a:r>
                        <a:rPr sz="1200" b="0">
                          <a:solidFill>
                            <a:srgbClr val="14324A"/>
                          </a:solidFill>
                          <a:latin typeface="Courier New"/>
                        </a:rPr>
                        <a:t>77.55</a:t>
                      </a:r>
                    </a:p>
                  </a:txBody>
                  <a:tcPr marL="54864" marR="54864" marT="27432" marB="27432">
                    <a:solidFill>
                      <a:srgbClr val="FFFFFF"/>
                    </a:solidFill>
                  </a:tcPr>
                </a:tc>
                <a:tc>
                  <a:txBody>
                    <a:bodyPr wrap="square"/>
                    <a:lstStyle/>
                    <a:p>
                      <a:pPr algn="r"/>
                      <a:r>
                        <a:rPr sz="1200" b="0">
                          <a:solidFill>
                            <a:srgbClr val="14324A"/>
                          </a:solidFill>
                          <a:latin typeface="Courier New"/>
                        </a:rPr>
                        <a:t>16.8</a:t>
                      </a:r>
                    </a:p>
                  </a:txBody>
                  <a:tcPr marL="54864" marR="54864" marT="27432" marB="27432">
                    <a:solidFill>
                      <a:srgbClr val="FFFFFF"/>
                    </a:solidFill>
                  </a:tcPr>
                </a:tc>
                <a:tc>
                  <a:txBody>
                    <a:bodyPr wrap="square"/>
                    <a:lstStyle/>
                    <a:p>
                      <a:pPr algn="r"/>
                      <a:r>
                        <a:rPr sz="1200" b="0">
                          <a:solidFill>
                            <a:srgbClr val="14324A"/>
                          </a:solidFill>
                          <a:latin typeface="Courier New"/>
                        </a:rPr>
                        <a:t>12789664</a:t>
                      </a:r>
                    </a:p>
                  </a:txBody>
                  <a:tcPr marL="54864" marR="54864" marT="27432" marB="27432">
                    <a:solidFill>
                      <a:srgbClr val="FFFFFF"/>
                    </a:solidFill>
                  </a:tcPr>
                </a:tc>
              </a:tr>
              <a:tr h="384048">
                <a:tc>
                  <a:txBody>
                    <a:bodyPr wrap="square"/>
                    <a:lstStyle/>
                    <a:p>
                      <a:pPr algn="l"/>
                      <a:r>
                        <a:rPr sz="1200" b="0">
                          <a:solidFill>
                            <a:srgbClr val="14324A"/>
                          </a:solidFill>
                          <a:latin typeface="Calibri"/>
                        </a:rPr>
                        <a:t>Inooro FM</a:t>
                      </a:r>
                    </a:p>
                  </a:txBody>
                  <a:tcPr marL="54864" marR="54864" marT="27432" marB="27432">
                    <a:solidFill>
                      <a:srgbClr val="FFFFFF"/>
                    </a:solidFill>
                  </a:tcPr>
                </a:tc>
                <a:tc>
                  <a:txBody>
                    <a:bodyPr wrap="square"/>
                    <a:lstStyle/>
                    <a:p>
                      <a:pPr algn="l"/>
                      <a:r>
                        <a:rPr sz="1200" b="0">
                          <a:solidFill>
                            <a:srgbClr val="14324A"/>
                          </a:solidFill>
                          <a:latin typeface="Calibri"/>
                        </a:rPr>
                        <a:t>Kikuyu</a:t>
                      </a:r>
                    </a:p>
                  </a:txBody>
                  <a:tcPr marL="54864" marR="54864" marT="27432" marB="27432">
                    <a:solidFill>
                      <a:srgbClr val="FFFFFF"/>
                    </a:solidFill>
                  </a:tcPr>
                </a:tc>
                <a:tc>
                  <a:txBody>
                    <a:bodyPr wrap="square"/>
                    <a:lstStyle/>
                    <a:p>
                      <a:pPr algn="r"/>
                      <a:r>
                        <a:rPr sz="1200" b="0">
                          <a:solidFill>
                            <a:srgbClr val="14324A"/>
                          </a:solidFill>
                          <a:latin typeface="Courier New"/>
                        </a:rPr>
                        <a:t>15376</a:t>
                      </a:r>
                    </a:p>
                  </a:txBody>
                  <a:tcPr marL="54864" marR="54864" marT="27432" marB="27432">
                    <a:solidFill>
                      <a:srgbClr val="FFFFFF"/>
                    </a:solidFill>
                  </a:tcPr>
                </a:tc>
                <a:tc>
                  <a:txBody>
                    <a:bodyPr wrap="square"/>
                    <a:lstStyle/>
                    <a:p>
                      <a:pPr algn="r"/>
                      <a:r>
                        <a:rPr sz="1200" b="0">
                          <a:solidFill>
                            <a:srgbClr val="14324A"/>
                          </a:solidFill>
                          <a:latin typeface="Courier New"/>
                        </a:rPr>
                        <a:t>209</a:t>
                      </a:r>
                    </a:p>
                  </a:txBody>
                  <a:tcPr marL="54864" marR="54864" marT="27432" marB="27432">
                    <a:solidFill>
                      <a:srgbClr val="FFFFFF"/>
                    </a:solidFill>
                  </a:tcPr>
                </a:tc>
                <a:tc>
                  <a:txBody>
                    <a:bodyPr wrap="square"/>
                    <a:lstStyle/>
                    <a:p>
                      <a:pPr algn="r"/>
                      <a:r>
                        <a:rPr sz="1200" b="0">
                          <a:solidFill>
                            <a:srgbClr val="14324A"/>
                          </a:solidFill>
                          <a:latin typeface="Courier New"/>
                        </a:rPr>
                        <a:t>75.0</a:t>
                      </a:r>
                    </a:p>
                  </a:txBody>
                  <a:tcPr marL="54864" marR="54864" marT="27432" marB="27432">
                    <a:solidFill>
                      <a:srgbClr val="FFFFFF"/>
                    </a:solidFill>
                  </a:tcPr>
                </a:tc>
                <a:tc>
                  <a:txBody>
                    <a:bodyPr wrap="square"/>
                    <a:lstStyle/>
                    <a:p>
                      <a:pPr algn="r"/>
                      <a:r>
                        <a:rPr sz="1200" b="0">
                          <a:solidFill>
                            <a:srgbClr val="14324A"/>
                          </a:solidFill>
                          <a:latin typeface="Courier New"/>
                        </a:rPr>
                        <a:t>15.03</a:t>
                      </a:r>
                    </a:p>
                  </a:txBody>
                  <a:tcPr marL="54864" marR="54864" marT="27432" marB="27432">
                    <a:solidFill>
                      <a:srgbClr val="FFFFFF"/>
                    </a:solidFill>
                  </a:tcPr>
                </a:tc>
                <a:tc>
                  <a:txBody>
                    <a:bodyPr wrap="square"/>
                    <a:lstStyle/>
                    <a:p>
                      <a:pPr algn="r"/>
                      <a:r>
                        <a:rPr sz="1200" b="0">
                          <a:solidFill>
                            <a:srgbClr val="14324A"/>
                          </a:solidFill>
                          <a:latin typeface="Courier New"/>
                        </a:rPr>
                        <a:t>11946715</a:t>
                      </a:r>
                    </a:p>
                  </a:txBody>
                  <a:tcPr marL="54864" marR="54864" marT="27432" marB="27432">
                    <a:solidFill>
                      <a:srgbClr val="FFFFFF"/>
                    </a:solidFill>
                  </a:tcPr>
                </a:tc>
              </a:tr>
              <a:tr h="384048">
                <a:tc>
                  <a:txBody>
                    <a:bodyPr wrap="square"/>
                    <a:lstStyle/>
                    <a:p>
                      <a:pPr algn="l"/>
                      <a:r>
                        <a:rPr sz="1200" b="0">
                          <a:solidFill>
                            <a:srgbClr val="14324A"/>
                          </a:solidFill>
                          <a:latin typeface="Calibri"/>
                        </a:rPr>
                        <a:t>Vuuka</a:t>
                      </a:r>
                    </a:p>
                  </a:txBody>
                  <a:tcPr marL="54864" marR="54864" marT="27432" marB="27432">
                    <a:solidFill>
                      <a:srgbClr val="FFFFFF"/>
                    </a:solidFill>
                  </a:tcPr>
                </a:tc>
                <a:tc>
                  <a:txBody>
                    <a:bodyPr wrap="square"/>
                    <a:lstStyle/>
                    <a:p>
                      <a:pPr algn="l"/>
                      <a:r>
                        <a:rPr sz="1200" b="0">
                          <a:solidFill>
                            <a:srgbClr val="14324A"/>
                          </a:solidFill>
                          <a:latin typeface="Calibri"/>
                        </a:rPr>
                        <a:t>Maragoli</a:t>
                      </a:r>
                    </a:p>
                  </a:txBody>
                  <a:tcPr marL="54864" marR="54864" marT="27432" marB="27432">
                    <a:solidFill>
                      <a:srgbClr val="FFFFFF"/>
                    </a:solidFill>
                  </a:tcPr>
                </a:tc>
                <a:tc>
                  <a:txBody>
                    <a:bodyPr wrap="square"/>
                    <a:lstStyle/>
                    <a:p>
                      <a:pPr algn="r"/>
                      <a:r>
                        <a:rPr sz="1200" b="0">
                          <a:solidFill>
                            <a:srgbClr val="14324A"/>
                          </a:solidFill>
                          <a:latin typeface="Courier New"/>
                        </a:rPr>
                        <a:t>15336</a:t>
                      </a:r>
                    </a:p>
                  </a:txBody>
                  <a:tcPr marL="54864" marR="54864" marT="27432" marB="27432">
                    <a:solidFill>
                      <a:srgbClr val="FFFFFF"/>
                    </a:solidFill>
                  </a:tcPr>
                </a:tc>
                <a:tc>
                  <a:txBody>
                    <a:bodyPr wrap="square"/>
                    <a:lstStyle/>
                    <a:p>
                      <a:pPr algn="r"/>
                      <a:r>
                        <a:rPr sz="1200" b="0">
                          <a:solidFill>
                            <a:srgbClr val="14324A"/>
                          </a:solidFill>
                          <a:latin typeface="Courier New"/>
                        </a:rPr>
                        <a:t>222</a:t>
                      </a:r>
                    </a:p>
                  </a:txBody>
                  <a:tcPr marL="54864" marR="54864" marT="27432" marB="27432">
                    <a:solidFill>
                      <a:srgbClr val="FFFFFF"/>
                    </a:solidFill>
                  </a:tcPr>
                </a:tc>
                <a:tc>
                  <a:txBody>
                    <a:bodyPr wrap="square"/>
                    <a:lstStyle/>
                    <a:p>
                      <a:pPr algn="r"/>
                      <a:r>
                        <a:rPr sz="1200" b="0">
                          <a:solidFill>
                            <a:srgbClr val="14324A"/>
                          </a:solidFill>
                          <a:latin typeface="Courier New"/>
                        </a:rPr>
                        <a:t>70.78</a:t>
                      </a:r>
                    </a:p>
                  </a:txBody>
                  <a:tcPr marL="54864" marR="54864" marT="27432" marB="27432">
                    <a:solidFill>
                      <a:srgbClr val="FFFFFF"/>
                    </a:solidFill>
                  </a:tcPr>
                </a:tc>
                <a:tc>
                  <a:txBody>
                    <a:bodyPr wrap="square"/>
                    <a:lstStyle/>
                    <a:p>
                      <a:pPr algn="r"/>
                      <a:r>
                        <a:rPr sz="1200" b="0">
                          <a:solidFill>
                            <a:srgbClr val="14324A"/>
                          </a:solidFill>
                          <a:latin typeface="Courier New"/>
                        </a:rPr>
                        <a:t>14.51</a:t>
                      </a:r>
                    </a:p>
                  </a:txBody>
                  <a:tcPr marL="54864" marR="54864" marT="27432" marB="27432">
                    <a:solidFill>
                      <a:srgbClr val="FFFFFF"/>
                    </a:solidFill>
                  </a:tcPr>
                </a:tc>
                <a:tc>
                  <a:txBody>
                    <a:bodyPr wrap="square"/>
                    <a:lstStyle/>
                    <a:p>
                      <a:pPr algn="r"/>
                      <a:r>
                        <a:rPr sz="1200" b="0">
                          <a:solidFill>
                            <a:srgbClr val="14324A"/>
                          </a:solidFill>
                          <a:latin typeface="Courier New"/>
                        </a:rPr>
                        <a:t>12773790</a:t>
                      </a:r>
                    </a:p>
                  </a:txBody>
                  <a:tcPr marL="54864" marR="54864" marT="27432" marB="27432">
                    <a:solidFill>
                      <a:srgbClr val="FFFFFF"/>
                    </a:solidFill>
                  </a:tcPr>
                </a:tc>
              </a:tr>
              <a:tr h="384048">
                <a:tc>
                  <a:txBody>
                    <a:bodyPr wrap="square"/>
                    <a:lstStyle/>
                    <a:p>
                      <a:pPr algn="l"/>
                      <a:r>
                        <a:rPr sz="1200" b="0">
                          <a:solidFill>
                            <a:srgbClr val="14324A"/>
                          </a:solidFill>
                          <a:latin typeface="Calibri"/>
                        </a:rPr>
                        <a:t>Ramogi FM</a:t>
                      </a:r>
                    </a:p>
                  </a:txBody>
                  <a:tcPr marL="54864" marR="54864" marT="27432" marB="27432">
                    <a:solidFill>
                      <a:srgbClr val="FFFFFF"/>
                    </a:solidFill>
                  </a:tcPr>
                </a:tc>
                <a:tc>
                  <a:txBody>
                    <a:bodyPr wrap="square"/>
                    <a:lstStyle/>
                    <a:p>
                      <a:pPr algn="l"/>
                      <a:r>
                        <a:rPr sz="1200" b="0">
                          <a:solidFill>
                            <a:srgbClr val="14324A"/>
                          </a:solidFill>
                          <a:latin typeface="Calibri"/>
                        </a:rPr>
                        <a:t>Luo</a:t>
                      </a:r>
                    </a:p>
                  </a:txBody>
                  <a:tcPr marL="54864" marR="54864" marT="27432" marB="27432">
                    <a:solidFill>
                      <a:srgbClr val="FFFFFF"/>
                    </a:solidFill>
                  </a:tcPr>
                </a:tc>
                <a:tc>
                  <a:txBody>
                    <a:bodyPr wrap="square"/>
                    <a:lstStyle/>
                    <a:p>
                      <a:pPr algn="r"/>
                      <a:r>
                        <a:rPr sz="1200" b="0">
                          <a:solidFill>
                            <a:srgbClr val="14324A"/>
                          </a:solidFill>
                          <a:latin typeface="Courier New"/>
                        </a:rPr>
                        <a:t>8013</a:t>
                      </a:r>
                    </a:p>
                  </a:txBody>
                  <a:tcPr marL="54864" marR="54864" marT="27432" marB="27432">
                    <a:solidFill>
                      <a:srgbClr val="FFFFFF"/>
                    </a:solidFill>
                  </a:tcPr>
                </a:tc>
                <a:tc>
                  <a:txBody>
                    <a:bodyPr wrap="square"/>
                    <a:lstStyle/>
                    <a:p>
                      <a:pPr algn="r"/>
                      <a:r>
                        <a:rPr sz="1200" b="0">
                          <a:solidFill>
                            <a:srgbClr val="14324A"/>
                          </a:solidFill>
                          <a:latin typeface="Courier New"/>
                        </a:rPr>
                        <a:t>222</a:t>
                      </a:r>
                    </a:p>
                  </a:txBody>
                  <a:tcPr marL="54864" marR="54864" marT="27432" marB="27432">
                    <a:solidFill>
                      <a:srgbClr val="FFFFFF"/>
                    </a:solidFill>
                  </a:tcPr>
                </a:tc>
                <a:tc>
                  <a:txBody>
                    <a:bodyPr wrap="square"/>
                    <a:lstStyle/>
                    <a:p>
                      <a:pPr algn="r"/>
                      <a:r>
                        <a:rPr sz="1200" b="0">
                          <a:solidFill>
                            <a:srgbClr val="14324A"/>
                          </a:solidFill>
                          <a:latin typeface="Courier New"/>
                        </a:rPr>
                        <a:t>39.8</a:t>
                      </a:r>
                    </a:p>
                  </a:txBody>
                  <a:tcPr marL="54864" marR="54864" marT="27432" marB="27432">
                    <a:solidFill>
                      <a:srgbClr val="FFFFFF"/>
                    </a:solidFill>
                  </a:tcPr>
                </a:tc>
                <a:tc>
                  <a:txBody>
                    <a:bodyPr wrap="square"/>
                    <a:lstStyle/>
                    <a:p>
                      <a:pPr algn="r"/>
                      <a:r>
                        <a:rPr sz="1200" b="0">
                          <a:solidFill>
                            <a:srgbClr val="14324A"/>
                          </a:solidFill>
                          <a:latin typeface="Courier New"/>
                        </a:rPr>
                        <a:t>6.98</a:t>
                      </a:r>
                    </a:p>
                  </a:txBody>
                  <a:tcPr marL="54864" marR="54864" marT="27432" marB="27432">
                    <a:solidFill>
                      <a:srgbClr val="FFFFFF"/>
                    </a:solidFill>
                  </a:tcPr>
                </a:tc>
                <a:tc>
                  <a:txBody>
                    <a:bodyPr wrap="square"/>
                    <a:lstStyle/>
                    <a:p>
                      <a:pPr algn="r"/>
                      <a:r>
                        <a:rPr sz="1200" b="0">
                          <a:solidFill>
                            <a:srgbClr val="14324A"/>
                          </a:solidFill>
                          <a:latin typeface="Courier New"/>
                        </a:rPr>
                        <a:t>8574493</a:t>
                      </a:r>
                    </a:p>
                  </a:txBody>
                  <a:tcPr marL="54864" marR="54864" marT="27432" marB="27432">
                    <a:solidFill>
                      <a:srgbClr val="FFFFFF"/>
                    </a:solidFill>
                  </a:tcPr>
                </a:tc>
              </a:tr>
              <a:tr h="384048">
                <a:tc>
                  <a:txBody>
                    <a:bodyPr wrap="square"/>
                    <a:lstStyle/>
                    <a:p>
                      <a:pPr algn="l"/>
                      <a:r>
                        <a:rPr sz="1200" b="0">
                          <a:solidFill>
                            <a:srgbClr val="14324A"/>
                          </a:solidFill>
                          <a:latin typeface="Calibri"/>
                        </a:rPr>
                        <a:t>unassigned hour</a:t>
                      </a:r>
                    </a:p>
                  </a:txBody>
                  <a:tcPr marL="54864" marR="54864" marT="27432" marB="27432">
                    <a:solidFill>
                      <a:srgbClr val="FFFFFF"/>
                    </a:solidFill>
                  </a:tcPr>
                </a:tc>
                <a:tc>
                  <a:txBody>
                    <a:bodyPr wrap="square"/>
                    <a:lstStyle/>
                    <a:p>
                      <a:pPr algn="l"/>
                      <a:r>
                        <a:rPr sz="1200" b="0">
                          <a:solidFill>
                            <a:srgbClr val="14324A"/>
                          </a:solidFill>
                          <a:latin typeface="Calibri"/>
                        </a:rPr>
                        <a:t>—</a:t>
                      </a:r>
                    </a:p>
                  </a:txBody>
                  <a:tcPr marL="54864" marR="54864" marT="27432" marB="27432">
                    <a:solidFill>
                      <a:srgbClr val="FFFFFF"/>
                    </a:solidFill>
                  </a:tcPr>
                </a:tc>
                <a:tc>
                  <a:txBody>
                    <a:bodyPr wrap="square"/>
                    <a:lstStyle/>
                    <a:p>
                      <a:pPr algn="r"/>
                      <a:r>
                        <a:rPr sz="1200" b="0">
                          <a:solidFill>
                            <a:srgbClr val="14324A"/>
                          </a:solidFill>
                          <a:latin typeface="Courier New"/>
                        </a:rPr>
                        <a:t>518</a:t>
                      </a:r>
                    </a:p>
                  </a:txBody>
                  <a:tcPr marL="54864" marR="54864" marT="27432" marB="27432">
                    <a:solidFill>
                      <a:srgbClr val="FFFFFF"/>
                    </a:solidFill>
                  </a:tcPr>
                </a:tc>
                <a:tc>
                  <a:txBody>
                    <a:bodyPr wrap="square"/>
                    <a:lstStyle/>
                    <a:p>
                      <a:pPr algn="r"/>
                      <a:r>
                        <a:rPr sz="1200" b="0">
                          <a:solidFill>
                            <a:srgbClr val="14324A"/>
                          </a:solidFill>
                          <a:latin typeface="Courier New"/>
                        </a:rPr>
                        <a:t>31</a:t>
                      </a:r>
                    </a:p>
                  </a:txBody>
                  <a:tcPr marL="54864" marR="54864" marT="27432" marB="27432">
                    <a:solidFill>
                      <a:srgbClr val="FFFFFF"/>
                    </a:solidFill>
                  </a:tcPr>
                </a:tc>
                <a:tc>
                  <a:txBody>
                    <a:bodyPr wrap="square"/>
                    <a:lstStyle/>
                    <a:p>
                      <a:pPr algn="r"/>
                      <a:r>
                        <a:rPr sz="1200" b="0">
                          <a:solidFill>
                            <a:srgbClr val="14324A"/>
                          </a:solidFill>
                          <a:latin typeface="Courier New"/>
                        </a:rPr>
                        <a:t>17.55</a:t>
                      </a:r>
                    </a:p>
                  </a:txBody>
                  <a:tcPr marL="54864" marR="54864" marT="27432" marB="27432">
                    <a:solidFill>
                      <a:srgbClr val="FFFFFF"/>
                    </a:solidFill>
                  </a:tcPr>
                </a:tc>
                <a:tc>
                  <a:txBody>
                    <a:bodyPr wrap="square"/>
                    <a:lstStyle/>
                    <a:p>
                      <a:pPr algn="r"/>
                      <a:r>
                        <a:rPr sz="1200" b="0">
                          <a:solidFill>
                            <a:srgbClr val="14324A"/>
                          </a:solidFill>
                          <a:latin typeface="Courier New"/>
                        </a:rPr>
                        <a:t>3.65</a:t>
                      </a:r>
                    </a:p>
                  </a:txBody>
                  <a:tcPr marL="54864" marR="54864" marT="27432" marB="27432">
                    <a:solidFill>
                      <a:srgbClr val="FFFFFF"/>
                    </a:solidFill>
                  </a:tcPr>
                </a:tc>
                <a:tc>
                  <a:txBody>
                    <a:bodyPr wrap="square"/>
                    <a:lstStyle/>
                    <a:p>
                      <a:pPr algn="r"/>
                      <a:r>
                        <a:rPr sz="1200" b="0">
                          <a:solidFill>
                            <a:srgbClr val="14324A"/>
                          </a:solidFill>
                          <a:latin typeface="Courier New"/>
                        </a:rPr>
                        <a:t>481289</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E8772E"/>
                </a:solidFill>
                <a:latin typeface="Calibri"/>
              </a:rPr>
              <a:t>A scripted day is a calendar date with at least one script for the station; bulletin hours are the distinct hour slots scripted that day. The script texts themselves were not read; the language is the station's broadcast language as recorded in the estate.</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70879A"/>
                </a:solidFill>
                <a:latin typeface="Courier New"/>
              </a:rPr>
              <a:t>[measured]  Receipt R08: Aggregate-only database reading etx-81e10befe6e0: news_vault.stories (script, title, date, hour_id) → news_vault.hours (station_id, time, type_id) → news_vault.stations (name); news_vault.news (2022 bulletins); local.uploaded_files (language_id, audio_length, status) ← local.transcripts (file_id, start_time, end_time, transcript) ; local.folder_languages (Language, code, station)</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70879A"/>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70879A"/>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70879A"/>
                </a:solidFill>
                <a:latin typeface="Courier New"/>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70879A"/>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4324A"/>
                </a:solidFill>
                <a:latin typeface="Cambria"/>
              </a:rPr>
              <a:t>Transcripts by language folder — read by the served text language model</a:t>
            </a:r>
          </a:p>
        </p:txBody>
      </p:sp>
      <p:graphicFrame>
        <p:nvGraphicFramePr>
          <p:cNvPr id="4" name="Table 3"/>
          <p:cNvGraphicFramePr>
            <a:graphicFrameLocks noGrp="1"/>
          </p:cNvGraphicFramePr>
          <p:nvPr/>
        </p:nvGraphicFramePr>
        <p:xfrm>
          <a:off x="594360" y="1920240"/>
          <a:ext cx="11002971" cy="768096"/>
        </p:xfrm>
        <a:graphic>
          <a:graphicData uri="http://schemas.openxmlformats.org/drawingml/2006/table">
            <a:tbl>
              <a:tblPr firstRow="1" bandRow="1">
                <a:tableStyleId>{5C22544A-7EE6-4342-B048-85BDC9FD1C3A}</a:tableStyleId>
              </a:tblPr>
              <a:tblGrid>
                <a:gridCol w="1645304"/>
                <a:gridCol w="1645304"/>
                <a:gridCol w="1439641"/>
                <a:gridCol w="1439641"/>
                <a:gridCol w="1850967"/>
                <a:gridCol w="2982114"/>
              </a:tblGrid>
              <a:tr h="384048">
                <a:tc>
                  <a:txBody>
                    <a:bodyPr wrap="square"/>
                    <a:lstStyle/>
                    <a:p>
                      <a:pPr algn="l"/>
                      <a:r>
                        <a:rPr sz="1200" b="1">
                          <a:solidFill>
                            <a:srgbClr val="14324A"/>
                          </a:solidFill>
                          <a:latin typeface="Calibri"/>
                        </a:rPr>
                        <a:t>Language</a:t>
                      </a:r>
                    </a:p>
                  </a:txBody>
                  <a:tcPr marL="54864" marR="54864" marT="27432" marB="27432">
                    <a:solidFill>
                      <a:srgbClr val="E8EEF3"/>
                    </a:solidFill>
                  </a:tcPr>
                </a:tc>
                <a:tc>
                  <a:txBody>
                    <a:bodyPr wrap="square"/>
                    <a:lstStyle/>
                    <a:p>
                      <a:pPr algn="l"/>
                      <a:r>
                        <a:rPr sz="1200" b="1">
                          <a:solidFill>
                            <a:srgbClr val="14324A"/>
                          </a:solidFill>
                          <a:latin typeface="Calibri"/>
                        </a:rPr>
                        <a:t>Transcripts read</a:t>
                      </a:r>
                    </a:p>
                  </a:txBody>
                  <a:tcPr marL="54864" marR="54864" marT="27432" marB="27432">
                    <a:solidFill>
                      <a:srgbClr val="E8EEF3"/>
                    </a:solidFill>
                  </a:tcPr>
                </a:tc>
                <a:tc>
                  <a:txBody>
                    <a:bodyPr wrap="square"/>
                    <a:lstStyle/>
                    <a:p>
                      <a:pPr algn="l"/>
                      <a:r>
                        <a:rPr sz="1200" b="1">
                          <a:solidFill>
                            <a:srgbClr val="14324A"/>
                          </a:solidFill>
                          <a:latin typeface="Calibri"/>
                        </a:rPr>
                        <a:t>Characters</a:t>
                      </a:r>
                    </a:p>
                  </a:txBody>
                  <a:tcPr marL="54864" marR="54864" marT="27432" marB="27432">
                    <a:solidFill>
                      <a:srgbClr val="E8EEF3"/>
                    </a:solidFill>
                  </a:tcPr>
                </a:tc>
                <a:tc>
                  <a:txBody>
                    <a:bodyPr wrap="square"/>
                    <a:lstStyle/>
                    <a:p>
                      <a:pPr algn="l"/>
                      <a:r>
                        <a:rPr sz="1200" b="1">
                          <a:solidFill>
                            <a:srgbClr val="14324A"/>
                          </a:solidFill>
                          <a:latin typeface="Calibri"/>
                        </a:rPr>
                        <a:t>Words</a:t>
                      </a:r>
                    </a:p>
                  </a:txBody>
                  <a:tcPr marL="54864" marR="54864" marT="27432" marB="27432">
                    <a:solidFill>
                      <a:srgbClr val="E8EEF3"/>
                    </a:solidFill>
                  </a:tcPr>
                </a:tc>
                <a:tc>
                  <a:txBody>
                    <a:bodyPr wrap="square"/>
                    <a:lstStyle/>
                    <a:p>
                      <a:pPr algn="l"/>
                      <a:r>
                        <a:rPr sz="1200" b="1">
                          <a:solidFill>
                            <a:srgbClr val="14324A"/>
                          </a:solidFill>
                          <a:latin typeface="Calibri"/>
                        </a:rPr>
                        <a:t>Agrees with folder</a:t>
                      </a:r>
                    </a:p>
                  </a:txBody>
                  <a:tcPr marL="54864" marR="54864" marT="27432" marB="27432">
                    <a:solidFill>
                      <a:srgbClr val="E8EEF3"/>
                    </a:solidFill>
                  </a:tcPr>
                </a:tc>
                <a:tc>
                  <a:txBody>
                    <a:bodyPr wrap="square"/>
                    <a:lstStyle/>
                    <a:p>
                      <a:pPr algn="l"/>
                      <a:r>
                        <a:rPr sz="1200" b="1">
                          <a:solidFill>
                            <a:srgbClr val="14324A"/>
                          </a:solidFill>
                          <a:latin typeface="Calibri"/>
                        </a:rPr>
                        <a:t>Files whose top label matches</a:t>
                      </a:r>
                    </a:p>
                  </a:txBody>
                  <a:tcPr marL="54864" marR="54864" marT="27432" marB="27432">
                    <a:solidFill>
                      <a:srgbClr val="E8EEF3"/>
                    </a:solidFill>
                  </a:tcPr>
                </a:tc>
              </a:tr>
              <a:tr h="384048">
                <a:tc>
                  <a:txBody>
                    <a:bodyPr wrap="square"/>
                    <a:lstStyle/>
                    <a:p>
                      <a:pPr algn="l"/>
                      <a:r>
                        <a:rPr sz="1200" b="0">
                          <a:solidFill>
                            <a:srgbClr val="14324A"/>
                          </a:solidFill>
                          <a:latin typeface="Calibri"/>
                        </a:rPr>
                        <a:t>Ekegusii (Kisii)</a:t>
                      </a:r>
                    </a:p>
                  </a:txBody>
                  <a:tcPr marL="54864" marR="54864" marT="27432" marB="27432">
                    <a:solidFill>
                      <a:srgbClr val="FFFFFF"/>
                    </a:solidFill>
                  </a:tcPr>
                </a:tc>
                <a:tc>
                  <a:txBody>
                    <a:bodyPr wrap="square"/>
                    <a:lstStyle/>
                    <a:p>
                      <a:pPr algn="r"/>
                      <a:r>
                        <a:rPr sz="1200" b="0">
                          <a:solidFill>
                            <a:srgbClr val="14324A"/>
                          </a:solidFill>
                          <a:latin typeface="Courier New"/>
                        </a:rPr>
                        <a:t>399</a:t>
                      </a:r>
                    </a:p>
                  </a:txBody>
                  <a:tcPr marL="54864" marR="54864" marT="27432" marB="27432">
                    <a:solidFill>
                      <a:srgbClr val="FFFFFF"/>
                    </a:solidFill>
                  </a:tcPr>
                </a:tc>
                <a:tc>
                  <a:txBody>
                    <a:bodyPr wrap="square"/>
                    <a:lstStyle/>
                    <a:p>
                      <a:pPr algn="r"/>
                      <a:r>
                        <a:rPr sz="1200" b="0">
                          <a:solidFill>
                            <a:srgbClr val="14324A"/>
                          </a:solidFill>
                          <a:latin typeface="Courier New"/>
                        </a:rPr>
                        <a:t>2694168</a:t>
                      </a:r>
                    </a:p>
                  </a:txBody>
                  <a:tcPr marL="54864" marR="54864" marT="27432" marB="27432">
                    <a:solidFill>
                      <a:srgbClr val="FFFFFF"/>
                    </a:solidFill>
                  </a:tcPr>
                </a:tc>
                <a:tc>
                  <a:txBody>
                    <a:bodyPr wrap="square"/>
                    <a:lstStyle/>
                    <a:p>
                      <a:pPr algn="r"/>
                      <a:r>
                        <a:rPr sz="1200" b="0">
                          <a:solidFill>
                            <a:srgbClr val="14324A"/>
                          </a:solidFill>
                          <a:latin typeface="Courier New"/>
                        </a:rPr>
                        <a:t>385453</a:t>
                      </a:r>
                    </a:p>
                  </a:txBody>
                  <a:tcPr marL="54864" marR="54864" marT="27432" marB="27432">
                    <a:solidFill>
                      <a:srgbClr val="FFFFFF"/>
                    </a:solidFill>
                  </a:tcPr>
                </a:tc>
                <a:tc>
                  <a:txBody>
                    <a:bodyPr wrap="square"/>
                    <a:lstStyle/>
                    <a:p>
                      <a:pPr algn="r"/>
                      <a:r>
                        <a:rPr sz="1200" b="0">
                          <a:solidFill>
                            <a:srgbClr val="14324A"/>
                          </a:solidFill>
                          <a:latin typeface="Courier New"/>
                        </a:rPr>
                        <a:t>99.6%</a:t>
                      </a:r>
                    </a:p>
                  </a:txBody>
                  <a:tcPr marL="54864" marR="54864" marT="27432" marB="27432">
                    <a:solidFill>
                      <a:srgbClr val="FFFFFF"/>
                    </a:solidFill>
                  </a:tcPr>
                </a:tc>
                <a:tc>
                  <a:txBody>
                    <a:bodyPr wrap="square"/>
                    <a:lstStyle/>
                    <a:p>
                      <a:pPr algn="r"/>
                      <a:r>
                        <a:rPr sz="1200" b="0">
                          <a:solidFill>
                            <a:srgbClr val="14324A"/>
                          </a:solidFill>
                          <a:latin typeface="Courier New"/>
                        </a:rPr>
                        <a:t>399</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E8772E"/>
                </a:solidFill>
                <a:latin typeface="Calibri"/>
              </a:rPr>
              <a:t>Passages of up to fifteen hundred characters were labelled by the admitted text model; agreement is the share of passages whose label matched the folder language. Transcripts the capped pass did not reach are counted as not read.</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70879A"/>
                </a:solidFill>
                <a:latin typeface="Courier New"/>
              </a:rPr>
              <a:t>[measured]  Receipt R07: Served text language model m9j-74af7cef0a85 readings of the staged transcripts: jobs m9j-8cf6702f8718 (399 transcripts read, 3939 present)</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70879A"/>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70879A"/>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70879A"/>
                </a:solidFill>
                <a:latin typeface="Courier New"/>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70879A"/>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4324A"/>
                </a:solidFill>
                <a:latin typeface="Cambria"/>
              </a:rPr>
              <a:t>Transcription workbench by language (local.uploaded_files, local.transcripts)</a:t>
            </a:r>
          </a:p>
        </p:txBody>
      </p:sp>
      <p:graphicFrame>
        <p:nvGraphicFramePr>
          <p:cNvPr id="4" name="Table 3"/>
          <p:cNvGraphicFramePr>
            <a:graphicFrameLocks noGrp="1"/>
          </p:cNvGraphicFramePr>
          <p:nvPr/>
        </p:nvGraphicFramePr>
        <p:xfrm>
          <a:off x="594360" y="1920240"/>
          <a:ext cx="11002971" cy="3017520"/>
        </p:xfrm>
        <a:graphic>
          <a:graphicData uri="http://schemas.openxmlformats.org/drawingml/2006/table">
            <a:tbl>
              <a:tblPr firstRow="1" bandRow="1">
                <a:tableStyleId>{5C22544A-7EE6-4342-B048-85BDC9FD1C3A}</a:tableStyleId>
              </a:tblPr>
              <a:tblGrid>
                <a:gridCol w="1674365"/>
                <a:gridCol w="1674365"/>
                <a:gridCol w="1674365"/>
                <a:gridCol w="1674365"/>
                <a:gridCol w="2272353"/>
                <a:gridCol w="2033158"/>
              </a:tblGrid>
              <a:tr h="301752">
                <a:tc>
                  <a:txBody>
                    <a:bodyPr wrap="square"/>
                    <a:lstStyle/>
                    <a:p>
                      <a:pPr algn="l"/>
                      <a:r>
                        <a:rPr sz="1100" b="1">
                          <a:solidFill>
                            <a:srgbClr val="14324A"/>
                          </a:solidFill>
                          <a:latin typeface="Calibri"/>
                        </a:rPr>
                        <a:t>Language</a:t>
                      </a:r>
                    </a:p>
                  </a:txBody>
                  <a:tcPr marL="54864" marR="54864" marT="27432" marB="27432">
                    <a:solidFill>
                      <a:srgbClr val="E8EEF3"/>
                    </a:solidFill>
                  </a:tcPr>
                </a:tc>
                <a:tc>
                  <a:txBody>
                    <a:bodyPr wrap="square"/>
                    <a:lstStyle/>
                    <a:p>
                      <a:pPr algn="l"/>
                      <a:r>
                        <a:rPr sz="1100" b="1">
                          <a:solidFill>
                            <a:srgbClr val="14324A"/>
                          </a:solidFill>
                          <a:latin typeface="Calibri"/>
                        </a:rPr>
                        <a:t>Station</a:t>
                      </a:r>
                    </a:p>
                  </a:txBody>
                  <a:tcPr marL="54864" marR="54864" marT="27432" marB="27432">
                    <a:solidFill>
                      <a:srgbClr val="E8EEF3"/>
                    </a:solidFill>
                  </a:tcPr>
                </a:tc>
                <a:tc>
                  <a:txBody>
                    <a:bodyPr wrap="square"/>
                    <a:lstStyle/>
                    <a:p>
                      <a:pPr algn="l"/>
                      <a:r>
                        <a:rPr sz="1100" b="1">
                          <a:solidFill>
                            <a:srgbClr val="14324A"/>
                          </a:solidFill>
                          <a:latin typeface="Calibri"/>
                        </a:rPr>
                        <a:t>Recordings</a:t>
                      </a:r>
                    </a:p>
                  </a:txBody>
                  <a:tcPr marL="54864" marR="54864" marT="27432" marB="27432">
                    <a:solidFill>
                      <a:srgbClr val="E8EEF3"/>
                    </a:solidFill>
                  </a:tcPr>
                </a:tc>
                <a:tc>
                  <a:txBody>
                    <a:bodyPr wrap="square"/>
                    <a:lstStyle/>
                    <a:p>
                      <a:pPr algn="l"/>
                      <a:r>
                        <a:rPr sz="1100" b="1">
                          <a:solidFill>
                            <a:srgbClr val="14324A"/>
                          </a:solidFill>
                          <a:latin typeface="Calibri"/>
                        </a:rPr>
                        <a:t>Audio hours</a:t>
                      </a:r>
                    </a:p>
                  </a:txBody>
                  <a:tcPr marL="54864" marR="54864" marT="27432" marB="27432">
                    <a:solidFill>
                      <a:srgbClr val="E8EEF3"/>
                    </a:solidFill>
                  </a:tcPr>
                </a:tc>
                <a:tc>
                  <a:txBody>
                    <a:bodyPr wrap="square"/>
                    <a:lstStyle/>
                    <a:p>
                      <a:pPr algn="l"/>
                      <a:r>
                        <a:rPr sz="1100" b="1">
                          <a:solidFill>
                            <a:srgbClr val="14324A"/>
                          </a:solidFill>
                          <a:latin typeface="Calibri"/>
                        </a:rPr>
                        <a:t>Transcript segments</a:t>
                      </a:r>
                    </a:p>
                  </a:txBody>
                  <a:tcPr marL="54864" marR="54864" marT="27432" marB="27432">
                    <a:solidFill>
                      <a:srgbClr val="E8EEF3"/>
                    </a:solidFill>
                  </a:tcPr>
                </a:tc>
                <a:tc>
                  <a:txBody>
                    <a:bodyPr wrap="square"/>
                    <a:lstStyle/>
                    <a:p>
                      <a:pPr algn="l"/>
                      <a:r>
                        <a:rPr sz="1100" b="1">
                          <a:solidFill>
                            <a:srgbClr val="14324A"/>
                          </a:solidFill>
                          <a:latin typeface="Calibri"/>
                        </a:rPr>
                        <a:t>Transcribed hours</a:t>
                      </a:r>
                    </a:p>
                  </a:txBody>
                  <a:tcPr marL="54864" marR="54864" marT="27432" marB="27432">
                    <a:solidFill>
                      <a:srgbClr val="E8EEF3"/>
                    </a:solidFill>
                  </a:tcPr>
                </a:tc>
              </a:tr>
              <a:tr h="301752">
                <a:tc>
                  <a:txBody>
                    <a:bodyPr wrap="square"/>
                    <a:lstStyle/>
                    <a:p>
                      <a:pPr algn="l"/>
                      <a:r>
                        <a:rPr sz="1100" b="0">
                          <a:solidFill>
                            <a:srgbClr val="14324A"/>
                          </a:solidFill>
                          <a:latin typeface="Calibri"/>
                        </a:rPr>
                        <a:t>kiswahili</a:t>
                      </a:r>
                    </a:p>
                  </a:txBody>
                  <a:tcPr marL="54864" marR="54864" marT="27432" marB="27432">
                    <a:solidFill>
                      <a:srgbClr val="FFFFFF"/>
                    </a:solidFill>
                  </a:tcPr>
                </a:tc>
                <a:tc>
                  <a:txBody>
                    <a:bodyPr wrap="square"/>
                    <a:lstStyle/>
                    <a:p>
                      <a:pPr algn="l"/>
                      <a:r>
                        <a:rPr sz="1100" b="0">
                          <a:solidFill>
                            <a:srgbClr val="14324A"/>
                          </a:solidFill>
                          <a:latin typeface="Calibri"/>
                        </a:rPr>
                        <a:t>Radio citizen</a:t>
                      </a:r>
                    </a:p>
                  </a:txBody>
                  <a:tcPr marL="54864" marR="54864" marT="27432" marB="27432">
                    <a:solidFill>
                      <a:srgbClr val="FFFFFF"/>
                    </a:solidFill>
                  </a:tcPr>
                </a:tc>
                <a:tc>
                  <a:txBody>
                    <a:bodyPr wrap="square"/>
                    <a:lstStyle/>
                    <a:p>
                      <a:pPr algn="r"/>
                      <a:r>
                        <a:rPr sz="1100" b="0">
                          <a:solidFill>
                            <a:srgbClr val="14324A"/>
                          </a:solidFill>
                          <a:latin typeface="Courier New"/>
                        </a:rPr>
                        <a:t>4006</a:t>
                      </a:r>
                    </a:p>
                  </a:txBody>
                  <a:tcPr marL="54864" marR="54864" marT="27432" marB="27432">
                    <a:solidFill>
                      <a:srgbClr val="FFFFFF"/>
                    </a:solidFill>
                  </a:tcPr>
                </a:tc>
                <a:tc>
                  <a:txBody>
                    <a:bodyPr wrap="square"/>
                    <a:lstStyle/>
                    <a:p>
                      <a:pPr algn="r"/>
                      <a:r>
                        <a:rPr sz="1100" b="0">
                          <a:solidFill>
                            <a:srgbClr val="14324A"/>
                          </a:solidFill>
                          <a:latin typeface="Courier New"/>
                        </a:rPr>
                        <a:t>836.2</a:t>
                      </a:r>
                    </a:p>
                  </a:txBody>
                  <a:tcPr marL="54864" marR="54864" marT="27432" marB="27432">
                    <a:solidFill>
                      <a:srgbClr val="FFFFFF"/>
                    </a:solidFill>
                  </a:tcPr>
                </a:tc>
                <a:tc>
                  <a:txBody>
                    <a:bodyPr wrap="square"/>
                    <a:lstStyle/>
                    <a:p>
                      <a:pPr algn="r"/>
                      <a:r>
                        <a:rPr sz="1100" b="0">
                          <a:solidFill>
                            <a:srgbClr val="14324A"/>
                          </a:solidFill>
                          <a:latin typeface="Courier New"/>
                        </a:rPr>
                        <a:t>54516</a:t>
                      </a:r>
                    </a:p>
                  </a:txBody>
                  <a:tcPr marL="54864" marR="54864" marT="27432" marB="27432">
                    <a:solidFill>
                      <a:srgbClr val="FFFFFF"/>
                    </a:solidFill>
                  </a:tcPr>
                </a:tc>
                <a:tc>
                  <a:txBody>
                    <a:bodyPr wrap="square"/>
                    <a:lstStyle/>
                    <a:p>
                      <a:pPr algn="r"/>
                      <a:r>
                        <a:rPr sz="1100" b="0">
                          <a:solidFill>
                            <a:srgbClr val="14324A"/>
                          </a:solidFill>
                          <a:latin typeface="Courier New"/>
                        </a:rPr>
                        <a:t>101.0</a:t>
                      </a:r>
                    </a:p>
                  </a:txBody>
                  <a:tcPr marL="54864" marR="54864" marT="27432" marB="27432">
                    <a:solidFill>
                      <a:srgbClr val="FFFFFF"/>
                    </a:solidFill>
                  </a:tcPr>
                </a:tc>
              </a:tr>
              <a:tr h="301752">
                <a:tc>
                  <a:txBody>
                    <a:bodyPr wrap="square"/>
                    <a:lstStyle/>
                    <a:p>
                      <a:pPr algn="l"/>
                      <a:r>
                        <a:rPr sz="1100" b="0">
                          <a:solidFill>
                            <a:srgbClr val="14324A"/>
                          </a:solidFill>
                          <a:latin typeface="Calibri"/>
                        </a:rPr>
                        <a:t>Bukusu</a:t>
                      </a:r>
                    </a:p>
                  </a:txBody>
                  <a:tcPr marL="54864" marR="54864" marT="27432" marB="27432">
                    <a:solidFill>
                      <a:srgbClr val="FFFFFF"/>
                    </a:solidFill>
                  </a:tcPr>
                </a:tc>
                <a:tc>
                  <a:txBody>
                    <a:bodyPr wrap="square"/>
                    <a:lstStyle/>
                    <a:p>
                      <a:pPr algn="l"/>
                      <a:r>
                        <a:rPr sz="1100" b="0">
                          <a:solidFill>
                            <a:srgbClr val="14324A"/>
                          </a:solidFill>
                          <a:latin typeface="Calibri"/>
                        </a:rPr>
                        <a:t>sulwe</a:t>
                      </a:r>
                    </a:p>
                  </a:txBody>
                  <a:tcPr marL="54864" marR="54864" marT="27432" marB="27432">
                    <a:solidFill>
                      <a:srgbClr val="FFFFFF"/>
                    </a:solidFill>
                  </a:tcPr>
                </a:tc>
                <a:tc>
                  <a:txBody>
                    <a:bodyPr wrap="square"/>
                    <a:lstStyle/>
                    <a:p>
                      <a:pPr algn="r"/>
                      <a:r>
                        <a:rPr sz="1100" b="0">
                          <a:solidFill>
                            <a:srgbClr val="14324A"/>
                          </a:solidFill>
                          <a:latin typeface="Courier New"/>
                        </a:rPr>
                        <a:t>8223</a:t>
                      </a:r>
                    </a:p>
                  </a:txBody>
                  <a:tcPr marL="54864" marR="54864" marT="27432" marB="27432">
                    <a:solidFill>
                      <a:srgbClr val="FFFFFF"/>
                    </a:solidFill>
                  </a:tcPr>
                </a:tc>
                <a:tc>
                  <a:txBody>
                    <a:bodyPr wrap="square"/>
                    <a:lstStyle/>
                    <a:p>
                      <a:pPr algn="r"/>
                      <a:r>
                        <a:rPr sz="1100" b="0">
                          <a:solidFill>
                            <a:srgbClr val="14324A"/>
                          </a:solidFill>
                          <a:latin typeface="Courier New"/>
                        </a:rPr>
                        <a:t>806.4</a:t>
                      </a:r>
                    </a:p>
                  </a:txBody>
                  <a:tcPr marL="54864" marR="54864" marT="27432" marB="27432">
                    <a:solidFill>
                      <a:srgbClr val="FFFFFF"/>
                    </a:solidFill>
                  </a:tcPr>
                </a:tc>
                <a:tc>
                  <a:txBody>
                    <a:bodyPr wrap="square"/>
                    <a:lstStyle/>
                    <a:p>
                      <a:pPr algn="r"/>
                      <a:r>
                        <a:rPr sz="1100" b="0">
                          <a:solidFill>
                            <a:srgbClr val="14324A"/>
                          </a:solidFill>
                          <a:latin typeface="Courier New"/>
                        </a:rPr>
                        <a:t>0</a:t>
                      </a:r>
                    </a:p>
                  </a:txBody>
                  <a:tcPr marL="54864" marR="54864" marT="27432" marB="27432">
                    <a:solidFill>
                      <a:srgbClr val="FFFFFF"/>
                    </a:solidFill>
                  </a:tcPr>
                </a:tc>
                <a:tc>
                  <a:txBody>
                    <a:bodyPr wrap="square"/>
                    <a:lstStyle/>
                    <a:p>
                      <a:pPr algn="r"/>
                      <a:r>
                        <a:rPr sz="1100" b="0">
                          <a:solidFill>
                            <a:srgbClr val="14324A"/>
                          </a:solidFill>
                          <a:latin typeface="Courier New"/>
                        </a:rPr>
                        <a:t>0.0</a:t>
                      </a:r>
                    </a:p>
                  </a:txBody>
                  <a:tcPr marL="54864" marR="54864" marT="27432" marB="27432">
                    <a:solidFill>
                      <a:srgbClr val="FFFFFF"/>
                    </a:solidFill>
                  </a:tcPr>
                </a:tc>
              </a:tr>
              <a:tr h="301752">
                <a:tc>
                  <a:txBody>
                    <a:bodyPr wrap="square"/>
                    <a:lstStyle/>
                    <a:p>
                      <a:pPr algn="l"/>
                      <a:r>
                        <a:rPr sz="1100" b="0">
                          <a:solidFill>
                            <a:srgbClr val="14324A"/>
                          </a:solidFill>
                          <a:latin typeface="Calibri"/>
                        </a:rPr>
                        <a:t>Kikuyu</a:t>
                      </a:r>
                    </a:p>
                  </a:txBody>
                  <a:tcPr marL="54864" marR="54864" marT="27432" marB="27432">
                    <a:solidFill>
                      <a:srgbClr val="FFFFFF"/>
                    </a:solidFill>
                  </a:tcPr>
                </a:tc>
                <a:tc>
                  <a:txBody>
                    <a:bodyPr wrap="square"/>
                    <a:lstStyle/>
                    <a:p>
                      <a:pPr algn="l"/>
                      <a:r>
                        <a:rPr sz="1100" b="0">
                          <a:solidFill>
                            <a:srgbClr val="14324A"/>
                          </a:solidFill>
                          <a:latin typeface="Calibri"/>
                        </a:rPr>
                        <a:t>Inooro</a:t>
                      </a:r>
                    </a:p>
                  </a:txBody>
                  <a:tcPr marL="54864" marR="54864" marT="27432" marB="27432">
                    <a:solidFill>
                      <a:srgbClr val="FFFFFF"/>
                    </a:solidFill>
                  </a:tcPr>
                </a:tc>
                <a:tc>
                  <a:txBody>
                    <a:bodyPr wrap="square"/>
                    <a:lstStyle/>
                    <a:p>
                      <a:pPr algn="r"/>
                      <a:r>
                        <a:rPr sz="1100" b="0">
                          <a:solidFill>
                            <a:srgbClr val="14324A"/>
                          </a:solidFill>
                          <a:latin typeface="Courier New"/>
                        </a:rPr>
                        <a:t>3640</a:t>
                      </a:r>
                    </a:p>
                  </a:txBody>
                  <a:tcPr marL="54864" marR="54864" marT="27432" marB="27432">
                    <a:solidFill>
                      <a:srgbClr val="FFFFFF"/>
                    </a:solidFill>
                  </a:tcPr>
                </a:tc>
                <a:tc>
                  <a:txBody>
                    <a:bodyPr wrap="square"/>
                    <a:lstStyle/>
                    <a:p>
                      <a:pPr algn="r"/>
                      <a:r>
                        <a:rPr sz="1100" b="0">
                          <a:solidFill>
                            <a:srgbClr val="14324A"/>
                          </a:solidFill>
                          <a:latin typeface="Courier New"/>
                        </a:rPr>
                        <a:t>670.9</a:t>
                      </a:r>
                    </a:p>
                  </a:txBody>
                  <a:tcPr marL="54864" marR="54864" marT="27432" marB="27432">
                    <a:solidFill>
                      <a:srgbClr val="FFFFFF"/>
                    </a:solidFill>
                  </a:tcPr>
                </a:tc>
                <a:tc>
                  <a:txBody>
                    <a:bodyPr wrap="square"/>
                    <a:lstStyle/>
                    <a:p>
                      <a:pPr algn="r"/>
                      <a:r>
                        <a:rPr sz="1100" b="0">
                          <a:solidFill>
                            <a:srgbClr val="14324A"/>
                          </a:solidFill>
                          <a:latin typeface="Courier New"/>
                        </a:rPr>
                        <a:t>11034</a:t>
                      </a:r>
                    </a:p>
                  </a:txBody>
                  <a:tcPr marL="54864" marR="54864" marT="27432" marB="27432">
                    <a:solidFill>
                      <a:srgbClr val="FFFFFF"/>
                    </a:solidFill>
                  </a:tcPr>
                </a:tc>
                <a:tc>
                  <a:txBody>
                    <a:bodyPr wrap="square"/>
                    <a:lstStyle/>
                    <a:p>
                      <a:pPr algn="r"/>
                      <a:r>
                        <a:rPr sz="1100" b="0">
                          <a:solidFill>
                            <a:srgbClr val="14324A"/>
                          </a:solidFill>
                          <a:latin typeface="Courier New"/>
                        </a:rPr>
                        <a:t>20.3</a:t>
                      </a:r>
                    </a:p>
                  </a:txBody>
                  <a:tcPr marL="54864" marR="54864" marT="27432" marB="27432">
                    <a:solidFill>
                      <a:srgbClr val="FFFFFF"/>
                    </a:solidFill>
                  </a:tcPr>
                </a:tc>
              </a:tr>
              <a:tr h="301752">
                <a:tc>
                  <a:txBody>
                    <a:bodyPr wrap="square"/>
                    <a:lstStyle/>
                    <a:p>
                      <a:pPr algn="l"/>
                      <a:r>
                        <a:rPr sz="1100" b="0">
                          <a:solidFill>
                            <a:srgbClr val="14324A"/>
                          </a:solidFill>
                          <a:latin typeface="Calibri"/>
                        </a:rPr>
                        <a:t>Maragoli</a:t>
                      </a:r>
                    </a:p>
                  </a:txBody>
                  <a:tcPr marL="54864" marR="54864" marT="27432" marB="27432">
                    <a:solidFill>
                      <a:srgbClr val="FFFFFF"/>
                    </a:solidFill>
                  </a:tcPr>
                </a:tc>
                <a:tc>
                  <a:txBody>
                    <a:bodyPr wrap="square"/>
                    <a:lstStyle/>
                    <a:p>
                      <a:pPr algn="l"/>
                      <a:r>
                        <a:rPr sz="1100" b="0">
                          <a:solidFill>
                            <a:srgbClr val="14324A"/>
                          </a:solidFill>
                          <a:latin typeface="Calibri"/>
                        </a:rPr>
                        <a:t>Vuuka</a:t>
                      </a:r>
                    </a:p>
                  </a:txBody>
                  <a:tcPr marL="54864" marR="54864" marT="27432" marB="27432">
                    <a:solidFill>
                      <a:srgbClr val="FFFFFF"/>
                    </a:solidFill>
                  </a:tcPr>
                </a:tc>
                <a:tc>
                  <a:txBody>
                    <a:bodyPr wrap="square"/>
                    <a:lstStyle/>
                    <a:p>
                      <a:pPr algn="r"/>
                      <a:r>
                        <a:rPr sz="1100" b="0">
                          <a:solidFill>
                            <a:srgbClr val="14324A"/>
                          </a:solidFill>
                          <a:latin typeface="Courier New"/>
                        </a:rPr>
                        <a:t>5503</a:t>
                      </a:r>
                    </a:p>
                  </a:txBody>
                  <a:tcPr marL="54864" marR="54864" marT="27432" marB="27432">
                    <a:solidFill>
                      <a:srgbClr val="FFFFFF"/>
                    </a:solidFill>
                  </a:tcPr>
                </a:tc>
                <a:tc>
                  <a:txBody>
                    <a:bodyPr wrap="square"/>
                    <a:lstStyle/>
                    <a:p>
                      <a:pPr algn="r"/>
                      <a:r>
                        <a:rPr sz="1100" b="0">
                          <a:solidFill>
                            <a:srgbClr val="14324A"/>
                          </a:solidFill>
                          <a:latin typeface="Courier New"/>
                        </a:rPr>
                        <a:t>559.7</a:t>
                      </a:r>
                    </a:p>
                  </a:txBody>
                  <a:tcPr marL="54864" marR="54864" marT="27432" marB="27432">
                    <a:solidFill>
                      <a:srgbClr val="FFFFFF"/>
                    </a:solidFill>
                  </a:tcPr>
                </a:tc>
                <a:tc>
                  <a:txBody>
                    <a:bodyPr wrap="square"/>
                    <a:lstStyle/>
                    <a:p>
                      <a:pPr algn="r"/>
                      <a:r>
                        <a:rPr sz="1100" b="0">
                          <a:solidFill>
                            <a:srgbClr val="14324A"/>
                          </a:solidFill>
                          <a:latin typeface="Courier New"/>
                        </a:rPr>
                        <a:t>0</a:t>
                      </a:r>
                    </a:p>
                  </a:txBody>
                  <a:tcPr marL="54864" marR="54864" marT="27432" marB="27432">
                    <a:solidFill>
                      <a:srgbClr val="FFFFFF"/>
                    </a:solidFill>
                  </a:tcPr>
                </a:tc>
                <a:tc>
                  <a:txBody>
                    <a:bodyPr wrap="square"/>
                    <a:lstStyle/>
                    <a:p>
                      <a:pPr algn="r"/>
                      <a:r>
                        <a:rPr sz="1100" b="0">
                          <a:solidFill>
                            <a:srgbClr val="14324A"/>
                          </a:solidFill>
                          <a:latin typeface="Courier New"/>
                        </a:rPr>
                        <a:t>0.0</a:t>
                      </a:r>
                    </a:p>
                  </a:txBody>
                  <a:tcPr marL="54864" marR="54864" marT="27432" marB="27432">
                    <a:solidFill>
                      <a:srgbClr val="FFFFFF"/>
                    </a:solidFill>
                  </a:tcPr>
                </a:tc>
              </a:tr>
              <a:tr h="301752">
                <a:tc>
                  <a:txBody>
                    <a:bodyPr wrap="square"/>
                    <a:lstStyle/>
                    <a:p>
                      <a:pPr algn="l"/>
                      <a:r>
                        <a:rPr sz="1100" b="0">
                          <a:solidFill>
                            <a:srgbClr val="14324A"/>
                          </a:solidFill>
                          <a:latin typeface="Calibri"/>
                        </a:rPr>
                        <a:t>Embu</a:t>
                      </a:r>
                    </a:p>
                  </a:txBody>
                  <a:tcPr marL="54864" marR="54864" marT="27432" marB="27432">
                    <a:solidFill>
                      <a:srgbClr val="FFFFFF"/>
                    </a:solidFill>
                  </a:tcPr>
                </a:tc>
                <a:tc>
                  <a:txBody>
                    <a:bodyPr wrap="square"/>
                    <a:lstStyle/>
                    <a:p>
                      <a:pPr algn="l"/>
                      <a:r>
                        <a:rPr sz="1100" b="0">
                          <a:solidFill>
                            <a:srgbClr val="14324A"/>
                          </a:solidFill>
                          <a:latin typeface="Calibri"/>
                        </a:rPr>
                        <a:t>wimwaro</a:t>
                      </a:r>
                    </a:p>
                  </a:txBody>
                  <a:tcPr marL="54864" marR="54864" marT="27432" marB="27432">
                    <a:solidFill>
                      <a:srgbClr val="FFFFFF"/>
                    </a:solidFill>
                  </a:tcPr>
                </a:tc>
                <a:tc>
                  <a:txBody>
                    <a:bodyPr wrap="square"/>
                    <a:lstStyle/>
                    <a:p>
                      <a:pPr algn="r"/>
                      <a:r>
                        <a:rPr sz="1100" b="0">
                          <a:solidFill>
                            <a:srgbClr val="14324A"/>
                          </a:solidFill>
                          <a:latin typeface="Courier New"/>
                        </a:rPr>
                        <a:t>2000</a:t>
                      </a:r>
                    </a:p>
                  </a:txBody>
                  <a:tcPr marL="54864" marR="54864" marT="27432" marB="27432">
                    <a:solidFill>
                      <a:srgbClr val="FFFFFF"/>
                    </a:solidFill>
                  </a:tcPr>
                </a:tc>
                <a:tc>
                  <a:txBody>
                    <a:bodyPr wrap="square"/>
                    <a:lstStyle/>
                    <a:p>
                      <a:pPr algn="r"/>
                      <a:r>
                        <a:rPr sz="1100" b="0">
                          <a:solidFill>
                            <a:srgbClr val="14324A"/>
                          </a:solidFill>
                          <a:latin typeface="Courier New"/>
                        </a:rPr>
                        <a:t>504.3</a:t>
                      </a:r>
                    </a:p>
                  </a:txBody>
                  <a:tcPr marL="54864" marR="54864" marT="27432" marB="27432">
                    <a:solidFill>
                      <a:srgbClr val="FFFFFF"/>
                    </a:solidFill>
                  </a:tcPr>
                </a:tc>
                <a:tc>
                  <a:txBody>
                    <a:bodyPr wrap="square"/>
                    <a:lstStyle/>
                    <a:p>
                      <a:pPr algn="r"/>
                      <a:r>
                        <a:rPr sz="1100" b="0">
                          <a:solidFill>
                            <a:srgbClr val="14324A"/>
                          </a:solidFill>
                          <a:latin typeface="Courier New"/>
                        </a:rPr>
                        <a:t>0</a:t>
                      </a:r>
                    </a:p>
                  </a:txBody>
                  <a:tcPr marL="54864" marR="54864" marT="27432" marB="27432">
                    <a:solidFill>
                      <a:srgbClr val="FFFFFF"/>
                    </a:solidFill>
                  </a:tcPr>
                </a:tc>
                <a:tc>
                  <a:txBody>
                    <a:bodyPr wrap="square"/>
                    <a:lstStyle/>
                    <a:p>
                      <a:pPr algn="r"/>
                      <a:r>
                        <a:rPr sz="1100" b="0">
                          <a:solidFill>
                            <a:srgbClr val="14324A"/>
                          </a:solidFill>
                          <a:latin typeface="Courier New"/>
                        </a:rPr>
                        <a:t>0.0</a:t>
                      </a:r>
                    </a:p>
                  </a:txBody>
                  <a:tcPr marL="54864" marR="54864" marT="27432" marB="27432">
                    <a:solidFill>
                      <a:srgbClr val="FFFFFF"/>
                    </a:solidFill>
                  </a:tcPr>
                </a:tc>
              </a:tr>
              <a:tr h="301752">
                <a:tc>
                  <a:txBody>
                    <a:bodyPr wrap="square"/>
                    <a:lstStyle/>
                    <a:p>
                      <a:pPr algn="l"/>
                      <a:r>
                        <a:rPr sz="1100" b="0">
                          <a:solidFill>
                            <a:srgbClr val="14324A"/>
                          </a:solidFill>
                          <a:latin typeface="Calibri"/>
                        </a:rPr>
                        <a:t>Kalenjin</a:t>
                      </a:r>
                    </a:p>
                  </a:txBody>
                  <a:tcPr marL="54864" marR="54864" marT="27432" marB="27432">
                    <a:solidFill>
                      <a:srgbClr val="FFFFFF"/>
                    </a:solidFill>
                  </a:tcPr>
                </a:tc>
                <a:tc>
                  <a:txBody>
                    <a:bodyPr wrap="square"/>
                    <a:lstStyle/>
                    <a:p>
                      <a:pPr algn="l"/>
                      <a:r>
                        <a:rPr sz="1100" b="0">
                          <a:solidFill>
                            <a:srgbClr val="14324A"/>
                          </a:solidFill>
                          <a:latin typeface="Calibri"/>
                        </a:rPr>
                        <a:t>Chamgei</a:t>
                      </a:r>
                    </a:p>
                  </a:txBody>
                  <a:tcPr marL="54864" marR="54864" marT="27432" marB="27432">
                    <a:solidFill>
                      <a:srgbClr val="FFFFFF"/>
                    </a:solidFill>
                  </a:tcPr>
                </a:tc>
                <a:tc>
                  <a:txBody>
                    <a:bodyPr wrap="square"/>
                    <a:lstStyle/>
                    <a:p>
                      <a:pPr algn="r"/>
                      <a:r>
                        <a:rPr sz="1100" b="0">
                          <a:solidFill>
                            <a:srgbClr val="14324A"/>
                          </a:solidFill>
                          <a:latin typeface="Courier New"/>
                        </a:rPr>
                        <a:t>1280</a:t>
                      </a:r>
                    </a:p>
                  </a:txBody>
                  <a:tcPr marL="54864" marR="54864" marT="27432" marB="27432">
                    <a:solidFill>
                      <a:srgbClr val="FFFFFF"/>
                    </a:solidFill>
                  </a:tcPr>
                </a:tc>
                <a:tc>
                  <a:txBody>
                    <a:bodyPr wrap="square"/>
                    <a:lstStyle/>
                    <a:p>
                      <a:pPr algn="r"/>
                      <a:r>
                        <a:rPr sz="1100" b="0">
                          <a:solidFill>
                            <a:srgbClr val="14324A"/>
                          </a:solidFill>
                          <a:latin typeface="Courier New"/>
                        </a:rPr>
                        <a:t>500.6</a:t>
                      </a:r>
                    </a:p>
                  </a:txBody>
                  <a:tcPr marL="54864" marR="54864" marT="27432" marB="27432">
                    <a:solidFill>
                      <a:srgbClr val="FFFFFF"/>
                    </a:solidFill>
                  </a:tcPr>
                </a:tc>
                <a:tc>
                  <a:txBody>
                    <a:bodyPr wrap="square"/>
                    <a:lstStyle/>
                    <a:p>
                      <a:pPr algn="r"/>
                      <a:r>
                        <a:rPr sz="1100" b="0">
                          <a:solidFill>
                            <a:srgbClr val="14324A"/>
                          </a:solidFill>
                          <a:latin typeface="Courier New"/>
                        </a:rPr>
                        <a:t>59507</a:t>
                      </a:r>
                    </a:p>
                  </a:txBody>
                  <a:tcPr marL="54864" marR="54864" marT="27432" marB="27432">
                    <a:solidFill>
                      <a:srgbClr val="FFFFFF"/>
                    </a:solidFill>
                  </a:tcPr>
                </a:tc>
                <a:tc>
                  <a:txBody>
                    <a:bodyPr wrap="square"/>
                    <a:lstStyle/>
                    <a:p>
                      <a:pPr algn="r"/>
                      <a:r>
                        <a:rPr sz="1100" b="0">
                          <a:solidFill>
                            <a:srgbClr val="14324A"/>
                          </a:solidFill>
                          <a:latin typeface="Courier New"/>
                        </a:rPr>
                        <a:t>129.1</a:t>
                      </a:r>
                    </a:p>
                  </a:txBody>
                  <a:tcPr marL="54864" marR="54864" marT="27432" marB="27432">
                    <a:solidFill>
                      <a:srgbClr val="FFFFFF"/>
                    </a:solidFill>
                  </a:tcPr>
                </a:tc>
              </a:tr>
              <a:tr h="301752">
                <a:tc>
                  <a:txBody>
                    <a:bodyPr wrap="square"/>
                    <a:lstStyle/>
                    <a:p>
                      <a:pPr algn="l"/>
                      <a:r>
                        <a:rPr sz="1100" b="0">
                          <a:solidFill>
                            <a:srgbClr val="14324A"/>
                          </a:solidFill>
                          <a:latin typeface="Calibri"/>
                        </a:rPr>
                        <a:t>Luo</a:t>
                      </a:r>
                    </a:p>
                  </a:txBody>
                  <a:tcPr marL="54864" marR="54864" marT="27432" marB="27432">
                    <a:solidFill>
                      <a:srgbClr val="FFFFFF"/>
                    </a:solidFill>
                  </a:tcPr>
                </a:tc>
                <a:tc>
                  <a:txBody>
                    <a:bodyPr wrap="square"/>
                    <a:lstStyle/>
                    <a:p>
                      <a:pPr algn="l"/>
                      <a:r>
                        <a:rPr sz="1100" b="0">
                          <a:solidFill>
                            <a:srgbClr val="14324A"/>
                          </a:solidFill>
                          <a:latin typeface="Calibri"/>
                        </a:rPr>
                        <a:t>Ramogi</a:t>
                      </a:r>
                    </a:p>
                  </a:txBody>
                  <a:tcPr marL="54864" marR="54864" marT="27432" marB="27432">
                    <a:solidFill>
                      <a:srgbClr val="FFFFFF"/>
                    </a:solidFill>
                  </a:tcPr>
                </a:tc>
                <a:tc>
                  <a:txBody>
                    <a:bodyPr wrap="square"/>
                    <a:lstStyle/>
                    <a:p>
                      <a:pPr algn="r"/>
                      <a:r>
                        <a:rPr sz="1100" b="0">
                          <a:solidFill>
                            <a:srgbClr val="14324A"/>
                          </a:solidFill>
                          <a:latin typeface="Courier New"/>
                        </a:rPr>
                        <a:t>3693</a:t>
                      </a:r>
                    </a:p>
                  </a:txBody>
                  <a:tcPr marL="54864" marR="54864" marT="27432" marB="27432">
                    <a:solidFill>
                      <a:srgbClr val="FFFFFF"/>
                    </a:solidFill>
                  </a:tcPr>
                </a:tc>
                <a:tc>
                  <a:txBody>
                    <a:bodyPr wrap="square"/>
                    <a:lstStyle/>
                    <a:p>
                      <a:pPr algn="r"/>
                      <a:r>
                        <a:rPr sz="1100" b="0">
                          <a:solidFill>
                            <a:srgbClr val="14324A"/>
                          </a:solidFill>
                          <a:latin typeface="Courier New"/>
                        </a:rPr>
                        <a:t>492.5</a:t>
                      </a:r>
                    </a:p>
                  </a:txBody>
                  <a:tcPr marL="54864" marR="54864" marT="27432" marB="27432">
                    <a:solidFill>
                      <a:srgbClr val="FFFFFF"/>
                    </a:solidFill>
                  </a:tcPr>
                </a:tc>
                <a:tc>
                  <a:txBody>
                    <a:bodyPr wrap="square"/>
                    <a:lstStyle/>
                    <a:p>
                      <a:pPr algn="r"/>
                      <a:r>
                        <a:rPr sz="1100" b="0">
                          <a:solidFill>
                            <a:srgbClr val="14324A"/>
                          </a:solidFill>
                          <a:latin typeface="Courier New"/>
                        </a:rPr>
                        <a:t>44184</a:t>
                      </a:r>
                    </a:p>
                  </a:txBody>
                  <a:tcPr marL="54864" marR="54864" marT="27432" marB="27432">
                    <a:solidFill>
                      <a:srgbClr val="FFFFFF"/>
                    </a:solidFill>
                  </a:tcPr>
                </a:tc>
                <a:tc>
                  <a:txBody>
                    <a:bodyPr wrap="square"/>
                    <a:lstStyle/>
                    <a:p>
                      <a:pPr algn="r"/>
                      <a:r>
                        <a:rPr sz="1100" b="0">
                          <a:solidFill>
                            <a:srgbClr val="14324A"/>
                          </a:solidFill>
                          <a:latin typeface="Courier New"/>
                        </a:rPr>
                        <a:t>711.1</a:t>
                      </a:r>
                    </a:p>
                  </a:txBody>
                  <a:tcPr marL="54864" marR="54864" marT="27432" marB="27432">
                    <a:solidFill>
                      <a:srgbClr val="FFFFFF"/>
                    </a:solidFill>
                  </a:tcPr>
                </a:tc>
              </a:tr>
              <a:tr h="301752">
                <a:tc>
                  <a:txBody>
                    <a:bodyPr wrap="square"/>
                    <a:lstStyle/>
                    <a:p>
                      <a:pPr algn="l"/>
                      <a:r>
                        <a:rPr sz="1100" b="0">
                          <a:solidFill>
                            <a:srgbClr val="14324A"/>
                          </a:solidFill>
                          <a:latin typeface="Calibri"/>
                        </a:rPr>
                        <a:t>Kisii</a:t>
                      </a:r>
                    </a:p>
                  </a:txBody>
                  <a:tcPr marL="54864" marR="54864" marT="27432" marB="27432">
                    <a:solidFill>
                      <a:srgbClr val="FFFFFF"/>
                    </a:solidFill>
                  </a:tcPr>
                </a:tc>
                <a:tc>
                  <a:txBody>
                    <a:bodyPr wrap="square"/>
                    <a:lstStyle/>
                    <a:p>
                      <a:pPr algn="l"/>
                      <a:r>
                        <a:rPr sz="1100" b="0">
                          <a:solidFill>
                            <a:srgbClr val="14324A"/>
                          </a:solidFill>
                          <a:latin typeface="Calibri"/>
                        </a:rPr>
                        <a:t>Egesa</a:t>
                      </a:r>
                    </a:p>
                  </a:txBody>
                  <a:tcPr marL="54864" marR="54864" marT="27432" marB="27432">
                    <a:solidFill>
                      <a:srgbClr val="FFFFFF"/>
                    </a:solidFill>
                  </a:tcPr>
                </a:tc>
                <a:tc>
                  <a:txBody>
                    <a:bodyPr wrap="square"/>
                    <a:lstStyle/>
                    <a:p>
                      <a:pPr algn="r"/>
                      <a:r>
                        <a:rPr sz="1100" b="0">
                          <a:solidFill>
                            <a:srgbClr val="14324A"/>
                          </a:solidFill>
                          <a:latin typeface="Courier New"/>
                        </a:rPr>
                        <a:t>2503</a:t>
                      </a:r>
                    </a:p>
                  </a:txBody>
                  <a:tcPr marL="54864" marR="54864" marT="27432" marB="27432">
                    <a:solidFill>
                      <a:srgbClr val="FFFFFF"/>
                    </a:solidFill>
                  </a:tcPr>
                </a:tc>
                <a:tc>
                  <a:txBody>
                    <a:bodyPr wrap="square"/>
                    <a:lstStyle/>
                    <a:p>
                      <a:pPr algn="r"/>
                      <a:r>
                        <a:rPr sz="1100" b="0">
                          <a:solidFill>
                            <a:srgbClr val="14324A"/>
                          </a:solidFill>
                          <a:latin typeface="Courier New"/>
                        </a:rPr>
                        <a:t>491.0</a:t>
                      </a:r>
                    </a:p>
                  </a:txBody>
                  <a:tcPr marL="54864" marR="54864" marT="27432" marB="27432">
                    <a:solidFill>
                      <a:srgbClr val="FFFFFF"/>
                    </a:solidFill>
                  </a:tcPr>
                </a:tc>
                <a:tc>
                  <a:txBody>
                    <a:bodyPr wrap="square"/>
                    <a:lstStyle/>
                    <a:p>
                      <a:pPr algn="r"/>
                      <a:r>
                        <a:rPr sz="1100" b="0">
                          <a:solidFill>
                            <a:srgbClr val="14324A"/>
                          </a:solidFill>
                          <a:latin typeface="Courier New"/>
                        </a:rPr>
                        <a:t>44470</a:t>
                      </a:r>
                    </a:p>
                  </a:txBody>
                  <a:tcPr marL="54864" marR="54864" marT="27432" marB="27432">
                    <a:solidFill>
                      <a:srgbClr val="FFFFFF"/>
                    </a:solidFill>
                  </a:tcPr>
                </a:tc>
                <a:tc>
                  <a:txBody>
                    <a:bodyPr wrap="square"/>
                    <a:lstStyle/>
                    <a:p>
                      <a:pPr algn="r"/>
                      <a:r>
                        <a:rPr sz="1100" b="0">
                          <a:solidFill>
                            <a:srgbClr val="14324A"/>
                          </a:solidFill>
                          <a:latin typeface="Courier New"/>
                        </a:rPr>
                        <a:t>75.1</a:t>
                      </a:r>
                    </a:p>
                  </a:txBody>
                  <a:tcPr marL="54864" marR="54864" marT="27432" marB="27432">
                    <a:solidFill>
                      <a:srgbClr val="FFFFFF"/>
                    </a:solidFill>
                  </a:tcPr>
                </a:tc>
              </a:tr>
              <a:tr h="301752">
                <a:tc>
                  <a:txBody>
                    <a:bodyPr wrap="square"/>
                    <a:lstStyle/>
                    <a:p>
                      <a:pPr algn="l"/>
                      <a:r>
                        <a:rPr sz="1100" b="0">
                          <a:solidFill>
                            <a:srgbClr val="14324A"/>
                          </a:solidFill>
                          <a:latin typeface="Calibri"/>
                        </a:rPr>
                        <a:t>luhya</a:t>
                      </a:r>
                    </a:p>
                  </a:txBody>
                  <a:tcPr marL="54864" marR="54864" marT="27432" marB="27432">
                    <a:solidFill>
                      <a:srgbClr val="FFFFFF"/>
                    </a:solidFill>
                  </a:tcPr>
                </a:tc>
                <a:tc>
                  <a:txBody>
                    <a:bodyPr wrap="square"/>
                    <a:lstStyle/>
                    <a:p>
                      <a:pPr algn="l"/>
                      <a:r>
                        <a:rPr sz="1100" b="0">
                          <a:solidFill>
                            <a:srgbClr val="14324A"/>
                          </a:solidFill>
                          <a:latin typeface="Calibri"/>
                        </a:rPr>
                        <a:t>mulembe</a:t>
                      </a:r>
                    </a:p>
                  </a:txBody>
                  <a:tcPr marL="54864" marR="54864" marT="27432" marB="27432">
                    <a:solidFill>
                      <a:srgbClr val="FFFFFF"/>
                    </a:solidFill>
                  </a:tcPr>
                </a:tc>
                <a:tc>
                  <a:txBody>
                    <a:bodyPr wrap="square"/>
                    <a:lstStyle/>
                    <a:p>
                      <a:pPr algn="r"/>
                      <a:r>
                        <a:rPr sz="1100" b="0">
                          <a:solidFill>
                            <a:srgbClr val="14324A"/>
                          </a:solidFill>
                          <a:latin typeface="Courier New"/>
                        </a:rPr>
                        <a:t>2253</a:t>
                      </a:r>
                    </a:p>
                  </a:txBody>
                  <a:tcPr marL="54864" marR="54864" marT="27432" marB="27432">
                    <a:solidFill>
                      <a:srgbClr val="FFFFFF"/>
                    </a:solidFill>
                  </a:tcPr>
                </a:tc>
                <a:tc>
                  <a:txBody>
                    <a:bodyPr wrap="square"/>
                    <a:lstStyle/>
                    <a:p>
                      <a:pPr algn="r"/>
                      <a:r>
                        <a:rPr sz="1100" b="0">
                          <a:solidFill>
                            <a:srgbClr val="14324A"/>
                          </a:solidFill>
                          <a:latin typeface="Courier New"/>
                        </a:rPr>
                        <a:t>420.1</a:t>
                      </a:r>
                    </a:p>
                  </a:txBody>
                  <a:tcPr marL="54864" marR="54864" marT="27432" marB="27432">
                    <a:solidFill>
                      <a:srgbClr val="FFFFFF"/>
                    </a:solidFill>
                  </a:tcPr>
                </a:tc>
                <a:tc>
                  <a:txBody>
                    <a:bodyPr wrap="square"/>
                    <a:lstStyle/>
                    <a:p>
                      <a:pPr algn="r"/>
                      <a:r>
                        <a:rPr sz="1100" b="0">
                          <a:solidFill>
                            <a:srgbClr val="14324A"/>
                          </a:solidFill>
                          <a:latin typeface="Courier New"/>
                        </a:rPr>
                        <a:t>53287</a:t>
                      </a:r>
                    </a:p>
                  </a:txBody>
                  <a:tcPr marL="54864" marR="54864" marT="27432" marB="27432">
                    <a:solidFill>
                      <a:srgbClr val="FFFFFF"/>
                    </a:solidFill>
                  </a:tcPr>
                </a:tc>
                <a:tc>
                  <a:txBody>
                    <a:bodyPr wrap="square"/>
                    <a:lstStyle/>
                    <a:p>
                      <a:pPr algn="r"/>
                      <a:r>
                        <a:rPr sz="1100" b="0">
                          <a:solidFill>
                            <a:srgbClr val="14324A"/>
                          </a:solidFill>
                          <a:latin typeface="Courier New"/>
                        </a:rPr>
                        <a:t>7.4</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E8772E"/>
                </a:solidFill>
                <a:latin typeface="Calibri"/>
              </a:rPr>
              <a:t>The workbench registers recordings per language with their length and whether a transcript was produced; transcript hours are the summed segment spans. This is a separate inventory from the staged corpus and may overlap it — the two are not added together anywhere in this pack.</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70879A"/>
                </a:solidFill>
                <a:latin typeface="Courier New"/>
              </a:rPr>
              <a:t>[measured]  Receipt R08: Aggregate-only database reading etx-81e10befe6e0: news_vault.stories (script, title, date, hour_id) → news_vault.hours (station_id, time, type_id) → news_vault.stations (name); news_vault.news (2022 bulletins); local.uploaded_files (language_id, audio_length, status) ← local.transcripts (file_id, start_time, end_time, transcript) ; local.folder_languages (Language, code, station)</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70879A"/>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70879A"/>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70879A"/>
                </a:solidFill>
                <a:latin typeface="Courier New"/>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70879A"/>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4324A"/>
                </a:solidFill>
                <a:latin typeface="Cambria"/>
              </a:rPr>
              <a:t>Transcription workbench by language (local.uploaded_files, local.transcripts)</a:t>
            </a:r>
          </a:p>
        </p:txBody>
      </p:sp>
      <p:graphicFrame>
        <p:nvGraphicFramePr>
          <p:cNvPr id="4" name="Table 3"/>
          <p:cNvGraphicFramePr>
            <a:graphicFrameLocks noGrp="1"/>
          </p:cNvGraphicFramePr>
          <p:nvPr/>
        </p:nvGraphicFramePr>
        <p:xfrm>
          <a:off x="594360" y="1920240"/>
          <a:ext cx="11002971" cy="3017520"/>
        </p:xfrm>
        <a:graphic>
          <a:graphicData uri="http://schemas.openxmlformats.org/drawingml/2006/table">
            <a:tbl>
              <a:tblPr firstRow="1" bandRow="1">
                <a:tableStyleId>{5C22544A-7EE6-4342-B048-85BDC9FD1C3A}</a:tableStyleId>
              </a:tblPr>
              <a:tblGrid>
                <a:gridCol w="1674365"/>
                <a:gridCol w="1674365"/>
                <a:gridCol w="1674365"/>
                <a:gridCol w="1674365"/>
                <a:gridCol w="2272353"/>
                <a:gridCol w="2033158"/>
              </a:tblGrid>
              <a:tr h="301752">
                <a:tc>
                  <a:txBody>
                    <a:bodyPr wrap="square"/>
                    <a:lstStyle/>
                    <a:p>
                      <a:pPr algn="l"/>
                      <a:r>
                        <a:rPr sz="1100" b="1">
                          <a:solidFill>
                            <a:srgbClr val="14324A"/>
                          </a:solidFill>
                          <a:latin typeface="Calibri"/>
                        </a:rPr>
                        <a:t>Language</a:t>
                      </a:r>
                    </a:p>
                  </a:txBody>
                  <a:tcPr marL="54864" marR="54864" marT="27432" marB="27432">
                    <a:solidFill>
                      <a:srgbClr val="E8EEF3"/>
                    </a:solidFill>
                  </a:tcPr>
                </a:tc>
                <a:tc>
                  <a:txBody>
                    <a:bodyPr wrap="square"/>
                    <a:lstStyle/>
                    <a:p>
                      <a:pPr algn="l"/>
                      <a:r>
                        <a:rPr sz="1100" b="1">
                          <a:solidFill>
                            <a:srgbClr val="14324A"/>
                          </a:solidFill>
                          <a:latin typeface="Calibri"/>
                        </a:rPr>
                        <a:t>Station</a:t>
                      </a:r>
                    </a:p>
                  </a:txBody>
                  <a:tcPr marL="54864" marR="54864" marT="27432" marB="27432">
                    <a:solidFill>
                      <a:srgbClr val="E8EEF3"/>
                    </a:solidFill>
                  </a:tcPr>
                </a:tc>
                <a:tc>
                  <a:txBody>
                    <a:bodyPr wrap="square"/>
                    <a:lstStyle/>
                    <a:p>
                      <a:pPr algn="l"/>
                      <a:r>
                        <a:rPr sz="1100" b="1">
                          <a:solidFill>
                            <a:srgbClr val="14324A"/>
                          </a:solidFill>
                          <a:latin typeface="Calibri"/>
                        </a:rPr>
                        <a:t>Recordings</a:t>
                      </a:r>
                    </a:p>
                  </a:txBody>
                  <a:tcPr marL="54864" marR="54864" marT="27432" marB="27432">
                    <a:solidFill>
                      <a:srgbClr val="E8EEF3"/>
                    </a:solidFill>
                  </a:tcPr>
                </a:tc>
                <a:tc>
                  <a:txBody>
                    <a:bodyPr wrap="square"/>
                    <a:lstStyle/>
                    <a:p>
                      <a:pPr algn="l"/>
                      <a:r>
                        <a:rPr sz="1100" b="1">
                          <a:solidFill>
                            <a:srgbClr val="14324A"/>
                          </a:solidFill>
                          <a:latin typeface="Calibri"/>
                        </a:rPr>
                        <a:t>Audio hours</a:t>
                      </a:r>
                    </a:p>
                  </a:txBody>
                  <a:tcPr marL="54864" marR="54864" marT="27432" marB="27432">
                    <a:solidFill>
                      <a:srgbClr val="E8EEF3"/>
                    </a:solidFill>
                  </a:tcPr>
                </a:tc>
                <a:tc>
                  <a:txBody>
                    <a:bodyPr wrap="square"/>
                    <a:lstStyle/>
                    <a:p>
                      <a:pPr algn="l"/>
                      <a:r>
                        <a:rPr sz="1100" b="1">
                          <a:solidFill>
                            <a:srgbClr val="14324A"/>
                          </a:solidFill>
                          <a:latin typeface="Calibri"/>
                        </a:rPr>
                        <a:t>Transcript segments</a:t>
                      </a:r>
                    </a:p>
                  </a:txBody>
                  <a:tcPr marL="54864" marR="54864" marT="27432" marB="27432">
                    <a:solidFill>
                      <a:srgbClr val="E8EEF3"/>
                    </a:solidFill>
                  </a:tcPr>
                </a:tc>
                <a:tc>
                  <a:txBody>
                    <a:bodyPr wrap="square"/>
                    <a:lstStyle/>
                    <a:p>
                      <a:pPr algn="l"/>
                      <a:r>
                        <a:rPr sz="1100" b="1">
                          <a:solidFill>
                            <a:srgbClr val="14324A"/>
                          </a:solidFill>
                          <a:latin typeface="Calibri"/>
                        </a:rPr>
                        <a:t>Transcribed hours</a:t>
                      </a:r>
                    </a:p>
                  </a:txBody>
                  <a:tcPr marL="54864" marR="54864" marT="27432" marB="27432">
                    <a:solidFill>
                      <a:srgbClr val="E8EEF3"/>
                    </a:solidFill>
                  </a:tcPr>
                </a:tc>
              </a:tr>
              <a:tr h="301752">
                <a:tc>
                  <a:txBody>
                    <a:bodyPr wrap="square"/>
                    <a:lstStyle/>
                    <a:p>
                      <a:pPr algn="l"/>
                      <a:r>
                        <a:rPr sz="1100" b="0">
                          <a:solidFill>
                            <a:srgbClr val="14324A"/>
                          </a:solidFill>
                          <a:latin typeface="Calibri"/>
                        </a:rPr>
                        <a:t>Kikuyu</a:t>
                      </a:r>
                    </a:p>
                  </a:txBody>
                  <a:tcPr marL="54864" marR="54864" marT="27432" marB="27432">
                    <a:solidFill>
                      <a:srgbClr val="FFFFFF"/>
                    </a:solidFill>
                  </a:tcPr>
                </a:tc>
                <a:tc>
                  <a:txBody>
                    <a:bodyPr wrap="square"/>
                    <a:lstStyle/>
                    <a:p>
                      <a:pPr algn="l"/>
                      <a:r>
                        <a:rPr sz="1100" b="0">
                          <a:solidFill>
                            <a:srgbClr val="14324A"/>
                          </a:solidFill>
                          <a:latin typeface="Calibri"/>
                        </a:rPr>
                        <a:t>inooro</a:t>
                      </a:r>
                    </a:p>
                  </a:txBody>
                  <a:tcPr marL="54864" marR="54864" marT="27432" marB="27432">
                    <a:solidFill>
                      <a:srgbClr val="FFFFFF"/>
                    </a:solidFill>
                  </a:tcPr>
                </a:tc>
                <a:tc>
                  <a:txBody>
                    <a:bodyPr wrap="square"/>
                    <a:lstStyle/>
                    <a:p>
                      <a:pPr algn="r"/>
                      <a:r>
                        <a:rPr sz="1100" b="0">
                          <a:solidFill>
                            <a:srgbClr val="14324A"/>
                          </a:solidFill>
                          <a:latin typeface="Courier New"/>
                        </a:rPr>
                        <a:t>853</a:t>
                      </a:r>
                    </a:p>
                  </a:txBody>
                  <a:tcPr marL="54864" marR="54864" marT="27432" marB="27432">
                    <a:solidFill>
                      <a:srgbClr val="FFFFFF"/>
                    </a:solidFill>
                  </a:tcPr>
                </a:tc>
                <a:tc>
                  <a:txBody>
                    <a:bodyPr wrap="square"/>
                    <a:lstStyle/>
                    <a:p>
                      <a:pPr algn="r"/>
                      <a:r>
                        <a:rPr sz="1100" b="0">
                          <a:solidFill>
                            <a:srgbClr val="14324A"/>
                          </a:solidFill>
                          <a:latin typeface="Courier New"/>
                        </a:rPr>
                        <a:t>401.7</a:t>
                      </a:r>
                    </a:p>
                  </a:txBody>
                  <a:tcPr marL="54864" marR="54864" marT="27432" marB="27432">
                    <a:solidFill>
                      <a:srgbClr val="FFFFFF"/>
                    </a:solidFill>
                  </a:tcPr>
                </a:tc>
                <a:tc>
                  <a:txBody>
                    <a:bodyPr wrap="square"/>
                    <a:lstStyle/>
                    <a:p>
                      <a:pPr algn="r"/>
                      <a:r>
                        <a:rPr sz="1100" b="0">
                          <a:solidFill>
                            <a:srgbClr val="14324A"/>
                          </a:solidFill>
                          <a:latin typeface="Courier New"/>
                        </a:rPr>
                        <a:t>2456</a:t>
                      </a:r>
                    </a:p>
                  </a:txBody>
                  <a:tcPr marL="54864" marR="54864" marT="27432" marB="27432">
                    <a:solidFill>
                      <a:srgbClr val="FFFFFF"/>
                    </a:solidFill>
                  </a:tcPr>
                </a:tc>
                <a:tc>
                  <a:txBody>
                    <a:bodyPr wrap="square"/>
                    <a:lstStyle/>
                    <a:p>
                      <a:pPr algn="r"/>
                      <a:r>
                        <a:rPr sz="1100" b="0">
                          <a:solidFill>
                            <a:srgbClr val="14324A"/>
                          </a:solidFill>
                          <a:latin typeface="Courier New"/>
                        </a:rPr>
                        <a:t>9.1</a:t>
                      </a:r>
                    </a:p>
                  </a:txBody>
                  <a:tcPr marL="54864" marR="54864" marT="27432" marB="27432">
                    <a:solidFill>
                      <a:srgbClr val="FFFFFF"/>
                    </a:solidFill>
                  </a:tcPr>
                </a:tc>
              </a:tr>
              <a:tr h="301752">
                <a:tc>
                  <a:txBody>
                    <a:bodyPr wrap="square"/>
                    <a:lstStyle/>
                    <a:p>
                      <a:pPr algn="l"/>
                      <a:r>
                        <a:rPr sz="1100" b="0">
                          <a:solidFill>
                            <a:srgbClr val="14324A"/>
                          </a:solidFill>
                          <a:latin typeface="Calibri"/>
                        </a:rPr>
                        <a:t>Meru</a:t>
                      </a:r>
                    </a:p>
                  </a:txBody>
                  <a:tcPr marL="54864" marR="54864" marT="27432" marB="27432">
                    <a:solidFill>
                      <a:srgbClr val="FFFFFF"/>
                    </a:solidFill>
                  </a:tcPr>
                </a:tc>
                <a:tc>
                  <a:txBody>
                    <a:bodyPr wrap="square"/>
                    <a:lstStyle/>
                    <a:p>
                      <a:pPr algn="l"/>
                      <a:r>
                        <a:rPr sz="1100" b="0">
                          <a:solidFill>
                            <a:srgbClr val="14324A"/>
                          </a:solidFill>
                          <a:latin typeface="Calibri"/>
                        </a:rPr>
                        <a:t>muuga</a:t>
                      </a:r>
                    </a:p>
                  </a:txBody>
                  <a:tcPr marL="54864" marR="54864" marT="27432" marB="27432">
                    <a:solidFill>
                      <a:srgbClr val="FFFFFF"/>
                    </a:solidFill>
                  </a:tcPr>
                </a:tc>
                <a:tc>
                  <a:txBody>
                    <a:bodyPr wrap="square"/>
                    <a:lstStyle/>
                    <a:p>
                      <a:pPr algn="r"/>
                      <a:r>
                        <a:rPr sz="1100" b="0">
                          <a:solidFill>
                            <a:srgbClr val="14324A"/>
                          </a:solidFill>
                          <a:latin typeface="Courier New"/>
                        </a:rPr>
                        <a:t>3215</a:t>
                      </a:r>
                    </a:p>
                  </a:txBody>
                  <a:tcPr marL="54864" marR="54864" marT="27432" marB="27432">
                    <a:solidFill>
                      <a:srgbClr val="FFFFFF"/>
                    </a:solidFill>
                  </a:tcPr>
                </a:tc>
                <a:tc>
                  <a:txBody>
                    <a:bodyPr wrap="square"/>
                    <a:lstStyle/>
                    <a:p>
                      <a:pPr algn="r"/>
                      <a:r>
                        <a:rPr sz="1100" b="0">
                          <a:solidFill>
                            <a:srgbClr val="14324A"/>
                          </a:solidFill>
                          <a:latin typeface="Courier New"/>
                        </a:rPr>
                        <a:t>384.2</a:t>
                      </a:r>
                    </a:p>
                  </a:txBody>
                  <a:tcPr marL="54864" marR="54864" marT="27432" marB="27432">
                    <a:solidFill>
                      <a:srgbClr val="FFFFFF"/>
                    </a:solidFill>
                  </a:tcPr>
                </a:tc>
                <a:tc>
                  <a:txBody>
                    <a:bodyPr wrap="square"/>
                    <a:lstStyle/>
                    <a:p>
                      <a:pPr algn="r"/>
                      <a:r>
                        <a:rPr sz="1100" b="0">
                          <a:solidFill>
                            <a:srgbClr val="14324A"/>
                          </a:solidFill>
                          <a:latin typeface="Courier New"/>
                        </a:rPr>
                        <a:t>0</a:t>
                      </a:r>
                    </a:p>
                  </a:txBody>
                  <a:tcPr marL="54864" marR="54864" marT="27432" marB="27432">
                    <a:solidFill>
                      <a:srgbClr val="FFFFFF"/>
                    </a:solidFill>
                  </a:tcPr>
                </a:tc>
                <a:tc>
                  <a:txBody>
                    <a:bodyPr wrap="square"/>
                    <a:lstStyle/>
                    <a:p>
                      <a:pPr algn="r"/>
                      <a:r>
                        <a:rPr sz="1100" b="0">
                          <a:solidFill>
                            <a:srgbClr val="14324A"/>
                          </a:solidFill>
                          <a:latin typeface="Courier New"/>
                        </a:rPr>
                        <a:t>0.0</a:t>
                      </a:r>
                    </a:p>
                  </a:txBody>
                  <a:tcPr marL="54864" marR="54864" marT="27432" marB="27432">
                    <a:solidFill>
                      <a:srgbClr val="FFFFFF"/>
                    </a:solidFill>
                  </a:tcPr>
                </a:tc>
              </a:tr>
              <a:tr h="301752">
                <a:tc>
                  <a:txBody>
                    <a:bodyPr wrap="square"/>
                    <a:lstStyle/>
                    <a:p>
                      <a:pPr algn="l"/>
                      <a:r>
                        <a:rPr sz="1100" b="0">
                          <a:solidFill>
                            <a:srgbClr val="14324A"/>
                          </a:solidFill>
                          <a:latin typeface="Calibri"/>
                        </a:rPr>
                        <a:t>Akamba</a:t>
                      </a:r>
                    </a:p>
                  </a:txBody>
                  <a:tcPr marL="54864" marR="54864" marT="27432" marB="27432">
                    <a:solidFill>
                      <a:srgbClr val="FFFFFF"/>
                    </a:solidFill>
                  </a:tcPr>
                </a:tc>
                <a:tc>
                  <a:txBody>
                    <a:bodyPr wrap="square"/>
                    <a:lstStyle/>
                    <a:p>
                      <a:pPr algn="l"/>
                      <a:r>
                        <a:rPr sz="1100" b="0">
                          <a:solidFill>
                            <a:srgbClr val="14324A"/>
                          </a:solidFill>
                          <a:latin typeface="Calibri"/>
                        </a:rPr>
                        <a:t>musyi</a:t>
                      </a:r>
                    </a:p>
                  </a:txBody>
                  <a:tcPr marL="54864" marR="54864" marT="27432" marB="27432">
                    <a:solidFill>
                      <a:srgbClr val="FFFFFF"/>
                    </a:solidFill>
                  </a:tcPr>
                </a:tc>
                <a:tc>
                  <a:txBody>
                    <a:bodyPr wrap="square"/>
                    <a:lstStyle/>
                    <a:p>
                      <a:pPr algn="r"/>
                      <a:r>
                        <a:rPr sz="1100" b="0">
                          <a:solidFill>
                            <a:srgbClr val="14324A"/>
                          </a:solidFill>
                          <a:latin typeface="Courier New"/>
                        </a:rPr>
                        <a:t>3257</a:t>
                      </a:r>
                    </a:p>
                  </a:txBody>
                  <a:tcPr marL="54864" marR="54864" marT="27432" marB="27432">
                    <a:solidFill>
                      <a:srgbClr val="FFFFFF"/>
                    </a:solidFill>
                  </a:tcPr>
                </a:tc>
                <a:tc>
                  <a:txBody>
                    <a:bodyPr wrap="square"/>
                    <a:lstStyle/>
                    <a:p>
                      <a:pPr algn="r"/>
                      <a:r>
                        <a:rPr sz="1100" b="0">
                          <a:solidFill>
                            <a:srgbClr val="14324A"/>
                          </a:solidFill>
                          <a:latin typeface="Courier New"/>
                        </a:rPr>
                        <a:t>376.9</a:t>
                      </a:r>
                    </a:p>
                  </a:txBody>
                  <a:tcPr marL="54864" marR="54864" marT="27432" marB="27432">
                    <a:solidFill>
                      <a:srgbClr val="FFFFFF"/>
                    </a:solidFill>
                  </a:tcPr>
                </a:tc>
                <a:tc>
                  <a:txBody>
                    <a:bodyPr wrap="square"/>
                    <a:lstStyle/>
                    <a:p>
                      <a:pPr algn="r"/>
                      <a:r>
                        <a:rPr sz="1100" b="0">
                          <a:solidFill>
                            <a:srgbClr val="14324A"/>
                          </a:solidFill>
                          <a:latin typeface="Courier New"/>
                        </a:rPr>
                        <a:t>7815</a:t>
                      </a:r>
                    </a:p>
                  </a:txBody>
                  <a:tcPr marL="54864" marR="54864" marT="27432" marB="27432">
                    <a:solidFill>
                      <a:srgbClr val="FFFFFF"/>
                    </a:solidFill>
                  </a:tcPr>
                </a:tc>
                <a:tc>
                  <a:txBody>
                    <a:bodyPr wrap="square"/>
                    <a:lstStyle/>
                    <a:p>
                      <a:pPr algn="r"/>
                      <a:r>
                        <a:rPr sz="1100" b="0">
                          <a:solidFill>
                            <a:srgbClr val="14324A"/>
                          </a:solidFill>
                          <a:latin typeface="Courier New"/>
                        </a:rPr>
                        <a:t>-26.1</a:t>
                      </a:r>
                    </a:p>
                  </a:txBody>
                  <a:tcPr marL="54864" marR="54864" marT="27432" marB="27432">
                    <a:solidFill>
                      <a:srgbClr val="FFFFFF"/>
                    </a:solidFill>
                  </a:tcPr>
                </a:tc>
              </a:tr>
              <a:tr h="301752">
                <a:tc>
                  <a:txBody>
                    <a:bodyPr wrap="square"/>
                    <a:lstStyle/>
                    <a:p>
                      <a:pPr algn="l"/>
                      <a:r>
                        <a:rPr sz="1100" b="0">
                          <a:solidFill>
                            <a:srgbClr val="14324A"/>
                          </a:solidFill>
                          <a:latin typeface="Calibri"/>
                        </a:rPr>
                        <a:t>Luhya</a:t>
                      </a:r>
                    </a:p>
                  </a:txBody>
                  <a:tcPr marL="54864" marR="54864" marT="27432" marB="27432">
                    <a:solidFill>
                      <a:srgbClr val="FFFFFF"/>
                    </a:solidFill>
                  </a:tcPr>
                </a:tc>
                <a:tc>
                  <a:txBody>
                    <a:bodyPr wrap="square"/>
                    <a:lstStyle/>
                    <a:p>
                      <a:pPr algn="l"/>
                      <a:r>
                        <a:rPr sz="1100" b="0">
                          <a:solidFill>
                            <a:srgbClr val="14324A"/>
                          </a:solidFill>
                          <a:latin typeface="Calibri"/>
                        </a:rPr>
                        <a:t>mulembe</a:t>
                      </a:r>
                    </a:p>
                  </a:txBody>
                  <a:tcPr marL="54864" marR="54864" marT="27432" marB="27432">
                    <a:solidFill>
                      <a:srgbClr val="FFFFFF"/>
                    </a:solidFill>
                  </a:tcPr>
                </a:tc>
                <a:tc>
                  <a:txBody>
                    <a:bodyPr wrap="square"/>
                    <a:lstStyle/>
                    <a:p>
                      <a:pPr algn="r"/>
                      <a:r>
                        <a:rPr sz="1100" b="0">
                          <a:solidFill>
                            <a:srgbClr val="14324A"/>
                          </a:solidFill>
                          <a:latin typeface="Courier New"/>
                        </a:rPr>
                        <a:t>3344</a:t>
                      </a:r>
                    </a:p>
                  </a:txBody>
                  <a:tcPr marL="54864" marR="54864" marT="27432" marB="27432">
                    <a:solidFill>
                      <a:srgbClr val="FFFFFF"/>
                    </a:solidFill>
                  </a:tcPr>
                </a:tc>
                <a:tc>
                  <a:txBody>
                    <a:bodyPr wrap="square"/>
                    <a:lstStyle/>
                    <a:p>
                      <a:pPr algn="r"/>
                      <a:r>
                        <a:rPr sz="1100" b="0">
                          <a:solidFill>
                            <a:srgbClr val="14324A"/>
                          </a:solidFill>
                          <a:latin typeface="Courier New"/>
                        </a:rPr>
                        <a:t>371.8</a:t>
                      </a:r>
                    </a:p>
                  </a:txBody>
                  <a:tcPr marL="54864" marR="54864" marT="27432" marB="27432">
                    <a:solidFill>
                      <a:srgbClr val="FFFFFF"/>
                    </a:solidFill>
                  </a:tcPr>
                </a:tc>
                <a:tc>
                  <a:txBody>
                    <a:bodyPr wrap="square"/>
                    <a:lstStyle/>
                    <a:p>
                      <a:pPr algn="r"/>
                      <a:r>
                        <a:rPr sz="1100" b="0">
                          <a:solidFill>
                            <a:srgbClr val="14324A"/>
                          </a:solidFill>
                          <a:latin typeface="Courier New"/>
                        </a:rPr>
                        <a:t>13849</a:t>
                      </a:r>
                    </a:p>
                  </a:txBody>
                  <a:tcPr marL="54864" marR="54864" marT="27432" marB="27432">
                    <a:solidFill>
                      <a:srgbClr val="FFFFFF"/>
                    </a:solidFill>
                  </a:tcPr>
                </a:tc>
                <a:tc>
                  <a:txBody>
                    <a:bodyPr wrap="square"/>
                    <a:lstStyle/>
                    <a:p>
                      <a:pPr algn="r"/>
                      <a:r>
                        <a:rPr sz="1100" b="0">
                          <a:solidFill>
                            <a:srgbClr val="14324A"/>
                          </a:solidFill>
                          <a:latin typeface="Courier New"/>
                        </a:rPr>
                        <a:t>21.5</a:t>
                      </a:r>
                    </a:p>
                  </a:txBody>
                  <a:tcPr marL="54864" marR="54864" marT="27432" marB="27432">
                    <a:solidFill>
                      <a:srgbClr val="FFFFFF"/>
                    </a:solidFill>
                  </a:tcPr>
                </a:tc>
              </a:tr>
              <a:tr h="301752">
                <a:tc>
                  <a:txBody>
                    <a:bodyPr wrap="square"/>
                    <a:lstStyle/>
                    <a:p>
                      <a:pPr algn="l"/>
                      <a:r>
                        <a:rPr sz="1100" b="0">
                          <a:solidFill>
                            <a:srgbClr val="14324A"/>
                          </a:solidFill>
                          <a:latin typeface="Calibri"/>
                        </a:rPr>
                        <a:t>Luo</a:t>
                      </a:r>
                    </a:p>
                  </a:txBody>
                  <a:tcPr marL="54864" marR="54864" marT="27432" marB="27432">
                    <a:solidFill>
                      <a:srgbClr val="FFFFFF"/>
                    </a:solidFill>
                  </a:tcPr>
                </a:tc>
                <a:tc>
                  <a:txBody>
                    <a:bodyPr wrap="square"/>
                    <a:lstStyle/>
                    <a:p>
                      <a:pPr algn="l"/>
                      <a:r>
                        <a:rPr sz="1100" b="0">
                          <a:solidFill>
                            <a:srgbClr val="14324A"/>
                          </a:solidFill>
                          <a:latin typeface="Calibri"/>
                        </a:rPr>
                        <a:t>Ramogi</a:t>
                      </a:r>
                    </a:p>
                  </a:txBody>
                  <a:tcPr marL="54864" marR="54864" marT="27432" marB="27432">
                    <a:solidFill>
                      <a:srgbClr val="FFFFFF"/>
                    </a:solidFill>
                  </a:tcPr>
                </a:tc>
                <a:tc>
                  <a:txBody>
                    <a:bodyPr wrap="square"/>
                    <a:lstStyle/>
                    <a:p>
                      <a:pPr algn="r"/>
                      <a:r>
                        <a:rPr sz="1100" b="0">
                          <a:solidFill>
                            <a:srgbClr val="14324A"/>
                          </a:solidFill>
                          <a:latin typeface="Courier New"/>
                        </a:rPr>
                        <a:t>3228</a:t>
                      </a:r>
                    </a:p>
                  </a:txBody>
                  <a:tcPr marL="54864" marR="54864" marT="27432" marB="27432">
                    <a:solidFill>
                      <a:srgbClr val="FFFFFF"/>
                    </a:solidFill>
                  </a:tcPr>
                </a:tc>
                <a:tc>
                  <a:txBody>
                    <a:bodyPr wrap="square"/>
                    <a:lstStyle/>
                    <a:p>
                      <a:pPr algn="r"/>
                      <a:r>
                        <a:rPr sz="1100" b="0">
                          <a:solidFill>
                            <a:srgbClr val="14324A"/>
                          </a:solidFill>
                          <a:latin typeface="Courier New"/>
                        </a:rPr>
                        <a:t>359.9</a:t>
                      </a:r>
                    </a:p>
                  </a:txBody>
                  <a:tcPr marL="54864" marR="54864" marT="27432" marB="27432">
                    <a:solidFill>
                      <a:srgbClr val="FFFFFF"/>
                    </a:solidFill>
                  </a:tcPr>
                </a:tc>
                <a:tc>
                  <a:txBody>
                    <a:bodyPr wrap="square"/>
                    <a:lstStyle/>
                    <a:p>
                      <a:pPr algn="r"/>
                      <a:r>
                        <a:rPr sz="1100" b="0">
                          <a:solidFill>
                            <a:srgbClr val="14324A"/>
                          </a:solidFill>
                          <a:latin typeface="Courier New"/>
                        </a:rPr>
                        <a:t>22805</a:t>
                      </a:r>
                    </a:p>
                  </a:txBody>
                  <a:tcPr marL="54864" marR="54864" marT="27432" marB="27432">
                    <a:solidFill>
                      <a:srgbClr val="FFFFFF"/>
                    </a:solidFill>
                  </a:tcPr>
                </a:tc>
                <a:tc>
                  <a:txBody>
                    <a:bodyPr wrap="square"/>
                    <a:lstStyle/>
                    <a:p>
                      <a:pPr algn="r"/>
                      <a:r>
                        <a:rPr sz="1100" b="0">
                          <a:solidFill>
                            <a:srgbClr val="14324A"/>
                          </a:solidFill>
                          <a:latin typeface="Courier New"/>
                        </a:rPr>
                        <a:t>320.6</a:t>
                      </a:r>
                    </a:p>
                  </a:txBody>
                  <a:tcPr marL="54864" marR="54864" marT="27432" marB="27432">
                    <a:solidFill>
                      <a:srgbClr val="FFFFFF"/>
                    </a:solidFill>
                  </a:tcPr>
                </a:tc>
              </a:tr>
              <a:tr h="301752">
                <a:tc>
                  <a:txBody>
                    <a:bodyPr wrap="square"/>
                    <a:lstStyle/>
                    <a:p>
                      <a:pPr algn="l"/>
                      <a:r>
                        <a:rPr sz="1100" b="0">
                          <a:solidFill>
                            <a:srgbClr val="14324A"/>
                          </a:solidFill>
                          <a:latin typeface="Calibri"/>
                        </a:rPr>
                        <a:t>Maragoli</a:t>
                      </a:r>
                    </a:p>
                  </a:txBody>
                  <a:tcPr marL="54864" marR="54864" marT="27432" marB="27432">
                    <a:solidFill>
                      <a:srgbClr val="FFFFFF"/>
                    </a:solidFill>
                  </a:tcPr>
                </a:tc>
                <a:tc>
                  <a:txBody>
                    <a:bodyPr wrap="square"/>
                    <a:lstStyle/>
                    <a:p>
                      <a:pPr algn="l"/>
                      <a:r>
                        <a:rPr sz="1100" b="0">
                          <a:solidFill>
                            <a:srgbClr val="14324A"/>
                          </a:solidFill>
                          <a:latin typeface="Calibri"/>
                        </a:rPr>
                        <a:t>Vuuka</a:t>
                      </a:r>
                    </a:p>
                  </a:txBody>
                  <a:tcPr marL="54864" marR="54864" marT="27432" marB="27432">
                    <a:solidFill>
                      <a:srgbClr val="FFFFFF"/>
                    </a:solidFill>
                  </a:tcPr>
                </a:tc>
                <a:tc>
                  <a:txBody>
                    <a:bodyPr wrap="square"/>
                    <a:lstStyle/>
                    <a:p>
                      <a:pPr algn="r"/>
                      <a:r>
                        <a:rPr sz="1100" b="0">
                          <a:solidFill>
                            <a:srgbClr val="14324A"/>
                          </a:solidFill>
                          <a:latin typeface="Courier New"/>
                        </a:rPr>
                        <a:t>3017</a:t>
                      </a:r>
                    </a:p>
                  </a:txBody>
                  <a:tcPr marL="54864" marR="54864" marT="27432" marB="27432">
                    <a:solidFill>
                      <a:srgbClr val="FFFFFF"/>
                    </a:solidFill>
                  </a:tcPr>
                </a:tc>
                <a:tc>
                  <a:txBody>
                    <a:bodyPr wrap="square"/>
                    <a:lstStyle/>
                    <a:p>
                      <a:pPr algn="r"/>
                      <a:r>
                        <a:rPr sz="1100" b="0">
                          <a:solidFill>
                            <a:srgbClr val="14324A"/>
                          </a:solidFill>
                          <a:latin typeface="Courier New"/>
                        </a:rPr>
                        <a:t>311.6</a:t>
                      </a:r>
                    </a:p>
                  </a:txBody>
                  <a:tcPr marL="54864" marR="54864" marT="27432" marB="27432">
                    <a:solidFill>
                      <a:srgbClr val="FFFFFF"/>
                    </a:solidFill>
                  </a:tcPr>
                </a:tc>
                <a:tc>
                  <a:txBody>
                    <a:bodyPr wrap="square"/>
                    <a:lstStyle/>
                    <a:p>
                      <a:pPr algn="r"/>
                      <a:r>
                        <a:rPr sz="1100" b="0">
                          <a:solidFill>
                            <a:srgbClr val="14324A"/>
                          </a:solidFill>
                          <a:latin typeface="Courier New"/>
                        </a:rPr>
                        <a:t>0</a:t>
                      </a:r>
                    </a:p>
                  </a:txBody>
                  <a:tcPr marL="54864" marR="54864" marT="27432" marB="27432">
                    <a:solidFill>
                      <a:srgbClr val="FFFFFF"/>
                    </a:solidFill>
                  </a:tcPr>
                </a:tc>
                <a:tc>
                  <a:txBody>
                    <a:bodyPr wrap="square"/>
                    <a:lstStyle/>
                    <a:p>
                      <a:pPr algn="r"/>
                      <a:r>
                        <a:rPr sz="1100" b="0">
                          <a:solidFill>
                            <a:srgbClr val="14324A"/>
                          </a:solidFill>
                          <a:latin typeface="Courier New"/>
                        </a:rPr>
                        <a:t>0.0</a:t>
                      </a:r>
                    </a:p>
                  </a:txBody>
                  <a:tcPr marL="54864" marR="54864" marT="27432" marB="27432">
                    <a:solidFill>
                      <a:srgbClr val="FFFFFF"/>
                    </a:solidFill>
                  </a:tcPr>
                </a:tc>
              </a:tr>
              <a:tr h="301752">
                <a:tc>
                  <a:txBody>
                    <a:bodyPr wrap="square"/>
                    <a:lstStyle/>
                    <a:p>
                      <a:pPr algn="l"/>
                      <a:r>
                        <a:rPr sz="1100" b="0">
                          <a:solidFill>
                            <a:srgbClr val="14324A"/>
                          </a:solidFill>
                          <a:latin typeface="Calibri"/>
                        </a:rPr>
                        <a:t>Kalenjin</a:t>
                      </a:r>
                    </a:p>
                  </a:txBody>
                  <a:tcPr marL="54864" marR="54864" marT="27432" marB="27432">
                    <a:solidFill>
                      <a:srgbClr val="FFFFFF"/>
                    </a:solidFill>
                  </a:tcPr>
                </a:tc>
                <a:tc>
                  <a:txBody>
                    <a:bodyPr wrap="square"/>
                    <a:lstStyle/>
                    <a:p>
                      <a:pPr algn="l"/>
                      <a:r>
                        <a:rPr sz="1100" b="0">
                          <a:solidFill>
                            <a:srgbClr val="14324A"/>
                          </a:solidFill>
                          <a:latin typeface="Calibri"/>
                        </a:rPr>
                        <a:t>Chamgei</a:t>
                      </a:r>
                    </a:p>
                  </a:txBody>
                  <a:tcPr marL="54864" marR="54864" marT="27432" marB="27432">
                    <a:solidFill>
                      <a:srgbClr val="FFFFFF"/>
                    </a:solidFill>
                  </a:tcPr>
                </a:tc>
                <a:tc>
                  <a:txBody>
                    <a:bodyPr wrap="square"/>
                    <a:lstStyle/>
                    <a:p>
                      <a:pPr algn="r"/>
                      <a:r>
                        <a:rPr sz="1100" b="0">
                          <a:solidFill>
                            <a:srgbClr val="14324A"/>
                          </a:solidFill>
                          <a:latin typeface="Courier New"/>
                        </a:rPr>
                        <a:t>841</a:t>
                      </a:r>
                    </a:p>
                  </a:txBody>
                  <a:tcPr marL="54864" marR="54864" marT="27432" marB="27432">
                    <a:solidFill>
                      <a:srgbClr val="FFFFFF"/>
                    </a:solidFill>
                  </a:tcPr>
                </a:tc>
                <a:tc>
                  <a:txBody>
                    <a:bodyPr wrap="square"/>
                    <a:lstStyle/>
                    <a:p>
                      <a:pPr algn="r"/>
                      <a:r>
                        <a:rPr sz="1100" b="0">
                          <a:solidFill>
                            <a:srgbClr val="14324A"/>
                          </a:solidFill>
                          <a:latin typeface="Courier New"/>
                        </a:rPr>
                        <a:t>300.8</a:t>
                      </a:r>
                    </a:p>
                  </a:txBody>
                  <a:tcPr marL="54864" marR="54864" marT="27432" marB="27432">
                    <a:solidFill>
                      <a:srgbClr val="FFFFFF"/>
                    </a:solidFill>
                  </a:tcPr>
                </a:tc>
                <a:tc>
                  <a:txBody>
                    <a:bodyPr wrap="square"/>
                    <a:lstStyle/>
                    <a:p>
                      <a:pPr algn="r"/>
                      <a:r>
                        <a:rPr sz="1100" b="0">
                          <a:solidFill>
                            <a:srgbClr val="14324A"/>
                          </a:solidFill>
                          <a:latin typeface="Courier New"/>
                        </a:rPr>
                        <a:t>22301</a:t>
                      </a:r>
                    </a:p>
                  </a:txBody>
                  <a:tcPr marL="54864" marR="54864" marT="27432" marB="27432">
                    <a:solidFill>
                      <a:srgbClr val="FFFFFF"/>
                    </a:solidFill>
                  </a:tcPr>
                </a:tc>
                <a:tc>
                  <a:txBody>
                    <a:bodyPr wrap="square"/>
                    <a:lstStyle/>
                    <a:p>
                      <a:pPr algn="r"/>
                      <a:r>
                        <a:rPr sz="1100" b="0">
                          <a:solidFill>
                            <a:srgbClr val="14324A"/>
                          </a:solidFill>
                          <a:latin typeface="Courier New"/>
                        </a:rPr>
                        <a:t>18.0</a:t>
                      </a:r>
                    </a:p>
                  </a:txBody>
                  <a:tcPr marL="54864" marR="54864" marT="27432" marB="27432">
                    <a:solidFill>
                      <a:srgbClr val="FFFFFF"/>
                    </a:solidFill>
                  </a:tcPr>
                </a:tc>
              </a:tr>
              <a:tr h="301752">
                <a:tc>
                  <a:txBody>
                    <a:bodyPr wrap="square"/>
                    <a:lstStyle/>
                    <a:p>
                      <a:pPr algn="l"/>
                      <a:r>
                        <a:rPr sz="1100" b="0">
                          <a:solidFill>
                            <a:srgbClr val="14324A"/>
                          </a:solidFill>
                          <a:latin typeface="Calibri"/>
                        </a:rPr>
                        <a:t>Meru</a:t>
                      </a:r>
                    </a:p>
                  </a:txBody>
                  <a:tcPr marL="54864" marR="54864" marT="27432" marB="27432">
                    <a:solidFill>
                      <a:srgbClr val="FFFFFF"/>
                    </a:solidFill>
                  </a:tcPr>
                </a:tc>
                <a:tc>
                  <a:txBody>
                    <a:bodyPr wrap="square"/>
                    <a:lstStyle/>
                    <a:p>
                      <a:pPr algn="l"/>
                      <a:r>
                        <a:rPr sz="1100" b="0">
                          <a:solidFill>
                            <a:srgbClr val="14324A"/>
                          </a:solidFill>
                          <a:latin typeface="Calibri"/>
                        </a:rPr>
                        <a:t>Muuga</a:t>
                      </a:r>
                    </a:p>
                  </a:txBody>
                  <a:tcPr marL="54864" marR="54864" marT="27432" marB="27432">
                    <a:solidFill>
                      <a:srgbClr val="FFFFFF"/>
                    </a:solidFill>
                  </a:tcPr>
                </a:tc>
                <a:tc>
                  <a:txBody>
                    <a:bodyPr wrap="square"/>
                    <a:lstStyle/>
                    <a:p>
                      <a:pPr algn="r"/>
                      <a:r>
                        <a:rPr sz="1100" b="0">
                          <a:solidFill>
                            <a:srgbClr val="14324A"/>
                          </a:solidFill>
                          <a:latin typeface="Courier New"/>
                        </a:rPr>
                        <a:t>1973</a:t>
                      </a:r>
                    </a:p>
                  </a:txBody>
                  <a:tcPr marL="54864" marR="54864" marT="27432" marB="27432">
                    <a:solidFill>
                      <a:srgbClr val="FFFFFF"/>
                    </a:solidFill>
                  </a:tcPr>
                </a:tc>
                <a:tc>
                  <a:txBody>
                    <a:bodyPr wrap="square"/>
                    <a:lstStyle/>
                    <a:p>
                      <a:pPr algn="r"/>
                      <a:r>
                        <a:rPr sz="1100" b="0">
                          <a:solidFill>
                            <a:srgbClr val="14324A"/>
                          </a:solidFill>
                          <a:latin typeface="Courier New"/>
                        </a:rPr>
                        <a:t>282.6</a:t>
                      </a:r>
                    </a:p>
                  </a:txBody>
                  <a:tcPr marL="54864" marR="54864" marT="27432" marB="27432">
                    <a:solidFill>
                      <a:srgbClr val="FFFFFF"/>
                    </a:solidFill>
                  </a:tcPr>
                </a:tc>
                <a:tc>
                  <a:txBody>
                    <a:bodyPr wrap="square"/>
                    <a:lstStyle/>
                    <a:p>
                      <a:pPr algn="r"/>
                      <a:r>
                        <a:rPr sz="1100" b="0">
                          <a:solidFill>
                            <a:srgbClr val="14324A"/>
                          </a:solidFill>
                          <a:latin typeface="Courier New"/>
                        </a:rPr>
                        <a:t>0</a:t>
                      </a:r>
                    </a:p>
                  </a:txBody>
                  <a:tcPr marL="54864" marR="54864" marT="27432" marB="27432">
                    <a:solidFill>
                      <a:srgbClr val="FFFFFF"/>
                    </a:solidFill>
                  </a:tcPr>
                </a:tc>
                <a:tc>
                  <a:txBody>
                    <a:bodyPr wrap="square"/>
                    <a:lstStyle/>
                    <a:p>
                      <a:pPr algn="r"/>
                      <a:r>
                        <a:rPr sz="1100" b="0">
                          <a:solidFill>
                            <a:srgbClr val="14324A"/>
                          </a:solidFill>
                          <a:latin typeface="Courier New"/>
                        </a:rPr>
                        <a:t>0.0</a:t>
                      </a:r>
                    </a:p>
                  </a:txBody>
                  <a:tcPr marL="54864" marR="54864" marT="27432" marB="27432">
                    <a:solidFill>
                      <a:srgbClr val="FFFFFF"/>
                    </a:solidFill>
                  </a:tcPr>
                </a:tc>
              </a:tr>
              <a:tr h="301752">
                <a:tc>
                  <a:txBody>
                    <a:bodyPr wrap="square"/>
                    <a:lstStyle/>
                    <a:p>
                      <a:pPr algn="l"/>
                      <a:r>
                        <a:rPr sz="1100" b="0">
                          <a:solidFill>
                            <a:srgbClr val="14324A"/>
                          </a:solidFill>
                          <a:latin typeface="Calibri"/>
                        </a:rPr>
                        <a:t>Embu</a:t>
                      </a:r>
                    </a:p>
                  </a:txBody>
                  <a:tcPr marL="54864" marR="54864" marT="27432" marB="27432">
                    <a:solidFill>
                      <a:srgbClr val="FFFFFF"/>
                    </a:solidFill>
                  </a:tcPr>
                </a:tc>
                <a:tc>
                  <a:txBody>
                    <a:bodyPr wrap="square"/>
                    <a:lstStyle/>
                    <a:p>
                      <a:pPr algn="l"/>
                      <a:r>
                        <a:rPr sz="1100" b="0">
                          <a:solidFill>
                            <a:srgbClr val="14324A"/>
                          </a:solidFill>
                          <a:latin typeface="Calibri"/>
                        </a:rPr>
                        <a:t>wimwaro</a:t>
                      </a:r>
                    </a:p>
                  </a:txBody>
                  <a:tcPr marL="54864" marR="54864" marT="27432" marB="27432">
                    <a:solidFill>
                      <a:srgbClr val="FFFFFF"/>
                    </a:solidFill>
                  </a:tcPr>
                </a:tc>
                <a:tc>
                  <a:txBody>
                    <a:bodyPr wrap="square"/>
                    <a:lstStyle/>
                    <a:p>
                      <a:pPr algn="r"/>
                      <a:r>
                        <a:rPr sz="1100" b="0">
                          <a:solidFill>
                            <a:srgbClr val="14324A"/>
                          </a:solidFill>
                          <a:latin typeface="Courier New"/>
                        </a:rPr>
                        <a:t>1501</a:t>
                      </a:r>
                    </a:p>
                  </a:txBody>
                  <a:tcPr marL="54864" marR="54864" marT="27432" marB="27432">
                    <a:solidFill>
                      <a:srgbClr val="FFFFFF"/>
                    </a:solidFill>
                  </a:tcPr>
                </a:tc>
                <a:tc>
                  <a:txBody>
                    <a:bodyPr wrap="square"/>
                    <a:lstStyle/>
                    <a:p>
                      <a:pPr algn="r"/>
                      <a:r>
                        <a:rPr sz="1100" b="0">
                          <a:solidFill>
                            <a:srgbClr val="14324A"/>
                          </a:solidFill>
                          <a:latin typeface="Courier New"/>
                        </a:rPr>
                        <a:t>276.4</a:t>
                      </a:r>
                    </a:p>
                  </a:txBody>
                  <a:tcPr marL="54864" marR="54864" marT="27432" marB="27432">
                    <a:solidFill>
                      <a:srgbClr val="FFFFFF"/>
                    </a:solidFill>
                  </a:tcPr>
                </a:tc>
                <a:tc>
                  <a:txBody>
                    <a:bodyPr wrap="square"/>
                    <a:lstStyle/>
                    <a:p>
                      <a:pPr algn="r"/>
                      <a:r>
                        <a:rPr sz="1100" b="0">
                          <a:solidFill>
                            <a:srgbClr val="14324A"/>
                          </a:solidFill>
                          <a:latin typeface="Courier New"/>
                        </a:rPr>
                        <a:t>0</a:t>
                      </a:r>
                    </a:p>
                  </a:txBody>
                  <a:tcPr marL="54864" marR="54864" marT="27432" marB="27432">
                    <a:solidFill>
                      <a:srgbClr val="FFFFFF"/>
                    </a:solidFill>
                  </a:tcPr>
                </a:tc>
                <a:tc>
                  <a:txBody>
                    <a:bodyPr wrap="square"/>
                    <a:lstStyle/>
                    <a:p>
                      <a:pPr algn="r"/>
                      <a:r>
                        <a:rPr sz="1100" b="0">
                          <a:solidFill>
                            <a:srgbClr val="14324A"/>
                          </a:solidFill>
                          <a:latin typeface="Courier New"/>
                        </a:rPr>
                        <a:t>0.0</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E8772E"/>
                </a:solidFill>
                <a:latin typeface="Calibri"/>
              </a:rPr>
              <a:t>The workbench registers recordings per language with their length and whether a transcript was produced; transcript hours are the summed segment spans. This is a separate inventory from the staged corpus and may overlap it — the two are not added together anywhere in this pack.</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70879A"/>
                </a:solidFill>
                <a:latin typeface="Courier New"/>
              </a:rPr>
              <a:t>[measured]  Receipt R08: Aggregate-only database reading etx-81e10befe6e0: news_vault.stories (script, title, date, hour_id) → news_vault.hours (station_id, time, type_id) → news_vault.stations (name); news_vault.news (2022 bulletins); local.uploaded_files (language_id, audio_length, status) ← local.transcripts (file_id, start_time, end_time, transcript) ; local.folder_languages (Language, code, station)</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70879A"/>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70879A"/>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70879A"/>
                </a:solidFill>
                <a:latin typeface="Courier New"/>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1920240"/>
            <a:ext cx="2613355" cy="1885492"/>
          </a:xfrm>
          <a:prstGeom prst="rect">
            <a:avLst/>
          </a:prstGeom>
          <a:noFill/>
        </p:spPr>
        <p:txBody>
          <a:bodyPr wrap="square" lIns="0" rIns="0" tIns="0" bIns="0" anchor="ctr">
            <a:spAutoFit/>
          </a:bodyPr>
          <a:lstStyle/>
          <a:p>
            <a:pPr algn="l"/>
            <a:r>
              <a:rPr sz="9600" b="0" i="0">
                <a:solidFill>
                  <a:srgbClr val="E8772E"/>
                </a:solidFill>
                <a:latin typeface="Courier New"/>
              </a:rPr>
              <a:t>07</a:t>
            </a:r>
          </a:p>
        </p:txBody>
      </p:sp>
      <p:sp>
        <p:nvSpPr>
          <p:cNvPr id="3" name="TextBox 2"/>
          <p:cNvSpPr txBox="1"/>
          <p:nvPr/>
        </p:nvSpPr>
        <p:spPr>
          <a:xfrm>
            <a:off x="3390595" y="2297887"/>
            <a:ext cx="8206740" cy="1508760"/>
          </a:xfrm>
          <a:prstGeom prst="rect">
            <a:avLst/>
          </a:prstGeom>
          <a:noFill/>
        </p:spPr>
        <p:txBody>
          <a:bodyPr wrap="square" lIns="0" rIns="0" tIns="0" bIns="0" anchor="ctr">
            <a:spAutoFit/>
          </a:bodyPr>
          <a:lstStyle/>
          <a:p>
            <a:pPr algn="l"/>
            <a:r>
              <a:rPr sz="3200" b="0" i="0">
                <a:solidFill>
                  <a:srgbClr val="14324A"/>
                </a:solidFill>
                <a:latin typeface="Cambria"/>
              </a:rPr>
              <a:t>First data products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70879A"/>
                </a:solidFill>
                <a:latin typeface="Calibri"/>
              </a:rPr>
              <a:t>PRODUCTS</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4324A"/>
                </a:solidFill>
                <a:latin typeface="Cambria"/>
              </a:rPr>
              <a:t>Three products should enter preparation first, each with a defined preparation step</a:t>
            </a:r>
          </a:p>
        </p:txBody>
      </p:sp>
      <p:sp>
        <p:nvSpPr>
          <p:cNvPr id="4" name="TextBox 3"/>
          <p:cNvSpPr txBox="1"/>
          <p:nvPr/>
        </p:nvSpPr>
        <p:spPr>
          <a:xfrm>
            <a:off x="594360" y="1920240"/>
            <a:ext cx="640080" cy="942975"/>
          </a:xfrm>
          <a:prstGeom prst="rect">
            <a:avLst/>
          </a:prstGeom>
          <a:noFill/>
        </p:spPr>
        <p:txBody>
          <a:bodyPr wrap="square" lIns="0" rIns="0" tIns="0" bIns="0" anchor="t">
            <a:spAutoFit/>
          </a:bodyPr>
          <a:lstStyle/>
          <a:p>
            <a:pPr algn="l"/>
            <a:r>
              <a:rPr sz="2600" b="0" i="0">
                <a:solidFill>
                  <a:srgbClr val="E8772E"/>
                </a:solidFill>
                <a:latin typeface="Courier New"/>
              </a:rPr>
              <a:t>01</a:t>
            </a:r>
          </a:p>
        </p:txBody>
      </p:sp>
      <p:sp>
        <p:nvSpPr>
          <p:cNvPr id="5" name="TextBox 4"/>
          <p:cNvSpPr txBox="1"/>
          <p:nvPr/>
        </p:nvSpPr>
        <p:spPr>
          <a:xfrm>
            <a:off x="1417320" y="1993392"/>
            <a:ext cx="10180015" cy="851535"/>
          </a:xfrm>
          <a:prstGeom prst="rect">
            <a:avLst/>
          </a:prstGeom>
          <a:noFill/>
        </p:spPr>
        <p:txBody>
          <a:bodyPr wrap="square" lIns="0" rIns="0" tIns="0" bIns="0" anchor="t">
            <a:spAutoFit/>
          </a:bodyPr>
          <a:lstStyle/>
          <a:p>
            <a:pPr algn="l"/>
            <a:r>
              <a:rPr sz="1400" b="0" i="0">
                <a:solidFill>
                  <a:srgbClr val="14324A"/>
                </a:solidFill>
                <a:latin typeface="Calibri"/>
              </a:rPr>
              <a:t>The census scores 8 product candidates; reference and master data, the content catalogue and channel engagement are all grade C and the most advanced.</a:t>
            </a:r>
          </a:p>
        </p:txBody>
      </p:sp>
      <p:cxnSp>
        <p:nvCxnSpPr>
          <p:cNvPr id="6" name="Connector 5"/>
          <p:cNvCxnSpPr/>
          <p:nvPr/>
        </p:nvCxnSpPr>
        <p:spPr>
          <a:xfrm>
            <a:off x="594360" y="2753487"/>
            <a:ext cx="11002975" cy="0"/>
          </a:xfrm>
          <a:prstGeom prst="line">
            <a:avLst/>
          </a:prstGeom>
          <a:ln w="9525">
            <a:solidFill>
              <a:srgbClr val="D3DCE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2863215"/>
            <a:ext cx="640080" cy="942975"/>
          </a:xfrm>
          <a:prstGeom prst="rect">
            <a:avLst/>
          </a:prstGeom>
          <a:noFill/>
        </p:spPr>
        <p:txBody>
          <a:bodyPr wrap="square" lIns="0" rIns="0" tIns="0" bIns="0" anchor="t">
            <a:spAutoFit/>
          </a:bodyPr>
          <a:lstStyle/>
          <a:p>
            <a:pPr algn="l"/>
            <a:r>
              <a:rPr sz="2600" b="0" i="0">
                <a:solidFill>
                  <a:srgbClr val="E8772E"/>
                </a:solidFill>
                <a:latin typeface="Courier New"/>
              </a:rPr>
              <a:t>02</a:t>
            </a:r>
          </a:p>
        </p:txBody>
      </p:sp>
      <p:sp>
        <p:nvSpPr>
          <p:cNvPr id="8" name="TextBox 7"/>
          <p:cNvSpPr txBox="1"/>
          <p:nvPr/>
        </p:nvSpPr>
        <p:spPr>
          <a:xfrm>
            <a:off x="1417320" y="2936367"/>
            <a:ext cx="10180015" cy="851535"/>
          </a:xfrm>
          <a:prstGeom prst="rect">
            <a:avLst/>
          </a:prstGeom>
          <a:noFill/>
        </p:spPr>
        <p:txBody>
          <a:bodyPr wrap="square" lIns="0" rIns="0" tIns="0" bIns="0" anchor="t">
            <a:spAutoFit/>
          </a:bodyPr>
          <a:lstStyle/>
          <a:p>
            <a:pPr algn="l"/>
            <a:r>
              <a:rPr sz="1400" b="0" i="0">
                <a:solidFill>
                  <a:srgbClr val="14324A"/>
                </a:solidFill>
                <a:latin typeface="Calibri"/>
              </a:rPr>
              <a:t>Reference and master data: fix canonical fields and completeness checks, and de-identify or aggregate where personal-data markers appear.</a:t>
            </a:r>
          </a:p>
        </p:txBody>
      </p:sp>
      <p:cxnSp>
        <p:nvCxnSpPr>
          <p:cNvPr id="9" name="Connector 8"/>
          <p:cNvCxnSpPr/>
          <p:nvPr/>
        </p:nvCxnSpPr>
        <p:spPr>
          <a:xfrm>
            <a:off x="594360" y="3696461"/>
            <a:ext cx="11002975" cy="0"/>
          </a:xfrm>
          <a:prstGeom prst="line">
            <a:avLst/>
          </a:prstGeom>
          <a:ln w="9525">
            <a:solidFill>
              <a:srgbClr val="D3DCE4"/>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94360" y="3806189"/>
            <a:ext cx="640080" cy="942975"/>
          </a:xfrm>
          <a:prstGeom prst="rect">
            <a:avLst/>
          </a:prstGeom>
          <a:noFill/>
        </p:spPr>
        <p:txBody>
          <a:bodyPr wrap="square" lIns="0" rIns="0" tIns="0" bIns="0" anchor="t">
            <a:spAutoFit/>
          </a:bodyPr>
          <a:lstStyle/>
          <a:p>
            <a:pPr algn="l"/>
            <a:r>
              <a:rPr sz="2600" b="0" i="0">
                <a:solidFill>
                  <a:srgbClr val="E8772E"/>
                </a:solidFill>
                <a:latin typeface="Courier New"/>
              </a:rPr>
              <a:t>03</a:t>
            </a:r>
          </a:p>
        </p:txBody>
      </p:sp>
      <p:sp>
        <p:nvSpPr>
          <p:cNvPr id="11" name="TextBox 10"/>
          <p:cNvSpPr txBox="1"/>
          <p:nvPr/>
        </p:nvSpPr>
        <p:spPr>
          <a:xfrm>
            <a:off x="1417320" y="3879341"/>
            <a:ext cx="10180015" cy="851535"/>
          </a:xfrm>
          <a:prstGeom prst="rect">
            <a:avLst/>
          </a:prstGeom>
          <a:noFill/>
        </p:spPr>
        <p:txBody>
          <a:bodyPr wrap="square" lIns="0" rIns="0" tIns="0" bIns="0" anchor="t">
            <a:spAutoFit/>
          </a:bodyPr>
          <a:lstStyle/>
          <a:p>
            <a:pPr algn="l"/>
            <a:r>
              <a:rPr sz="1400" b="0" i="0">
                <a:solidFill>
                  <a:srgbClr val="14324A"/>
                </a:solidFill>
                <a:latin typeface="Calibri"/>
              </a:rPr>
              <a:t>Content catalogue: consolidate metadata and remove personal data from supporting tables before any release.</a:t>
            </a:r>
          </a:p>
        </p:txBody>
      </p:sp>
      <p:cxnSp>
        <p:nvCxnSpPr>
          <p:cNvPr id="12" name="Connector 11"/>
          <p:cNvCxnSpPr/>
          <p:nvPr/>
        </p:nvCxnSpPr>
        <p:spPr>
          <a:xfrm>
            <a:off x="594360" y="4639437"/>
            <a:ext cx="11002975" cy="0"/>
          </a:xfrm>
          <a:prstGeom prst="line">
            <a:avLst/>
          </a:prstGeom>
          <a:ln w="9525">
            <a:solidFill>
              <a:srgbClr val="D3DCE4"/>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94360" y="4749165"/>
            <a:ext cx="640080" cy="942975"/>
          </a:xfrm>
          <a:prstGeom prst="rect">
            <a:avLst/>
          </a:prstGeom>
          <a:noFill/>
        </p:spPr>
        <p:txBody>
          <a:bodyPr wrap="square" lIns="0" rIns="0" tIns="0" bIns="0" anchor="t">
            <a:spAutoFit/>
          </a:bodyPr>
          <a:lstStyle/>
          <a:p>
            <a:pPr algn="l"/>
            <a:r>
              <a:rPr sz="2600" b="0" i="0">
                <a:solidFill>
                  <a:srgbClr val="E8772E"/>
                </a:solidFill>
                <a:latin typeface="Courier New"/>
              </a:rPr>
              <a:t>04</a:t>
            </a:r>
          </a:p>
        </p:txBody>
      </p:sp>
      <p:sp>
        <p:nvSpPr>
          <p:cNvPr id="14" name="TextBox 13"/>
          <p:cNvSpPr txBox="1"/>
          <p:nvPr/>
        </p:nvSpPr>
        <p:spPr>
          <a:xfrm>
            <a:off x="1417320" y="4822317"/>
            <a:ext cx="10180015" cy="851535"/>
          </a:xfrm>
          <a:prstGeom prst="rect">
            <a:avLst/>
          </a:prstGeom>
          <a:noFill/>
        </p:spPr>
        <p:txBody>
          <a:bodyPr wrap="square" lIns="0" rIns="0" tIns="0" bIns="0" anchor="t">
            <a:spAutoFit/>
          </a:bodyPr>
          <a:lstStyle/>
          <a:p>
            <a:pPr algn="l"/>
            <a:r>
              <a:rPr sz="1400" b="0" i="0">
                <a:solidFill>
                  <a:srgbClr val="14324A"/>
                </a:solidFill>
                <a:latin typeface="Calibri"/>
              </a:rPr>
              <a:t>Channel engagement: build validated channel-and-time aggregates. Buyer-side review must test each product against its use; revenue is not yet shown.</a:t>
            </a:r>
          </a:p>
        </p:txBody>
      </p:sp>
      <p:cxnSp>
        <p:nvCxnSpPr>
          <p:cNvPr id="15" name="Connector 14"/>
          <p:cNvCxnSpPr/>
          <p:nvPr/>
        </p:nvCxnSpPr>
        <p:spPr>
          <a:xfrm>
            <a:off x="594360" y="5582412"/>
            <a:ext cx="11002975" cy="0"/>
          </a:xfrm>
          <a:prstGeom prst="line">
            <a:avLst/>
          </a:prstGeom>
          <a:ln w="9525">
            <a:solidFill>
              <a:srgbClr val="D3DCE4"/>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70879A"/>
                </a:solidFill>
                <a:latin typeface="Calibri"/>
              </a:rPr>
              <a:t>EI-eij-1b359b3cbd2e</a:t>
            </a:r>
          </a:p>
        </p:txBody>
      </p:sp>
      <p:sp>
        <p:nvSpPr>
          <p:cNvPr id="17" name="TextBox 16"/>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70879A"/>
                </a:solidFill>
                <a:latin typeface="Calibri"/>
              </a:rPr>
              <a:t>Tenant confidential</a:t>
            </a:r>
          </a:p>
        </p:txBody>
      </p:sp>
      <p:sp>
        <p:nvSpPr>
          <p:cNvPr id="18" name="TextBox 17"/>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70879A"/>
                </a:solidFill>
                <a:latin typeface="Courier New"/>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1920240"/>
            <a:ext cx="2613355" cy="1885492"/>
          </a:xfrm>
          <a:prstGeom prst="rect">
            <a:avLst/>
          </a:prstGeom>
          <a:noFill/>
        </p:spPr>
        <p:txBody>
          <a:bodyPr wrap="square" lIns="0" rIns="0" tIns="0" bIns="0" anchor="ctr">
            <a:spAutoFit/>
          </a:bodyPr>
          <a:lstStyle/>
          <a:p>
            <a:pPr algn="l"/>
            <a:r>
              <a:rPr sz="9600" b="0" i="0">
                <a:solidFill>
                  <a:srgbClr val="E8772E"/>
                </a:solidFill>
                <a:latin typeface="Courier New"/>
              </a:rPr>
              <a:t>08</a:t>
            </a:r>
          </a:p>
        </p:txBody>
      </p:sp>
      <p:sp>
        <p:nvSpPr>
          <p:cNvPr id="3" name="TextBox 2"/>
          <p:cNvSpPr txBox="1"/>
          <p:nvPr/>
        </p:nvSpPr>
        <p:spPr>
          <a:xfrm>
            <a:off x="3390595" y="2297887"/>
            <a:ext cx="8206740" cy="1508760"/>
          </a:xfrm>
          <a:prstGeom prst="rect">
            <a:avLst/>
          </a:prstGeom>
          <a:noFill/>
        </p:spPr>
        <p:txBody>
          <a:bodyPr wrap="square" lIns="0" rIns="0" tIns="0" bIns="0" anchor="ctr">
            <a:spAutoFit/>
          </a:bodyPr>
          <a:lstStyle/>
          <a:p>
            <a:pPr algn="l"/>
            <a:r>
              <a:rPr sz="3200" b="0" i="0">
                <a:solidFill>
                  <a:srgbClr val="14324A"/>
                </a:solidFill>
                <a:latin typeface="Cambria"/>
              </a:rPr>
              <a:t>Decisions requested</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70879A"/>
                </a:solidFill>
                <a:latin typeface="Calibri"/>
              </a:rPr>
              <a:t>DECISIONS</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4324A"/>
                </a:solidFill>
                <a:latin typeface="Cambria"/>
              </a:rPr>
              <a:t>The owner is asked to approve validation steps first; nothing has been moved or deleted</a:t>
            </a:r>
          </a:p>
        </p:txBody>
      </p:sp>
      <p:sp>
        <p:nvSpPr>
          <p:cNvPr id="4" name="TextBox 3"/>
          <p:cNvSpPr txBox="1"/>
          <p:nvPr/>
        </p:nvSpPr>
        <p:spPr>
          <a:xfrm>
            <a:off x="594360" y="1920240"/>
            <a:ext cx="640080" cy="942975"/>
          </a:xfrm>
          <a:prstGeom prst="rect">
            <a:avLst/>
          </a:prstGeom>
          <a:noFill/>
        </p:spPr>
        <p:txBody>
          <a:bodyPr wrap="square" lIns="0" rIns="0" tIns="0" bIns="0" anchor="t">
            <a:spAutoFit/>
          </a:bodyPr>
          <a:lstStyle/>
          <a:p>
            <a:pPr algn="l"/>
            <a:r>
              <a:rPr sz="2600" b="0" i="0">
                <a:solidFill>
                  <a:srgbClr val="E8772E"/>
                </a:solidFill>
                <a:latin typeface="Courier New"/>
              </a:rPr>
              <a:t>01</a:t>
            </a:r>
          </a:p>
        </p:txBody>
      </p:sp>
      <p:sp>
        <p:nvSpPr>
          <p:cNvPr id="5" name="TextBox 4"/>
          <p:cNvSpPr txBox="1"/>
          <p:nvPr/>
        </p:nvSpPr>
        <p:spPr>
          <a:xfrm>
            <a:off x="1417320" y="1993392"/>
            <a:ext cx="10180015" cy="851535"/>
          </a:xfrm>
          <a:prstGeom prst="rect">
            <a:avLst/>
          </a:prstGeom>
          <a:noFill/>
        </p:spPr>
        <p:txBody>
          <a:bodyPr wrap="square" lIns="0" rIns="0" tIns="0" bIns="0" anchor="t">
            <a:spAutoFit/>
          </a:bodyPr>
          <a:lstStyle/>
          <a:p>
            <a:pPr algn="l"/>
            <a:r>
              <a:rPr sz="1400" b="0" i="0">
                <a:solidFill>
                  <a:srgbClr val="14324A"/>
                </a:solidFill>
                <a:latin typeface="Calibri"/>
              </a:rPr>
              <a:t>Approve archive-tier validation of the cold holdings: 41.9 TiB not written for over a year, with read demand and retrieval fees checked.</a:t>
            </a:r>
          </a:p>
        </p:txBody>
      </p:sp>
      <p:cxnSp>
        <p:nvCxnSpPr>
          <p:cNvPr id="6" name="Connector 5"/>
          <p:cNvCxnSpPr/>
          <p:nvPr/>
        </p:nvCxnSpPr>
        <p:spPr>
          <a:xfrm>
            <a:off x="594360" y="2753487"/>
            <a:ext cx="11002975" cy="0"/>
          </a:xfrm>
          <a:prstGeom prst="line">
            <a:avLst/>
          </a:prstGeom>
          <a:ln w="9525">
            <a:solidFill>
              <a:srgbClr val="D3DCE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2863215"/>
            <a:ext cx="640080" cy="942975"/>
          </a:xfrm>
          <a:prstGeom prst="rect">
            <a:avLst/>
          </a:prstGeom>
          <a:noFill/>
        </p:spPr>
        <p:txBody>
          <a:bodyPr wrap="square" lIns="0" rIns="0" tIns="0" bIns="0" anchor="t">
            <a:spAutoFit/>
          </a:bodyPr>
          <a:lstStyle/>
          <a:p>
            <a:pPr algn="l"/>
            <a:r>
              <a:rPr sz="2600" b="0" i="0">
                <a:solidFill>
                  <a:srgbClr val="E8772E"/>
                </a:solidFill>
                <a:latin typeface="Courier New"/>
              </a:rPr>
              <a:t>02</a:t>
            </a:r>
          </a:p>
        </p:txBody>
      </p:sp>
      <p:sp>
        <p:nvSpPr>
          <p:cNvPr id="8" name="TextBox 7"/>
          <p:cNvSpPr txBox="1"/>
          <p:nvPr/>
        </p:nvSpPr>
        <p:spPr>
          <a:xfrm>
            <a:off x="1417320" y="2936367"/>
            <a:ext cx="10180015" cy="851535"/>
          </a:xfrm>
          <a:prstGeom prst="rect">
            <a:avLst/>
          </a:prstGeom>
          <a:noFill/>
        </p:spPr>
        <p:txBody>
          <a:bodyPr wrap="square" lIns="0" rIns="0" tIns="0" bIns="0" anchor="t">
            <a:spAutoFit/>
          </a:bodyPr>
          <a:lstStyle/>
          <a:p>
            <a:pPr algn="l"/>
            <a:r>
              <a:rPr sz="1400" b="0" i="0">
                <a:solidFill>
                  <a:srgbClr val="14324A"/>
                </a:solidFill>
                <a:latin typeface="Calibri"/>
              </a:rPr>
              <a:t>Approve hash confirmation of the 7.7 TiB of duplicate candidates before any copy is removed.</a:t>
            </a:r>
          </a:p>
        </p:txBody>
      </p:sp>
      <p:cxnSp>
        <p:nvCxnSpPr>
          <p:cNvPr id="9" name="Connector 8"/>
          <p:cNvCxnSpPr/>
          <p:nvPr/>
        </p:nvCxnSpPr>
        <p:spPr>
          <a:xfrm>
            <a:off x="594360" y="3696461"/>
            <a:ext cx="11002975" cy="0"/>
          </a:xfrm>
          <a:prstGeom prst="line">
            <a:avLst/>
          </a:prstGeom>
          <a:ln w="9525">
            <a:solidFill>
              <a:srgbClr val="D3DCE4"/>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94360" y="3806189"/>
            <a:ext cx="640080" cy="942975"/>
          </a:xfrm>
          <a:prstGeom prst="rect">
            <a:avLst/>
          </a:prstGeom>
          <a:noFill/>
        </p:spPr>
        <p:txBody>
          <a:bodyPr wrap="square" lIns="0" rIns="0" tIns="0" bIns="0" anchor="t">
            <a:spAutoFit/>
          </a:bodyPr>
          <a:lstStyle/>
          <a:p>
            <a:pPr algn="l"/>
            <a:r>
              <a:rPr sz="2600" b="0" i="0">
                <a:solidFill>
                  <a:srgbClr val="E8772E"/>
                </a:solidFill>
                <a:latin typeface="Courier New"/>
              </a:rPr>
              <a:t>03</a:t>
            </a:r>
          </a:p>
        </p:txBody>
      </p:sp>
      <p:sp>
        <p:nvSpPr>
          <p:cNvPr id="11" name="TextBox 10"/>
          <p:cNvSpPr txBox="1"/>
          <p:nvPr/>
        </p:nvSpPr>
        <p:spPr>
          <a:xfrm>
            <a:off x="1417320" y="3879341"/>
            <a:ext cx="10180015" cy="851535"/>
          </a:xfrm>
          <a:prstGeom prst="rect">
            <a:avLst/>
          </a:prstGeom>
          <a:noFill/>
        </p:spPr>
        <p:txBody>
          <a:bodyPr wrap="square" lIns="0" rIns="0" tIns="0" bIns="0" anchor="t">
            <a:spAutoFit/>
          </a:bodyPr>
          <a:lstStyle/>
          <a:p>
            <a:pPr algn="l"/>
            <a:r>
              <a:rPr sz="1400" b="0" i="0">
                <a:solidFill>
                  <a:srgbClr val="14324A"/>
                </a:solidFill>
                <a:latin typeface="Calibri"/>
              </a:rPr>
              <a:t>Approve provider reconciliation of the 40 unreadable buckets, and bounded preparation of the first products.</a:t>
            </a:r>
          </a:p>
        </p:txBody>
      </p:sp>
      <p:cxnSp>
        <p:nvCxnSpPr>
          <p:cNvPr id="12" name="Connector 11"/>
          <p:cNvCxnSpPr/>
          <p:nvPr/>
        </p:nvCxnSpPr>
        <p:spPr>
          <a:xfrm>
            <a:off x="594360" y="4639437"/>
            <a:ext cx="11002975" cy="0"/>
          </a:xfrm>
          <a:prstGeom prst="line">
            <a:avLst/>
          </a:prstGeom>
          <a:ln w="9525">
            <a:solidFill>
              <a:srgbClr val="D3DCE4"/>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94360" y="4749165"/>
            <a:ext cx="640080" cy="942975"/>
          </a:xfrm>
          <a:prstGeom prst="rect">
            <a:avLst/>
          </a:prstGeom>
          <a:noFill/>
        </p:spPr>
        <p:txBody>
          <a:bodyPr wrap="square" lIns="0" rIns="0" tIns="0" bIns="0" anchor="t">
            <a:spAutoFit/>
          </a:bodyPr>
          <a:lstStyle/>
          <a:p>
            <a:pPr algn="l"/>
            <a:r>
              <a:rPr sz="2600" b="0" i="0">
                <a:solidFill>
                  <a:srgbClr val="E8772E"/>
                </a:solidFill>
                <a:latin typeface="Courier New"/>
              </a:rPr>
              <a:t>04</a:t>
            </a:r>
          </a:p>
        </p:txBody>
      </p:sp>
      <p:sp>
        <p:nvSpPr>
          <p:cNvPr id="14" name="TextBox 13"/>
          <p:cNvSpPr txBox="1"/>
          <p:nvPr/>
        </p:nvSpPr>
        <p:spPr>
          <a:xfrm>
            <a:off x="1417320" y="4822317"/>
            <a:ext cx="10180015" cy="851535"/>
          </a:xfrm>
          <a:prstGeom prst="rect">
            <a:avLst/>
          </a:prstGeom>
          <a:noFill/>
        </p:spPr>
        <p:txBody>
          <a:bodyPr wrap="square" lIns="0" rIns="0" tIns="0" bIns="0" anchor="t">
            <a:spAutoFit/>
          </a:bodyPr>
          <a:lstStyle/>
          <a:p>
            <a:pPr algn="l"/>
            <a:r>
              <a:rPr sz="1400" b="0" i="0">
                <a:solidFill>
                  <a:srgbClr val="14324A"/>
                </a:solidFill>
                <a:latin typeface="Calibri"/>
              </a:rPr>
              <a:t>Benefits are ceilings: 1,174.4 USD a month at reference list prices. The decisions table gives source, rule, responsible role and remaining check for each.</a:t>
            </a:r>
          </a:p>
        </p:txBody>
      </p:sp>
      <p:cxnSp>
        <p:nvCxnSpPr>
          <p:cNvPr id="15" name="Connector 14"/>
          <p:cNvCxnSpPr/>
          <p:nvPr/>
        </p:nvCxnSpPr>
        <p:spPr>
          <a:xfrm>
            <a:off x="594360" y="5582412"/>
            <a:ext cx="11002975" cy="0"/>
          </a:xfrm>
          <a:prstGeom prst="line">
            <a:avLst/>
          </a:prstGeom>
          <a:ln w="9525">
            <a:solidFill>
              <a:srgbClr val="D3DCE4"/>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70879A"/>
                </a:solidFill>
                <a:latin typeface="Calibri"/>
              </a:rPr>
              <a:t>EI-eij-1b359b3cbd2e</a:t>
            </a:r>
          </a:p>
        </p:txBody>
      </p:sp>
      <p:sp>
        <p:nvSpPr>
          <p:cNvPr id="17" name="TextBox 16"/>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70879A"/>
                </a:solidFill>
                <a:latin typeface="Calibri"/>
              </a:rPr>
              <a:t>Tenant confidential</a:t>
            </a:r>
          </a:p>
        </p:txBody>
      </p:sp>
      <p:sp>
        <p:nvSpPr>
          <p:cNvPr id="18" name="TextBox 17"/>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70879A"/>
                </a:solidFill>
                <a:latin typeface="Courier New"/>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70879A"/>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4324A"/>
                </a:solidFill>
                <a:latin typeface="Cambria"/>
              </a:rPr>
              <a:t>Executive decisions requested — one row each</a:t>
            </a:r>
          </a:p>
        </p:txBody>
      </p:sp>
      <p:graphicFrame>
        <p:nvGraphicFramePr>
          <p:cNvPr id="4" name="Table 3"/>
          <p:cNvGraphicFramePr>
            <a:graphicFrameLocks noGrp="1"/>
          </p:cNvGraphicFramePr>
          <p:nvPr/>
        </p:nvGraphicFramePr>
        <p:xfrm>
          <a:off x="594360" y="1920240"/>
          <a:ext cx="11002970" cy="3017520"/>
        </p:xfrm>
        <a:graphic>
          <a:graphicData uri="http://schemas.openxmlformats.org/drawingml/2006/table">
            <a:tbl>
              <a:tblPr firstRow="1" bandRow="1">
                <a:tableStyleId>{5C22544A-7EE6-4342-B048-85BDC9FD1C3A}</a:tableStyleId>
              </a:tblPr>
              <a:tblGrid>
                <a:gridCol w="687685"/>
                <a:gridCol w="2063057"/>
                <a:gridCol w="2063057"/>
                <a:gridCol w="2063057"/>
                <a:gridCol w="2063057"/>
                <a:gridCol w="2063057"/>
              </a:tblGrid>
              <a:tr h="301752">
                <a:tc>
                  <a:txBody>
                    <a:bodyPr wrap="square"/>
                    <a:lstStyle/>
                    <a:p>
                      <a:pPr algn="l"/>
                      <a:r>
                        <a:rPr sz="1100" b="1">
                          <a:solidFill>
                            <a:srgbClr val="14324A"/>
                          </a:solidFill>
                          <a:latin typeface="Calibri"/>
                        </a:rPr>
                        <a:t>#</a:t>
                      </a:r>
                    </a:p>
                  </a:txBody>
                  <a:tcPr marL="54864" marR="54864" marT="27432" marB="27432">
                    <a:solidFill>
                      <a:srgbClr val="E8EEF3"/>
                    </a:solidFill>
                  </a:tcPr>
                </a:tc>
                <a:tc>
                  <a:txBody>
                    <a:bodyPr wrap="square"/>
                    <a:lstStyle/>
                    <a:p>
                      <a:pPr algn="l"/>
                      <a:r>
                        <a:rPr sz="1100" b="1">
                          <a:solidFill>
                            <a:srgbClr val="14324A"/>
                          </a:solidFill>
                          <a:latin typeface="Calibri"/>
                        </a:rPr>
                        <a:t>Decision requested</a:t>
                      </a:r>
                    </a:p>
                  </a:txBody>
                  <a:tcPr marL="54864" marR="54864" marT="27432" marB="27432">
                    <a:solidFill>
                      <a:srgbClr val="E8EEF3"/>
                    </a:solidFill>
                  </a:tcPr>
                </a:tc>
                <a:tc>
                  <a:txBody>
                    <a:bodyPr wrap="square"/>
                    <a:lstStyle/>
                    <a:p>
                      <a:pPr algn="l"/>
                      <a:r>
                        <a:rPr sz="1100" b="1">
                          <a:solidFill>
                            <a:srgbClr val="14324A"/>
                          </a:solidFill>
                          <a:latin typeface="Calibri"/>
                        </a:rPr>
                        <a:t>Exact source</a:t>
                      </a:r>
                    </a:p>
                  </a:txBody>
                  <a:tcPr marL="54864" marR="54864" marT="27432" marB="27432">
                    <a:solidFill>
                      <a:srgbClr val="E8EEF3"/>
                    </a:solidFill>
                  </a:tcPr>
                </a:tc>
                <a:tc>
                  <a:txBody>
                    <a:bodyPr wrap="square"/>
                    <a:lstStyle/>
                    <a:p>
                      <a:pPr algn="l"/>
                      <a:r>
                        <a:rPr sz="1100" b="1">
                          <a:solidFill>
                            <a:srgbClr val="14324A"/>
                          </a:solidFill>
                          <a:latin typeface="Calibri"/>
                        </a:rPr>
                        <a:t>Proposed destination or rule</a:t>
                      </a:r>
                    </a:p>
                  </a:txBody>
                  <a:tcPr marL="54864" marR="54864" marT="27432" marB="27432">
                    <a:solidFill>
                      <a:srgbClr val="E8EEF3"/>
                    </a:solidFill>
                  </a:tcPr>
                </a:tc>
                <a:tc>
                  <a:txBody>
                    <a:bodyPr wrap="square"/>
                    <a:lstStyle/>
                    <a:p>
                      <a:pPr algn="l"/>
                      <a:r>
                        <a:rPr sz="1100" b="1">
                          <a:solidFill>
                            <a:srgbClr val="14324A"/>
                          </a:solidFill>
                          <a:latin typeface="Calibri"/>
                        </a:rPr>
                        <a:t>Responsible role</a:t>
                      </a:r>
                    </a:p>
                  </a:txBody>
                  <a:tcPr marL="54864" marR="54864" marT="27432" marB="27432">
                    <a:solidFill>
                      <a:srgbClr val="E8EEF3"/>
                    </a:solidFill>
                  </a:tcPr>
                </a:tc>
                <a:tc>
                  <a:txBody>
                    <a:bodyPr wrap="square"/>
                    <a:lstStyle/>
                    <a:p>
                      <a:pPr algn="l"/>
                      <a:r>
                        <a:rPr sz="1100" b="1">
                          <a:solidFill>
                            <a:srgbClr val="14324A"/>
                          </a:solidFill>
                          <a:latin typeface="Calibri"/>
                        </a:rPr>
                        <a:t>Expected benefit</a:t>
                      </a:r>
                    </a:p>
                  </a:txBody>
                  <a:tcPr marL="54864" marR="54864" marT="27432" marB="27432">
                    <a:solidFill>
                      <a:srgbClr val="E8EEF3"/>
                    </a:solidFill>
                  </a:tcPr>
                </a:tc>
              </a:tr>
              <a:tr h="301752">
                <a:tc>
                  <a:txBody>
                    <a:bodyPr wrap="square"/>
                    <a:lstStyle/>
                    <a:p>
                      <a:pPr algn="l"/>
                      <a:r>
                        <a:rPr sz="1100" b="0">
                          <a:solidFill>
                            <a:srgbClr val="14324A"/>
                          </a:solidFill>
                          <a:latin typeface="Calibri"/>
                        </a:rPr>
                        <a:t>D1</a:t>
                      </a:r>
                    </a:p>
                  </a:txBody>
                  <a:tcPr marL="54864" marR="54864" marT="27432" marB="27432">
                    <a:solidFill>
                      <a:srgbClr val="FFFFFF"/>
                    </a:solidFill>
                  </a:tcPr>
                </a:tc>
                <a:tc>
                  <a:txBody>
                    <a:bodyPr wrap="square"/>
                    <a:lstStyle/>
                    <a:p>
                      <a:pPr algn="l"/>
                      <a:r>
                        <a:rPr sz="1100" b="0">
                          <a:solidFill>
                            <a:srgbClr val="14324A"/>
                          </a:solidFill>
                          <a:latin typeface="Calibri"/>
                        </a:rPr>
                        <a:t>Approve archive tiering of the cold object-store buckets</a:t>
                      </a:r>
                    </a:p>
                  </a:txBody>
                  <a:tcPr marL="54864" marR="54864" marT="27432" marB="27432">
                    <a:solidFill>
                      <a:srgbClr val="FFFFFF"/>
                    </a:solidFill>
                  </a:tcPr>
                </a:tc>
                <a:tc>
                  <a:txBody>
                    <a:bodyPr wrap="square"/>
                    <a:lstStyle/>
                    <a:p>
                      <a:pPr algn="l"/>
                      <a:r>
                        <a:rPr sz="1100" b="0">
                          <a:solidFill>
                            <a:srgbClr val="14324A"/>
                          </a:solidFill>
                          <a:latin typeface="Calibri"/>
                        </a:rPr>
                        <a:t>43 buckets, e.g. music-bucket-rms, na7p43do, na7p43js, na7p434j, na7p41hj</a:t>
                      </a:r>
                    </a:p>
                  </a:txBody>
                  <a:tcPr marL="54864" marR="54864" marT="27432" marB="27432">
                    <a:solidFill>
                      <a:srgbClr val="FFFFFF"/>
                    </a:solidFill>
                  </a:tcPr>
                </a:tc>
                <a:tc>
                  <a:txBody>
                    <a:bodyPr wrap="square"/>
                    <a:lstStyle/>
                    <a:p>
                      <a:pPr algn="l"/>
                      <a:r>
                        <a:rPr sz="1100" b="0">
                          <a:solidFill>
                            <a:srgbClr val="14324A"/>
                          </a:solidFill>
                          <a:latin typeface="Calibri"/>
                        </a:rPr>
                        <a:t>same buckets, archive storage class (proposed)</a:t>
                      </a:r>
                    </a:p>
                  </a:txBody>
                  <a:tcPr marL="54864" marR="54864" marT="27432" marB="27432">
                    <a:solidFill>
                      <a:srgbClr val="FFFFFF"/>
                    </a:solidFill>
                  </a:tcPr>
                </a:tc>
                <a:tc>
                  <a:txBody>
                    <a:bodyPr wrap="square"/>
                    <a:lstStyle/>
                    <a:p>
                      <a:pPr algn="l"/>
                      <a:r>
                        <a:rPr sz="1100" b="0">
                          <a:solidFill>
                            <a:srgbClr val="14324A"/>
                          </a:solidFill>
                          <a:latin typeface="Calibri"/>
                        </a:rPr>
                        <a:t>Head of Technology (storage owner)</a:t>
                      </a:r>
                    </a:p>
                  </a:txBody>
                  <a:tcPr marL="54864" marR="54864" marT="27432" marB="27432">
                    <a:solidFill>
                      <a:srgbClr val="FFFFFF"/>
                    </a:solidFill>
                  </a:tcPr>
                </a:tc>
                <a:tc>
                  <a:txBody>
                    <a:bodyPr wrap="square"/>
                    <a:lstStyle/>
                    <a:p>
                      <a:pPr algn="l"/>
                      <a:r>
                        <a:rPr sz="1100" b="0">
                          <a:solidFill>
                            <a:srgbClr val="14324A"/>
                          </a:solidFill>
                          <a:latin typeface="Calibri"/>
                        </a:rPr>
                        <a:t>up to 986 USD a month at list price</a:t>
                      </a:r>
                    </a:p>
                  </a:txBody>
                  <a:tcPr marL="54864" marR="54864" marT="27432" marB="27432">
                    <a:solidFill>
                      <a:srgbClr val="FFFFFF"/>
                    </a:solidFill>
                  </a:tcPr>
                </a:tc>
              </a:tr>
              <a:tr h="301752">
                <a:tc>
                  <a:txBody>
                    <a:bodyPr wrap="square"/>
                    <a:lstStyle/>
                    <a:p>
                      <a:pPr algn="l"/>
                      <a:r>
                        <a:rPr sz="1100" b="0">
                          <a:solidFill>
                            <a:srgbClr val="14324A"/>
                          </a:solidFill>
                          <a:latin typeface="Calibri"/>
                        </a:rPr>
                        <a:t>D2</a:t>
                      </a:r>
                    </a:p>
                  </a:txBody>
                  <a:tcPr marL="54864" marR="54864" marT="27432" marB="27432">
                    <a:solidFill>
                      <a:srgbClr val="FFFFFF"/>
                    </a:solidFill>
                  </a:tcPr>
                </a:tc>
                <a:tc>
                  <a:txBody>
                    <a:bodyPr wrap="square"/>
                    <a:lstStyle/>
                    <a:p>
                      <a:pPr algn="l"/>
                      <a:r>
                        <a:rPr sz="1100" b="0">
                          <a:solidFill>
                            <a:srgbClr val="14324A"/>
                          </a:solidFill>
                          <a:latin typeface="Calibri"/>
                        </a:rPr>
                        <a:t>Approve hash confirmation and removal of duplicate objects</a:t>
                      </a:r>
                    </a:p>
                  </a:txBody>
                  <a:tcPr marL="54864" marR="54864" marT="27432" marB="27432">
                    <a:solidFill>
                      <a:srgbClr val="FFFFFF"/>
                    </a:solidFill>
                  </a:tcPr>
                </a:tc>
                <a:tc>
                  <a:txBody>
                    <a:bodyPr wrap="square"/>
                    <a:lstStyle/>
                    <a:p>
                      <a:pPr algn="l"/>
                      <a:r>
                        <a:rPr sz="1100" b="0">
                          <a:solidFill>
                            <a:srgbClr val="14324A"/>
                          </a:solidFill>
                          <a:latin typeface="Calibri"/>
                        </a:rPr>
                        <a:t>na7p43do, na7p4oco, music-bucket-rms, 2024offairrecs (1,139,768 candidates across the store)</a:t>
                      </a:r>
                    </a:p>
                  </a:txBody>
                  <a:tcPr marL="54864" marR="54864" marT="27432" marB="27432">
                    <a:solidFill>
                      <a:srgbClr val="FFFFFF"/>
                    </a:solidFill>
                  </a:tcPr>
                </a:tc>
                <a:tc>
                  <a:txBody>
                    <a:bodyPr wrap="square"/>
                    <a:lstStyle/>
                    <a:p>
                      <a:pPr algn="l"/>
                      <a:r>
                        <a:rPr sz="1100" b="0">
                          <a:solidFill>
                            <a:srgbClr val="14324A"/>
                          </a:solidFill>
                          <a:latin typeface="Calibri"/>
                        </a:rPr>
                        <a:t>keeper stays in its bucket; duplicates removed after confirmation (proposed)</a:t>
                      </a:r>
                    </a:p>
                  </a:txBody>
                  <a:tcPr marL="54864" marR="54864" marT="27432" marB="27432">
                    <a:solidFill>
                      <a:srgbClr val="FFFFFF"/>
                    </a:solidFill>
                  </a:tcPr>
                </a:tc>
                <a:tc>
                  <a:txBody>
                    <a:bodyPr wrap="square"/>
                    <a:lstStyle/>
                    <a:p>
                      <a:pPr algn="l"/>
                      <a:r>
                        <a:rPr sz="1100" b="0">
                          <a:solidFill>
                            <a:srgbClr val="14324A"/>
                          </a:solidFill>
                          <a:latin typeface="Calibri"/>
                        </a:rPr>
                        <a:t>Head of Technology with the content librarian</a:t>
                      </a:r>
                    </a:p>
                  </a:txBody>
                  <a:tcPr marL="54864" marR="54864" marT="27432" marB="27432">
                    <a:solidFill>
                      <a:srgbClr val="FFFFFF"/>
                    </a:solidFill>
                  </a:tcPr>
                </a:tc>
                <a:tc>
                  <a:txBody>
                    <a:bodyPr wrap="square"/>
                    <a:lstStyle/>
                    <a:p>
                      <a:pPr algn="l"/>
                      <a:r>
                        <a:rPr sz="1100" b="0">
                          <a:solidFill>
                            <a:srgbClr val="14324A"/>
                          </a:solidFill>
                          <a:latin typeface="Calibri"/>
                        </a:rPr>
                        <a:t>up to 180 USD a month at list price</a:t>
                      </a:r>
                    </a:p>
                  </a:txBody>
                  <a:tcPr marL="54864" marR="54864" marT="27432" marB="27432">
                    <a:solidFill>
                      <a:srgbClr val="FFFFFF"/>
                    </a:solidFill>
                  </a:tcPr>
                </a:tc>
              </a:tr>
              <a:tr h="301752">
                <a:tc>
                  <a:txBody>
                    <a:bodyPr wrap="square"/>
                    <a:lstStyle/>
                    <a:p>
                      <a:pPr algn="l"/>
                      <a:r>
                        <a:rPr sz="1100" b="0">
                          <a:solidFill>
                            <a:srgbClr val="14324A"/>
                          </a:solidFill>
                          <a:latin typeface="Calibri"/>
                        </a:rPr>
                        <a:t>D3</a:t>
                      </a:r>
                    </a:p>
                  </a:txBody>
                  <a:tcPr marL="54864" marR="54864" marT="27432" marB="27432">
                    <a:solidFill>
                      <a:srgbClr val="FFFFFF"/>
                    </a:solidFill>
                  </a:tcPr>
                </a:tc>
                <a:tc>
                  <a:txBody>
                    <a:bodyPr wrap="square"/>
                    <a:lstStyle/>
                    <a:p>
                      <a:pPr algn="l"/>
                      <a:r>
                        <a:rPr sz="1100" b="0">
                          <a:solidFill>
                            <a:srgbClr val="14324A"/>
                          </a:solidFill>
                          <a:latin typeface="Calibri"/>
                        </a:rPr>
                        <a:t>Instruct reconciliation of the unreadable buckets</a:t>
                      </a:r>
                    </a:p>
                  </a:txBody>
                  <a:tcPr marL="54864" marR="54864" marT="27432" marB="27432">
                    <a:solidFill>
                      <a:srgbClr val="FFFFFF"/>
                    </a:solidFill>
                  </a:tcPr>
                </a:tc>
                <a:tc>
                  <a:txBody>
                    <a:bodyPr wrap="square"/>
                    <a:lstStyle/>
                    <a:p>
                      <a:pPr algn="l"/>
                      <a:r>
                        <a:rPr sz="1100" b="0">
                          <a:solidFill>
                            <a:srgbClr val="14324A"/>
                          </a:solidFill>
                          <a:latin typeface="Calibri"/>
                        </a:rPr>
                        <a:t>40 buckets, e.g. apr252017, citizen-vod, elections, feb272017, instore-radio-items</a:t>
                      </a:r>
                    </a:p>
                  </a:txBody>
                  <a:tcPr marL="54864" marR="54864" marT="27432" marB="27432">
                    <a:solidFill>
                      <a:srgbClr val="FFFFFF"/>
                    </a:solidFill>
                  </a:tcPr>
                </a:tc>
                <a:tc>
                  <a:txBody>
                    <a:bodyPr wrap="square"/>
                    <a:lstStyle/>
                    <a:p>
                      <a:pPr algn="l"/>
                      <a:r>
                        <a:rPr sz="1100" b="0">
                          <a:solidFill>
                            <a:srgbClr val="14324A"/>
                          </a:solidFill>
                          <a:latin typeface="Calibri"/>
                        </a:rPr>
                        <a:t>inventory register corrected (proposed)</a:t>
                      </a:r>
                    </a:p>
                  </a:txBody>
                  <a:tcPr marL="54864" marR="54864" marT="27432" marB="27432">
                    <a:solidFill>
                      <a:srgbClr val="FFFFFF"/>
                    </a:solidFill>
                  </a:tcPr>
                </a:tc>
                <a:tc>
                  <a:txBody>
                    <a:bodyPr wrap="square"/>
                    <a:lstStyle/>
                    <a:p>
                      <a:pPr algn="l"/>
                      <a:r>
                        <a:rPr sz="1100" b="0">
                          <a:solidFill>
                            <a:srgbClr val="14324A"/>
                          </a:solidFill>
                          <a:latin typeface="Calibri"/>
                        </a:rPr>
                        <a:t>Cloud account owner</a:t>
                      </a:r>
                    </a:p>
                  </a:txBody>
                  <a:tcPr marL="54864" marR="54864" marT="27432" marB="27432">
                    <a:solidFill>
                      <a:srgbClr val="FFFFFF"/>
                    </a:solidFill>
                  </a:tcPr>
                </a:tc>
                <a:tc>
                  <a:txBody>
                    <a:bodyPr wrap="square"/>
                    <a:lstStyle/>
                    <a:p>
                      <a:pPr algn="l"/>
                      <a:r>
                        <a:rPr sz="1100" b="0">
                          <a:solidFill>
                            <a:srgbClr val="14324A"/>
                          </a:solidFill>
                          <a:latin typeface="Calibri"/>
                        </a:rPr>
                        <a:t>an inventory the next census can trust</a:t>
                      </a:r>
                    </a:p>
                  </a:txBody>
                  <a:tcPr marL="54864" marR="54864" marT="27432" marB="27432">
                    <a:solidFill>
                      <a:srgbClr val="FFFFFF"/>
                    </a:solidFill>
                  </a:tcPr>
                </a:tc>
              </a:tr>
              <a:tr h="301752">
                <a:tc>
                  <a:txBody>
                    <a:bodyPr wrap="square"/>
                    <a:lstStyle/>
                    <a:p>
                      <a:pPr algn="l"/>
                      <a:r>
                        <a:rPr sz="1100" b="0">
                          <a:solidFill>
                            <a:srgbClr val="14324A"/>
                          </a:solidFill>
                          <a:latin typeface="Calibri"/>
                        </a:rPr>
                        <a:t>D4</a:t>
                      </a:r>
                    </a:p>
                  </a:txBody>
                  <a:tcPr marL="54864" marR="54864" marT="27432" marB="27432">
                    <a:solidFill>
                      <a:srgbClr val="FFFFFF"/>
                    </a:solidFill>
                  </a:tcPr>
                </a:tc>
                <a:tc>
                  <a:txBody>
                    <a:bodyPr wrap="square"/>
                    <a:lstStyle/>
                    <a:p>
                      <a:pPr algn="l"/>
                      <a:r>
                        <a:rPr sz="1100" b="0">
                          <a:solidFill>
                            <a:srgbClr val="14324A"/>
                          </a:solidFill>
                          <a:latin typeface="Calibri"/>
                        </a:rPr>
                        <a:t>Approve cold-table archiving in the databases</a:t>
                      </a:r>
                    </a:p>
                  </a:txBody>
                  <a:tcPr marL="54864" marR="54864" marT="27432" marB="27432">
                    <a:solidFill>
                      <a:srgbClr val="FFFFFF"/>
                    </a:solidFill>
                  </a:tcPr>
                </a:tc>
                <a:tc>
                  <a:txBody>
                    <a:bodyPr wrap="square"/>
                    <a:lstStyle/>
                    <a:p>
                      <a:pPr algn="l"/>
                      <a:r>
                        <a:rPr sz="1100" b="0">
                          <a:solidFill>
                            <a:srgbClr val="14324A"/>
                          </a:solidFill>
                          <a:latin typeface="Calibri"/>
                        </a:rPr>
                        <a:t>6 tables, e.g. viusasa_staging.audits, viusasa_staging.master_payments, razuna.raz1_videos, viusasa_staging.payment_requests</a:t>
                      </a:r>
                    </a:p>
                  </a:txBody>
                  <a:tcPr marL="54864" marR="54864" marT="27432" marB="27432">
                    <a:solidFill>
                      <a:srgbClr val="FFFFFF"/>
                    </a:solidFill>
                  </a:tcPr>
                </a:tc>
                <a:tc>
                  <a:txBody>
                    <a:bodyPr wrap="square"/>
                    <a:lstStyle/>
                    <a:p>
                      <a:pPr algn="l"/>
                      <a:r>
                        <a:rPr sz="1100" b="0">
                          <a:solidFill>
                            <a:srgbClr val="14324A"/>
                          </a:solidFill>
                          <a:latin typeface="Calibri"/>
                        </a:rPr>
                        <a:t>object store, archive class, one prefix per database (proposed)</a:t>
                      </a:r>
                    </a:p>
                  </a:txBody>
                  <a:tcPr marL="54864" marR="54864" marT="27432" marB="27432">
                    <a:solidFill>
                      <a:srgbClr val="FFFFFF"/>
                    </a:solidFill>
                  </a:tcPr>
                </a:tc>
                <a:tc>
                  <a:txBody>
                    <a:bodyPr wrap="square"/>
                    <a:lstStyle/>
                    <a:p>
                      <a:pPr algn="l"/>
                      <a:r>
                        <a:rPr sz="1100" b="0">
                          <a:solidFill>
                            <a:srgbClr val="14324A"/>
                          </a:solidFill>
                          <a:latin typeface="Calibri"/>
                        </a:rPr>
                        <a:t>Database administrator</a:t>
                      </a:r>
                    </a:p>
                  </a:txBody>
                  <a:tcPr marL="54864" marR="54864" marT="27432" marB="27432">
                    <a:solidFill>
                      <a:srgbClr val="FFFFFF"/>
                    </a:solidFill>
                  </a:tcPr>
                </a:tc>
                <a:tc>
                  <a:txBody>
                    <a:bodyPr wrap="square"/>
                    <a:lstStyle/>
                    <a:p>
                      <a:pPr algn="l"/>
                      <a:r>
                        <a:rPr sz="1100" b="0">
                          <a:solidFill>
                            <a:srgbClr val="14324A"/>
                          </a:solidFill>
                          <a:latin typeface="Calibri"/>
                        </a:rPr>
                        <a:t>up to 6 USD a month at list price</a:t>
                      </a:r>
                    </a:p>
                  </a:txBody>
                  <a:tcPr marL="54864" marR="54864" marT="27432" marB="27432">
                    <a:solidFill>
                      <a:srgbClr val="FFFFFF"/>
                    </a:solidFill>
                  </a:tcPr>
                </a:tc>
              </a:tr>
              <a:tr h="301752">
                <a:tc>
                  <a:txBody>
                    <a:bodyPr wrap="square"/>
                    <a:lstStyle/>
                    <a:p>
                      <a:pPr algn="l"/>
                      <a:r>
                        <a:rPr sz="1100" b="0">
                          <a:solidFill>
                            <a:srgbClr val="14324A"/>
                          </a:solidFill>
                          <a:latin typeface="Calibri"/>
                        </a:rPr>
                        <a:t>D5</a:t>
                      </a:r>
                    </a:p>
                  </a:txBody>
                  <a:tcPr marL="54864" marR="54864" marT="27432" marB="27432">
                    <a:solidFill>
                      <a:srgbClr val="FFFFFF"/>
                    </a:solidFill>
                  </a:tcPr>
                </a:tc>
                <a:tc>
                  <a:txBody>
                    <a:bodyPr wrap="square"/>
                    <a:lstStyle/>
                    <a:p>
                      <a:pPr algn="l"/>
                      <a:r>
                        <a:rPr sz="1100" b="0">
                          <a:solidFill>
                            <a:srgbClr val="14324A"/>
                          </a:solidFill>
                          <a:latin typeface="Calibri"/>
                        </a:rPr>
                        <a:t>Decide one authoritative copy for each duplicated table pair</a:t>
                      </a:r>
                    </a:p>
                  </a:txBody>
                  <a:tcPr marL="54864" marR="54864" marT="27432" marB="27432">
                    <a:solidFill>
                      <a:srgbClr val="FFFFFF"/>
                    </a:solidFill>
                  </a:tcPr>
                </a:tc>
                <a:tc>
                  <a:txBody>
                    <a:bodyPr wrap="square"/>
                    <a:lstStyle/>
                    <a:p>
                      <a:pPr algn="l"/>
                      <a:r>
                        <a:rPr sz="1100" b="0">
                          <a:solidFill>
                            <a:srgbClr val="14324A"/>
                          </a:solidFill>
                          <a:latin typeface="Calibri"/>
                        </a:rPr>
                        <a:t>71 pairs, e.g. iebc_forms/viupay.failed_jobs ↔ viupay/viupay.failed_jobs; iebc_forms/viutickets.movies ↔ viupay/viutickets.movies; iebc_forms/viutickets.ussd_hits ↔ viupay/viutickets.ussd_hits</a:t>
                      </a:r>
                    </a:p>
                  </a:txBody>
                  <a:tcPr marL="54864" marR="54864" marT="27432" marB="27432">
                    <a:solidFill>
                      <a:srgbClr val="FFFFFF"/>
                    </a:solidFill>
                  </a:tcPr>
                </a:tc>
                <a:tc>
                  <a:txBody>
                    <a:bodyPr wrap="square"/>
                    <a:lstStyle/>
                    <a:p>
                      <a:pPr algn="l"/>
                      <a:r>
                        <a:rPr sz="1100" b="0">
                          <a:solidFill>
                            <a:srgbClr val="14324A"/>
                          </a:solidFill>
                          <a:latin typeface="Calibri"/>
                        </a:rPr>
                        <a:t>master stays; copy retired (proposed)</a:t>
                      </a:r>
                    </a:p>
                  </a:txBody>
                  <a:tcPr marL="54864" marR="54864" marT="27432" marB="27432">
                    <a:solidFill>
                      <a:srgbClr val="FFFFFF"/>
                    </a:solidFill>
                  </a:tcPr>
                </a:tc>
                <a:tc>
                  <a:txBody>
                    <a:bodyPr wrap="square"/>
                    <a:lstStyle/>
                    <a:p>
                      <a:pPr algn="l"/>
                      <a:r>
                        <a:rPr sz="1100" b="0">
                          <a:solidFill>
                            <a:srgbClr val="14324A"/>
                          </a:solidFill>
                          <a:latin typeface="Calibri"/>
                        </a:rPr>
                        <a:t>Database administrator with the application owners</a:t>
                      </a:r>
                    </a:p>
                  </a:txBody>
                  <a:tcPr marL="54864" marR="54864" marT="27432" marB="27432">
                    <a:solidFill>
                      <a:srgbClr val="FFFFFF"/>
                    </a:solidFill>
                  </a:tcPr>
                </a:tc>
                <a:tc>
                  <a:txBody>
                    <a:bodyPr wrap="square"/>
                    <a:lstStyle/>
                    <a:p>
                      <a:pPr algn="l"/>
                      <a:r>
                        <a:rPr sz="1100" b="0">
                          <a:solidFill>
                            <a:srgbClr val="14324A"/>
                          </a:solidFill>
                          <a:latin typeface="Calibri"/>
                        </a:rPr>
                        <a:t>up to 0 USD a month at list price</a:t>
                      </a:r>
                    </a:p>
                  </a:txBody>
                  <a:tcPr marL="54864" marR="54864" marT="27432" marB="27432">
                    <a:solidFill>
                      <a:srgbClr val="FFFFFF"/>
                    </a:solidFill>
                  </a:tcPr>
                </a:tc>
              </a:tr>
              <a:tr h="301752">
                <a:tc>
                  <a:txBody>
                    <a:bodyPr wrap="square"/>
                    <a:lstStyle/>
                    <a:p>
                      <a:pPr algn="l"/>
                      <a:r>
                        <a:rPr sz="1100" b="0">
                          <a:solidFill>
                            <a:srgbClr val="14324A"/>
                          </a:solidFill>
                          <a:latin typeface="Calibri"/>
                        </a:rPr>
                        <a:t>D6</a:t>
                      </a:r>
                    </a:p>
                  </a:txBody>
                  <a:tcPr marL="54864" marR="54864" marT="27432" marB="27432">
                    <a:solidFill>
                      <a:srgbClr val="FFFFFF"/>
                    </a:solidFill>
                  </a:tcPr>
                </a:tc>
                <a:tc>
                  <a:txBody>
                    <a:bodyPr wrap="square"/>
                    <a:lstStyle/>
                    <a:p>
                      <a:pPr algn="l"/>
                      <a:r>
                        <a:rPr sz="1100" b="0">
                          <a:solidFill>
                            <a:srgbClr val="14324A"/>
                          </a:solidFill>
                          <a:latin typeface="Calibri"/>
                        </a:rPr>
                        <a:t>Approve the housekeeping list: empty tables, redundant indexes, repeated rows</a:t>
                      </a:r>
                    </a:p>
                  </a:txBody>
                  <a:tcPr marL="54864" marR="54864" marT="27432" marB="27432">
                    <a:solidFill>
                      <a:srgbClr val="FFFFFF"/>
                    </a:solidFill>
                  </a:tcPr>
                </a:tc>
                <a:tc>
                  <a:txBody>
                    <a:bodyPr wrap="square"/>
                    <a:lstStyle/>
                    <a:p>
                      <a:pPr algn="l"/>
                      <a:r>
                        <a:rPr sz="1100" b="0">
                          <a:solidFill>
                            <a:srgbClr val="14324A"/>
                          </a:solidFill>
                          <a:latin typeface="Calibri"/>
                        </a:rPr>
                        <a:t>368 empty tables; redundant indexes and repeated rows named in the table list</a:t>
                      </a:r>
                    </a:p>
                  </a:txBody>
                  <a:tcPr marL="54864" marR="54864" marT="27432" marB="27432">
                    <a:solidFill>
                      <a:srgbClr val="FFFFFF"/>
                    </a:solidFill>
                  </a:tcPr>
                </a:tc>
                <a:tc>
                  <a:txBody>
                    <a:bodyPr wrap="square"/>
                    <a:lstStyle/>
                    <a:p>
                      <a:pPr algn="l"/>
                      <a:r>
                        <a:rPr sz="1100" b="0">
                          <a:solidFill>
                            <a:srgbClr val="14324A"/>
                          </a:solidFill>
                          <a:latin typeface="Calibri"/>
                        </a:rPr>
                        <a:t>no destination — removal in place after confirmation (proposed)</a:t>
                      </a:r>
                    </a:p>
                  </a:txBody>
                  <a:tcPr marL="54864" marR="54864" marT="27432" marB="27432">
                    <a:solidFill>
                      <a:srgbClr val="FFFFFF"/>
                    </a:solidFill>
                  </a:tcPr>
                </a:tc>
                <a:tc>
                  <a:txBody>
                    <a:bodyPr wrap="square"/>
                    <a:lstStyle/>
                    <a:p>
                      <a:pPr algn="l"/>
                      <a:r>
                        <a:rPr sz="1100" b="0">
                          <a:solidFill>
                            <a:srgbClr val="14324A"/>
                          </a:solidFill>
                          <a:latin typeface="Calibri"/>
                        </a:rPr>
                        <a:t>Database administrator</a:t>
                      </a:r>
                    </a:p>
                  </a:txBody>
                  <a:tcPr marL="54864" marR="54864" marT="27432" marB="27432">
                    <a:solidFill>
                      <a:srgbClr val="FFFFFF"/>
                    </a:solidFill>
                  </a:tcPr>
                </a:tc>
                <a:tc>
                  <a:txBody>
                    <a:bodyPr wrap="square"/>
                    <a:lstStyle/>
                    <a:p>
                      <a:pPr algn="l"/>
                      <a:r>
                        <a:rPr sz="1100" b="0">
                          <a:solidFill>
                            <a:srgbClr val="14324A"/>
                          </a:solidFill>
                          <a:latin typeface="Calibri"/>
                        </a:rPr>
                        <a:t>up to 2 USD a month at list price plus up to 0 USD a month at list price</a:t>
                      </a:r>
                    </a:p>
                  </a:txBody>
                  <a:tcPr marL="54864" marR="54864" marT="27432" marB="27432">
                    <a:solidFill>
                      <a:srgbClr val="FFFFFF"/>
                    </a:solidFill>
                  </a:tcPr>
                </a:tc>
              </a:tr>
              <a:tr h="301752">
                <a:tc>
                  <a:txBody>
                    <a:bodyPr wrap="square"/>
                    <a:lstStyle/>
                    <a:p>
                      <a:pPr algn="l"/>
                      <a:r>
                        <a:rPr sz="1100" b="0">
                          <a:solidFill>
                            <a:srgbClr val="14324A"/>
                          </a:solidFill>
                          <a:latin typeface="Calibri"/>
                        </a:rPr>
                        <a:t>D7</a:t>
                      </a:r>
                    </a:p>
                  </a:txBody>
                  <a:tcPr marL="54864" marR="54864" marT="27432" marB="27432">
                    <a:solidFill>
                      <a:srgbClr val="FFFFFF"/>
                    </a:solidFill>
                  </a:tcPr>
                </a:tc>
                <a:tc>
                  <a:txBody>
                    <a:bodyPr wrap="square"/>
                    <a:lstStyle/>
                    <a:p>
                      <a:pPr algn="l"/>
                      <a:r>
                        <a:rPr sz="1100" b="0">
                          <a:solidFill>
                            <a:srgbClr val="14324A"/>
                          </a:solidFill>
                          <a:latin typeface="Calibri"/>
                        </a:rPr>
                        <a:t>Order a fingerprint pass over the file shares</a:t>
                      </a:r>
                    </a:p>
                  </a:txBody>
                  <a:tcPr marL="54864" marR="54864" marT="27432" marB="27432">
                    <a:solidFill>
                      <a:srgbClr val="FFFFFF"/>
                    </a:solidFill>
                  </a:tcPr>
                </a:tc>
                <a:tc>
                  <a:txBody>
                    <a:bodyPr wrap="square"/>
                    <a:lstStyle/>
                    <a:p>
                      <a:pPr algn="l"/>
                      <a:r>
                        <a:rPr sz="1100" b="0">
                          <a:solidFill>
                            <a:srgbClr val="14324A"/>
                          </a:solidFill>
                          <a:latin typeface="Calibri"/>
                        </a:rPr>
                        <a:t>16 NAS shares holding 43.6 TiB (channel01 … channel16)</a:t>
                      </a:r>
                    </a:p>
                  </a:txBody>
                  <a:tcPr marL="54864" marR="54864" marT="27432" marB="27432">
                    <a:solidFill>
                      <a:srgbClr val="FFFFFF"/>
                    </a:solidFill>
                  </a:tcPr>
                </a:tc>
                <a:tc>
                  <a:txBody>
                    <a:bodyPr wrap="square"/>
                    <a:lstStyle/>
                    <a:p>
                      <a:pPr algn="l"/>
                      <a:r>
                        <a:rPr sz="1100" b="0">
                          <a:solidFill>
                            <a:srgbClr val="14324A"/>
                          </a:solidFill>
                          <a:latin typeface="Calibri"/>
                        </a:rPr>
                        <a:t>none yet — measurement first</a:t>
                      </a:r>
                    </a:p>
                  </a:txBody>
                  <a:tcPr marL="54864" marR="54864" marT="27432" marB="27432">
                    <a:solidFill>
                      <a:srgbClr val="FFFFFF"/>
                    </a:solidFill>
                  </a:tcPr>
                </a:tc>
                <a:tc>
                  <a:txBody>
                    <a:bodyPr wrap="square"/>
                    <a:lstStyle/>
                    <a:p>
                      <a:pPr algn="l"/>
                      <a:r>
                        <a:rPr sz="1100" b="0">
                          <a:solidFill>
                            <a:srgbClr val="14324A"/>
                          </a:solidFill>
                          <a:latin typeface="Calibri"/>
                        </a:rPr>
                        <a:t>Head of Technology</a:t>
                      </a:r>
                    </a:p>
                  </a:txBody>
                  <a:tcPr marL="54864" marR="54864" marT="27432" marB="27432">
                    <a:solidFill>
                      <a:srgbClr val="FFFFFF"/>
                    </a:solidFill>
                  </a:tcPr>
                </a:tc>
                <a:tc>
                  <a:txBody>
                    <a:bodyPr wrap="square"/>
                    <a:lstStyle/>
                    <a:p>
                      <a:pPr algn="l"/>
                      <a:r>
                        <a:rPr sz="1100" b="0">
                          <a:solidFill>
                            <a:srgbClr val="14324A"/>
                          </a:solidFill>
                          <a:latin typeface="Calibri"/>
                        </a:rPr>
                        <a:t>a measured duplication figure for the largest unmeasured store</a:t>
                      </a:r>
                    </a:p>
                  </a:txBody>
                  <a:tcPr marL="54864" marR="54864" marT="27432" marB="27432">
                    <a:solidFill>
                      <a:srgbClr val="FFFFFF"/>
                    </a:solidFill>
                  </a:tcPr>
                </a:tc>
              </a:tr>
              <a:tr h="301752">
                <a:tc>
                  <a:txBody>
                    <a:bodyPr wrap="square"/>
                    <a:lstStyle/>
                    <a:p>
                      <a:pPr algn="l"/>
                      <a:r>
                        <a:rPr sz="1100" b="0">
                          <a:solidFill>
                            <a:srgbClr val="14324A"/>
                          </a:solidFill>
                          <a:latin typeface="Calibri"/>
                        </a:rPr>
                        <a:t>D8</a:t>
                      </a:r>
                    </a:p>
                  </a:txBody>
                  <a:tcPr marL="54864" marR="54864" marT="27432" marB="27432">
                    <a:solidFill>
                      <a:srgbClr val="FFFFFF"/>
                    </a:solidFill>
                  </a:tcPr>
                </a:tc>
                <a:tc>
                  <a:txBody>
                    <a:bodyPr wrap="square"/>
                    <a:lstStyle/>
                    <a:p>
                      <a:pPr algn="l"/>
                      <a:r>
                        <a:rPr sz="1100" b="0">
                          <a:solidFill>
                            <a:srgbClr val="14324A"/>
                          </a:solidFill>
                          <a:latin typeface="Calibri"/>
                        </a:rPr>
                        <a:t>Adopt naming and ownership rules for storage</a:t>
                      </a:r>
                    </a:p>
                  </a:txBody>
                  <a:tcPr marL="54864" marR="54864" marT="27432" marB="27432">
                    <a:solidFill>
                      <a:srgbClr val="FFFFFF"/>
                    </a:solidFill>
                  </a:tcPr>
                </a:tc>
                <a:tc>
                  <a:txBody>
                    <a:bodyPr wrap="square"/>
                    <a:lstStyle/>
                    <a:p>
                      <a:pPr algn="l"/>
                      <a:r>
                        <a:rPr sz="1100" b="0">
                          <a:solidFill>
                            <a:srgbClr val="14324A"/>
                          </a:solidFill>
                          <a:latin typeface="Calibri"/>
                        </a:rPr>
                        <a:t>machine-named buckets (na7p4…), channel shares, staging copies</a:t>
                      </a:r>
                    </a:p>
                  </a:txBody>
                  <a:tcPr marL="54864" marR="54864" marT="27432" marB="27432">
                    <a:solidFill>
                      <a:srgbClr val="FFFFFF"/>
                    </a:solidFill>
                  </a:tcPr>
                </a:tc>
                <a:tc>
                  <a:txBody>
                    <a:bodyPr wrap="square"/>
                    <a:lstStyle/>
                    <a:p>
                      <a:pPr algn="l"/>
                      <a:r>
                        <a:rPr sz="1100" b="0">
                          <a:solidFill>
                            <a:srgbClr val="14324A"/>
                          </a:solidFill>
                          <a:latin typeface="Calibri"/>
                        </a:rPr>
                        <a:t>register maintained by the storage owner (proposed)</a:t>
                      </a:r>
                    </a:p>
                  </a:txBody>
                  <a:tcPr marL="54864" marR="54864" marT="27432" marB="27432">
                    <a:solidFill>
                      <a:srgbClr val="FFFFFF"/>
                    </a:solidFill>
                  </a:tcPr>
                </a:tc>
                <a:tc>
                  <a:txBody>
                    <a:bodyPr wrap="square"/>
                    <a:lstStyle/>
                    <a:p>
                      <a:pPr algn="l"/>
                      <a:r>
                        <a:rPr sz="1100" b="0">
                          <a:solidFill>
                            <a:srgbClr val="14324A"/>
                          </a:solidFill>
                          <a:latin typeface="Calibri"/>
                        </a:rPr>
                        <a:t>Chief Operating Officer</a:t>
                      </a:r>
                    </a:p>
                  </a:txBody>
                  <a:tcPr marL="54864" marR="54864" marT="27432" marB="27432">
                    <a:solidFill>
                      <a:srgbClr val="FFFFFF"/>
                    </a:solidFill>
                  </a:tcPr>
                </a:tc>
                <a:tc>
                  <a:txBody>
                    <a:bodyPr wrap="square"/>
                    <a:lstStyle/>
                    <a:p>
                      <a:pPr algn="l"/>
                      <a:r>
                        <a:rPr sz="1100" b="0">
                          <a:solidFill>
                            <a:srgbClr val="14324A"/>
                          </a:solidFill>
                          <a:latin typeface="Calibri"/>
                        </a:rPr>
                        <a:t>fewer orphaned stores and faster decisions at the next census</a:t>
                      </a:r>
                    </a:p>
                  </a:txBody>
                  <a:tcPr marL="54864" marR="54864" marT="27432" marB="27432">
                    <a:solidFill>
                      <a:srgbClr val="FFFFFF"/>
                    </a:solidFill>
                  </a:tcPr>
                </a:tc>
              </a:tr>
              <a:tr h="301752">
                <a:tc>
                  <a:txBody>
                    <a:bodyPr wrap="square"/>
                    <a:lstStyle/>
                    <a:p>
                      <a:pPr algn="l"/>
                      <a:r>
                        <a:rPr sz="1100" b="0">
                          <a:solidFill>
                            <a:srgbClr val="14324A"/>
                          </a:solidFill>
                          <a:latin typeface="Calibri"/>
                        </a:rPr>
                        <a:t>D9</a:t>
                      </a:r>
                    </a:p>
                  </a:txBody>
                  <a:tcPr marL="54864" marR="54864" marT="27432" marB="27432">
                    <a:solidFill>
                      <a:srgbClr val="FFFFFF"/>
                    </a:solidFill>
                  </a:tcPr>
                </a:tc>
                <a:tc>
                  <a:txBody>
                    <a:bodyPr wrap="square"/>
                    <a:lstStyle/>
                    <a:p>
                      <a:pPr algn="l"/>
                      <a:r>
                        <a:rPr sz="1100" b="0">
                          <a:solidFill>
                            <a:srgbClr val="14324A"/>
                          </a:solidFill>
                          <a:latin typeface="Calibri"/>
                        </a:rPr>
                        <a:t>Register the language assets as governed data products</a:t>
                      </a:r>
                    </a:p>
                  </a:txBody>
                  <a:tcPr marL="54864" marR="54864" marT="27432" marB="27432">
                    <a:solidFill>
                      <a:srgbClr val="FFFFFF"/>
                    </a:solidFill>
                  </a:tcPr>
                </a:tc>
                <a:tc>
                  <a:txBody>
                    <a:bodyPr wrap="square"/>
                    <a:lstStyle/>
                    <a:p>
                      <a:pPr algn="l"/>
                      <a:r>
                        <a:rPr sz="1100" b="0">
                          <a:solidFill>
                            <a:srgbClr val="14324A"/>
                          </a:solidFill>
                          <a:latin typeface="Calibri"/>
                        </a:rPr>
                        <a:t>staged corpus by language folder (T020), news scripts by station (T022), transcription workbench (T023)</a:t>
                      </a:r>
                    </a:p>
                  </a:txBody>
                  <a:tcPr marL="54864" marR="54864" marT="27432" marB="27432">
                    <a:solidFill>
                      <a:srgbClr val="FFFFFF"/>
                    </a:solidFill>
                  </a:tcPr>
                </a:tc>
                <a:tc>
                  <a:txBody>
                    <a:bodyPr wrap="square"/>
                    <a:lstStyle/>
                    <a:p>
                      <a:pPr algn="l"/>
                      <a:r>
                        <a:rPr sz="1100" b="0">
                          <a:solidFill>
                            <a:srgbClr val="14324A"/>
                          </a:solidFill>
                          <a:latin typeface="Calibri"/>
                        </a:rPr>
                        <a:t>governed asset register (proposed)</a:t>
                      </a:r>
                    </a:p>
                  </a:txBody>
                  <a:tcPr marL="54864" marR="54864" marT="27432" marB="27432">
                    <a:solidFill>
                      <a:srgbClr val="FFFFFF"/>
                    </a:solidFill>
                  </a:tcPr>
                </a:tc>
                <a:tc>
                  <a:txBody>
                    <a:bodyPr wrap="square"/>
                    <a:lstStyle/>
                    <a:p>
                      <a:pPr algn="l"/>
                      <a:r>
                        <a:rPr sz="1100" b="0">
                          <a:solidFill>
                            <a:srgbClr val="14324A"/>
                          </a:solidFill>
                          <a:latin typeface="Calibri"/>
                        </a:rPr>
                        <a:t>Head of Data with the newsroom</a:t>
                      </a:r>
                    </a:p>
                  </a:txBody>
                  <a:tcPr marL="54864" marR="54864" marT="27432" marB="27432">
                    <a:solidFill>
                      <a:srgbClr val="FFFFFF"/>
                    </a:solidFill>
                  </a:tcPr>
                </a:tc>
                <a:tc>
                  <a:txBody>
                    <a:bodyPr wrap="square"/>
                    <a:lstStyle/>
                    <a:p>
                      <a:pPr algn="l"/>
                      <a:r>
                        <a:rPr sz="1100" b="0">
                          <a:solidFill>
                            <a:srgbClr val="14324A"/>
                          </a:solidFill>
                          <a:latin typeface="Calibri"/>
                        </a:rPr>
                        <a:t>a licensable, evidenced inventory of non-English speech and text</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E8772E"/>
                </a:solidFill>
                <a:latin typeface="Calibri"/>
              </a:rPr>
              <a:t>Each decision names the exact source it rests on, the action, the proposed destination or rule, who carries it, the benefit stated as an upper bound where it is money, the evidence it rests on and what still has to be verified. Nothing here has been executed.</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70879A"/>
                </a:solidFill>
                <a:latin typeface="Courier New"/>
              </a:rPr>
              <a:t>[estimated]  Receipt R02: Estate intelligence census eij-1b359b3cbd2e, cost_strategies priced at reference list prices, not the owner's invoice: Huawei Cloud RDS for MySQL cloud SSD AF-Johannesburg 0.00015 USD/GB-hour x 730 h; OBS Standard 0.023 USD/GB-month</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70879A"/>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70879A"/>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70879A"/>
                </a:solidFill>
                <a:latin typeface="Courier New"/>
              </a:rPr>
              <a:t>46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70879A"/>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4324A"/>
                </a:solidFill>
                <a:latin typeface="Cambria"/>
              </a:rPr>
              <a:t>Executive decisions requested — one row each</a:t>
            </a:r>
          </a:p>
        </p:txBody>
      </p:sp>
      <p:graphicFrame>
        <p:nvGraphicFramePr>
          <p:cNvPr id="4" name="Table 3"/>
          <p:cNvGraphicFramePr>
            <a:graphicFrameLocks noGrp="1"/>
          </p:cNvGraphicFramePr>
          <p:nvPr/>
        </p:nvGraphicFramePr>
        <p:xfrm>
          <a:off x="594360" y="1920240"/>
          <a:ext cx="11002971" cy="768096"/>
        </p:xfrm>
        <a:graphic>
          <a:graphicData uri="http://schemas.openxmlformats.org/drawingml/2006/table">
            <a:tbl>
              <a:tblPr firstRow="1" bandRow="1">
                <a:tableStyleId>{5C22544A-7EE6-4342-B048-85BDC9FD1C3A}</a:tableStyleId>
              </a:tblPr>
              <a:tblGrid>
                <a:gridCol w="837182"/>
                <a:gridCol w="2511548"/>
                <a:gridCol w="2511548"/>
                <a:gridCol w="1674365"/>
                <a:gridCol w="956780"/>
                <a:gridCol w="2511548"/>
              </a:tblGrid>
              <a:tr h="384048">
                <a:tc>
                  <a:txBody>
                    <a:bodyPr wrap="square"/>
                    <a:lstStyle/>
                    <a:p>
                      <a:pPr algn="l"/>
                      <a:r>
                        <a:rPr sz="1200" b="1">
                          <a:solidFill>
                            <a:srgbClr val="14324A"/>
                          </a:solidFill>
                          <a:latin typeface="Calibri"/>
                        </a:rPr>
                        <a:t>#</a:t>
                      </a:r>
                    </a:p>
                  </a:txBody>
                  <a:tcPr marL="54864" marR="54864" marT="27432" marB="27432">
                    <a:solidFill>
                      <a:srgbClr val="E8EEF3"/>
                    </a:solidFill>
                  </a:tcPr>
                </a:tc>
                <a:tc>
                  <a:txBody>
                    <a:bodyPr wrap="square"/>
                    <a:lstStyle/>
                    <a:p>
                      <a:pPr algn="l"/>
                      <a:r>
                        <a:rPr sz="1200" b="1">
                          <a:solidFill>
                            <a:srgbClr val="14324A"/>
                          </a:solidFill>
                          <a:latin typeface="Calibri"/>
                        </a:rPr>
                        <a:t>Decision requested</a:t>
                      </a:r>
                    </a:p>
                  </a:txBody>
                  <a:tcPr marL="54864" marR="54864" marT="27432" marB="27432">
                    <a:solidFill>
                      <a:srgbClr val="E8EEF3"/>
                    </a:solidFill>
                  </a:tcPr>
                </a:tc>
                <a:tc>
                  <a:txBody>
                    <a:bodyPr wrap="square"/>
                    <a:lstStyle/>
                    <a:p>
                      <a:pPr algn="l"/>
                      <a:r>
                        <a:rPr sz="1200" b="1">
                          <a:solidFill>
                            <a:srgbClr val="14324A"/>
                          </a:solidFill>
                          <a:latin typeface="Calibri"/>
                        </a:rPr>
                        <a:t>Exact source</a:t>
                      </a:r>
                    </a:p>
                  </a:txBody>
                  <a:tcPr marL="54864" marR="54864" marT="27432" marB="27432">
                    <a:solidFill>
                      <a:srgbClr val="E8EEF3"/>
                    </a:solidFill>
                  </a:tcPr>
                </a:tc>
                <a:tc>
                  <a:txBody>
                    <a:bodyPr wrap="square"/>
                    <a:lstStyle/>
                    <a:p>
                      <a:pPr algn="l"/>
                      <a:r>
                        <a:rPr sz="1200" b="1">
                          <a:solidFill>
                            <a:srgbClr val="14324A"/>
                          </a:solidFill>
                          <a:latin typeface="Calibri"/>
                        </a:rPr>
                        <a:t>Proposed destination or rule</a:t>
                      </a:r>
                    </a:p>
                  </a:txBody>
                  <a:tcPr marL="54864" marR="54864" marT="27432" marB="27432">
                    <a:solidFill>
                      <a:srgbClr val="E8EEF3"/>
                    </a:solidFill>
                  </a:tcPr>
                </a:tc>
                <a:tc>
                  <a:txBody>
                    <a:bodyPr wrap="square"/>
                    <a:lstStyle/>
                    <a:p>
                      <a:pPr algn="l"/>
                      <a:r>
                        <a:rPr sz="1200" b="1">
                          <a:solidFill>
                            <a:srgbClr val="14324A"/>
                          </a:solidFill>
                          <a:latin typeface="Calibri"/>
                        </a:rPr>
                        <a:t>Responsible role</a:t>
                      </a:r>
                    </a:p>
                  </a:txBody>
                  <a:tcPr marL="54864" marR="54864" marT="27432" marB="27432">
                    <a:solidFill>
                      <a:srgbClr val="E8EEF3"/>
                    </a:solidFill>
                  </a:tcPr>
                </a:tc>
                <a:tc>
                  <a:txBody>
                    <a:bodyPr wrap="square"/>
                    <a:lstStyle/>
                    <a:p>
                      <a:pPr algn="l"/>
                      <a:r>
                        <a:rPr sz="1200" b="1">
                          <a:solidFill>
                            <a:srgbClr val="14324A"/>
                          </a:solidFill>
                          <a:latin typeface="Calibri"/>
                        </a:rPr>
                        <a:t>Expected benefit</a:t>
                      </a:r>
                    </a:p>
                  </a:txBody>
                  <a:tcPr marL="54864" marR="54864" marT="27432" marB="27432">
                    <a:solidFill>
                      <a:srgbClr val="E8EEF3"/>
                    </a:solidFill>
                  </a:tcPr>
                </a:tc>
              </a:tr>
              <a:tr h="384048">
                <a:tc>
                  <a:txBody>
                    <a:bodyPr wrap="square"/>
                    <a:lstStyle/>
                    <a:p>
                      <a:pPr algn="l"/>
                      <a:r>
                        <a:rPr sz="1200" b="0">
                          <a:solidFill>
                            <a:srgbClr val="14324A"/>
                          </a:solidFill>
                          <a:latin typeface="Calibri"/>
                        </a:rPr>
                        <a:t>D10</a:t>
                      </a:r>
                    </a:p>
                  </a:txBody>
                  <a:tcPr marL="54864" marR="54864" marT="27432" marB="27432">
                    <a:solidFill>
                      <a:srgbClr val="FFFFFF"/>
                    </a:solidFill>
                  </a:tcPr>
                </a:tc>
                <a:tc>
                  <a:txBody>
                    <a:bodyPr wrap="square"/>
                    <a:lstStyle/>
                    <a:p>
                      <a:pPr algn="l"/>
                      <a:r>
                        <a:rPr sz="1200" b="0">
                          <a:solidFill>
                            <a:srgbClr val="14324A"/>
                          </a:solidFill>
                          <a:latin typeface="Calibri"/>
                        </a:rPr>
                        <a:t>Commission the de-identified reference products the census ranks first</a:t>
                      </a:r>
                    </a:p>
                  </a:txBody>
                  <a:tcPr marL="54864" marR="54864" marT="27432" marB="27432">
                    <a:solidFill>
                      <a:srgbClr val="FFFFFF"/>
                    </a:solidFill>
                  </a:tcPr>
                </a:tc>
                <a:tc>
                  <a:txBody>
                    <a:bodyPr wrap="square"/>
                    <a:lstStyle/>
                    <a:p>
                      <a:pPr algn="l"/>
                      <a:r>
                        <a:rPr sz="1200" b="0">
                          <a:solidFill>
                            <a:srgbClr val="14324A"/>
                          </a:solidFill>
                          <a:latin typeface="Calibri"/>
                        </a:rPr>
                        <a:t>the three leading product candidates in the census</a:t>
                      </a:r>
                    </a:p>
                  </a:txBody>
                  <a:tcPr marL="54864" marR="54864" marT="27432" marB="27432">
                    <a:solidFill>
                      <a:srgbClr val="FFFFFF"/>
                    </a:solidFill>
                  </a:tcPr>
                </a:tc>
                <a:tc>
                  <a:txBody>
                    <a:bodyPr wrap="square"/>
                    <a:lstStyle/>
                    <a:p>
                      <a:pPr algn="l"/>
                      <a:r>
                        <a:rPr sz="1200" b="0">
                          <a:solidFill>
                            <a:srgbClr val="14324A"/>
                          </a:solidFill>
                          <a:latin typeface="Calibri"/>
                        </a:rPr>
                        <a:t>product workspace (proposed)</a:t>
                      </a:r>
                    </a:p>
                  </a:txBody>
                  <a:tcPr marL="54864" marR="54864" marT="27432" marB="27432">
                    <a:solidFill>
                      <a:srgbClr val="FFFFFF"/>
                    </a:solidFill>
                  </a:tcPr>
                </a:tc>
                <a:tc>
                  <a:txBody>
                    <a:bodyPr wrap="square"/>
                    <a:lstStyle/>
                    <a:p>
                      <a:pPr algn="l"/>
                      <a:r>
                        <a:rPr sz="1200" b="0">
                          <a:solidFill>
                            <a:srgbClr val="14324A"/>
                          </a:solidFill>
                          <a:latin typeface="Calibri"/>
                        </a:rPr>
                        <a:t>Head of Data</a:t>
                      </a:r>
                    </a:p>
                  </a:txBody>
                  <a:tcPr marL="54864" marR="54864" marT="27432" marB="27432">
                    <a:solidFill>
                      <a:srgbClr val="FFFFFF"/>
                    </a:solidFill>
                  </a:tcPr>
                </a:tc>
                <a:tc>
                  <a:txBody>
                    <a:bodyPr wrap="square"/>
                    <a:lstStyle/>
                    <a:p>
                      <a:pPr algn="l"/>
                      <a:r>
                        <a:rPr sz="1200" b="0">
                          <a:solidFill>
                            <a:srgbClr val="14324A"/>
                          </a:solidFill>
                          <a:latin typeface="Calibri"/>
                        </a:rPr>
                        <a:t>first revenue-bearing use of the estate's data</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E8772E"/>
                </a:solidFill>
                <a:latin typeface="Calibri"/>
              </a:rPr>
              <a:t>Each decision names the exact source it rests on, the action, the proposed destination or rule, who carries it, the benefit stated as an upper bound where it is money, the evidence it rests on and what still has to be verified. Nothing here has been executed.</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70879A"/>
                </a:solidFill>
                <a:latin typeface="Courier New"/>
              </a:rPr>
              <a:t>[estimated]  Receipt R02: Estate intelligence census eij-1b359b3cbd2e, cost_strategies priced at reference list prices, not the owner's invoice: Huawei Cloud RDS for MySQL cloud SSD AF-Johannesburg 0.00015 USD/GB-hour x 730 h; OBS Standard 0.023 USD/GB-month</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70879A"/>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70879A"/>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70879A"/>
                </a:solidFill>
                <a:latin typeface="Courier New"/>
              </a:rPr>
              <a:t>47</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1920240"/>
            <a:ext cx="2613355" cy="1885492"/>
          </a:xfrm>
          <a:prstGeom prst="rect">
            <a:avLst/>
          </a:prstGeom>
          <a:noFill/>
        </p:spPr>
        <p:txBody>
          <a:bodyPr wrap="square" lIns="0" rIns="0" tIns="0" bIns="0" anchor="ctr">
            <a:spAutoFit/>
          </a:bodyPr>
          <a:lstStyle/>
          <a:p>
            <a:pPr algn="l"/>
            <a:r>
              <a:rPr sz="9600" b="0" i="0">
                <a:solidFill>
                  <a:srgbClr val="E8772E"/>
                </a:solidFill>
                <a:latin typeface="Courier New"/>
              </a:rPr>
              <a:t>09</a:t>
            </a:r>
          </a:p>
        </p:txBody>
      </p:sp>
      <p:sp>
        <p:nvSpPr>
          <p:cNvPr id="3" name="TextBox 2"/>
          <p:cNvSpPr txBox="1"/>
          <p:nvPr/>
        </p:nvSpPr>
        <p:spPr>
          <a:xfrm>
            <a:off x="3390595" y="2297887"/>
            <a:ext cx="8206740" cy="1508760"/>
          </a:xfrm>
          <a:prstGeom prst="rect">
            <a:avLst/>
          </a:prstGeom>
          <a:noFill/>
        </p:spPr>
        <p:txBody>
          <a:bodyPr wrap="square" lIns="0" rIns="0" tIns="0" bIns="0" anchor="ctr">
            <a:spAutoFit/>
          </a:bodyPr>
          <a:lstStyle/>
          <a:p>
            <a:pPr algn="l"/>
            <a:r>
              <a:rPr sz="3200" b="0" i="0">
                <a:solidFill>
                  <a:srgbClr val="14324A"/>
                </a:solidFill>
                <a:latin typeface="Cambria"/>
              </a:rPr>
              <a:t>What remains unmeasured</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70879A"/>
                </a:solidFill>
                <a:latin typeface="Calibri"/>
              </a:rPr>
              <a:t>COVERAGE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4324A"/>
                </a:solidFill>
                <a:latin typeface="Cambria"/>
              </a:rPr>
              <a:t>Coverage stops short in named places, and each gap has a measurement that closes it</a:t>
            </a:r>
          </a:p>
        </p:txBody>
      </p:sp>
      <p:sp>
        <p:nvSpPr>
          <p:cNvPr id="4" name="TextBox 3"/>
          <p:cNvSpPr txBox="1"/>
          <p:nvPr/>
        </p:nvSpPr>
        <p:spPr>
          <a:xfrm>
            <a:off x="594360" y="1920240"/>
            <a:ext cx="640080" cy="942975"/>
          </a:xfrm>
          <a:prstGeom prst="rect">
            <a:avLst/>
          </a:prstGeom>
          <a:noFill/>
        </p:spPr>
        <p:txBody>
          <a:bodyPr wrap="square" lIns="0" rIns="0" tIns="0" bIns="0" anchor="t">
            <a:spAutoFit/>
          </a:bodyPr>
          <a:lstStyle/>
          <a:p>
            <a:pPr algn="l"/>
            <a:r>
              <a:rPr sz="2600" b="0" i="0">
                <a:solidFill>
                  <a:srgbClr val="E8772E"/>
                </a:solidFill>
                <a:latin typeface="Courier New"/>
              </a:rPr>
              <a:t>01</a:t>
            </a:r>
          </a:p>
        </p:txBody>
      </p:sp>
      <p:sp>
        <p:nvSpPr>
          <p:cNvPr id="5" name="TextBox 4"/>
          <p:cNvSpPr txBox="1"/>
          <p:nvPr/>
        </p:nvSpPr>
        <p:spPr>
          <a:xfrm>
            <a:off x="1417320" y="1993392"/>
            <a:ext cx="10180015" cy="851535"/>
          </a:xfrm>
          <a:prstGeom prst="rect">
            <a:avLst/>
          </a:prstGeom>
          <a:noFill/>
        </p:spPr>
        <p:txBody>
          <a:bodyPr wrap="square" lIns="0" rIns="0" tIns="0" bIns="0" anchor="t">
            <a:spAutoFit/>
          </a:bodyPr>
          <a:lstStyle/>
          <a:p>
            <a:pPr algn="l"/>
            <a:r>
              <a:rPr sz="1400" b="0" i="0">
                <a:solidFill>
                  <a:srgbClr val="14324A"/>
                </a:solidFill>
                <a:latin typeface="Calibri"/>
              </a:rPr>
              <a:t>Only 638 of 1006 tables were measured, so ratios on sampled tables need a complete-pass census.</a:t>
            </a:r>
          </a:p>
        </p:txBody>
      </p:sp>
      <p:cxnSp>
        <p:nvCxnSpPr>
          <p:cNvPr id="6" name="Connector 5"/>
          <p:cNvCxnSpPr/>
          <p:nvPr/>
        </p:nvCxnSpPr>
        <p:spPr>
          <a:xfrm>
            <a:off x="594360" y="2753487"/>
            <a:ext cx="11002975" cy="0"/>
          </a:xfrm>
          <a:prstGeom prst="line">
            <a:avLst/>
          </a:prstGeom>
          <a:ln w="9525">
            <a:solidFill>
              <a:srgbClr val="D3DCE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2863215"/>
            <a:ext cx="640080" cy="942975"/>
          </a:xfrm>
          <a:prstGeom prst="rect">
            <a:avLst/>
          </a:prstGeom>
          <a:noFill/>
        </p:spPr>
        <p:txBody>
          <a:bodyPr wrap="square" lIns="0" rIns="0" tIns="0" bIns="0" anchor="t">
            <a:spAutoFit/>
          </a:bodyPr>
          <a:lstStyle/>
          <a:p>
            <a:pPr algn="l"/>
            <a:r>
              <a:rPr sz="2600" b="0" i="0">
                <a:solidFill>
                  <a:srgbClr val="E8772E"/>
                </a:solidFill>
                <a:latin typeface="Courier New"/>
              </a:rPr>
              <a:t>02</a:t>
            </a:r>
          </a:p>
        </p:txBody>
      </p:sp>
      <p:sp>
        <p:nvSpPr>
          <p:cNvPr id="8" name="TextBox 7"/>
          <p:cNvSpPr txBox="1"/>
          <p:nvPr/>
        </p:nvSpPr>
        <p:spPr>
          <a:xfrm>
            <a:off x="1417320" y="2936367"/>
            <a:ext cx="10180015" cy="851535"/>
          </a:xfrm>
          <a:prstGeom prst="rect">
            <a:avLst/>
          </a:prstGeom>
          <a:noFill/>
        </p:spPr>
        <p:txBody>
          <a:bodyPr wrap="square" lIns="0" rIns="0" tIns="0" bIns="0" anchor="t">
            <a:spAutoFit/>
          </a:bodyPr>
          <a:lstStyle/>
          <a:p>
            <a:pPr algn="l"/>
            <a:r>
              <a:rPr sz="1400" b="0" i="0">
                <a:solidFill>
                  <a:srgbClr val="14324A"/>
                </a:solidFill>
                <a:latin typeface="Calibri"/>
              </a:rPr>
              <a:t>40 buckets are unreadable; reconcile the bucket inventory with the provider. One database connection awaits a read grant.</a:t>
            </a:r>
          </a:p>
        </p:txBody>
      </p:sp>
      <p:cxnSp>
        <p:nvCxnSpPr>
          <p:cNvPr id="9" name="Connector 8"/>
          <p:cNvCxnSpPr/>
          <p:nvPr/>
        </p:nvCxnSpPr>
        <p:spPr>
          <a:xfrm>
            <a:off x="594360" y="3696461"/>
            <a:ext cx="11002975" cy="0"/>
          </a:xfrm>
          <a:prstGeom prst="line">
            <a:avLst/>
          </a:prstGeom>
          <a:ln w="9525">
            <a:solidFill>
              <a:srgbClr val="D3DCE4"/>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94360" y="3806189"/>
            <a:ext cx="640080" cy="942975"/>
          </a:xfrm>
          <a:prstGeom prst="rect">
            <a:avLst/>
          </a:prstGeom>
          <a:noFill/>
        </p:spPr>
        <p:txBody>
          <a:bodyPr wrap="square" lIns="0" rIns="0" tIns="0" bIns="0" anchor="t">
            <a:spAutoFit/>
          </a:bodyPr>
          <a:lstStyle/>
          <a:p>
            <a:pPr algn="l"/>
            <a:r>
              <a:rPr sz="2600" b="0" i="0">
                <a:solidFill>
                  <a:srgbClr val="E8772E"/>
                </a:solidFill>
                <a:latin typeface="Courier New"/>
              </a:rPr>
              <a:t>03</a:t>
            </a:r>
          </a:p>
        </p:txBody>
      </p:sp>
      <p:sp>
        <p:nvSpPr>
          <p:cNvPr id="11" name="TextBox 10"/>
          <p:cNvSpPr txBox="1"/>
          <p:nvPr/>
        </p:nvSpPr>
        <p:spPr>
          <a:xfrm>
            <a:off x="1417320" y="3879341"/>
            <a:ext cx="10180015" cy="851535"/>
          </a:xfrm>
          <a:prstGeom prst="rect">
            <a:avLst/>
          </a:prstGeom>
          <a:noFill/>
        </p:spPr>
        <p:txBody>
          <a:bodyPr wrap="square" lIns="0" rIns="0" tIns="0" bIns="0" anchor="t">
            <a:spAutoFit/>
          </a:bodyPr>
          <a:lstStyle/>
          <a:p>
            <a:pPr algn="l"/>
            <a:r>
              <a:rPr sz="1400" b="0" i="0">
                <a:solidFill>
                  <a:srgbClr val="14324A"/>
                </a:solidFill>
                <a:latin typeface="Calibri"/>
              </a:rPr>
              <a:t>The 43.6 TiB across 1.5m files on file shares has sizes and dates but no content fingerprints, so duplication is unknown.</a:t>
            </a:r>
          </a:p>
        </p:txBody>
      </p:sp>
      <p:cxnSp>
        <p:nvCxnSpPr>
          <p:cNvPr id="12" name="Connector 11"/>
          <p:cNvCxnSpPr/>
          <p:nvPr/>
        </p:nvCxnSpPr>
        <p:spPr>
          <a:xfrm>
            <a:off x="594360" y="4639437"/>
            <a:ext cx="11002975" cy="0"/>
          </a:xfrm>
          <a:prstGeom prst="line">
            <a:avLst/>
          </a:prstGeom>
          <a:ln w="9525">
            <a:solidFill>
              <a:srgbClr val="D3DCE4"/>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94360" y="4749165"/>
            <a:ext cx="640080" cy="942975"/>
          </a:xfrm>
          <a:prstGeom prst="rect">
            <a:avLst/>
          </a:prstGeom>
          <a:noFill/>
        </p:spPr>
        <p:txBody>
          <a:bodyPr wrap="square" lIns="0" rIns="0" tIns="0" bIns="0" anchor="t">
            <a:spAutoFit/>
          </a:bodyPr>
          <a:lstStyle/>
          <a:p>
            <a:pPr algn="l"/>
            <a:r>
              <a:rPr sz="2600" b="0" i="0">
                <a:solidFill>
                  <a:srgbClr val="E8772E"/>
                </a:solidFill>
                <a:latin typeface="Courier New"/>
              </a:rPr>
              <a:t>04</a:t>
            </a:r>
          </a:p>
        </p:txBody>
      </p:sp>
      <p:sp>
        <p:nvSpPr>
          <p:cNvPr id="14" name="TextBox 13"/>
          <p:cNvSpPr txBox="1"/>
          <p:nvPr/>
        </p:nvSpPr>
        <p:spPr>
          <a:xfrm>
            <a:off x="1417320" y="4822317"/>
            <a:ext cx="10180015" cy="851535"/>
          </a:xfrm>
          <a:prstGeom prst="rect">
            <a:avLst/>
          </a:prstGeom>
          <a:noFill/>
        </p:spPr>
        <p:txBody>
          <a:bodyPr wrap="square" lIns="0" rIns="0" tIns="0" bIns="0" anchor="t">
            <a:spAutoFit/>
          </a:bodyPr>
          <a:lstStyle/>
          <a:p>
            <a:pPr algn="l"/>
            <a:r>
              <a:rPr sz="1400" b="0" i="0">
                <a:solidFill>
                  <a:srgbClr val="14324A"/>
                </a:solidFill>
                <a:latin typeface="Calibri"/>
              </a:rPr>
              <a:t>3540 transcripts were not reached, script language was not read, and workbench and corpus overlap is not joined; each needs its own pass.</a:t>
            </a:r>
          </a:p>
        </p:txBody>
      </p:sp>
      <p:cxnSp>
        <p:nvCxnSpPr>
          <p:cNvPr id="15" name="Connector 14"/>
          <p:cNvCxnSpPr/>
          <p:nvPr/>
        </p:nvCxnSpPr>
        <p:spPr>
          <a:xfrm>
            <a:off x="594360" y="5582412"/>
            <a:ext cx="11002975" cy="0"/>
          </a:xfrm>
          <a:prstGeom prst="line">
            <a:avLst/>
          </a:prstGeom>
          <a:ln w="9525">
            <a:solidFill>
              <a:srgbClr val="D3DCE4"/>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70879A"/>
                </a:solidFill>
                <a:latin typeface="Calibri"/>
              </a:rPr>
              <a:t>EI-eij-1b359b3cbd2e</a:t>
            </a:r>
          </a:p>
        </p:txBody>
      </p:sp>
      <p:sp>
        <p:nvSpPr>
          <p:cNvPr id="17" name="TextBox 16"/>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70879A"/>
                </a:solidFill>
                <a:latin typeface="Calibri"/>
              </a:rPr>
              <a:t>Tenant confidential</a:t>
            </a:r>
          </a:p>
        </p:txBody>
      </p:sp>
      <p:sp>
        <p:nvSpPr>
          <p:cNvPr id="18" name="TextBox 17"/>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70879A"/>
                </a:solidFill>
                <a:latin typeface="Courier New"/>
              </a:rPr>
              <a:t>49</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70879A"/>
                </a:solidFill>
                <a:latin typeface="Calibri"/>
              </a:rPr>
              <a:t>WHAT TO DO FIRST</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4324A"/>
                </a:solidFill>
                <a:latin typeface="Cambria"/>
              </a:rPr>
              <a:t>Start with cold-bucket and duplicate validation, then prepare products and repair databases</a:t>
            </a:r>
          </a:p>
        </p:txBody>
      </p:sp>
      <p:sp>
        <p:nvSpPr>
          <p:cNvPr id="4" name="TextBox 3"/>
          <p:cNvSpPr txBox="1"/>
          <p:nvPr/>
        </p:nvSpPr>
        <p:spPr>
          <a:xfrm>
            <a:off x="594360" y="1920240"/>
            <a:ext cx="640080" cy="754380"/>
          </a:xfrm>
          <a:prstGeom prst="rect">
            <a:avLst/>
          </a:prstGeom>
          <a:noFill/>
        </p:spPr>
        <p:txBody>
          <a:bodyPr wrap="square" lIns="0" rIns="0" tIns="0" bIns="0" anchor="t">
            <a:spAutoFit/>
          </a:bodyPr>
          <a:lstStyle/>
          <a:p>
            <a:pPr algn="l"/>
            <a:r>
              <a:rPr sz="2600" b="0" i="0">
                <a:solidFill>
                  <a:srgbClr val="E8772E"/>
                </a:solidFill>
                <a:latin typeface="Courier New"/>
              </a:rPr>
              <a:t>01</a:t>
            </a:r>
          </a:p>
        </p:txBody>
      </p:sp>
      <p:sp>
        <p:nvSpPr>
          <p:cNvPr id="5" name="TextBox 4"/>
          <p:cNvSpPr txBox="1"/>
          <p:nvPr/>
        </p:nvSpPr>
        <p:spPr>
          <a:xfrm>
            <a:off x="1417320" y="1993392"/>
            <a:ext cx="10180015" cy="662940"/>
          </a:xfrm>
          <a:prstGeom prst="rect">
            <a:avLst/>
          </a:prstGeom>
          <a:noFill/>
        </p:spPr>
        <p:txBody>
          <a:bodyPr wrap="square" lIns="0" rIns="0" tIns="0" bIns="0" anchor="t">
            <a:spAutoFit/>
          </a:bodyPr>
          <a:lstStyle/>
          <a:p>
            <a:pPr algn="l"/>
            <a:r>
              <a:rPr sz="1400" b="0" i="0">
                <a:solidFill>
                  <a:srgbClr val="14324A"/>
                </a:solidFill>
                <a:latin typeface="Calibri"/>
              </a:rPr>
              <a:t>First, validate archive-tier moves for the 41.9 TiB not written for over a year: check read demand and retrieval fees. This carries the largest priced saving.</a:t>
            </a:r>
          </a:p>
        </p:txBody>
      </p:sp>
      <p:cxnSp>
        <p:nvCxnSpPr>
          <p:cNvPr id="6" name="Connector 5"/>
          <p:cNvCxnSpPr/>
          <p:nvPr/>
        </p:nvCxnSpPr>
        <p:spPr>
          <a:xfrm>
            <a:off x="594360" y="2564891"/>
            <a:ext cx="11002975" cy="0"/>
          </a:xfrm>
          <a:prstGeom prst="line">
            <a:avLst/>
          </a:prstGeom>
          <a:ln w="9525">
            <a:solidFill>
              <a:srgbClr val="D3DCE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2674620"/>
            <a:ext cx="640080" cy="754380"/>
          </a:xfrm>
          <a:prstGeom prst="rect">
            <a:avLst/>
          </a:prstGeom>
          <a:noFill/>
        </p:spPr>
        <p:txBody>
          <a:bodyPr wrap="square" lIns="0" rIns="0" tIns="0" bIns="0" anchor="t">
            <a:spAutoFit/>
          </a:bodyPr>
          <a:lstStyle/>
          <a:p>
            <a:pPr algn="l"/>
            <a:r>
              <a:rPr sz="2600" b="0" i="0">
                <a:solidFill>
                  <a:srgbClr val="E8772E"/>
                </a:solidFill>
                <a:latin typeface="Courier New"/>
              </a:rPr>
              <a:t>02</a:t>
            </a:r>
          </a:p>
        </p:txBody>
      </p:sp>
      <p:sp>
        <p:nvSpPr>
          <p:cNvPr id="8" name="TextBox 7"/>
          <p:cNvSpPr txBox="1"/>
          <p:nvPr/>
        </p:nvSpPr>
        <p:spPr>
          <a:xfrm>
            <a:off x="1417320" y="2747772"/>
            <a:ext cx="10180015" cy="662940"/>
          </a:xfrm>
          <a:prstGeom prst="rect">
            <a:avLst/>
          </a:prstGeom>
          <a:noFill/>
        </p:spPr>
        <p:txBody>
          <a:bodyPr wrap="square" lIns="0" rIns="0" tIns="0" bIns="0" anchor="t">
            <a:spAutoFit/>
          </a:bodyPr>
          <a:lstStyle/>
          <a:p>
            <a:pPr algn="l"/>
            <a:r>
              <a:rPr sz="1400" b="0" i="0">
                <a:solidFill>
                  <a:srgbClr val="14324A"/>
                </a:solidFill>
                <a:latin typeface="Calibri"/>
              </a:rPr>
              <a:t>Second, hash-confirm the 7.7 TiB of duplicate candidates, then reconcile; size-and-fingerprint matching alone cannot justify removal.</a:t>
            </a:r>
          </a:p>
        </p:txBody>
      </p:sp>
      <p:cxnSp>
        <p:nvCxnSpPr>
          <p:cNvPr id="9" name="Connector 8"/>
          <p:cNvCxnSpPr/>
          <p:nvPr/>
        </p:nvCxnSpPr>
        <p:spPr>
          <a:xfrm>
            <a:off x="594360" y="3319272"/>
            <a:ext cx="11002975" cy="0"/>
          </a:xfrm>
          <a:prstGeom prst="line">
            <a:avLst/>
          </a:prstGeom>
          <a:ln w="9525">
            <a:solidFill>
              <a:srgbClr val="D3DCE4"/>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94360" y="3429000"/>
            <a:ext cx="640080" cy="754380"/>
          </a:xfrm>
          <a:prstGeom prst="rect">
            <a:avLst/>
          </a:prstGeom>
          <a:noFill/>
        </p:spPr>
        <p:txBody>
          <a:bodyPr wrap="square" lIns="0" rIns="0" tIns="0" bIns="0" anchor="t">
            <a:spAutoFit/>
          </a:bodyPr>
          <a:lstStyle/>
          <a:p>
            <a:pPr algn="l"/>
            <a:r>
              <a:rPr sz="2600" b="0" i="0">
                <a:solidFill>
                  <a:srgbClr val="E8772E"/>
                </a:solidFill>
                <a:latin typeface="Courier New"/>
              </a:rPr>
              <a:t>03</a:t>
            </a:r>
          </a:p>
        </p:txBody>
      </p:sp>
      <p:sp>
        <p:nvSpPr>
          <p:cNvPr id="11" name="TextBox 10"/>
          <p:cNvSpPr txBox="1"/>
          <p:nvPr/>
        </p:nvSpPr>
        <p:spPr>
          <a:xfrm>
            <a:off x="1417320" y="3502152"/>
            <a:ext cx="10180015" cy="662940"/>
          </a:xfrm>
          <a:prstGeom prst="rect">
            <a:avLst/>
          </a:prstGeom>
          <a:noFill/>
        </p:spPr>
        <p:txBody>
          <a:bodyPr wrap="square" lIns="0" rIns="0" tIns="0" bIns="0" anchor="t">
            <a:spAutoFit/>
          </a:bodyPr>
          <a:lstStyle/>
          <a:p>
            <a:pPr algn="l"/>
            <a:r>
              <a:rPr sz="1400" b="0" i="0">
                <a:solidFill>
                  <a:srgbClr val="14324A"/>
                </a:solidFill>
                <a:latin typeface="Calibri"/>
              </a:rPr>
              <a:t>Third, reconcile the 40 unreadable buckets and fingerprint the file shares, so the 174.3 TiB account is complete.</a:t>
            </a:r>
          </a:p>
        </p:txBody>
      </p:sp>
      <p:cxnSp>
        <p:nvCxnSpPr>
          <p:cNvPr id="12" name="Connector 11"/>
          <p:cNvCxnSpPr/>
          <p:nvPr/>
        </p:nvCxnSpPr>
        <p:spPr>
          <a:xfrm>
            <a:off x="594360" y="4073652"/>
            <a:ext cx="11002975" cy="0"/>
          </a:xfrm>
          <a:prstGeom prst="line">
            <a:avLst/>
          </a:prstGeom>
          <a:ln w="9525">
            <a:solidFill>
              <a:srgbClr val="D3DCE4"/>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94360" y="4183379"/>
            <a:ext cx="640080" cy="754380"/>
          </a:xfrm>
          <a:prstGeom prst="rect">
            <a:avLst/>
          </a:prstGeom>
          <a:noFill/>
        </p:spPr>
        <p:txBody>
          <a:bodyPr wrap="square" lIns="0" rIns="0" tIns="0" bIns="0" anchor="t">
            <a:spAutoFit/>
          </a:bodyPr>
          <a:lstStyle/>
          <a:p>
            <a:pPr algn="l"/>
            <a:r>
              <a:rPr sz="2600" b="0" i="0">
                <a:solidFill>
                  <a:srgbClr val="E8772E"/>
                </a:solidFill>
                <a:latin typeface="Courier New"/>
              </a:rPr>
              <a:t>04</a:t>
            </a:r>
          </a:p>
        </p:txBody>
      </p:sp>
      <p:sp>
        <p:nvSpPr>
          <p:cNvPr id="14" name="TextBox 13"/>
          <p:cNvSpPr txBox="1"/>
          <p:nvPr/>
        </p:nvSpPr>
        <p:spPr>
          <a:xfrm>
            <a:off x="1417320" y="4256531"/>
            <a:ext cx="10180015" cy="662940"/>
          </a:xfrm>
          <a:prstGeom prst="rect">
            <a:avLst/>
          </a:prstGeom>
          <a:noFill/>
        </p:spPr>
        <p:txBody>
          <a:bodyPr wrap="square" lIns="0" rIns="0" tIns="0" bIns="0" anchor="t">
            <a:spAutoFit/>
          </a:bodyPr>
          <a:lstStyle/>
          <a:p>
            <a:pPr algn="l"/>
            <a:r>
              <a:rPr sz="1400" b="0" i="0">
                <a:solidFill>
                  <a:srgbClr val="14324A"/>
                </a:solidFill>
                <a:latin typeface="Calibri"/>
              </a:rPr>
              <a:t>Fourth, prepare reference data, the content catalogue and channel engagement, de-identifying or aggregating where markers appear.</a:t>
            </a:r>
          </a:p>
        </p:txBody>
      </p:sp>
      <p:cxnSp>
        <p:nvCxnSpPr>
          <p:cNvPr id="15" name="Connector 14"/>
          <p:cNvCxnSpPr/>
          <p:nvPr/>
        </p:nvCxnSpPr>
        <p:spPr>
          <a:xfrm>
            <a:off x="594360" y="4828031"/>
            <a:ext cx="11002975" cy="0"/>
          </a:xfrm>
          <a:prstGeom prst="line">
            <a:avLst/>
          </a:prstGeom>
          <a:ln w="9525">
            <a:solidFill>
              <a:srgbClr val="D3DCE4"/>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94360" y="4937760"/>
            <a:ext cx="640080" cy="754380"/>
          </a:xfrm>
          <a:prstGeom prst="rect">
            <a:avLst/>
          </a:prstGeom>
          <a:noFill/>
        </p:spPr>
        <p:txBody>
          <a:bodyPr wrap="square" lIns="0" rIns="0" tIns="0" bIns="0" anchor="t">
            <a:spAutoFit/>
          </a:bodyPr>
          <a:lstStyle/>
          <a:p>
            <a:pPr algn="l"/>
            <a:r>
              <a:rPr sz="2600" b="0" i="0">
                <a:solidFill>
                  <a:srgbClr val="E8772E"/>
                </a:solidFill>
                <a:latin typeface="Courier New"/>
              </a:rPr>
              <a:t>05</a:t>
            </a:r>
          </a:p>
        </p:txBody>
      </p:sp>
      <p:sp>
        <p:nvSpPr>
          <p:cNvPr id="17" name="TextBox 16"/>
          <p:cNvSpPr txBox="1"/>
          <p:nvPr/>
        </p:nvSpPr>
        <p:spPr>
          <a:xfrm>
            <a:off x="1417320" y="5010912"/>
            <a:ext cx="10180015" cy="662940"/>
          </a:xfrm>
          <a:prstGeom prst="rect">
            <a:avLst/>
          </a:prstGeom>
          <a:noFill/>
        </p:spPr>
        <p:txBody>
          <a:bodyPr wrap="square" lIns="0" rIns="0" tIns="0" bIns="0" anchor="t">
            <a:spAutoFit/>
          </a:bodyPr>
          <a:lstStyle/>
          <a:p>
            <a:pPr algn="l"/>
            <a:r>
              <a:rPr sz="1400" b="0" i="0">
                <a:solidFill>
                  <a:srgbClr val="14324A"/>
                </a:solidFill>
                <a:latin typeface="Calibri"/>
              </a:rPr>
              <a:t>Fifth, run a complete-pass census on the 638 measured tables, fix empty fields, take the 15.2 GiB database saving, and remeasure.</a:t>
            </a:r>
          </a:p>
        </p:txBody>
      </p:sp>
      <p:cxnSp>
        <p:nvCxnSpPr>
          <p:cNvPr id="18" name="Connector 17"/>
          <p:cNvCxnSpPr/>
          <p:nvPr/>
        </p:nvCxnSpPr>
        <p:spPr>
          <a:xfrm>
            <a:off x="594360" y="5582412"/>
            <a:ext cx="11002975" cy="0"/>
          </a:xfrm>
          <a:prstGeom prst="line">
            <a:avLst/>
          </a:prstGeom>
          <a:ln w="9525">
            <a:solidFill>
              <a:srgbClr val="D3DCE4"/>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70879A"/>
                </a:solidFill>
                <a:latin typeface="Calibri"/>
              </a:rPr>
              <a:t>EI-eij-1b359b3cbd2e</a:t>
            </a:r>
          </a:p>
        </p:txBody>
      </p:sp>
      <p:sp>
        <p:nvSpPr>
          <p:cNvPr id="20" name="TextBox 19"/>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70879A"/>
                </a:solidFill>
                <a:latin typeface="Calibri"/>
              </a:rPr>
              <a:t>Tenant confidential</a:t>
            </a:r>
          </a:p>
        </p:txBody>
      </p:sp>
      <p:sp>
        <p:nvSpPr>
          <p:cNvPr id="21" name="TextBox 20"/>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70879A"/>
                </a:solidFill>
                <a:latin typeface="Courier New"/>
              </a:rPr>
              <a:t>50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70879A"/>
                </a:solidFill>
                <a:latin typeface="Calibri"/>
              </a:rPr>
              <a:t>LIMITS OF THE EVIDENCE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4324A"/>
                </a:solidFill>
                <a:latin typeface="Cambria"/>
              </a:rPr>
              <a:t>Coverage, candidate duplication and reference pricing could each change a decision</a:t>
            </a:r>
          </a:p>
        </p:txBody>
      </p:sp>
      <p:sp>
        <p:nvSpPr>
          <p:cNvPr id="4" name="TextBox 3"/>
          <p:cNvSpPr txBox="1"/>
          <p:nvPr/>
        </p:nvSpPr>
        <p:spPr>
          <a:xfrm>
            <a:off x="594360" y="1920240"/>
            <a:ext cx="640080" cy="754380"/>
          </a:xfrm>
          <a:prstGeom prst="rect">
            <a:avLst/>
          </a:prstGeom>
          <a:noFill/>
        </p:spPr>
        <p:txBody>
          <a:bodyPr wrap="square" lIns="0" rIns="0" tIns="0" bIns="0" anchor="t">
            <a:spAutoFit/>
          </a:bodyPr>
          <a:lstStyle/>
          <a:p>
            <a:pPr algn="l"/>
            <a:r>
              <a:rPr sz="2600" b="0" i="0">
                <a:solidFill>
                  <a:srgbClr val="E8772E"/>
                </a:solidFill>
                <a:latin typeface="Courier New"/>
              </a:rPr>
              <a:t>01</a:t>
            </a:r>
          </a:p>
        </p:txBody>
      </p:sp>
      <p:sp>
        <p:nvSpPr>
          <p:cNvPr id="5" name="TextBox 4"/>
          <p:cNvSpPr txBox="1"/>
          <p:nvPr/>
        </p:nvSpPr>
        <p:spPr>
          <a:xfrm>
            <a:off x="1417320" y="1993392"/>
            <a:ext cx="10180015" cy="662940"/>
          </a:xfrm>
          <a:prstGeom prst="rect">
            <a:avLst/>
          </a:prstGeom>
          <a:noFill/>
        </p:spPr>
        <p:txBody>
          <a:bodyPr wrap="square" lIns="0" rIns="0" tIns="0" bIns="0" anchor="t">
            <a:spAutoFit/>
          </a:bodyPr>
          <a:lstStyle/>
          <a:p>
            <a:pPr algn="l"/>
            <a:r>
              <a:rPr sz="1400" b="0" i="0">
                <a:solidFill>
                  <a:srgbClr val="14324A"/>
                </a:solidFill>
                <a:latin typeface="Calibri"/>
              </a:rPr>
              <a:t>Only 638 of 1006 tables were measured; ratios on sampled tables could move. A complete-pass census closes this.</a:t>
            </a:r>
          </a:p>
        </p:txBody>
      </p:sp>
      <p:cxnSp>
        <p:nvCxnSpPr>
          <p:cNvPr id="6" name="Connector 5"/>
          <p:cNvCxnSpPr/>
          <p:nvPr/>
        </p:nvCxnSpPr>
        <p:spPr>
          <a:xfrm>
            <a:off x="594360" y="2564891"/>
            <a:ext cx="11002975" cy="0"/>
          </a:xfrm>
          <a:prstGeom prst="line">
            <a:avLst/>
          </a:prstGeom>
          <a:ln w="9525">
            <a:solidFill>
              <a:srgbClr val="D3DCE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2674620"/>
            <a:ext cx="640080" cy="754380"/>
          </a:xfrm>
          <a:prstGeom prst="rect">
            <a:avLst/>
          </a:prstGeom>
          <a:noFill/>
        </p:spPr>
        <p:txBody>
          <a:bodyPr wrap="square" lIns="0" rIns="0" tIns="0" bIns="0" anchor="t">
            <a:spAutoFit/>
          </a:bodyPr>
          <a:lstStyle/>
          <a:p>
            <a:pPr algn="l"/>
            <a:r>
              <a:rPr sz="2600" b="0" i="0">
                <a:solidFill>
                  <a:srgbClr val="E8772E"/>
                </a:solidFill>
                <a:latin typeface="Courier New"/>
              </a:rPr>
              <a:t>02</a:t>
            </a:r>
          </a:p>
        </p:txBody>
      </p:sp>
      <p:sp>
        <p:nvSpPr>
          <p:cNvPr id="8" name="TextBox 7"/>
          <p:cNvSpPr txBox="1"/>
          <p:nvPr/>
        </p:nvSpPr>
        <p:spPr>
          <a:xfrm>
            <a:off x="1417320" y="2747772"/>
            <a:ext cx="10180015" cy="662940"/>
          </a:xfrm>
          <a:prstGeom prst="rect">
            <a:avLst/>
          </a:prstGeom>
          <a:noFill/>
        </p:spPr>
        <p:txBody>
          <a:bodyPr wrap="square" lIns="0" rIns="0" tIns="0" bIns="0" anchor="t">
            <a:spAutoFit/>
          </a:bodyPr>
          <a:lstStyle/>
          <a:p>
            <a:pPr algn="l"/>
            <a:r>
              <a:rPr sz="1400" b="0" i="0">
                <a:solidFill>
                  <a:srgbClr val="14324A"/>
                </a:solidFill>
                <a:latin typeface="Calibri"/>
              </a:rPr>
              <a:t>40 buckets are unreadable. Reconciling the inventory with the provider closes this.</a:t>
            </a:r>
          </a:p>
        </p:txBody>
      </p:sp>
      <p:cxnSp>
        <p:nvCxnSpPr>
          <p:cNvPr id="9" name="Connector 8"/>
          <p:cNvCxnSpPr/>
          <p:nvPr/>
        </p:nvCxnSpPr>
        <p:spPr>
          <a:xfrm>
            <a:off x="594360" y="3319272"/>
            <a:ext cx="11002975" cy="0"/>
          </a:xfrm>
          <a:prstGeom prst="line">
            <a:avLst/>
          </a:prstGeom>
          <a:ln w="9525">
            <a:solidFill>
              <a:srgbClr val="D3DCE4"/>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94360" y="3429000"/>
            <a:ext cx="640080" cy="754380"/>
          </a:xfrm>
          <a:prstGeom prst="rect">
            <a:avLst/>
          </a:prstGeom>
          <a:noFill/>
        </p:spPr>
        <p:txBody>
          <a:bodyPr wrap="square" lIns="0" rIns="0" tIns="0" bIns="0" anchor="t">
            <a:spAutoFit/>
          </a:bodyPr>
          <a:lstStyle/>
          <a:p>
            <a:pPr algn="l"/>
            <a:r>
              <a:rPr sz="2600" b="0" i="0">
                <a:solidFill>
                  <a:srgbClr val="E8772E"/>
                </a:solidFill>
                <a:latin typeface="Courier New"/>
              </a:rPr>
              <a:t>03</a:t>
            </a:r>
          </a:p>
        </p:txBody>
      </p:sp>
      <p:sp>
        <p:nvSpPr>
          <p:cNvPr id="11" name="TextBox 10"/>
          <p:cNvSpPr txBox="1"/>
          <p:nvPr/>
        </p:nvSpPr>
        <p:spPr>
          <a:xfrm>
            <a:off x="1417320" y="3502152"/>
            <a:ext cx="10180015" cy="662940"/>
          </a:xfrm>
          <a:prstGeom prst="rect">
            <a:avLst/>
          </a:prstGeom>
          <a:noFill/>
        </p:spPr>
        <p:txBody>
          <a:bodyPr wrap="square" lIns="0" rIns="0" tIns="0" bIns="0" anchor="t">
            <a:spAutoFit/>
          </a:bodyPr>
          <a:lstStyle/>
          <a:p>
            <a:pPr algn="l"/>
            <a:r>
              <a:rPr sz="1400" b="0" i="0">
                <a:solidFill>
                  <a:srgbClr val="14324A"/>
                </a:solidFill>
                <a:latin typeface="Calibri"/>
              </a:rPr>
              <a:t>Duplicates of 7.7 TiB are candidates, not confirmed; content hashing closes this.</a:t>
            </a:r>
          </a:p>
        </p:txBody>
      </p:sp>
      <p:cxnSp>
        <p:nvCxnSpPr>
          <p:cNvPr id="12" name="Connector 11"/>
          <p:cNvCxnSpPr/>
          <p:nvPr/>
        </p:nvCxnSpPr>
        <p:spPr>
          <a:xfrm>
            <a:off x="594360" y="4073652"/>
            <a:ext cx="11002975" cy="0"/>
          </a:xfrm>
          <a:prstGeom prst="line">
            <a:avLst/>
          </a:prstGeom>
          <a:ln w="9525">
            <a:solidFill>
              <a:srgbClr val="D3DCE4"/>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94360" y="4183379"/>
            <a:ext cx="640080" cy="754380"/>
          </a:xfrm>
          <a:prstGeom prst="rect">
            <a:avLst/>
          </a:prstGeom>
          <a:noFill/>
        </p:spPr>
        <p:txBody>
          <a:bodyPr wrap="square" lIns="0" rIns="0" tIns="0" bIns="0" anchor="t">
            <a:spAutoFit/>
          </a:bodyPr>
          <a:lstStyle/>
          <a:p>
            <a:pPr algn="l"/>
            <a:r>
              <a:rPr sz="2600" b="0" i="0">
                <a:solidFill>
                  <a:srgbClr val="E8772E"/>
                </a:solidFill>
                <a:latin typeface="Courier New"/>
              </a:rPr>
              <a:t>04</a:t>
            </a:r>
          </a:p>
        </p:txBody>
      </p:sp>
      <p:sp>
        <p:nvSpPr>
          <p:cNvPr id="14" name="TextBox 13"/>
          <p:cNvSpPr txBox="1"/>
          <p:nvPr/>
        </p:nvSpPr>
        <p:spPr>
          <a:xfrm>
            <a:off x="1417320" y="4256531"/>
            <a:ext cx="10180015" cy="662940"/>
          </a:xfrm>
          <a:prstGeom prst="rect">
            <a:avLst/>
          </a:prstGeom>
          <a:noFill/>
        </p:spPr>
        <p:txBody>
          <a:bodyPr wrap="square" lIns="0" rIns="0" tIns="0" bIns="0" anchor="t">
            <a:spAutoFit/>
          </a:bodyPr>
          <a:lstStyle/>
          <a:p>
            <a:pPr algn="l"/>
            <a:r>
              <a:rPr sz="1400" b="0" i="0">
                <a:solidFill>
                  <a:srgbClr val="14324A"/>
                </a:solidFill>
                <a:latin typeface="Calibri"/>
              </a:rPr>
              <a:t>The personal-data marker rate 71.8% comes from a sample, and an absent marker is not absent personal data. A complete pass closes this.</a:t>
            </a:r>
          </a:p>
        </p:txBody>
      </p:sp>
      <p:cxnSp>
        <p:nvCxnSpPr>
          <p:cNvPr id="15" name="Connector 14"/>
          <p:cNvCxnSpPr/>
          <p:nvPr/>
        </p:nvCxnSpPr>
        <p:spPr>
          <a:xfrm>
            <a:off x="594360" y="4828031"/>
            <a:ext cx="11002975" cy="0"/>
          </a:xfrm>
          <a:prstGeom prst="line">
            <a:avLst/>
          </a:prstGeom>
          <a:ln w="9525">
            <a:solidFill>
              <a:srgbClr val="D3DCE4"/>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94360" y="4937760"/>
            <a:ext cx="640080" cy="754380"/>
          </a:xfrm>
          <a:prstGeom prst="rect">
            <a:avLst/>
          </a:prstGeom>
          <a:noFill/>
        </p:spPr>
        <p:txBody>
          <a:bodyPr wrap="square" lIns="0" rIns="0" tIns="0" bIns="0" anchor="t">
            <a:spAutoFit/>
          </a:bodyPr>
          <a:lstStyle/>
          <a:p>
            <a:pPr algn="l"/>
            <a:r>
              <a:rPr sz="2600" b="0" i="0">
                <a:solidFill>
                  <a:srgbClr val="E8772E"/>
                </a:solidFill>
                <a:latin typeface="Courier New"/>
              </a:rPr>
              <a:t>05</a:t>
            </a:r>
          </a:p>
        </p:txBody>
      </p:sp>
      <p:sp>
        <p:nvSpPr>
          <p:cNvPr id="17" name="TextBox 16"/>
          <p:cNvSpPr txBox="1"/>
          <p:nvPr/>
        </p:nvSpPr>
        <p:spPr>
          <a:xfrm>
            <a:off x="1417320" y="5010912"/>
            <a:ext cx="10180015" cy="662940"/>
          </a:xfrm>
          <a:prstGeom prst="rect">
            <a:avLst/>
          </a:prstGeom>
          <a:noFill/>
        </p:spPr>
        <p:txBody>
          <a:bodyPr wrap="square" lIns="0" rIns="0" tIns="0" bIns="0" anchor="t">
            <a:spAutoFit/>
          </a:bodyPr>
          <a:lstStyle/>
          <a:p>
            <a:pPr algn="l"/>
            <a:r>
              <a:rPr sz="1400" b="0" i="0">
                <a:solidFill>
                  <a:srgbClr val="14324A"/>
                </a:solidFill>
                <a:latin typeface="Calibri"/>
              </a:rPr>
              <a:t>The 1,174.4 USD ceiling uses list prices, not the owner's invoice. Retrieval fees, read demand and dependencies are unchecked, and product demand is unproven.</a:t>
            </a:r>
          </a:p>
        </p:txBody>
      </p:sp>
      <p:cxnSp>
        <p:nvCxnSpPr>
          <p:cNvPr id="18" name="Connector 17"/>
          <p:cNvCxnSpPr/>
          <p:nvPr/>
        </p:nvCxnSpPr>
        <p:spPr>
          <a:xfrm>
            <a:off x="594360" y="5582412"/>
            <a:ext cx="11002975" cy="0"/>
          </a:xfrm>
          <a:prstGeom prst="line">
            <a:avLst/>
          </a:prstGeom>
          <a:ln w="9525">
            <a:solidFill>
              <a:srgbClr val="D3DCE4"/>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70879A"/>
                </a:solidFill>
                <a:latin typeface="Calibri"/>
              </a:rPr>
              <a:t>EI-eij-1b359b3cbd2e</a:t>
            </a:r>
          </a:p>
        </p:txBody>
      </p:sp>
      <p:sp>
        <p:nvSpPr>
          <p:cNvPr id="20" name="TextBox 19"/>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70879A"/>
                </a:solidFill>
                <a:latin typeface="Calibri"/>
              </a:rPr>
              <a:t>Tenant confidential</a:t>
            </a:r>
          </a:p>
        </p:txBody>
      </p:sp>
      <p:sp>
        <p:nvSpPr>
          <p:cNvPr id="21" name="TextBox 20"/>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70879A"/>
                </a:solidFill>
                <a:latin typeface="Courier New"/>
              </a:rPr>
              <a:t>51</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70879A"/>
                </a:solidFill>
                <a:latin typeface="Calibri"/>
              </a:rPr>
              <a:t>COVERAGE AND LIMITS</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4324A"/>
                </a:solidFill>
                <a:latin typeface="Cambria"/>
              </a:rPr>
              <a:t>What this pack covers, what it cannot say, and what would close each gap</a:t>
            </a:r>
          </a:p>
        </p:txBody>
      </p:sp>
      <p:sp>
        <p:nvSpPr>
          <p:cNvPr id="4" name="TextBox 3"/>
          <p:cNvSpPr txBox="1"/>
          <p:nvPr/>
        </p:nvSpPr>
        <p:spPr>
          <a:xfrm>
            <a:off x="594360" y="1920240"/>
            <a:ext cx="11002975" cy="822960"/>
          </a:xfrm>
          <a:prstGeom prst="rect">
            <a:avLst/>
          </a:prstGeom>
          <a:noFill/>
        </p:spPr>
        <p:txBody>
          <a:bodyPr wrap="square" lIns="0" rIns="0" tIns="0" bIns="0" anchor="t">
            <a:spAutoFit/>
          </a:bodyPr>
          <a:lstStyle/>
          <a:p>
            <a:pPr algn="l"/>
            <a:r>
              <a:rPr sz="1400" b="0" i="0">
                <a:solidFill>
                  <a:srgbClr val="14324A"/>
                </a:solidFill>
                <a:latin typeface="Calibri"/>
              </a:rPr>
              <a:t>COVERS</a:t>
            </a:r>
          </a:p>
          <a:p>
            <a:pPr algn="l"/>
            <a:r>
              <a:rPr sz="1400" b="0" i="0">
                <a:solidFill>
                  <a:srgbClr val="14324A"/>
                </a:solidFill>
                <a:latin typeface="Calibri"/>
              </a:rPr>
              <a:t>The whole admitted estate as measured by census eij-1b359b3cbd2e: 20 databases and 1,006 tables (351.3 GiB), the object store and the file shares enumerated by their own census runs, plus the staged language corpus read by both GPUs and the written-word databases read as aggregates. Ratios are complete-pass where the table allowed it and stratified samples elsewhere. No row value, script or transcript text is present in this pack.</a:t>
            </a:r>
          </a:p>
        </p:txBody>
      </p:sp>
      <p:sp>
        <p:nvSpPr>
          <p:cNvPr id="5" name="TextBox 4"/>
          <p:cNvSpPr txBox="1"/>
          <p:nvPr/>
        </p:nvSpPr>
        <p:spPr>
          <a:xfrm>
            <a:off x="594360" y="2834640"/>
            <a:ext cx="3545738" cy="274320"/>
          </a:xfrm>
          <a:prstGeom prst="rect">
            <a:avLst/>
          </a:prstGeom>
          <a:noFill/>
        </p:spPr>
        <p:txBody>
          <a:bodyPr wrap="square" lIns="0" rIns="0" tIns="0" bIns="0" anchor="t">
            <a:spAutoFit/>
          </a:bodyPr>
          <a:lstStyle/>
          <a:p>
            <a:pPr algn="l"/>
            <a:r>
              <a:rPr sz="1100" b="1" i="0">
                <a:solidFill>
                  <a:srgbClr val="70879A"/>
                </a:solidFill>
                <a:latin typeface="Calibri"/>
              </a:rPr>
              <a:t>CANNOT SAY</a:t>
            </a:r>
          </a:p>
        </p:txBody>
      </p:sp>
      <p:sp>
        <p:nvSpPr>
          <p:cNvPr id="6" name="TextBox 5"/>
          <p:cNvSpPr txBox="1"/>
          <p:nvPr/>
        </p:nvSpPr>
        <p:spPr>
          <a:xfrm>
            <a:off x="4322978" y="2834640"/>
            <a:ext cx="3545738" cy="274320"/>
          </a:xfrm>
          <a:prstGeom prst="rect">
            <a:avLst/>
          </a:prstGeom>
          <a:noFill/>
        </p:spPr>
        <p:txBody>
          <a:bodyPr wrap="square" lIns="0" rIns="0" tIns="0" bIns="0" anchor="t">
            <a:spAutoFit/>
          </a:bodyPr>
          <a:lstStyle/>
          <a:p>
            <a:pPr algn="l"/>
            <a:r>
              <a:rPr sz="1100" b="1" i="0">
                <a:solidFill>
                  <a:srgbClr val="70879A"/>
                </a:solidFill>
                <a:latin typeface="Calibri"/>
              </a:rPr>
              <a:t>WHY</a:t>
            </a:r>
          </a:p>
        </p:txBody>
      </p:sp>
      <p:sp>
        <p:nvSpPr>
          <p:cNvPr id="7" name="TextBox 6"/>
          <p:cNvSpPr txBox="1"/>
          <p:nvPr/>
        </p:nvSpPr>
        <p:spPr>
          <a:xfrm>
            <a:off x="8051596" y="2834640"/>
            <a:ext cx="3545738" cy="274320"/>
          </a:xfrm>
          <a:prstGeom prst="rect">
            <a:avLst/>
          </a:prstGeom>
          <a:noFill/>
        </p:spPr>
        <p:txBody>
          <a:bodyPr wrap="square" lIns="0" rIns="0" tIns="0" bIns="0" anchor="t">
            <a:spAutoFit/>
          </a:bodyPr>
          <a:lstStyle/>
          <a:p>
            <a:pPr algn="l"/>
            <a:r>
              <a:rPr sz="1100" b="1" i="0">
                <a:solidFill>
                  <a:srgbClr val="70879A"/>
                </a:solidFill>
                <a:latin typeface="Calibri"/>
              </a:rPr>
              <a:t>WHAT WOULD CLOSE IT</a:t>
            </a:r>
          </a:p>
        </p:txBody>
      </p:sp>
      <p:cxnSp>
        <p:nvCxnSpPr>
          <p:cNvPr id="8" name="Connector 7"/>
          <p:cNvCxnSpPr/>
          <p:nvPr/>
        </p:nvCxnSpPr>
        <p:spPr>
          <a:xfrm>
            <a:off x="594360" y="3127248"/>
            <a:ext cx="11002975" cy="0"/>
          </a:xfrm>
          <a:prstGeom prst="line">
            <a:avLst/>
          </a:prstGeom>
          <a:ln w="9525">
            <a:solidFill>
              <a:srgbClr val="14324A"/>
            </a:solidFill>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594360" y="3246120"/>
            <a:ext cx="11002975" cy="786384"/>
          </a:xfrm>
          <a:prstGeom prst="rect">
            <a:avLst/>
          </a:prstGeom>
          <a:pattFill>
            <a:fgClr>
              <a:srgbClr val="E8EEF3"/>
            </a:fgClr>
            <a:bgClr>
              <a:srgbClr val="FFFFFF"/>
            </a:bgClr>
          </a:patt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3319272"/>
            <a:ext cx="3399434" cy="658368"/>
          </a:xfrm>
          <a:prstGeom prst="rect">
            <a:avLst/>
          </a:prstGeom>
          <a:noFill/>
        </p:spPr>
        <p:txBody>
          <a:bodyPr wrap="square" lIns="0" rIns="0" tIns="0" bIns="0" anchor="t">
            <a:spAutoFit/>
          </a:bodyPr>
          <a:lstStyle/>
          <a:p>
            <a:pPr algn="l"/>
            <a:r>
              <a:rPr sz="1300" b="0" i="0">
                <a:solidFill>
                  <a:srgbClr val="14324A"/>
                </a:solidFill>
                <a:latin typeface="Calibri"/>
              </a:rPr>
              <a:t>Duplicate, damage, empty-field and PII ratios on sampled tables</a:t>
            </a:r>
          </a:p>
        </p:txBody>
      </p:sp>
      <p:sp>
        <p:nvSpPr>
          <p:cNvPr id="11" name="TextBox 10"/>
          <p:cNvSpPr txBox="1"/>
          <p:nvPr/>
        </p:nvSpPr>
        <p:spPr>
          <a:xfrm>
            <a:off x="4396130" y="3319272"/>
            <a:ext cx="3399434" cy="658368"/>
          </a:xfrm>
          <a:prstGeom prst="rect">
            <a:avLst/>
          </a:prstGeom>
          <a:noFill/>
        </p:spPr>
        <p:txBody>
          <a:bodyPr wrap="square" lIns="0" rIns="0" tIns="0" bIns="0" anchor="t">
            <a:spAutoFit/>
          </a:bodyPr>
          <a:lstStyle/>
          <a:p>
            <a:pPr algn="l"/>
            <a:r>
              <a:rPr sz="1300" b="0" i="0">
                <a:solidFill>
                  <a:srgbClr val="14324A"/>
                </a:solidFill>
                <a:latin typeface="Calibri"/>
              </a:rPr>
              <a:t>complete passes where the table allowed it, stratified samples elsewhere</a:t>
            </a:r>
          </a:p>
        </p:txBody>
      </p:sp>
      <p:sp>
        <p:nvSpPr>
          <p:cNvPr id="12" name="TextBox 11"/>
          <p:cNvSpPr txBox="1"/>
          <p:nvPr/>
        </p:nvSpPr>
        <p:spPr>
          <a:xfrm>
            <a:off x="8124748" y="3319272"/>
            <a:ext cx="3399434" cy="658368"/>
          </a:xfrm>
          <a:prstGeom prst="rect">
            <a:avLst/>
          </a:prstGeom>
          <a:noFill/>
        </p:spPr>
        <p:txBody>
          <a:bodyPr wrap="square" lIns="0" rIns="0" tIns="0" bIns="0" anchor="t">
            <a:spAutoFit/>
          </a:bodyPr>
          <a:lstStyle/>
          <a:p>
            <a:pPr algn="l"/>
            <a:r>
              <a:rPr sz="1300" b="0" i="0">
                <a:solidFill>
                  <a:srgbClr val="14324A"/>
                </a:solidFill>
                <a:latin typeface="Calibri"/>
              </a:rPr>
              <a:t>a complete-pass census on the sampled tables</a:t>
            </a:r>
          </a:p>
        </p:txBody>
      </p:sp>
      <p:sp>
        <p:nvSpPr>
          <p:cNvPr id="13" name="Rectangle 12"/>
          <p:cNvSpPr/>
          <p:nvPr/>
        </p:nvSpPr>
        <p:spPr>
          <a:xfrm>
            <a:off x="594360" y="4123944"/>
            <a:ext cx="11002975" cy="786384"/>
          </a:xfrm>
          <a:prstGeom prst="rect">
            <a:avLst/>
          </a:prstGeom>
          <a:pattFill>
            <a:fgClr>
              <a:srgbClr val="E8EEF3"/>
            </a:fgClr>
            <a:bgClr>
              <a:srgbClr val="FFFFFF"/>
            </a:bgClr>
          </a:patt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7512" y="4197096"/>
            <a:ext cx="3399434" cy="658368"/>
          </a:xfrm>
          <a:prstGeom prst="rect">
            <a:avLst/>
          </a:prstGeom>
          <a:noFill/>
        </p:spPr>
        <p:txBody>
          <a:bodyPr wrap="square" lIns="0" rIns="0" tIns="0" bIns="0" anchor="t">
            <a:spAutoFit/>
          </a:bodyPr>
          <a:lstStyle/>
          <a:p>
            <a:pPr algn="l"/>
            <a:r>
              <a:rPr sz="1300" b="0" i="0">
                <a:solidFill>
                  <a:srgbClr val="14324A"/>
                </a:solidFill>
                <a:latin typeface="Calibri"/>
              </a:rPr>
              <a:t>Semantic similarity between candidate datasets and the market</a:t>
            </a:r>
          </a:p>
        </p:txBody>
      </p:sp>
      <p:sp>
        <p:nvSpPr>
          <p:cNvPr id="15" name="TextBox 14"/>
          <p:cNvSpPr txBox="1"/>
          <p:nvPr/>
        </p:nvSpPr>
        <p:spPr>
          <a:xfrm>
            <a:off x="4396130" y="4197096"/>
            <a:ext cx="3399434" cy="658368"/>
          </a:xfrm>
          <a:prstGeom prst="rect">
            <a:avLst/>
          </a:prstGeom>
          <a:noFill/>
        </p:spPr>
        <p:txBody>
          <a:bodyPr wrap="square" lIns="0" rIns="0" tIns="0" bIns="0" anchor="t">
            <a:spAutoFit/>
          </a:bodyPr>
          <a:lstStyle/>
          <a:p>
            <a:pPr algn="l"/>
            <a:r>
              <a:rPr sz="1300" b="0" i="0">
                <a:solidFill>
                  <a:srgbClr val="14324A"/>
                </a:solidFill>
                <a:latin typeface="Calibri"/>
              </a:rPr>
              <a:t>not measured; candidates are dimensional readiness only</a:t>
            </a:r>
          </a:p>
        </p:txBody>
      </p:sp>
      <p:sp>
        <p:nvSpPr>
          <p:cNvPr id="16" name="TextBox 15"/>
          <p:cNvSpPr txBox="1"/>
          <p:nvPr/>
        </p:nvSpPr>
        <p:spPr>
          <a:xfrm>
            <a:off x="8124748" y="4197096"/>
            <a:ext cx="3399434" cy="658368"/>
          </a:xfrm>
          <a:prstGeom prst="rect">
            <a:avLst/>
          </a:prstGeom>
          <a:noFill/>
        </p:spPr>
        <p:txBody>
          <a:bodyPr wrap="square" lIns="0" rIns="0" tIns="0" bIns="0" anchor="t">
            <a:spAutoFit/>
          </a:bodyPr>
          <a:lstStyle/>
          <a:p>
            <a:pPr algn="l"/>
            <a:r>
              <a:rPr sz="1300" b="0" i="0">
                <a:solidFill>
                  <a:srgbClr val="14324A"/>
                </a:solidFill>
                <a:latin typeface="Calibri"/>
              </a:rPr>
              <a:t>a buyer-side review of each candidate against its intended use</a:t>
            </a:r>
          </a:p>
        </p:txBody>
      </p:sp>
      <p:sp>
        <p:nvSpPr>
          <p:cNvPr id="17" name="Rectangle 16"/>
          <p:cNvSpPr/>
          <p:nvPr/>
        </p:nvSpPr>
        <p:spPr>
          <a:xfrm>
            <a:off x="594360" y="5001768"/>
            <a:ext cx="11002975" cy="786384"/>
          </a:xfrm>
          <a:prstGeom prst="rect">
            <a:avLst/>
          </a:prstGeom>
          <a:pattFill>
            <a:fgClr>
              <a:srgbClr val="E8EEF3"/>
            </a:fgClr>
            <a:bgClr>
              <a:srgbClr val="FFFFFF"/>
            </a:bgClr>
          </a:patt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7512" y="5074920"/>
            <a:ext cx="3399434" cy="658368"/>
          </a:xfrm>
          <a:prstGeom prst="rect">
            <a:avLst/>
          </a:prstGeom>
          <a:noFill/>
        </p:spPr>
        <p:txBody>
          <a:bodyPr wrap="square" lIns="0" rIns="0" tIns="0" bIns="0" anchor="t">
            <a:spAutoFit/>
          </a:bodyPr>
          <a:lstStyle/>
          <a:p>
            <a:pPr algn="l"/>
            <a:r>
              <a:rPr sz="1300" b="0" i="0">
                <a:solidFill>
                  <a:srgbClr val="14324A"/>
                </a:solidFill>
                <a:latin typeface="Calibri"/>
              </a:rPr>
              <a:t>Connection artists_app</a:t>
            </a:r>
          </a:p>
        </p:txBody>
      </p:sp>
      <p:sp>
        <p:nvSpPr>
          <p:cNvPr id="19" name="TextBox 18"/>
          <p:cNvSpPr txBox="1"/>
          <p:nvPr/>
        </p:nvSpPr>
        <p:spPr>
          <a:xfrm>
            <a:off x="4396130" y="5074920"/>
            <a:ext cx="3399434" cy="658368"/>
          </a:xfrm>
          <a:prstGeom prst="rect">
            <a:avLst/>
          </a:prstGeom>
          <a:noFill/>
        </p:spPr>
        <p:txBody>
          <a:bodyPr wrap="square" lIns="0" rIns="0" tIns="0" bIns="0" anchor="t">
            <a:spAutoFit/>
          </a:bodyPr>
          <a:lstStyle/>
          <a:p>
            <a:pPr algn="l"/>
            <a:r>
              <a:rPr sz="1300" b="0" i="0">
                <a:solidFill>
                  <a:srgbClr val="14324A"/>
                </a:solidFill>
                <a:latin typeface="Calibri"/>
              </a:rPr>
              <a:t>could not be read (MySQL GRANT pending)</a:t>
            </a:r>
          </a:p>
        </p:txBody>
      </p:sp>
      <p:sp>
        <p:nvSpPr>
          <p:cNvPr id="20" name="TextBox 19"/>
          <p:cNvSpPr txBox="1"/>
          <p:nvPr/>
        </p:nvSpPr>
        <p:spPr>
          <a:xfrm>
            <a:off x="8124748" y="5074920"/>
            <a:ext cx="3399434" cy="658368"/>
          </a:xfrm>
          <a:prstGeom prst="rect">
            <a:avLst/>
          </a:prstGeom>
          <a:noFill/>
        </p:spPr>
        <p:txBody>
          <a:bodyPr wrap="square" lIns="0" rIns="0" tIns="0" bIns="0" anchor="t">
            <a:spAutoFit/>
          </a:bodyPr>
          <a:lstStyle/>
          <a:p>
            <a:pPr algn="l"/>
            <a:r>
              <a:rPr sz="1300" b="0" i="0">
                <a:solidFill>
                  <a:srgbClr val="14324A"/>
                </a:solidFill>
                <a:latin typeface="Calibri"/>
              </a:rPr>
              <a:t>owner grants read access; re-census</a:t>
            </a:r>
          </a:p>
        </p:txBody>
      </p:sp>
      <p:sp>
        <p:nvSpPr>
          <p:cNvPr id="21" name="Rectangle 20"/>
          <p:cNvSpPr/>
          <p:nvPr/>
        </p:nvSpPr>
        <p:spPr>
          <a:xfrm>
            <a:off x="594360" y="5879592"/>
            <a:ext cx="11002975" cy="786384"/>
          </a:xfrm>
          <a:prstGeom prst="rect">
            <a:avLst/>
          </a:prstGeom>
          <a:pattFill>
            <a:fgClr>
              <a:srgbClr val="E8EEF3"/>
            </a:fgClr>
            <a:bgClr>
              <a:srgbClr val="FFFFFF"/>
            </a:bgClr>
          </a:patt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7512" y="5952744"/>
            <a:ext cx="3399434" cy="658368"/>
          </a:xfrm>
          <a:prstGeom prst="rect">
            <a:avLst/>
          </a:prstGeom>
          <a:noFill/>
        </p:spPr>
        <p:txBody>
          <a:bodyPr wrap="square" lIns="0" rIns="0" tIns="0" bIns="0" anchor="t">
            <a:spAutoFit/>
          </a:bodyPr>
          <a:lstStyle/>
          <a:p>
            <a:pPr algn="l"/>
            <a:r>
              <a:rPr sz="1300" b="0" i="0">
                <a:solidFill>
                  <a:srgbClr val="14324A"/>
                </a:solidFill>
                <a:latin typeface="Calibri"/>
              </a:rPr>
              <a:t>NAS duplication</a:t>
            </a:r>
          </a:p>
        </p:txBody>
      </p:sp>
      <p:sp>
        <p:nvSpPr>
          <p:cNvPr id="23" name="TextBox 22"/>
          <p:cNvSpPr txBox="1"/>
          <p:nvPr/>
        </p:nvSpPr>
        <p:spPr>
          <a:xfrm>
            <a:off x="4396130" y="5952744"/>
            <a:ext cx="3399434" cy="658368"/>
          </a:xfrm>
          <a:prstGeom prst="rect">
            <a:avLst/>
          </a:prstGeom>
          <a:noFill/>
        </p:spPr>
        <p:txBody>
          <a:bodyPr wrap="square" lIns="0" rIns="0" tIns="0" bIns="0" anchor="t">
            <a:spAutoFit/>
          </a:bodyPr>
          <a:lstStyle/>
          <a:p>
            <a:pPr algn="l"/>
            <a:r>
              <a:rPr sz="1300" b="0" i="0">
                <a:solidFill>
                  <a:srgbClr val="14324A"/>
                </a:solidFill>
                <a:latin typeface="Calibri"/>
              </a:rPr>
              <a:t>the enumeration recorded sizes and dates, not content fingerprints</a:t>
            </a:r>
          </a:p>
        </p:txBody>
      </p:sp>
      <p:sp>
        <p:nvSpPr>
          <p:cNvPr id="24" name="TextBox 23"/>
          <p:cNvSpPr txBox="1"/>
          <p:nvPr/>
        </p:nvSpPr>
        <p:spPr>
          <a:xfrm>
            <a:off x="8124748" y="5952744"/>
            <a:ext cx="3399434" cy="658368"/>
          </a:xfrm>
          <a:prstGeom prst="rect">
            <a:avLst/>
          </a:prstGeom>
          <a:noFill/>
        </p:spPr>
        <p:txBody>
          <a:bodyPr wrap="square" lIns="0" rIns="0" tIns="0" bIns="0" anchor="t">
            <a:spAutoFit/>
          </a:bodyPr>
          <a:lstStyle/>
          <a:p>
            <a:pPr algn="l"/>
            <a:r>
              <a:rPr sz="1300" b="0" i="0">
                <a:solidFill>
                  <a:srgbClr val="14324A"/>
                </a:solidFill>
                <a:latin typeface="Calibri"/>
              </a:rPr>
              <a:t>a fingerprinting pass over the NAS shares</a:t>
            </a:r>
          </a:p>
        </p:txBody>
      </p:sp>
      <p:sp>
        <p:nvSpPr>
          <p:cNvPr id="25" name="Rectangle 24"/>
          <p:cNvSpPr/>
          <p:nvPr/>
        </p:nvSpPr>
        <p:spPr>
          <a:xfrm>
            <a:off x="594360" y="6757416"/>
            <a:ext cx="11002975" cy="786384"/>
          </a:xfrm>
          <a:prstGeom prst="rect">
            <a:avLst/>
          </a:prstGeom>
          <a:pattFill>
            <a:fgClr>
              <a:srgbClr val="E8EEF3"/>
            </a:fgClr>
            <a:bgClr>
              <a:srgbClr val="FFFFFF"/>
            </a:bgClr>
          </a:patt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67512" y="6830568"/>
            <a:ext cx="3399434" cy="658368"/>
          </a:xfrm>
          <a:prstGeom prst="rect">
            <a:avLst/>
          </a:prstGeom>
          <a:noFill/>
        </p:spPr>
        <p:txBody>
          <a:bodyPr wrap="square" lIns="0" rIns="0" tIns="0" bIns="0" anchor="t">
            <a:spAutoFit/>
          </a:bodyPr>
          <a:lstStyle/>
          <a:p>
            <a:pPr algn="l"/>
            <a:r>
              <a:rPr sz="1300" b="0" i="0">
                <a:solidFill>
                  <a:srgbClr val="14324A"/>
                </a:solidFill>
                <a:latin typeface="Calibri"/>
              </a:rPr>
              <a:t>40 of 106 OBS buckets</a:t>
            </a:r>
          </a:p>
        </p:txBody>
      </p:sp>
      <p:sp>
        <p:nvSpPr>
          <p:cNvPr id="27" name="TextBox 26"/>
          <p:cNvSpPr txBox="1"/>
          <p:nvPr/>
        </p:nvSpPr>
        <p:spPr>
          <a:xfrm>
            <a:off x="4396130" y="6830568"/>
            <a:ext cx="3399434" cy="658368"/>
          </a:xfrm>
          <a:prstGeom prst="rect">
            <a:avLst/>
          </a:prstGeom>
          <a:noFill/>
        </p:spPr>
        <p:txBody>
          <a:bodyPr wrap="square" lIns="0" rIns="0" tIns="0" bIns="0" anchor="t">
            <a:spAutoFit/>
          </a:bodyPr>
          <a:lstStyle/>
          <a:p>
            <a:pPr algn="l"/>
            <a:r>
              <a:rPr sz="1300" b="0" i="0">
                <a:solidFill>
                  <a:srgbClr val="14324A"/>
                </a:solidFill>
                <a:latin typeface="Calibri"/>
              </a:rPr>
              <a:t>unreachable (NoSuchBucket / client errors)</a:t>
            </a:r>
          </a:p>
        </p:txBody>
      </p:sp>
      <p:sp>
        <p:nvSpPr>
          <p:cNvPr id="28" name="TextBox 27"/>
          <p:cNvSpPr txBox="1"/>
          <p:nvPr/>
        </p:nvSpPr>
        <p:spPr>
          <a:xfrm>
            <a:off x="8124748" y="6830568"/>
            <a:ext cx="3399434" cy="658368"/>
          </a:xfrm>
          <a:prstGeom prst="rect">
            <a:avLst/>
          </a:prstGeom>
          <a:noFill/>
        </p:spPr>
        <p:txBody>
          <a:bodyPr wrap="square" lIns="0" rIns="0" tIns="0" bIns="0" anchor="t">
            <a:spAutoFit/>
          </a:bodyPr>
          <a:lstStyle/>
          <a:p>
            <a:pPr algn="l"/>
            <a:r>
              <a:rPr sz="1300" b="0" i="0">
                <a:solidFill>
                  <a:srgbClr val="14324A"/>
                </a:solidFill>
                <a:latin typeface="Calibri"/>
              </a:rPr>
              <a:t>bucket inventory reconciled with the provider</a:t>
            </a:r>
          </a:p>
        </p:txBody>
      </p:sp>
      <p:sp>
        <p:nvSpPr>
          <p:cNvPr id="29" name="Rectangle 28"/>
          <p:cNvSpPr/>
          <p:nvPr/>
        </p:nvSpPr>
        <p:spPr>
          <a:xfrm>
            <a:off x="594360" y="7635240"/>
            <a:ext cx="11002975" cy="786384"/>
          </a:xfrm>
          <a:prstGeom prst="rect">
            <a:avLst/>
          </a:prstGeom>
          <a:pattFill>
            <a:fgClr>
              <a:srgbClr val="E8EEF3"/>
            </a:fgClr>
            <a:bgClr>
              <a:srgbClr val="FFFFFF"/>
            </a:bgClr>
          </a:patt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67512" y="7708392"/>
            <a:ext cx="3399434" cy="658368"/>
          </a:xfrm>
          <a:prstGeom prst="rect">
            <a:avLst/>
          </a:prstGeom>
          <a:noFill/>
        </p:spPr>
        <p:txBody>
          <a:bodyPr wrap="square" lIns="0" rIns="0" tIns="0" bIns="0" anchor="t">
            <a:spAutoFit/>
          </a:bodyPr>
          <a:lstStyle/>
          <a:p>
            <a:pPr algn="l"/>
            <a:r>
              <a:rPr sz="1300" b="0" i="0">
                <a:solidFill>
                  <a:srgbClr val="14324A"/>
                </a:solidFill>
                <a:latin typeface="Calibri"/>
              </a:rPr>
              <a:t>Language of each news script</a:t>
            </a:r>
          </a:p>
        </p:txBody>
      </p:sp>
      <p:sp>
        <p:nvSpPr>
          <p:cNvPr id="31" name="TextBox 30"/>
          <p:cNvSpPr txBox="1"/>
          <p:nvPr/>
        </p:nvSpPr>
        <p:spPr>
          <a:xfrm>
            <a:off x="4396130" y="7708392"/>
            <a:ext cx="3399434" cy="658368"/>
          </a:xfrm>
          <a:prstGeom prst="rect">
            <a:avLst/>
          </a:prstGeom>
          <a:noFill/>
        </p:spPr>
        <p:txBody>
          <a:bodyPr wrap="square" lIns="0" rIns="0" tIns="0" bIns="0" anchor="t">
            <a:spAutoFit/>
          </a:bodyPr>
          <a:lstStyle/>
          <a:p>
            <a:pPr algn="l"/>
            <a:r>
              <a:rPr sz="1300" b="0" i="0">
                <a:solidFill>
                  <a:srgbClr val="14324A"/>
                </a:solidFill>
                <a:latin typeface="Calibri"/>
              </a:rPr>
              <a:t>the scripts were counted and sized, not read; the language shown is the station's broadcast language from the estate's own table</a:t>
            </a:r>
          </a:p>
        </p:txBody>
      </p:sp>
      <p:sp>
        <p:nvSpPr>
          <p:cNvPr id="32" name="TextBox 31"/>
          <p:cNvSpPr txBox="1"/>
          <p:nvPr/>
        </p:nvSpPr>
        <p:spPr>
          <a:xfrm>
            <a:off x="8124748" y="7708392"/>
            <a:ext cx="3399434" cy="658368"/>
          </a:xfrm>
          <a:prstGeom prst="rect">
            <a:avLst/>
          </a:prstGeom>
          <a:noFill/>
        </p:spPr>
        <p:txBody>
          <a:bodyPr wrap="square" lIns="0" rIns="0" tIns="0" bIns="0" anchor="t">
            <a:spAutoFit/>
          </a:bodyPr>
          <a:lstStyle/>
          <a:p>
            <a:pPr algn="l"/>
            <a:r>
              <a:rPr sz="1300" b="0" i="0">
                <a:solidFill>
                  <a:srgbClr val="14324A"/>
                </a:solidFill>
                <a:latin typeface="Calibri"/>
              </a:rPr>
              <a:t>a text-model pass over the script column under the same aggregate-only seam</a:t>
            </a:r>
          </a:p>
        </p:txBody>
      </p:sp>
      <p:sp>
        <p:nvSpPr>
          <p:cNvPr id="33" name="Rectangle 32"/>
          <p:cNvSpPr/>
          <p:nvPr/>
        </p:nvSpPr>
        <p:spPr>
          <a:xfrm>
            <a:off x="594360" y="8513063"/>
            <a:ext cx="11002975" cy="786384"/>
          </a:xfrm>
          <a:prstGeom prst="rect">
            <a:avLst/>
          </a:prstGeom>
          <a:pattFill>
            <a:fgClr>
              <a:srgbClr val="E8EEF3"/>
            </a:fgClr>
            <a:bgClr>
              <a:srgbClr val="FFFFFF"/>
            </a:bgClr>
          </a:patt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67512" y="8586215"/>
            <a:ext cx="3399434" cy="658368"/>
          </a:xfrm>
          <a:prstGeom prst="rect">
            <a:avLst/>
          </a:prstGeom>
          <a:noFill/>
        </p:spPr>
        <p:txBody>
          <a:bodyPr wrap="square" lIns="0" rIns="0" tIns="0" bIns="0" anchor="t">
            <a:spAutoFit/>
          </a:bodyPr>
          <a:lstStyle/>
          <a:p>
            <a:pPr algn="l"/>
            <a:r>
              <a:rPr sz="1300" b="0" i="0">
                <a:solidFill>
                  <a:srgbClr val="14324A"/>
                </a:solidFill>
                <a:latin typeface="Calibri"/>
              </a:rPr>
              <a:t>Overlap between the workbench recordings and the staged corpus</a:t>
            </a:r>
          </a:p>
        </p:txBody>
      </p:sp>
      <p:sp>
        <p:nvSpPr>
          <p:cNvPr id="35" name="TextBox 34"/>
          <p:cNvSpPr txBox="1"/>
          <p:nvPr/>
        </p:nvSpPr>
        <p:spPr>
          <a:xfrm>
            <a:off x="4396130" y="8586215"/>
            <a:ext cx="3399434" cy="658368"/>
          </a:xfrm>
          <a:prstGeom prst="rect">
            <a:avLst/>
          </a:prstGeom>
          <a:noFill/>
        </p:spPr>
        <p:txBody>
          <a:bodyPr wrap="square" lIns="0" rIns="0" tIns="0" bIns="0" anchor="t">
            <a:spAutoFit/>
          </a:bodyPr>
          <a:lstStyle/>
          <a:p>
            <a:pPr algn="l"/>
            <a:r>
              <a:rPr sz="1300" b="0" i="0">
                <a:solidFill>
                  <a:srgbClr val="14324A"/>
                </a:solidFill>
                <a:latin typeface="Calibri"/>
              </a:rPr>
              <a:t>both inventories were counted on their own; no file-level join was made</a:t>
            </a:r>
          </a:p>
        </p:txBody>
      </p:sp>
      <p:sp>
        <p:nvSpPr>
          <p:cNvPr id="36" name="TextBox 35"/>
          <p:cNvSpPr txBox="1"/>
          <p:nvPr/>
        </p:nvSpPr>
        <p:spPr>
          <a:xfrm>
            <a:off x="8124748" y="8586215"/>
            <a:ext cx="3399434" cy="658368"/>
          </a:xfrm>
          <a:prstGeom prst="rect">
            <a:avLst/>
          </a:prstGeom>
          <a:noFill/>
        </p:spPr>
        <p:txBody>
          <a:bodyPr wrap="square" lIns="0" rIns="0" tIns="0" bIns="0" anchor="t">
            <a:spAutoFit/>
          </a:bodyPr>
          <a:lstStyle/>
          <a:p>
            <a:pPr algn="l"/>
            <a:r>
              <a:rPr sz="1300" b="0" i="0">
                <a:solidFill>
                  <a:srgbClr val="14324A"/>
                </a:solidFill>
                <a:latin typeface="Calibri"/>
              </a:rPr>
              <a:t>a hash join of workbench file locations against the staged corpus paths</a:t>
            </a:r>
          </a:p>
        </p:txBody>
      </p:sp>
      <p:sp>
        <p:nvSpPr>
          <p:cNvPr id="37" name="TextBox 3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70879A"/>
                </a:solidFill>
                <a:latin typeface="Calibri"/>
              </a:rPr>
              <a:t>EI-eij-1b359b3cbd2e</a:t>
            </a:r>
          </a:p>
        </p:txBody>
      </p:sp>
      <p:sp>
        <p:nvSpPr>
          <p:cNvPr id="38" name="TextBox 3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70879A"/>
                </a:solidFill>
                <a:latin typeface="Calibri"/>
              </a:rPr>
              <a:t>Tenant confidential</a:t>
            </a:r>
          </a:p>
        </p:txBody>
      </p:sp>
      <p:sp>
        <p:nvSpPr>
          <p:cNvPr id="39" name="TextBox 3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70879A"/>
                </a:solidFill>
                <a:latin typeface="Courier New"/>
              </a:rPr>
              <a:t>52</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70879A"/>
                </a:solidFill>
                <a:latin typeface="Calibri"/>
              </a:rPr>
              <a:t>APPENDIX</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4324A"/>
                </a:solidFill>
                <a:latin typeface="Cambria"/>
              </a:rPr>
              <a:t>Exhibit index with receipts</a:t>
            </a:r>
          </a:p>
        </p:txBody>
      </p:sp>
      <p:sp>
        <p:nvSpPr>
          <p:cNvPr id="4" name="TextBox 3"/>
          <p:cNvSpPr txBox="1"/>
          <p:nvPr/>
        </p:nvSpPr>
        <p:spPr>
          <a:xfrm>
            <a:off x="594360" y="1920240"/>
            <a:ext cx="822960" cy="365760"/>
          </a:xfrm>
          <a:prstGeom prst="rect">
            <a:avLst/>
          </a:prstGeom>
          <a:noFill/>
        </p:spPr>
        <p:txBody>
          <a:bodyPr wrap="square" lIns="0" rIns="0" tIns="0" bIns="0" anchor="t">
            <a:spAutoFit/>
          </a:bodyPr>
          <a:lstStyle/>
          <a:p>
            <a:pPr algn="l"/>
            <a:r>
              <a:rPr sz="1400" b="1" i="0">
                <a:solidFill>
                  <a:srgbClr val="E8772E"/>
                </a:solidFill>
                <a:latin typeface="Courier New"/>
              </a:rPr>
              <a:t>R01</a:t>
            </a:r>
          </a:p>
        </p:txBody>
      </p:sp>
      <p:sp>
        <p:nvSpPr>
          <p:cNvPr id="5" name="TextBox 4"/>
          <p:cNvSpPr txBox="1"/>
          <p:nvPr/>
        </p:nvSpPr>
        <p:spPr>
          <a:xfrm>
            <a:off x="1508760" y="1920240"/>
            <a:ext cx="10088575" cy="365760"/>
          </a:xfrm>
          <a:prstGeom prst="rect">
            <a:avLst/>
          </a:prstGeom>
          <a:noFill/>
        </p:spPr>
        <p:txBody>
          <a:bodyPr wrap="square" lIns="0" rIns="0" tIns="0" bIns="0" anchor="t">
            <a:spAutoFit/>
          </a:bodyPr>
          <a:lstStyle/>
          <a:p>
            <a:pPr algn="l"/>
            <a:r>
              <a:rPr sz="1300" b="0" i="0">
                <a:solidFill>
                  <a:srgbClr val="14324A"/>
                </a:solidFill>
                <a:latin typeface="Calibri"/>
              </a:rPr>
              <a:t>Estate intelligence census eij-1b359b3cbd2e, digest-verified report (measured 2026-09-29), headline aggregates and per-database measures</a:t>
            </a:r>
          </a:p>
        </p:txBody>
      </p:sp>
      <p:cxnSp>
        <p:nvCxnSpPr>
          <p:cNvPr id="6" name="Connector 5"/>
          <p:cNvCxnSpPr/>
          <p:nvPr/>
        </p:nvCxnSpPr>
        <p:spPr>
          <a:xfrm>
            <a:off x="594360" y="2304288"/>
            <a:ext cx="11002975" cy="0"/>
          </a:xfrm>
          <a:prstGeom prst="line">
            <a:avLst/>
          </a:prstGeom>
          <a:ln w="9525">
            <a:solidFill>
              <a:srgbClr val="D3DCE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2423160"/>
            <a:ext cx="822960" cy="365760"/>
          </a:xfrm>
          <a:prstGeom prst="rect">
            <a:avLst/>
          </a:prstGeom>
          <a:noFill/>
        </p:spPr>
        <p:txBody>
          <a:bodyPr wrap="square" lIns="0" rIns="0" tIns="0" bIns="0" anchor="t">
            <a:spAutoFit/>
          </a:bodyPr>
          <a:lstStyle/>
          <a:p>
            <a:pPr algn="l"/>
            <a:r>
              <a:rPr sz="1400" b="1" i="0">
                <a:solidFill>
                  <a:srgbClr val="E8772E"/>
                </a:solidFill>
                <a:latin typeface="Courier New"/>
              </a:rPr>
              <a:t>R02</a:t>
            </a:r>
          </a:p>
        </p:txBody>
      </p:sp>
      <p:sp>
        <p:nvSpPr>
          <p:cNvPr id="8" name="TextBox 7"/>
          <p:cNvSpPr txBox="1"/>
          <p:nvPr/>
        </p:nvSpPr>
        <p:spPr>
          <a:xfrm>
            <a:off x="1508760" y="2423160"/>
            <a:ext cx="10088575" cy="365760"/>
          </a:xfrm>
          <a:prstGeom prst="rect">
            <a:avLst/>
          </a:prstGeom>
          <a:noFill/>
        </p:spPr>
        <p:txBody>
          <a:bodyPr wrap="square" lIns="0" rIns="0" tIns="0" bIns="0" anchor="t">
            <a:spAutoFit/>
          </a:bodyPr>
          <a:lstStyle/>
          <a:p>
            <a:pPr algn="l"/>
            <a:r>
              <a:rPr sz="1300" b="0" i="0">
                <a:solidFill>
                  <a:srgbClr val="14324A"/>
                </a:solidFill>
                <a:latin typeface="Calibri"/>
              </a:rPr>
              <a:t>Estate intelligence census eij-1b359b3cbd2e, cost_strategies priced at reference list prices, not the owner's invoice: Huawei Cloud RDS for MySQL cloud SSD AF-Johannesburg 0.00015 USD/GB-hour x 730 h; OBS Standard 0.023 USD/GB-month</a:t>
            </a:r>
          </a:p>
        </p:txBody>
      </p:sp>
      <p:cxnSp>
        <p:nvCxnSpPr>
          <p:cNvPr id="9" name="Connector 8"/>
          <p:cNvCxnSpPr/>
          <p:nvPr/>
        </p:nvCxnSpPr>
        <p:spPr>
          <a:xfrm>
            <a:off x="594360" y="2807208"/>
            <a:ext cx="11002975" cy="0"/>
          </a:xfrm>
          <a:prstGeom prst="line">
            <a:avLst/>
          </a:prstGeom>
          <a:ln w="9525">
            <a:solidFill>
              <a:srgbClr val="D3DCE4"/>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94360" y="2926080"/>
            <a:ext cx="822960" cy="365760"/>
          </a:xfrm>
          <a:prstGeom prst="rect">
            <a:avLst/>
          </a:prstGeom>
          <a:noFill/>
        </p:spPr>
        <p:txBody>
          <a:bodyPr wrap="square" lIns="0" rIns="0" tIns="0" bIns="0" anchor="t">
            <a:spAutoFit/>
          </a:bodyPr>
          <a:lstStyle/>
          <a:p>
            <a:pPr algn="l"/>
            <a:r>
              <a:rPr sz="1400" b="1" i="0">
                <a:solidFill>
                  <a:srgbClr val="E8772E"/>
                </a:solidFill>
                <a:latin typeface="Courier New"/>
              </a:rPr>
              <a:t>R03</a:t>
            </a:r>
          </a:p>
        </p:txBody>
      </p:sp>
      <p:sp>
        <p:nvSpPr>
          <p:cNvPr id="11" name="TextBox 10"/>
          <p:cNvSpPr txBox="1"/>
          <p:nvPr/>
        </p:nvSpPr>
        <p:spPr>
          <a:xfrm>
            <a:off x="1508760" y="2926080"/>
            <a:ext cx="10088575" cy="365760"/>
          </a:xfrm>
          <a:prstGeom prst="rect">
            <a:avLst/>
          </a:prstGeom>
          <a:noFill/>
        </p:spPr>
        <p:txBody>
          <a:bodyPr wrap="square" lIns="0" rIns="0" tIns="0" bIns="0" anchor="t">
            <a:spAutoFit/>
          </a:bodyPr>
          <a:lstStyle/>
          <a:p>
            <a:pPr algn="l"/>
            <a:r>
              <a:rPr sz="1300" b="0" i="0">
                <a:solidFill>
                  <a:srgbClr val="14324A"/>
                </a:solidFill>
                <a:latin typeface="Calibri"/>
              </a:rPr>
              <a:t>Estate intelligence census eij-1b359b3cbd2e, data_products readiness scoring (dimensions, grades, blockers)</a:t>
            </a:r>
          </a:p>
        </p:txBody>
      </p:sp>
      <p:cxnSp>
        <p:nvCxnSpPr>
          <p:cNvPr id="12" name="Connector 11"/>
          <p:cNvCxnSpPr/>
          <p:nvPr/>
        </p:nvCxnSpPr>
        <p:spPr>
          <a:xfrm>
            <a:off x="594360" y="3310128"/>
            <a:ext cx="11002975" cy="0"/>
          </a:xfrm>
          <a:prstGeom prst="line">
            <a:avLst/>
          </a:prstGeom>
          <a:ln w="9525">
            <a:solidFill>
              <a:srgbClr val="D3DCE4"/>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94360" y="3429000"/>
            <a:ext cx="822960" cy="365760"/>
          </a:xfrm>
          <a:prstGeom prst="rect">
            <a:avLst/>
          </a:prstGeom>
          <a:noFill/>
        </p:spPr>
        <p:txBody>
          <a:bodyPr wrap="square" lIns="0" rIns="0" tIns="0" bIns="0" anchor="t">
            <a:spAutoFit/>
          </a:bodyPr>
          <a:lstStyle/>
          <a:p>
            <a:pPr algn="l"/>
            <a:r>
              <a:rPr sz="1400" b="1" i="0">
                <a:solidFill>
                  <a:srgbClr val="E8772E"/>
                </a:solidFill>
                <a:latin typeface="Courier New"/>
              </a:rPr>
              <a:t>R04</a:t>
            </a:r>
          </a:p>
        </p:txBody>
      </p:sp>
      <p:sp>
        <p:nvSpPr>
          <p:cNvPr id="14" name="TextBox 13"/>
          <p:cNvSpPr txBox="1"/>
          <p:nvPr/>
        </p:nvSpPr>
        <p:spPr>
          <a:xfrm>
            <a:off x="1508760" y="3429000"/>
            <a:ext cx="10088575" cy="365760"/>
          </a:xfrm>
          <a:prstGeom prst="rect">
            <a:avLst/>
          </a:prstGeom>
          <a:noFill/>
        </p:spPr>
        <p:txBody>
          <a:bodyPr wrap="square" lIns="0" rIns="0" tIns="0" bIns="0" anchor="t">
            <a:spAutoFit/>
          </a:bodyPr>
          <a:lstStyle/>
          <a:p>
            <a:pPr algn="l"/>
            <a:r>
              <a:rPr sz="1300" b="0" i="0">
                <a:solidFill>
                  <a:srgbClr val="14324A"/>
                </a:solidFill>
                <a:latin typeface="Calibri"/>
              </a:rPr>
              <a:t>OBS bucket enumeration census run cr-f1415e395361 (22,975,591 objects, 130.3 TiB)</a:t>
            </a:r>
          </a:p>
        </p:txBody>
      </p:sp>
      <p:cxnSp>
        <p:nvCxnSpPr>
          <p:cNvPr id="15" name="Connector 14"/>
          <p:cNvCxnSpPr/>
          <p:nvPr/>
        </p:nvCxnSpPr>
        <p:spPr>
          <a:xfrm>
            <a:off x="594360" y="3813048"/>
            <a:ext cx="11002975" cy="0"/>
          </a:xfrm>
          <a:prstGeom prst="line">
            <a:avLst/>
          </a:prstGeom>
          <a:ln w="9525">
            <a:solidFill>
              <a:srgbClr val="D3DCE4"/>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94360" y="3931920"/>
            <a:ext cx="822960" cy="365760"/>
          </a:xfrm>
          <a:prstGeom prst="rect">
            <a:avLst/>
          </a:prstGeom>
          <a:noFill/>
        </p:spPr>
        <p:txBody>
          <a:bodyPr wrap="square" lIns="0" rIns="0" tIns="0" bIns="0" anchor="t">
            <a:spAutoFit/>
          </a:bodyPr>
          <a:lstStyle/>
          <a:p>
            <a:pPr algn="l"/>
            <a:r>
              <a:rPr sz="1400" b="1" i="0">
                <a:solidFill>
                  <a:srgbClr val="E8772E"/>
                </a:solidFill>
                <a:latin typeface="Courier New"/>
              </a:rPr>
              <a:t>R05</a:t>
            </a:r>
          </a:p>
        </p:txBody>
      </p:sp>
      <p:sp>
        <p:nvSpPr>
          <p:cNvPr id="17" name="TextBox 16"/>
          <p:cNvSpPr txBox="1"/>
          <p:nvPr/>
        </p:nvSpPr>
        <p:spPr>
          <a:xfrm>
            <a:off x="1508760" y="3931920"/>
            <a:ext cx="10088575" cy="365760"/>
          </a:xfrm>
          <a:prstGeom prst="rect">
            <a:avLst/>
          </a:prstGeom>
          <a:noFill/>
        </p:spPr>
        <p:txBody>
          <a:bodyPr wrap="square" lIns="0" rIns="0" tIns="0" bIns="0" anchor="t">
            <a:spAutoFit/>
          </a:bodyPr>
          <a:lstStyle/>
          <a:p>
            <a:pPr algn="l"/>
            <a:r>
              <a:rPr sz="1300" b="0" i="0">
                <a:solidFill>
                  <a:srgbClr val="14324A"/>
                </a:solidFill>
                <a:latin typeface="Calibri"/>
              </a:rPr>
              <a:t>NAS share enumeration census run cr-cf4eef79995b (1,456,787 files, 43.6 TiB)</a:t>
            </a:r>
          </a:p>
        </p:txBody>
      </p:sp>
      <p:cxnSp>
        <p:nvCxnSpPr>
          <p:cNvPr id="18" name="Connector 17"/>
          <p:cNvCxnSpPr/>
          <p:nvPr/>
        </p:nvCxnSpPr>
        <p:spPr>
          <a:xfrm>
            <a:off x="594360" y="4315968"/>
            <a:ext cx="11002975" cy="0"/>
          </a:xfrm>
          <a:prstGeom prst="line">
            <a:avLst/>
          </a:prstGeom>
          <a:ln w="9525">
            <a:solidFill>
              <a:srgbClr val="D3DCE4"/>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94360" y="4434840"/>
            <a:ext cx="822960" cy="365760"/>
          </a:xfrm>
          <a:prstGeom prst="rect">
            <a:avLst/>
          </a:prstGeom>
          <a:noFill/>
        </p:spPr>
        <p:txBody>
          <a:bodyPr wrap="square" lIns="0" rIns="0" tIns="0" bIns="0" anchor="t">
            <a:spAutoFit/>
          </a:bodyPr>
          <a:lstStyle/>
          <a:p>
            <a:pPr algn="l"/>
            <a:r>
              <a:rPr sz="1400" b="1" i="0">
                <a:solidFill>
                  <a:srgbClr val="E8772E"/>
                </a:solidFill>
                <a:latin typeface="Courier New"/>
              </a:rPr>
              <a:t>R06</a:t>
            </a:r>
          </a:p>
        </p:txBody>
      </p:sp>
      <p:sp>
        <p:nvSpPr>
          <p:cNvPr id="20" name="TextBox 19"/>
          <p:cNvSpPr txBox="1"/>
          <p:nvPr/>
        </p:nvSpPr>
        <p:spPr>
          <a:xfrm>
            <a:off x="1508760" y="4434840"/>
            <a:ext cx="10088575" cy="365760"/>
          </a:xfrm>
          <a:prstGeom prst="rect">
            <a:avLst/>
          </a:prstGeom>
          <a:noFill/>
        </p:spPr>
        <p:txBody>
          <a:bodyPr wrap="square" lIns="0" rIns="0" tIns="0" bIns="0" anchor="t">
            <a:spAutoFit/>
          </a:bodyPr>
          <a:lstStyle/>
          <a:p>
            <a:pPr algn="l"/>
            <a:r>
              <a:rPr sz="1300" b="0" i="0">
                <a:solidFill>
                  <a:srgbClr val="14324A"/>
                </a:solidFill>
                <a:latin typeface="Calibri"/>
              </a:rPr>
              <a:t>Estate language reading m9j-9e8fcb46a809 on akki-vm (2 GPUs, 1.034 GPU-h): audio language model lcj-7128593897d4 sha256 5c1feb8497e8…, music detector m9j-686de001bfe7 sha256 0fea3eee0393…; model readings, not human labels</a:t>
            </a:r>
          </a:p>
        </p:txBody>
      </p:sp>
      <p:cxnSp>
        <p:nvCxnSpPr>
          <p:cNvPr id="21" name="Connector 20"/>
          <p:cNvCxnSpPr/>
          <p:nvPr/>
        </p:nvCxnSpPr>
        <p:spPr>
          <a:xfrm>
            <a:off x="594360" y="4818888"/>
            <a:ext cx="11002975" cy="0"/>
          </a:xfrm>
          <a:prstGeom prst="line">
            <a:avLst/>
          </a:prstGeom>
          <a:ln w="9525">
            <a:solidFill>
              <a:srgbClr val="D3DCE4"/>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594360" y="4937759"/>
            <a:ext cx="822960" cy="365760"/>
          </a:xfrm>
          <a:prstGeom prst="rect">
            <a:avLst/>
          </a:prstGeom>
          <a:noFill/>
        </p:spPr>
        <p:txBody>
          <a:bodyPr wrap="square" lIns="0" rIns="0" tIns="0" bIns="0" anchor="t">
            <a:spAutoFit/>
          </a:bodyPr>
          <a:lstStyle/>
          <a:p>
            <a:pPr algn="l"/>
            <a:r>
              <a:rPr sz="1400" b="1" i="0">
                <a:solidFill>
                  <a:srgbClr val="E8772E"/>
                </a:solidFill>
                <a:latin typeface="Courier New"/>
              </a:rPr>
              <a:t>R07</a:t>
            </a:r>
          </a:p>
        </p:txBody>
      </p:sp>
      <p:sp>
        <p:nvSpPr>
          <p:cNvPr id="23" name="TextBox 22"/>
          <p:cNvSpPr txBox="1"/>
          <p:nvPr/>
        </p:nvSpPr>
        <p:spPr>
          <a:xfrm>
            <a:off x="1508760" y="4937759"/>
            <a:ext cx="10088575" cy="365760"/>
          </a:xfrm>
          <a:prstGeom prst="rect">
            <a:avLst/>
          </a:prstGeom>
          <a:noFill/>
        </p:spPr>
        <p:txBody>
          <a:bodyPr wrap="square" lIns="0" rIns="0" tIns="0" bIns="0" anchor="t">
            <a:spAutoFit/>
          </a:bodyPr>
          <a:lstStyle/>
          <a:p>
            <a:pPr algn="l"/>
            <a:r>
              <a:rPr sz="1300" b="0" i="0">
                <a:solidFill>
                  <a:srgbClr val="14324A"/>
                </a:solidFill>
                <a:latin typeface="Calibri"/>
              </a:rPr>
              <a:t>Served text language model m9j-74af7cef0a85 readings of the staged transcripts: jobs m9j-8cf6702f8718 (399 transcripts read, 3939 present)</a:t>
            </a:r>
          </a:p>
        </p:txBody>
      </p:sp>
      <p:cxnSp>
        <p:nvCxnSpPr>
          <p:cNvPr id="24" name="Connector 23"/>
          <p:cNvCxnSpPr/>
          <p:nvPr/>
        </p:nvCxnSpPr>
        <p:spPr>
          <a:xfrm>
            <a:off x="594360" y="5321807"/>
            <a:ext cx="11002975" cy="0"/>
          </a:xfrm>
          <a:prstGeom prst="line">
            <a:avLst/>
          </a:prstGeom>
          <a:ln w="9525">
            <a:solidFill>
              <a:srgbClr val="D3DCE4"/>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94360" y="5440679"/>
            <a:ext cx="822960" cy="365760"/>
          </a:xfrm>
          <a:prstGeom prst="rect">
            <a:avLst/>
          </a:prstGeom>
          <a:noFill/>
        </p:spPr>
        <p:txBody>
          <a:bodyPr wrap="square" lIns="0" rIns="0" tIns="0" bIns="0" anchor="t">
            <a:spAutoFit/>
          </a:bodyPr>
          <a:lstStyle/>
          <a:p>
            <a:pPr algn="l"/>
            <a:r>
              <a:rPr sz="1400" b="1" i="0">
                <a:solidFill>
                  <a:srgbClr val="E8772E"/>
                </a:solidFill>
                <a:latin typeface="Courier New"/>
              </a:rPr>
              <a:t>R08</a:t>
            </a:r>
          </a:p>
        </p:txBody>
      </p:sp>
      <p:sp>
        <p:nvSpPr>
          <p:cNvPr id="26" name="TextBox 25"/>
          <p:cNvSpPr txBox="1"/>
          <p:nvPr/>
        </p:nvSpPr>
        <p:spPr>
          <a:xfrm>
            <a:off x="1508760" y="5440679"/>
            <a:ext cx="10088575" cy="365760"/>
          </a:xfrm>
          <a:prstGeom prst="rect">
            <a:avLst/>
          </a:prstGeom>
          <a:noFill/>
        </p:spPr>
        <p:txBody>
          <a:bodyPr wrap="square" lIns="0" rIns="0" tIns="0" bIns="0" anchor="t">
            <a:spAutoFit/>
          </a:bodyPr>
          <a:lstStyle/>
          <a:p>
            <a:pPr algn="l"/>
            <a:r>
              <a:rPr sz="1300" b="0" i="0">
                <a:solidFill>
                  <a:srgbClr val="14324A"/>
                </a:solidFill>
                <a:latin typeface="Calibri"/>
              </a:rPr>
              <a:t>Aggregate-only database reading etx-81e10befe6e0: news_vault.stories (script, title, date, hour_id) → news_vault.hours (station_id, time, type_id) → news_vault.stations (name); news_vault.news (2022 bulletins); local.uploaded_files (language_id, audio_length, status) ← local.transcripts (file_id, start_time, end_time, transcript) ; local.folder_languages (Language, code, station)</a:t>
            </a:r>
          </a:p>
        </p:txBody>
      </p:sp>
      <p:cxnSp>
        <p:nvCxnSpPr>
          <p:cNvPr id="27" name="Connector 26"/>
          <p:cNvCxnSpPr/>
          <p:nvPr/>
        </p:nvCxnSpPr>
        <p:spPr>
          <a:xfrm>
            <a:off x="594360" y="5824727"/>
            <a:ext cx="11002975" cy="0"/>
          </a:xfrm>
          <a:prstGeom prst="line">
            <a:avLst/>
          </a:prstGeom>
          <a:ln w="9525">
            <a:solidFill>
              <a:srgbClr val="D3DCE4"/>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70879A"/>
                </a:solidFill>
                <a:latin typeface="Calibri"/>
              </a:rPr>
              <a:t>EI-eij-1b359b3cbd2e</a:t>
            </a:r>
          </a:p>
        </p:txBody>
      </p:sp>
      <p:sp>
        <p:nvSpPr>
          <p:cNvPr id="29" name="TextBox 28"/>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70879A"/>
                </a:solidFill>
                <a:latin typeface="Calibri"/>
              </a:rPr>
              <a:t>Tenant confidential</a:t>
            </a:r>
          </a:p>
        </p:txBody>
      </p:sp>
      <p:sp>
        <p:nvSpPr>
          <p:cNvPr id="30" name="TextBox 29"/>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70879A"/>
                </a:solidFill>
                <a:latin typeface="Courier New"/>
              </a:rPr>
              <a:t>53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RMS holds, what it costs and what to build first</dc:title>
  <dc:subject/>
  <dc:creator>doc-studio</dc:creator>
  <cp:keywords/>
  <dc:description>generated using python-pptx</dc:description>
  <cp:lastModifiedBy>doc-studio</cp:lastModifiedBy>
  <cp:revision>1</cp:revision>
  <dcterms:created xsi:type="dcterms:W3CDTF">2026-10-02T07:26:31Z</dcterms:created>
  <dcterms:modified xsi:type="dcterms:W3CDTF">2026-10-02T07:26:31Z</dcterms:modified>
  <cp:category/>
</cp:coreProperties>
</file>