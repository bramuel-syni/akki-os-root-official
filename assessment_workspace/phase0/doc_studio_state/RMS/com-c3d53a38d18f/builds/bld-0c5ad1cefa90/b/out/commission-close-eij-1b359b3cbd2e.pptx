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Tables</c:v>
                </c:pt>
              </c:strCache>
            </c:strRef>
          </c:tx>
          <c:spPr>
            <a:solidFill>
              <a:srgbClr val="B4413E"/>
            </a:solidFill>
          </c:spPr>
          <c:cat>
            <c:strRef>
              <c:f>Sheet1!$A$2:$A$6</c:f>
              <c:strCache>
                <c:ptCount val="5"/>
                <c:pt idx="0">
                  <c:v>Complete pass</c:v>
                </c:pt>
                <c:pt idx="1">
                  <c:v>Stratified sample</c:v>
                </c:pt>
                <c:pt idx="2">
                  <c:v>Head sample</c:v>
                </c:pt>
                <c:pt idx="3">
                  <c:v>Failed</c:v>
                </c:pt>
                <c:pt idx="4">
                  <c:v>Not reached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513</c:v>
                </c:pt>
                <c:pt idx="1">
                  <c:v>83</c:v>
                </c:pt>
                <c:pt idx="2">
                  <c:v>41</c:v>
                </c:pt>
                <c:pt idx="3">
                  <c:v>44</c:v>
                </c:pt>
                <c:pt idx="4">
                  <c:v>324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100">
                  <a:solidFill>
                    <a:srgbClr val="1F3A2E"/>
                  </a:solidFill>
                  <a:latin typeface="Courier New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4DED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4DED8"/>
              </a:solidFill>
            </a:ln>
          </c:spPr>
        </c:majorGridlines>
        <c:numFmt formatCode="#,##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latin typeface="Courier New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6F857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Tables</c:v>
                </c:pt>
              </c:strCache>
            </c:strRef>
          </c:tx>
          <c:spPr>
            <a:solidFill>
              <a:srgbClr val="B4413E"/>
            </a:solidFill>
          </c:spPr>
          <c:cat>
            <c:strRef>
              <c:f>Sheet1!$A$2:$A$7</c:f>
              <c:strCache>
                <c:ptCount val="6"/>
                <c:pt idx="0">
                  <c:v>iebc_forms (complete)</c:v>
                </c:pt>
                <c:pt idx="1">
                  <c:v>artists_app (blocked)</c:v>
                </c:pt>
                <c:pt idx="2">
                  <c:v>viupay (complete)</c:v>
                </c:pt>
                <c:pt idx="3">
                  <c:v>citizen_digital (partial)</c:v>
                </c:pt>
                <c:pt idx="4">
                  <c:v>citizen-pulse (partial)</c:v>
                </c:pt>
                <c:pt idx="5">
                  <c:v>Razuna (Library Content) &amp; N (complete)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630</c:v>
                </c:pt>
                <c:pt idx="1">
                  <c:v>0</c:v>
                </c:pt>
                <c:pt idx="2">
                  <c:v>123</c:v>
                </c:pt>
                <c:pt idx="3">
                  <c:v>64</c:v>
                </c:pt>
                <c:pt idx="4">
                  <c:v>77</c:v>
                </c:pt>
                <c:pt idx="5">
                  <c:v>112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100">
                  <a:solidFill>
                    <a:srgbClr val="1F3A2E"/>
                  </a:solidFill>
                  <a:latin typeface="Courier New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4DED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4DED8"/>
              </a:solidFill>
            </a:ln>
          </c:spPr>
        </c:majorGridlines>
        <c:numFmt formatCode="#,##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latin typeface="Courier New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6F857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GiB</c:v>
                </c:pt>
              </c:strCache>
            </c:strRef>
          </c:tx>
          <c:spPr>
            <a:solidFill>
              <a:srgbClr val="B4413E"/>
            </a:solidFill>
          </c:spPr>
          <c:cat>
            <c:strRef>
              <c:f>Sheet1!$A$2:$A$7</c:f>
              <c:strCache>
                <c:ptCount val="6"/>
                <c:pt idx="0">
                  <c:v>iebc_forms</c:v>
                </c:pt>
                <c:pt idx="1">
                  <c:v>artists_app</c:v>
                </c:pt>
                <c:pt idx="2">
                  <c:v>viupay</c:v>
                </c:pt>
                <c:pt idx="3">
                  <c:v>citizen_digital</c:v>
                </c:pt>
                <c:pt idx="4">
                  <c:v>citizen-pulse</c:v>
                </c:pt>
                <c:pt idx="5">
                  <c:v>Razuna (Library Content) &amp; 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340.4</c:v>
                </c:pt>
                <c:pt idx="1">
                  <c:v>0.0</c:v>
                </c:pt>
                <c:pt idx="2">
                  <c:v>2.0</c:v>
                </c:pt>
                <c:pt idx="3">
                  <c:v>3.3</c:v>
                </c:pt>
                <c:pt idx="4">
                  <c:v>0.2</c:v>
                </c:pt>
                <c:pt idx="5">
                  <c:v>5.4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100">
                  <a:solidFill>
                    <a:srgbClr val="1F3A2E"/>
                  </a:solidFill>
                  <a:latin typeface="Courier New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4DED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4DED8"/>
              </a:solidFill>
            </a:ln>
          </c:spPr>
        </c:majorGridlines>
        <c:numFmt formatCode="#,##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latin typeface="Courier New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6F857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674620"/>
            <a:ext cx="7274052" cy="1508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0" i="0">
                <a:solidFill>
                  <a:srgbClr val="1F3A2E"/>
                </a:solidFill>
                <a:latin typeface="Bookman Old Style"/>
              </a:rPr>
              <a:t>Commission close — estate intelligence eij-1b359b3cbd2e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183380"/>
            <a:ext cx="7274052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6F8579"/>
                </a:solidFill>
                <a:latin typeface="Calibri"/>
              </a:rPr>
              <a:t>Commission close · delivered 2026-09-29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14492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F8579"/>
                </a:solidFill>
                <a:latin typeface="Calibri"/>
              </a:rPr>
              <a:t>RMS  ·  Tenant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F8579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3A2E"/>
                </a:solidFill>
                <a:latin typeface="Bookman Old Style"/>
              </a:rPr>
              <a:t>The census delivered a partial, digest-verified result; blocked connections remain open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1463040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F8579"/>
                </a:solidFill>
                <a:latin typeface="Calibri"/>
              </a:rPr>
              <a:t>SITUATION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920240"/>
            <a:ext cx="9357055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3A2E"/>
                </a:solidFill>
                <a:latin typeface="Calibri"/>
              </a:rPr>
              <a:t>The census ran under CP-CENSUS-ESTATE-INTELLIGENCE on runtime akki-vm for 15.5 minutes and closed partial. 638 of 1006 tables were measured (63.4%): 513 by complete pass, 83 by stratified sample, 41 by head sample; 44 failed.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790063"/>
            <a:ext cx="11002975" cy="0"/>
          </a:xfrm>
          <a:prstGeom prst="line">
            <a:avLst/>
          </a:prstGeom>
          <a:ln w="9525">
            <a:solidFill>
              <a:srgbClr val="D4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863215"/>
            <a:ext cx="1463040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F8579"/>
                </a:solidFill>
                <a:latin typeface="Calibri"/>
              </a:rPr>
              <a:t>COMPLICATION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2863215"/>
            <a:ext cx="9357055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3A2E"/>
                </a:solidFill>
                <a:latin typeface="Calibri"/>
              </a:rPr>
              <a:t>3 of 6 connections completed, 2 were partial and 1 blocked. The delivered result is partial: artists_app blocked (MYSQL_ACCESS_DENIED_1045).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3733037"/>
            <a:ext cx="11002975" cy="0"/>
          </a:xfrm>
          <a:prstGeom prst="line">
            <a:avLst/>
          </a:prstGeom>
          <a:ln w="9525">
            <a:solidFill>
              <a:srgbClr val="D4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3806189"/>
            <a:ext cx="1463040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F8579"/>
                </a:solidFill>
                <a:latin typeface="Calibri"/>
              </a:rPr>
              <a:t>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3806189"/>
            <a:ext cx="9357055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3A2E"/>
                </a:solidFill>
                <a:latin typeface="Calibri"/>
              </a:rPr>
              <a:t>Should the estate owner accept the delivery and close the commission, or hold it open until the blocked connections are read?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4676013"/>
            <a:ext cx="11002975" cy="0"/>
          </a:xfrm>
          <a:prstGeom prst="line">
            <a:avLst/>
          </a:prstGeom>
          <a:ln w="9525">
            <a:solidFill>
              <a:srgbClr val="D4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4749165"/>
            <a:ext cx="1463040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4413E"/>
                </a:solidFill>
                <a:latin typeface="Calibri"/>
              </a:rPr>
              <a:t>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4749165"/>
            <a:ext cx="9357055" cy="805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3A2E"/>
                </a:solidFill>
                <a:latin typeface="Calibri"/>
              </a:rPr>
              <a:t>The result receipt is digest-verified; the Ledger records admit, gate and converge. The report holds aggregates, sketches and hashes only; no row value was retained or returned. The decision is the estate owner's; this pack sets out what was delivered and what was not.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6F8579"/>
                </a:solidFill>
                <a:latin typeface="Calibri"/>
              </a:rPr>
              <a:t>CC-eij-1b359b3cbd2e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6F8579"/>
                </a:solidFill>
                <a:latin typeface="Calibri"/>
              </a:rPr>
              <a:t>Tenant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6F8579"/>
                </a:solidFill>
                <a:latin typeface="Courier New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920240"/>
            <a:ext cx="2613355" cy="18854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0" b="0" i="0">
                <a:solidFill>
                  <a:srgbClr val="B4413E"/>
                </a:solidFill>
                <a:latin typeface="Courier New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90595" y="2297887"/>
            <a:ext cx="8206740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0" i="0">
                <a:solidFill>
                  <a:srgbClr val="1F3A2E"/>
                </a:solidFill>
                <a:latin typeface="Bookman Old Style"/>
              </a:rPr>
              <a:t>What was commissioned and what was delivered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F8579"/>
                </a:solidFill>
                <a:latin typeface="Calibri"/>
              </a:rPr>
              <a:t>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3A2E"/>
                </a:solidFill>
                <a:latin typeface="Bookman Old Style"/>
              </a:rPr>
              <a:t>638 of 1006 tables were measured (63.4%); 44 failed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920240"/>
          <a:ext cx="11002975" cy="33942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314492"/>
            <a:ext cx="820674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0" i="1">
                <a:solidFill>
                  <a:srgbClr val="B4413E"/>
                </a:solidFill>
                <a:latin typeface="Calibri"/>
              </a:rPr>
              <a:t>Complete passes cover 51.0% of tables; 4.4% of tables failed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69214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6F8579"/>
                </a:solidFill>
                <a:latin typeface="Courier New"/>
              </a:rPr>
              <a:t>[measured]  Receipt R01: Estate intelligence job record eij-1b359b3cbd2e: submitted 2026-09-29T18:56:40Z by principal 6ab56dd48894abb269135ca2, runtime akki-vm, code 90322d4a826d, result receipt digest-verified (d9c99a632278)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6F8579"/>
                </a:solidFill>
                <a:latin typeface="Calibri"/>
              </a:rPr>
              <a:t>CC-eij-1b359b3cbd2e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6F8579"/>
                </a:solidFill>
                <a:latin typeface="Calibri"/>
              </a:rPr>
              <a:t>Tenant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6F8579"/>
                </a:solidFill>
                <a:latin typeface="Courier New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F8579"/>
                </a:solidFill>
                <a:latin typeface="Calibri"/>
              </a:rPr>
              <a:t>CONNECTIONS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3A2E"/>
                </a:solidFill>
                <a:latin typeface="Bookman Old Style"/>
              </a:rPr>
              <a:t>3 of 6 connections completed, 2 were partial and 1 blocked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920240"/>
          <a:ext cx="11002975" cy="33942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314492"/>
            <a:ext cx="820674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0" i="1">
                <a:solidFill>
                  <a:srgbClr val="B4413E"/>
                </a:solidFill>
                <a:latin typeface="Calibri"/>
              </a:rPr>
              <a:t>The delivered result is partial: artists_app blocked (MYSQL_ACCESS_DENIED_1045)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69214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6F8579"/>
                </a:solidFill>
                <a:latin typeface="Courier New"/>
              </a:rPr>
              <a:t>[measured]  Receipt R02: Estate intelligence report v3 for eij-1b359b3cbd2e, built 2026-09-30T03:41:37Z; connection table and coverage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6F8579"/>
                </a:solidFill>
                <a:latin typeface="Calibri"/>
              </a:rPr>
              <a:t>CC-eij-1b359b3cbd2e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6F8579"/>
                </a:solidFill>
                <a:latin typeface="Calibri"/>
              </a:rPr>
              <a:t>Tenant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6F8579"/>
                </a:solidFill>
                <a:latin typeface="Courier New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F8579"/>
                </a:solidFill>
                <a:latin typeface="Calibri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3A2E"/>
                </a:solidFill>
                <a:latin typeface="Bookman Old Style"/>
              </a:rPr>
              <a:t>The result receipt is digest-verified; the Ledger records admit, gate and converge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B4413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3A2E"/>
                </a:solidFill>
                <a:latin typeface="Calibri"/>
              </a:rPr>
              <a:t>The report holds aggregates, sketches and hashes only; no row value was retained or returned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999232"/>
            <a:ext cx="11002975" cy="0"/>
          </a:xfrm>
          <a:prstGeom prst="line">
            <a:avLst/>
          </a:prstGeom>
          <a:ln w="9525">
            <a:solidFill>
              <a:srgbClr val="D4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3108960"/>
            <a:ext cx="6400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B4413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3182112"/>
            <a:ext cx="101800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3A2E"/>
                </a:solidFill>
                <a:latin typeface="Calibri"/>
              </a:rPr>
              <a:t>Lawful basis: 20260922T014000Z census admit; scope: census only: aggregates, sketches and hashes; no row values retained or returned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4187952"/>
            <a:ext cx="11002975" cy="0"/>
          </a:xfrm>
          <a:prstGeom prst="line">
            <a:avLst/>
          </a:prstGeom>
          <a:ln w="9525">
            <a:solidFill>
              <a:srgbClr val="D4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4297680"/>
            <a:ext cx="6400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B4413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4370832"/>
            <a:ext cx="101800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3A2E"/>
                </a:solidFill>
                <a:latin typeface="Calibri"/>
              </a:rPr>
              <a:t>The executive dossier was composed by gpt-5-mini from 17679 tokens in and 4583 tokens out, receipt rcp-f3b244641843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5376672"/>
            <a:ext cx="11002975" cy="0"/>
          </a:xfrm>
          <a:prstGeom prst="line">
            <a:avLst/>
          </a:prstGeom>
          <a:ln w="9525">
            <a:solidFill>
              <a:srgbClr val="D4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6F8579"/>
                </a:solidFill>
                <a:latin typeface="Calibri"/>
              </a:rPr>
              <a:t>CC-eij-1b359b3cbd2e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6F8579"/>
                </a:solidFill>
                <a:latin typeface="Calibri"/>
              </a:rPr>
              <a:t>Tenant confidential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6F8579"/>
                </a:solidFill>
                <a:latin typeface="Courier New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920240"/>
            <a:ext cx="2613355" cy="18854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0" b="0" i="0">
                <a:solidFill>
                  <a:srgbClr val="B4413E"/>
                </a:solidFill>
                <a:latin typeface="Courier New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90595" y="2297887"/>
            <a:ext cx="8206740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0" i="0">
                <a:solidFill>
                  <a:srgbClr val="1F3A2E"/>
                </a:solidFill>
                <a:latin typeface="Bookman Old Style"/>
              </a:rPr>
              <a:t>Usage, volume and what remains open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F8579"/>
                </a:solidFill>
                <a:latin typeface="Calibri"/>
              </a:rPr>
              <a:t>VOLUME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3A2E"/>
                </a:solidFill>
                <a:latin typeface="Bookman Old Style"/>
              </a:rPr>
              <a:t>351.3 GiB across 20 databases were measured in 15.5 minutes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920240"/>
          <a:ext cx="11002975" cy="33942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314492"/>
            <a:ext cx="820674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0" i="1">
                <a:solidFill>
                  <a:srgbClr val="B4413E"/>
                </a:solidFill>
                <a:latin typeface="Calibri"/>
              </a:rPr>
              <a:t>Measured usage: 15.5 minutes wall clock and 5.9m rows read on akki-vm; jump host measured; GPU host held aggregates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69214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6F8579"/>
                </a:solidFill>
                <a:latin typeface="Courier New"/>
              </a:rPr>
              <a:t>[measured]  Receipt R02: Estate intelligence report v3 for eij-1b359b3cbd2e, built 2026-09-30T03:41:37Z; connection table and coverage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6F8579"/>
                </a:solidFill>
                <a:latin typeface="Calibri"/>
              </a:rPr>
              <a:t>CC-eij-1b359b3cbd2e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6F8579"/>
                </a:solidFill>
                <a:latin typeface="Calibri"/>
              </a:rPr>
              <a:t>Tenant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6F8579"/>
                </a:solidFill>
                <a:latin typeface="Courier New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F8579"/>
                </a:solidFill>
                <a:latin typeface="Calibri"/>
              </a:rPr>
              <a:t>OPEN 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3A2E"/>
                </a:solidFill>
                <a:latin typeface="Bookman Old Style"/>
              </a:rPr>
              <a:t>The result closed partial with 1 blocked and 2 partial connections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6400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B4413E"/>
                </a:solidFill>
                <a:latin typeface="Courier New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993392"/>
            <a:ext cx="101800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3A2E"/>
                </a:solidFill>
                <a:latin typeface="Calibri"/>
              </a:rPr>
              <a:t>artists_app: blocked — MYSQL_ACCESS_DENIED_1045 (GRANT pending, owner dependency); 0 tables reached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999232"/>
            <a:ext cx="11002975" cy="0"/>
          </a:xfrm>
          <a:prstGeom prst="line">
            <a:avLst/>
          </a:prstGeom>
          <a:ln w="9525">
            <a:solidFill>
              <a:srgbClr val="D4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3108960"/>
            <a:ext cx="6400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B4413E"/>
                </a:solidFill>
                <a:latin typeface="Courier New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3182112"/>
            <a:ext cx="101800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3A2E"/>
                </a:solidFill>
                <a:latin typeface="Calibri"/>
              </a:rPr>
              <a:t>citizen_digital: partial — 5 tables failed; 64 tables reached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4187952"/>
            <a:ext cx="11002975" cy="0"/>
          </a:xfrm>
          <a:prstGeom prst="line">
            <a:avLst/>
          </a:prstGeom>
          <a:ln w="9525">
            <a:solidFill>
              <a:srgbClr val="D4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4297680"/>
            <a:ext cx="6400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B4413E"/>
                </a:solidFill>
                <a:latin typeface="Courier New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4370832"/>
            <a:ext cx="101800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3A2E"/>
                </a:solidFill>
                <a:latin typeface="Calibri"/>
              </a:rPr>
              <a:t>citizen-pulse: partial — 39 tables failed; 77 tables reached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5376672"/>
            <a:ext cx="11002975" cy="0"/>
          </a:xfrm>
          <a:prstGeom prst="line">
            <a:avLst/>
          </a:prstGeom>
          <a:ln w="9525">
            <a:solidFill>
              <a:srgbClr val="D4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6F8579"/>
                </a:solidFill>
                <a:latin typeface="Calibri"/>
              </a:rPr>
              <a:t>CC-eij-1b359b3cbd2e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6F8579"/>
                </a:solidFill>
                <a:latin typeface="Calibri"/>
              </a:rPr>
              <a:t>Tenant confidential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6F8579"/>
                </a:solidFill>
                <a:latin typeface="Courier New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F8579"/>
                </a:solidFill>
                <a:latin typeface="Calibri"/>
              </a:rPr>
              <a:t>COVERAGE AND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3A2E"/>
                </a:solidFill>
                <a:latin typeface="Bookman Old Style"/>
              </a:rPr>
              <a:t>What this pack covers, what it cannot say, and what would close each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110029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3A2E"/>
                </a:solidFill>
                <a:latin typeface="Calibri"/>
              </a:rPr>
              <a:t>COVERS</a:t>
            </a:r>
          </a:p>
          <a:p>
            <a:pPr algn="l"/>
            <a:r>
              <a:rPr sz="1400" b="0" i="0">
                <a:solidFill>
                  <a:srgbClr val="1F3A2E"/>
                </a:solidFill>
                <a:latin typeface="Calibri"/>
              </a:rPr>
              <a:t>Delivery of census eij-1b359b3cbd2e: 638 of 1006 tables, 6 connections, wall clock, Ledger rows, receipts and the dossier composition. Everything here is read from the job record and the digest-verified report.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834640"/>
            <a:ext cx="35457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F8579"/>
                </a:solidFill>
                <a:latin typeface="Calibri"/>
              </a:rPr>
              <a:t>CANNOT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2978" y="2834640"/>
            <a:ext cx="35457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F8579"/>
                </a:solidFill>
                <a:latin typeface="Calibri"/>
              </a:rPr>
              <a:t>WHY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51596" y="2834640"/>
            <a:ext cx="35457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F8579"/>
                </a:solidFill>
                <a:latin typeface="Calibri"/>
              </a:rPr>
              <a:t>WHAT WOULD CLOSE IT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3127248"/>
            <a:ext cx="11002975" cy="0"/>
          </a:xfrm>
          <a:prstGeom prst="line">
            <a:avLst/>
          </a:prstGeom>
          <a:ln w="9525">
            <a:solidFill>
              <a:srgbClr val="1F3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94360" y="3246120"/>
            <a:ext cx="11002975" cy="786384"/>
          </a:xfrm>
          <a:prstGeom prst="rect">
            <a:avLst/>
          </a:prstGeom>
          <a:pattFill>
            <a:fgClr>
              <a:srgbClr val="E8EFEB"/>
            </a:fgClr>
            <a:bgClr>
              <a:srgbClr val="FFFFFF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3319272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3A2E"/>
                </a:solidFill>
                <a:latin typeface="Calibri"/>
              </a:rPr>
              <a:t>Connection artists_app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6130" y="3319272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3A2E"/>
                </a:solidFill>
                <a:latin typeface="Calibri"/>
              </a:rPr>
              <a:t>MYSQL_ACCESS_DENIED_1045 (GRANT pending, owner dependency)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4748" y="3319272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3A2E"/>
                </a:solidFill>
                <a:latin typeface="Calibri"/>
              </a:rPr>
              <a:t>owner grants access; re-census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123944"/>
            <a:ext cx="11002975" cy="786384"/>
          </a:xfrm>
          <a:prstGeom prst="rect">
            <a:avLst/>
          </a:prstGeom>
          <a:pattFill>
            <a:fgClr>
              <a:srgbClr val="E8EFEB"/>
            </a:fgClr>
            <a:bgClr>
              <a:srgbClr val="FFFFFF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4197096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3A2E"/>
                </a:solidFill>
                <a:latin typeface="Calibri"/>
              </a:rPr>
              <a:t>Ratios on sampled tables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6130" y="4197096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3A2E"/>
                </a:solidFill>
                <a:latin typeface="Calibri"/>
              </a:rPr>
              <a:t>stratified or head samples where complete passes were not possible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4748" y="4197096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3A2E"/>
                </a:solidFill>
                <a:latin typeface="Calibri"/>
              </a:rPr>
              <a:t>a complete-pass census on those tables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5001768"/>
            <a:ext cx="11002975" cy="786384"/>
          </a:xfrm>
          <a:prstGeom prst="rect">
            <a:avLst/>
          </a:prstGeom>
          <a:pattFill>
            <a:fgClr>
              <a:srgbClr val="E8EFEB"/>
            </a:fgClr>
            <a:bgClr>
              <a:srgbClr val="FFFFFF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5074920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3A2E"/>
                </a:solidFill>
                <a:latin typeface="Calibri"/>
              </a:rPr>
              <a:t>44 failed tables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6130" y="5074920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3A2E"/>
                </a:solidFill>
                <a:latin typeface="Calibri"/>
              </a:rPr>
              <a:t>the worker could not measure them in this run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4748" y="5074920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3A2E"/>
                </a:solidFill>
                <a:latin typeface="Calibri"/>
              </a:rPr>
              <a:t>re-census with the recorded errors addressed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5879592"/>
            <a:ext cx="11002975" cy="786384"/>
          </a:xfrm>
          <a:prstGeom prst="rect">
            <a:avLst/>
          </a:prstGeom>
          <a:pattFill>
            <a:fgClr>
              <a:srgbClr val="E8EFEB"/>
            </a:fgClr>
            <a:bgClr>
              <a:srgbClr val="FFFFFF"/>
            </a:bgClr>
          </a:patt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5952744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3A2E"/>
                </a:solidFill>
                <a:latin typeface="Calibri"/>
              </a:rPr>
              <a:t>Languages, rights and semantic similarity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6130" y="5952744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3A2E"/>
                </a:solidFill>
                <a:latin typeface="Calibri"/>
              </a:rPr>
              <a:t>not measured by this census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4748" y="5952744"/>
            <a:ext cx="339943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3A2E"/>
                </a:solidFill>
                <a:latin typeface="Calibri"/>
              </a:rPr>
              <a:t>rights declared at Connect; a language and similarity pass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6F8579"/>
                </a:solidFill>
                <a:latin typeface="Calibri"/>
              </a:rPr>
              <a:t>CC-eij-1b359b3cbd2e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6F8579"/>
                </a:solidFill>
                <a:latin typeface="Calibri"/>
              </a:rPr>
              <a:t>Tenant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6F8579"/>
                </a:solidFill>
                <a:latin typeface="Courier New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02975" cy="376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F8579"/>
                </a:solidFill>
                <a:latin typeface="Calibr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9127"/>
            <a:ext cx="11002975" cy="1131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F3A2E"/>
                </a:solidFill>
                <a:latin typeface="Bookman Old Style"/>
              </a:rPr>
              <a:t>Exhibit index with receipts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4413E"/>
                </a:solidFill>
                <a:latin typeface="Courier New"/>
              </a:rPr>
              <a:t>R01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92024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3A2E"/>
                </a:solidFill>
                <a:latin typeface="Calibri"/>
              </a:rPr>
              <a:t>Estate intelligence job record eij-1b359b3cbd2e: submitted 2026-09-29T18:56:40Z by principal 6ab56dd48894abb269135ca2, runtime akki-vm, code 90322d4a826d, result receipt digest-verified (d9c99a632278)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304288"/>
            <a:ext cx="11002975" cy="0"/>
          </a:xfrm>
          <a:prstGeom prst="line">
            <a:avLst/>
          </a:prstGeom>
          <a:ln w="9525">
            <a:solidFill>
              <a:srgbClr val="D4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242316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4413E"/>
                </a:solidFill>
                <a:latin typeface="Courier New"/>
              </a:rPr>
              <a:t>R02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42316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3A2E"/>
                </a:solidFill>
                <a:latin typeface="Calibri"/>
              </a:rPr>
              <a:t>Estate intelligence report v3 for eij-1b359b3cbd2e, built 2026-09-30T03:41:37Z; connection table and coverage notes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2807208"/>
            <a:ext cx="11002975" cy="0"/>
          </a:xfrm>
          <a:prstGeom prst="line">
            <a:avLst/>
          </a:prstGeom>
          <a:ln w="9525">
            <a:solidFill>
              <a:srgbClr val="D4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292608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4413E"/>
                </a:solidFill>
                <a:latin typeface="Courier New"/>
              </a:rPr>
              <a:t>R03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92608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3A2E"/>
                </a:solidFill>
                <a:latin typeface="Calibri"/>
              </a:rPr>
              <a:t>Lawful basis admit 20260922T014000Z_LAWFUL_BASIS_ADMIT_CENSUS3.json (sha256 37d1508d4ea9); governing artifact CP-CENSUS-ESTATE-INTELLIGENCE version eij-1b359b3cbd2e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3310128"/>
            <a:ext cx="11002975" cy="0"/>
          </a:xfrm>
          <a:prstGeom prst="line">
            <a:avLst/>
          </a:prstGeom>
          <a:ln w="9525">
            <a:solidFill>
              <a:srgbClr val="D4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342900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4413E"/>
                </a:solidFill>
                <a:latin typeface="Courier New"/>
              </a:rPr>
              <a:t>R04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42900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3A2E"/>
                </a:solidFill>
                <a:latin typeface="Calibri"/>
              </a:rPr>
              <a:t>Ledger rows led-398166457377, led-4e9f184f9601, led-6067b8b42dc7: admit:admitted → gate:warm → converge:terminate_success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3813048"/>
            <a:ext cx="11002975" cy="0"/>
          </a:xfrm>
          <a:prstGeom prst="line">
            <a:avLst/>
          </a:prstGeom>
          <a:ln w="9525">
            <a:solidFill>
              <a:srgbClr val="D4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393192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4413E"/>
                </a:solidFill>
                <a:latin typeface="Courier New"/>
              </a:rPr>
              <a:t>R05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93192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3A2E"/>
                </a:solidFill>
                <a:latin typeface="Calibri"/>
              </a:rPr>
              <a:t>Executive dossier receipt rcp-f3b244641843: gpt-5-mini via emergent, 17679 tokens in / 4583 out, prompt 354fd68cd5d4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60" y="4315968"/>
            <a:ext cx="11002975" cy="0"/>
          </a:xfrm>
          <a:prstGeom prst="line">
            <a:avLst/>
          </a:prstGeom>
          <a:ln w="9525">
            <a:solidFill>
              <a:srgbClr val="D4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443484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4413E"/>
                </a:solidFill>
                <a:latin typeface="Courier New"/>
              </a:rPr>
              <a:t>R06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43484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3A2E"/>
                </a:solidFill>
                <a:latin typeface="Calibri"/>
              </a:rPr>
              <a:t>OBS bucket enumeration census run cr-f1415e395361 (22,975,591 objects, 130.3 TiB)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4360" y="4818888"/>
            <a:ext cx="11002975" cy="0"/>
          </a:xfrm>
          <a:prstGeom prst="line">
            <a:avLst/>
          </a:prstGeom>
          <a:ln w="9525">
            <a:solidFill>
              <a:srgbClr val="D4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94360" y="4937759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4413E"/>
                </a:solidFill>
                <a:latin typeface="Courier New"/>
              </a:rPr>
              <a:t>R07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937759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3A2E"/>
                </a:solidFill>
                <a:latin typeface="Calibri"/>
              </a:rPr>
              <a:t>NAS share enumeration census run cr-cf4eef79995b (1,456,787 files, 43.6 TiB)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360" y="5321807"/>
            <a:ext cx="11002975" cy="0"/>
          </a:xfrm>
          <a:prstGeom prst="line">
            <a:avLst/>
          </a:prstGeom>
          <a:ln w="9525">
            <a:solidFill>
              <a:srgbClr val="D4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94360" y="6069787"/>
            <a:ext cx="5409590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00" b="0" i="0">
                <a:solidFill>
                  <a:srgbClr val="6F8579"/>
                </a:solidFill>
                <a:latin typeface="Calibri"/>
              </a:rPr>
              <a:t>CC-eij-1b359b3cbd2e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7744" y="6069787"/>
            <a:ext cx="4477816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0" i="0">
                <a:solidFill>
                  <a:srgbClr val="6F8579"/>
                </a:solidFill>
                <a:latin typeface="Calibri"/>
              </a:rPr>
              <a:t>Tenant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48441" y="6069787"/>
            <a:ext cx="748893" cy="37673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0" i="0">
                <a:solidFill>
                  <a:srgbClr val="6F8579"/>
                </a:solidFill>
                <a:latin typeface="Courier New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Commission close — estate intelligence eij-1b359b3cbd2e</dc:title>
  <dc:subject/>
  <dc:creator>doc-studio</dc:creator>
  <cp:keywords/>
  <dc:description>generated using python-pptx</dc:description>
  <cp:lastModifiedBy>doc-studio</cp:lastModifiedBy>
  <cp:revision>1</cp:revision>
  <dcterms:created xsi:type="dcterms:W3CDTF">2026-09-30T18:50:14Z</dcterms:created>
  <dcterms:modified xsi:type="dcterms:W3CDTF">2026-09-30T18:50:14Z</dcterms:modified>
  <cp:category/>
</cp:coreProperties>
</file>