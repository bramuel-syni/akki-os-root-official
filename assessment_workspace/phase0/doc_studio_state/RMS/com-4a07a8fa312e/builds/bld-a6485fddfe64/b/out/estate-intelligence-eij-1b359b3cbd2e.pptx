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GiB</c:v>
                </c:pt>
              </c:strCache>
            </c:strRef>
          </c:tx>
          <c:spPr>
            <a:solidFill>
              <a:srgbClr val="C8102E"/>
            </a:solidFill>
          </c:spPr>
          <c:cat>
            <c:strRef>
              <c:f>Sheet1!$A$2:$A$9</c:f>
              <c:strCache>
                <c:ptCount val="8"/>
                <c:pt idx="0">
                  <c:v>viusasa_staging (D)</c:v>
                </c:pt>
                <c:pt idx="1">
                  <c:v>razuna (D)</c:v>
                </c:pt>
                <c:pt idx="2">
                  <c:v>db_visitors (D)</c:v>
                </c:pt>
                <c:pt idx="3">
                  <c:v>kra_reports (D)</c:v>
                </c:pt>
                <c:pt idx="4">
                  <c:v>viupay_agent_staging (A)</c:v>
                </c:pt>
                <c:pt idx="5">
                  <c:v>news_vault (C)</c:v>
                </c:pt>
                <c:pt idx="6">
                  <c:v>local (D)</c:v>
                </c:pt>
                <c:pt idx="7">
                  <c:v>viutickets (B)</c:v>
                </c:pt>
              </c:strCache>
            </c:strRef>
          </c:cat>
          <c:val>
            <c:numRef>
              <c:f>Sheet1!$B$2:$B$9</c:f>
              <c:numCache>
                <c:formatCode>General</c:formatCode>
                <c:ptCount val="8"/>
                <c:pt idx="0">
                  <c:v>338.5</c:v>
                </c:pt>
                <c:pt idx="1">
                  <c:v>4.5</c:v>
                </c:pt>
                <c:pt idx="2">
                  <c:v>2.7</c:v>
                </c:pt>
                <c:pt idx="3">
                  <c:v>1.5</c:v>
                </c:pt>
                <c:pt idx="4">
                  <c:v>1.2</c:v>
                </c:pt>
                <c:pt idx="5">
                  <c:v>0.9</c:v>
                </c:pt>
                <c:pt idx="6">
                  <c:v>0.5</c:v>
                </c:pt>
                <c:pt idx="7">
                  <c:v>0.4</c:v>
                </c:pt>
              </c:numCache>
            </c:numRef>
          </c:val>
        </c:ser>
        <c:dLbls>
          <c:numFmt formatCode="#,##0.0" sourceLinked="0"/>
          <c:txPr>
            <a:bodyPr/>
            <a:lstStyle/>
            <a:p>
              <a:pPr>
                <a:defRPr sz="1100">
                  <a:solidFill>
                    <a:srgbClr val="1F2A44"/>
                  </a:solidFill>
                  <a:latin typeface="Courier New"/>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D5DAE3"/>
            </a:solidFill>
          </a:ln>
        </c:spPr>
        <c:crossAx val="-2113994440"/>
        <c:crosses val="autoZero"/>
        <c:auto val="1"/>
        <c:lblAlgn val="ctr"/>
        <c:lblOffset val="100"/>
        <c:noMultiLvlLbl val="0"/>
      </c:catAx>
      <c:valAx>
        <c:axId val="-2113994440"/>
        <c:scaling/>
        <c:delete val="0"/>
        <c:axPos val="l"/>
        <c:majorGridlines>
          <c:spPr>
            <a:ln>
              <a:solidFill>
                <a:srgbClr val="D5DAE3"/>
              </a:solidFill>
            </a:ln>
          </c:spPr>
        </c:majorGridlines>
        <c:numFmt formatCode="#,##0.0" sourceLinked="0"/>
        <c:majorTickMark val="out"/>
        <c:minorTickMark val="none"/>
        <c:tickLblPos val="nextTo"/>
        <c:spPr>
          <a:ln>
            <a:noFill/>
          </a:ln>
        </c:spPr>
        <c:txPr>
          <a:bodyPr/>
          <a:lstStyle/>
          <a:p>
            <a:pPr>
              <a:defRPr>
                <a:latin typeface="Courier New"/>
              </a:defRPr>
            </a:pPr>
          </a:p>
        </c:txPr>
        <c:crossAx val="-2068027336"/>
        <c:crosses val="autoZero"/>
      </c:valAx>
    </c:plotArea>
    <c:dispBlanksAs val="gap"/>
  </c:chart>
  <c:txPr>
    <a:bodyPr/>
    <a:lstStyle/>
    <a:p>
      <a:pPr>
        <a:defRPr sz="1100">
          <a:solidFill>
            <a:srgbClr val="8A94A6"/>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Share</c:v>
                </c:pt>
              </c:strCache>
            </c:strRef>
          </c:tx>
          <c:spPr>
            <a:solidFill>
              <a:srgbClr val="C8102E"/>
            </a:solidFill>
          </c:spPr>
          <c:cat>
            <c:strRef>
              <c:f>Sheet1!$A$2:$A$6</c:f>
              <c:strCache>
                <c:ptCount val="5"/>
                <c:pt idx="0">
                  <c:v>Exact duplicates</c:v>
                </c:pt>
                <c:pt idx="1">
                  <c:v>Degraded</c:v>
                </c:pt>
                <c:pt idx="2">
                  <c:v>Empty required fields</c:v>
                </c:pt>
                <c:pt idx="3">
                  <c:v>PII markers (sampled)</c:v>
                </c:pt>
                <c:pt idx="4">
                  <c:v>Stale bytes</c:v>
                </c:pt>
              </c:strCache>
            </c:strRef>
          </c:cat>
          <c:val>
            <c:numRef>
              <c:f>Sheet1!$B$2:$B$6</c:f>
              <c:numCache>
                <c:formatCode>General</c:formatCode>
                <c:ptCount val="5"/>
                <c:pt idx="0">
                  <c:v>0.015</c:v>
                </c:pt>
                <c:pt idx="1">
                  <c:v>0.23</c:v>
                </c:pt>
                <c:pt idx="2">
                  <c:v>0.817</c:v>
                </c:pt>
                <c:pt idx="3">
                  <c:v>0.718</c:v>
                </c:pt>
                <c:pt idx="4">
                  <c:v>0.154</c:v>
                </c:pt>
              </c:numCache>
            </c:numRef>
          </c:val>
        </c:ser>
        <c:dLbls>
          <c:numFmt formatCode="0.0%" sourceLinked="0"/>
          <c:txPr>
            <a:bodyPr/>
            <a:lstStyle/>
            <a:p>
              <a:pPr>
                <a:defRPr sz="1100">
                  <a:solidFill>
                    <a:srgbClr val="1F2A44"/>
                  </a:solidFill>
                  <a:latin typeface="Courier New"/>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D5DAE3"/>
            </a:solidFill>
          </a:ln>
        </c:spPr>
        <c:crossAx val="-2113994440"/>
        <c:crosses val="autoZero"/>
        <c:auto val="1"/>
        <c:lblAlgn val="ctr"/>
        <c:lblOffset val="100"/>
        <c:noMultiLvlLbl val="0"/>
      </c:catAx>
      <c:valAx>
        <c:axId val="-2113994440"/>
        <c:scaling/>
        <c:delete val="0"/>
        <c:axPos val="l"/>
        <c:majorGridlines>
          <c:spPr>
            <a:ln>
              <a:solidFill>
                <a:srgbClr val="D5DAE3"/>
              </a:solidFill>
            </a:ln>
          </c:spPr>
        </c:majorGridlines>
        <c:numFmt formatCode="0.0%" sourceLinked="0"/>
        <c:majorTickMark val="out"/>
        <c:minorTickMark val="none"/>
        <c:tickLblPos val="nextTo"/>
        <c:spPr>
          <a:ln>
            <a:noFill/>
          </a:ln>
        </c:spPr>
        <c:txPr>
          <a:bodyPr/>
          <a:lstStyle/>
          <a:p>
            <a:pPr>
              <a:defRPr>
                <a:latin typeface="Courier New"/>
              </a:defRPr>
            </a:pPr>
          </a:p>
        </c:txPr>
        <c:crossAx val="-2068027336"/>
        <c:crosses val="autoZero"/>
      </c:valAx>
    </c:plotArea>
    <c:dispBlanksAs val="gap"/>
  </c:chart>
  <c:txPr>
    <a:bodyPr/>
    <a:lstStyle/>
    <a:p>
      <a:pPr>
        <a:defRPr sz="1100">
          <a:solidFill>
            <a:srgbClr val="8A94A6"/>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GiB</c:v>
                </c:pt>
              </c:strCache>
            </c:strRef>
          </c:tx>
          <c:spPr>
            <a:solidFill>
              <a:srgbClr val="C8102E"/>
            </a:solidFill>
          </c:spPr>
          <c:cat>
            <c:strRef>
              <c:f>Sheet1!$A$2:$A$8</c:f>
              <c:strCache>
                <c:ptCount val="7"/>
                <c:pt idx="0">
                  <c:v>Move buckets not written for over a year</c:v>
                </c:pt>
                <c:pt idx="1">
                  <c:v>Reconcile duplicate objects across OBS b</c:v>
                </c:pt>
                <c:pt idx="2">
                  <c:v>Move tables not written for over a year </c:v>
                </c:pt>
                <c:pt idx="3">
                  <c:v>Remove redundant (prefix-covered) indexe</c:v>
                </c:pt>
                <c:pt idx="4">
                  <c:v>De-duplicate exact repeated rows inside </c:v>
                </c:pt>
                <c:pt idx="5">
                  <c:v>Consolidate duplicate and staging copies</c:v>
                </c:pt>
                <c:pt idx="6">
                  <c:v>Drop or archive empty tables</c:v>
                </c:pt>
              </c:strCache>
            </c:strRef>
          </c:cat>
          <c:val>
            <c:numRef>
              <c:f>Sheet1!$B$2:$B$8</c:f>
              <c:numCache>
                <c:formatCode>General</c:formatCode>
                <c:ptCount val="7"/>
                <c:pt idx="0">
                  <c:v>42891.0</c:v>
                </c:pt>
                <c:pt idx="1">
                  <c:v>7839.5</c:v>
                </c:pt>
                <c:pt idx="2">
                  <c:v>54.1</c:v>
                </c:pt>
                <c:pt idx="3">
                  <c:v>14.0</c:v>
                </c:pt>
                <c:pt idx="4">
                  <c:v>1.2</c:v>
                </c:pt>
                <c:pt idx="5">
                  <c:v>0.1</c:v>
                </c:pt>
                <c:pt idx="6">
                  <c:v>0.0</c:v>
                </c:pt>
              </c:numCache>
            </c:numRef>
          </c:val>
        </c:ser>
        <c:dLbls>
          <c:numFmt formatCode="#,##0.0" sourceLinked="0"/>
          <c:txPr>
            <a:bodyPr/>
            <a:lstStyle/>
            <a:p>
              <a:pPr>
                <a:defRPr sz="1100">
                  <a:solidFill>
                    <a:srgbClr val="1F2A44"/>
                  </a:solidFill>
                  <a:latin typeface="Courier New"/>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D5DAE3"/>
            </a:solidFill>
          </a:ln>
        </c:spPr>
        <c:crossAx val="-2113994440"/>
        <c:crosses val="autoZero"/>
        <c:auto val="1"/>
        <c:lblAlgn val="ctr"/>
        <c:lblOffset val="100"/>
        <c:noMultiLvlLbl val="0"/>
      </c:catAx>
      <c:valAx>
        <c:axId val="-2113994440"/>
        <c:scaling/>
        <c:delete val="0"/>
        <c:axPos val="l"/>
        <c:majorGridlines>
          <c:spPr>
            <a:ln>
              <a:solidFill>
                <a:srgbClr val="D5DAE3"/>
              </a:solidFill>
            </a:ln>
          </c:spPr>
        </c:majorGridlines>
        <c:numFmt formatCode="#,##0.0" sourceLinked="0"/>
        <c:majorTickMark val="out"/>
        <c:minorTickMark val="none"/>
        <c:tickLblPos val="nextTo"/>
        <c:spPr>
          <a:ln>
            <a:noFill/>
          </a:ln>
        </c:spPr>
        <c:txPr>
          <a:bodyPr/>
          <a:lstStyle/>
          <a:p>
            <a:pPr>
              <a:defRPr>
                <a:latin typeface="Courier New"/>
              </a:defRPr>
            </a:pPr>
          </a:p>
        </c:txPr>
        <c:crossAx val="-2068027336"/>
        <c:crosses val="autoZero"/>
      </c:valAx>
    </c:plotArea>
    <c:dispBlanksAs val="gap"/>
  </c:chart>
  <c:txPr>
    <a:bodyPr/>
    <a:lstStyle/>
    <a:p>
      <a:pPr>
        <a:defRPr sz="1100">
          <a:solidFill>
            <a:srgbClr val="8A94A6"/>
          </a:solidFill>
          <a:latin typeface="Calibri"/>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674620"/>
            <a:ext cx="7274052" cy="1508760"/>
          </a:xfrm>
          <a:prstGeom prst="rect">
            <a:avLst/>
          </a:prstGeom>
          <a:noFill/>
        </p:spPr>
        <p:txBody>
          <a:bodyPr wrap="square" lIns="0" rIns="0" tIns="0" bIns="0" anchor="b">
            <a:spAutoFit/>
          </a:bodyPr>
          <a:lstStyle/>
          <a:p>
            <a:pPr algn="l"/>
            <a:r>
              <a:rPr sz="4000" b="0" i="0">
                <a:solidFill>
                  <a:srgbClr val="1F2A44"/>
                </a:solidFill>
                <a:latin typeface="Cambria"/>
              </a:rPr>
              <a:t>Estate cost and data-product decision pack</a:t>
            </a:r>
          </a:p>
        </p:txBody>
      </p:sp>
      <p:sp>
        <p:nvSpPr>
          <p:cNvPr id="3" name="TextBox 2"/>
          <p:cNvSpPr txBox="1"/>
          <p:nvPr/>
        </p:nvSpPr>
        <p:spPr>
          <a:xfrm>
            <a:off x="594360" y="4183380"/>
            <a:ext cx="7274052" cy="754380"/>
          </a:xfrm>
          <a:prstGeom prst="rect">
            <a:avLst/>
          </a:prstGeom>
          <a:noFill/>
        </p:spPr>
        <p:txBody>
          <a:bodyPr wrap="square" lIns="0" rIns="0" tIns="0" bIns="0" anchor="t">
            <a:spAutoFit/>
          </a:bodyPr>
          <a:lstStyle/>
          <a:p>
            <a:pPr algn="l"/>
            <a:r>
              <a:rPr sz="1800" b="0" i="0">
                <a:solidFill>
                  <a:srgbClr val="8A94A6"/>
                </a:solidFill>
                <a:latin typeface="Calibri"/>
              </a:rPr>
              <a:t>What to reduce, what to fix and what to defer, from the estate census</a:t>
            </a:r>
          </a:p>
        </p:txBody>
      </p:sp>
      <p:sp>
        <p:nvSpPr>
          <p:cNvPr id="4" name="TextBox 3"/>
          <p:cNvSpPr txBox="1"/>
          <p:nvPr/>
        </p:nvSpPr>
        <p:spPr>
          <a:xfrm>
            <a:off x="594360" y="5314492"/>
            <a:ext cx="5409590" cy="376732"/>
          </a:xfrm>
          <a:prstGeom prst="rect">
            <a:avLst/>
          </a:prstGeom>
          <a:noFill/>
        </p:spPr>
        <p:txBody>
          <a:bodyPr wrap="square" lIns="0" rIns="0" tIns="0" bIns="0" anchor="t">
            <a:spAutoFit/>
          </a:bodyPr>
          <a:lstStyle/>
          <a:p>
            <a:pPr algn="l"/>
            <a:r>
              <a:rPr sz="1000" b="0" i="0">
                <a:solidFill>
                  <a:srgbClr val="8A94A6"/>
                </a:solidFill>
                <a:latin typeface="Calibri"/>
              </a:rPr>
              <a:t>RMS  ·  Tenant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EXECUTIVE SUMMARY</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Nearly all the saving sits in object stores; no data product can be released yet</a:t>
            </a:r>
          </a:p>
        </p:txBody>
      </p:sp>
      <p:sp>
        <p:nvSpPr>
          <p:cNvPr id="4" name="TextBox 3"/>
          <p:cNvSpPr txBox="1"/>
          <p:nvPr/>
        </p:nvSpPr>
        <p:spPr>
          <a:xfrm>
            <a:off x="594360" y="1920240"/>
            <a:ext cx="1463040" cy="805815"/>
          </a:xfrm>
          <a:prstGeom prst="rect">
            <a:avLst/>
          </a:prstGeom>
          <a:noFill/>
        </p:spPr>
        <p:txBody>
          <a:bodyPr wrap="square" lIns="0" rIns="0" tIns="0" bIns="0" anchor="t">
            <a:spAutoFit/>
          </a:bodyPr>
          <a:lstStyle/>
          <a:p>
            <a:pPr algn="l"/>
            <a:r>
              <a:rPr sz="1100" b="1" i="0">
                <a:solidFill>
                  <a:srgbClr val="8A94A6"/>
                </a:solidFill>
                <a:latin typeface="Calibri"/>
              </a:rPr>
              <a:t>SITUATION</a:t>
            </a:r>
          </a:p>
        </p:txBody>
      </p:sp>
      <p:sp>
        <p:nvSpPr>
          <p:cNvPr id="5" name="TextBox 4"/>
          <p:cNvSpPr txBox="1"/>
          <p:nvPr/>
        </p:nvSpPr>
        <p:spPr>
          <a:xfrm>
            <a:off x="2240280" y="1920240"/>
            <a:ext cx="9357055" cy="805815"/>
          </a:xfrm>
          <a:prstGeom prst="rect">
            <a:avLst/>
          </a:prstGeom>
          <a:noFill/>
        </p:spPr>
        <p:txBody>
          <a:bodyPr wrap="square" lIns="0" rIns="0" tIns="0" bIns="0" anchor="t">
            <a:spAutoFit/>
          </a:bodyPr>
          <a:lstStyle/>
          <a:p>
            <a:pPr algn="l"/>
            <a:r>
              <a:rPr sz="1400" b="0" i="0">
                <a:solidFill>
                  <a:srgbClr val="1F2A44"/>
                </a:solidFill>
                <a:latin typeface="Calibri"/>
              </a:rPr>
              <a:t>The census measured 638 of 1006 tables and 351.3 GiB of data and index. Separate enumerations of object and file stores were priced at reference list prices, not the owner's invoice.</a:t>
            </a:r>
          </a:p>
        </p:txBody>
      </p:sp>
      <p:cxnSp>
        <p:nvCxnSpPr>
          <p:cNvPr id="6" name="Connector 5"/>
          <p:cNvCxnSpPr/>
          <p:nvPr/>
        </p:nvCxnSpPr>
        <p:spPr>
          <a:xfrm>
            <a:off x="594360" y="2790063"/>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863215"/>
            <a:ext cx="1463040" cy="805815"/>
          </a:xfrm>
          <a:prstGeom prst="rect">
            <a:avLst/>
          </a:prstGeom>
          <a:noFill/>
        </p:spPr>
        <p:txBody>
          <a:bodyPr wrap="square" lIns="0" rIns="0" tIns="0" bIns="0" anchor="t">
            <a:spAutoFit/>
          </a:bodyPr>
          <a:lstStyle/>
          <a:p>
            <a:pPr algn="l"/>
            <a:r>
              <a:rPr sz="1100" b="1" i="0">
                <a:solidFill>
                  <a:srgbClr val="8A94A6"/>
                </a:solidFill>
                <a:latin typeface="Calibri"/>
              </a:rPr>
              <a:t>COMPLICATION</a:t>
            </a:r>
          </a:p>
        </p:txBody>
      </p:sp>
      <p:sp>
        <p:nvSpPr>
          <p:cNvPr id="8" name="TextBox 7"/>
          <p:cNvSpPr txBox="1"/>
          <p:nvPr/>
        </p:nvSpPr>
        <p:spPr>
          <a:xfrm>
            <a:off x="2240280" y="2863215"/>
            <a:ext cx="9357055" cy="805815"/>
          </a:xfrm>
          <a:prstGeom prst="rect">
            <a:avLst/>
          </a:prstGeom>
          <a:noFill/>
        </p:spPr>
        <p:txBody>
          <a:bodyPr wrap="square" lIns="0" rIns="0" tIns="0" bIns="0" anchor="t">
            <a:spAutoFit/>
          </a:bodyPr>
          <a:lstStyle/>
          <a:p>
            <a:pPr algn="l"/>
            <a:r>
              <a:rPr sz="1400" b="0" i="0">
                <a:solidFill>
                  <a:srgbClr val="1F2A44"/>
                </a:solidFill>
                <a:latin typeface="Calibri"/>
              </a:rPr>
              <a:t>Database reclaim is only 15.2 GiB, or 4.3% of bytes. Meanwhile 23.0% of rows are degraded, 81.7% have empty required-looking fields and 71.8% of sampled rows carry personal-data markers. Rights are declared, not measured.</a:t>
            </a:r>
          </a:p>
        </p:txBody>
      </p:sp>
      <p:cxnSp>
        <p:nvCxnSpPr>
          <p:cNvPr id="9" name="Connector 8"/>
          <p:cNvCxnSpPr/>
          <p:nvPr/>
        </p:nvCxnSpPr>
        <p:spPr>
          <a:xfrm>
            <a:off x="594360" y="373303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806189"/>
            <a:ext cx="1463040" cy="805815"/>
          </a:xfrm>
          <a:prstGeom prst="rect">
            <a:avLst/>
          </a:prstGeom>
          <a:noFill/>
        </p:spPr>
        <p:txBody>
          <a:bodyPr wrap="square" lIns="0" rIns="0" tIns="0" bIns="0" anchor="t">
            <a:spAutoFit/>
          </a:bodyPr>
          <a:lstStyle/>
          <a:p>
            <a:pPr algn="l"/>
            <a:r>
              <a:rPr sz="1100" b="1" i="0">
                <a:solidFill>
                  <a:srgbClr val="8A94A6"/>
                </a:solidFill>
                <a:latin typeface="Calibri"/>
              </a:rPr>
              <a:t>QUESTION</a:t>
            </a:r>
          </a:p>
        </p:txBody>
      </p:sp>
      <p:sp>
        <p:nvSpPr>
          <p:cNvPr id="11" name="TextBox 10"/>
          <p:cNvSpPr txBox="1"/>
          <p:nvPr/>
        </p:nvSpPr>
        <p:spPr>
          <a:xfrm>
            <a:off x="2240280" y="3806189"/>
            <a:ext cx="9357055" cy="805815"/>
          </a:xfrm>
          <a:prstGeom prst="rect">
            <a:avLst/>
          </a:prstGeom>
          <a:noFill/>
        </p:spPr>
        <p:txBody>
          <a:bodyPr wrap="square" lIns="0" rIns="0" tIns="0" bIns="0" anchor="t">
            <a:spAutoFit/>
          </a:bodyPr>
          <a:lstStyle/>
          <a:p>
            <a:pPr algn="l"/>
            <a:r>
              <a:rPr sz="1400" b="0" i="0">
                <a:solidFill>
                  <a:srgbClr val="1F2A44"/>
                </a:solidFill>
                <a:latin typeface="Calibri"/>
              </a:rPr>
              <a:t>Which cost strategies and which of the 8 product candidates should the owner take forward, and which should wait?</a:t>
            </a:r>
          </a:p>
        </p:txBody>
      </p:sp>
      <p:cxnSp>
        <p:nvCxnSpPr>
          <p:cNvPr id="12" name="Connector 11"/>
          <p:cNvCxnSpPr/>
          <p:nvPr/>
        </p:nvCxnSpPr>
        <p:spPr>
          <a:xfrm>
            <a:off x="594360" y="4676013"/>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4749165"/>
            <a:ext cx="1463040" cy="805815"/>
          </a:xfrm>
          <a:prstGeom prst="rect">
            <a:avLst/>
          </a:prstGeom>
          <a:noFill/>
        </p:spPr>
        <p:txBody>
          <a:bodyPr wrap="square" lIns="0" rIns="0" tIns="0" bIns="0" anchor="t">
            <a:spAutoFit/>
          </a:bodyPr>
          <a:lstStyle/>
          <a:p>
            <a:pPr algn="l"/>
            <a:r>
              <a:rPr sz="1100" b="1" i="0">
                <a:solidFill>
                  <a:srgbClr val="C8102E"/>
                </a:solidFill>
                <a:latin typeface="Calibri"/>
              </a:rPr>
              <a:t>ANSWER</a:t>
            </a:r>
          </a:p>
        </p:txBody>
      </p:sp>
      <p:sp>
        <p:nvSpPr>
          <p:cNvPr id="14" name="TextBox 13"/>
          <p:cNvSpPr txBox="1"/>
          <p:nvPr/>
        </p:nvSpPr>
        <p:spPr>
          <a:xfrm>
            <a:off x="2240280" y="4749165"/>
            <a:ext cx="9357055" cy="805815"/>
          </a:xfrm>
          <a:prstGeom prst="rect">
            <a:avLst/>
          </a:prstGeom>
          <a:noFill/>
        </p:spPr>
        <p:txBody>
          <a:bodyPr wrap="square" lIns="0" rIns="0" tIns="0" bIns="0" anchor="t">
            <a:spAutoFit/>
          </a:bodyPr>
          <a:lstStyle/>
          <a:p>
            <a:pPr algn="l"/>
            <a:r>
              <a:rPr sz="1400" b="0" i="0">
                <a:solidFill>
                  <a:srgbClr val="1F2A44"/>
                </a:solidFill>
                <a:latin typeface="Calibri"/>
              </a:rPr>
              <a:t>Take forward the archive-class move and the duplicate-object check as verified proposals; priced strategies total 1,174.4 USD a month. Defer database housekeeping and every product release until rights and de-identification are settled.</a:t>
            </a:r>
          </a:p>
        </p:txBody>
      </p:sp>
      <p:sp>
        <p:nvSpPr>
          <p:cNvPr id="15" name="TextBox 14"/>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16" name="TextBox 15"/>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17" name="TextBox 16"/>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1920240"/>
            <a:ext cx="2613355" cy="1885492"/>
          </a:xfrm>
          <a:prstGeom prst="rect">
            <a:avLst/>
          </a:prstGeom>
          <a:noFill/>
        </p:spPr>
        <p:txBody>
          <a:bodyPr wrap="square" lIns="0" rIns="0" tIns="0" bIns="0" anchor="ctr">
            <a:spAutoFit/>
          </a:bodyPr>
          <a:lstStyle/>
          <a:p>
            <a:pPr algn="l"/>
            <a:r>
              <a:rPr sz="9600" b="0" i="0">
                <a:solidFill>
                  <a:srgbClr val="C8102E"/>
                </a:solidFill>
                <a:latin typeface="Courier New"/>
              </a:rPr>
              <a:t>01</a:t>
            </a:r>
          </a:p>
        </p:txBody>
      </p:sp>
      <p:sp>
        <p:nvSpPr>
          <p:cNvPr id="3" name="TextBox 2"/>
          <p:cNvSpPr txBox="1"/>
          <p:nvPr/>
        </p:nvSpPr>
        <p:spPr>
          <a:xfrm>
            <a:off x="3390595" y="2297887"/>
            <a:ext cx="8206740" cy="1508760"/>
          </a:xfrm>
          <a:prstGeom prst="rect">
            <a:avLst/>
          </a:prstGeom>
          <a:noFill/>
        </p:spPr>
        <p:txBody>
          <a:bodyPr wrap="square" lIns="0" rIns="0" tIns="0" bIns="0" anchor="ctr">
            <a:spAutoFit/>
          </a:bodyPr>
          <a:lstStyle/>
          <a:p>
            <a:pPr algn="l"/>
            <a:r>
              <a:rPr sz="3200" b="0" i="0">
                <a:solidFill>
                  <a:srgbClr val="1F2A44"/>
                </a:solidFill>
                <a:latin typeface="Cambria"/>
              </a:rPr>
              <a:t>Where the database bytes sit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STORAGE BY DATABASE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One staging database holds almost all of the 351.3 GiB, so database savings are capped</a:t>
            </a:r>
          </a:p>
        </p:txBody>
      </p:sp>
      <p:graphicFrame>
        <p:nvGraphicFramePr>
          <p:cNvPr id="4" name="Chart 3"/>
          <p:cNvGraphicFramePr>
            <a:graphicFrameLocks noGrp="1"/>
          </p:cNvGraphicFramePr>
          <p:nvPr/>
        </p:nvGraphicFramePr>
        <p:xfrm>
          <a:off x="594360" y="1920240"/>
          <a:ext cx="11002975" cy="3394252"/>
        </p:xfrm>
        <a:graphic>
          <a:graphicData uri="http://schemas.openxmlformats.org/drawingml/2006/chart">
            <c:chart xmlns:c="http://schemas.openxmlformats.org/drawingml/2006/chart" r:id="rId2"/>
          </a:graphicData>
        </a:graphic>
      </p:graphicFrame>
      <p:sp>
        <p:nvSpPr>
          <p:cNvPr id="5" name="TextBox 4"/>
          <p:cNvSpPr txBox="1"/>
          <p:nvPr/>
        </p:nvSpPr>
        <p:spPr>
          <a:xfrm>
            <a:off x="594360" y="5314492"/>
            <a:ext cx="8206740" cy="376732"/>
          </a:xfrm>
          <a:prstGeom prst="rect">
            <a:avLst/>
          </a:prstGeom>
          <a:noFill/>
        </p:spPr>
        <p:txBody>
          <a:bodyPr wrap="square" lIns="0" rIns="0" tIns="0" bIns="0" anchor="b">
            <a:spAutoFit/>
          </a:bodyPr>
          <a:lstStyle/>
          <a:p>
            <a:pPr algn="l"/>
            <a:r>
              <a:rPr sz="1400" b="0" i="1">
                <a:solidFill>
                  <a:srgbClr val="C8102E"/>
                </a:solidFill>
                <a:latin typeface="Calibri"/>
              </a:rPr>
              <a:t>The largest databases hold 350.3 GiB, 99.7% of the total, so any database saving must come from a very small number of places.</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R01: Estate intelligence census eij-1b359b3cbd2e, digest-verified report (measured 2026-09-29), headline aggregates and per-database measures</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1920240"/>
            <a:ext cx="2613355" cy="1885492"/>
          </a:xfrm>
          <a:prstGeom prst="rect">
            <a:avLst/>
          </a:prstGeom>
          <a:noFill/>
        </p:spPr>
        <p:txBody>
          <a:bodyPr wrap="square" lIns="0" rIns="0" tIns="0" bIns="0" anchor="ctr">
            <a:spAutoFit/>
          </a:bodyPr>
          <a:lstStyle/>
          <a:p>
            <a:pPr algn="l"/>
            <a:r>
              <a:rPr sz="9600" b="0" i="0">
                <a:solidFill>
                  <a:srgbClr val="C8102E"/>
                </a:solidFill>
                <a:latin typeface="Courier New"/>
              </a:rPr>
              <a:t>02</a:t>
            </a:r>
          </a:p>
        </p:txBody>
      </p:sp>
      <p:sp>
        <p:nvSpPr>
          <p:cNvPr id="3" name="TextBox 2"/>
          <p:cNvSpPr txBox="1"/>
          <p:nvPr/>
        </p:nvSpPr>
        <p:spPr>
          <a:xfrm>
            <a:off x="3390595" y="2297887"/>
            <a:ext cx="8206740" cy="1508760"/>
          </a:xfrm>
          <a:prstGeom prst="rect">
            <a:avLst/>
          </a:prstGeom>
          <a:noFill/>
        </p:spPr>
        <p:txBody>
          <a:bodyPr wrap="square" lIns="0" rIns="0" tIns="0" bIns="0" anchor="ctr">
            <a:spAutoFit/>
          </a:bodyPr>
          <a:lstStyle/>
          <a:p>
            <a:pPr algn="l"/>
            <a:r>
              <a:rPr sz="3200" b="0" i="0">
                <a:solidFill>
                  <a:srgbClr val="1F2A44"/>
                </a:solidFill>
                <a:latin typeface="Cambria"/>
              </a:rPr>
              <a:t>Condition of the measured rows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ROW CONDITION</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Empty fields and personal-data markers touch most rows; exact duplicates are rare</a:t>
            </a:r>
          </a:p>
        </p:txBody>
      </p:sp>
      <p:graphicFrame>
        <p:nvGraphicFramePr>
          <p:cNvPr id="4" name="Chart 3"/>
          <p:cNvGraphicFramePr>
            <a:graphicFrameLocks noGrp="1"/>
          </p:cNvGraphicFramePr>
          <p:nvPr/>
        </p:nvGraphicFramePr>
        <p:xfrm>
          <a:off x="594360" y="1920240"/>
          <a:ext cx="11002975" cy="3394252"/>
        </p:xfrm>
        <a:graphic>
          <a:graphicData uri="http://schemas.openxmlformats.org/drawingml/2006/chart">
            <c:chart xmlns:c="http://schemas.openxmlformats.org/drawingml/2006/chart" r:id="rId2"/>
          </a:graphicData>
        </a:graphic>
      </p:graphicFrame>
      <p:sp>
        <p:nvSpPr>
          <p:cNvPr id="5" name="TextBox 4"/>
          <p:cNvSpPr txBox="1"/>
          <p:nvPr/>
        </p:nvSpPr>
        <p:spPr>
          <a:xfrm>
            <a:off x="594360" y="5314492"/>
            <a:ext cx="8206740" cy="376732"/>
          </a:xfrm>
          <a:prstGeom prst="rect">
            <a:avLst/>
          </a:prstGeom>
          <a:noFill/>
        </p:spPr>
        <p:txBody>
          <a:bodyPr wrap="square" lIns="0" rIns="0" tIns="0" bIns="0" anchor="b">
            <a:spAutoFit/>
          </a:bodyPr>
          <a:lstStyle/>
          <a:p>
            <a:pPr algn="l"/>
            <a:r>
              <a:rPr sz="1400" b="0" i="1">
                <a:solidFill>
                  <a:srgbClr val="C8102E"/>
                </a:solidFill>
                <a:latin typeface="Calibri"/>
              </a:rPr>
              <a:t>Empty required-looking fields reach 81.7% of rows and markers 71.8% of sampled rows, against 1.5% exact duplicates, so quality and exposure matter more than duplication.</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R01: Estate intelligence census eij-1b359b3cbd2e, digest-verified report (measured 2026-09-29), headline aggregates and per-database measures</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1920240"/>
            <a:ext cx="2613355" cy="1885492"/>
          </a:xfrm>
          <a:prstGeom prst="rect">
            <a:avLst/>
          </a:prstGeom>
          <a:noFill/>
        </p:spPr>
        <p:txBody>
          <a:bodyPr wrap="square" lIns="0" rIns="0" tIns="0" bIns="0" anchor="ctr">
            <a:spAutoFit/>
          </a:bodyPr>
          <a:lstStyle/>
          <a:p>
            <a:pPr algn="l"/>
            <a:r>
              <a:rPr sz="9600" b="0" i="0">
                <a:solidFill>
                  <a:srgbClr val="C8102E"/>
                </a:solidFill>
                <a:latin typeface="Courier New"/>
              </a:rPr>
              <a:t>03</a:t>
            </a:r>
          </a:p>
        </p:txBody>
      </p:sp>
      <p:sp>
        <p:nvSpPr>
          <p:cNvPr id="3" name="TextBox 2"/>
          <p:cNvSpPr txBox="1"/>
          <p:nvPr/>
        </p:nvSpPr>
        <p:spPr>
          <a:xfrm>
            <a:off x="3390595" y="2297887"/>
            <a:ext cx="8206740" cy="1508760"/>
          </a:xfrm>
          <a:prstGeom prst="rect">
            <a:avLst/>
          </a:prstGeom>
          <a:noFill/>
        </p:spPr>
        <p:txBody>
          <a:bodyPr wrap="square" lIns="0" rIns="0" tIns="0" bIns="0" anchor="ctr">
            <a:spAutoFit/>
          </a:bodyPr>
          <a:lstStyle/>
          <a:p>
            <a:pPr algn="l"/>
            <a:r>
              <a:rPr sz="3200" b="0" i="0">
                <a:solidFill>
                  <a:srgbClr val="1F2A44"/>
                </a:solidFill>
                <a:latin typeface="Cambria"/>
              </a:rPr>
              <a:t>Reclaimable bytes by cost strategy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COST STRATEGIES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Three strategies reach 100.0% of addressable bytes, almost all in object stores</a:t>
            </a:r>
          </a:p>
        </p:txBody>
      </p:sp>
      <p:graphicFrame>
        <p:nvGraphicFramePr>
          <p:cNvPr id="4" name="Chart 3"/>
          <p:cNvGraphicFramePr>
            <a:graphicFrameLocks noGrp="1"/>
          </p:cNvGraphicFramePr>
          <p:nvPr/>
        </p:nvGraphicFramePr>
        <p:xfrm>
          <a:off x="594360" y="1920240"/>
          <a:ext cx="11002975" cy="3394252"/>
        </p:xfrm>
        <a:graphic>
          <a:graphicData uri="http://schemas.openxmlformats.org/drawingml/2006/chart">
            <c:chart xmlns:c="http://schemas.openxmlformats.org/drawingml/2006/chart" r:id="rId2"/>
          </a:graphicData>
        </a:graphic>
      </p:graphicFrame>
      <p:sp>
        <p:nvSpPr>
          <p:cNvPr id="5" name="TextBox 4"/>
          <p:cNvSpPr txBox="1"/>
          <p:nvPr/>
        </p:nvSpPr>
        <p:spPr>
          <a:xfrm>
            <a:off x="594360" y="5314492"/>
            <a:ext cx="8206740" cy="376732"/>
          </a:xfrm>
          <a:prstGeom prst="rect">
            <a:avLst/>
          </a:prstGeom>
          <a:noFill/>
        </p:spPr>
        <p:txBody>
          <a:bodyPr wrap="square" lIns="0" rIns="0" tIns="0" bIns="0" anchor="b">
            <a:spAutoFit/>
          </a:bodyPr>
          <a:lstStyle/>
          <a:p>
            <a:pPr algn="l"/>
            <a:r>
              <a:rPr sz="1400" b="0" i="1">
                <a:solidFill>
                  <a:srgbClr val="C8102E"/>
                </a:solidFill>
                <a:latin typeface="Calibri"/>
              </a:rPr>
              <a:t>The three largest strategies address 50,784.6 GiB of the 50,799.8 GiB all strategies reach; the database strategies are marginal by comparison.</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R02: Estate intelligence census eij-1b359b3cbd2e, cost_strategies priced at reference list prices, not the owner's invoice: Huawei Cloud RDS for MySQL cloud SSD AF-Johannesburg 0.00015 USD/GB-hour x 730 h; OBS Standard 0.023 USD/GB-month</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SCOPE AND SCALE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Database bytes are concentrated and little of them is reclaimable</a:t>
            </a:r>
          </a:p>
        </p:txBody>
      </p:sp>
      <p:sp>
        <p:nvSpPr>
          <p:cNvPr id="4" name="TextBox 3"/>
          <p:cNvSpPr txBox="1"/>
          <p:nvPr/>
        </p:nvSpPr>
        <p:spPr>
          <a:xfrm>
            <a:off x="594360" y="1920240"/>
            <a:ext cx="640080" cy="942975"/>
          </a:xfrm>
          <a:prstGeom prst="rect">
            <a:avLst/>
          </a:prstGeom>
          <a:noFill/>
        </p:spPr>
        <p:txBody>
          <a:bodyPr wrap="square" lIns="0" rIns="0" tIns="0" bIns="0" anchor="t">
            <a:spAutoFit/>
          </a:bodyPr>
          <a:lstStyle/>
          <a:p>
            <a:pPr algn="l"/>
            <a:r>
              <a:rPr sz="2600" b="0" i="0">
                <a:solidFill>
                  <a:srgbClr val="C8102E"/>
                </a:solidFill>
                <a:latin typeface="Courier New"/>
              </a:rPr>
              <a:t>01</a:t>
            </a:r>
          </a:p>
        </p:txBody>
      </p:sp>
      <p:sp>
        <p:nvSpPr>
          <p:cNvPr id="5" name="TextBox 4"/>
          <p:cNvSpPr txBox="1"/>
          <p:nvPr/>
        </p:nvSpPr>
        <p:spPr>
          <a:xfrm>
            <a:off x="1417320" y="1993392"/>
            <a:ext cx="10180015" cy="851535"/>
          </a:xfrm>
          <a:prstGeom prst="rect">
            <a:avLst/>
          </a:prstGeom>
          <a:noFill/>
        </p:spPr>
        <p:txBody>
          <a:bodyPr wrap="square" lIns="0" rIns="0" tIns="0" bIns="0" anchor="t">
            <a:spAutoFit/>
          </a:bodyPr>
          <a:lstStyle/>
          <a:p>
            <a:pPr algn="l"/>
            <a:r>
              <a:rPr sz="1400" b="0" i="0">
                <a:solidFill>
                  <a:srgbClr val="1F2A44"/>
                </a:solidFill>
                <a:latin typeface="Calibri"/>
              </a:rPr>
              <a:t>The census measured 638 of 1006 tables, so database totals rest on partial coverage.</a:t>
            </a:r>
          </a:p>
        </p:txBody>
      </p:sp>
      <p:cxnSp>
        <p:nvCxnSpPr>
          <p:cNvPr id="6" name="Connector 5"/>
          <p:cNvCxnSpPr/>
          <p:nvPr/>
        </p:nvCxnSpPr>
        <p:spPr>
          <a:xfrm>
            <a:off x="594360" y="275348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863215"/>
            <a:ext cx="640080" cy="942975"/>
          </a:xfrm>
          <a:prstGeom prst="rect">
            <a:avLst/>
          </a:prstGeom>
          <a:noFill/>
        </p:spPr>
        <p:txBody>
          <a:bodyPr wrap="square" lIns="0" rIns="0" tIns="0" bIns="0" anchor="t">
            <a:spAutoFit/>
          </a:bodyPr>
          <a:lstStyle/>
          <a:p>
            <a:pPr algn="l"/>
            <a:r>
              <a:rPr sz="2600" b="0" i="0">
                <a:solidFill>
                  <a:srgbClr val="C8102E"/>
                </a:solidFill>
                <a:latin typeface="Courier New"/>
              </a:rPr>
              <a:t>02</a:t>
            </a:r>
          </a:p>
        </p:txBody>
      </p:sp>
      <p:sp>
        <p:nvSpPr>
          <p:cNvPr id="8" name="TextBox 7"/>
          <p:cNvSpPr txBox="1"/>
          <p:nvPr/>
        </p:nvSpPr>
        <p:spPr>
          <a:xfrm>
            <a:off x="1417320" y="2936367"/>
            <a:ext cx="10180015" cy="851535"/>
          </a:xfrm>
          <a:prstGeom prst="rect">
            <a:avLst/>
          </a:prstGeom>
          <a:noFill/>
        </p:spPr>
        <p:txBody>
          <a:bodyPr wrap="square" lIns="0" rIns="0" tIns="0" bIns="0" anchor="t">
            <a:spAutoFit/>
          </a:bodyPr>
          <a:lstStyle/>
          <a:p>
            <a:pPr algn="l"/>
            <a:r>
              <a:rPr sz="1400" b="0" i="0">
                <a:solidFill>
                  <a:srgbClr val="1F2A44"/>
                </a:solidFill>
                <a:latin typeface="Calibri"/>
              </a:rPr>
              <a:t>The estate holds 351.3 GiB of data and index; 350.3 GiB sits in the largest databases, which is 99.7% of the total.</a:t>
            </a:r>
          </a:p>
        </p:txBody>
      </p:sp>
      <p:cxnSp>
        <p:nvCxnSpPr>
          <p:cNvPr id="9" name="Connector 8"/>
          <p:cNvCxnSpPr/>
          <p:nvPr/>
        </p:nvCxnSpPr>
        <p:spPr>
          <a:xfrm>
            <a:off x="594360" y="3696461"/>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806189"/>
            <a:ext cx="640080" cy="942975"/>
          </a:xfrm>
          <a:prstGeom prst="rect">
            <a:avLst/>
          </a:prstGeom>
          <a:noFill/>
        </p:spPr>
        <p:txBody>
          <a:bodyPr wrap="square" lIns="0" rIns="0" tIns="0" bIns="0" anchor="t">
            <a:spAutoFit/>
          </a:bodyPr>
          <a:lstStyle/>
          <a:p>
            <a:pPr algn="l"/>
            <a:r>
              <a:rPr sz="2600" b="0" i="0">
                <a:solidFill>
                  <a:srgbClr val="C8102E"/>
                </a:solidFill>
                <a:latin typeface="Courier New"/>
              </a:rPr>
              <a:t>03</a:t>
            </a:r>
          </a:p>
        </p:txBody>
      </p:sp>
      <p:sp>
        <p:nvSpPr>
          <p:cNvPr id="11" name="TextBox 10"/>
          <p:cNvSpPr txBox="1"/>
          <p:nvPr/>
        </p:nvSpPr>
        <p:spPr>
          <a:xfrm>
            <a:off x="1417320" y="3879341"/>
            <a:ext cx="10180015" cy="851535"/>
          </a:xfrm>
          <a:prstGeom prst="rect">
            <a:avLst/>
          </a:prstGeom>
          <a:noFill/>
        </p:spPr>
        <p:txBody>
          <a:bodyPr wrap="square" lIns="0" rIns="0" tIns="0" bIns="0" anchor="t">
            <a:spAutoFit/>
          </a:bodyPr>
          <a:lstStyle/>
          <a:p>
            <a:pPr algn="l"/>
            <a:r>
              <a:rPr sz="1400" b="0" i="0">
                <a:solidFill>
                  <a:srgbClr val="1F2A44"/>
                </a:solidFill>
                <a:latin typeface="Calibri"/>
              </a:rPr>
              <a:t>Only 15.2 GiB is reclaimable in the databases before pricing, which is 4.3% of their bytes.</a:t>
            </a:r>
          </a:p>
        </p:txBody>
      </p:sp>
      <p:cxnSp>
        <p:nvCxnSpPr>
          <p:cNvPr id="12" name="Connector 11"/>
          <p:cNvCxnSpPr/>
          <p:nvPr/>
        </p:nvCxnSpPr>
        <p:spPr>
          <a:xfrm>
            <a:off x="594360" y="463943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4749165"/>
            <a:ext cx="640080" cy="942975"/>
          </a:xfrm>
          <a:prstGeom prst="rect">
            <a:avLst/>
          </a:prstGeom>
          <a:noFill/>
        </p:spPr>
        <p:txBody>
          <a:bodyPr wrap="square" lIns="0" rIns="0" tIns="0" bIns="0" anchor="t">
            <a:spAutoFit/>
          </a:bodyPr>
          <a:lstStyle/>
          <a:p>
            <a:pPr algn="l"/>
            <a:r>
              <a:rPr sz="2600" b="0" i="0">
                <a:solidFill>
                  <a:srgbClr val="C8102E"/>
                </a:solidFill>
                <a:latin typeface="Courier New"/>
              </a:rPr>
              <a:t>04</a:t>
            </a:r>
          </a:p>
        </p:txBody>
      </p:sp>
      <p:sp>
        <p:nvSpPr>
          <p:cNvPr id="14" name="TextBox 13"/>
          <p:cNvSpPr txBox="1"/>
          <p:nvPr/>
        </p:nvSpPr>
        <p:spPr>
          <a:xfrm>
            <a:off x="1417320" y="4822317"/>
            <a:ext cx="10180015" cy="851535"/>
          </a:xfrm>
          <a:prstGeom prst="rect">
            <a:avLst/>
          </a:prstGeom>
          <a:noFill/>
        </p:spPr>
        <p:txBody>
          <a:bodyPr wrap="square" lIns="0" rIns="0" tIns="0" bIns="0" anchor="t">
            <a:spAutoFit/>
          </a:bodyPr>
          <a:lstStyle/>
          <a:p>
            <a:pPr algn="l"/>
            <a:r>
              <a:rPr sz="1400" b="0" i="0">
                <a:solidFill>
                  <a:srgbClr val="1F2A44"/>
                </a:solidFill>
                <a:latin typeface="Calibri"/>
              </a:rPr>
              <a:t>Dead columns are 13.0% of measured columns, which is a tidying task rather than a material saving.</a:t>
            </a:r>
          </a:p>
        </p:txBody>
      </p:sp>
      <p:cxnSp>
        <p:nvCxnSpPr>
          <p:cNvPr id="15" name="Connector 14"/>
          <p:cNvCxnSpPr/>
          <p:nvPr/>
        </p:nvCxnSpPr>
        <p:spPr>
          <a:xfrm>
            <a:off x="594360" y="5582412"/>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17" name="TextBox 16"/>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18" name="TextBox 17"/>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QUALITY AND EXPOSURE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Quality and exposure problems dwarf duplication in the measured rows</a:t>
            </a:r>
          </a:p>
        </p:txBody>
      </p:sp>
      <p:sp>
        <p:nvSpPr>
          <p:cNvPr id="4" name="TextBox 3"/>
          <p:cNvSpPr txBox="1"/>
          <p:nvPr/>
        </p:nvSpPr>
        <p:spPr>
          <a:xfrm>
            <a:off x="594360" y="1920240"/>
            <a:ext cx="640080" cy="942975"/>
          </a:xfrm>
          <a:prstGeom prst="rect">
            <a:avLst/>
          </a:prstGeom>
          <a:noFill/>
        </p:spPr>
        <p:txBody>
          <a:bodyPr wrap="square" lIns="0" rIns="0" tIns="0" bIns="0" anchor="t">
            <a:spAutoFit/>
          </a:bodyPr>
          <a:lstStyle/>
          <a:p>
            <a:pPr algn="l"/>
            <a:r>
              <a:rPr sz="2600" b="0" i="0">
                <a:solidFill>
                  <a:srgbClr val="C8102E"/>
                </a:solidFill>
                <a:latin typeface="Courier New"/>
              </a:rPr>
              <a:t>01</a:t>
            </a:r>
          </a:p>
        </p:txBody>
      </p:sp>
      <p:sp>
        <p:nvSpPr>
          <p:cNvPr id="5" name="TextBox 4"/>
          <p:cNvSpPr txBox="1"/>
          <p:nvPr/>
        </p:nvSpPr>
        <p:spPr>
          <a:xfrm>
            <a:off x="1417320" y="1993392"/>
            <a:ext cx="10180015" cy="851535"/>
          </a:xfrm>
          <a:prstGeom prst="rect">
            <a:avLst/>
          </a:prstGeom>
          <a:noFill/>
        </p:spPr>
        <p:txBody>
          <a:bodyPr wrap="square" lIns="0" rIns="0" tIns="0" bIns="0" anchor="t">
            <a:spAutoFit/>
          </a:bodyPr>
          <a:lstStyle/>
          <a:p>
            <a:pPr algn="l"/>
            <a:r>
              <a:rPr sz="1400" b="0" i="0">
                <a:solidFill>
                  <a:srgbClr val="1F2A44"/>
                </a:solidFill>
                <a:latin typeface="Calibri"/>
              </a:rPr>
              <a:t>Exact duplicate rows are 1.5% of rows, and reclaimable bytes are 4.3%; deduplication alone will not change the cost picture.</a:t>
            </a:r>
          </a:p>
        </p:txBody>
      </p:sp>
      <p:cxnSp>
        <p:nvCxnSpPr>
          <p:cNvPr id="6" name="Connector 5"/>
          <p:cNvCxnSpPr/>
          <p:nvPr/>
        </p:nvCxnSpPr>
        <p:spPr>
          <a:xfrm>
            <a:off x="594360" y="275348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863215"/>
            <a:ext cx="640080" cy="942975"/>
          </a:xfrm>
          <a:prstGeom prst="rect">
            <a:avLst/>
          </a:prstGeom>
          <a:noFill/>
        </p:spPr>
        <p:txBody>
          <a:bodyPr wrap="square" lIns="0" rIns="0" tIns="0" bIns="0" anchor="t">
            <a:spAutoFit/>
          </a:bodyPr>
          <a:lstStyle/>
          <a:p>
            <a:pPr algn="l"/>
            <a:r>
              <a:rPr sz="2600" b="0" i="0">
                <a:solidFill>
                  <a:srgbClr val="C8102E"/>
                </a:solidFill>
                <a:latin typeface="Courier New"/>
              </a:rPr>
              <a:t>02</a:t>
            </a:r>
          </a:p>
        </p:txBody>
      </p:sp>
      <p:sp>
        <p:nvSpPr>
          <p:cNvPr id="8" name="TextBox 7"/>
          <p:cNvSpPr txBox="1"/>
          <p:nvPr/>
        </p:nvSpPr>
        <p:spPr>
          <a:xfrm>
            <a:off x="1417320" y="2936367"/>
            <a:ext cx="10180015" cy="851535"/>
          </a:xfrm>
          <a:prstGeom prst="rect">
            <a:avLst/>
          </a:prstGeom>
          <a:noFill/>
        </p:spPr>
        <p:txBody>
          <a:bodyPr wrap="square" lIns="0" rIns="0" tIns="0" bIns="0" anchor="t">
            <a:spAutoFit/>
          </a:bodyPr>
          <a:lstStyle/>
          <a:p>
            <a:pPr algn="l"/>
            <a:r>
              <a:rPr sz="1400" b="0" i="0">
                <a:solidFill>
                  <a:srgbClr val="1F2A44"/>
                </a:solidFill>
                <a:latin typeface="Calibri"/>
              </a:rPr>
              <a:t>Degraded rows are 23.0%, which limits the value of any dataset built from them without cleansing first.</a:t>
            </a:r>
          </a:p>
        </p:txBody>
      </p:sp>
      <p:cxnSp>
        <p:nvCxnSpPr>
          <p:cNvPr id="9" name="Connector 8"/>
          <p:cNvCxnSpPr/>
          <p:nvPr/>
        </p:nvCxnSpPr>
        <p:spPr>
          <a:xfrm>
            <a:off x="594360" y="3696461"/>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806189"/>
            <a:ext cx="640080" cy="942975"/>
          </a:xfrm>
          <a:prstGeom prst="rect">
            <a:avLst/>
          </a:prstGeom>
          <a:noFill/>
        </p:spPr>
        <p:txBody>
          <a:bodyPr wrap="square" lIns="0" rIns="0" tIns="0" bIns="0" anchor="t">
            <a:spAutoFit/>
          </a:bodyPr>
          <a:lstStyle/>
          <a:p>
            <a:pPr algn="l"/>
            <a:r>
              <a:rPr sz="2600" b="0" i="0">
                <a:solidFill>
                  <a:srgbClr val="C8102E"/>
                </a:solidFill>
                <a:latin typeface="Courier New"/>
              </a:rPr>
              <a:t>03</a:t>
            </a:r>
          </a:p>
        </p:txBody>
      </p:sp>
      <p:sp>
        <p:nvSpPr>
          <p:cNvPr id="11" name="TextBox 10"/>
          <p:cNvSpPr txBox="1"/>
          <p:nvPr/>
        </p:nvSpPr>
        <p:spPr>
          <a:xfrm>
            <a:off x="1417320" y="3879341"/>
            <a:ext cx="10180015" cy="851535"/>
          </a:xfrm>
          <a:prstGeom prst="rect">
            <a:avLst/>
          </a:prstGeom>
          <a:noFill/>
        </p:spPr>
        <p:txBody>
          <a:bodyPr wrap="square" lIns="0" rIns="0" tIns="0" bIns="0" anchor="t">
            <a:spAutoFit/>
          </a:bodyPr>
          <a:lstStyle/>
          <a:p>
            <a:pPr algn="l"/>
            <a:r>
              <a:rPr sz="1400" b="0" i="0">
                <a:solidFill>
                  <a:srgbClr val="1F2A44"/>
                </a:solidFill>
                <a:latin typeface="Calibri"/>
              </a:rPr>
              <a:t>Rows with empty required-looking fields are 81.7%; the label is a heuristic, so treat it as a completeness warning, not a count of faults.</a:t>
            </a:r>
          </a:p>
        </p:txBody>
      </p:sp>
      <p:cxnSp>
        <p:nvCxnSpPr>
          <p:cNvPr id="12" name="Connector 11"/>
          <p:cNvCxnSpPr/>
          <p:nvPr/>
        </p:nvCxnSpPr>
        <p:spPr>
          <a:xfrm>
            <a:off x="594360" y="463943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4749165"/>
            <a:ext cx="640080" cy="942975"/>
          </a:xfrm>
          <a:prstGeom prst="rect">
            <a:avLst/>
          </a:prstGeom>
          <a:noFill/>
        </p:spPr>
        <p:txBody>
          <a:bodyPr wrap="square" lIns="0" rIns="0" tIns="0" bIns="0" anchor="t">
            <a:spAutoFit/>
          </a:bodyPr>
          <a:lstStyle/>
          <a:p>
            <a:pPr algn="l"/>
            <a:r>
              <a:rPr sz="2600" b="0" i="0">
                <a:solidFill>
                  <a:srgbClr val="C8102E"/>
                </a:solidFill>
                <a:latin typeface="Courier New"/>
              </a:rPr>
              <a:t>04</a:t>
            </a:r>
          </a:p>
        </p:txBody>
      </p:sp>
      <p:sp>
        <p:nvSpPr>
          <p:cNvPr id="14" name="TextBox 13"/>
          <p:cNvSpPr txBox="1"/>
          <p:nvPr/>
        </p:nvSpPr>
        <p:spPr>
          <a:xfrm>
            <a:off x="1417320" y="4822317"/>
            <a:ext cx="10180015" cy="851535"/>
          </a:xfrm>
          <a:prstGeom prst="rect">
            <a:avLst/>
          </a:prstGeom>
          <a:noFill/>
        </p:spPr>
        <p:txBody>
          <a:bodyPr wrap="square" lIns="0" rIns="0" tIns="0" bIns="0" anchor="t">
            <a:spAutoFit/>
          </a:bodyPr>
          <a:lstStyle/>
          <a:p>
            <a:pPr algn="l"/>
            <a:r>
              <a:rPr sz="1400" b="0" i="0">
                <a:solidFill>
                  <a:srgbClr val="1F2A44"/>
                </a:solidFill>
                <a:latin typeface="Calibri"/>
              </a:rPr>
              <a:t>Sampled rows carrying personal-data markers are 71.8%; absence of a marker is not absence of personal data.</a:t>
            </a:r>
          </a:p>
        </p:txBody>
      </p:sp>
      <p:cxnSp>
        <p:nvCxnSpPr>
          <p:cNvPr id="15" name="Connector 14"/>
          <p:cNvCxnSpPr/>
          <p:nvPr/>
        </p:nvCxnSpPr>
        <p:spPr>
          <a:xfrm>
            <a:off x="594360" y="5582412"/>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17" name="TextBox 16"/>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18" name="TextBox 17"/>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HOUSEKEEPING</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Stale bytes, duplicate pairs and empty tables give a tidy-up list, not a large saving</a:t>
            </a:r>
          </a:p>
        </p:txBody>
      </p:sp>
      <p:sp>
        <p:nvSpPr>
          <p:cNvPr id="4" name="TextBox 3"/>
          <p:cNvSpPr txBox="1"/>
          <p:nvPr/>
        </p:nvSpPr>
        <p:spPr>
          <a:xfrm>
            <a:off x="594360" y="1920240"/>
            <a:ext cx="640080" cy="942975"/>
          </a:xfrm>
          <a:prstGeom prst="rect">
            <a:avLst/>
          </a:prstGeom>
          <a:noFill/>
        </p:spPr>
        <p:txBody>
          <a:bodyPr wrap="square" lIns="0" rIns="0" tIns="0" bIns="0" anchor="t">
            <a:spAutoFit/>
          </a:bodyPr>
          <a:lstStyle/>
          <a:p>
            <a:pPr algn="l"/>
            <a:r>
              <a:rPr sz="2600" b="0" i="0">
                <a:solidFill>
                  <a:srgbClr val="C8102E"/>
                </a:solidFill>
                <a:latin typeface="Courier New"/>
              </a:rPr>
              <a:t>01</a:t>
            </a:r>
          </a:p>
        </p:txBody>
      </p:sp>
      <p:sp>
        <p:nvSpPr>
          <p:cNvPr id="5" name="TextBox 4"/>
          <p:cNvSpPr txBox="1"/>
          <p:nvPr/>
        </p:nvSpPr>
        <p:spPr>
          <a:xfrm>
            <a:off x="1417320" y="1993392"/>
            <a:ext cx="10180015" cy="851535"/>
          </a:xfrm>
          <a:prstGeom prst="rect">
            <a:avLst/>
          </a:prstGeom>
          <a:noFill/>
        </p:spPr>
        <p:txBody>
          <a:bodyPr wrap="square" lIns="0" rIns="0" tIns="0" bIns="0" anchor="t">
            <a:spAutoFit/>
          </a:bodyPr>
          <a:lstStyle/>
          <a:p>
            <a:pPr algn="l"/>
            <a:r>
              <a:rPr sz="1400" b="0" i="0">
                <a:solidFill>
                  <a:srgbClr val="1F2A44"/>
                </a:solidFill>
                <a:latin typeface="Calibri"/>
              </a:rPr>
              <a:t>Personal-data markers were checked on 1.0m million sampled rows, so the 71.8% figure is a sample estimate.</a:t>
            </a:r>
          </a:p>
        </p:txBody>
      </p:sp>
      <p:cxnSp>
        <p:nvCxnSpPr>
          <p:cNvPr id="6" name="Connector 5"/>
          <p:cNvCxnSpPr/>
          <p:nvPr/>
        </p:nvCxnSpPr>
        <p:spPr>
          <a:xfrm>
            <a:off x="594360" y="275348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863215"/>
            <a:ext cx="640080" cy="942975"/>
          </a:xfrm>
          <a:prstGeom prst="rect">
            <a:avLst/>
          </a:prstGeom>
          <a:noFill/>
        </p:spPr>
        <p:txBody>
          <a:bodyPr wrap="square" lIns="0" rIns="0" tIns="0" bIns="0" anchor="t">
            <a:spAutoFit/>
          </a:bodyPr>
          <a:lstStyle/>
          <a:p>
            <a:pPr algn="l"/>
            <a:r>
              <a:rPr sz="2600" b="0" i="0">
                <a:solidFill>
                  <a:srgbClr val="C8102E"/>
                </a:solidFill>
                <a:latin typeface="Courier New"/>
              </a:rPr>
              <a:t>02</a:t>
            </a:r>
          </a:p>
        </p:txBody>
      </p:sp>
      <p:sp>
        <p:nvSpPr>
          <p:cNvPr id="8" name="TextBox 7"/>
          <p:cNvSpPr txBox="1"/>
          <p:nvPr/>
        </p:nvSpPr>
        <p:spPr>
          <a:xfrm>
            <a:off x="1417320" y="2936367"/>
            <a:ext cx="10180015" cy="851535"/>
          </a:xfrm>
          <a:prstGeom prst="rect">
            <a:avLst/>
          </a:prstGeom>
          <a:noFill/>
        </p:spPr>
        <p:txBody>
          <a:bodyPr wrap="square" lIns="0" rIns="0" tIns="0" bIns="0" anchor="t">
            <a:spAutoFit/>
          </a:bodyPr>
          <a:lstStyle/>
          <a:p>
            <a:pPr algn="l"/>
            <a:r>
              <a:rPr sz="1400" b="0" i="0">
                <a:solidFill>
                  <a:srgbClr val="1F2A44"/>
                </a:solidFill>
                <a:latin typeface="Calibri"/>
              </a:rPr>
              <a:t>Bytes not written for over a year are 15.4% of the total, which makes them candidates for cold storage.</a:t>
            </a:r>
          </a:p>
        </p:txBody>
      </p:sp>
      <p:cxnSp>
        <p:nvCxnSpPr>
          <p:cNvPr id="9" name="Connector 8"/>
          <p:cNvCxnSpPr/>
          <p:nvPr/>
        </p:nvCxnSpPr>
        <p:spPr>
          <a:xfrm>
            <a:off x="594360" y="3696461"/>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806189"/>
            <a:ext cx="640080" cy="942975"/>
          </a:xfrm>
          <a:prstGeom prst="rect">
            <a:avLst/>
          </a:prstGeom>
          <a:noFill/>
        </p:spPr>
        <p:txBody>
          <a:bodyPr wrap="square" lIns="0" rIns="0" tIns="0" bIns="0" anchor="t">
            <a:spAutoFit/>
          </a:bodyPr>
          <a:lstStyle/>
          <a:p>
            <a:pPr algn="l"/>
            <a:r>
              <a:rPr sz="2600" b="0" i="0">
                <a:solidFill>
                  <a:srgbClr val="C8102E"/>
                </a:solidFill>
                <a:latin typeface="Courier New"/>
              </a:rPr>
              <a:t>03</a:t>
            </a:r>
          </a:p>
        </p:txBody>
      </p:sp>
      <p:sp>
        <p:nvSpPr>
          <p:cNvPr id="11" name="TextBox 10"/>
          <p:cNvSpPr txBox="1"/>
          <p:nvPr/>
        </p:nvSpPr>
        <p:spPr>
          <a:xfrm>
            <a:off x="1417320" y="3879341"/>
            <a:ext cx="10180015" cy="851535"/>
          </a:xfrm>
          <a:prstGeom prst="rect">
            <a:avLst/>
          </a:prstGeom>
          <a:noFill/>
        </p:spPr>
        <p:txBody>
          <a:bodyPr wrap="square" lIns="0" rIns="0" tIns="0" bIns="0" anchor="t">
            <a:spAutoFit/>
          </a:bodyPr>
          <a:lstStyle/>
          <a:p>
            <a:pPr algn="l"/>
            <a:r>
              <a:rPr sz="1400" b="0" i="0">
                <a:solidFill>
                  <a:srgbClr val="1F2A44"/>
                </a:solidFill>
                <a:latin typeface="Calibri"/>
              </a:rPr>
              <a:t>There are 71 duplicate table pairs; some may be deliberate staging or backup copies, so confirm ownership before retiring any.</a:t>
            </a:r>
          </a:p>
        </p:txBody>
      </p:sp>
      <p:cxnSp>
        <p:nvCxnSpPr>
          <p:cNvPr id="12" name="Connector 11"/>
          <p:cNvCxnSpPr/>
          <p:nvPr/>
        </p:nvCxnSpPr>
        <p:spPr>
          <a:xfrm>
            <a:off x="594360" y="463943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4749165"/>
            <a:ext cx="640080" cy="942975"/>
          </a:xfrm>
          <a:prstGeom prst="rect">
            <a:avLst/>
          </a:prstGeom>
          <a:noFill/>
        </p:spPr>
        <p:txBody>
          <a:bodyPr wrap="square" lIns="0" rIns="0" tIns="0" bIns="0" anchor="t">
            <a:spAutoFit/>
          </a:bodyPr>
          <a:lstStyle/>
          <a:p>
            <a:pPr algn="l"/>
            <a:r>
              <a:rPr sz="2600" b="0" i="0">
                <a:solidFill>
                  <a:srgbClr val="C8102E"/>
                </a:solidFill>
                <a:latin typeface="Courier New"/>
              </a:rPr>
              <a:t>04</a:t>
            </a:r>
          </a:p>
        </p:txBody>
      </p:sp>
      <p:sp>
        <p:nvSpPr>
          <p:cNvPr id="14" name="TextBox 13"/>
          <p:cNvSpPr txBox="1"/>
          <p:nvPr/>
        </p:nvSpPr>
        <p:spPr>
          <a:xfrm>
            <a:off x="1417320" y="4822317"/>
            <a:ext cx="10180015" cy="851535"/>
          </a:xfrm>
          <a:prstGeom prst="rect">
            <a:avLst/>
          </a:prstGeom>
          <a:noFill/>
        </p:spPr>
        <p:txBody>
          <a:bodyPr wrap="square" lIns="0" rIns="0" tIns="0" bIns="0" anchor="t">
            <a:spAutoFit/>
          </a:bodyPr>
          <a:lstStyle/>
          <a:p>
            <a:pPr algn="l"/>
            <a:r>
              <a:rPr sz="1400" b="0" i="0">
                <a:solidFill>
                  <a:srgbClr val="1F2A44"/>
                </a:solidFill>
                <a:latin typeface="Calibri"/>
              </a:rPr>
              <a:t>There are 368 empty tables out of 1006; a freshly truncated live table looks the same, so check before dropping.</a:t>
            </a:r>
          </a:p>
        </p:txBody>
      </p:sp>
      <p:cxnSp>
        <p:nvCxnSpPr>
          <p:cNvPr id="15" name="Connector 14"/>
          <p:cNvCxnSpPr/>
          <p:nvPr/>
        </p:nvCxnSpPr>
        <p:spPr>
          <a:xfrm>
            <a:off x="594360" y="5582412"/>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17" name="TextBox 16"/>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18" name="TextBox 17"/>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PRICED STRATEGIES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The three priced strategies differ widely in saving and in how certain it is</a:t>
            </a:r>
          </a:p>
        </p:txBody>
      </p:sp>
      <p:graphicFrame>
        <p:nvGraphicFramePr>
          <p:cNvPr id="4" name="Table 3"/>
          <p:cNvGraphicFramePr>
            <a:graphicFrameLocks noGrp="1"/>
          </p:cNvGraphicFramePr>
          <p:nvPr/>
        </p:nvGraphicFramePr>
        <p:xfrm>
          <a:off x="594360" y="1920240"/>
          <a:ext cx="11002975" cy="1371600"/>
        </p:xfrm>
        <a:graphic>
          <a:graphicData uri="http://schemas.openxmlformats.org/drawingml/2006/table">
            <a:tbl>
              <a:tblPr firstRow="1" bandRow="1">
                <a:tableStyleId>{5C22544A-7EE6-4342-B048-85BDC9FD1C3A}</a:tableStyleId>
              </a:tblPr>
              <a:tblGrid>
                <a:gridCol w="3080833"/>
                <a:gridCol w="2640714"/>
                <a:gridCol w="2640714"/>
                <a:gridCol w="2640714"/>
              </a:tblGrid>
              <a:tr h="457200">
                <a:tc>
                  <a:txBody>
                    <a:bodyPr wrap="square"/>
                    <a:lstStyle/>
                    <a:p>
                      <a:pPr algn="l"/>
                      <a:r>
                        <a:rPr sz="1300" b="0">
                          <a:solidFill>
                            <a:srgbClr val="1F2A44"/>
                          </a:solidFill>
                          <a:latin typeface="Calibri"/>
                        </a:rPr>
                        <a:t/>
                      </a:r>
                    </a:p>
                  </a:txBody>
                  <a:tcPr marL="73152" marR="73152">
                    <a:solidFill>
                      <a:srgbClr val="E9ECF1"/>
                    </a:solidFill>
                  </a:tcPr>
                </a:tc>
                <a:tc>
                  <a:txBody>
                    <a:bodyPr wrap="square"/>
                    <a:lstStyle/>
                    <a:p>
                      <a:pPr algn="l"/>
                      <a:r>
                        <a:rPr sz="1300" b="1">
                          <a:solidFill>
                            <a:srgbClr val="1F2A44"/>
                          </a:solidFill>
                          <a:latin typeface="Calibri"/>
                        </a:rPr>
                        <a:t>Move buckets not written for over a year to archive-class st</a:t>
                      </a:r>
                    </a:p>
                  </a:txBody>
                  <a:tcPr marL="73152" marR="73152">
                    <a:solidFill>
                      <a:srgbClr val="E9ECF1"/>
                    </a:solidFill>
                  </a:tcPr>
                </a:tc>
                <a:tc>
                  <a:txBody>
                    <a:bodyPr wrap="square"/>
                    <a:lstStyle/>
                    <a:p>
                      <a:pPr algn="l"/>
                      <a:r>
                        <a:rPr sz="1300" b="1">
                          <a:solidFill>
                            <a:srgbClr val="1F2A44"/>
                          </a:solidFill>
                          <a:latin typeface="Calibri"/>
                        </a:rPr>
                        <a:t>Reconcile duplicate objects across OBS buckets</a:t>
                      </a:r>
                    </a:p>
                  </a:txBody>
                  <a:tcPr marL="73152" marR="73152">
                    <a:solidFill>
                      <a:srgbClr val="E9ECF1"/>
                    </a:solidFill>
                  </a:tcPr>
                </a:tc>
                <a:tc>
                  <a:txBody>
                    <a:bodyPr wrap="square"/>
                    <a:lstStyle/>
                    <a:p>
                      <a:pPr algn="l"/>
                      <a:r>
                        <a:rPr sz="1300" b="1">
                          <a:solidFill>
                            <a:srgbClr val="1F2A44"/>
                          </a:solidFill>
                          <a:latin typeface="Calibri"/>
                        </a:rPr>
                        <a:t>Move tables not written for over a year to cold storage</a:t>
                      </a:r>
                    </a:p>
                  </a:txBody>
                  <a:tcPr marL="73152" marR="73152">
                    <a:solidFill>
                      <a:srgbClr val="E9ECF1"/>
                    </a:solidFill>
                  </a:tcPr>
                </a:tc>
              </a:tr>
              <a:tr h="457200">
                <a:tc>
                  <a:txBody>
                    <a:bodyPr wrap="square"/>
                    <a:lstStyle/>
                    <a:p>
                      <a:pPr algn="l"/>
                      <a:r>
                        <a:rPr sz="1300" b="0">
                          <a:solidFill>
                            <a:srgbClr val="8A94A6"/>
                          </a:solidFill>
                          <a:latin typeface="Calibri"/>
                        </a:rPr>
                        <a:t>Reclaimable gib</a:t>
                      </a:r>
                    </a:p>
                  </a:txBody>
                  <a:tcPr marL="73152" marR="73152">
                    <a:solidFill>
                      <a:srgbClr val="FFFFFF"/>
                    </a:solidFill>
                  </a:tcPr>
                </a:tc>
                <a:tc>
                  <a:txBody>
                    <a:bodyPr wrap="square"/>
                    <a:lstStyle/>
                    <a:p>
                      <a:pPr algn="r"/>
                      <a:r>
                        <a:rPr sz="1300" b="0">
                          <a:solidFill>
                            <a:srgbClr val="1F2A44"/>
                          </a:solidFill>
                          <a:latin typeface="Courier New"/>
                        </a:rPr>
                        <a:t>42,891.0</a:t>
                      </a:r>
                    </a:p>
                  </a:txBody>
                  <a:tcPr marL="73152" marR="73152">
                    <a:solidFill>
                      <a:srgbClr val="FFFFFF"/>
                    </a:solidFill>
                  </a:tcPr>
                </a:tc>
                <a:tc>
                  <a:txBody>
                    <a:bodyPr wrap="square"/>
                    <a:lstStyle/>
                    <a:p>
                      <a:pPr algn="r"/>
                      <a:r>
                        <a:rPr sz="1300" b="0">
                          <a:solidFill>
                            <a:srgbClr val="1F2A44"/>
                          </a:solidFill>
                          <a:latin typeface="Courier New"/>
                        </a:rPr>
                        <a:t>7,839.5</a:t>
                      </a:r>
                    </a:p>
                  </a:txBody>
                  <a:tcPr marL="73152" marR="73152">
                    <a:solidFill>
                      <a:srgbClr val="FFFFFF"/>
                    </a:solidFill>
                  </a:tcPr>
                </a:tc>
                <a:tc>
                  <a:txBody>
                    <a:bodyPr wrap="square"/>
                    <a:lstStyle/>
                    <a:p>
                      <a:pPr algn="r"/>
                      <a:r>
                        <a:rPr sz="1300" b="0">
                          <a:solidFill>
                            <a:srgbClr val="1F2A44"/>
                          </a:solidFill>
                          <a:latin typeface="Courier New"/>
                        </a:rPr>
                        <a:t>54.1</a:t>
                      </a:r>
                    </a:p>
                  </a:txBody>
                  <a:tcPr marL="73152" marR="73152">
                    <a:solidFill>
                      <a:srgbClr val="FFFFFF"/>
                    </a:solidFill>
                  </a:tcPr>
                </a:tc>
              </a:tr>
              <a:tr h="457200">
                <a:tc>
                  <a:txBody>
                    <a:bodyPr wrap="square"/>
                    <a:lstStyle/>
                    <a:p>
                      <a:pPr algn="l"/>
                      <a:r>
                        <a:rPr sz="1300" b="0">
                          <a:solidFill>
                            <a:srgbClr val="8A94A6"/>
                          </a:solidFill>
                          <a:latin typeface="Calibri"/>
                        </a:rPr>
                        <a:t>Monthly saving usd</a:t>
                      </a:r>
                    </a:p>
                  </a:txBody>
                  <a:tcPr marL="73152" marR="73152">
                    <a:solidFill>
                      <a:srgbClr val="FFFFFF"/>
                    </a:solidFill>
                  </a:tcPr>
                </a:tc>
                <a:tc>
                  <a:txBody>
                    <a:bodyPr wrap="square"/>
                    <a:lstStyle/>
                    <a:p>
                      <a:pPr algn="r"/>
                      <a:r>
                        <a:rPr sz="1300" b="0">
                          <a:solidFill>
                            <a:srgbClr val="1F2A44"/>
                          </a:solidFill>
                          <a:latin typeface="Courier New"/>
                        </a:rPr>
                        <a:t>986.5</a:t>
                      </a:r>
                    </a:p>
                  </a:txBody>
                  <a:tcPr marL="73152" marR="73152">
                    <a:solidFill>
                      <a:srgbClr val="FFFFFF"/>
                    </a:solidFill>
                  </a:tcPr>
                </a:tc>
                <a:tc>
                  <a:txBody>
                    <a:bodyPr wrap="square"/>
                    <a:lstStyle/>
                    <a:p>
                      <a:pPr algn="r"/>
                      <a:r>
                        <a:rPr sz="1300" b="0">
                          <a:solidFill>
                            <a:srgbClr val="1F2A44"/>
                          </a:solidFill>
                          <a:latin typeface="Courier New"/>
                        </a:rPr>
                        <a:t>180.3</a:t>
                      </a:r>
                    </a:p>
                  </a:txBody>
                  <a:tcPr marL="73152" marR="73152">
                    <a:solidFill>
                      <a:srgbClr val="FFFFFF"/>
                    </a:solidFill>
                  </a:tcPr>
                </a:tc>
                <a:tc>
                  <a:txBody>
                    <a:bodyPr wrap="square"/>
                    <a:lstStyle/>
                    <a:p>
                      <a:pPr algn="r"/>
                      <a:r>
                        <a:rPr sz="1300" b="0">
                          <a:solidFill>
                            <a:srgbClr val="1F2A44"/>
                          </a:solidFill>
                          <a:latin typeface="Courier New"/>
                        </a:rPr>
                        <a:t>5.9</a:t>
                      </a:r>
                    </a:p>
                  </a:txBody>
                  <a:tcPr marL="73152" marR="7315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Archive-class storage saves 986.5 USD a month, duplicate objects 180.3 and cold tables 5.9, all at list prices and all estimates.</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R02: Estate intelligence census eij-1b359b3cbd2e, cost_strategies priced at reference list prices, not the owner's invoice: Huawei Cloud RDS for MySQL cloud SSD AF-Johannesburg 0.00015 USD/GB-hour x 730 h; OBS Standard 0.023 USD/GB-month</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RECOMMENDED ORDER</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Verify the two object-store moves first; defer database tidying and every release</a:t>
            </a:r>
          </a:p>
        </p:txBody>
      </p:sp>
      <p:sp>
        <p:nvSpPr>
          <p:cNvPr id="4" name="TextBox 3"/>
          <p:cNvSpPr txBox="1"/>
          <p:nvPr/>
        </p:nvSpPr>
        <p:spPr>
          <a:xfrm>
            <a:off x="594360" y="1920240"/>
            <a:ext cx="640080" cy="942975"/>
          </a:xfrm>
          <a:prstGeom prst="rect">
            <a:avLst/>
          </a:prstGeom>
          <a:noFill/>
        </p:spPr>
        <p:txBody>
          <a:bodyPr wrap="square" lIns="0" rIns="0" tIns="0" bIns="0" anchor="t">
            <a:spAutoFit/>
          </a:bodyPr>
          <a:lstStyle/>
          <a:p>
            <a:pPr algn="l"/>
            <a:r>
              <a:rPr sz="2600" b="0" i="0">
                <a:solidFill>
                  <a:srgbClr val="C8102E"/>
                </a:solidFill>
                <a:latin typeface="Courier New"/>
              </a:rPr>
              <a:t>01</a:t>
            </a:r>
          </a:p>
        </p:txBody>
      </p:sp>
      <p:sp>
        <p:nvSpPr>
          <p:cNvPr id="5" name="TextBox 4"/>
          <p:cNvSpPr txBox="1"/>
          <p:nvPr/>
        </p:nvSpPr>
        <p:spPr>
          <a:xfrm>
            <a:off x="1417320" y="1993392"/>
            <a:ext cx="10180015" cy="851535"/>
          </a:xfrm>
          <a:prstGeom prst="rect">
            <a:avLst/>
          </a:prstGeom>
          <a:noFill/>
        </p:spPr>
        <p:txBody>
          <a:bodyPr wrap="square" lIns="0" rIns="0" tIns="0" bIns="0" anchor="t">
            <a:spAutoFit/>
          </a:bodyPr>
          <a:lstStyle/>
          <a:p>
            <a:pPr algn="l"/>
            <a:r>
              <a:rPr sz="1400" b="0" i="0">
                <a:solidFill>
                  <a:srgbClr val="1F2A44"/>
                </a:solidFill>
                <a:latin typeface="Calibri"/>
              </a:rPr>
              <a:t>First, check read frequency before archiving old buckets; 986.5 USD a month, before retrieval fees.</a:t>
            </a:r>
          </a:p>
        </p:txBody>
      </p:sp>
      <p:cxnSp>
        <p:nvCxnSpPr>
          <p:cNvPr id="6" name="Connector 5"/>
          <p:cNvCxnSpPr/>
          <p:nvPr/>
        </p:nvCxnSpPr>
        <p:spPr>
          <a:xfrm>
            <a:off x="594360" y="275348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863215"/>
            <a:ext cx="640080" cy="942975"/>
          </a:xfrm>
          <a:prstGeom prst="rect">
            <a:avLst/>
          </a:prstGeom>
          <a:noFill/>
        </p:spPr>
        <p:txBody>
          <a:bodyPr wrap="square" lIns="0" rIns="0" tIns="0" bIns="0" anchor="t">
            <a:spAutoFit/>
          </a:bodyPr>
          <a:lstStyle/>
          <a:p>
            <a:pPr algn="l"/>
            <a:r>
              <a:rPr sz="2600" b="0" i="0">
                <a:solidFill>
                  <a:srgbClr val="C8102E"/>
                </a:solidFill>
                <a:latin typeface="Courier New"/>
              </a:rPr>
              <a:t>02</a:t>
            </a:r>
          </a:p>
        </p:txBody>
      </p:sp>
      <p:sp>
        <p:nvSpPr>
          <p:cNvPr id="8" name="TextBox 7"/>
          <p:cNvSpPr txBox="1"/>
          <p:nvPr/>
        </p:nvSpPr>
        <p:spPr>
          <a:xfrm>
            <a:off x="1417320" y="2936367"/>
            <a:ext cx="10180015" cy="851535"/>
          </a:xfrm>
          <a:prstGeom prst="rect">
            <a:avLst/>
          </a:prstGeom>
          <a:noFill/>
        </p:spPr>
        <p:txBody>
          <a:bodyPr wrap="square" lIns="0" rIns="0" tIns="0" bIns="0" anchor="t">
            <a:spAutoFit/>
          </a:bodyPr>
          <a:lstStyle/>
          <a:p>
            <a:pPr algn="l"/>
            <a:r>
              <a:rPr sz="1400" b="0" i="0">
                <a:solidFill>
                  <a:srgbClr val="1F2A44"/>
                </a:solidFill>
                <a:latin typeface="Calibri"/>
              </a:rPr>
              <a:t>Second, confirm duplicate objects by content hash before deleting; 180.3 USD a month is an estimate.</a:t>
            </a:r>
          </a:p>
        </p:txBody>
      </p:sp>
      <p:cxnSp>
        <p:nvCxnSpPr>
          <p:cNvPr id="9" name="Connector 8"/>
          <p:cNvCxnSpPr/>
          <p:nvPr/>
        </p:nvCxnSpPr>
        <p:spPr>
          <a:xfrm>
            <a:off x="594360" y="3696461"/>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806189"/>
            <a:ext cx="640080" cy="942975"/>
          </a:xfrm>
          <a:prstGeom prst="rect">
            <a:avLst/>
          </a:prstGeom>
          <a:noFill/>
        </p:spPr>
        <p:txBody>
          <a:bodyPr wrap="square" lIns="0" rIns="0" tIns="0" bIns="0" anchor="t">
            <a:spAutoFit/>
          </a:bodyPr>
          <a:lstStyle/>
          <a:p>
            <a:pPr algn="l"/>
            <a:r>
              <a:rPr sz="2600" b="0" i="0">
                <a:solidFill>
                  <a:srgbClr val="C8102E"/>
                </a:solidFill>
                <a:latin typeface="Courier New"/>
              </a:rPr>
              <a:t>03</a:t>
            </a:r>
          </a:p>
        </p:txBody>
      </p:sp>
      <p:sp>
        <p:nvSpPr>
          <p:cNvPr id="11" name="TextBox 10"/>
          <p:cNvSpPr txBox="1"/>
          <p:nvPr/>
        </p:nvSpPr>
        <p:spPr>
          <a:xfrm>
            <a:off x="1417320" y="3879341"/>
            <a:ext cx="10180015" cy="851535"/>
          </a:xfrm>
          <a:prstGeom prst="rect">
            <a:avLst/>
          </a:prstGeom>
          <a:noFill/>
        </p:spPr>
        <p:txBody>
          <a:bodyPr wrap="square" lIns="0" rIns="0" tIns="0" bIns="0" anchor="t">
            <a:spAutoFit/>
          </a:bodyPr>
          <a:lstStyle/>
          <a:p>
            <a:pPr algn="l"/>
            <a:r>
              <a:rPr sz="1400" b="0" i="0">
                <a:solidFill>
                  <a:srgbClr val="1F2A44"/>
                </a:solidFill>
                <a:latin typeface="Calibri"/>
              </a:rPr>
              <a:t>Third, defer database tidying: cold tables save 5.9 USD a month, all reclaim 15.2 GiB.</a:t>
            </a:r>
          </a:p>
        </p:txBody>
      </p:sp>
      <p:cxnSp>
        <p:nvCxnSpPr>
          <p:cNvPr id="12" name="Connector 11"/>
          <p:cNvCxnSpPr/>
          <p:nvPr/>
        </p:nvCxnSpPr>
        <p:spPr>
          <a:xfrm>
            <a:off x="594360" y="463943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4749165"/>
            <a:ext cx="640080" cy="942975"/>
          </a:xfrm>
          <a:prstGeom prst="rect">
            <a:avLst/>
          </a:prstGeom>
          <a:noFill/>
        </p:spPr>
        <p:txBody>
          <a:bodyPr wrap="square" lIns="0" rIns="0" tIns="0" bIns="0" anchor="t">
            <a:spAutoFit/>
          </a:bodyPr>
          <a:lstStyle/>
          <a:p>
            <a:pPr algn="l"/>
            <a:r>
              <a:rPr sz="2600" b="0" i="0">
                <a:solidFill>
                  <a:srgbClr val="C8102E"/>
                </a:solidFill>
                <a:latin typeface="Courier New"/>
              </a:rPr>
              <a:t>04</a:t>
            </a:r>
          </a:p>
        </p:txBody>
      </p:sp>
      <p:sp>
        <p:nvSpPr>
          <p:cNvPr id="14" name="TextBox 13"/>
          <p:cNvSpPr txBox="1"/>
          <p:nvPr/>
        </p:nvSpPr>
        <p:spPr>
          <a:xfrm>
            <a:off x="1417320" y="4822317"/>
            <a:ext cx="10180015" cy="851535"/>
          </a:xfrm>
          <a:prstGeom prst="rect">
            <a:avLst/>
          </a:prstGeom>
          <a:noFill/>
        </p:spPr>
        <p:txBody>
          <a:bodyPr wrap="square" lIns="0" rIns="0" tIns="0" bIns="0" anchor="t">
            <a:spAutoFit/>
          </a:bodyPr>
          <a:lstStyle/>
          <a:p>
            <a:pPr algn="l"/>
            <a:r>
              <a:rPr sz="1400" b="0" i="0">
                <a:solidFill>
                  <a:srgbClr val="1F2A44"/>
                </a:solidFill>
                <a:latin typeface="Calibri"/>
              </a:rPr>
              <a:t>Fourth, release nothing until rights are bound; markers sit in 71.8% of sampled rows.</a:t>
            </a:r>
          </a:p>
        </p:txBody>
      </p:sp>
      <p:cxnSp>
        <p:nvCxnSpPr>
          <p:cNvPr id="15" name="Connector 14"/>
          <p:cNvCxnSpPr/>
          <p:nvPr/>
        </p:nvCxnSpPr>
        <p:spPr>
          <a:xfrm>
            <a:off x="594360" y="5582412"/>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17" name="TextBox 16"/>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18" name="TextBox 17"/>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LIMITS OF THE EVIDENCE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Sampling, unmeasured rights and unread sources limit what can be claimed today</a:t>
            </a:r>
          </a:p>
        </p:txBody>
      </p:sp>
      <p:sp>
        <p:nvSpPr>
          <p:cNvPr id="4" name="TextBox 3"/>
          <p:cNvSpPr txBox="1"/>
          <p:nvPr/>
        </p:nvSpPr>
        <p:spPr>
          <a:xfrm>
            <a:off x="594360" y="1920240"/>
            <a:ext cx="640080" cy="942975"/>
          </a:xfrm>
          <a:prstGeom prst="rect">
            <a:avLst/>
          </a:prstGeom>
          <a:noFill/>
        </p:spPr>
        <p:txBody>
          <a:bodyPr wrap="square" lIns="0" rIns="0" tIns="0" bIns="0" anchor="t">
            <a:spAutoFit/>
          </a:bodyPr>
          <a:lstStyle/>
          <a:p>
            <a:pPr algn="l"/>
            <a:r>
              <a:rPr sz="2600" b="0" i="0">
                <a:solidFill>
                  <a:srgbClr val="C8102E"/>
                </a:solidFill>
                <a:latin typeface="Courier New"/>
              </a:rPr>
              <a:t>01</a:t>
            </a:r>
          </a:p>
        </p:txBody>
      </p:sp>
      <p:sp>
        <p:nvSpPr>
          <p:cNvPr id="5" name="TextBox 4"/>
          <p:cNvSpPr txBox="1"/>
          <p:nvPr/>
        </p:nvSpPr>
        <p:spPr>
          <a:xfrm>
            <a:off x="1417320" y="1993392"/>
            <a:ext cx="10180015" cy="851535"/>
          </a:xfrm>
          <a:prstGeom prst="rect">
            <a:avLst/>
          </a:prstGeom>
          <a:noFill/>
        </p:spPr>
        <p:txBody>
          <a:bodyPr wrap="square" lIns="0" rIns="0" tIns="0" bIns="0" anchor="t">
            <a:spAutoFit/>
          </a:bodyPr>
          <a:lstStyle/>
          <a:p>
            <a:pPr algn="l"/>
            <a:r>
              <a:rPr sz="1400" b="0" i="0">
                <a:solidFill>
                  <a:srgbClr val="1F2A44"/>
                </a:solidFill>
                <a:latin typeface="Calibri"/>
              </a:rPr>
              <a:t>Sampled ratios, such as 1.5% and 81.7%, are estimates until a complete-pass census runs.</a:t>
            </a:r>
          </a:p>
        </p:txBody>
      </p:sp>
      <p:cxnSp>
        <p:nvCxnSpPr>
          <p:cNvPr id="6" name="Connector 5"/>
          <p:cNvCxnSpPr/>
          <p:nvPr/>
        </p:nvCxnSpPr>
        <p:spPr>
          <a:xfrm>
            <a:off x="594360" y="275348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863215"/>
            <a:ext cx="640080" cy="942975"/>
          </a:xfrm>
          <a:prstGeom prst="rect">
            <a:avLst/>
          </a:prstGeom>
          <a:noFill/>
        </p:spPr>
        <p:txBody>
          <a:bodyPr wrap="square" lIns="0" rIns="0" tIns="0" bIns="0" anchor="t">
            <a:spAutoFit/>
          </a:bodyPr>
          <a:lstStyle/>
          <a:p>
            <a:pPr algn="l"/>
            <a:r>
              <a:rPr sz="2600" b="0" i="0">
                <a:solidFill>
                  <a:srgbClr val="C8102E"/>
                </a:solidFill>
                <a:latin typeface="Courier New"/>
              </a:rPr>
              <a:t>02</a:t>
            </a:r>
          </a:p>
        </p:txBody>
      </p:sp>
      <p:sp>
        <p:nvSpPr>
          <p:cNvPr id="8" name="TextBox 7"/>
          <p:cNvSpPr txBox="1"/>
          <p:nvPr/>
        </p:nvSpPr>
        <p:spPr>
          <a:xfrm>
            <a:off x="1417320" y="2936367"/>
            <a:ext cx="10180015" cy="851535"/>
          </a:xfrm>
          <a:prstGeom prst="rect">
            <a:avLst/>
          </a:prstGeom>
          <a:noFill/>
        </p:spPr>
        <p:txBody>
          <a:bodyPr wrap="square" lIns="0" rIns="0" tIns="0" bIns="0" anchor="t">
            <a:spAutoFit/>
          </a:bodyPr>
          <a:lstStyle/>
          <a:p>
            <a:pPr algn="l"/>
            <a:r>
              <a:rPr sz="1400" b="0" i="0">
                <a:solidFill>
                  <a:srgbClr val="1F2A44"/>
                </a:solidFill>
                <a:latin typeface="Calibri"/>
              </a:rPr>
              <a:t>Rights and licences are unmeasured; none of the 8 candidates is releasable until rights are bound.</a:t>
            </a:r>
          </a:p>
        </p:txBody>
      </p:sp>
      <p:cxnSp>
        <p:nvCxnSpPr>
          <p:cNvPr id="9" name="Connector 8"/>
          <p:cNvCxnSpPr/>
          <p:nvPr/>
        </p:nvCxnSpPr>
        <p:spPr>
          <a:xfrm>
            <a:off x="594360" y="3696461"/>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806189"/>
            <a:ext cx="640080" cy="942975"/>
          </a:xfrm>
          <a:prstGeom prst="rect">
            <a:avLst/>
          </a:prstGeom>
          <a:noFill/>
        </p:spPr>
        <p:txBody>
          <a:bodyPr wrap="square" lIns="0" rIns="0" tIns="0" bIns="0" anchor="t">
            <a:spAutoFit/>
          </a:bodyPr>
          <a:lstStyle/>
          <a:p>
            <a:pPr algn="l"/>
            <a:r>
              <a:rPr sz="2600" b="0" i="0">
                <a:solidFill>
                  <a:srgbClr val="C8102E"/>
                </a:solidFill>
                <a:latin typeface="Courier New"/>
              </a:rPr>
              <a:t>03</a:t>
            </a:r>
          </a:p>
        </p:txBody>
      </p:sp>
      <p:sp>
        <p:nvSpPr>
          <p:cNvPr id="11" name="TextBox 10"/>
          <p:cNvSpPr txBox="1"/>
          <p:nvPr/>
        </p:nvSpPr>
        <p:spPr>
          <a:xfrm>
            <a:off x="1417320" y="3879341"/>
            <a:ext cx="10180015" cy="851535"/>
          </a:xfrm>
          <a:prstGeom prst="rect">
            <a:avLst/>
          </a:prstGeom>
          <a:noFill/>
        </p:spPr>
        <p:txBody>
          <a:bodyPr wrap="square" lIns="0" rIns="0" tIns="0" bIns="0" anchor="t">
            <a:spAutoFit/>
          </a:bodyPr>
          <a:lstStyle/>
          <a:p>
            <a:pPr algn="l"/>
            <a:r>
              <a:rPr sz="1400" b="0" i="0">
                <a:solidFill>
                  <a:srgbClr val="1F2A44"/>
                </a:solidFill>
                <a:latin typeface="Calibri"/>
              </a:rPr>
              <a:t>The artists_app connection could not be read pending a MySQL grant, and 638 of 1006 tables were measured.</a:t>
            </a:r>
          </a:p>
        </p:txBody>
      </p:sp>
      <p:cxnSp>
        <p:nvCxnSpPr>
          <p:cNvPr id="12" name="Connector 11"/>
          <p:cNvCxnSpPr/>
          <p:nvPr/>
        </p:nvCxnSpPr>
        <p:spPr>
          <a:xfrm>
            <a:off x="594360" y="463943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4749165"/>
            <a:ext cx="640080" cy="942975"/>
          </a:xfrm>
          <a:prstGeom prst="rect">
            <a:avLst/>
          </a:prstGeom>
          <a:noFill/>
        </p:spPr>
        <p:txBody>
          <a:bodyPr wrap="square" lIns="0" rIns="0" tIns="0" bIns="0" anchor="t">
            <a:spAutoFit/>
          </a:bodyPr>
          <a:lstStyle/>
          <a:p>
            <a:pPr algn="l"/>
            <a:r>
              <a:rPr sz="2600" b="0" i="0">
                <a:solidFill>
                  <a:srgbClr val="C8102E"/>
                </a:solidFill>
                <a:latin typeface="Courier New"/>
              </a:rPr>
              <a:t>04</a:t>
            </a:r>
          </a:p>
        </p:txBody>
      </p:sp>
      <p:sp>
        <p:nvSpPr>
          <p:cNvPr id="14" name="TextBox 13"/>
          <p:cNvSpPr txBox="1"/>
          <p:nvPr/>
        </p:nvSpPr>
        <p:spPr>
          <a:xfrm>
            <a:off x="1417320" y="4822317"/>
            <a:ext cx="10180015" cy="851535"/>
          </a:xfrm>
          <a:prstGeom prst="rect">
            <a:avLst/>
          </a:prstGeom>
          <a:noFill/>
        </p:spPr>
        <p:txBody>
          <a:bodyPr wrap="square" lIns="0" rIns="0" tIns="0" bIns="0" anchor="t">
            <a:spAutoFit/>
          </a:bodyPr>
          <a:lstStyle/>
          <a:p>
            <a:pPr algn="l"/>
            <a:r>
              <a:rPr sz="1400" b="0" i="0">
                <a:solidFill>
                  <a:srgbClr val="1F2A44"/>
                </a:solidFill>
                <a:latin typeface="Calibri"/>
              </a:rPr>
              <a:t>Some buckets were unreachable and file-share duplication is unknown; prices are list, not invoice.</a:t>
            </a:r>
          </a:p>
        </p:txBody>
      </p:sp>
      <p:cxnSp>
        <p:nvCxnSpPr>
          <p:cNvPr id="15" name="Connector 14"/>
          <p:cNvCxnSpPr/>
          <p:nvPr/>
        </p:nvCxnSpPr>
        <p:spPr>
          <a:xfrm>
            <a:off x="594360" y="5582412"/>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17" name="TextBox 16"/>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18" name="TextBox 17"/>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COVERAGE AND LIMITS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What this pack covers, what it cannot say, and what would close each gap</a:t>
            </a:r>
          </a:p>
        </p:txBody>
      </p:sp>
      <p:sp>
        <p:nvSpPr>
          <p:cNvPr id="4" name="TextBox 3"/>
          <p:cNvSpPr txBox="1"/>
          <p:nvPr/>
        </p:nvSpPr>
        <p:spPr>
          <a:xfrm>
            <a:off x="594360" y="1920240"/>
            <a:ext cx="11002975" cy="822960"/>
          </a:xfrm>
          <a:prstGeom prst="rect">
            <a:avLst/>
          </a:prstGeom>
          <a:noFill/>
        </p:spPr>
        <p:txBody>
          <a:bodyPr wrap="square" lIns="0" rIns="0" tIns="0" bIns="0" anchor="t">
            <a:spAutoFit/>
          </a:bodyPr>
          <a:lstStyle/>
          <a:p>
            <a:pPr algn="l"/>
            <a:r>
              <a:rPr sz="1400" b="0" i="0">
                <a:solidFill>
                  <a:srgbClr val="1F2A44"/>
                </a:solidFill>
                <a:latin typeface="Calibri"/>
              </a:rPr>
              <a:t>COVERS</a:t>
            </a:r>
          </a:p>
          <a:p>
            <a:pPr algn="l"/>
            <a:r>
              <a:rPr sz="1400" b="0" i="0">
                <a:solidFill>
                  <a:srgbClr val="1F2A44"/>
                </a:solidFill>
                <a:latin typeface="Calibri"/>
              </a:rPr>
              <a:t>20 databases, 1,006 tables and 351.3 GiB measured by census eij-1b359b3cbd2e; ratios are complete-pass where the table allowed it and stratified samples elsewhere. No row value is present in this pack.</a:t>
            </a:r>
          </a:p>
        </p:txBody>
      </p:sp>
      <p:sp>
        <p:nvSpPr>
          <p:cNvPr id="5" name="TextBox 4"/>
          <p:cNvSpPr txBox="1"/>
          <p:nvPr/>
        </p:nvSpPr>
        <p:spPr>
          <a:xfrm>
            <a:off x="594360" y="2834640"/>
            <a:ext cx="3545738" cy="274320"/>
          </a:xfrm>
          <a:prstGeom prst="rect">
            <a:avLst/>
          </a:prstGeom>
          <a:noFill/>
        </p:spPr>
        <p:txBody>
          <a:bodyPr wrap="square" lIns="0" rIns="0" tIns="0" bIns="0" anchor="t">
            <a:spAutoFit/>
          </a:bodyPr>
          <a:lstStyle/>
          <a:p>
            <a:pPr algn="l"/>
            <a:r>
              <a:rPr sz="1100" b="1" i="0">
                <a:solidFill>
                  <a:srgbClr val="8A94A6"/>
                </a:solidFill>
                <a:latin typeface="Calibri"/>
              </a:rPr>
              <a:t>CANNOT SAY</a:t>
            </a:r>
          </a:p>
        </p:txBody>
      </p:sp>
      <p:sp>
        <p:nvSpPr>
          <p:cNvPr id="6" name="TextBox 5"/>
          <p:cNvSpPr txBox="1"/>
          <p:nvPr/>
        </p:nvSpPr>
        <p:spPr>
          <a:xfrm>
            <a:off x="4322978" y="2834640"/>
            <a:ext cx="3545738" cy="274320"/>
          </a:xfrm>
          <a:prstGeom prst="rect">
            <a:avLst/>
          </a:prstGeom>
          <a:noFill/>
        </p:spPr>
        <p:txBody>
          <a:bodyPr wrap="square" lIns="0" rIns="0" tIns="0" bIns="0" anchor="t">
            <a:spAutoFit/>
          </a:bodyPr>
          <a:lstStyle/>
          <a:p>
            <a:pPr algn="l"/>
            <a:r>
              <a:rPr sz="1100" b="1" i="0">
                <a:solidFill>
                  <a:srgbClr val="8A94A6"/>
                </a:solidFill>
                <a:latin typeface="Calibri"/>
              </a:rPr>
              <a:t>WHY</a:t>
            </a:r>
          </a:p>
        </p:txBody>
      </p:sp>
      <p:sp>
        <p:nvSpPr>
          <p:cNvPr id="7" name="TextBox 6"/>
          <p:cNvSpPr txBox="1"/>
          <p:nvPr/>
        </p:nvSpPr>
        <p:spPr>
          <a:xfrm>
            <a:off x="8051596" y="2834640"/>
            <a:ext cx="3545738" cy="274320"/>
          </a:xfrm>
          <a:prstGeom prst="rect">
            <a:avLst/>
          </a:prstGeom>
          <a:noFill/>
        </p:spPr>
        <p:txBody>
          <a:bodyPr wrap="square" lIns="0" rIns="0" tIns="0" bIns="0" anchor="t">
            <a:spAutoFit/>
          </a:bodyPr>
          <a:lstStyle/>
          <a:p>
            <a:pPr algn="l"/>
            <a:r>
              <a:rPr sz="1100" b="1" i="0">
                <a:solidFill>
                  <a:srgbClr val="8A94A6"/>
                </a:solidFill>
                <a:latin typeface="Calibri"/>
              </a:rPr>
              <a:t>WHAT WOULD CLOSE IT</a:t>
            </a:r>
          </a:p>
        </p:txBody>
      </p:sp>
      <p:cxnSp>
        <p:nvCxnSpPr>
          <p:cNvPr id="8" name="Connector 7"/>
          <p:cNvCxnSpPr/>
          <p:nvPr/>
        </p:nvCxnSpPr>
        <p:spPr>
          <a:xfrm>
            <a:off x="594360" y="3127248"/>
            <a:ext cx="11002975" cy="0"/>
          </a:xfrm>
          <a:prstGeom prst="line">
            <a:avLst/>
          </a:prstGeom>
          <a:ln w="9525">
            <a:solidFill>
              <a:srgbClr val="1F2A44"/>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594360" y="3246120"/>
            <a:ext cx="11002975" cy="786384"/>
          </a:xfrm>
          <a:prstGeom prst="rect">
            <a:avLst/>
          </a:prstGeom>
          <a:pattFill>
            <a:fgClr>
              <a:srgbClr val="E9ECF1"/>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3319272"/>
            <a:ext cx="3399434" cy="658368"/>
          </a:xfrm>
          <a:prstGeom prst="rect">
            <a:avLst/>
          </a:prstGeom>
          <a:noFill/>
        </p:spPr>
        <p:txBody>
          <a:bodyPr wrap="square" lIns="0" rIns="0" tIns="0" bIns="0" anchor="t">
            <a:spAutoFit/>
          </a:bodyPr>
          <a:lstStyle/>
          <a:p>
            <a:pPr algn="l"/>
            <a:r>
              <a:rPr sz="1300" b="0" i="0">
                <a:solidFill>
                  <a:srgbClr val="1F2A44"/>
                </a:solidFill>
                <a:latin typeface="Calibri"/>
              </a:rPr>
              <a:t>Duplicate, damage, empty-field and PII ratios on sampled tables</a:t>
            </a:r>
          </a:p>
        </p:txBody>
      </p:sp>
      <p:sp>
        <p:nvSpPr>
          <p:cNvPr id="11" name="TextBox 10"/>
          <p:cNvSpPr txBox="1"/>
          <p:nvPr/>
        </p:nvSpPr>
        <p:spPr>
          <a:xfrm>
            <a:off x="4396130" y="3319272"/>
            <a:ext cx="3399434" cy="658368"/>
          </a:xfrm>
          <a:prstGeom prst="rect">
            <a:avLst/>
          </a:prstGeom>
          <a:noFill/>
        </p:spPr>
        <p:txBody>
          <a:bodyPr wrap="square" lIns="0" rIns="0" tIns="0" bIns="0" anchor="t">
            <a:spAutoFit/>
          </a:bodyPr>
          <a:lstStyle/>
          <a:p>
            <a:pPr algn="l"/>
            <a:r>
              <a:rPr sz="1300" b="0" i="0">
                <a:solidFill>
                  <a:srgbClr val="1F2A44"/>
                </a:solidFill>
                <a:latin typeface="Calibri"/>
              </a:rPr>
              <a:t>complete passes where the table allowed it, stratified samples elsewhere</a:t>
            </a:r>
          </a:p>
        </p:txBody>
      </p:sp>
      <p:sp>
        <p:nvSpPr>
          <p:cNvPr id="12" name="TextBox 11"/>
          <p:cNvSpPr txBox="1"/>
          <p:nvPr/>
        </p:nvSpPr>
        <p:spPr>
          <a:xfrm>
            <a:off x="8124748" y="3319272"/>
            <a:ext cx="3399434" cy="658368"/>
          </a:xfrm>
          <a:prstGeom prst="rect">
            <a:avLst/>
          </a:prstGeom>
          <a:noFill/>
        </p:spPr>
        <p:txBody>
          <a:bodyPr wrap="square" lIns="0" rIns="0" tIns="0" bIns="0" anchor="t">
            <a:spAutoFit/>
          </a:bodyPr>
          <a:lstStyle/>
          <a:p>
            <a:pPr algn="l"/>
            <a:r>
              <a:rPr sz="1300" b="0" i="0">
                <a:solidFill>
                  <a:srgbClr val="1F2A44"/>
                </a:solidFill>
                <a:latin typeface="Calibri"/>
              </a:rPr>
              <a:t>a complete-pass census on the sampled tables</a:t>
            </a:r>
          </a:p>
        </p:txBody>
      </p:sp>
      <p:sp>
        <p:nvSpPr>
          <p:cNvPr id="13" name="Rectangle 12"/>
          <p:cNvSpPr/>
          <p:nvPr/>
        </p:nvSpPr>
        <p:spPr>
          <a:xfrm>
            <a:off x="594360" y="4123944"/>
            <a:ext cx="11002975" cy="786384"/>
          </a:xfrm>
          <a:prstGeom prst="rect">
            <a:avLst/>
          </a:prstGeom>
          <a:pattFill>
            <a:fgClr>
              <a:srgbClr val="E9ECF1"/>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7512" y="4197096"/>
            <a:ext cx="3399434" cy="658368"/>
          </a:xfrm>
          <a:prstGeom prst="rect">
            <a:avLst/>
          </a:prstGeom>
          <a:noFill/>
        </p:spPr>
        <p:txBody>
          <a:bodyPr wrap="square" lIns="0" rIns="0" tIns="0" bIns="0" anchor="t">
            <a:spAutoFit/>
          </a:bodyPr>
          <a:lstStyle/>
          <a:p>
            <a:pPr algn="l"/>
            <a:r>
              <a:rPr sz="1300" b="0" i="0">
                <a:solidFill>
                  <a:srgbClr val="1F2A44"/>
                </a:solidFill>
                <a:latin typeface="Calibri"/>
              </a:rPr>
              <a:t>Rights, licences and semantic similarity</a:t>
            </a:r>
          </a:p>
        </p:txBody>
      </p:sp>
      <p:sp>
        <p:nvSpPr>
          <p:cNvPr id="15" name="TextBox 14"/>
          <p:cNvSpPr txBox="1"/>
          <p:nvPr/>
        </p:nvSpPr>
        <p:spPr>
          <a:xfrm>
            <a:off x="4396130" y="4197096"/>
            <a:ext cx="3399434" cy="658368"/>
          </a:xfrm>
          <a:prstGeom prst="rect">
            <a:avLst/>
          </a:prstGeom>
          <a:noFill/>
        </p:spPr>
        <p:txBody>
          <a:bodyPr wrap="square" lIns="0" rIns="0" tIns="0" bIns="0" anchor="t">
            <a:spAutoFit/>
          </a:bodyPr>
          <a:lstStyle/>
          <a:p>
            <a:pPr algn="l"/>
            <a:r>
              <a:rPr sz="1300" b="0" i="0">
                <a:solidFill>
                  <a:srgbClr val="1F2A44"/>
                </a:solidFill>
                <a:latin typeface="Calibri"/>
              </a:rPr>
              <a:t>not measured; candidates are dimensional readiness only</a:t>
            </a:r>
          </a:p>
        </p:txBody>
      </p:sp>
      <p:sp>
        <p:nvSpPr>
          <p:cNvPr id="16" name="TextBox 15"/>
          <p:cNvSpPr txBox="1"/>
          <p:nvPr/>
        </p:nvSpPr>
        <p:spPr>
          <a:xfrm>
            <a:off x="8124748" y="4197096"/>
            <a:ext cx="3399434" cy="658368"/>
          </a:xfrm>
          <a:prstGeom prst="rect">
            <a:avLst/>
          </a:prstGeom>
          <a:noFill/>
        </p:spPr>
        <p:txBody>
          <a:bodyPr wrap="square" lIns="0" rIns="0" tIns="0" bIns="0" anchor="t">
            <a:spAutoFit/>
          </a:bodyPr>
          <a:lstStyle/>
          <a:p>
            <a:pPr algn="l"/>
            <a:r>
              <a:rPr sz="1300" b="0" i="0">
                <a:solidFill>
                  <a:srgbClr val="1F2A44"/>
                </a:solidFill>
                <a:latin typeface="Calibri"/>
              </a:rPr>
              <a:t>rights declared at Connect and bound to each candidate</a:t>
            </a:r>
          </a:p>
        </p:txBody>
      </p:sp>
      <p:sp>
        <p:nvSpPr>
          <p:cNvPr id="17" name="Rectangle 16"/>
          <p:cNvSpPr/>
          <p:nvPr/>
        </p:nvSpPr>
        <p:spPr>
          <a:xfrm>
            <a:off x="594360" y="5001768"/>
            <a:ext cx="11002975" cy="786384"/>
          </a:xfrm>
          <a:prstGeom prst="rect">
            <a:avLst/>
          </a:prstGeom>
          <a:pattFill>
            <a:fgClr>
              <a:srgbClr val="E9ECF1"/>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7512" y="5074920"/>
            <a:ext cx="3399434" cy="658368"/>
          </a:xfrm>
          <a:prstGeom prst="rect">
            <a:avLst/>
          </a:prstGeom>
          <a:noFill/>
        </p:spPr>
        <p:txBody>
          <a:bodyPr wrap="square" lIns="0" rIns="0" tIns="0" bIns="0" anchor="t">
            <a:spAutoFit/>
          </a:bodyPr>
          <a:lstStyle/>
          <a:p>
            <a:pPr algn="l"/>
            <a:r>
              <a:rPr sz="1300" b="0" i="0">
                <a:solidFill>
                  <a:srgbClr val="1F2A44"/>
                </a:solidFill>
                <a:latin typeface="Calibri"/>
              </a:rPr>
              <a:t>Connection artists_app</a:t>
            </a:r>
          </a:p>
        </p:txBody>
      </p:sp>
      <p:sp>
        <p:nvSpPr>
          <p:cNvPr id="19" name="TextBox 18"/>
          <p:cNvSpPr txBox="1"/>
          <p:nvPr/>
        </p:nvSpPr>
        <p:spPr>
          <a:xfrm>
            <a:off x="4396130" y="5074920"/>
            <a:ext cx="3399434" cy="658368"/>
          </a:xfrm>
          <a:prstGeom prst="rect">
            <a:avLst/>
          </a:prstGeom>
          <a:noFill/>
        </p:spPr>
        <p:txBody>
          <a:bodyPr wrap="square" lIns="0" rIns="0" tIns="0" bIns="0" anchor="t">
            <a:spAutoFit/>
          </a:bodyPr>
          <a:lstStyle/>
          <a:p>
            <a:pPr algn="l"/>
            <a:r>
              <a:rPr sz="1300" b="0" i="0">
                <a:solidFill>
                  <a:srgbClr val="1F2A44"/>
                </a:solidFill>
                <a:latin typeface="Calibri"/>
              </a:rPr>
              <a:t>could not be read (MySQL GRANT pending)</a:t>
            </a:r>
          </a:p>
        </p:txBody>
      </p:sp>
      <p:sp>
        <p:nvSpPr>
          <p:cNvPr id="20" name="TextBox 19"/>
          <p:cNvSpPr txBox="1"/>
          <p:nvPr/>
        </p:nvSpPr>
        <p:spPr>
          <a:xfrm>
            <a:off x="8124748" y="5074920"/>
            <a:ext cx="3399434" cy="658368"/>
          </a:xfrm>
          <a:prstGeom prst="rect">
            <a:avLst/>
          </a:prstGeom>
          <a:noFill/>
        </p:spPr>
        <p:txBody>
          <a:bodyPr wrap="square" lIns="0" rIns="0" tIns="0" bIns="0" anchor="t">
            <a:spAutoFit/>
          </a:bodyPr>
          <a:lstStyle/>
          <a:p>
            <a:pPr algn="l"/>
            <a:r>
              <a:rPr sz="1300" b="0" i="0">
                <a:solidFill>
                  <a:srgbClr val="1F2A44"/>
                </a:solidFill>
                <a:latin typeface="Calibri"/>
              </a:rPr>
              <a:t>owner grants read access; re-census</a:t>
            </a:r>
          </a:p>
        </p:txBody>
      </p:sp>
      <p:sp>
        <p:nvSpPr>
          <p:cNvPr id="21" name="Rectangle 20"/>
          <p:cNvSpPr/>
          <p:nvPr/>
        </p:nvSpPr>
        <p:spPr>
          <a:xfrm>
            <a:off x="594360" y="5879592"/>
            <a:ext cx="11002975" cy="786384"/>
          </a:xfrm>
          <a:prstGeom prst="rect">
            <a:avLst/>
          </a:prstGeom>
          <a:pattFill>
            <a:fgClr>
              <a:srgbClr val="E9ECF1"/>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7512" y="5952744"/>
            <a:ext cx="3399434" cy="658368"/>
          </a:xfrm>
          <a:prstGeom prst="rect">
            <a:avLst/>
          </a:prstGeom>
          <a:noFill/>
        </p:spPr>
        <p:txBody>
          <a:bodyPr wrap="square" lIns="0" rIns="0" tIns="0" bIns="0" anchor="t">
            <a:spAutoFit/>
          </a:bodyPr>
          <a:lstStyle/>
          <a:p>
            <a:pPr algn="l"/>
            <a:r>
              <a:rPr sz="1300" b="0" i="0">
                <a:solidFill>
                  <a:srgbClr val="1F2A44"/>
                </a:solidFill>
                <a:latin typeface="Calibri"/>
              </a:rPr>
              <a:t>NAS duplication</a:t>
            </a:r>
          </a:p>
        </p:txBody>
      </p:sp>
      <p:sp>
        <p:nvSpPr>
          <p:cNvPr id="23" name="TextBox 22"/>
          <p:cNvSpPr txBox="1"/>
          <p:nvPr/>
        </p:nvSpPr>
        <p:spPr>
          <a:xfrm>
            <a:off x="4396130" y="5952744"/>
            <a:ext cx="3399434" cy="658368"/>
          </a:xfrm>
          <a:prstGeom prst="rect">
            <a:avLst/>
          </a:prstGeom>
          <a:noFill/>
        </p:spPr>
        <p:txBody>
          <a:bodyPr wrap="square" lIns="0" rIns="0" tIns="0" bIns="0" anchor="t">
            <a:spAutoFit/>
          </a:bodyPr>
          <a:lstStyle/>
          <a:p>
            <a:pPr algn="l"/>
            <a:r>
              <a:rPr sz="1300" b="0" i="0">
                <a:solidFill>
                  <a:srgbClr val="1F2A44"/>
                </a:solidFill>
                <a:latin typeface="Calibri"/>
              </a:rPr>
              <a:t>the enumeration recorded sizes and dates, not content fingerprints</a:t>
            </a:r>
          </a:p>
        </p:txBody>
      </p:sp>
      <p:sp>
        <p:nvSpPr>
          <p:cNvPr id="24" name="TextBox 23"/>
          <p:cNvSpPr txBox="1"/>
          <p:nvPr/>
        </p:nvSpPr>
        <p:spPr>
          <a:xfrm>
            <a:off x="8124748" y="5952744"/>
            <a:ext cx="3399434" cy="658368"/>
          </a:xfrm>
          <a:prstGeom prst="rect">
            <a:avLst/>
          </a:prstGeom>
          <a:noFill/>
        </p:spPr>
        <p:txBody>
          <a:bodyPr wrap="square" lIns="0" rIns="0" tIns="0" bIns="0" anchor="t">
            <a:spAutoFit/>
          </a:bodyPr>
          <a:lstStyle/>
          <a:p>
            <a:pPr algn="l"/>
            <a:r>
              <a:rPr sz="1300" b="0" i="0">
                <a:solidFill>
                  <a:srgbClr val="1F2A44"/>
                </a:solidFill>
                <a:latin typeface="Calibri"/>
              </a:rPr>
              <a:t>a fingerprinting pass over the NAS shares</a:t>
            </a:r>
          </a:p>
        </p:txBody>
      </p:sp>
      <p:sp>
        <p:nvSpPr>
          <p:cNvPr id="25" name="Rectangle 24"/>
          <p:cNvSpPr/>
          <p:nvPr/>
        </p:nvSpPr>
        <p:spPr>
          <a:xfrm>
            <a:off x="594360" y="6757416"/>
            <a:ext cx="11002975" cy="786384"/>
          </a:xfrm>
          <a:prstGeom prst="rect">
            <a:avLst/>
          </a:prstGeom>
          <a:pattFill>
            <a:fgClr>
              <a:srgbClr val="E9ECF1"/>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7512" y="6830568"/>
            <a:ext cx="3399434" cy="658368"/>
          </a:xfrm>
          <a:prstGeom prst="rect">
            <a:avLst/>
          </a:prstGeom>
          <a:noFill/>
        </p:spPr>
        <p:txBody>
          <a:bodyPr wrap="square" lIns="0" rIns="0" tIns="0" bIns="0" anchor="t">
            <a:spAutoFit/>
          </a:bodyPr>
          <a:lstStyle/>
          <a:p>
            <a:pPr algn="l"/>
            <a:r>
              <a:rPr sz="1300" b="0" i="0">
                <a:solidFill>
                  <a:srgbClr val="1F2A44"/>
                </a:solidFill>
                <a:latin typeface="Calibri"/>
              </a:rPr>
              <a:t>40 of 106 OBS buckets</a:t>
            </a:r>
          </a:p>
        </p:txBody>
      </p:sp>
      <p:sp>
        <p:nvSpPr>
          <p:cNvPr id="27" name="TextBox 26"/>
          <p:cNvSpPr txBox="1"/>
          <p:nvPr/>
        </p:nvSpPr>
        <p:spPr>
          <a:xfrm>
            <a:off x="4396130" y="6830568"/>
            <a:ext cx="3399434" cy="658368"/>
          </a:xfrm>
          <a:prstGeom prst="rect">
            <a:avLst/>
          </a:prstGeom>
          <a:noFill/>
        </p:spPr>
        <p:txBody>
          <a:bodyPr wrap="square" lIns="0" rIns="0" tIns="0" bIns="0" anchor="t">
            <a:spAutoFit/>
          </a:bodyPr>
          <a:lstStyle/>
          <a:p>
            <a:pPr algn="l"/>
            <a:r>
              <a:rPr sz="1300" b="0" i="0">
                <a:solidFill>
                  <a:srgbClr val="1F2A44"/>
                </a:solidFill>
                <a:latin typeface="Calibri"/>
              </a:rPr>
              <a:t>unreachable (NoSuchBucket / client errors)</a:t>
            </a:r>
          </a:p>
        </p:txBody>
      </p:sp>
      <p:sp>
        <p:nvSpPr>
          <p:cNvPr id="28" name="TextBox 27"/>
          <p:cNvSpPr txBox="1"/>
          <p:nvPr/>
        </p:nvSpPr>
        <p:spPr>
          <a:xfrm>
            <a:off x="8124748" y="6830568"/>
            <a:ext cx="3399434" cy="658368"/>
          </a:xfrm>
          <a:prstGeom prst="rect">
            <a:avLst/>
          </a:prstGeom>
          <a:noFill/>
        </p:spPr>
        <p:txBody>
          <a:bodyPr wrap="square" lIns="0" rIns="0" tIns="0" bIns="0" anchor="t">
            <a:spAutoFit/>
          </a:bodyPr>
          <a:lstStyle/>
          <a:p>
            <a:pPr algn="l"/>
            <a:r>
              <a:rPr sz="1300" b="0" i="0">
                <a:solidFill>
                  <a:srgbClr val="1F2A44"/>
                </a:solidFill>
                <a:latin typeface="Calibri"/>
              </a:rPr>
              <a:t>bucket inventory reconciled with the provider</a:t>
            </a:r>
          </a:p>
        </p:txBody>
      </p:sp>
      <p:sp>
        <p:nvSpPr>
          <p:cNvPr id="29" name="TextBox 28"/>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30" name="TextBox 29"/>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31" name="TextBox 30"/>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APPENDIX</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Exhibit index with receipts</a:t>
            </a:r>
          </a:p>
        </p:txBody>
      </p:sp>
      <p:sp>
        <p:nvSpPr>
          <p:cNvPr id="4" name="TextBox 3"/>
          <p:cNvSpPr txBox="1"/>
          <p:nvPr/>
        </p:nvSpPr>
        <p:spPr>
          <a:xfrm>
            <a:off x="594360" y="1920240"/>
            <a:ext cx="822960" cy="365760"/>
          </a:xfrm>
          <a:prstGeom prst="rect">
            <a:avLst/>
          </a:prstGeom>
          <a:noFill/>
        </p:spPr>
        <p:txBody>
          <a:bodyPr wrap="square" lIns="0" rIns="0" tIns="0" bIns="0" anchor="t">
            <a:spAutoFit/>
          </a:bodyPr>
          <a:lstStyle/>
          <a:p>
            <a:pPr algn="l"/>
            <a:r>
              <a:rPr sz="1400" b="1" i="0">
                <a:solidFill>
                  <a:srgbClr val="C8102E"/>
                </a:solidFill>
                <a:latin typeface="Courier New"/>
              </a:rPr>
              <a:t>R01</a:t>
            </a:r>
          </a:p>
        </p:txBody>
      </p:sp>
      <p:sp>
        <p:nvSpPr>
          <p:cNvPr id="5" name="TextBox 4"/>
          <p:cNvSpPr txBox="1"/>
          <p:nvPr/>
        </p:nvSpPr>
        <p:spPr>
          <a:xfrm>
            <a:off x="1508760" y="1920240"/>
            <a:ext cx="10088575" cy="365760"/>
          </a:xfrm>
          <a:prstGeom prst="rect">
            <a:avLst/>
          </a:prstGeom>
          <a:noFill/>
        </p:spPr>
        <p:txBody>
          <a:bodyPr wrap="square" lIns="0" rIns="0" tIns="0" bIns="0" anchor="t">
            <a:spAutoFit/>
          </a:bodyPr>
          <a:lstStyle/>
          <a:p>
            <a:pPr algn="l"/>
            <a:r>
              <a:rPr sz="1300" b="0" i="0">
                <a:solidFill>
                  <a:srgbClr val="1F2A44"/>
                </a:solidFill>
                <a:latin typeface="Calibri"/>
              </a:rPr>
              <a:t>Estate intelligence census eij-1b359b3cbd2e, digest-verified report (measured 2026-09-29), headline aggregates and per-database measures</a:t>
            </a:r>
          </a:p>
        </p:txBody>
      </p:sp>
      <p:cxnSp>
        <p:nvCxnSpPr>
          <p:cNvPr id="6" name="Connector 5"/>
          <p:cNvCxnSpPr/>
          <p:nvPr/>
        </p:nvCxnSpPr>
        <p:spPr>
          <a:xfrm>
            <a:off x="594360" y="230428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423160"/>
            <a:ext cx="822960" cy="365760"/>
          </a:xfrm>
          <a:prstGeom prst="rect">
            <a:avLst/>
          </a:prstGeom>
          <a:noFill/>
        </p:spPr>
        <p:txBody>
          <a:bodyPr wrap="square" lIns="0" rIns="0" tIns="0" bIns="0" anchor="t">
            <a:spAutoFit/>
          </a:bodyPr>
          <a:lstStyle/>
          <a:p>
            <a:pPr algn="l"/>
            <a:r>
              <a:rPr sz="1400" b="1" i="0">
                <a:solidFill>
                  <a:srgbClr val="C8102E"/>
                </a:solidFill>
                <a:latin typeface="Courier New"/>
              </a:rPr>
              <a:t>R02</a:t>
            </a:r>
          </a:p>
        </p:txBody>
      </p:sp>
      <p:sp>
        <p:nvSpPr>
          <p:cNvPr id="8" name="TextBox 7"/>
          <p:cNvSpPr txBox="1"/>
          <p:nvPr/>
        </p:nvSpPr>
        <p:spPr>
          <a:xfrm>
            <a:off x="1508760" y="2423160"/>
            <a:ext cx="10088575" cy="365760"/>
          </a:xfrm>
          <a:prstGeom prst="rect">
            <a:avLst/>
          </a:prstGeom>
          <a:noFill/>
        </p:spPr>
        <p:txBody>
          <a:bodyPr wrap="square" lIns="0" rIns="0" tIns="0" bIns="0" anchor="t">
            <a:spAutoFit/>
          </a:bodyPr>
          <a:lstStyle/>
          <a:p>
            <a:pPr algn="l"/>
            <a:r>
              <a:rPr sz="1300" b="0" i="0">
                <a:solidFill>
                  <a:srgbClr val="1F2A44"/>
                </a:solidFill>
                <a:latin typeface="Calibri"/>
              </a:rPr>
              <a:t>Estate intelligence census eij-1b359b3cbd2e, cost_strategies priced at reference list prices, not the owner's invoice: Huawei Cloud RDS for MySQL cloud SSD AF-Johannesburg 0.00015 USD/GB-hour x 730 h; OBS Standard 0.023 USD/GB-month</a:t>
            </a:r>
          </a:p>
        </p:txBody>
      </p:sp>
      <p:cxnSp>
        <p:nvCxnSpPr>
          <p:cNvPr id="9" name="Connector 8"/>
          <p:cNvCxnSpPr/>
          <p:nvPr/>
        </p:nvCxnSpPr>
        <p:spPr>
          <a:xfrm>
            <a:off x="594360" y="280720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2926080"/>
            <a:ext cx="822960" cy="365760"/>
          </a:xfrm>
          <a:prstGeom prst="rect">
            <a:avLst/>
          </a:prstGeom>
          <a:noFill/>
        </p:spPr>
        <p:txBody>
          <a:bodyPr wrap="square" lIns="0" rIns="0" tIns="0" bIns="0" anchor="t">
            <a:spAutoFit/>
          </a:bodyPr>
          <a:lstStyle/>
          <a:p>
            <a:pPr algn="l"/>
            <a:r>
              <a:rPr sz="1400" b="1" i="0">
                <a:solidFill>
                  <a:srgbClr val="C8102E"/>
                </a:solidFill>
                <a:latin typeface="Courier New"/>
              </a:rPr>
              <a:t>R03</a:t>
            </a:r>
          </a:p>
        </p:txBody>
      </p:sp>
      <p:sp>
        <p:nvSpPr>
          <p:cNvPr id="11" name="TextBox 10"/>
          <p:cNvSpPr txBox="1"/>
          <p:nvPr/>
        </p:nvSpPr>
        <p:spPr>
          <a:xfrm>
            <a:off x="1508760" y="2926080"/>
            <a:ext cx="10088575" cy="365760"/>
          </a:xfrm>
          <a:prstGeom prst="rect">
            <a:avLst/>
          </a:prstGeom>
          <a:noFill/>
        </p:spPr>
        <p:txBody>
          <a:bodyPr wrap="square" lIns="0" rIns="0" tIns="0" bIns="0" anchor="t">
            <a:spAutoFit/>
          </a:bodyPr>
          <a:lstStyle/>
          <a:p>
            <a:pPr algn="l"/>
            <a:r>
              <a:rPr sz="1300" b="0" i="0">
                <a:solidFill>
                  <a:srgbClr val="1F2A44"/>
                </a:solidFill>
                <a:latin typeface="Calibri"/>
              </a:rPr>
              <a:t>Estate intelligence census eij-1b359b3cbd2e, data_products readiness scoring (dimensions, grades, blockers)</a:t>
            </a:r>
          </a:p>
        </p:txBody>
      </p:sp>
      <p:cxnSp>
        <p:nvCxnSpPr>
          <p:cNvPr id="12" name="Connector 11"/>
          <p:cNvCxnSpPr/>
          <p:nvPr/>
        </p:nvCxnSpPr>
        <p:spPr>
          <a:xfrm>
            <a:off x="594360" y="331012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3429000"/>
            <a:ext cx="822960" cy="365760"/>
          </a:xfrm>
          <a:prstGeom prst="rect">
            <a:avLst/>
          </a:prstGeom>
          <a:noFill/>
        </p:spPr>
        <p:txBody>
          <a:bodyPr wrap="square" lIns="0" rIns="0" tIns="0" bIns="0" anchor="t">
            <a:spAutoFit/>
          </a:bodyPr>
          <a:lstStyle/>
          <a:p>
            <a:pPr algn="l"/>
            <a:r>
              <a:rPr sz="1400" b="1" i="0">
                <a:solidFill>
                  <a:srgbClr val="C8102E"/>
                </a:solidFill>
                <a:latin typeface="Courier New"/>
              </a:rPr>
              <a:t>R04</a:t>
            </a:r>
          </a:p>
        </p:txBody>
      </p:sp>
      <p:sp>
        <p:nvSpPr>
          <p:cNvPr id="14" name="TextBox 13"/>
          <p:cNvSpPr txBox="1"/>
          <p:nvPr/>
        </p:nvSpPr>
        <p:spPr>
          <a:xfrm>
            <a:off x="1508760" y="3429000"/>
            <a:ext cx="10088575" cy="365760"/>
          </a:xfrm>
          <a:prstGeom prst="rect">
            <a:avLst/>
          </a:prstGeom>
          <a:noFill/>
        </p:spPr>
        <p:txBody>
          <a:bodyPr wrap="square" lIns="0" rIns="0" tIns="0" bIns="0" anchor="t">
            <a:spAutoFit/>
          </a:bodyPr>
          <a:lstStyle/>
          <a:p>
            <a:pPr algn="l"/>
            <a:r>
              <a:rPr sz="1300" b="0" i="0">
                <a:solidFill>
                  <a:srgbClr val="1F2A44"/>
                </a:solidFill>
                <a:latin typeface="Calibri"/>
              </a:rPr>
              <a:t>OBS bucket enumeration census run cr-f1415e395361 (22,975,591 objects, 130.3 TiB)</a:t>
            </a:r>
          </a:p>
        </p:txBody>
      </p:sp>
      <p:cxnSp>
        <p:nvCxnSpPr>
          <p:cNvPr id="15" name="Connector 14"/>
          <p:cNvCxnSpPr/>
          <p:nvPr/>
        </p:nvCxnSpPr>
        <p:spPr>
          <a:xfrm>
            <a:off x="594360" y="381304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3931920"/>
            <a:ext cx="822960" cy="365760"/>
          </a:xfrm>
          <a:prstGeom prst="rect">
            <a:avLst/>
          </a:prstGeom>
          <a:noFill/>
        </p:spPr>
        <p:txBody>
          <a:bodyPr wrap="square" lIns="0" rIns="0" tIns="0" bIns="0" anchor="t">
            <a:spAutoFit/>
          </a:bodyPr>
          <a:lstStyle/>
          <a:p>
            <a:pPr algn="l"/>
            <a:r>
              <a:rPr sz="1400" b="1" i="0">
                <a:solidFill>
                  <a:srgbClr val="C8102E"/>
                </a:solidFill>
                <a:latin typeface="Courier New"/>
              </a:rPr>
              <a:t>R05</a:t>
            </a:r>
          </a:p>
        </p:txBody>
      </p:sp>
      <p:sp>
        <p:nvSpPr>
          <p:cNvPr id="17" name="TextBox 16"/>
          <p:cNvSpPr txBox="1"/>
          <p:nvPr/>
        </p:nvSpPr>
        <p:spPr>
          <a:xfrm>
            <a:off x="1508760" y="3931920"/>
            <a:ext cx="10088575" cy="365760"/>
          </a:xfrm>
          <a:prstGeom prst="rect">
            <a:avLst/>
          </a:prstGeom>
          <a:noFill/>
        </p:spPr>
        <p:txBody>
          <a:bodyPr wrap="square" lIns="0" rIns="0" tIns="0" bIns="0" anchor="t">
            <a:spAutoFit/>
          </a:bodyPr>
          <a:lstStyle/>
          <a:p>
            <a:pPr algn="l"/>
            <a:r>
              <a:rPr sz="1300" b="0" i="0">
                <a:solidFill>
                  <a:srgbClr val="1F2A44"/>
                </a:solidFill>
                <a:latin typeface="Calibri"/>
              </a:rPr>
              <a:t>NAS share enumeration census run cr-cf4eef79995b (1,456,787 files, 43.6 TiB)</a:t>
            </a:r>
          </a:p>
        </p:txBody>
      </p:sp>
      <p:cxnSp>
        <p:nvCxnSpPr>
          <p:cNvPr id="18" name="Connector 17"/>
          <p:cNvCxnSpPr/>
          <p:nvPr/>
        </p:nvCxnSpPr>
        <p:spPr>
          <a:xfrm>
            <a:off x="594360" y="431596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20" name="TextBox 19"/>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21" name="TextBox 20"/>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Estate cost and data-product decision pack</dc:title>
  <dc:subject/>
  <dc:creator>doc-studio</dc:creator>
  <cp:keywords/>
  <dc:description>generated using python-pptx</dc:description>
  <cp:lastModifiedBy>doc-studio</cp:lastModifiedBy>
  <cp:revision>1</cp:revision>
  <dcterms:created xsi:type="dcterms:W3CDTF">2026-10-02T05:53:40Z</dcterms:created>
  <dcterms:modified xsi:type="dcterms:W3CDTF">2026-10-02T05:53:40Z</dcterms:modified>
  <cp:category/>
</cp:coreProperties>
</file>