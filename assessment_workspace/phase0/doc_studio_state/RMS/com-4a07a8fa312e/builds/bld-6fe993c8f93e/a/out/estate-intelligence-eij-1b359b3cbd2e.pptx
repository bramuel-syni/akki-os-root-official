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GiB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viusasa_staging (D)</c:v>
                </c:pt>
                <c:pt idx="1">
                  <c:v>razuna (D)</c:v>
                </c:pt>
                <c:pt idx="2">
                  <c:v>db_visitors (D)</c:v>
                </c:pt>
                <c:pt idx="3">
                  <c:v>kra_reports (D)</c:v>
                </c:pt>
                <c:pt idx="4">
                  <c:v>viupay_agent_staging (A)</c:v>
                </c:pt>
                <c:pt idx="5">
                  <c:v>news_vault (C)</c:v>
                </c:pt>
                <c:pt idx="6">
                  <c:v>local (D)</c:v>
                </c:pt>
                <c:pt idx="7">
                  <c:v>viutickets (B)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338.5</c:v>
                </c:pt>
                <c:pt idx="1">
                  <c:v>4.5</c:v>
                </c:pt>
                <c:pt idx="2">
                  <c:v>2.7</c:v>
                </c:pt>
                <c:pt idx="3">
                  <c:v>1.5</c:v>
                </c:pt>
                <c:pt idx="4">
                  <c:v>1.2</c:v>
                </c:pt>
                <c:pt idx="5">
                  <c:v>0.9</c:v>
                </c:pt>
                <c:pt idx="6">
                  <c:v>0.5</c:v>
                </c:pt>
                <c:pt idx="7">
                  <c:v>0.4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Sheet1!$A$2:$A$6</c:f>
              <c:strCache>
                <c:ptCount val="5"/>
                <c:pt idx="0">
                  <c:v>Exact duplicates</c:v>
                </c:pt>
                <c:pt idx="1">
                  <c:v>Degraded</c:v>
                </c:pt>
                <c:pt idx="2">
                  <c:v>Empty required fields</c:v>
                </c:pt>
                <c:pt idx="3">
                  <c:v>PII markers (sampled)</c:v>
                </c:pt>
                <c:pt idx="4">
                  <c:v>Stale bytes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0.015</c:v>
                </c:pt>
                <c:pt idx="1">
                  <c:v>0.23</c:v>
                </c:pt>
                <c:pt idx="2">
                  <c:v>0.817</c:v>
                </c:pt>
                <c:pt idx="3">
                  <c:v>0.718</c:v>
                </c:pt>
                <c:pt idx="4">
                  <c:v>0.154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GiB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Sheet1!$A$2:$A$8</c:f>
              <c:strCache>
                <c:ptCount val="7"/>
                <c:pt idx="0">
                  <c:v>Move buckets not written for over a year</c:v>
                </c:pt>
                <c:pt idx="1">
                  <c:v>Reconcile duplicate objects across OBS b</c:v>
                </c:pt>
                <c:pt idx="2">
                  <c:v>Move tables not written for over a year </c:v>
                </c:pt>
                <c:pt idx="3">
                  <c:v>Remove redundant (prefix-covered) indexe</c:v>
                </c:pt>
                <c:pt idx="4">
                  <c:v>De-duplicate exact repeated rows inside </c:v>
                </c:pt>
                <c:pt idx="5">
                  <c:v>Consolidate duplicate and staging copies</c:v>
                </c:pt>
                <c:pt idx="6">
                  <c:v>Drop or archive empty tables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42891.0</c:v>
                </c:pt>
                <c:pt idx="1">
                  <c:v>7839.5</c:v>
                </c:pt>
                <c:pt idx="2">
                  <c:v>54.1</c:v>
                </c:pt>
                <c:pt idx="3">
                  <c:v>14.0</c:v>
                </c:pt>
                <c:pt idx="4">
                  <c:v>1.2</c:v>
                </c:pt>
                <c:pt idx="5">
                  <c:v>0.1</c:v>
                </c:pt>
                <c:pt idx="6">
                  <c:v>0.0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2A44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AE3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A94A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F2A44"/>
                </a:solidFill>
                <a:latin typeface="Cambria"/>
              </a:rPr>
              <a:t>Savings lie in object stores, not databases; products wait on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4A6"/>
                </a:solidFill>
                <a:latin typeface="Calibri"/>
              </a:rPr>
              <a:t>Cost-reduction and data-product choices from the RMS estate census, tenant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RMS  ·  Tenant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DECISION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Pursue two object-store strategies now; hold data products until rights are granted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census read 20 holding 1006. Of these, 638 were measured (63.4% of tables), and the estate holds 351.3 of data and index.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Databases are the smaller prize: only 15.2 (4.3%) looks reclaimable there, while all cost strategies together address 50,799.8 GiB. Quality is weak, with 23.0% of rows degraded, 81.7% with empty required-looking fields and 1.5% exact duplicates.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Which cost strategies and data-product candidates should be taken forward, and which deferred?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Take forward the archive-class move and the duplicate-object reconciliation, both as proposals to verify first. They carry most of the priced saving of 1,174.4 USD a month at list prices. Defer the small database strategies and all 8 until rights are granted and personal data is removed.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Where the bytes sit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STORAGE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One staging database holds almost all the data and index bytes in the estate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Database cost effort should concentrate on viusasa_staging, because the largest databases hold 99.7% of the estate's bytes.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[measured]  Receipt R01: Estate intelligence census eij-1b359b3cbd2e, digest-verified report (measured 2026-09-29), headline aggregates and per-database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Condition of the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DATA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Empty fields, degradation and personal-data markers are far more common than duplication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Quality and personal-data exposure, not duplication, constrain any product; exact duplicates are only 1.5% of 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[estimated]  Receipt R01: Estate intelligence census eij-1b359b3cbd2e, digest-verified report (measured 2026-09-29), headline aggregates and per-database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2A44"/>
                </a:solidFill>
                <a:latin typeface="Cambria"/>
              </a:rPr>
              <a:t>Where the savings 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RECLAIMABLE BYTES BY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Two object-store strategies account for almost all reclaimable bytes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 three largest strategies address 100.0% of the 50,799.8 GiB reached by all strategies; database-only measures are small beside the object stores.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[estimated]  Receipt R02: Estate intelligence census eij-1b359b3cbd2e, cost_strategies priced at reference list prices, not the owner's invoice: Huawei Cloud RDS for MySQL cloud SSD AF-Johannesburg 0.00015 USD/GB-hour x 730 h; OBS Standard 0.023 USD/GB-month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ESTATE AND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census covers the whole estate but measured only part of the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estate comprises 20 and 1006. Only 638 were measured, which is 63.4% of tables; remaining ratios rest on stratified samples.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Data and index held total 351.3. The largest databases account for 350.3 GiB, a share of 99.7%.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Before pricing, 15.2 looks reclaimable inside databases, which is 4.3% of database bytes.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368 are empty by row estimate, though a freshly truncated live table looks the same.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DATA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Quality and personal-data exposure, not duplication, limit what the data can be used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Exact duplicate rows are 1.5% of rows, so de-duplication inside tables offers little.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Degraded rows are 23.0% of rows, a material defect for any analytical or licensed product.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Rows with empty required-looking fields are 81.7%. This is a heuristic, so treat it as a signal, not a verdict.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Personal-data markers appear in 71.8% of sampled rows. The detector is sampled, so absence of a marker is not absence of personal data.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STALENESS AND DUPLICATION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Staleness and duplicate tables offer savings at the margin that cannot yet be settled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Personal-data markers were sampled from 1.0m rows, so the marker rate rests on a sample, not a full pass.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Bytes not written for over a year are 15.4% of the total, a measured and sizeable share of potentially archivable data.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estate holds 259.3m rows, an estimate, so row-based product sizing is indicative only.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71 of duplicate table pairs exist, but copies may be deliberate staging or backups; confirm ownership before retirement.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PRICED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The three priced strategies differ widely in bytes, monthly saving and confidence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920240"/>
          <a:ext cx="1100297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833"/>
                <a:gridCol w="2640714"/>
                <a:gridCol w="2640714"/>
                <a:gridCol w="264071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Move buckets not written for over a year to archive-class st</a:t>
                      </a:r>
                    </a:p>
                  </a:txBody>
                  <a:tcPr marL="73152" marR="73152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Reconcile duplicate objects across OBS buckets</a:t>
                      </a:r>
                    </a:p>
                  </a:txBody>
                  <a:tcPr marL="73152" marR="73152">
                    <a:solidFill>
                      <a:srgbClr val="E9EC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44"/>
                          </a:solidFill>
                          <a:latin typeface="Calibri"/>
                        </a:rPr>
                        <a:t>Move tables not written for over a year to cold storage</a:t>
                      </a:r>
                    </a:p>
                  </a:txBody>
                  <a:tcPr marL="73152" marR="73152">
                    <a:solidFill>
                      <a:srgbClr val="E9EC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A94A6"/>
                          </a:solidFill>
                          <a:latin typeface="Calibri"/>
                        </a:rPr>
                        <a:t>Reclaimable gib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ourier New"/>
                        </a:rPr>
                        <a:t>42,891.0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ourier New"/>
                        </a:rPr>
                        <a:t>7,839.5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ourier New"/>
                        </a:rPr>
                        <a:t>54.1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A94A6"/>
                          </a:solidFill>
                          <a:latin typeface="Calibri"/>
                        </a:rPr>
                        <a:t>Monthly saving usd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ourier New"/>
                        </a:rPr>
                        <a:t>986.5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ourier New"/>
                        </a:rPr>
                        <a:t>180.3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A44"/>
                          </a:solidFill>
                          <a:latin typeface="Courier New"/>
                        </a:rPr>
                        <a:t>5.9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93776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C8102E"/>
                </a:solidFill>
                <a:latin typeface="Calibri"/>
              </a:rPr>
              <a:t>The archive-class move offers 986.5 USD a month, duplicate reconciliation 180.3 USD and database cold storage 5.9 USD, all at list prices, not invoices.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ourier New"/>
              </a:rPr>
              <a:t>[estimated]  Receipt R02: Estate intelligence census eij-1b359b3cbd2e, cost_strategies priced at reference list prices, not the owner's invoice: Huawei Cloud RDS for MySQL cloud SSD AF-Johannesburg 0.00015 USD/GB-hour x 730 h; OBS Standard 0.023 USD/GB-month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RECOMMENDED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Verify the two object-store moves first, defer small database measures, hold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Confirm read frequency and retrieval fees for the archive move: 42,891.0 GiB, worth 986.5 USD monthly.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Confirm duplicate objects by content before deleting; 7,839.5 GiB is a size-based estimate worth 180.3 USD monthly.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Defer database cold storage; 5.9 USD monthly does not justify early effort.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Hold all 8 at specification stage until rights are bound and personal data is removed.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LIMITS OF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Sampling, rights and unreachable sources limit what can be claimed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Only 638 of 1006 were measured, so sampled ratios are estimates; a complete-pass census would close this.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Rights and licences were not measured; rights declared and bound to each candidate would close this.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The artists_app connection is unread and some buckets are unreachable; a read grant and reconciled bucket inventory would close this.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C810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File-share duplication is unknown without content fingerprints, and savings on 351.3 held are list-price estimates.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20 databases, 1,006 tables and 351.3 GiB measured by census eij-1b359b3cbd2e; ratios are complete-pass where the table allowed it and stratified samples elsewhere. No row value is present in this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Duplicate, damage, empty-field and PII ratios on sampled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complete passes where the table allowed it, stratified samples elsewhere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a complete-pass census on the sampled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Rights, licences and semantic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not measured; candidates are dimensional readiness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rights declared at Connect and bound to each candidate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Connection artists_app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could not be read (MySQL GRANT pending)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owner grants read access; re-census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9592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NAS duplication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6130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the enumeration recorded sizes and dates, not content fingerprints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a fingerprinting pass over the NAS shares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757416"/>
            <a:ext cx="11002975" cy="786384"/>
          </a:xfrm>
          <a:prstGeom prst="rect">
            <a:avLst/>
          </a:prstGeom>
          <a:pattFill>
            <a:fgClr>
              <a:srgbClr val="E9ECF1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6830568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40 of 106 OBS buckets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6130" y="6830568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unreachable (NoSuchBucket / client errors)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4748" y="6830568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bucket inventory reconciled with the provider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2A44"/>
                </a:solidFill>
                <a:latin typeface="Cambria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 intelligence census eij-1b359b3cbd2e, digest-verified report (measured 2026-09-29), headline aggregates and per-database measures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30428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 intelligence census eij-1b359b3cbd2e, cost_strategies priced at reference list prices, not the owner's invoice: Huawei Cloud RDS for MySQL cloud SSD AF-Johannesburg 0.00015 USD/GB-hour x 730 h; OBS Standard 0.023 USD/GB-month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80720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Estate intelligence census eij-1b359b3cbd2e, data_products readiness scoring (dimensions, grades, blockers)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31012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429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290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OBS bucket enumeration census run cr-f1415e395361 (22,975,591 objects, 130.3 TiB)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381304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9319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NAS share enumeration census run cr-cf4eef79995b (1,456,787 files, 43.6 TiB)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15968"/>
            <a:ext cx="11002975" cy="0"/>
          </a:xfrm>
          <a:prstGeom prst="line">
            <a:avLst/>
          </a:prstGeom>
          <a:ln w="9525">
            <a:solidFill>
              <a:srgbClr val="D5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8A94A6"/>
                </a:solidFill>
                <a:latin typeface="Calibri"/>
              </a:rPr>
              <a:t>EI-eij-1b359b3cbd2e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8A94A6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8A94A6"/>
                </a:solidFill>
                <a:latin typeface="Courier New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Savings lie in object stores, not databases; products wait on rights</dc:title>
  <dc:subject/>
  <dc:creator>doc-studio</dc:creator>
  <cp:keywords/>
  <dc:description>generated using python-pptx</dc:description>
  <cp:lastModifiedBy>doc-studio</cp:lastModifiedBy>
  <cp:revision>1</cp:revision>
  <dcterms:created xsi:type="dcterms:W3CDTF">2026-10-02T05:53:40Z</dcterms:created>
  <dcterms:modified xsi:type="dcterms:W3CDTF">2026-10-02T05:53:40Z</dcterms:modified>
  <cp:category/>
</cp:coreProperties>
</file>