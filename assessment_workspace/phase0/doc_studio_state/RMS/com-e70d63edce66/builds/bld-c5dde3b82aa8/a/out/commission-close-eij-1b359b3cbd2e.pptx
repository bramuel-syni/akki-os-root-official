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Tables</c:v>
                </c:pt>
              </c:strCache>
            </c:strRef>
          </c:tx>
          <c:spPr>
            <a:solidFill>
              <a:srgbClr val="0E7C86"/>
            </a:solidFill>
          </c:spPr>
          <c:cat>
            <c:strRef>
              <c:f>Sheet1!$A$2:$A$6</c:f>
              <c:strCache>
                <c:ptCount val="5"/>
                <c:pt idx="0">
                  <c:v>Complete pass</c:v>
                </c:pt>
                <c:pt idx="1">
                  <c:v>Stratified sample</c:v>
                </c:pt>
                <c:pt idx="2">
                  <c:v>Head sample</c:v>
                </c:pt>
                <c:pt idx="3">
                  <c:v>Failed</c:v>
                </c:pt>
                <c:pt idx="4">
                  <c:v>Not reached</c:v>
                </c:pt>
              </c:strCache>
            </c:strRef>
          </c:cat>
          <c:val>
            <c:numRef>
              <c:f>Sheet1!$B$2:$B$6</c:f>
              <c:numCache>
                <c:formatCode>General</c:formatCode>
                <c:ptCount val="5"/>
                <c:pt idx="0">
                  <c:v>513</c:v>
                </c:pt>
                <c:pt idx="1">
                  <c:v>83</c:v>
                </c:pt>
                <c:pt idx="2">
                  <c:v>41</c:v>
                </c:pt>
                <c:pt idx="3">
                  <c:v>44</c:v>
                </c:pt>
                <c:pt idx="4">
                  <c:v>324</c:v>
                </c:pt>
              </c:numCache>
            </c:numRef>
          </c:val>
        </c:ser>
        <c:dLbls>
          <c:numFmt formatCode="#,##0.0" sourceLinked="0"/>
          <c:txPr>
            <a:bodyPr/>
            <a:lstStyle/>
            <a:p>
              <a:pPr>
                <a:defRPr sz="1100">
                  <a:solidFill>
                    <a:srgbClr val="22313F"/>
                  </a:solidFill>
                  <a:latin typeface="Courier New"/>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8DEE5"/>
            </a:solidFill>
          </a:ln>
        </c:spPr>
        <c:crossAx val="-2113994440"/>
        <c:crosses val="autoZero"/>
        <c:auto val="1"/>
        <c:lblAlgn val="ctr"/>
        <c:lblOffset val="100"/>
        <c:noMultiLvlLbl val="0"/>
      </c:catAx>
      <c:valAx>
        <c:axId val="-2113994440"/>
        <c:scaling/>
        <c:delete val="0"/>
        <c:axPos val="l"/>
        <c:majorGridlines>
          <c:spPr>
            <a:ln>
              <a:solidFill>
                <a:srgbClr val="D8DEE5"/>
              </a:solidFill>
            </a:ln>
          </c:spPr>
        </c:majorGridlines>
        <c:numFmt formatCode="#,##0.0" sourceLinked="0"/>
        <c:majorTickMark val="out"/>
        <c:minorTickMark val="none"/>
        <c:tickLblPos val="nextTo"/>
        <c:spPr>
          <a:ln>
            <a:noFill/>
          </a:ln>
        </c:spPr>
        <c:txPr>
          <a:bodyPr/>
          <a:lstStyle/>
          <a:p>
            <a:pPr>
              <a:defRPr>
                <a:latin typeface="Courier New"/>
              </a:defRPr>
            </a:pPr>
          </a:p>
        </c:txPr>
        <c:crossAx val="-2068027336"/>
        <c:crosses val="autoZero"/>
      </c:valAx>
    </c:plotArea>
    <c:dispBlanksAs val="gap"/>
  </c:chart>
  <c:txPr>
    <a:bodyPr/>
    <a:lstStyle/>
    <a:p>
      <a:pPr>
        <a:defRPr sz="1100">
          <a:solidFill>
            <a:srgbClr val="7F8C9A"/>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Tables</c:v>
                </c:pt>
              </c:strCache>
            </c:strRef>
          </c:tx>
          <c:spPr>
            <a:solidFill>
              <a:srgbClr val="0E7C86"/>
            </a:solidFill>
          </c:spPr>
          <c:cat>
            <c:strRef>
              <c:f>Sheet1!$A$2:$A$7</c:f>
              <c:strCache>
                <c:ptCount val="6"/>
                <c:pt idx="0">
                  <c:v>iebc_forms (complete)</c:v>
                </c:pt>
                <c:pt idx="1">
                  <c:v>artists_app (blocked)</c:v>
                </c:pt>
                <c:pt idx="2">
                  <c:v>viupay (complete)</c:v>
                </c:pt>
                <c:pt idx="3">
                  <c:v>citizen_digital (partial)</c:v>
                </c:pt>
                <c:pt idx="4">
                  <c:v>citizen-pulse (partial)</c:v>
                </c:pt>
                <c:pt idx="5">
                  <c:v>Razuna (Library Content) &amp; N (complete)</c:v>
                </c:pt>
              </c:strCache>
            </c:strRef>
          </c:cat>
          <c:val>
            <c:numRef>
              <c:f>Sheet1!$B$2:$B$7</c:f>
              <c:numCache>
                <c:formatCode>General</c:formatCode>
                <c:ptCount val="6"/>
                <c:pt idx="0">
                  <c:v>630</c:v>
                </c:pt>
                <c:pt idx="1">
                  <c:v>0</c:v>
                </c:pt>
                <c:pt idx="2">
                  <c:v>123</c:v>
                </c:pt>
                <c:pt idx="3">
                  <c:v>64</c:v>
                </c:pt>
                <c:pt idx="4">
                  <c:v>77</c:v>
                </c:pt>
                <c:pt idx="5">
                  <c:v>112</c:v>
                </c:pt>
              </c:numCache>
            </c:numRef>
          </c:val>
        </c:ser>
        <c:dLbls>
          <c:numFmt formatCode="#,##0.0" sourceLinked="0"/>
          <c:txPr>
            <a:bodyPr/>
            <a:lstStyle/>
            <a:p>
              <a:pPr>
                <a:defRPr sz="1100">
                  <a:solidFill>
                    <a:srgbClr val="22313F"/>
                  </a:solidFill>
                  <a:latin typeface="Courier New"/>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8DEE5"/>
            </a:solidFill>
          </a:ln>
        </c:spPr>
        <c:crossAx val="-2113994440"/>
        <c:crosses val="autoZero"/>
        <c:auto val="1"/>
        <c:lblAlgn val="ctr"/>
        <c:lblOffset val="100"/>
        <c:noMultiLvlLbl val="0"/>
      </c:catAx>
      <c:valAx>
        <c:axId val="-2113994440"/>
        <c:scaling/>
        <c:delete val="0"/>
        <c:axPos val="l"/>
        <c:majorGridlines>
          <c:spPr>
            <a:ln>
              <a:solidFill>
                <a:srgbClr val="D8DEE5"/>
              </a:solidFill>
            </a:ln>
          </c:spPr>
        </c:majorGridlines>
        <c:numFmt formatCode="#,##0.0" sourceLinked="0"/>
        <c:majorTickMark val="out"/>
        <c:minorTickMark val="none"/>
        <c:tickLblPos val="nextTo"/>
        <c:spPr>
          <a:ln>
            <a:noFill/>
          </a:ln>
        </c:spPr>
        <c:txPr>
          <a:bodyPr/>
          <a:lstStyle/>
          <a:p>
            <a:pPr>
              <a:defRPr>
                <a:latin typeface="Courier New"/>
              </a:defRPr>
            </a:pPr>
          </a:p>
        </c:txPr>
        <c:crossAx val="-2068027336"/>
        <c:crosses val="autoZero"/>
      </c:valAx>
    </c:plotArea>
    <c:dispBlanksAs val="gap"/>
  </c:chart>
  <c:txPr>
    <a:bodyPr/>
    <a:lstStyle/>
    <a:p>
      <a:pPr>
        <a:defRPr sz="1100">
          <a:solidFill>
            <a:srgbClr val="7F8C9A"/>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GiB</c:v>
                </c:pt>
              </c:strCache>
            </c:strRef>
          </c:tx>
          <c:spPr>
            <a:solidFill>
              <a:srgbClr val="0E7C86"/>
            </a:solidFill>
          </c:spPr>
          <c:cat>
            <c:strRef>
              <c:f>Sheet1!$A$2:$A$7</c:f>
              <c:strCache>
                <c:ptCount val="6"/>
                <c:pt idx="0">
                  <c:v>iebc_forms</c:v>
                </c:pt>
                <c:pt idx="1">
                  <c:v>artists_app</c:v>
                </c:pt>
                <c:pt idx="2">
                  <c:v>viupay</c:v>
                </c:pt>
                <c:pt idx="3">
                  <c:v>citizen_digital</c:v>
                </c:pt>
                <c:pt idx="4">
                  <c:v>citizen-pulse</c:v>
                </c:pt>
                <c:pt idx="5">
                  <c:v>Razuna (Library Content) &amp; N</c:v>
                </c:pt>
              </c:strCache>
            </c:strRef>
          </c:cat>
          <c:val>
            <c:numRef>
              <c:f>Sheet1!$B$2:$B$7</c:f>
              <c:numCache>
                <c:formatCode>General</c:formatCode>
                <c:ptCount val="6"/>
                <c:pt idx="0">
                  <c:v>340.4</c:v>
                </c:pt>
                <c:pt idx="1">
                  <c:v>0.0</c:v>
                </c:pt>
                <c:pt idx="2">
                  <c:v>2.0</c:v>
                </c:pt>
                <c:pt idx="3">
                  <c:v>3.3</c:v>
                </c:pt>
                <c:pt idx="4">
                  <c:v>0.2</c:v>
                </c:pt>
                <c:pt idx="5">
                  <c:v>5.4</c:v>
                </c:pt>
              </c:numCache>
            </c:numRef>
          </c:val>
        </c:ser>
        <c:dLbls>
          <c:numFmt formatCode="#,##0.0" sourceLinked="0"/>
          <c:txPr>
            <a:bodyPr/>
            <a:lstStyle/>
            <a:p>
              <a:pPr>
                <a:defRPr sz="1100">
                  <a:solidFill>
                    <a:srgbClr val="22313F"/>
                  </a:solidFill>
                  <a:latin typeface="Courier New"/>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8DEE5"/>
            </a:solidFill>
          </a:ln>
        </c:spPr>
        <c:crossAx val="-2113994440"/>
        <c:crosses val="autoZero"/>
        <c:auto val="1"/>
        <c:lblAlgn val="ctr"/>
        <c:lblOffset val="100"/>
        <c:noMultiLvlLbl val="0"/>
      </c:catAx>
      <c:valAx>
        <c:axId val="-2113994440"/>
        <c:scaling/>
        <c:delete val="0"/>
        <c:axPos val="l"/>
        <c:majorGridlines>
          <c:spPr>
            <a:ln>
              <a:solidFill>
                <a:srgbClr val="D8DEE5"/>
              </a:solidFill>
            </a:ln>
          </c:spPr>
        </c:majorGridlines>
        <c:numFmt formatCode="#,##0.0" sourceLinked="0"/>
        <c:majorTickMark val="out"/>
        <c:minorTickMark val="none"/>
        <c:tickLblPos val="nextTo"/>
        <c:spPr>
          <a:ln>
            <a:noFill/>
          </a:ln>
        </c:spPr>
        <c:txPr>
          <a:bodyPr/>
          <a:lstStyle/>
          <a:p>
            <a:pPr>
              <a:defRPr>
                <a:latin typeface="Courier New"/>
              </a:defRPr>
            </a:pPr>
          </a:p>
        </c:txPr>
        <c:crossAx val="-2068027336"/>
        <c:crosses val="autoZero"/>
      </c:valAx>
    </c:plotArea>
    <c:dispBlanksAs val="gap"/>
  </c:chart>
  <c:txPr>
    <a:bodyPr/>
    <a:lstStyle/>
    <a:p>
      <a:pPr>
        <a:defRPr sz="1100">
          <a:solidFill>
            <a:srgbClr val="7F8C9A"/>
          </a:solidFill>
          <a:latin typeface="Calibri"/>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674620"/>
            <a:ext cx="7274052" cy="1508760"/>
          </a:xfrm>
          <a:prstGeom prst="rect">
            <a:avLst/>
          </a:prstGeom>
          <a:noFill/>
        </p:spPr>
        <p:txBody>
          <a:bodyPr wrap="square" lIns="0" rIns="0" tIns="0" bIns="0" anchor="b">
            <a:spAutoFit/>
          </a:bodyPr>
          <a:lstStyle/>
          <a:p>
            <a:pPr algn="l"/>
            <a:r>
              <a:rPr sz="4000" b="0" i="0">
                <a:solidFill>
                  <a:srgbClr val="22313F"/>
                </a:solidFill>
                <a:latin typeface="Cambria"/>
              </a:rPr>
              <a:t>Estate census: partial delivery, decision to close</a:t>
            </a:r>
          </a:p>
        </p:txBody>
      </p:sp>
      <p:sp>
        <p:nvSpPr>
          <p:cNvPr id="3" name="TextBox 2"/>
          <p:cNvSpPr txBox="1"/>
          <p:nvPr/>
        </p:nvSpPr>
        <p:spPr>
          <a:xfrm>
            <a:off x="594360" y="4183380"/>
            <a:ext cx="7274052" cy="754380"/>
          </a:xfrm>
          <a:prstGeom prst="rect">
            <a:avLst/>
          </a:prstGeom>
          <a:noFill/>
        </p:spPr>
        <p:txBody>
          <a:bodyPr wrap="square" lIns="0" rIns="0" tIns="0" bIns="0" anchor="t">
            <a:spAutoFit/>
          </a:bodyPr>
          <a:lstStyle/>
          <a:p>
            <a:pPr algn="l"/>
            <a:r>
              <a:rPr sz="1800" b="0" i="0">
                <a:solidFill>
                  <a:srgbClr val="7F8C9A"/>
                </a:solidFill>
                <a:latin typeface="Calibri"/>
              </a:rPr>
              <a:t>Commission close for RMS: what was measured, what is still open, and what to decide</a:t>
            </a:r>
          </a:p>
        </p:txBody>
      </p:sp>
      <p:sp>
        <p:nvSpPr>
          <p:cNvPr id="4" name="TextBox 3"/>
          <p:cNvSpPr txBox="1"/>
          <p:nvPr/>
        </p:nvSpPr>
        <p:spPr>
          <a:xfrm>
            <a:off x="594360" y="5314492"/>
            <a:ext cx="5409590" cy="376732"/>
          </a:xfrm>
          <a:prstGeom prst="rect">
            <a:avLst/>
          </a:prstGeom>
          <a:noFill/>
        </p:spPr>
        <p:txBody>
          <a:bodyPr wrap="square" lIns="0" rIns="0" tIns="0" bIns="0" anchor="t">
            <a:spAutoFit/>
          </a:bodyPr>
          <a:lstStyle/>
          <a:p>
            <a:pPr algn="l"/>
            <a:r>
              <a:rPr sz="1000" b="0" i="0">
                <a:solidFill>
                  <a:srgbClr val="7F8C9A"/>
                </a:solidFill>
                <a:latin typeface="Calibri"/>
              </a:rPr>
              <a:t>RMS  ·  Tenant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F8C9A"/>
                </a:solidFill>
                <a:latin typeface="Calibri"/>
              </a:rPr>
              <a:t>DECISION FOR THE OWNER</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22313F"/>
                </a:solidFill>
                <a:latin typeface="Cambria"/>
              </a:rPr>
              <a:t>Accept the census as partial evidence; keep the commission open until artists_app is read</a:t>
            </a:r>
          </a:p>
        </p:txBody>
      </p:sp>
      <p:sp>
        <p:nvSpPr>
          <p:cNvPr id="4" name="TextBox 3"/>
          <p:cNvSpPr txBox="1"/>
          <p:nvPr/>
        </p:nvSpPr>
        <p:spPr>
          <a:xfrm>
            <a:off x="594360" y="1920240"/>
            <a:ext cx="1463040" cy="805815"/>
          </a:xfrm>
          <a:prstGeom prst="rect">
            <a:avLst/>
          </a:prstGeom>
          <a:noFill/>
        </p:spPr>
        <p:txBody>
          <a:bodyPr wrap="square" lIns="0" rIns="0" tIns="0" bIns="0" anchor="t">
            <a:spAutoFit/>
          </a:bodyPr>
          <a:lstStyle/>
          <a:p>
            <a:pPr algn="l"/>
            <a:r>
              <a:rPr sz="1100" b="1" i="0">
                <a:solidFill>
                  <a:srgbClr val="7F8C9A"/>
                </a:solidFill>
                <a:latin typeface="Calibri"/>
              </a:rPr>
              <a:t>SITUATION</a:t>
            </a:r>
          </a:p>
        </p:txBody>
      </p:sp>
      <p:sp>
        <p:nvSpPr>
          <p:cNvPr id="5" name="TextBox 4"/>
          <p:cNvSpPr txBox="1"/>
          <p:nvPr/>
        </p:nvSpPr>
        <p:spPr>
          <a:xfrm>
            <a:off x="2240280" y="1920240"/>
            <a:ext cx="9357055" cy="805815"/>
          </a:xfrm>
          <a:prstGeom prst="rect">
            <a:avLst/>
          </a:prstGeom>
          <a:noFill/>
        </p:spPr>
        <p:txBody>
          <a:bodyPr wrap="square" lIns="0" rIns="0" tIns="0" bIns="0" anchor="t">
            <a:spAutoFit/>
          </a:bodyPr>
          <a:lstStyle/>
          <a:p>
            <a:pPr algn="l"/>
            <a:r>
              <a:rPr sz="1400" b="0" i="0">
                <a:solidFill>
                  <a:srgbClr val="22313F"/>
                </a:solidFill>
                <a:latin typeface="Calibri"/>
              </a:rPr>
              <a:t>The census ran on the akki-vm runtime for 15.5 minutes. It measured 638 of 1006 tables, read 5.9m rows and covered 351.3 GiB of data and index across 20 databases. The result receipt is digest-verified.</a:t>
            </a:r>
          </a:p>
        </p:txBody>
      </p:sp>
      <p:cxnSp>
        <p:nvCxnSpPr>
          <p:cNvPr id="6" name="Connector 5"/>
          <p:cNvCxnSpPr/>
          <p:nvPr/>
        </p:nvCxnSpPr>
        <p:spPr>
          <a:xfrm>
            <a:off x="594360" y="2790063"/>
            <a:ext cx="11002975" cy="0"/>
          </a:xfrm>
          <a:prstGeom prst="line">
            <a:avLst/>
          </a:prstGeom>
          <a:ln w="9525">
            <a:solidFill>
              <a:srgbClr val="D8DEE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863215"/>
            <a:ext cx="1463040" cy="805815"/>
          </a:xfrm>
          <a:prstGeom prst="rect">
            <a:avLst/>
          </a:prstGeom>
          <a:noFill/>
        </p:spPr>
        <p:txBody>
          <a:bodyPr wrap="square" lIns="0" rIns="0" tIns="0" bIns="0" anchor="t">
            <a:spAutoFit/>
          </a:bodyPr>
          <a:lstStyle/>
          <a:p>
            <a:pPr algn="l"/>
            <a:r>
              <a:rPr sz="1100" b="1" i="0">
                <a:solidFill>
                  <a:srgbClr val="7F8C9A"/>
                </a:solidFill>
                <a:latin typeface="Calibri"/>
              </a:rPr>
              <a:t>COMPLICATION</a:t>
            </a:r>
          </a:p>
        </p:txBody>
      </p:sp>
      <p:sp>
        <p:nvSpPr>
          <p:cNvPr id="8" name="TextBox 7"/>
          <p:cNvSpPr txBox="1"/>
          <p:nvPr/>
        </p:nvSpPr>
        <p:spPr>
          <a:xfrm>
            <a:off x="2240280" y="2863215"/>
            <a:ext cx="9357055" cy="805815"/>
          </a:xfrm>
          <a:prstGeom prst="rect">
            <a:avLst/>
          </a:prstGeom>
          <a:noFill/>
        </p:spPr>
        <p:txBody>
          <a:bodyPr wrap="square" lIns="0" rIns="0" tIns="0" bIns="0" anchor="t">
            <a:spAutoFit/>
          </a:bodyPr>
          <a:lstStyle/>
          <a:p>
            <a:pPr algn="l"/>
            <a:r>
              <a:rPr sz="1400" b="0" i="0">
                <a:solidFill>
                  <a:srgbClr val="22313F"/>
                </a:solidFill>
                <a:latin typeface="Calibri"/>
              </a:rPr>
              <a:t>Delivery is partial. 3 of 6 connections completed, 2 were partial and 1 was blocked. Of the measured tables, 513 were read by complete pass, 83 by stratified sample and 41 by head sample. 44 tables failed. The method counts do not reconcile exactly with the measured total.</a:t>
            </a:r>
          </a:p>
        </p:txBody>
      </p:sp>
      <p:cxnSp>
        <p:nvCxnSpPr>
          <p:cNvPr id="9" name="Connector 8"/>
          <p:cNvCxnSpPr/>
          <p:nvPr/>
        </p:nvCxnSpPr>
        <p:spPr>
          <a:xfrm>
            <a:off x="594360" y="3733037"/>
            <a:ext cx="11002975" cy="0"/>
          </a:xfrm>
          <a:prstGeom prst="line">
            <a:avLst/>
          </a:prstGeom>
          <a:ln w="9525">
            <a:solidFill>
              <a:srgbClr val="D8DEE5"/>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806189"/>
            <a:ext cx="1463040" cy="805815"/>
          </a:xfrm>
          <a:prstGeom prst="rect">
            <a:avLst/>
          </a:prstGeom>
          <a:noFill/>
        </p:spPr>
        <p:txBody>
          <a:bodyPr wrap="square" lIns="0" rIns="0" tIns="0" bIns="0" anchor="t">
            <a:spAutoFit/>
          </a:bodyPr>
          <a:lstStyle/>
          <a:p>
            <a:pPr algn="l"/>
            <a:r>
              <a:rPr sz="1100" b="1" i="0">
                <a:solidFill>
                  <a:srgbClr val="7F8C9A"/>
                </a:solidFill>
                <a:latin typeface="Calibri"/>
              </a:rPr>
              <a:t>QUESTION</a:t>
            </a:r>
          </a:p>
        </p:txBody>
      </p:sp>
      <p:sp>
        <p:nvSpPr>
          <p:cNvPr id="11" name="TextBox 10"/>
          <p:cNvSpPr txBox="1"/>
          <p:nvPr/>
        </p:nvSpPr>
        <p:spPr>
          <a:xfrm>
            <a:off x="2240280" y="3806189"/>
            <a:ext cx="9357055" cy="805815"/>
          </a:xfrm>
          <a:prstGeom prst="rect">
            <a:avLst/>
          </a:prstGeom>
          <a:noFill/>
        </p:spPr>
        <p:txBody>
          <a:bodyPr wrap="square" lIns="0" rIns="0" tIns="0" bIns="0" anchor="t">
            <a:spAutoFit/>
          </a:bodyPr>
          <a:lstStyle/>
          <a:p>
            <a:pPr algn="l"/>
            <a:r>
              <a:rPr sz="1400" b="0" i="0">
                <a:solidFill>
                  <a:srgbClr val="22313F"/>
                </a:solidFill>
                <a:latin typeface="Calibri"/>
              </a:rPr>
              <a:t>Should the commission be closed on this delivery, or held open until the blocked and partial connections are read?</a:t>
            </a:r>
          </a:p>
        </p:txBody>
      </p:sp>
      <p:cxnSp>
        <p:nvCxnSpPr>
          <p:cNvPr id="12" name="Connector 11"/>
          <p:cNvCxnSpPr/>
          <p:nvPr/>
        </p:nvCxnSpPr>
        <p:spPr>
          <a:xfrm>
            <a:off x="594360" y="4676013"/>
            <a:ext cx="11002975" cy="0"/>
          </a:xfrm>
          <a:prstGeom prst="line">
            <a:avLst/>
          </a:prstGeom>
          <a:ln w="9525">
            <a:solidFill>
              <a:srgbClr val="D8DEE5"/>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749165"/>
            <a:ext cx="1463040" cy="805815"/>
          </a:xfrm>
          <a:prstGeom prst="rect">
            <a:avLst/>
          </a:prstGeom>
          <a:noFill/>
        </p:spPr>
        <p:txBody>
          <a:bodyPr wrap="square" lIns="0" rIns="0" tIns="0" bIns="0" anchor="t">
            <a:spAutoFit/>
          </a:bodyPr>
          <a:lstStyle/>
          <a:p>
            <a:pPr algn="l"/>
            <a:r>
              <a:rPr sz="1100" b="1" i="0">
                <a:solidFill>
                  <a:srgbClr val="0E7C86"/>
                </a:solidFill>
                <a:latin typeface="Calibri"/>
              </a:rPr>
              <a:t>ANSWER</a:t>
            </a:r>
          </a:p>
        </p:txBody>
      </p:sp>
      <p:sp>
        <p:nvSpPr>
          <p:cNvPr id="14" name="TextBox 13"/>
          <p:cNvSpPr txBox="1"/>
          <p:nvPr/>
        </p:nvSpPr>
        <p:spPr>
          <a:xfrm>
            <a:off x="2240280" y="4749165"/>
            <a:ext cx="9357055" cy="805815"/>
          </a:xfrm>
          <a:prstGeom prst="rect">
            <a:avLst/>
          </a:prstGeom>
          <a:noFill/>
        </p:spPr>
        <p:txBody>
          <a:bodyPr wrap="square" lIns="0" rIns="0" tIns="0" bIns="0" anchor="t">
            <a:spAutoFit/>
          </a:bodyPr>
          <a:lstStyle/>
          <a:p>
            <a:pPr algn="l"/>
            <a:r>
              <a:rPr sz="1400" b="0" i="0">
                <a:solidFill>
                  <a:srgbClr val="22313F"/>
                </a:solidFill>
                <a:latin typeface="Calibri"/>
              </a:rPr>
              <a:t>Accept what was delivered as a documented partial census, but do not close the commission as complete. The blocked connection waits on an access grant that only the owner can give, and the failed tables need a re-run. Closing now would hide both gaps.</a:t>
            </a:r>
          </a:p>
        </p:txBody>
      </p:sp>
      <p:sp>
        <p:nvSpPr>
          <p:cNvPr id="15" name="TextBox 14"/>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F8C9A"/>
                </a:solidFill>
                <a:latin typeface="Calibri"/>
              </a:rPr>
              <a:t>CC-eij-1b359b3cbd2e</a:t>
            </a:r>
          </a:p>
        </p:txBody>
      </p:sp>
      <p:sp>
        <p:nvSpPr>
          <p:cNvPr id="16" name="TextBox 15"/>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F8C9A"/>
                </a:solidFill>
                <a:latin typeface="Calibri"/>
              </a:rPr>
              <a:t>Tenant confidential</a:t>
            </a:r>
          </a:p>
        </p:txBody>
      </p:sp>
      <p:sp>
        <p:nvSpPr>
          <p:cNvPr id="17" name="TextBox 16"/>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F8C9A"/>
                </a:solidFill>
                <a:latin typeface="Courier New"/>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22313F"/>
        </a:solidFill>
        <a:effectLst/>
      </p:bgPr>
    </p:bg>
    <p:spTree>
      <p:nvGrpSpPr>
        <p:cNvPr id="1" name=""/>
        <p:cNvGrpSpPr/>
        <p:nvPr/>
      </p:nvGrpSpPr>
      <p:grpSpPr/>
      <p:sp>
        <p:nvSpPr>
          <p:cNvPr id="2" name="TextBox 1"/>
          <p:cNvSpPr txBox="1"/>
          <p:nvPr/>
        </p:nvSpPr>
        <p:spPr>
          <a:xfrm>
            <a:off x="594360" y="1920240"/>
            <a:ext cx="2613355" cy="1885492"/>
          </a:xfrm>
          <a:prstGeom prst="rect">
            <a:avLst/>
          </a:prstGeom>
          <a:noFill/>
        </p:spPr>
        <p:txBody>
          <a:bodyPr wrap="square" lIns="0" rIns="0" tIns="0" bIns="0" anchor="ctr">
            <a:spAutoFit/>
          </a:bodyPr>
          <a:lstStyle/>
          <a:p>
            <a:pPr algn="l"/>
            <a:r>
              <a:rPr sz="9600" b="0" i="0">
                <a:solidFill>
                  <a:srgbClr val="FFFFFF"/>
                </a:solidFill>
                <a:latin typeface="Courier New"/>
              </a:rPr>
              <a:t>01</a:t>
            </a:r>
          </a:p>
        </p:txBody>
      </p:sp>
      <p:sp>
        <p:nvSpPr>
          <p:cNvPr id="3" name="TextBox 2"/>
          <p:cNvSpPr txBox="1"/>
          <p:nvPr/>
        </p:nvSpPr>
        <p:spPr>
          <a:xfrm>
            <a:off x="3390595" y="2297887"/>
            <a:ext cx="8206740" cy="1508760"/>
          </a:xfrm>
          <a:prstGeom prst="rect">
            <a:avLst/>
          </a:prstGeom>
          <a:noFill/>
        </p:spPr>
        <p:txBody>
          <a:bodyPr wrap="square" lIns="0" rIns="0" tIns="0" bIns="0" anchor="ctr">
            <a:spAutoFit/>
          </a:bodyPr>
          <a:lstStyle/>
          <a:p>
            <a:pPr algn="l"/>
            <a:r>
              <a:rPr sz="3200" b="0" i="0">
                <a:solidFill>
                  <a:srgbClr val="FFFFFF"/>
                </a:solidFill>
                <a:latin typeface="Cambria"/>
              </a:rPr>
              <a:t>What the job delivered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F8C9A"/>
                </a:solidFill>
                <a:latin typeface="Calibri"/>
              </a:rPr>
              <a:t>MEASUREMENT METHOD</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22313F"/>
                </a:solidFill>
                <a:latin typeface="Cambria"/>
              </a:rPr>
              <a:t>Complete passes carry most measured tables, but samples, failures and unreached tables remain</a:t>
            </a:r>
          </a:p>
        </p:txBody>
      </p:sp>
      <p:graphicFrame>
        <p:nvGraphicFramePr>
          <p:cNvPr id="4" name="Chart 3"/>
          <p:cNvGraphicFramePr>
            <a:graphicFrameLocks noGrp="1"/>
          </p:cNvGraphicFramePr>
          <p:nvPr/>
        </p:nvGraphicFramePr>
        <p:xfrm>
          <a:off x="594360" y="1920240"/>
          <a:ext cx="11002975" cy="3394252"/>
        </p:xfrm>
        <a:graphic>
          <a:graphicData uri="http://schemas.openxmlformats.org/drawingml/2006/chart">
            <c:chart xmlns:c="http://schemas.openxmlformats.org/drawingml/2006/chart" r:id="rId2"/>
          </a:graphicData>
        </a:graphic>
      </p:graphicFrame>
      <p:sp>
        <p:nvSpPr>
          <p:cNvPr id="5" name="TextBox 4"/>
          <p:cNvSpPr txBox="1"/>
          <p:nvPr/>
        </p:nvSpPr>
        <p:spPr>
          <a:xfrm>
            <a:off x="594360" y="5314492"/>
            <a:ext cx="8206740" cy="376732"/>
          </a:xfrm>
          <a:prstGeom prst="rect">
            <a:avLst/>
          </a:prstGeom>
          <a:noFill/>
        </p:spPr>
        <p:txBody>
          <a:bodyPr wrap="square" lIns="0" rIns="0" tIns="0" bIns="0" anchor="b">
            <a:spAutoFit/>
          </a:bodyPr>
          <a:lstStyle/>
          <a:p>
            <a:pPr algn="l"/>
            <a:r>
              <a:rPr sz="1400" b="0" i="1">
                <a:solidFill>
                  <a:srgbClr val="0E7C86"/>
                </a:solidFill>
                <a:latin typeface="Calibri"/>
              </a:rPr>
              <a:t>Measurement depth varies by table, so read the exhibit as reported counts. They do not sum to 638, and no table counted here should be treated as certified.</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7F8C9A"/>
                </a:solidFill>
                <a:latin typeface="Courier New"/>
              </a:rPr>
              <a:t>[measured]  Receipt R01: Estate intelligence job record eij-1b359b3cbd2e: submitted 2026-09-29T18:56:40Z by principal 6ab56dd48894abb269135ca2, runtime akki-vm, code 90322d4a826d, result receipt digest-verified (d9c99a632278)</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F8C9A"/>
                </a:solidFill>
                <a:latin typeface="Calibri"/>
              </a:rPr>
              <a:t>CC-eij-1b359b3cbd2e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F8C9A"/>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F8C9A"/>
                </a:solidFill>
                <a:latin typeface="Courier New"/>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F8C9A"/>
                </a:solidFill>
                <a:latin typeface="Calibri"/>
              </a:rPr>
              <a:t>REACH AGAINST SCOPE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22313F"/>
                </a:solidFill>
                <a:latin typeface="Cambria"/>
              </a:rPr>
              <a:t>The census reached 638 of 1006 tables, and only 513 were read by complete pass</a:t>
            </a:r>
          </a:p>
        </p:txBody>
      </p:sp>
      <p:sp>
        <p:nvSpPr>
          <p:cNvPr id="4" name="TextBox 3"/>
          <p:cNvSpPr txBox="1"/>
          <p:nvPr/>
        </p:nvSpPr>
        <p:spPr>
          <a:xfrm>
            <a:off x="594360" y="1920240"/>
            <a:ext cx="640080" cy="942975"/>
          </a:xfrm>
          <a:prstGeom prst="rect">
            <a:avLst/>
          </a:prstGeom>
          <a:noFill/>
        </p:spPr>
        <p:txBody>
          <a:bodyPr wrap="square" lIns="0" rIns="0" tIns="0" bIns="0" anchor="t">
            <a:spAutoFit/>
          </a:bodyPr>
          <a:lstStyle/>
          <a:p>
            <a:pPr algn="l"/>
            <a:r>
              <a:rPr sz="2600" b="0" i="0">
                <a:solidFill>
                  <a:srgbClr val="0E7C86"/>
                </a:solidFill>
                <a:latin typeface="Courier New"/>
              </a:rPr>
              <a:t>01</a:t>
            </a:r>
          </a:p>
        </p:txBody>
      </p:sp>
      <p:sp>
        <p:nvSpPr>
          <p:cNvPr id="5" name="TextBox 4"/>
          <p:cNvSpPr txBox="1"/>
          <p:nvPr/>
        </p:nvSpPr>
        <p:spPr>
          <a:xfrm>
            <a:off x="1417320" y="1993392"/>
            <a:ext cx="10180015" cy="851535"/>
          </a:xfrm>
          <a:prstGeom prst="rect">
            <a:avLst/>
          </a:prstGeom>
          <a:noFill/>
        </p:spPr>
        <p:txBody>
          <a:bodyPr wrap="square" lIns="0" rIns="0" tIns="0" bIns="0" anchor="t">
            <a:spAutoFit/>
          </a:bodyPr>
          <a:lstStyle/>
          <a:p>
            <a:pPr algn="l"/>
            <a:r>
              <a:rPr sz="1400" b="0" i="0">
                <a:solidFill>
                  <a:srgbClr val="22313F"/>
                </a:solidFill>
                <a:latin typeface="Calibri"/>
              </a:rPr>
              <a:t>Scope was 1006 tables. The job reports 638 as measured, so a substantial share of the estate was not measured in this run.</a:t>
            </a:r>
          </a:p>
        </p:txBody>
      </p:sp>
      <p:cxnSp>
        <p:nvCxnSpPr>
          <p:cNvPr id="6" name="Connector 5"/>
          <p:cNvCxnSpPr/>
          <p:nvPr/>
        </p:nvCxnSpPr>
        <p:spPr>
          <a:xfrm>
            <a:off x="594360" y="2753487"/>
            <a:ext cx="11002975" cy="0"/>
          </a:xfrm>
          <a:prstGeom prst="line">
            <a:avLst/>
          </a:prstGeom>
          <a:ln w="9525">
            <a:solidFill>
              <a:srgbClr val="D8DEE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863215"/>
            <a:ext cx="640080" cy="942975"/>
          </a:xfrm>
          <a:prstGeom prst="rect">
            <a:avLst/>
          </a:prstGeom>
          <a:noFill/>
        </p:spPr>
        <p:txBody>
          <a:bodyPr wrap="square" lIns="0" rIns="0" tIns="0" bIns="0" anchor="t">
            <a:spAutoFit/>
          </a:bodyPr>
          <a:lstStyle/>
          <a:p>
            <a:pPr algn="l"/>
            <a:r>
              <a:rPr sz="2600" b="0" i="0">
                <a:solidFill>
                  <a:srgbClr val="0E7C86"/>
                </a:solidFill>
                <a:latin typeface="Courier New"/>
              </a:rPr>
              <a:t>02</a:t>
            </a:r>
          </a:p>
        </p:txBody>
      </p:sp>
      <p:sp>
        <p:nvSpPr>
          <p:cNvPr id="8" name="TextBox 7"/>
          <p:cNvSpPr txBox="1"/>
          <p:nvPr/>
        </p:nvSpPr>
        <p:spPr>
          <a:xfrm>
            <a:off x="1417320" y="2936367"/>
            <a:ext cx="10180015" cy="851535"/>
          </a:xfrm>
          <a:prstGeom prst="rect">
            <a:avLst/>
          </a:prstGeom>
          <a:noFill/>
        </p:spPr>
        <p:txBody>
          <a:bodyPr wrap="square" lIns="0" rIns="0" tIns="0" bIns="0" anchor="t">
            <a:spAutoFit/>
          </a:bodyPr>
          <a:lstStyle/>
          <a:p>
            <a:pPr algn="l"/>
            <a:r>
              <a:rPr sz="1400" b="0" i="0">
                <a:solidFill>
                  <a:srgbClr val="22313F"/>
                </a:solidFill>
                <a:latin typeface="Calibri"/>
              </a:rPr>
              <a:t>513 tables were measured by complete pass. Only on these do ratios rest on every row.</a:t>
            </a:r>
          </a:p>
        </p:txBody>
      </p:sp>
      <p:cxnSp>
        <p:nvCxnSpPr>
          <p:cNvPr id="9" name="Connector 8"/>
          <p:cNvCxnSpPr/>
          <p:nvPr/>
        </p:nvCxnSpPr>
        <p:spPr>
          <a:xfrm>
            <a:off x="594360" y="3696461"/>
            <a:ext cx="11002975" cy="0"/>
          </a:xfrm>
          <a:prstGeom prst="line">
            <a:avLst/>
          </a:prstGeom>
          <a:ln w="9525">
            <a:solidFill>
              <a:srgbClr val="D8DEE5"/>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806189"/>
            <a:ext cx="640080" cy="942975"/>
          </a:xfrm>
          <a:prstGeom prst="rect">
            <a:avLst/>
          </a:prstGeom>
          <a:noFill/>
        </p:spPr>
        <p:txBody>
          <a:bodyPr wrap="square" lIns="0" rIns="0" tIns="0" bIns="0" anchor="t">
            <a:spAutoFit/>
          </a:bodyPr>
          <a:lstStyle/>
          <a:p>
            <a:pPr algn="l"/>
            <a:r>
              <a:rPr sz="2600" b="0" i="0">
                <a:solidFill>
                  <a:srgbClr val="0E7C86"/>
                </a:solidFill>
                <a:latin typeface="Courier New"/>
              </a:rPr>
              <a:t>03</a:t>
            </a:r>
          </a:p>
        </p:txBody>
      </p:sp>
      <p:sp>
        <p:nvSpPr>
          <p:cNvPr id="11" name="TextBox 10"/>
          <p:cNvSpPr txBox="1"/>
          <p:nvPr/>
        </p:nvSpPr>
        <p:spPr>
          <a:xfrm>
            <a:off x="1417320" y="3879341"/>
            <a:ext cx="10180015" cy="851535"/>
          </a:xfrm>
          <a:prstGeom prst="rect">
            <a:avLst/>
          </a:prstGeom>
          <a:noFill/>
        </p:spPr>
        <p:txBody>
          <a:bodyPr wrap="square" lIns="0" rIns="0" tIns="0" bIns="0" anchor="t">
            <a:spAutoFit/>
          </a:bodyPr>
          <a:lstStyle/>
          <a:p>
            <a:pPr algn="l"/>
            <a:r>
              <a:rPr sz="1400" b="0" i="0">
                <a:solidFill>
                  <a:srgbClr val="22313F"/>
                </a:solidFill>
                <a:latin typeface="Calibri"/>
              </a:rPr>
              <a:t>83 tables were measured by stratified sample and 41 by head sample. Their ratios are estimates, not full-table measurements.</a:t>
            </a:r>
          </a:p>
        </p:txBody>
      </p:sp>
      <p:cxnSp>
        <p:nvCxnSpPr>
          <p:cNvPr id="12" name="Connector 11"/>
          <p:cNvCxnSpPr/>
          <p:nvPr/>
        </p:nvCxnSpPr>
        <p:spPr>
          <a:xfrm>
            <a:off x="594360" y="4639437"/>
            <a:ext cx="11002975" cy="0"/>
          </a:xfrm>
          <a:prstGeom prst="line">
            <a:avLst/>
          </a:prstGeom>
          <a:ln w="9525">
            <a:solidFill>
              <a:srgbClr val="D8DEE5"/>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749165"/>
            <a:ext cx="640080" cy="942975"/>
          </a:xfrm>
          <a:prstGeom prst="rect">
            <a:avLst/>
          </a:prstGeom>
          <a:noFill/>
        </p:spPr>
        <p:txBody>
          <a:bodyPr wrap="square" lIns="0" rIns="0" tIns="0" bIns="0" anchor="t">
            <a:spAutoFit/>
          </a:bodyPr>
          <a:lstStyle/>
          <a:p>
            <a:pPr algn="l"/>
            <a:r>
              <a:rPr sz="2600" b="0" i="0">
                <a:solidFill>
                  <a:srgbClr val="0E7C86"/>
                </a:solidFill>
                <a:latin typeface="Courier New"/>
              </a:rPr>
              <a:t>04</a:t>
            </a:r>
          </a:p>
        </p:txBody>
      </p:sp>
      <p:sp>
        <p:nvSpPr>
          <p:cNvPr id="14" name="TextBox 13"/>
          <p:cNvSpPr txBox="1"/>
          <p:nvPr/>
        </p:nvSpPr>
        <p:spPr>
          <a:xfrm>
            <a:off x="1417320" y="4822317"/>
            <a:ext cx="10180015" cy="851535"/>
          </a:xfrm>
          <a:prstGeom prst="rect">
            <a:avLst/>
          </a:prstGeom>
          <a:noFill/>
        </p:spPr>
        <p:txBody>
          <a:bodyPr wrap="square" lIns="0" rIns="0" tIns="0" bIns="0" anchor="t">
            <a:spAutoFit/>
          </a:bodyPr>
          <a:lstStyle/>
          <a:p>
            <a:pPr algn="l"/>
            <a:r>
              <a:rPr sz="1400" b="0" i="0">
                <a:solidFill>
                  <a:srgbClr val="22313F"/>
                </a:solidFill>
                <a:latin typeface="Calibri"/>
              </a:rPr>
              <a:t>The method counts do not add exactly to 638. We report them as supplied and have not reconciled them.</a:t>
            </a:r>
          </a:p>
        </p:txBody>
      </p:sp>
      <p:cxnSp>
        <p:nvCxnSpPr>
          <p:cNvPr id="15" name="Connector 14"/>
          <p:cNvCxnSpPr/>
          <p:nvPr/>
        </p:nvCxnSpPr>
        <p:spPr>
          <a:xfrm>
            <a:off x="594360" y="5582412"/>
            <a:ext cx="11002975" cy="0"/>
          </a:xfrm>
          <a:prstGeom prst="line">
            <a:avLst/>
          </a:prstGeom>
          <a:ln w="9525">
            <a:solidFill>
              <a:srgbClr val="D8DEE5"/>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F8C9A"/>
                </a:solidFill>
                <a:latin typeface="Calibri"/>
              </a:rPr>
              <a:t>CC-eij-1b359b3cbd2e</a:t>
            </a:r>
          </a:p>
        </p:txBody>
      </p:sp>
      <p:sp>
        <p:nvSpPr>
          <p:cNvPr id="17" name="TextBox 16"/>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F8C9A"/>
                </a:solidFill>
                <a:latin typeface="Calibri"/>
              </a:rPr>
              <a:t>Tenant confidential</a:t>
            </a:r>
          </a:p>
        </p:txBody>
      </p:sp>
      <p:sp>
        <p:nvSpPr>
          <p:cNvPr id="18" name="TextBox 17"/>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F8C9A"/>
                </a:solidFill>
                <a:latin typeface="Courier New"/>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F8C9A"/>
                </a:solidFill>
                <a:latin typeface="Calibri"/>
              </a:rPr>
              <a:t>OPERATIONAL RESULT</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22313F"/>
                </a:solidFill>
                <a:latin typeface="Cambria"/>
              </a:rPr>
              <a:t>The run was quick and light, but 44 tables failed and estate size is only estimated</a:t>
            </a:r>
          </a:p>
        </p:txBody>
      </p:sp>
      <p:sp>
        <p:nvSpPr>
          <p:cNvPr id="4" name="TextBox 3"/>
          <p:cNvSpPr txBox="1"/>
          <p:nvPr/>
        </p:nvSpPr>
        <p:spPr>
          <a:xfrm>
            <a:off x="594360" y="1920240"/>
            <a:ext cx="640080" cy="942975"/>
          </a:xfrm>
          <a:prstGeom prst="rect">
            <a:avLst/>
          </a:prstGeom>
          <a:noFill/>
        </p:spPr>
        <p:txBody>
          <a:bodyPr wrap="square" lIns="0" rIns="0" tIns="0" bIns="0" anchor="t">
            <a:spAutoFit/>
          </a:bodyPr>
          <a:lstStyle/>
          <a:p>
            <a:pPr algn="l"/>
            <a:r>
              <a:rPr sz="2600" b="0" i="0">
                <a:solidFill>
                  <a:srgbClr val="0E7C86"/>
                </a:solidFill>
                <a:latin typeface="Courier New"/>
              </a:rPr>
              <a:t>01</a:t>
            </a:r>
          </a:p>
        </p:txBody>
      </p:sp>
      <p:sp>
        <p:nvSpPr>
          <p:cNvPr id="5" name="TextBox 4"/>
          <p:cNvSpPr txBox="1"/>
          <p:nvPr/>
        </p:nvSpPr>
        <p:spPr>
          <a:xfrm>
            <a:off x="1417320" y="1993392"/>
            <a:ext cx="10180015" cy="851535"/>
          </a:xfrm>
          <a:prstGeom prst="rect">
            <a:avLst/>
          </a:prstGeom>
          <a:noFill/>
        </p:spPr>
        <p:txBody>
          <a:bodyPr wrap="square" lIns="0" rIns="0" tIns="0" bIns="0" anchor="t">
            <a:spAutoFit/>
          </a:bodyPr>
          <a:lstStyle/>
          <a:p>
            <a:pPr algn="l"/>
            <a:r>
              <a:rPr sz="1400" b="0" i="0">
                <a:solidFill>
                  <a:srgbClr val="22313F"/>
                </a:solidFill>
                <a:latin typeface="Calibri"/>
              </a:rPr>
              <a:t>44 tables failed. The worker could not measure them, and they stay unmeasured until the recorded errors are addressed.</a:t>
            </a:r>
          </a:p>
        </p:txBody>
      </p:sp>
      <p:cxnSp>
        <p:nvCxnSpPr>
          <p:cNvPr id="6" name="Connector 5"/>
          <p:cNvCxnSpPr/>
          <p:nvPr/>
        </p:nvCxnSpPr>
        <p:spPr>
          <a:xfrm>
            <a:off x="594360" y="2753487"/>
            <a:ext cx="11002975" cy="0"/>
          </a:xfrm>
          <a:prstGeom prst="line">
            <a:avLst/>
          </a:prstGeom>
          <a:ln w="9525">
            <a:solidFill>
              <a:srgbClr val="D8DEE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863215"/>
            <a:ext cx="640080" cy="942975"/>
          </a:xfrm>
          <a:prstGeom prst="rect">
            <a:avLst/>
          </a:prstGeom>
          <a:noFill/>
        </p:spPr>
        <p:txBody>
          <a:bodyPr wrap="square" lIns="0" rIns="0" tIns="0" bIns="0" anchor="t">
            <a:spAutoFit/>
          </a:bodyPr>
          <a:lstStyle/>
          <a:p>
            <a:pPr algn="l"/>
            <a:r>
              <a:rPr sz="2600" b="0" i="0">
                <a:solidFill>
                  <a:srgbClr val="0E7C86"/>
                </a:solidFill>
                <a:latin typeface="Courier New"/>
              </a:rPr>
              <a:t>02</a:t>
            </a:r>
          </a:p>
        </p:txBody>
      </p:sp>
      <p:sp>
        <p:nvSpPr>
          <p:cNvPr id="8" name="TextBox 7"/>
          <p:cNvSpPr txBox="1"/>
          <p:nvPr/>
        </p:nvSpPr>
        <p:spPr>
          <a:xfrm>
            <a:off x="1417320" y="2936367"/>
            <a:ext cx="10180015" cy="851535"/>
          </a:xfrm>
          <a:prstGeom prst="rect">
            <a:avLst/>
          </a:prstGeom>
          <a:noFill/>
        </p:spPr>
        <p:txBody>
          <a:bodyPr wrap="square" lIns="0" rIns="0" tIns="0" bIns="0" anchor="t">
            <a:spAutoFit/>
          </a:bodyPr>
          <a:lstStyle/>
          <a:p>
            <a:pPr algn="l"/>
            <a:r>
              <a:rPr sz="1400" b="0" i="0">
                <a:solidFill>
                  <a:srgbClr val="22313F"/>
                </a:solidFill>
                <a:latin typeface="Calibri"/>
              </a:rPr>
              <a:t>The run read 5.9m rows and measured 351.3 GiB of data and index. Both are measured figures.</a:t>
            </a:r>
          </a:p>
        </p:txBody>
      </p:sp>
      <p:cxnSp>
        <p:nvCxnSpPr>
          <p:cNvPr id="9" name="Connector 8"/>
          <p:cNvCxnSpPr/>
          <p:nvPr/>
        </p:nvCxnSpPr>
        <p:spPr>
          <a:xfrm>
            <a:off x="594360" y="3696461"/>
            <a:ext cx="11002975" cy="0"/>
          </a:xfrm>
          <a:prstGeom prst="line">
            <a:avLst/>
          </a:prstGeom>
          <a:ln w="9525">
            <a:solidFill>
              <a:srgbClr val="D8DEE5"/>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806189"/>
            <a:ext cx="640080" cy="942975"/>
          </a:xfrm>
          <a:prstGeom prst="rect">
            <a:avLst/>
          </a:prstGeom>
          <a:noFill/>
        </p:spPr>
        <p:txBody>
          <a:bodyPr wrap="square" lIns="0" rIns="0" tIns="0" bIns="0" anchor="t">
            <a:spAutoFit/>
          </a:bodyPr>
          <a:lstStyle/>
          <a:p>
            <a:pPr algn="l"/>
            <a:r>
              <a:rPr sz="2600" b="0" i="0">
                <a:solidFill>
                  <a:srgbClr val="0E7C86"/>
                </a:solidFill>
                <a:latin typeface="Courier New"/>
              </a:rPr>
              <a:t>03</a:t>
            </a:r>
          </a:p>
        </p:txBody>
      </p:sp>
      <p:sp>
        <p:nvSpPr>
          <p:cNvPr id="11" name="TextBox 10"/>
          <p:cNvSpPr txBox="1"/>
          <p:nvPr/>
        </p:nvSpPr>
        <p:spPr>
          <a:xfrm>
            <a:off x="1417320" y="3879341"/>
            <a:ext cx="10180015" cy="851535"/>
          </a:xfrm>
          <a:prstGeom prst="rect">
            <a:avLst/>
          </a:prstGeom>
          <a:noFill/>
        </p:spPr>
        <p:txBody>
          <a:bodyPr wrap="square" lIns="0" rIns="0" tIns="0" bIns="0" anchor="t">
            <a:spAutoFit/>
          </a:bodyPr>
          <a:lstStyle/>
          <a:p>
            <a:pPr algn="l"/>
            <a:r>
              <a:rPr sz="1400" b="0" i="0">
                <a:solidFill>
                  <a:srgbClr val="22313F"/>
                </a:solidFill>
                <a:latin typeface="Calibri"/>
              </a:rPr>
              <a:t>Rows held across the estate are estimated at 259.3m. Do not confuse this estimate with the 5.9m rows actually read.</a:t>
            </a:r>
          </a:p>
        </p:txBody>
      </p:sp>
      <p:cxnSp>
        <p:nvCxnSpPr>
          <p:cNvPr id="12" name="Connector 11"/>
          <p:cNvCxnSpPr/>
          <p:nvPr/>
        </p:nvCxnSpPr>
        <p:spPr>
          <a:xfrm>
            <a:off x="594360" y="4639437"/>
            <a:ext cx="11002975" cy="0"/>
          </a:xfrm>
          <a:prstGeom prst="line">
            <a:avLst/>
          </a:prstGeom>
          <a:ln w="9525">
            <a:solidFill>
              <a:srgbClr val="D8DEE5"/>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749165"/>
            <a:ext cx="640080" cy="942975"/>
          </a:xfrm>
          <a:prstGeom prst="rect">
            <a:avLst/>
          </a:prstGeom>
          <a:noFill/>
        </p:spPr>
        <p:txBody>
          <a:bodyPr wrap="square" lIns="0" rIns="0" tIns="0" bIns="0" anchor="t">
            <a:spAutoFit/>
          </a:bodyPr>
          <a:lstStyle/>
          <a:p>
            <a:pPr algn="l"/>
            <a:r>
              <a:rPr sz="2600" b="0" i="0">
                <a:solidFill>
                  <a:srgbClr val="0E7C86"/>
                </a:solidFill>
                <a:latin typeface="Courier New"/>
              </a:rPr>
              <a:t>04</a:t>
            </a:r>
          </a:p>
        </p:txBody>
      </p:sp>
      <p:sp>
        <p:nvSpPr>
          <p:cNvPr id="14" name="TextBox 13"/>
          <p:cNvSpPr txBox="1"/>
          <p:nvPr/>
        </p:nvSpPr>
        <p:spPr>
          <a:xfrm>
            <a:off x="1417320" y="4822317"/>
            <a:ext cx="10180015" cy="851535"/>
          </a:xfrm>
          <a:prstGeom prst="rect">
            <a:avLst/>
          </a:prstGeom>
          <a:noFill/>
        </p:spPr>
        <p:txBody>
          <a:bodyPr wrap="square" lIns="0" rIns="0" tIns="0" bIns="0" anchor="t">
            <a:spAutoFit/>
          </a:bodyPr>
          <a:lstStyle/>
          <a:p>
            <a:pPr algn="l"/>
            <a:r>
              <a:rPr sz="1400" b="0" i="0">
                <a:solidFill>
                  <a:srgbClr val="22313F"/>
                </a:solidFill>
                <a:latin typeface="Calibri"/>
              </a:rPr>
              <a:t>Wall clock was 15.5 minutes on the runtime. It is not cost or end-to-end elapsed time.</a:t>
            </a:r>
          </a:p>
        </p:txBody>
      </p:sp>
      <p:cxnSp>
        <p:nvCxnSpPr>
          <p:cNvPr id="15" name="Connector 14"/>
          <p:cNvCxnSpPr/>
          <p:nvPr/>
        </p:nvCxnSpPr>
        <p:spPr>
          <a:xfrm>
            <a:off x="594360" y="5582412"/>
            <a:ext cx="11002975" cy="0"/>
          </a:xfrm>
          <a:prstGeom prst="line">
            <a:avLst/>
          </a:prstGeom>
          <a:ln w="9525">
            <a:solidFill>
              <a:srgbClr val="D8DEE5"/>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F8C9A"/>
                </a:solidFill>
                <a:latin typeface="Calibri"/>
              </a:rPr>
              <a:t>CC-eij-1b359b3cbd2e</a:t>
            </a:r>
          </a:p>
        </p:txBody>
      </p:sp>
      <p:sp>
        <p:nvSpPr>
          <p:cNvPr id="17" name="TextBox 16"/>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F8C9A"/>
                </a:solidFill>
                <a:latin typeface="Calibri"/>
              </a:rPr>
              <a:t>Tenant confidential</a:t>
            </a:r>
          </a:p>
        </p:txBody>
      </p:sp>
      <p:sp>
        <p:nvSpPr>
          <p:cNvPr id="18" name="TextBox 17"/>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F8C9A"/>
                </a:solidFill>
                <a:latin typeface="Courier New"/>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22313F"/>
        </a:solidFill>
        <a:effectLst/>
      </p:bgPr>
    </p:bg>
    <p:spTree>
      <p:nvGrpSpPr>
        <p:cNvPr id="1" name=""/>
        <p:cNvGrpSpPr/>
        <p:nvPr/>
      </p:nvGrpSpPr>
      <p:grpSpPr/>
      <p:sp>
        <p:nvSpPr>
          <p:cNvPr id="2" name="TextBox 1"/>
          <p:cNvSpPr txBox="1"/>
          <p:nvPr/>
        </p:nvSpPr>
        <p:spPr>
          <a:xfrm>
            <a:off x="594360" y="1920240"/>
            <a:ext cx="2613355" cy="1885492"/>
          </a:xfrm>
          <a:prstGeom prst="rect">
            <a:avLst/>
          </a:prstGeom>
          <a:noFill/>
        </p:spPr>
        <p:txBody>
          <a:bodyPr wrap="square" lIns="0" rIns="0" tIns="0" bIns="0" anchor="ctr">
            <a:spAutoFit/>
          </a:bodyPr>
          <a:lstStyle/>
          <a:p>
            <a:pPr algn="l"/>
            <a:r>
              <a:rPr sz="9600" b="0" i="0">
                <a:solidFill>
                  <a:srgbClr val="FFFFFF"/>
                </a:solidFill>
                <a:latin typeface="Courier New"/>
              </a:rPr>
              <a:t>02</a:t>
            </a:r>
          </a:p>
        </p:txBody>
      </p:sp>
      <p:sp>
        <p:nvSpPr>
          <p:cNvPr id="3" name="TextBox 2"/>
          <p:cNvSpPr txBox="1"/>
          <p:nvPr/>
        </p:nvSpPr>
        <p:spPr>
          <a:xfrm>
            <a:off x="3390595" y="2297887"/>
            <a:ext cx="8206740" cy="1508760"/>
          </a:xfrm>
          <a:prstGeom prst="rect">
            <a:avLst/>
          </a:prstGeom>
          <a:noFill/>
        </p:spPr>
        <p:txBody>
          <a:bodyPr wrap="square" lIns="0" rIns="0" tIns="0" bIns="0" anchor="ctr">
            <a:spAutoFit/>
          </a:bodyPr>
          <a:lstStyle/>
          <a:p>
            <a:pPr algn="l"/>
            <a:r>
              <a:rPr sz="3200" b="0" i="0">
                <a:solidFill>
                  <a:srgbClr val="FFFFFF"/>
                </a:solidFill>
                <a:latin typeface="Cambria"/>
              </a:rPr>
              <a:t>Where the gaps sit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F8C9A"/>
                </a:solidFill>
                <a:latin typeface="Calibri"/>
              </a:rPr>
              <a:t>CONNECTION PATTERN</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22313F"/>
                </a:solidFill>
                <a:latin typeface="Cambria"/>
              </a:rPr>
              <a:t>Measurement is uneven by connection: one blocked, two partial and three complete</a:t>
            </a:r>
          </a:p>
        </p:txBody>
      </p:sp>
      <p:graphicFrame>
        <p:nvGraphicFramePr>
          <p:cNvPr id="4" name="Chart 3"/>
          <p:cNvGraphicFramePr>
            <a:graphicFrameLocks noGrp="1"/>
          </p:cNvGraphicFramePr>
          <p:nvPr/>
        </p:nvGraphicFramePr>
        <p:xfrm>
          <a:off x="594360" y="1920240"/>
          <a:ext cx="11002975" cy="3394252"/>
        </p:xfrm>
        <a:graphic>
          <a:graphicData uri="http://schemas.openxmlformats.org/drawingml/2006/chart">
            <c:chart xmlns:c="http://schemas.openxmlformats.org/drawingml/2006/chart" r:id="rId2"/>
          </a:graphicData>
        </a:graphic>
      </p:graphicFrame>
      <p:sp>
        <p:nvSpPr>
          <p:cNvPr id="5" name="TextBox 4"/>
          <p:cNvSpPr txBox="1"/>
          <p:nvPr/>
        </p:nvSpPr>
        <p:spPr>
          <a:xfrm>
            <a:off x="594360" y="5314492"/>
            <a:ext cx="8206740" cy="376732"/>
          </a:xfrm>
          <a:prstGeom prst="rect">
            <a:avLst/>
          </a:prstGeom>
          <a:noFill/>
        </p:spPr>
        <p:txBody>
          <a:bodyPr wrap="square" lIns="0" rIns="0" tIns="0" bIns="0" anchor="b">
            <a:spAutoFit/>
          </a:bodyPr>
          <a:lstStyle/>
          <a:p>
            <a:pPr algn="l"/>
            <a:r>
              <a:rPr sz="1400" b="0" i="1">
                <a:solidFill>
                  <a:srgbClr val="0E7C86"/>
                </a:solidFill>
                <a:latin typeface="Calibri"/>
              </a:rPr>
              <a:t>Use the statuses to locate follow-up. The table counts shown do not reconcile with 638, so do not read this as a validated split of measured tables.</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7F8C9A"/>
                </a:solidFill>
                <a:latin typeface="Courier New"/>
              </a:rPr>
              <a:t>[measured]  Receipt R02: Estate intelligence report v3 for eij-1b359b3cbd2e, built 2026-09-30T03:41:37Z; connection table and coverage notes</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F8C9A"/>
                </a:solidFill>
                <a:latin typeface="Calibri"/>
              </a:rPr>
              <a:t>CC-eij-1b359b3cbd2e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F8C9A"/>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F8C9A"/>
                </a:solidFill>
                <a:latin typeface="Courier New"/>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F8C9A"/>
                </a:solidFill>
                <a:latin typeface="Calibri"/>
              </a:rPr>
              <a:t>MEASURED FOOTPRINT</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22313F"/>
                </a:solidFill>
                <a:latin typeface="Cambria"/>
              </a:rPr>
              <a:t>Measured data and index volume sits almost entirely in iebc_forms</a:t>
            </a:r>
          </a:p>
        </p:txBody>
      </p:sp>
      <p:graphicFrame>
        <p:nvGraphicFramePr>
          <p:cNvPr id="4" name="Chart 3"/>
          <p:cNvGraphicFramePr>
            <a:graphicFrameLocks noGrp="1"/>
          </p:cNvGraphicFramePr>
          <p:nvPr/>
        </p:nvGraphicFramePr>
        <p:xfrm>
          <a:off x="594360" y="1920240"/>
          <a:ext cx="11002975" cy="3394252"/>
        </p:xfrm>
        <a:graphic>
          <a:graphicData uri="http://schemas.openxmlformats.org/drawingml/2006/chart">
            <c:chart xmlns:c="http://schemas.openxmlformats.org/drawingml/2006/chart" r:id="rId2"/>
          </a:graphicData>
        </a:graphic>
      </p:graphicFrame>
      <p:sp>
        <p:nvSpPr>
          <p:cNvPr id="5" name="TextBox 4"/>
          <p:cNvSpPr txBox="1"/>
          <p:nvPr/>
        </p:nvSpPr>
        <p:spPr>
          <a:xfrm>
            <a:off x="594360" y="5314492"/>
            <a:ext cx="8206740" cy="376732"/>
          </a:xfrm>
          <a:prstGeom prst="rect">
            <a:avLst/>
          </a:prstGeom>
          <a:noFill/>
        </p:spPr>
        <p:txBody>
          <a:bodyPr wrap="square" lIns="0" rIns="0" tIns="0" bIns="0" anchor="b">
            <a:spAutoFit/>
          </a:bodyPr>
          <a:lstStyle/>
          <a:p>
            <a:pPr algn="l"/>
            <a:r>
              <a:rPr sz="1400" b="0" i="1">
                <a:solidFill>
                  <a:srgbClr val="0E7C86"/>
                </a:solidFill>
                <a:latin typeface="Calibri"/>
              </a:rPr>
              <a:t>This is measured footprint, not business importance. The zero shown for artists_app reflects a blocked connection and does not show an empty estate.</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7F8C9A"/>
                </a:solidFill>
                <a:latin typeface="Courier New"/>
              </a:rPr>
              <a:t>[measured]  Receipt R02: Estate intelligence report v3 for eij-1b359b3cbd2e, built 2026-09-30T03:41:37Z; connection table and coverage notes</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F8C9A"/>
                </a:solidFill>
                <a:latin typeface="Calibri"/>
              </a:rPr>
              <a:t>CC-eij-1b359b3cbd2e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F8C9A"/>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F8C9A"/>
                </a:solidFill>
                <a:latin typeface="Courier New"/>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F8C9A"/>
                </a:solidFill>
                <a:latin typeface="Calibri"/>
              </a:rPr>
              <a:t>CONNECTION STATUS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22313F"/>
                </a:solidFill>
                <a:latin typeface="Cambria"/>
              </a:rPr>
              <a:t>Only 3 of 6 connections completed; reading the blocked one will not close the rest</a:t>
            </a:r>
          </a:p>
        </p:txBody>
      </p:sp>
      <p:sp>
        <p:nvSpPr>
          <p:cNvPr id="4" name="TextBox 3"/>
          <p:cNvSpPr txBox="1"/>
          <p:nvPr/>
        </p:nvSpPr>
        <p:spPr>
          <a:xfrm>
            <a:off x="594360" y="1920240"/>
            <a:ext cx="640080" cy="942975"/>
          </a:xfrm>
          <a:prstGeom prst="rect">
            <a:avLst/>
          </a:prstGeom>
          <a:noFill/>
        </p:spPr>
        <p:txBody>
          <a:bodyPr wrap="square" lIns="0" rIns="0" tIns="0" bIns="0" anchor="t">
            <a:spAutoFit/>
          </a:bodyPr>
          <a:lstStyle/>
          <a:p>
            <a:pPr algn="l"/>
            <a:r>
              <a:rPr sz="2600" b="0" i="0">
                <a:solidFill>
                  <a:srgbClr val="0E7C86"/>
                </a:solidFill>
                <a:latin typeface="Courier New"/>
              </a:rPr>
              <a:t>01</a:t>
            </a:r>
          </a:p>
        </p:txBody>
      </p:sp>
      <p:sp>
        <p:nvSpPr>
          <p:cNvPr id="5" name="TextBox 4"/>
          <p:cNvSpPr txBox="1"/>
          <p:nvPr/>
        </p:nvSpPr>
        <p:spPr>
          <a:xfrm>
            <a:off x="1417320" y="1993392"/>
            <a:ext cx="10180015" cy="851535"/>
          </a:xfrm>
          <a:prstGeom prst="rect">
            <a:avLst/>
          </a:prstGeom>
          <a:noFill/>
        </p:spPr>
        <p:txBody>
          <a:bodyPr wrap="square" lIns="0" rIns="0" tIns="0" bIns="0" anchor="t">
            <a:spAutoFit/>
          </a:bodyPr>
          <a:lstStyle/>
          <a:p>
            <a:pPr algn="l"/>
            <a:r>
              <a:rPr sz="1400" b="0" i="0">
                <a:solidFill>
                  <a:srgbClr val="22313F"/>
                </a:solidFill>
                <a:latin typeface="Calibri"/>
              </a:rPr>
              <a:t>3 of 6 connections completed. 2 were partial and 1 was blocked.</a:t>
            </a:r>
          </a:p>
        </p:txBody>
      </p:sp>
      <p:cxnSp>
        <p:nvCxnSpPr>
          <p:cNvPr id="6" name="Connector 5"/>
          <p:cNvCxnSpPr/>
          <p:nvPr/>
        </p:nvCxnSpPr>
        <p:spPr>
          <a:xfrm>
            <a:off x="594360" y="2753487"/>
            <a:ext cx="11002975" cy="0"/>
          </a:xfrm>
          <a:prstGeom prst="line">
            <a:avLst/>
          </a:prstGeom>
          <a:ln w="9525">
            <a:solidFill>
              <a:srgbClr val="D8DEE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863215"/>
            <a:ext cx="640080" cy="942975"/>
          </a:xfrm>
          <a:prstGeom prst="rect">
            <a:avLst/>
          </a:prstGeom>
          <a:noFill/>
        </p:spPr>
        <p:txBody>
          <a:bodyPr wrap="square" lIns="0" rIns="0" tIns="0" bIns="0" anchor="t">
            <a:spAutoFit/>
          </a:bodyPr>
          <a:lstStyle/>
          <a:p>
            <a:pPr algn="l"/>
            <a:r>
              <a:rPr sz="2600" b="0" i="0">
                <a:solidFill>
                  <a:srgbClr val="0E7C86"/>
                </a:solidFill>
                <a:latin typeface="Courier New"/>
              </a:rPr>
              <a:t>02</a:t>
            </a:r>
          </a:p>
        </p:txBody>
      </p:sp>
      <p:sp>
        <p:nvSpPr>
          <p:cNvPr id="8" name="TextBox 7"/>
          <p:cNvSpPr txBox="1"/>
          <p:nvPr/>
        </p:nvSpPr>
        <p:spPr>
          <a:xfrm>
            <a:off x="1417320" y="2936367"/>
            <a:ext cx="10180015" cy="851535"/>
          </a:xfrm>
          <a:prstGeom prst="rect">
            <a:avLst/>
          </a:prstGeom>
          <a:noFill/>
        </p:spPr>
        <p:txBody>
          <a:bodyPr wrap="square" lIns="0" rIns="0" tIns="0" bIns="0" anchor="t">
            <a:spAutoFit/>
          </a:bodyPr>
          <a:lstStyle/>
          <a:p>
            <a:pPr algn="l"/>
            <a:r>
              <a:rPr sz="1400" b="0" i="0">
                <a:solidFill>
                  <a:srgbClr val="22313F"/>
                </a:solidFill>
                <a:latin typeface="Calibri"/>
              </a:rPr>
              <a:t>artists_app is blocked by a pending grant, an owner dependency. No tables were reached on it.</a:t>
            </a:r>
          </a:p>
        </p:txBody>
      </p:sp>
      <p:cxnSp>
        <p:nvCxnSpPr>
          <p:cNvPr id="9" name="Connector 8"/>
          <p:cNvCxnSpPr/>
          <p:nvPr/>
        </p:nvCxnSpPr>
        <p:spPr>
          <a:xfrm>
            <a:off x="594360" y="3696461"/>
            <a:ext cx="11002975" cy="0"/>
          </a:xfrm>
          <a:prstGeom prst="line">
            <a:avLst/>
          </a:prstGeom>
          <a:ln w="9525">
            <a:solidFill>
              <a:srgbClr val="D8DEE5"/>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806189"/>
            <a:ext cx="640080" cy="942975"/>
          </a:xfrm>
          <a:prstGeom prst="rect">
            <a:avLst/>
          </a:prstGeom>
          <a:noFill/>
        </p:spPr>
        <p:txBody>
          <a:bodyPr wrap="square" lIns="0" rIns="0" tIns="0" bIns="0" anchor="t">
            <a:spAutoFit/>
          </a:bodyPr>
          <a:lstStyle/>
          <a:p>
            <a:pPr algn="l"/>
            <a:r>
              <a:rPr sz="2600" b="0" i="0">
                <a:solidFill>
                  <a:srgbClr val="0E7C86"/>
                </a:solidFill>
                <a:latin typeface="Courier New"/>
              </a:rPr>
              <a:t>03</a:t>
            </a:r>
          </a:p>
        </p:txBody>
      </p:sp>
      <p:sp>
        <p:nvSpPr>
          <p:cNvPr id="11" name="TextBox 10"/>
          <p:cNvSpPr txBox="1"/>
          <p:nvPr/>
        </p:nvSpPr>
        <p:spPr>
          <a:xfrm>
            <a:off x="1417320" y="3879341"/>
            <a:ext cx="10180015" cy="851535"/>
          </a:xfrm>
          <a:prstGeom prst="rect">
            <a:avLst/>
          </a:prstGeom>
          <a:noFill/>
        </p:spPr>
        <p:txBody>
          <a:bodyPr wrap="square" lIns="0" rIns="0" tIns="0" bIns="0" anchor="t">
            <a:spAutoFit/>
          </a:bodyPr>
          <a:lstStyle/>
          <a:p>
            <a:pPr algn="l"/>
            <a:r>
              <a:rPr sz="1400" b="0" i="0">
                <a:solidFill>
                  <a:srgbClr val="22313F"/>
                </a:solidFill>
                <a:latin typeface="Calibri"/>
              </a:rPr>
              <a:t>citizen_digital and citizen-pulse are partial because some tables failed. A grant for artists_app does not resolve them.</a:t>
            </a:r>
          </a:p>
        </p:txBody>
      </p:sp>
      <p:cxnSp>
        <p:nvCxnSpPr>
          <p:cNvPr id="12" name="Connector 11"/>
          <p:cNvCxnSpPr/>
          <p:nvPr/>
        </p:nvCxnSpPr>
        <p:spPr>
          <a:xfrm>
            <a:off x="594360" y="4639437"/>
            <a:ext cx="11002975" cy="0"/>
          </a:xfrm>
          <a:prstGeom prst="line">
            <a:avLst/>
          </a:prstGeom>
          <a:ln w="9525">
            <a:solidFill>
              <a:srgbClr val="D8DEE5"/>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749165"/>
            <a:ext cx="640080" cy="942975"/>
          </a:xfrm>
          <a:prstGeom prst="rect">
            <a:avLst/>
          </a:prstGeom>
          <a:noFill/>
        </p:spPr>
        <p:txBody>
          <a:bodyPr wrap="square" lIns="0" rIns="0" tIns="0" bIns="0" anchor="t">
            <a:spAutoFit/>
          </a:bodyPr>
          <a:lstStyle/>
          <a:p>
            <a:pPr algn="l"/>
            <a:r>
              <a:rPr sz="2600" b="0" i="0">
                <a:solidFill>
                  <a:srgbClr val="0E7C86"/>
                </a:solidFill>
                <a:latin typeface="Courier New"/>
              </a:rPr>
              <a:t>04</a:t>
            </a:r>
          </a:p>
        </p:txBody>
      </p:sp>
      <p:sp>
        <p:nvSpPr>
          <p:cNvPr id="14" name="TextBox 13"/>
          <p:cNvSpPr txBox="1"/>
          <p:nvPr/>
        </p:nvSpPr>
        <p:spPr>
          <a:xfrm>
            <a:off x="1417320" y="4822317"/>
            <a:ext cx="10180015" cy="851535"/>
          </a:xfrm>
          <a:prstGeom prst="rect">
            <a:avLst/>
          </a:prstGeom>
          <a:noFill/>
        </p:spPr>
        <p:txBody>
          <a:bodyPr wrap="square" lIns="0" rIns="0" tIns="0" bIns="0" anchor="t">
            <a:spAutoFit/>
          </a:bodyPr>
          <a:lstStyle/>
          <a:p>
            <a:pPr algn="l"/>
            <a:r>
              <a:rPr sz="1400" b="0" i="0">
                <a:solidFill>
                  <a:srgbClr val="22313F"/>
                </a:solidFill>
                <a:latin typeface="Calibri"/>
              </a:rPr>
              <a:t>Databases measured number 20. A successful run and delivered evidence do not establish complete coverage.</a:t>
            </a:r>
          </a:p>
        </p:txBody>
      </p:sp>
      <p:cxnSp>
        <p:nvCxnSpPr>
          <p:cNvPr id="15" name="Connector 14"/>
          <p:cNvCxnSpPr/>
          <p:nvPr/>
        </p:nvCxnSpPr>
        <p:spPr>
          <a:xfrm>
            <a:off x="594360" y="5582412"/>
            <a:ext cx="11002975" cy="0"/>
          </a:xfrm>
          <a:prstGeom prst="line">
            <a:avLst/>
          </a:prstGeom>
          <a:ln w="9525">
            <a:solidFill>
              <a:srgbClr val="D8DEE5"/>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F8C9A"/>
                </a:solidFill>
                <a:latin typeface="Calibri"/>
              </a:rPr>
              <a:t>CC-eij-1b359b3cbd2e</a:t>
            </a:r>
          </a:p>
        </p:txBody>
      </p:sp>
      <p:sp>
        <p:nvSpPr>
          <p:cNvPr id="17" name="TextBox 16"/>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F8C9A"/>
                </a:solidFill>
                <a:latin typeface="Calibri"/>
              </a:rPr>
              <a:t>Tenant confidential</a:t>
            </a:r>
          </a:p>
        </p:txBody>
      </p:sp>
      <p:sp>
        <p:nvSpPr>
          <p:cNvPr id="18" name="TextBox 17"/>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F8C9A"/>
                </a:solidFill>
                <a:latin typeface="Courier New"/>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F8C9A"/>
                </a:solidFill>
                <a:latin typeface="Calibri"/>
              </a:rPr>
              <a:t>PROVENANCE AND USAGE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22313F"/>
                </a:solidFill>
                <a:latin typeface="Cambria"/>
              </a:rPr>
              <a:t>The delivery is traceable and the lawful basis is recorded, but traceability is not coverage</a:t>
            </a:r>
          </a:p>
        </p:txBody>
      </p:sp>
      <p:sp>
        <p:nvSpPr>
          <p:cNvPr id="4" name="TextBox 3"/>
          <p:cNvSpPr txBox="1"/>
          <p:nvPr/>
        </p:nvSpPr>
        <p:spPr>
          <a:xfrm>
            <a:off x="594360" y="1920240"/>
            <a:ext cx="640080" cy="942975"/>
          </a:xfrm>
          <a:prstGeom prst="rect">
            <a:avLst/>
          </a:prstGeom>
          <a:noFill/>
        </p:spPr>
        <p:txBody>
          <a:bodyPr wrap="square" lIns="0" rIns="0" tIns="0" bIns="0" anchor="t">
            <a:spAutoFit/>
          </a:bodyPr>
          <a:lstStyle/>
          <a:p>
            <a:pPr algn="l"/>
            <a:r>
              <a:rPr sz="2600" b="0" i="0">
                <a:solidFill>
                  <a:srgbClr val="0E7C86"/>
                </a:solidFill>
                <a:latin typeface="Courier New"/>
              </a:rPr>
              <a:t>01</a:t>
            </a:r>
          </a:p>
        </p:txBody>
      </p:sp>
      <p:sp>
        <p:nvSpPr>
          <p:cNvPr id="5" name="TextBox 4"/>
          <p:cNvSpPr txBox="1"/>
          <p:nvPr/>
        </p:nvSpPr>
        <p:spPr>
          <a:xfrm>
            <a:off x="1417320" y="1993392"/>
            <a:ext cx="10180015" cy="851535"/>
          </a:xfrm>
          <a:prstGeom prst="rect">
            <a:avLst/>
          </a:prstGeom>
          <a:noFill/>
        </p:spPr>
        <p:txBody>
          <a:bodyPr wrap="square" lIns="0" rIns="0" tIns="0" bIns="0" anchor="t">
            <a:spAutoFit/>
          </a:bodyPr>
          <a:lstStyle/>
          <a:p>
            <a:pPr algn="l"/>
            <a:r>
              <a:rPr sz="1400" b="0" i="0">
                <a:solidFill>
                  <a:srgbClr val="22313F"/>
                </a:solidFill>
                <a:latin typeface="Calibri"/>
              </a:rPr>
              <a:t>The job record, the lawful-basis admit and 3 ledger rows support provenance. The ledger shows admit, gate and a successful close.</a:t>
            </a:r>
          </a:p>
        </p:txBody>
      </p:sp>
      <p:cxnSp>
        <p:nvCxnSpPr>
          <p:cNvPr id="6" name="Connector 5"/>
          <p:cNvCxnSpPr/>
          <p:nvPr/>
        </p:nvCxnSpPr>
        <p:spPr>
          <a:xfrm>
            <a:off x="594360" y="2753487"/>
            <a:ext cx="11002975" cy="0"/>
          </a:xfrm>
          <a:prstGeom prst="line">
            <a:avLst/>
          </a:prstGeom>
          <a:ln w="9525">
            <a:solidFill>
              <a:srgbClr val="D8DEE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863215"/>
            <a:ext cx="640080" cy="942975"/>
          </a:xfrm>
          <a:prstGeom prst="rect">
            <a:avLst/>
          </a:prstGeom>
          <a:noFill/>
        </p:spPr>
        <p:txBody>
          <a:bodyPr wrap="square" lIns="0" rIns="0" tIns="0" bIns="0" anchor="t">
            <a:spAutoFit/>
          </a:bodyPr>
          <a:lstStyle/>
          <a:p>
            <a:pPr algn="l"/>
            <a:r>
              <a:rPr sz="2600" b="0" i="0">
                <a:solidFill>
                  <a:srgbClr val="0E7C86"/>
                </a:solidFill>
                <a:latin typeface="Courier New"/>
              </a:rPr>
              <a:t>02</a:t>
            </a:r>
          </a:p>
        </p:txBody>
      </p:sp>
      <p:sp>
        <p:nvSpPr>
          <p:cNvPr id="8" name="TextBox 7"/>
          <p:cNvSpPr txBox="1"/>
          <p:nvPr/>
        </p:nvSpPr>
        <p:spPr>
          <a:xfrm>
            <a:off x="1417320" y="2936367"/>
            <a:ext cx="10180015" cy="851535"/>
          </a:xfrm>
          <a:prstGeom prst="rect">
            <a:avLst/>
          </a:prstGeom>
          <a:noFill/>
        </p:spPr>
        <p:txBody>
          <a:bodyPr wrap="square" lIns="0" rIns="0" tIns="0" bIns="0" anchor="t">
            <a:spAutoFit/>
          </a:bodyPr>
          <a:lstStyle/>
          <a:p>
            <a:pPr algn="l"/>
            <a:r>
              <a:rPr sz="1400" b="0" i="0">
                <a:solidFill>
                  <a:srgbClr val="22313F"/>
                </a:solidFill>
                <a:latin typeface="Calibri"/>
              </a:rPr>
              <a:t>Ledger success and the digest-verified receipt show the job ran as recorded. They do not show complete coverage.</a:t>
            </a:r>
          </a:p>
        </p:txBody>
      </p:sp>
      <p:cxnSp>
        <p:nvCxnSpPr>
          <p:cNvPr id="9" name="Connector 8"/>
          <p:cNvCxnSpPr/>
          <p:nvPr/>
        </p:nvCxnSpPr>
        <p:spPr>
          <a:xfrm>
            <a:off x="594360" y="3696461"/>
            <a:ext cx="11002975" cy="0"/>
          </a:xfrm>
          <a:prstGeom prst="line">
            <a:avLst/>
          </a:prstGeom>
          <a:ln w="9525">
            <a:solidFill>
              <a:srgbClr val="D8DEE5"/>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806189"/>
            <a:ext cx="640080" cy="942975"/>
          </a:xfrm>
          <a:prstGeom prst="rect">
            <a:avLst/>
          </a:prstGeom>
          <a:noFill/>
        </p:spPr>
        <p:txBody>
          <a:bodyPr wrap="square" lIns="0" rIns="0" tIns="0" bIns="0" anchor="t">
            <a:spAutoFit/>
          </a:bodyPr>
          <a:lstStyle/>
          <a:p>
            <a:pPr algn="l"/>
            <a:r>
              <a:rPr sz="2600" b="0" i="0">
                <a:solidFill>
                  <a:srgbClr val="0E7C86"/>
                </a:solidFill>
                <a:latin typeface="Courier New"/>
              </a:rPr>
              <a:t>03</a:t>
            </a:r>
          </a:p>
        </p:txBody>
      </p:sp>
      <p:sp>
        <p:nvSpPr>
          <p:cNvPr id="11" name="TextBox 10"/>
          <p:cNvSpPr txBox="1"/>
          <p:nvPr/>
        </p:nvSpPr>
        <p:spPr>
          <a:xfrm>
            <a:off x="1417320" y="3879341"/>
            <a:ext cx="10180015" cy="851535"/>
          </a:xfrm>
          <a:prstGeom prst="rect">
            <a:avLst/>
          </a:prstGeom>
          <a:noFill/>
        </p:spPr>
        <p:txBody>
          <a:bodyPr wrap="square" lIns="0" rIns="0" tIns="0" bIns="0" anchor="t">
            <a:spAutoFit/>
          </a:bodyPr>
          <a:lstStyle/>
          <a:p>
            <a:pPr algn="l"/>
            <a:r>
              <a:rPr sz="1400" b="0" i="0">
                <a:solidFill>
                  <a:srgbClr val="22313F"/>
                </a:solidFill>
                <a:latin typeface="Calibri"/>
              </a:rPr>
              <a:t>The executive dossier used 17679 tokens in and 4583 tokens out. This describes its composition, not census coverage.</a:t>
            </a:r>
          </a:p>
        </p:txBody>
      </p:sp>
      <p:cxnSp>
        <p:nvCxnSpPr>
          <p:cNvPr id="12" name="Connector 11"/>
          <p:cNvCxnSpPr/>
          <p:nvPr/>
        </p:nvCxnSpPr>
        <p:spPr>
          <a:xfrm>
            <a:off x="594360" y="4639437"/>
            <a:ext cx="11002975" cy="0"/>
          </a:xfrm>
          <a:prstGeom prst="line">
            <a:avLst/>
          </a:prstGeom>
          <a:ln w="9525">
            <a:solidFill>
              <a:srgbClr val="D8DEE5"/>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749165"/>
            <a:ext cx="640080" cy="942975"/>
          </a:xfrm>
          <a:prstGeom prst="rect">
            <a:avLst/>
          </a:prstGeom>
          <a:noFill/>
        </p:spPr>
        <p:txBody>
          <a:bodyPr wrap="square" lIns="0" rIns="0" tIns="0" bIns="0" anchor="t">
            <a:spAutoFit/>
          </a:bodyPr>
          <a:lstStyle/>
          <a:p>
            <a:pPr algn="l"/>
            <a:r>
              <a:rPr sz="2600" b="0" i="0">
                <a:solidFill>
                  <a:srgbClr val="0E7C86"/>
                </a:solidFill>
                <a:latin typeface="Courier New"/>
              </a:rPr>
              <a:t>04</a:t>
            </a:r>
          </a:p>
        </p:txBody>
      </p:sp>
      <p:sp>
        <p:nvSpPr>
          <p:cNvPr id="14" name="TextBox 13"/>
          <p:cNvSpPr txBox="1"/>
          <p:nvPr/>
        </p:nvSpPr>
        <p:spPr>
          <a:xfrm>
            <a:off x="1417320" y="4822317"/>
            <a:ext cx="10180015" cy="851535"/>
          </a:xfrm>
          <a:prstGeom prst="rect">
            <a:avLst/>
          </a:prstGeom>
          <a:noFill/>
        </p:spPr>
        <p:txBody>
          <a:bodyPr wrap="square" lIns="0" rIns="0" tIns="0" bIns="0" anchor="t">
            <a:spAutoFit/>
          </a:bodyPr>
          <a:lstStyle/>
          <a:p>
            <a:pPr algn="l"/>
            <a:r>
              <a:rPr sz="1400" b="0" i="0">
                <a:solidFill>
                  <a:srgbClr val="22313F"/>
                </a:solidFill>
                <a:latin typeface="Calibri"/>
              </a:rPr>
              <a:t>Object storage enumeration reached 106 buckets, and 40 were unreachable. This is separate from the database census.</a:t>
            </a:r>
          </a:p>
        </p:txBody>
      </p:sp>
      <p:cxnSp>
        <p:nvCxnSpPr>
          <p:cNvPr id="15" name="Connector 14"/>
          <p:cNvCxnSpPr/>
          <p:nvPr/>
        </p:nvCxnSpPr>
        <p:spPr>
          <a:xfrm>
            <a:off x="594360" y="5582412"/>
            <a:ext cx="11002975" cy="0"/>
          </a:xfrm>
          <a:prstGeom prst="line">
            <a:avLst/>
          </a:prstGeom>
          <a:ln w="9525">
            <a:solidFill>
              <a:srgbClr val="D8DEE5"/>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F8C9A"/>
                </a:solidFill>
                <a:latin typeface="Calibri"/>
              </a:rPr>
              <a:t>CC-eij-1b359b3cbd2e</a:t>
            </a:r>
          </a:p>
        </p:txBody>
      </p:sp>
      <p:sp>
        <p:nvSpPr>
          <p:cNvPr id="17" name="TextBox 16"/>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F8C9A"/>
                </a:solidFill>
                <a:latin typeface="Calibri"/>
              </a:rPr>
              <a:t>Tenant confidential</a:t>
            </a:r>
          </a:p>
        </p:txBody>
      </p:sp>
      <p:sp>
        <p:nvSpPr>
          <p:cNvPr id="18" name="TextBox 17"/>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F8C9A"/>
                </a:solidFill>
                <a:latin typeface="Courier New"/>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F8C9A"/>
                </a:solidFill>
                <a:latin typeface="Calibri"/>
              </a:rPr>
              <a:t>WHAT TO DO, IN ORDER</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22313F"/>
                </a:solidFill>
                <a:latin typeface="Cambria"/>
              </a:rPr>
              <a:t>Accept the partial record, keep the commission open, and unblock artists_app first</a:t>
            </a:r>
          </a:p>
        </p:txBody>
      </p:sp>
      <p:sp>
        <p:nvSpPr>
          <p:cNvPr id="4" name="TextBox 3"/>
          <p:cNvSpPr txBox="1"/>
          <p:nvPr/>
        </p:nvSpPr>
        <p:spPr>
          <a:xfrm>
            <a:off x="594360" y="1920240"/>
            <a:ext cx="640080" cy="754380"/>
          </a:xfrm>
          <a:prstGeom prst="rect">
            <a:avLst/>
          </a:prstGeom>
          <a:noFill/>
        </p:spPr>
        <p:txBody>
          <a:bodyPr wrap="square" lIns="0" rIns="0" tIns="0" bIns="0" anchor="t">
            <a:spAutoFit/>
          </a:bodyPr>
          <a:lstStyle/>
          <a:p>
            <a:pPr algn="l"/>
            <a:r>
              <a:rPr sz="2600" b="0" i="0">
                <a:solidFill>
                  <a:srgbClr val="0E7C86"/>
                </a:solidFill>
                <a:latin typeface="Courier New"/>
              </a:rPr>
              <a:t>01</a:t>
            </a:r>
          </a:p>
        </p:txBody>
      </p:sp>
      <p:sp>
        <p:nvSpPr>
          <p:cNvPr id="5" name="TextBox 4"/>
          <p:cNvSpPr txBox="1"/>
          <p:nvPr/>
        </p:nvSpPr>
        <p:spPr>
          <a:xfrm>
            <a:off x="1417320" y="1993392"/>
            <a:ext cx="10180015" cy="662940"/>
          </a:xfrm>
          <a:prstGeom prst="rect">
            <a:avLst/>
          </a:prstGeom>
          <a:noFill/>
        </p:spPr>
        <p:txBody>
          <a:bodyPr wrap="square" lIns="0" rIns="0" tIns="0" bIns="0" anchor="t">
            <a:spAutoFit/>
          </a:bodyPr>
          <a:lstStyle/>
          <a:p>
            <a:pPr algn="l"/>
            <a:r>
              <a:rPr sz="1400" b="0" i="0">
                <a:solidFill>
                  <a:srgbClr val="22313F"/>
                </a:solidFill>
                <a:latin typeface="Calibri"/>
              </a:rPr>
              <a:t>Decide: accept 638 of 1006 tables as a documented partial census; hold the commission open.</a:t>
            </a:r>
          </a:p>
        </p:txBody>
      </p:sp>
      <p:cxnSp>
        <p:nvCxnSpPr>
          <p:cNvPr id="6" name="Connector 5"/>
          <p:cNvCxnSpPr/>
          <p:nvPr/>
        </p:nvCxnSpPr>
        <p:spPr>
          <a:xfrm>
            <a:off x="594360" y="2564891"/>
            <a:ext cx="11002975" cy="0"/>
          </a:xfrm>
          <a:prstGeom prst="line">
            <a:avLst/>
          </a:prstGeom>
          <a:ln w="9525">
            <a:solidFill>
              <a:srgbClr val="D8DEE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674620"/>
            <a:ext cx="640080" cy="754380"/>
          </a:xfrm>
          <a:prstGeom prst="rect">
            <a:avLst/>
          </a:prstGeom>
          <a:noFill/>
        </p:spPr>
        <p:txBody>
          <a:bodyPr wrap="square" lIns="0" rIns="0" tIns="0" bIns="0" anchor="t">
            <a:spAutoFit/>
          </a:bodyPr>
          <a:lstStyle/>
          <a:p>
            <a:pPr algn="l"/>
            <a:r>
              <a:rPr sz="2600" b="0" i="0">
                <a:solidFill>
                  <a:srgbClr val="0E7C86"/>
                </a:solidFill>
                <a:latin typeface="Courier New"/>
              </a:rPr>
              <a:t>02</a:t>
            </a:r>
          </a:p>
        </p:txBody>
      </p:sp>
      <p:sp>
        <p:nvSpPr>
          <p:cNvPr id="8" name="TextBox 7"/>
          <p:cNvSpPr txBox="1"/>
          <p:nvPr/>
        </p:nvSpPr>
        <p:spPr>
          <a:xfrm>
            <a:off x="1417320" y="2747772"/>
            <a:ext cx="10180015" cy="662940"/>
          </a:xfrm>
          <a:prstGeom prst="rect">
            <a:avLst/>
          </a:prstGeom>
          <a:noFill/>
        </p:spPr>
        <p:txBody>
          <a:bodyPr wrap="square" lIns="0" rIns="0" tIns="0" bIns="0" anchor="t">
            <a:spAutoFit/>
          </a:bodyPr>
          <a:lstStyle/>
          <a:p>
            <a:pPr algn="l"/>
            <a:r>
              <a:rPr sz="1400" b="0" i="0">
                <a:solidFill>
                  <a:srgbClr val="22313F"/>
                </a:solidFill>
                <a:latin typeface="Calibri"/>
              </a:rPr>
              <a:t>Grant artists_app access and commission a re-census; only the owner can clear this.</a:t>
            </a:r>
          </a:p>
        </p:txBody>
      </p:sp>
      <p:cxnSp>
        <p:nvCxnSpPr>
          <p:cNvPr id="9" name="Connector 8"/>
          <p:cNvCxnSpPr/>
          <p:nvPr/>
        </p:nvCxnSpPr>
        <p:spPr>
          <a:xfrm>
            <a:off x="594360" y="3319272"/>
            <a:ext cx="11002975" cy="0"/>
          </a:xfrm>
          <a:prstGeom prst="line">
            <a:avLst/>
          </a:prstGeom>
          <a:ln w="9525">
            <a:solidFill>
              <a:srgbClr val="D8DEE5"/>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429000"/>
            <a:ext cx="640080" cy="754380"/>
          </a:xfrm>
          <a:prstGeom prst="rect">
            <a:avLst/>
          </a:prstGeom>
          <a:noFill/>
        </p:spPr>
        <p:txBody>
          <a:bodyPr wrap="square" lIns="0" rIns="0" tIns="0" bIns="0" anchor="t">
            <a:spAutoFit/>
          </a:bodyPr>
          <a:lstStyle/>
          <a:p>
            <a:pPr algn="l"/>
            <a:r>
              <a:rPr sz="2600" b="0" i="0">
                <a:solidFill>
                  <a:srgbClr val="0E7C86"/>
                </a:solidFill>
                <a:latin typeface="Courier New"/>
              </a:rPr>
              <a:t>03</a:t>
            </a:r>
          </a:p>
        </p:txBody>
      </p:sp>
      <p:sp>
        <p:nvSpPr>
          <p:cNvPr id="11" name="TextBox 10"/>
          <p:cNvSpPr txBox="1"/>
          <p:nvPr/>
        </p:nvSpPr>
        <p:spPr>
          <a:xfrm>
            <a:off x="1417320" y="3502152"/>
            <a:ext cx="10180015" cy="662940"/>
          </a:xfrm>
          <a:prstGeom prst="rect">
            <a:avLst/>
          </a:prstGeom>
          <a:noFill/>
        </p:spPr>
        <p:txBody>
          <a:bodyPr wrap="square" lIns="0" rIns="0" tIns="0" bIns="0" anchor="t">
            <a:spAutoFit/>
          </a:bodyPr>
          <a:lstStyle/>
          <a:p>
            <a:pPr algn="l"/>
            <a:r>
              <a:rPr sz="1400" b="0" i="0">
                <a:solidFill>
                  <a:srgbClr val="22313F"/>
                </a:solidFill>
                <a:latin typeface="Calibri"/>
              </a:rPr>
              <a:t>Re-run the 44 failed tables and partial connections; the grant alone will not recover them.</a:t>
            </a:r>
          </a:p>
        </p:txBody>
      </p:sp>
      <p:cxnSp>
        <p:nvCxnSpPr>
          <p:cNvPr id="12" name="Connector 11"/>
          <p:cNvCxnSpPr/>
          <p:nvPr/>
        </p:nvCxnSpPr>
        <p:spPr>
          <a:xfrm>
            <a:off x="594360" y="4073652"/>
            <a:ext cx="11002975" cy="0"/>
          </a:xfrm>
          <a:prstGeom prst="line">
            <a:avLst/>
          </a:prstGeom>
          <a:ln w="9525">
            <a:solidFill>
              <a:srgbClr val="D8DEE5"/>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183379"/>
            <a:ext cx="640080" cy="754380"/>
          </a:xfrm>
          <a:prstGeom prst="rect">
            <a:avLst/>
          </a:prstGeom>
          <a:noFill/>
        </p:spPr>
        <p:txBody>
          <a:bodyPr wrap="square" lIns="0" rIns="0" tIns="0" bIns="0" anchor="t">
            <a:spAutoFit/>
          </a:bodyPr>
          <a:lstStyle/>
          <a:p>
            <a:pPr algn="l"/>
            <a:r>
              <a:rPr sz="2600" b="0" i="0">
                <a:solidFill>
                  <a:srgbClr val="0E7C86"/>
                </a:solidFill>
                <a:latin typeface="Courier New"/>
              </a:rPr>
              <a:t>04</a:t>
            </a:r>
          </a:p>
        </p:txBody>
      </p:sp>
      <p:sp>
        <p:nvSpPr>
          <p:cNvPr id="14" name="TextBox 13"/>
          <p:cNvSpPr txBox="1"/>
          <p:nvPr/>
        </p:nvSpPr>
        <p:spPr>
          <a:xfrm>
            <a:off x="1417320" y="4256531"/>
            <a:ext cx="10180015" cy="662940"/>
          </a:xfrm>
          <a:prstGeom prst="rect">
            <a:avLst/>
          </a:prstGeom>
          <a:noFill/>
        </p:spPr>
        <p:txBody>
          <a:bodyPr wrap="square" lIns="0" rIns="0" tIns="0" bIns="0" anchor="t">
            <a:spAutoFit/>
          </a:bodyPr>
          <a:lstStyle/>
          <a:p>
            <a:pPr algn="l"/>
            <a:r>
              <a:rPr sz="1400" b="0" i="0">
                <a:solidFill>
                  <a:srgbClr val="22313F"/>
                </a:solidFill>
                <a:latin typeface="Calibri"/>
              </a:rPr>
              <a:t>Order complete passes on 83 stratified and 41 head-sampled tables where ratios matter.</a:t>
            </a:r>
          </a:p>
        </p:txBody>
      </p:sp>
      <p:cxnSp>
        <p:nvCxnSpPr>
          <p:cNvPr id="15" name="Connector 14"/>
          <p:cNvCxnSpPr/>
          <p:nvPr/>
        </p:nvCxnSpPr>
        <p:spPr>
          <a:xfrm>
            <a:off x="594360" y="4828031"/>
            <a:ext cx="11002975" cy="0"/>
          </a:xfrm>
          <a:prstGeom prst="line">
            <a:avLst/>
          </a:prstGeom>
          <a:ln w="9525">
            <a:solidFill>
              <a:srgbClr val="D8DEE5"/>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4937760"/>
            <a:ext cx="640080" cy="754380"/>
          </a:xfrm>
          <a:prstGeom prst="rect">
            <a:avLst/>
          </a:prstGeom>
          <a:noFill/>
        </p:spPr>
        <p:txBody>
          <a:bodyPr wrap="square" lIns="0" rIns="0" tIns="0" bIns="0" anchor="t">
            <a:spAutoFit/>
          </a:bodyPr>
          <a:lstStyle/>
          <a:p>
            <a:pPr algn="l"/>
            <a:r>
              <a:rPr sz="2600" b="0" i="0">
                <a:solidFill>
                  <a:srgbClr val="0E7C86"/>
                </a:solidFill>
                <a:latin typeface="Courier New"/>
              </a:rPr>
              <a:t>05</a:t>
            </a:r>
          </a:p>
        </p:txBody>
      </p:sp>
      <p:sp>
        <p:nvSpPr>
          <p:cNvPr id="17" name="TextBox 16"/>
          <p:cNvSpPr txBox="1"/>
          <p:nvPr/>
        </p:nvSpPr>
        <p:spPr>
          <a:xfrm>
            <a:off x="1417320" y="5010912"/>
            <a:ext cx="10180015" cy="662940"/>
          </a:xfrm>
          <a:prstGeom prst="rect">
            <a:avLst/>
          </a:prstGeom>
          <a:noFill/>
        </p:spPr>
        <p:txBody>
          <a:bodyPr wrap="square" lIns="0" rIns="0" tIns="0" bIns="0" anchor="t">
            <a:spAutoFit/>
          </a:bodyPr>
          <a:lstStyle/>
          <a:p>
            <a:pPr algn="l"/>
            <a:r>
              <a:rPr sz="1400" b="0" i="0">
                <a:solidFill>
                  <a:srgbClr val="22313F"/>
                </a:solidFill>
                <a:latin typeface="Calibri"/>
              </a:rPr>
              <a:t>Declare rights; commission a language and similarity pass.</a:t>
            </a:r>
          </a:p>
        </p:txBody>
      </p:sp>
      <p:cxnSp>
        <p:nvCxnSpPr>
          <p:cNvPr id="18" name="Connector 17"/>
          <p:cNvCxnSpPr/>
          <p:nvPr/>
        </p:nvCxnSpPr>
        <p:spPr>
          <a:xfrm>
            <a:off x="594360" y="5582412"/>
            <a:ext cx="11002975" cy="0"/>
          </a:xfrm>
          <a:prstGeom prst="line">
            <a:avLst/>
          </a:prstGeom>
          <a:ln w="9525">
            <a:solidFill>
              <a:srgbClr val="D8DEE5"/>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F8C9A"/>
                </a:solidFill>
                <a:latin typeface="Calibri"/>
              </a:rPr>
              <a:t>CC-eij-1b359b3cbd2e</a:t>
            </a:r>
          </a:p>
        </p:txBody>
      </p:sp>
      <p:sp>
        <p:nvSpPr>
          <p:cNvPr id="20" name="TextBox 19"/>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F8C9A"/>
                </a:solidFill>
                <a:latin typeface="Calibri"/>
              </a:rPr>
              <a:t>Tenant confidential</a:t>
            </a:r>
          </a:p>
        </p:txBody>
      </p:sp>
      <p:sp>
        <p:nvSpPr>
          <p:cNvPr id="21" name="TextBox 20"/>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F8C9A"/>
                </a:solidFill>
                <a:latin typeface="Courier New"/>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F8C9A"/>
                </a:solidFill>
                <a:latin typeface="Calibri"/>
              </a:rPr>
              <a:t>LIMITS ON CONFIDENCE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22313F"/>
                </a:solidFill>
                <a:latin typeface="Cambria"/>
              </a:rPr>
              <a:t>Closing now would rest on partial reach, sampled ratios and unmeasured rights and language</a:t>
            </a:r>
          </a:p>
        </p:txBody>
      </p:sp>
      <p:sp>
        <p:nvSpPr>
          <p:cNvPr id="4" name="TextBox 3"/>
          <p:cNvSpPr txBox="1"/>
          <p:nvPr/>
        </p:nvSpPr>
        <p:spPr>
          <a:xfrm>
            <a:off x="594360" y="1920240"/>
            <a:ext cx="640080" cy="754380"/>
          </a:xfrm>
          <a:prstGeom prst="rect">
            <a:avLst/>
          </a:prstGeom>
          <a:noFill/>
        </p:spPr>
        <p:txBody>
          <a:bodyPr wrap="square" lIns="0" rIns="0" tIns="0" bIns="0" anchor="t">
            <a:spAutoFit/>
          </a:bodyPr>
          <a:lstStyle/>
          <a:p>
            <a:pPr algn="l"/>
            <a:r>
              <a:rPr sz="2600" b="0" i="0">
                <a:solidFill>
                  <a:srgbClr val="0E7C86"/>
                </a:solidFill>
                <a:latin typeface="Courier New"/>
              </a:rPr>
              <a:t>01</a:t>
            </a:r>
          </a:p>
        </p:txBody>
      </p:sp>
      <p:sp>
        <p:nvSpPr>
          <p:cNvPr id="5" name="TextBox 4"/>
          <p:cNvSpPr txBox="1"/>
          <p:nvPr/>
        </p:nvSpPr>
        <p:spPr>
          <a:xfrm>
            <a:off x="1417320" y="1993392"/>
            <a:ext cx="10180015" cy="662940"/>
          </a:xfrm>
          <a:prstGeom prst="rect">
            <a:avLst/>
          </a:prstGeom>
          <a:noFill/>
        </p:spPr>
        <p:txBody>
          <a:bodyPr wrap="square" lIns="0" rIns="0" tIns="0" bIns="0" anchor="t">
            <a:spAutoFit/>
          </a:bodyPr>
          <a:lstStyle/>
          <a:p>
            <a:pPr algn="l"/>
            <a:r>
              <a:rPr sz="1400" b="0" i="0">
                <a:solidFill>
                  <a:srgbClr val="22313F"/>
                </a:solidFill>
                <a:latin typeface="Calibri"/>
              </a:rPr>
              <a:t>Scope was 1006 tables and 638 were measured. Any estate-wide statement goes beyond the evidence.</a:t>
            </a:r>
          </a:p>
        </p:txBody>
      </p:sp>
      <p:cxnSp>
        <p:nvCxnSpPr>
          <p:cNvPr id="6" name="Connector 5"/>
          <p:cNvCxnSpPr/>
          <p:nvPr/>
        </p:nvCxnSpPr>
        <p:spPr>
          <a:xfrm>
            <a:off x="594360" y="2564891"/>
            <a:ext cx="11002975" cy="0"/>
          </a:xfrm>
          <a:prstGeom prst="line">
            <a:avLst/>
          </a:prstGeom>
          <a:ln w="9525">
            <a:solidFill>
              <a:srgbClr val="D8DEE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674620"/>
            <a:ext cx="640080" cy="754380"/>
          </a:xfrm>
          <a:prstGeom prst="rect">
            <a:avLst/>
          </a:prstGeom>
          <a:noFill/>
        </p:spPr>
        <p:txBody>
          <a:bodyPr wrap="square" lIns="0" rIns="0" tIns="0" bIns="0" anchor="t">
            <a:spAutoFit/>
          </a:bodyPr>
          <a:lstStyle/>
          <a:p>
            <a:pPr algn="l"/>
            <a:r>
              <a:rPr sz="2600" b="0" i="0">
                <a:solidFill>
                  <a:srgbClr val="0E7C86"/>
                </a:solidFill>
                <a:latin typeface="Courier New"/>
              </a:rPr>
              <a:t>02</a:t>
            </a:r>
          </a:p>
        </p:txBody>
      </p:sp>
      <p:sp>
        <p:nvSpPr>
          <p:cNvPr id="8" name="TextBox 7"/>
          <p:cNvSpPr txBox="1"/>
          <p:nvPr/>
        </p:nvSpPr>
        <p:spPr>
          <a:xfrm>
            <a:off x="1417320" y="2747772"/>
            <a:ext cx="10180015" cy="662940"/>
          </a:xfrm>
          <a:prstGeom prst="rect">
            <a:avLst/>
          </a:prstGeom>
          <a:noFill/>
        </p:spPr>
        <p:txBody>
          <a:bodyPr wrap="square" lIns="0" rIns="0" tIns="0" bIns="0" anchor="t">
            <a:spAutoFit/>
          </a:bodyPr>
          <a:lstStyle/>
          <a:p>
            <a:pPr algn="l"/>
            <a:r>
              <a:rPr sz="1400" b="0" i="0">
                <a:solidFill>
                  <a:srgbClr val="22313F"/>
                </a:solidFill>
                <a:latin typeface="Calibri"/>
              </a:rPr>
              <a:t>Only 513 tables had a complete pass. Ratios on 83 and 41 sampled tables are not full measurements.</a:t>
            </a:r>
          </a:p>
        </p:txBody>
      </p:sp>
      <p:cxnSp>
        <p:nvCxnSpPr>
          <p:cNvPr id="9" name="Connector 8"/>
          <p:cNvCxnSpPr/>
          <p:nvPr/>
        </p:nvCxnSpPr>
        <p:spPr>
          <a:xfrm>
            <a:off x="594360" y="3319272"/>
            <a:ext cx="11002975" cy="0"/>
          </a:xfrm>
          <a:prstGeom prst="line">
            <a:avLst/>
          </a:prstGeom>
          <a:ln w="9525">
            <a:solidFill>
              <a:srgbClr val="D8DEE5"/>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429000"/>
            <a:ext cx="640080" cy="754380"/>
          </a:xfrm>
          <a:prstGeom prst="rect">
            <a:avLst/>
          </a:prstGeom>
          <a:noFill/>
        </p:spPr>
        <p:txBody>
          <a:bodyPr wrap="square" lIns="0" rIns="0" tIns="0" bIns="0" anchor="t">
            <a:spAutoFit/>
          </a:bodyPr>
          <a:lstStyle/>
          <a:p>
            <a:pPr algn="l"/>
            <a:r>
              <a:rPr sz="2600" b="0" i="0">
                <a:solidFill>
                  <a:srgbClr val="0E7C86"/>
                </a:solidFill>
                <a:latin typeface="Courier New"/>
              </a:rPr>
              <a:t>03</a:t>
            </a:r>
          </a:p>
        </p:txBody>
      </p:sp>
      <p:sp>
        <p:nvSpPr>
          <p:cNvPr id="11" name="TextBox 10"/>
          <p:cNvSpPr txBox="1"/>
          <p:nvPr/>
        </p:nvSpPr>
        <p:spPr>
          <a:xfrm>
            <a:off x="1417320" y="3502152"/>
            <a:ext cx="10180015" cy="662940"/>
          </a:xfrm>
          <a:prstGeom prst="rect">
            <a:avLst/>
          </a:prstGeom>
          <a:noFill/>
        </p:spPr>
        <p:txBody>
          <a:bodyPr wrap="square" lIns="0" rIns="0" tIns="0" bIns="0" anchor="t">
            <a:spAutoFit/>
          </a:bodyPr>
          <a:lstStyle/>
          <a:p>
            <a:pPr algn="l"/>
            <a:r>
              <a:rPr sz="1400" b="0" i="0">
                <a:solidFill>
                  <a:srgbClr val="22313F"/>
                </a:solidFill>
                <a:latin typeface="Calibri"/>
              </a:rPr>
              <a:t>The 44 failed tables are unmeasured, and artists_app is unread, so its true size is unknown.</a:t>
            </a:r>
          </a:p>
        </p:txBody>
      </p:sp>
      <p:cxnSp>
        <p:nvCxnSpPr>
          <p:cNvPr id="12" name="Connector 11"/>
          <p:cNvCxnSpPr/>
          <p:nvPr/>
        </p:nvCxnSpPr>
        <p:spPr>
          <a:xfrm>
            <a:off x="594360" y="4073652"/>
            <a:ext cx="11002975" cy="0"/>
          </a:xfrm>
          <a:prstGeom prst="line">
            <a:avLst/>
          </a:prstGeom>
          <a:ln w="9525">
            <a:solidFill>
              <a:srgbClr val="D8DEE5"/>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183379"/>
            <a:ext cx="640080" cy="754380"/>
          </a:xfrm>
          <a:prstGeom prst="rect">
            <a:avLst/>
          </a:prstGeom>
          <a:noFill/>
        </p:spPr>
        <p:txBody>
          <a:bodyPr wrap="square" lIns="0" rIns="0" tIns="0" bIns="0" anchor="t">
            <a:spAutoFit/>
          </a:bodyPr>
          <a:lstStyle/>
          <a:p>
            <a:pPr algn="l"/>
            <a:r>
              <a:rPr sz="2600" b="0" i="0">
                <a:solidFill>
                  <a:srgbClr val="0E7C86"/>
                </a:solidFill>
                <a:latin typeface="Courier New"/>
              </a:rPr>
              <a:t>04</a:t>
            </a:r>
          </a:p>
        </p:txBody>
      </p:sp>
      <p:sp>
        <p:nvSpPr>
          <p:cNvPr id="14" name="TextBox 13"/>
          <p:cNvSpPr txBox="1"/>
          <p:nvPr/>
        </p:nvSpPr>
        <p:spPr>
          <a:xfrm>
            <a:off x="1417320" y="4256531"/>
            <a:ext cx="10180015" cy="662940"/>
          </a:xfrm>
          <a:prstGeom prst="rect">
            <a:avLst/>
          </a:prstGeom>
          <a:noFill/>
        </p:spPr>
        <p:txBody>
          <a:bodyPr wrap="square" lIns="0" rIns="0" tIns="0" bIns="0" anchor="t">
            <a:spAutoFit/>
          </a:bodyPr>
          <a:lstStyle/>
          <a:p>
            <a:pPr algn="l"/>
            <a:r>
              <a:rPr sz="1400" b="0" i="0">
                <a:solidFill>
                  <a:srgbClr val="22313F"/>
                </a:solidFill>
                <a:latin typeface="Calibri"/>
              </a:rPr>
              <a:t>Languages, rights and semantic similarity were not measured. Digest verification does not remove these limits.</a:t>
            </a:r>
          </a:p>
        </p:txBody>
      </p:sp>
      <p:cxnSp>
        <p:nvCxnSpPr>
          <p:cNvPr id="15" name="Connector 14"/>
          <p:cNvCxnSpPr/>
          <p:nvPr/>
        </p:nvCxnSpPr>
        <p:spPr>
          <a:xfrm>
            <a:off x="594360" y="4828031"/>
            <a:ext cx="11002975" cy="0"/>
          </a:xfrm>
          <a:prstGeom prst="line">
            <a:avLst/>
          </a:prstGeom>
          <a:ln w="9525">
            <a:solidFill>
              <a:srgbClr val="D8DEE5"/>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4937760"/>
            <a:ext cx="640080" cy="754380"/>
          </a:xfrm>
          <a:prstGeom prst="rect">
            <a:avLst/>
          </a:prstGeom>
          <a:noFill/>
        </p:spPr>
        <p:txBody>
          <a:bodyPr wrap="square" lIns="0" rIns="0" tIns="0" bIns="0" anchor="t">
            <a:spAutoFit/>
          </a:bodyPr>
          <a:lstStyle/>
          <a:p>
            <a:pPr algn="l"/>
            <a:r>
              <a:rPr sz="2600" b="0" i="0">
                <a:solidFill>
                  <a:srgbClr val="0E7C86"/>
                </a:solidFill>
                <a:latin typeface="Courier New"/>
              </a:rPr>
              <a:t>05</a:t>
            </a:r>
          </a:p>
        </p:txBody>
      </p:sp>
      <p:sp>
        <p:nvSpPr>
          <p:cNvPr id="17" name="TextBox 16"/>
          <p:cNvSpPr txBox="1"/>
          <p:nvPr/>
        </p:nvSpPr>
        <p:spPr>
          <a:xfrm>
            <a:off x="1417320" y="5010912"/>
            <a:ext cx="10180015" cy="662940"/>
          </a:xfrm>
          <a:prstGeom prst="rect">
            <a:avLst/>
          </a:prstGeom>
          <a:noFill/>
        </p:spPr>
        <p:txBody>
          <a:bodyPr wrap="square" lIns="0" rIns="0" tIns="0" bIns="0" anchor="t">
            <a:spAutoFit/>
          </a:bodyPr>
          <a:lstStyle/>
          <a:p>
            <a:pPr algn="l"/>
            <a:r>
              <a:rPr sz="1400" b="0" i="0">
                <a:solidFill>
                  <a:srgbClr val="22313F"/>
                </a:solidFill>
                <a:latin typeface="Calibri"/>
              </a:rPr>
              <a:t>No acceptance criteria, timetable or cost were supplied, so closure is an owner decision with gaps disclosed.</a:t>
            </a:r>
          </a:p>
        </p:txBody>
      </p:sp>
      <p:cxnSp>
        <p:nvCxnSpPr>
          <p:cNvPr id="18" name="Connector 17"/>
          <p:cNvCxnSpPr/>
          <p:nvPr/>
        </p:nvCxnSpPr>
        <p:spPr>
          <a:xfrm>
            <a:off x="594360" y="5582412"/>
            <a:ext cx="11002975" cy="0"/>
          </a:xfrm>
          <a:prstGeom prst="line">
            <a:avLst/>
          </a:prstGeom>
          <a:ln w="9525">
            <a:solidFill>
              <a:srgbClr val="D8DEE5"/>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F8C9A"/>
                </a:solidFill>
                <a:latin typeface="Calibri"/>
              </a:rPr>
              <a:t>CC-eij-1b359b3cbd2e</a:t>
            </a:r>
          </a:p>
        </p:txBody>
      </p:sp>
      <p:sp>
        <p:nvSpPr>
          <p:cNvPr id="20" name="TextBox 19"/>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F8C9A"/>
                </a:solidFill>
                <a:latin typeface="Calibri"/>
              </a:rPr>
              <a:t>Tenant confidential</a:t>
            </a:r>
          </a:p>
        </p:txBody>
      </p:sp>
      <p:sp>
        <p:nvSpPr>
          <p:cNvPr id="21" name="TextBox 20"/>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F8C9A"/>
                </a:solidFill>
                <a:latin typeface="Courier New"/>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F8C9A"/>
                </a:solidFill>
                <a:latin typeface="Calibri"/>
              </a:rPr>
              <a:t>COVERAGE AND LIMITS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22313F"/>
                </a:solidFill>
                <a:latin typeface="Cambria"/>
              </a:rPr>
              <a:t>What this pack covers, what it cannot say, and what would close each gap</a:t>
            </a:r>
          </a:p>
        </p:txBody>
      </p:sp>
      <p:sp>
        <p:nvSpPr>
          <p:cNvPr id="4" name="TextBox 3"/>
          <p:cNvSpPr txBox="1"/>
          <p:nvPr/>
        </p:nvSpPr>
        <p:spPr>
          <a:xfrm>
            <a:off x="594360" y="1920240"/>
            <a:ext cx="11002975" cy="822960"/>
          </a:xfrm>
          <a:prstGeom prst="rect">
            <a:avLst/>
          </a:prstGeom>
          <a:noFill/>
        </p:spPr>
        <p:txBody>
          <a:bodyPr wrap="square" lIns="0" rIns="0" tIns="0" bIns="0" anchor="t">
            <a:spAutoFit/>
          </a:bodyPr>
          <a:lstStyle/>
          <a:p>
            <a:pPr algn="l"/>
            <a:r>
              <a:rPr sz="1400" b="0" i="0">
                <a:solidFill>
                  <a:srgbClr val="22313F"/>
                </a:solidFill>
                <a:latin typeface="Calibri"/>
              </a:rPr>
              <a:t>COVERS</a:t>
            </a:r>
          </a:p>
          <a:p>
            <a:pPr algn="l"/>
            <a:r>
              <a:rPr sz="1400" b="0" i="0">
                <a:solidFill>
                  <a:srgbClr val="22313F"/>
                </a:solidFill>
                <a:latin typeface="Calibri"/>
              </a:rPr>
              <a:t>Delivery of census eij-1b359b3cbd2e: 638 of 1006 tables, 6 connections, wall clock, Ledger rows, receipts and the dossier composition. Everything here is read from the job record and the digest-verified report.</a:t>
            </a:r>
          </a:p>
        </p:txBody>
      </p:sp>
      <p:sp>
        <p:nvSpPr>
          <p:cNvPr id="5" name="TextBox 4"/>
          <p:cNvSpPr txBox="1"/>
          <p:nvPr/>
        </p:nvSpPr>
        <p:spPr>
          <a:xfrm>
            <a:off x="594360" y="2834640"/>
            <a:ext cx="3545738" cy="274320"/>
          </a:xfrm>
          <a:prstGeom prst="rect">
            <a:avLst/>
          </a:prstGeom>
          <a:noFill/>
        </p:spPr>
        <p:txBody>
          <a:bodyPr wrap="square" lIns="0" rIns="0" tIns="0" bIns="0" anchor="t">
            <a:spAutoFit/>
          </a:bodyPr>
          <a:lstStyle/>
          <a:p>
            <a:pPr algn="l"/>
            <a:r>
              <a:rPr sz="1100" b="1" i="0">
                <a:solidFill>
                  <a:srgbClr val="7F8C9A"/>
                </a:solidFill>
                <a:latin typeface="Calibri"/>
              </a:rPr>
              <a:t>CANNOT SAY</a:t>
            </a:r>
          </a:p>
        </p:txBody>
      </p:sp>
      <p:sp>
        <p:nvSpPr>
          <p:cNvPr id="6" name="TextBox 5"/>
          <p:cNvSpPr txBox="1"/>
          <p:nvPr/>
        </p:nvSpPr>
        <p:spPr>
          <a:xfrm>
            <a:off x="4322978" y="2834640"/>
            <a:ext cx="3545738" cy="274320"/>
          </a:xfrm>
          <a:prstGeom prst="rect">
            <a:avLst/>
          </a:prstGeom>
          <a:noFill/>
        </p:spPr>
        <p:txBody>
          <a:bodyPr wrap="square" lIns="0" rIns="0" tIns="0" bIns="0" anchor="t">
            <a:spAutoFit/>
          </a:bodyPr>
          <a:lstStyle/>
          <a:p>
            <a:pPr algn="l"/>
            <a:r>
              <a:rPr sz="1100" b="1" i="0">
                <a:solidFill>
                  <a:srgbClr val="7F8C9A"/>
                </a:solidFill>
                <a:latin typeface="Calibri"/>
              </a:rPr>
              <a:t>WHY</a:t>
            </a:r>
          </a:p>
        </p:txBody>
      </p:sp>
      <p:sp>
        <p:nvSpPr>
          <p:cNvPr id="7" name="TextBox 6"/>
          <p:cNvSpPr txBox="1"/>
          <p:nvPr/>
        </p:nvSpPr>
        <p:spPr>
          <a:xfrm>
            <a:off x="8051596" y="2834640"/>
            <a:ext cx="3545738" cy="274320"/>
          </a:xfrm>
          <a:prstGeom prst="rect">
            <a:avLst/>
          </a:prstGeom>
          <a:noFill/>
        </p:spPr>
        <p:txBody>
          <a:bodyPr wrap="square" lIns="0" rIns="0" tIns="0" bIns="0" anchor="t">
            <a:spAutoFit/>
          </a:bodyPr>
          <a:lstStyle/>
          <a:p>
            <a:pPr algn="l"/>
            <a:r>
              <a:rPr sz="1100" b="1" i="0">
                <a:solidFill>
                  <a:srgbClr val="7F8C9A"/>
                </a:solidFill>
                <a:latin typeface="Calibri"/>
              </a:rPr>
              <a:t>WHAT WOULD CLOSE IT</a:t>
            </a:r>
          </a:p>
        </p:txBody>
      </p:sp>
      <p:cxnSp>
        <p:nvCxnSpPr>
          <p:cNvPr id="8" name="Connector 7"/>
          <p:cNvCxnSpPr/>
          <p:nvPr/>
        </p:nvCxnSpPr>
        <p:spPr>
          <a:xfrm>
            <a:off x="594360" y="3127248"/>
            <a:ext cx="11002975" cy="0"/>
          </a:xfrm>
          <a:prstGeom prst="line">
            <a:avLst/>
          </a:prstGeom>
          <a:ln w="9525">
            <a:solidFill>
              <a:srgbClr val="22313F"/>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594360" y="3246120"/>
            <a:ext cx="11002975" cy="786384"/>
          </a:xfrm>
          <a:prstGeom prst="rect">
            <a:avLst/>
          </a:prstGeom>
          <a:pattFill>
            <a:fgClr>
              <a:srgbClr val="EAEEF2"/>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3319272"/>
            <a:ext cx="3399434" cy="658368"/>
          </a:xfrm>
          <a:prstGeom prst="rect">
            <a:avLst/>
          </a:prstGeom>
          <a:noFill/>
        </p:spPr>
        <p:txBody>
          <a:bodyPr wrap="square" lIns="0" rIns="0" tIns="0" bIns="0" anchor="t">
            <a:spAutoFit/>
          </a:bodyPr>
          <a:lstStyle/>
          <a:p>
            <a:pPr algn="l"/>
            <a:r>
              <a:rPr sz="1300" b="0" i="0">
                <a:solidFill>
                  <a:srgbClr val="22313F"/>
                </a:solidFill>
                <a:latin typeface="Calibri"/>
              </a:rPr>
              <a:t>Connection artists_app</a:t>
            </a:r>
          </a:p>
        </p:txBody>
      </p:sp>
      <p:sp>
        <p:nvSpPr>
          <p:cNvPr id="11" name="TextBox 10"/>
          <p:cNvSpPr txBox="1"/>
          <p:nvPr/>
        </p:nvSpPr>
        <p:spPr>
          <a:xfrm>
            <a:off x="4396130" y="3319272"/>
            <a:ext cx="3399434" cy="658368"/>
          </a:xfrm>
          <a:prstGeom prst="rect">
            <a:avLst/>
          </a:prstGeom>
          <a:noFill/>
        </p:spPr>
        <p:txBody>
          <a:bodyPr wrap="square" lIns="0" rIns="0" tIns="0" bIns="0" anchor="t">
            <a:spAutoFit/>
          </a:bodyPr>
          <a:lstStyle/>
          <a:p>
            <a:pPr algn="l"/>
            <a:r>
              <a:rPr sz="1300" b="0" i="0">
                <a:solidFill>
                  <a:srgbClr val="22313F"/>
                </a:solidFill>
                <a:latin typeface="Calibri"/>
              </a:rPr>
              <a:t>MYSQL_ACCESS_DENIED_1045 (GRANT pending, owner dependency)</a:t>
            </a:r>
          </a:p>
        </p:txBody>
      </p:sp>
      <p:sp>
        <p:nvSpPr>
          <p:cNvPr id="12" name="TextBox 11"/>
          <p:cNvSpPr txBox="1"/>
          <p:nvPr/>
        </p:nvSpPr>
        <p:spPr>
          <a:xfrm>
            <a:off x="8124748" y="3319272"/>
            <a:ext cx="3399434" cy="658368"/>
          </a:xfrm>
          <a:prstGeom prst="rect">
            <a:avLst/>
          </a:prstGeom>
          <a:noFill/>
        </p:spPr>
        <p:txBody>
          <a:bodyPr wrap="square" lIns="0" rIns="0" tIns="0" bIns="0" anchor="t">
            <a:spAutoFit/>
          </a:bodyPr>
          <a:lstStyle/>
          <a:p>
            <a:pPr algn="l"/>
            <a:r>
              <a:rPr sz="1300" b="0" i="0">
                <a:solidFill>
                  <a:srgbClr val="22313F"/>
                </a:solidFill>
                <a:latin typeface="Calibri"/>
              </a:rPr>
              <a:t>owner grants access; re-census</a:t>
            </a:r>
          </a:p>
        </p:txBody>
      </p:sp>
      <p:sp>
        <p:nvSpPr>
          <p:cNvPr id="13" name="Rectangle 12"/>
          <p:cNvSpPr/>
          <p:nvPr/>
        </p:nvSpPr>
        <p:spPr>
          <a:xfrm>
            <a:off x="594360" y="4123944"/>
            <a:ext cx="11002975" cy="786384"/>
          </a:xfrm>
          <a:prstGeom prst="rect">
            <a:avLst/>
          </a:prstGeom>
          <a:pattFill>
            <a:fgClr>
              <a:srgbClr val="EAEEF2"/>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7512" y="4197096"/>
            <a:ext cx="3399434" cy="658368"/>
          </a:xfrm>
          <a:prstGeom prst="rect">
            <a:avLst/>
          </a:prstGeom>
          <a:noFill/>
        </p:spPr>
        <p:txBody>
          <a:bodyPr wrap="square" lIns="0" rIns="0" tIns="0" bIns="0" anchor="t">
            <a:spAutoFit/>
          </a:bodyPr>
          <a:lstStyle/>
          <a:p>
            <a:pPr algn="l"/>
            <a:r>
              <a:rPr sz="1300" b="0" i="0">
                <a:solidFill>
                  <a:srgbClr val="22313F"/>
                </a:solidFill>
                <a:latin typeface="Calibri"/>
              </a:rPr>
              <a:t>Ratios on sampled tables</a:t>
            </a:r>
          </a:p>
        </p:txBody>
      </p:sp>
      <p:sp>
        <p:nvSpPr>
          <p:cNvPr id="15" name="TextBox 14"/>
          <p:cNvSpPr txBox="1"/>
          <p:nvPr/>
        </p:nvSpPr>
        <p:spPr>
          <a:xfrm>
            <a:off x="4396130" y="4197096"/>
            <a:ext cx="3399434" cy="658368"/>
          </a:xfrm>
          <a:prstGeom prst="rect">
            <a:avLst/>
          </a:prstGeom>
          <a:noFill/>
        </p:spPr>
        <p:txBody>
          <a:bodyPr wrap="square" lIns="0" rIns="0" tIns="0" bIns="0" anchor="t">
            <a:spAutoFit/>
          </a:bodyPr>
          <a:lstStyle/>
          <a:p>
            <a:pPr algn="l"/>
            <a:r>
              <a:rPr sz="1300" b="0" i="0">
                <a:solidFill>
                  <a:srgbClr val="22313F"/>
                </a:solidFill>
                <a:latin typeface="Calibri"/>
              </a:rPr>
              <a:t>stratified or head samples where complete passes were not possible</a:t>
            </a:r>
          </a:p>
        </p:txBody>
      </p:sp>
      <p:sp>
        <p:nvSpPr>
          <p:cNvPr id="16" name="TextBox 15"/>
          <p:cNvSpPr txBox="1"/>
          <p:nvPr/>
        </p:nvSpPr>
        <p:spPr>
          <a:xfrm>
            <a:off x="8124748" y="4197096"/>
            <a:ext cx="3399434" cy="658368"/>
          </a:xfrm>
          <a:prstGeom prst="rect">
            <a:avLst/>
          </a:prstGeom>
          <a:noFill/>
        </p:spPr>
        <p:txBody>
          <a:bodyPr wrap="square" lIns="0" rIns="0" tIns="0" bIns="0" anchor="t">
            <a:spAutoFit/>
          </a:bodyPr>
          <a:lstStyle/>
          <a:p>
            <a:pPr algn="l"/>
            <a:r>
              <a:rPr sz="1300" b="0" i="0">
                <a:solidFill>
                  <a:srgbClr val="22313F"/>
                </a:solidFill>
                <a:latin typeface="Calibri"/>
              </a:rPr>
              <a:t>a complete-pass census on those tables</a:t>
            </a:r>
          </a:p>
        </p:txBody>
      </p:sp>
      <p:sp>
        <p:nvSpPr>
          <p:cNvPr id="17" name="Rectangle 16"/>
          <p:cNvSpPr/>
          <p:nvPr/>
        </p:nvSpPr>
        <p:spPr>
          <a:xfrm>
            <a:off x="594360" y="5001768"/>
            <a:ext cx="11002975" cy="786384"/>
          </a:xfrm>
          <a:prstGeom prst="rect">
            <a:avLst/>
          </a:prstGeom>
          <a:pattFill>
            <a:fgClr>
              <a:srgbClr val="EAEEF2"/>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7512" y="5074920"/>
            <a:ext cx="3399434" cy="658368"/>
          </a:xfrm>
          <a:prstGeom prst="rect">
            <a:avLst/>
          </a:prstGeom>
          <a:noFill/>
        </p:spPr>
        <p:txBody>
          <a:bodyPr wrap="square" lIns="0" rIns="0" tIns="0" bIns="0" anchor="t">
            <a:spAutoFit/>
          </a:bodyPr>
          <a:lstStyle/>
          <a:p>
            <a:pPr algn="l"/>
            <a:r>
              <a:rPr sz="1300" b="0" i="0">
                <a:solidFill>
                  <a:srgbClr val="22313F"/>
                </a:solidFill>
                <a:latin typeface="Calibri"/>
              </a:rPr>
              <a:t>44 failed tables</a:t>
            </a:r>
          </a:p>
        </p:txBody>
      </p:sp>
      <p:sp>
        <p:nvSpPr>
          <p:cNvPr id="19" name="TextBox 18"/>
          <p:cNvSpPr txBox="1"/>
          <p:nvPr/>
        </p:nvSpPr>
        <p:spPr>
          <a:xfrm>
            <a:off x="4396130" y="5074920"/>
            <a:ext cx="3399434" cy="658368"/>
          </a:xfrm>
          <a:prstGeom prst="rect">
            <a:avLst/>
          </a:prstGeom>
          <a:noFill/>
        </p:spPr>
        <p:txBody>
          <a:bodyPr wrap="square" lIns="0" rIns="0" tIns="0" bIns="0" anchor="t">
            <a:spAutoFit/>
          </a:bodyPr>
          <a:lstStyle/>
          <a:p>
            <a:pPr algn="l"/>
            <a:r>
              <a:rPr sz="1300" b="0" i="0">
                <a:solidFill>
                  <a:srgbClr val="22313F"/>
                </a:solidFill>
                <a:latin typeface="Calibri"/>
              </a:rPr>
              <a:t>the worker could not measure them in this run</a:t>
            </a:r>
          </a:p>
        </p:txBody>
      </p:sp>
      <p:sp>
        <p:nvSpPr>
          <p:cNvPr id="20" name="TextBox 19"/>
          <p:cNvSpPr txBox="1"/>
          <p:nvPr/>
        </p:nvSpPr>
        <p:spPr>
          <a:xfrm>
            <a:off x="8124748" y="5074920"/>
            <a:ext cx="3399434" cy="658368"/>
          </a:xfrm>
          <a:prstGeom prst="rect">
            <a:avLst/>
          </a:prstGeom>
          <a:noFill/>
        </p:spPr>
        <p:txBody>
          <a:bodyPr wrap="square" lIns="0" rIns="0" tIns="0" bIns="0" anchor="t">
            <a:spAutoFit/>
          </a:bodyPr>
          <a:lstStyle/>
          <a:p>
            <a:pPr algn="l"/>
            <a:r>
              <a:rPr sz="1300" b="0" i="0">
                <a:solidFill>
                  <a:srgbClr val="22313F"/>
                </a:solidFill>
                <a:latin typeface="Calibri"/>
              </a:rPr>
              <a:t>re-census with the recorded errors addressed</a:t>
            </a:r>
          </a:p>
        </p:txBody>
      </p:sp>
      <p:sp>
        <p:nvSpPr>
          <p:cNvPr id="21" name="Rectangle 20"/>
          <p:cNvSpPr/>
          <p:nvPr/>
        </p:nvSpPr>
        <p:spPr>
          <a:xfrm>
            <a:off x="594360" y="5879592"/>
            <a:ext cx="11002975" cy="786384"/>
          </a:xfrm>
          <a:prstGeom prst="rect">
            <a:avLst/>
          </a:prstGeom>
          <a:pattFill>
            <a:fgClr>
              <a:srgbClr val="EAEEF2"/>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7512" y="5952744"/>
            <a:ext cx="3399434" cy="658368"/>
          </a:xfrm>
          <a:prstGeom prst="rect">
            <a:avLst/>
          </a:prstGeom>
          <a:noFill/>
        </p:spPr>
        <p:txBody>
          <a:bodyPr wrap="square" lIns="0" rIns="0" tIns="0" bIns="0" anchor="t">
            <a:spAutoFit/>
          </a:bodyPr>
          <a:lstStyle/>
          <a:p>
            <a:pPr algn="l"/>
            <a:r>
              <a:rPr sz="1300" b="0" i="0">
                <a:solidFill>
                  <a:srgbClr val="22313F"/>
                </a:solidFill>
                <a:latin typeface="Calibri"/>
              </a:rPr>
              <a:t>Languages, rights and semantic similarity</a:t>
            </a:r>
          </a:p>
        </p:txBody>
      </p:sp>
      <p:sp>
        <p:nvSpPr>
          <p:cNvPr id="23" name="TextBox 22"/>
          <p:cNvSpPr txBox="1"/>
          <p:nvPr/>
        </p:nvSpPr>
        <p:spPr>
          <a:xfrm>
            <a:off x="4396130" y="5952744"/>
            <a:ext cx="3399434" cy="658368"/>
          </a:xfrm>
          <a:prstGeom prst="rect">
            <a:avLst/>
          </a:prstGeom>
          <a:noFill/>
        </p:spPr>
        <p:txBody>
          <a:bodyPr wrap="square" lIns="0" rIns="0" tIns="0" bIns="0" anchor="t">
            <a:spAutoFit/>
          </a:bodyPr>
          <a:lstStyle/>
          <a:p>
            <a:pPr algn="l"/>
            <a:r>
              <a:rPr sz="1300" b="0" i="0">
                <a:solidFill>
                  <a:srgbClr val="22313F"/>
                </a:solidFill>
                <a:latin typeface="Calibri"/>
              </a:rPr>
              <a:t>not measured by this census</a:t>
            </a:r>
          </a:p>
        </p:txBody>
      </p:sp>
      <p:sp>
        <p:nvSpPr>
          <p:cNvPr id="24" name="TextBox 23"/>
          <p:cNvSpPr txBox="1"/>
          <p:nvPr/>
        </p:nvSpPr>
        <p:spPr>
          <a:xfrm>
            <a:off x="8124748" y="5952744"/>
            <a:ext cx="3399434" cy="658368"/>
          </a:xfrm>
          <a:prstGeom prst="rect">
            <a:avLst/>
          </a:prstGeom>
          <a:noFill/>
        </p:spPr>
        <p:txBody>
          <a:bodyPr wrap="square" lIns="0" rIns="0" tIns="0" bIns="0" anchor="t">
            <a:spAutoFit/>
          </a:bodyPr>
          <a:lstStyle/>
          <a:p>
            <a:pPr algn="l"/>
            <a:r>
              <a:rPr sz="1300" b="0" i="0">
                <a:solidFill>
                  <a:srgbClr val="22313F"/>
                </a:solidFill>
                <a:latin typeface="Calibri"/>
              </a:rPr>
              <a:t>rights declared at Connect; a language and similarity pass</a:t>
            </a:r>
          </a:p>
        </p:txBody>
      </p:sp>
      <p:sp>
        <p:nvSpPr>
          <p:cNvPr id="25" name="TextBox 24"/>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F8C9A"/>
                </a:solidFill>
                <a:latin typeface="Calibri"/>
              </a:rPr>
              <a:t>CC-eij-1b359b3cbd2e</a:t>
            </a:r>
          </a:p>
        </p:txBody>
      </p:sp>
      <p:sp>
        <p:nvSpPr>
          <p:cNvPr id="26" name="TextBox 25"/>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F8C9A"/>
                </a:solidFill>
                <a:latin typeface="Calibri"/>
              </a:rPr>
              <a:t>Tenant confidential</a:t>
            </a:r>
          </a:p>
        </p:txBody>
      </p:sp>
      <p:sp>
        <p:nvSpPr>
          <p:cNvPr id="27" name="TextBox 26"/>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F8C9A"/>
                </a:solidFill>
                <a:latin typeface="Courier New"/>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7F8C9A"/>
                </a:solidFill>
                <a:latin typeface="Calibri"/>
              </a:rPr>
              <a:t>APPENDIX</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22313F"/>
                </a:solidFill>
                <a:latin typeface="Cambria"/>
              </a:rPr>
              <a:t>Exhibit index with receipts</a:t>
            </a:r>
          </a:p>
        </p:txBody>
      </p:sp>
      <p:sp>
        <p:nvSpPr>
          <p:cNvPr id="4" name="TextBox 3"/>
          <p:cNvSpPr txBox="1"/>
          <p:nvPr/>
        </p:nvSpPr>
        <p:spPr>
          <a:xfrm>
            <a:off x="594360" y="1920240"/>
            <a:ext cx="822960" cy="502920"/>
          </a:xfrm>
          <a:prstGeom prst="rect">
            <a:avLst/>
          </a:prstGeom>
          <a:noFill/>
        </p:spPr>
        <p:txBody>
          <a:bodyPr wrap="square" lIns="0" rIns="0" tIns="0" bIns="0" anchor="t">
            <a:spAutoFit/>
          </a:bodyPr>
          <a:lstStyle/>
          <a:p>
            <a:pPr algn="l"/>
            <a:r>
              <a:rPr sz="1400" b="1" i="0">
                <a:solidFill>
                  <a:srgbClr val="0E7C86"/>
                </a:solidFill>
                <a:latin typeface="Courier New"/>
              </a:rPr>
              <a:t>R01</a:t>
            </a:r>
          </a:p>
        </p:txBody>
      </p:sp>
      <p:sp>
        <p:nvSpPr>
          <p:cNvPr id="5" name="TextBox 4"/>
          <p:cNvSpPr txBox="1"/>
          <p:nvPr/>
        </p:nvSpPr>
        <p:spPr>
          <a:xfrm>
            <a:off x="1508760" y="1920240"/>
            <a:ext cx="10088575" cy="502920"/>
          </a:xfrm>
          <a:prstGeom prst="rect">
            <a:avLst/>
          </a:prstGeom>
          <a:noFill/>
        </p:spPr>
        <p:txBody>
          <a:bodyPr wrap="square" lIns="0" rIns="0" tIns="0" bIns="0" anchor="t">
            <a:spAutoFit/>
          </a:bodyPr>
          <a:lstStyle/>
          <a:p>
            <a:pPr algn="l"/>
            <a:r>
              <a:rPr sz="1300" b="0" i="0">
                <a:solidFill>
                  <a:srgbClr val="22313F"/>
                </a:solidFill>
                <a:latin typeface="Calibri"/>
              </a:rPr>
              <a:t>Estate intelligence job record eij-1b359b3cbd2e: submitted 2026-09-29T18:56:40Z by principal 6ab56dd48894abb269135ca2, runtime akki-vm, code 90322d4a826d, result receipt digest-verified (d9c99a632278)</a:t>
            </a:r>
          </a:p>
        </p:txBody>
      </p:sp>
      <p:cxnSp>
        <p:nvCxnSpPr>
          <p:cNvPr id="6" name="Connector 5"/>
          <p:cNvCxnSpPr/>
          <p:nvPr/>
        </p:nvCxnSpPr>
        <p:spPr>
          <a:xfrm>
            <a:off x="594360" y="2441448"/>
            <a:ext cx="11002975" cy="0"/>
          </a:xfrm>
          <a:prstGeom prst="line">
            <a:avLst/>
          </a:prstGeom>
          <a:ln w="9525">
            <a:solidFill>
              <a:srgbClr val="D8DEE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560320"/>
            <a:ext cx="822960" cy="365760"/>
          </a:xfrm>
          <a:prstGeom prst="rect">
            <a:avLst/>
          </a:prstGeom>
          <a:noFill/>
        </p:spPr>
        <p:txBody>
          <a:bodyPr wrap="square" lIns="0" rIns="0" tIns="0" bIns="0" anchor="t">
            <a:spAutoFit/>
          </a:bodyPr>
          <a:lstStyle/>
          <a:p>
            <a:pPr algn="l"/>
            <a:r>
              <a:rPr sz="1400" b="1" i="0">
                <a:solidFill>
                  <a:srgbClr val="0E7C86"/>
                </a:solidFill>
                <a:latin typeface="Courier New"/>
              </a:rPr>
              <a:t>R02</a:t>
            </a:r>
          </a:p>
        </p:txBody>
      </p:sp>
      <p:sp>
        <p:nvSpPr>
          <p:cNvPr id="8" name="TextBox 7"/>
          <p:cNvSpPr txBox="1"/>
          <p:nvPr/>
        </p:nvSpPr>
        <p:spPr>
          <a:xfrm>
            <a:off x="1508760" y="2560320"/>
            <a:ext cx="10088575" cy="365760"/>
          </a:xfrm>
          <a:prstGeom prst="rect">
            <a:avLst/>
          </a:prstGeom>
          <a:noFill/>
        </p:spPr>
        <p:txBody>
          <a:bodyPr wrap="square" lIns="0" rIns="0" tIns="0" bIns="0" anchor="t">
            <a:spAutoFit/>
          </a:bodyPr>
          <a:lstStyle/>
          <a:p>
            <a:pPr algn="l"/>
            <a:r>
              <a:rPr sz="1300" b="0" i="0">
                <a:solidFill>
                  <a:srgbClr val="22313F"/>
                </a:solidFill>
                <a:latin typeface="Calibri"/>
              </a:rPr>
              <a:t>Estate intelligence report v3 for eij-1b359b3cbd2e, built 2026-09-30T03:41:37Z; connection table and coverage notes</a:t>
            </a:r>
          </a:p>
        </p:txBody>
      </p:sp>
      <p:cxnSp>
        <p:nvCxnSpPr>
          <p:cNvPr id="9" name="Connector 8"/>
          <p:cNvCxnSpPr/>
          <p:nvPr/>
        </p:nvCxnSpPr>
        <p:spPr>
          <a:xfrm>
            <a:off x="594360" y="2944368"/>
            <a:ext cx="11002975" cy="0"/>
          </a:xfrm>
          <a:prstGeom prst="line">
            <a:avLst/>
          </a:prstGeom>
          <a:ln w="9525">
            <a:solidFill>
              <a:srgbClr val="D8DEE5"/>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063240"/>
            <a:ext cx="822960" cy="502920"/>
          </a:xfrm>
          <a:prstGeom prst="rect">
            <a:avLst/>
          </a:prstGeom>
          <a:noFill/>
        </p:spPr>
        <p:txBody>
          <a:bodyPr wrap="square" lIns="0" rIns="0" tIns="0" bIns="0" anchor="t">
            <a:spAutoFit/>
          </a:bodyPr>
          <a:lstStyle/>
          <a:p>
            <a:pPr algn="l"/>
            <a:r>
              <a:rPr sz="1400" b="1" i="0">
                <a:solidFill>
                  <a:srgbClr val="0E7C86"/>
                </a:solidFill>
                <a:latin typeface="Courier New"/>
              </a:rPr>
              <a:t>R03</a:t>
            </a:r>
          </a:p>
        </p:txBody>
      </p:sp>
      <p:sp>
        <p:nvSpPr>
          <p:cNvPr id="11" name="TextBox 10"/>
          <p:cNvSpPr txBox="1"/>
          <p:nvPr/>
        </p:nvSpPr>
        <p:spPr>
          <a:xfrm>
            <a:off x="1508760" y="3063240"/>
            <a:ext cx="10088575" cy="502920"/>
          </a:xfrm>
          <a:prstGeom prst="rect">
            <a:avLst/>
          </a:prstGeom>
          <a:noFill/>
        </p:spPr>
        <p:txBody>
          <a:bodyPr wrap="square" lIns="0" rIns="0" tIns="0" bIns="0" anchor="t">
            <a:spAutoFit/>
          </a:bodyPr>
          <a:lstStyle/>
          <a:p>
            <a:pPr algn="l"/>
            <a:r>
              <a:rPr sz="1300" b="0" i="0">
                <a:solidFill>
                  <a:srgbClr val="22313F"/>
                </a:solidFill>
                <a:latin typeface="Calibri"/>
              </a:rPr>
              <a:t>Lawful basis admit 20260922T014000Z_LAWFUL_BASIS_ADMIT_CENSUS3.json (sha256 37d1508d4ea9); governing artifact CP-CENSUS-ESTATE-INTELLIGENCE version eij-1b359b3cbd2e</a:t>
            </a:r>
          </a:p>
        </p:txBody>
      </p:sp>
      <p:cxnSp>
        <p:nvCxnSpPr>
          <p:cNvPr id="12" name="Connector 11"/>
          <p:cNvCxnSpPr/>
          <p:nvPr/>
        </p:nvCxnSpPr>
        <p:spPr>
          <a:xfrm>
            <a:off x="594360" y="3584448"/>
            <a:ext cx="11002975" cy="0"/>
          </a:xfrm>
          <a:prstGeom prst="line">
            <a:avLst/>
          </a:prstGeom>
          <a:ln w="9525">
            <a:solidFill>
              <a:srgbClr val="D8DEE5"/>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3703320"/>
            <a:ext cx="822960" cy="365760"/>
          </a:xfrm>
          <a:prstGeom prst="rect">
            <a:avLst/>
          </a:prstGeom>
          <a:noFill/>
        </p:spPr>
        <p:txBody>
          <a:bodyPr wrap="square" lIns="0" rIns="0" tIns="0" bIns="0" anchor="t">
            <a:spAutoFit/>
          </a:bodyPr>
          <a:lstStyle/>
          <a:p>
            <a:pPr algn="l"/>
            <a:r>
              <a:rPr sz="1400" b="1" i="0">
                <a:solidFill>
                  <a:srgbClr val="0E7C86"/>
                </a:solidFill>
                <a:latin typeface="Courier New"/>
              </a:rPr>
              <a:t>R04</a:t>
            </a:r>
          </a:p>
        </p:txBody>
      </p:sp>
      <p:sp>
        <p:nvSpPr>
          <p:cNvPr id="14" name="TextBox 13"/>
          <p:cNvSpPr txBox="1"/>
          <p:nvPr/>
        </p:nvSpPr>
        <p:spPr>
          <a:xfrm>
            <a:off x="1508760" y="3703320"/>
            <a:ext cx="10088575" cy="365760"/>
          </a:xfrm>
          <a:prstGeom prst="rect">
            <a:avLst/>
          </a:prstGeom>
          <a:noFill/>
        </p:spPr>
        <p:txBody>
          <a:bodyPr wrap="square" lIns="0" rIns="0" tIns="0" bIns="0" anchor="t">
            <a:spAutoFit/>
          </a:bodyPr>
          <a:lstStyle/>
          <a:p>
            <a:pPr algn="l"/>
            <a:r>
              <a:rPr sz="1300" b="0" i="0">
                <a:solidFill>
                  <a:srgbClr val="22313F"/>
                </a:solidFill>
                <a:latin typeface="Calibri"/>
              </a:rPr>
              <a:t>Ledger rows led-398166457377, led-4e9f184f9601, led-6067b8b42dc7: admit:admitted → gate:warm → converge:terminate_success</a:t>
            </a:r>
          </a:p>
        </p:txBody>
      </p:sp>
      <p:cxnSp>
        <p:nvCxnSpPr>
          <p:cNvPr id="15" name="Connector 14"/>
          <p:cNvCxnSpPr/>
          <p:nvPr/>
        </p:nvCxnSpPr>
        <p:spPr>
          <a:xfrm>
            <a:off x="594360" y="4087368"/>
            <a:ext cx="11002975" cy="0"/>
          </a:xfrm>
          <a:prstGeom prst="line">
            <a:avLst/>
          </a:prstGeom>
          <a:ln w="9525">
            <a:solidFill>
              <a:srgbClr val="D8DEE5"/>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4206240"/>
            <a:ext cx="822960" cy="365760"/>
          </a:xfrm>
          <a:prstGeom prst="rect">
            <a:avLst/>
          </a:prstGeom>
          <a:noFill/>
        </p:spPr>
        <p:txBody>
          <a:bodyPr wrap="square" lIns="0" rIns="0" tIns="0" bIns="0" anchor="t">
            <a:spAutoFit/>
          </a:bodyPr>
          <a:lstStyle/>
          <a:p>
            <a:pPr algn="l"/>
            <a:r>
              <a:rPr sz="1400" b="1" i="0">
                <a:solidFill>
                  <a:srgbClr val="0E7C86"/>
                </a:solidFill>
                <a:latin typeface="Courier New"/>
              </a:rPr>
              <a:t>R05</a:t>
            </a:r>
          </a:p>
        </p:txBody>
      </p:sp>
      <p:sp>
        <p:nvSpPr>
          <p:cNvPr id="17" name="TextBox 16"/>
          <p:cNvSpPr txBox="1"/>
          <p:nvPr/>
        </p:nvSpPr>
        <p:spPr>
          <a:xfrm>
            <a:off x="1508760" y="4206240"/>
            <a:ext cx="10088575" cy="365760"/>
          </a:xfrm>
          <a:prstGeom prst="rect">
            <a:avLst/>
          </a:prstGeom>
          <a:noFill/>
        </p:spPr>
        <p:txBody>
          <a:bodyPr wrap="square" lIns="0" rIns="0" tIns="0" bIns="0" anchor="t">
            <a:spAutoFit/>
          </a:bodyPr>
          <a:lstStyle/>
          <a:p>
            <a:pPr algn="l"/>
            <a:r>
              <a:rPr sz="1300" b="0" i="0">
                <a:solidFill>
                  <a:srgbClr val="22313F"/>
                </a:solidFill>
                <a:latin typeface="Calibri"/>
              </a:rPr>
              <a:t>Executive dossier receipt rcp-f3b244641843: gpt-5-mini via emergent, 17679 tokens in / 4583 out, prompt 354fd68cd5d4</a:t>
            </a:r>
          </a:p>
        </p:txBody>
      </p:sp>
      <p:cxnSp>
        <p:nvCxnSpPr>
          <p:cNvPr id="18" name="Connector 17"/>
          <p:cNvCxnSpPr/>
          <p:nvPr/>
        </p:nvCxnSpPr>
        <p:spPr>
          <a:xfrm>
            <a:off x="594360" y="4590288"/>
            <a:ext cx="11002975" cy="0"/>
          </a:xfrm>
          <a:prstGeom prst="line">
            <a:avLst/>
          </a:prstGeom>
          <a:ln w="9525">
            <a:solidFill>
              <a:srgbClr val="D8DEE5"/>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94360" y="4709160"/>
            <a:ext cx="822960" cy="365760"/>
          </a:xfrm>
          <a:prstGeom prst="rect">
            <a:avLst/>
          </a:prstGeom>
          <a:noFill/>
        </p:spPr>
        <p:txBody>
          <a:bodyPr wrap="square" lIns="0" rIns="0" tIns="0" bIns="0" anchor="t">
            <a:spAutoFit/>
          </a:bodyPr>
          <a:lstStyle/>
          <a:p>
            <a:pPr algn="l"/>
            <a:r>
              <a:rPr sz="1400" b="1" i="0">
                <a:solidFill>
                  <a:srgbClr val="0E7C86"/>
                </a:solidFill>
                <a:latin typeface="Courier New"/>
              </a:rPr>
              <a:t>R06</a:t>
            </a:r>
          </a:p>
        </p:txBody>
      </p:sp>
      <p:sp>
        <p:nvSpPr>
          <p:cNvPr id="20" name="TextBox 19"/>
          <p:cNvSpPr txBox="1"/>
          <p:nvPr/>
        </p:nvSpPr>
        <p:spPr>
          <a:xfrm>
            <a:off x="1508760" y="4709160"/>
            <a:ext cx="10088575" cy="365760"/>
          </a:xfrm>
          <a:prstGeom prst="rect">
            <a:avLst/>
          </a:prstGeom>
          <a:noFill/>
        </p:spPr>
        <p:txBody>
          <a:bodyPr wrap="square" lIns="0" rIns="0" tIns="0" bIns="0" anchor="t">
            <a:spAutoFit/>
          </a:bodyPr>
          <a:lstStyle/>
          <a:p>
            <a:pPr algn="l"/>
            <a:r>
              <a:rPr sz="1300" b="0" i="0">
                <a:solidFill>
                  <a:srgbClr val="22313F"/>
                </a:solidFill>
                <a:latin typeface="Calibri"/>
              </a:rPr>
              <a:t>OBS bucket enumeration census run cr-f1415e395361 (22,975,591 objects, 130.3 TiB)</a:t>
            </a:r>
          </a:p>
        </p:txBody>
      </p:sp>
      <p:cxnSp>
        <p:nvCxnSpPr>
          <p:cNvPr id="21" name="Connector 20"/>
          <p:cNvCxnSpPr/>
          <p:nvPr/>
        </p:nvCxnSpPr>
        <p:spPr>
          <a:xfrm>
            <a:off x="594360" y="5093208"/>
            <a:ext cx="11002975" cy="0"/>
          </a:xfrm>
          <a:prstGeom prst="line">
            <a:avLst/>
          </a:prstGeom>
          <a:ln w="9525">
            <a:solidFill>
              <a:srgbClr val="D8DEE5"/>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94360" y="5212080"/>
            <a:ext cx="822960" cy="365760"/>
          </a:xfrm>
          <a:prstGeom prst="rect">
            <a:avLst/>
          </a:prstGeom>
          <a:noFill/>
        </p:spPr>
        <p:txBody>
          <a:bodyPr wrap="square" lIns="0" rIns="0" tIns="0" bIns="0" anchor="t">
            <a:spAutoFit/>
          </a:bodyPr>
          <a:lstStyle/>
          <a:p>
            <a:pPr algn="l"/>
            <a:r>
              <a:rPr sz="1400" b="1" i="0">
                <a:solidFill>
                  <a:srgbClr val="0E7C86"/>
                </a:solidFill>
                <a:latin typeface="Courier New"/>
              </a:rPr>
              <a:t>R07</a:t>
            </a:r>
          </a:p>
        </p:txBody>
      </p:sp>
      <p:sp>
        <p:nvSpPr>
          <p:cNvPr id="23" name="TextBox 22"/>
          <p:cNvSpPr txBox="1"/>
          <p:nvPr/>
        </p:nvSpPr>
        <p:spPr>
          <a:xfrm>
            <a:off x="1508760" y="5212080"/>
            <a:ext cx="10088575" cy="365760"/>
          </a:xfrm>
          <a:prstGeom prst="rect">
            <a:avLst/>
          </a:prstGeom>
          <a:noFill/>
        </p:spPr>
        <p:txBody>
          <a:bodyPr wrap="square" lIns="0" rIns="0" tIns="0" bIns="0" anchor="t">
            <a:spAutoFit/>
          </a:bodyPr>
          <a:lstStyle/>
          <a:p>
            <a:pPr algn="l"/>
            <a:r>
              <a:rPr sz="1300" b="0" i="0">
                <a:solidFill>
                  <a:srgbClr val="22313F"/>
                </a:solidFill>
                <a:latin typeface="Calibri"/>
              </a:rPr>
              <a:t>NAS share enumeration census run cr-cf4eef79995b (1,456,787 files, 43.6 TiB)</a:t>
            </a:r>
          </a:p>
        </p:txBody>
      </p:sp>
      <p:cxnSp>
        <p:nvCxnSpPr>
          <p:cNvPr id="24" name="Connector 23"/>
          <p:cNvCxnSpPr/>
          <p:nvPr/>
        </p:nvCxnSpPr>
        <p:spPr>
          <a:xfrm>
            <a:off x="594360" y="5596128"/>
            <a:ext cx="11002975" cy="0"/>
          </a:xfrm>
          <a:prstGeom prst="line">
            <a:avLst/>
          </a:prstGeom>
          <a:ln w="9525">
            <a:solidFill>
              <a:srgbClr val="D8DEE5"/>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7F8C9A"/>
                </a:solidFill>
                <a:latin typeface="Calibri"/>
              </a:rPr>
              <a:t>CC-eij-1b359b3cbd2e</a:t>
            </a:r>
          </a:p>
        </p:txBody>
      </p:sp>
      <p:sp>
        <p:nvSpPr>
          <p:cNvPr id="26" name="TextBox 25"/>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7F8C9A"/>
                </a:solidFill>
                <a:latin typeface="Calibri"/>
              </a:rPr>
              <a:t>Tenant confidential</a:t>
            </a:r>
          </a:p>
        </p:txBody>
      </p:sp>
      <p:sp>
        <p:nvSpPr>
          <p:cNvPr id="27" name="TextBox 26"/>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7F8C9A"/>
                </a:solidFill>
                <a:latin typeface="Courier New"/>
              </a:rPr>
              <a:t>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Estate census: partial delivery, decision to close</dc:title>
  <dc:subject/>
  <dc:creator>doc-studio</dc:creator>
  <cp:keywords/>
  <dc:description>generated using python-pptx</dc:description>
  <cp:lastModifiedBy>doc-studio</cp:lastModifiedBy>
  <cp:revision>1</cp:revision>
  <dcterms:created xsi:type="dcterms:W3CDTF">2026-10-02T11:21:33Z</dcterms:created>
  <dcterms:modified xsi:type="dcterms:W3CDTF">2026-10-02T11:21:33Z</dcterms:modified>
  <cp:category/>
</cp:coreProperties>
</file>