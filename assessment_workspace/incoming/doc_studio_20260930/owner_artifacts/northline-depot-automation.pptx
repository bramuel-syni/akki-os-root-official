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margin</c:v>
                </c:pt>
              </c:strCache>
            </c:strRef>
          </c:tx>
          <c:spPr>
            <a:ln w="28575">
              <a:solidFill>
                <a:srgbClr val="0E7C86"/>
              </a:solidFill>
            </a:ln>
          </c:spPr>
          <c:marker>
            <c:spPr>
              <a:solidFill>
                <a:srgbClr val="0E7C86"/>
              </a:solidFill>
              <a:ln>
                <a:solidFill>
                  <a:srgbClr val="0E7C86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0.083</c:v>
                </c:pt>
                <c:pt idx="1">
                  <c:v>0.074</c:v>
                </c:pt>
                <c:pt idx="2">
                  <c:v>0.061</c:v>
                </c:pt>
              </c:numCache>
            </c:numRef>
          </c:val>
          <c:smooth val="0"/>
        </c:ser>
        <c:dLbls>
          <c:numFmt formatCode="0.0%" sourceLinked="0"/>
          <c:txPr>
            <a:bodyPr/>
            <a:lstStyle/>
            <a:p>
              <a:pPr>
                <a:defRPr sz="1100">
                  <a:solidFill>
                    <a:srgbClr val="22313F"/>
                  </a:solidFill>
                  <a:latin typeface="Courier New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EE5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8DEE5"/>
              </a:solidFill>
            </a:ln>
          </c:spPr>
        </c:majorGridlines>
        <c:numFmt formatCode="0.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7F8C9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GBP per parcel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Sheet1!$A$2:$A$4</c:f>
              <c:strCache>
                <c:ptCount val="3"/>
                <c:pt idx="0">
                  <c:v>Manual (6 sites)</c:v>
                </c:pt>
                <c:pt idx="1">
                  <c:v>Semi-automated (3 sites)</c:v>
                </c:pt>
                <c:pt idx="2">
                  <c:v>Automated (1 site)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1.71</c:v>
                </c:pt>
                <c:pt idx="1">
                  <c:v>1.38</c:v>
                </c:pt>
                <c:pt idx="2">
                  <c:v>0.94</c:v>
                </c:pt>
              </c:numCache>
            </c:numRef>
          </c:val>
        </c:ser>
        <c:dLbls>
          <c:numFmt formatCode="£0.00" sourceLinked="0"/>
          <c:txPr>
            <a:bodyPr/>
            <a:lstStyle/>
            <a:p>
              <a:pPr>
                <a:defRPr sz="1100">
                  <a:solidFill>
                    <a:srgbClr val="22313F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EE5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8DEE5"/>
              </a:solidFill>
            </a:ln>
          </c:spPr>
        </c:majorGridlines>
        <c:numFmt formatCode="£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7F8C9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74620"/>
            <a:ext cx="7274052" cy="1508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 i="0">
                <a:solidFill>
                  <a:srgbClr val="22313F"/>
                </a:solidFill>
                <a:latin typeface="Bookman Old Style"/>
              </a:rPr>
              <a:t>Depot automation programme: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83380"/>
            <a:ext cx="7274052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7F8C9A"/>
                </a:solidFill>
                <a:latin typeface="Calibri"/>
              </a:rPr>
              <a:t>Board meeting, 14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14492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Northline Logistics  ·  Board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Bookman Old Style"/>
              </a:rPr>
              <a:t>Volume growth is outrunning the manual network; three costed options are on the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920240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Volume growth is outrunning the manual network's cost base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90063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COMPLICATION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863215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Revenue grew 20.2% over two years while operating margin fell 2.2pp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733037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806189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Which automation path, if any, should the board approve?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76013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7C86"/>
                </a:solidFill>
                <a:latin typeface="Calibri"/>
              </a:rPr>
              <a:t>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749165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Three automation options are costed; simple payback runs from 3.2 to 3.3 years. Every option stays inside the FY27 headcount ceiling of 2,140. The decision is the board's; this pack sets out the evidence for each path.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BP-2026-10-A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Board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FFFFFF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Bookman Old Style"/>
              </a:rPr>
              <a:t>The margin problem is structural, not cyclical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Bookman Old Style"/>
              </a:rPr>
              <a:t>Revenue grew 20.2% over two years while operating margin fell 2.2pp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0E7C86"/>
                </a:solidFill>
                <a:latin typeface="Calibri"/>
              </a:rPr>
              <a:t>Margin has declined in each of the last two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ourier New"/>
              </a:rPr>
              <a:t>[measured]  Receipt R01: Northline management accounts FY24–FY26, P&amp;L summary, rows 4–9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BP-2026-10-A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Board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Bookman Old Style"/>
              </a:rPr>
              <a:t>Manual depots cost 20.4% more per parcel than the network average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0E7C86"/>
                </a:solidFill>
                <a:latin typeface="Calibri"/>
              </a:rPr>
              <a:t>The automated site handles parcels at 83% of the manual unit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ourier New"/>
              </a:rPr>
              <a:t>[measured]  Receipt R02: Depot cost ledger export 2026-09-12, cost-per-parcel by 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BP-2026-10-A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Board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FFFFFF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Bookman Old Style"/>
              </a:rPr>
              <a:t>Three paths, each inside the headcount ceiling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Bookman Old Style"/>
              </a:rPr>
              <a:t>Three automation options are costed; simple payback runs from 3.2 to 3.3 years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920240"/>
          <a:ext cx="1100297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0833"/>
                <a:gridCol w="2640714"/>
                <a:gridCol w="2640714"/>
                <a:gridCol w="2640714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13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313F"/>
                          </a:solidFill>
                          <a:latin typeface="Calibri"/>
                        </a:rPr>
                        <a:t>Full automation, 6 manual sites</a:t>
                      </a:r>
                    </a:p>
                  </a:txBody>
                  <a:tcPr marL="73152" marR="7315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313F"/>
                          </a:solidFill>
                          <a:latin typeface="Calibri"/>
                        </a:rPr>
                        <a:t>Phased: 3 sites now, 3 in FY28</a:t>
                      </a:r>
                    </a:p>
                  </a:txBody>
                  <a:tcPr marL="73152" marR="73152">
                    <a:solidFill>
                      <a:srgbClr val="EA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313F"/>
                          </a:solidFill>
                          <a:latin typeface="Calibri"/>
                        </a:rPr>
                        <a:t>Semi-automate all 6 sites</a:t>
                      </a:r>
                    </a:p>
                  </a:txBody>
                  <a:tcPr marL="73152" marR="73152">
                    <a:solidFill>
                      <a:srgbClr val="EAEE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7F8C9A"/>
                          </a:solidFill>
                          <a:latin typeface="Calibri"/>
                        </a:rPr>
                        <a:t>Capex (GBPm)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313F"/>
                          </a:solidFill>
                          <a:latin typeface="Courier New"/>
                        </a:rPr>
                        <a:t>48.0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313F"/>
                          </a:solidFill>
                          <a:latin typeface="Courier New"/>
                        </a:rPr>
                        <a:t>26.0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313F"/>
                          </a:solidFill>
                          <a:latin typeface="Courier New"/>
                        </a:rPr>
                        <a:t>19.5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7F8C9A"/>
                          </a:solidFill>
                          <a:latin typeface="Calibri"/>
                        </a:rPr>
                        <a:t>Annual saving (GBPm)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313F"/>
                          </a:solidFill>
                          <a:latin typeface="Courier New"/>
                        </a:rPr>
                        <a:t>14.6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313F"/>
                          </a:solidFill>
                          <a:latin typeface="Courier New"/>
                        </a:rPr>
                        <a:t>7.9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313F"/>
                          </a:solidFill>
                          <a:latin typeface="Courier New"/>
                        </a:rPr>
                        <a:t>6.1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7F8C9A"/>
                          </a:solidFill>
                          <a:latin typeface="Calibri"/>
                        </a:rPr>
                        <a:t>Simple payback (years)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313F"/>
                          </a:solidFill>
                          <a:latin typeface="Courier New"/>
                        </a:rPr>
                        <a:t>3.3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313F"/>
                          </a:solidFill>
                          <a:latin typeface="Courier New"/>
                        </a:rPr>
                        <a:t>3.3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313F"/>
                          </a:solidFill>
                          <a:latin typeface="Courier New"/>
                        </a:rPr>
                        <a:t>3.2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7F8C9A"/>
                          </a:solidFill>
                          <a:latin typeface="Calibri"/>
                        </a:rPr>
                        <a:t>Lead time (months)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313F"/>
                          </a:solidFill>
                          <a:latin typeface="Courier New"/>
                        </a:rPr>
                        <a:t>11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313F"/>
                          </a:solidFill>
                          <a:latin typeface="Courier New"/>
                        </a:rPr>
                        <a:t>11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313F"/>
                          </a:solidFill>
                          <a:latin typeface="Courier New"/>
                        </a:rPr>
                        <a:t>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7F8C9A"/>
                          </a:solidFill>
                          <a:latin typeface="Calibri"/>
                        </a:rPr>
                        <a:t>Headcount change (FTE)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313F"/>
                          </a:solidFill>
                          <a:latin typeface="Courier New"/>
                        </a:rPr>
                        <a:t>-310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313F"/>
                          </a:solidFill>
                          <a:latin typeface="Courier New"/>
                        </a:rPr>
                        <a:t>-160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313F"/>
                          </a:solidFill>
                          <a:latin typeface="Courier New"/>
                        </a:rPr>
                        <a:t>-120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93776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0E7C86"/>
                </a:solidFill>
                <a:latin typeface="Calibri"/>
              </a:rPr>
              <a:t>Lead time of 11 months means the earliest saving lands in FY28 on any full-automation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ourier New"/>
              </a:rPr>
              <a:t>[estimated]  Receipt R03, R04: Vendor quotations Q3-2026 (Kardex, Swisslog, Dematic), capex schedules; Operations planning model v7, tab 'Savings', signed off by COO 2026-09-18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BP-2026-10-A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Board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Bookman Old Style"/>
              </a:rPr>
              <a:t>Every option stays inside the FY27 headcount ceiling of 2,140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Ceiling of 2,140 FTE was approved in BP-2026-07 and binds FY27 planning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99923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3108960"/>
            <a:ext cx="640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182112"/>
            <a:ext cx="101800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The largest reduction, -310 FTE under full automation, is below the ceiling headroom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418795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4297680"/>
            <a:ext cx="640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370832"/>
            <a:ext cx="101800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Reductions are phased with vendor lead time of 11 months, so no FY27 exit is forced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537667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BP-2026-10-A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Board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COVERAGE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Bookman Old Style"/>
              </a:rPr>
              <a:t>What this pack covers, what it cannot say, and what would close each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110029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COVERS</a:t>
            </a:r>
          </a:p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FY24–FY26 actuals for all ten depots and vendor-quoted capex for the six manual sites.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CANNOT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2978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51596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WHAT WOULD CLOSE 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3127248"/>
            <a:ext cx="11002975" cy="0"/>
          </a:xfrm>
          <a:prstGeom prst="line">
            <a:avLst/>
          </a:prstGeom>
          <a:ln w="9525">
            <a:solidFill>
              <a:srgbClr val="2231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94360" y="3246120"/>
            <a:ext cx="11002975" cy="786384"/>
          </a:xfrm>
          <a:prstGeom prst="rect">
            <a:avLst/>
          </a:prstGeom>
          <a:pattFill>
            <a:fgClr>
              <a:srgbClr val="EAEEF2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Savings beyond year three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6130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outside scope of the COO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4748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extend the operations planning model to a five-year horizon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23944"/>
            <a:ext cx="11002975" cy="786384"/>
          </a:xfrm>
          <a:prstGeom prst="rect">
            <a:avLst/>
          </a:prstGeom>
          <a:pattFill>
            <a:fgClr>
              <a:srgbClr val="EAEEF2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Implementation risk by vendor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6130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not measured; no reference-site visits completed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4748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two reference-site visits per shortlisted vendor before contract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001768"/>
            <a:ext cx="11002975" cy="786384"/>
          </a:xfrm>
          <a:prstGeom prst="rect">
            <a:avLst/>
          </a:prstGeom>
          <a:pattFill>
            <a:fgClr>
              <a:srgbClr val="EAEEF2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Union consultation timeline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6130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rights-restricted until the consultation notice is issued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4748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HR to confirm notice 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BP-2026-10-A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Board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Bookman Old Style"/>
              </a:rPr>
              <a:t>Exhibit index with receipts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R01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92024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Northline management accounts FY24–FY26, P&amp;L summary, rows 4–9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304288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4231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R02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2316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Depot cost ledger export 2026-09-12, cost-per-parcel by site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2807208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2926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R03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2608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Vendor quotations Q3-2026 (Kardex, Swisslog, Dematic), capex schedules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3310128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34290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R04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4290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Operations planning model v7, tab 'Savings', signed off by COO 2026-09-18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3813048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39319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R05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93192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Board paper BP-2026-07, approved headcount ceiling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4315968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BP-2026-10-A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Board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Depot automation programme: decision pack</dc:title>
  <dc:subject/>
  <dc:creator>doc-studio</dc:creator>
  <cp:keywords/>
  <dc:description>generated using python-pptx</dc:description>
  <cp:lastModifiedBy>doc-studio</cp:lastModifiedBy>
  <cp:revision>1</cp:revision>
  <dcterms:created xsi:type="dcterms:W3CDTF">2026-09-30T00:00:00Z</dcterms:created>
  <dcterms:modified xsi:type="dcterms:W3CDTF">2026-09-30T00:00:00Z</dcterms:modified>
  <cp:category/>
</cp:coreProperties>
</file>