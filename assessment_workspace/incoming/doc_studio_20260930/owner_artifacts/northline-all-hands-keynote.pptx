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GBP per parcel</c:v>
                </c:pt>
              </c:strCache>
            </c:strRef>
          </c:tx>
          <c:spPr>
            <a:solidFill>
              <a:srgbClr val="E8772E"/>
            </a:solidFill>
          </c:spPr>
          <c:cat>
            <c:strRef>
              <c:f>Sheet1!$A$2:$A$4</c:f>
              <c:strCache>
                <c:ptCount val="3"/>
                <c:pt idx="0">
                  <c:v>Manual (6 sites)</c:v>
                </c:pt>
                <c:pt idx="1">
                  <c:v>Semi-automated (3 sites)</c:v>
                </c:pt>
                <c:pt idx="2">
                  <c:v>Automated (1 site)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1.71</c:v>
                </c:pt>
                <c:pt idx="1">
                  <c:v>1.38</c:v>
                </c:pt>
                <c:pt idx="2">
                  <c:v>0.94</c:v>
                </c:pt>
              </c:numCache>
            </c:numRef>
          </c:val>
        </c:ser>
        <c:dLbls>
          <c:numFmt formatCode="£0.00" sourceLinked="0"/>
          <c:txPr>
            <a:bodyPr/>
            <a:lstStyle/>
            <a:p>
              <a:pPr>
                <a:defRPr sz="1100">
                  <a:solidFill>
                    <a:srgbClr val="14324A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3DCE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DCE4"/>
              </a:solidFill>
            </a:ln>
          </c:spPr>
        </c:majorGridlines>
        <c:numFmt formatCode="£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70879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349093"/>
            <a:ext cx="8452713" cy="180045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5400" b="0" i="0">
                <a:solidFill>
                  <a:srgbClr val="14324A"/>
                </a:solidFill>
                <a:latin typeface="Century Schoolbook"/>
              </a:rPr>
              <a:t>What automation means for Northline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148632"/>
            <a:ext cx="6725412" cy="7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70879A"/>
                </a:solidFill>
                <a:latin typeface="Arial"/>
              </a:rPr>
              <a:t>All-hands, 22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588812"/>
            <a:ext cx="4998110" cy="360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Arial"/>
              </a:rPr>
              <a:t>Northline Logistics  · 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69033" y="1268272"/>
            <a:ext cx="8452713" cy="360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772E"/>
                </a:solidFill>
                <a:latin typeface="Arial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69033" y="1988819"/>
            <a:ext cx="8452713" cy="2880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Century Schoolbook"/>
              </a:rPr>
              <a:t>Volume growth is outrunning the manual network's cost 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08913"/>
            <a:ext cx="10180015" cy="360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70879A"/>
                </a:solidFill>
                <a:latin typeface="Arial"/>
              </a:rPr>
              <a:t>THE NUMBER BEHIND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28546"/>
            <a:ext cx="10180015" cy="21598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0" b="0" i="0">
                <a:solidFill>
                  <a:srgbClr val="E8772E"/>
                </a:solidFill>
                <a:latin typeface="Courier New"/>
              </a:rPr>
              <a:t>61.2m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33141" y="3789273"/>
            <a:ext cx="6725412" cy="7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14324A"/>
                </a:solidFill>
                <a:latin typeface="Arial"/>
              </a:rPr>
              <a:t>parcels handled last year, a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33141" y="4508906"/>
            <a:ext cx="6725412" cy="7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70879A"/>
                </a:solidFill>
                <a:latin typeface="Arial"/>
              </a:rPr>
              <a:t>Revenue grew 20.2% over two years while operating margin fell 2.2pp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588812"/>
            <a:ext cx="10180015" cy="36027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ourier New"/>
              </a:rPr>
              <a:t>[measured]  Receipt R02: Depot cost ledger export 2026-09-12, cost-per-parcel by 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949086"/>
            <a:ext cx="4998110" cy="36027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Arial"/>
              </a:rPr>
              <a:t>AH-2026-10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5949086"/>
            <a:ext cx="4134916" cy="36027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0879A"/>
                </a:solidFill>
                <a:latin typeface="Arial"/>
              </a:rPr>
              <a:t>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5541" y="5949086"/>
            <a:ext cx="680313" cy="36027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0879A"/>
                </a:solidFill>
                <a:latin typeface="Courier New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548640"/>
            <a:ext cx="10180015" cy="360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0879A"/>
                </a:solidFill>
                <a:latin typeface="Arial"/>
              </a:rPr>
              <a:t>WHERE THE COST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08913"/>
            <a:ext cx="10180015" cy="1079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4324A"/>
                </a:solidFill>
                <a:latin typeface="Century Schoolbook"/>
              </a:rPr>
              <a:t>Manual depots cost 20.4% more per parcel than the network average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69033" y="1988819"/>
          <a:ext cx="8452713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05840" y="4869180"/>
            <a:ext cx="10180015" cy="7196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800" b="0" i="1">
                <a:solidFill>
                  <a:srgbClr val="E8772E"/>
                </a:solidFill>
                <a:latin typeface="Arial"/>
              </a:rPr>
              <a:t>The automated site handles parcels at 83% of the manual unit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588812"/>
            <a:ext cx="10180015" cy="36027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ourier New"/>
              </a:rPr>
              <a:t>[measured]  Receipt R02: Depot cost ledger export 2026-09-12, cost-per-parcel by 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949086"/>
            <a:ext cx="4998110" cy="36027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Arial"/>
              </a:rPr>
              <a:t>AH-2026-10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5949086"/>
            <a:ext cx="4134916" cy="36027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0879A"/>
                </a:solidFill>
                <a:latin typeface="Arial"/>
              </a:rPr>
              <a:t>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5541" y="5949086"/>
            <a:ext cx="680313" cy="36027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0879A"/>
                </a:solidFill>
                <a:latin typeface="Courier New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349093"/>
            <a:ext cx="2407615" cy="1800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E8772E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6335" y="2708452"/>
            <a:ext cx="7589520" cy="1440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0" i="0">
                <a:solidFill>
                  <a:srgbClr val="14324A"/>
                </a:solidFill>
                <a:latin typeface="Century Schoolbook"/>
              </a:rPr>
              <a:t>What is being decided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548640"/>
            <a:ext cx="10180015" cy="360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0879A"/>
                </a:solidFill>
                <a:latin typeface="Arial"/>
              </a:rPr>
              <a:t>THE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08913"/>
            <a:ext cx="10180015" cy="1079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4324A"/>
                </a:solidFill>
                <a:latin typeface="Century Schoolbook"/>
              </a:rPr>
              <a:t>Three paths are on the table; the board decides on 14 October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88819"/>
            <a:ext cx="640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E877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61972"/>
            <a:ext cx="93570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4324A"/>
                </a:solidFill>
                <a:latin typeface="Arial"/>
              </a:rPr>
              <a:t>Full automation, 6 manual sites: 11 months to build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3067811"/>
            <a:ext cx="1018001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3177539"/>
            <a:ext cx="640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E877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50691"/>
            <a:ext cx="93570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4324A"/>
                </a:solidFill>
                <a:latin typeface="Arial"/>
              </a:rPr>
              <a:t>Phased: 3 sites now, 3 in FY28: 11 months to build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4256531"/>
            <a:ext cx="1018001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5840" y="4366260"/>
            <a:ext cx="640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E877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439412"/>
            <a:ext cx="93570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4324A"/>
                </a:solidFill>
                <a:latin typeface="Arial"/>
              </a:rPr>
              <a:t>Semi-automate all 6 sites: 7 months to build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05840" y="5445252"/>
            <a:ext cx="1018001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5949086"/>
            <a:ext cx="4998110" cy="36027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Arial"/>
              </a:rPr>
              <a:t>AH-2026-10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7744" y="5949086"/>
            <a:ext cx="4134916" cy="36027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0879A"/>
                </a:solidFill>
                <a:latin typeface="Arial"/>
              </a:rPr>
              <a:t>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5541" y="5949086"/>
            <a:ext cx="680313" cy="36027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0879A"/>
                </a:solidFill>
                <a:latin typeface="Courier New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08913"/>
            <a:ext cx="10180015" cy="360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70879A"/>
                </a:solidFill>
                <a:latin typeface="Arial"/>
              </a:rPr>
              <a:t>YOUR FIRST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28546"/>
            <a:ext cx="10180015" cy="21598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0" b="0" i="0">
                <a:solidFill>
                  <a:srgbClr val="E8772E"/>
                </a:solidFill>
                <a:latin typeface="Courier New"/>
              </a:rPr>
              <a:t>2,140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33141" y="3789273"/>
            <a:ext cx="6725412" cy="7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14324A"/>
                </a:solidFill>
                <a:latin typeface="Arial"/>
              </a:rPr>
              <a:t>FTE ceiling for FY27, already approved. Every path stays inside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33141" y="4508906"/>
            <a:ext cx="6725412" cy="7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70879A"/>
                </a:solidFill>
                <a:latin typeface="Arial"/>
              </a:rPr>
              <a:t>Every option stays inside the FY27 headcount ceiling of 2,140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588812"/>
            <a:ext cx="10180015" cy="36027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ourier New"/>
              </a:rPr>
              <a:t>[measured]  Receipt R05: Board paper BP-2026-07, approved headcount ceiling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949086"/>
            <a:ext cx="4998110" cy="36027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Arial"/>
              </a:rPr>
              <a:t>AH-2026-10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5949086"/>
            <a:ext cx="4134916" cy="36027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0879A"/>
                </a:solidFill>
                <a:latin typeface="Arial"/>
              </a:rPr>
              <a:t>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5541" y="5949086"/>
            <a:ext cx="680313" cy="36027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0879A"/>
                </a:solidFill>
                <a:latin typeface="Courier New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548640"/>
            <a:ext cx="10180015" cy="360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0879A"/>
                </a:solidFill>
                <a:latin typeface="Arial"/>
              </a:rPr>
              <a:t>COVERAGE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08913"/>
            <a:ext cx="10180015" cy="1079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4324A"/>
                </a:solidFill>
                <a:latin typeface="Century Schoolbook"/>
              </a:rPr>
              <a:t>What we know, what we don't, and what would close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88819"/>
            <a:ext cx="101800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4324A"/>
                </a:solidFill>
                <a:latin typeface="Arial"/>
              </a:rPr>
              <a:t>COVERS</a:t>
            </a:r>
          </a:p>
          <a:p>
            <a:pPr algn="l"/>
            <a:r>
              <a:rPr sz="1800" b="0" i="0">
                <a:solidFill>
                  <a:srgbClr val="14324A"/>
                </a:solidFill>
                <a:latin typeface="Arial"/>
              </a:rPr>
              <a:t>FY24–FY26 actuals for all ten depots and vendor-quoted capex for the six manual sites.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03220"/>
            <a:ext cx="32714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0879A"/>
                </a:solidFill>
                <a:latin typeface="Arial"/>
              </a:rPr>
              <a:t>CANNOT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60138" y="2903220"/>
            <a:ext cx="32714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0879A"/>
                </a:solidFill>
                <a:latin typeface="Arial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14436" y="2903220"/>
            <a:ext cx="32714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0879A"/>
                </a:solidFill>
                <a:latin typeface="Arial"/>
              </a:rPr>
              <a:t>WHAT WOULD CLOSE 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3195827"/>
            <a:ext cx="10180015" cy="0"/>
          </a:xfrm>
          <a:prstGeom prst="line">
            <a:avLst/>
          </a:prstGeom>
          <a:ln w="9525">
            <a:solidFill>
              <a:srgbClr val="14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005840" y="3314700"/>
            <a:ext cx="10180015" cy="832104"/>
          </a:xfrm>
          <a:prstGeom prst="rect">
            <a:avLst/>
          </a:prstGeom>
          <a:pattFill>
            <a:fgClr>
              <a:srgbClr val="E8EEF3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387852"/>
            <a:ext cx="3125114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Arial"/>
              </a:rPr>
              <a:t>Savings beyond year three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3290" y="3387852"/>
            <a:ext cx="3125114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Arial"/>
              </a:rPr>
              <a:t>outside scope of the COO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7588" y="3387852"/>
            <a:ext cx="3125114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Arial"/>
              </a:rPr>
              <a:t>extend the operations planning model to a five-year horizon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4238244"/>
            <a:ext cx="10180015" cy="832104"/>
          </a:xfrm>
          <a:prstGeom prst="rect">
            <a:avLst/>
          </a:prstGeom>
          <a:pattFill>
            <a:fgClr>
              <a:srgbClr val="E8EEF3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311396"/>
            <a:ext cx="3125114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Arial"/>
              </a:rPr>
              <a:t>Implementation risk by vendor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3290" y="4311396"/>
            <a:ext cx="3125114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Arial"/>
              </a:rPr>
              <a:t>not measured; no reference-site visits completed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7588" y="4311396"/>
            <a:ext cx="3125114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Arial"/>
              </a:rPr>
              <a:t>two reference-site visits per shortlisted vendor before contract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5161788"/>
            <a:ext cx="10180015" cy="832104"/>
          </a:xfrm>
          <a:prstGeom prst="rect">
            <a:avLst/>
          </a:prstGeom>
          <a:pattFill>
            <a:fgClr>
              <a:srgbClr val="E8EEF3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5234940"/>
            <a:ext cx="3125114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Arial"/>
              </a:rPr>
              <a:t>Union consultation timeline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3290" y="5234940"/>
            <a:ext cx="3125114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Arial"/>
              </a:rPr>
              <a:t>rights-restricted until the consultation notice is issued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7588" y="5234940"/>
            <a:ext cx="3125114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Arial"/>
              </a:rPr>
              <a:t>HR to confirm notice 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949086"/>
            <a:ext cx="4998110" cy="36027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Arial"/>
              </a:rPr>
              <a:t>AH-2026-10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744" y="5949086"/>
            <a:ext cx="4134916" cy="36027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0879A"/>
                </a:solidFill>
                <a:latin typeface="Arial"/>
              </a:rPr>
              <a:t>Internal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05541" y="5949086"/>
            <a:ext cx="680313" cy="36027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0879A"/>
                </a:solidFill>
                <a:latin typeface="Courier New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69033" y="1988819"/>
            <a:ext cx="8452713" cy="25200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Century Schoolbook"/>
              </a:rPr>
              <a:t>Nothing changes on your shift until the board decides. When it does, you will hear it here first.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69033" y="4508906"/>
            <a:ext cx="8452713" cy="7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70879A"/>
                </a:solidFill>
                <a:latin typeface="Arial"/>
              </a:rPr>
              <a:t>Questions now, or to your depot lead this week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Depot automation programme: decision pack</dc:title>
  <dc:subject/>
  <dc:creator>doc-studio</dc:creator>
  <cp:keywords/>
  <dc:description>generated using python-pptx</dc:description>
  <cp:lastModifiedBy>doc-studio</cp:lastModifiedBy>
  <cp:revision>1</cp:revision>
  <dcterms:created xsi:type="dcterms:W3CDTF">2026-10-20T00:00:00Z</dcterms:created>
  <dcterms:modified xsi:type="dcterms:W3CDTF">2026-10-20T00:00:00Z</dcterms:modified>
  <cp:category/>
</cp:coreProperties>
</file>