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Decimal TB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Sheet1!$A$2:$A$4</c:f>
              <c:strCache>
                <c:ptCount val="3"/>
                <c:pt idx="0">
                  <c:v>Database catalogue</c:v>
                </c:pt>
                <c:pt idx="1">
                  <c:v>OBS objects</c:v>
                </c:pt>
                <c:pt idx="2">
                  <c:v>NAS files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0.377</c:v>
                </c:pt>
                <c:pt idx="1">
                  <c:v>143.285</c:v>
                </c:pt>
                <c:pt idx="2">
                  <c:v>47.991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</c:v>
                </c:pt>
                <c:pt idx="1">
                  <c:v>62</c:v>
                </c:pt>
                <c:pt idx="2">
                  <c:v>191</c:v>
                </c:pt>
                <c:pt idx="3">
                  <c:v>189</c:v>
                </c:pt>
                <c:pt idx="4">
                  <c:v>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Bukusu (folder label) (bxk)</c:v>
                </c:pt>
                <c:pt idx="1">
                  <c:v>Ekegusii (guz)</c:v>
                </c:pt>
                <c:pt idx="2">
                  <c:v>Kikamba (kam)</c:v>
                </c:pt>
                <c:pt idx="3">
                  <c:v>Kikuyu (kik)</c:v>
                </c:pt>
                <c:pt idx="4">
                  <c:v>Kalenjin (kln)</c:v>
                </c:pt>
                <c:pt idx="5">
                  <c:v>Dholuo (luo)</c:v>
                </c:pt>
                <c:pt idx="6">
                  <c:v>Wanga / Luhya label (lwg)</c:v>
                </c:pt>
                <c:pt idx="7">
                  <c:v>Kiswahili (swa)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1.07</c:v>
                </c:pt>
                <c:pt idx="1">
                  <c:v>92.23</c:v>
                </c:pt>
                <c:pt idx="2">
                  <c:v>85.37</c:v>
                </c:pt>
                <c:pt idx="3">
                  <c:v>82.08</c:v>
                </c:pt>
                <c:pt idx="4">
                  <c:v>89.72</c:v>
                </c:pt>
                <c:pt idx="5">
                  <c:v>81.99</c:v>
                </c:pt>
                <c:pt idx="6">
                  <c:v>9.19</c:v>
                </c:pt>
                <c:pt idx="7">
                  <c:v>87.67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Sheet1!$A$2:$A$7</c:f>
              <c:strCache>
                <c:ptCount val="6"/>
                <c:pt idx="0">
                  <c:v>11.025 kHz</c:v>
                </c:pt>
                <c:pt idx="1">
                  <c:v>16 kHz</c:v>
                </c:pt>
                <c:pt idx="2">
                  <c:v>22.05 kHz</c:v>
                </c:pt>
                <c:pt idx="3">
                  <c:v>32 kHz</c:v>
                </c:pt>
                <c:pt idx="4">
                  <c:v>44.1 kHz</c:v>
                </c:pt>
                <c:pt idx="5">
                  <c:v>48 kHz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</c:v>
                </c:pt>
                <c:pt idx="1">
                  <c:v>22</c:v>
                </c:pt>
                <c:pt idx="2">
                  <c:v>49</c:v>
                </c:pt>
                <c:pt idx="3">
                  <c:v>2</c:v>
                </c:pt>
                <c:pt idx="4">
                  <c:v>3126</c:v>
                </c:pt>
                <c:pt idx="5">
                  <c:v>162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Ekegusii (guz)</c:v>
                </c:pt>
                <c:pt idx="1">
                  <c:v>Kikamba (kam)</c:v>
                </c:pt>
                <c:pt idx="2">
                  <c:v>Kikuyu (kik)</c:v>
                </c:pt>
                <c:pt idx="3">
                  <c:v>Kalenjin (kln)</c:v>
                </c:pt>
                <c:pt idx="4">
                  <c:v>Dholuo (luo)</c:v>
                </c:pt>
                <c:pt idx="5">
                  <c:v>Wanga / Luhya label (lwg)</c:v>
                </c:pt>
                <c:pt idx="6">
                  <c:v>Kiswahili (swa)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21856</c:v>
                </c:pt>
                <c:pt idx="1">
                  <c:v>12220</c:v>
                </c:pt>
                <c:pt idx="2">
                  <c:v>18344</c:v>
                </c:pt>
                <c:pt idx="3">
                  <c:v>32441</c:v>
                </c:pt>
                <c:pt idx="4">
                  <c:v>22274</c:v>
                </c:pt>
                <c:pt idx="5">
                  <c:v>29852</c:v>
                </c:pt>
                <c:pt idx="6">
                  <c:v>20526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Development</c:v>
                </c:pt>
                <c:pt idx="2">
                  <c:v>Held-out</c:v>
                </c:pt>
                <c:pt idx="3">
                  <c:v>Archive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129984</c:v>
                </c:pt>
                <c:pt idx="1">
                  <c:v>8280</c:v>
                </c:pt>
                <c:pt idx="2">
                  <c:v>18980</c:v>
                </c:pt>
                <c:pt idx="3">
                  <c:v>269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among judged (%)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Ekegusii</c:v>
                </c:pt>
                <c:pt idx="1">
                  <c:v>Kikamba</c:v>
                </c:pt>
                <c:pt idx="2">
                  <c:v>Kikuyu</c:v>
                </c:pt>
                <c:pt idx="3">
                  <c:v>Kalenjin</c:v>
                </c:pt>
                <c:pt idx="4">
                  <c:v>Dholuo</c:v>
                </c:pt>
                <c:pt idx="5">
                  <c:v>Wanga / Luhya label</c:v>
                </c:pt>
                <c:pt idx="6">
                  <c:v>Kiswahili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98.24</c:v>
                </c:pt>
                <c:pt idx="1">
                  <c:v>91.35</c:v>
                </c:pt>
                <c:pt idx="2">
                  <c:v>99.25</c:v>
                </c:pt>
                <c:pt idx="3">
                  <c:v>99.75</c:v>
                </c:pt>
                <c:pt idx="4">
                  <c:v>99.49</c:v>
                </c:pt>
                <c:pt idx="5">
                  <c:v>93.47</c:v>
                </c:pt>
                <c:pt idx="6">
                  <c:v>98.95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8A94A6"/>
            </a:solidFill>
          </c:spPr>
          <c:cat>
            <c:strRef>
              <c:f>Sheet1!$A$2:$A$8</c:f>
              <c:strCache>
                <c:ptCount val="7"/>
                <c:pt idx="0">
                  <c:v>Ekegusii</c:v>
                </c:pt>
                <c:pt idx="1">
                  <c:v>Kikamba</c:v>
                </c:pt>
                <c:pt idx="2">
                  <c:v>Kikuyu</c:v>
                </c:pt>
                <c:pt idx="3">
                  <c:v>Kalenjin</c:v>
                </c:pt>
                <c:pt idx="4">
                  <c:v>Dholuo</c:v>
                </c:pt>
                <c:pt idx="5">
                  <c:v>Wanga / Luhya label</c:v>
                </c:pt>
                <c:pt idx="6">
                  <c:v>Kiswahili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99.25</c:v>
                </c:pt>
                <c:pt idx="1">
                  <c:v>98.25</c:v>
                </c:pt>
                <c:pt idx="2">
                  <c:v>99.5</c:v>
                </c:pt>
                <c:pt idx="3">
                  <c:v>99.5</c:v>
                </c:pt>
                <c:pt idx="4">
                  <c:v>98.0</c:v>
                </c:pt>
                <c:pt idx="5">
                  <c:v>95.75</c:v>
                </c:pt>
                <c:pt idx="6">
                  <c:v>95.25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F2A44"/>
                </a:solidFill>
                <a:latin typeface="Cambria"/>
              </a:rPr>
              <a:t>RMS estate &amp; language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4A6"/>
                </a:solidFill>
                <a:latin typeface="Calibri"/>
              </a:rPr>
              <a:t>Evidence-led owner and AI-lab briefing · 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Royal Media Services · Owner briefing  ·  Owner confidential · controlled circulation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ANSWER IN BRIEF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has valuable language assets, but its eligible corpus is not yet certified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authorised staged subset contains 529.34 audio hours and 3,958 files. A separate transcript build contains 157,513 natural text units. These are candidate inventories, not an estate-wide qualified total.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Language-folder labels do not prove linguistic purity. Music exclusion, independent quality distributions, audio–text alignment and onward rights remain unresolved.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What should be protected, qualified and productised—and what can responsibly be offered to an AI lab?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Treat estate stewardship, corpus qualification and product development as separate workstreams. Pilot controlled-access products while building a defensible data card; do not sell a storage total as training-ready language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HOW TO READ THIS REPORT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accounting rules prevent a large inventory from becoming an inflated AI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Measured, estimated, proposed and unknown are different evidence classes.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Each number has a named population; database rows are not text examples.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File duration is not speech-only duration; unknown is not zero.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units and snapshot dates are explicit throughout.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Estate intelligence: condition, duplication and stewardship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 · THE ESTATE IS THREE OVERLAPPING INVENTORIES, NOT ONE CLEAN CORPUS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Most observed storage is media infrastructure, not a qualified language corpus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These are separate storage inventories. Overlap is unresolved; no unique-estate total is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R02: OBS and NAS retained listings embedded in the census; 29 September 2026. Metadata scope, not language or music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IS SUBSTANTIAL BUT NOT COMPLETE OR PERFECTLY RECONCILED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Access coverage and content coverage must be reported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methods mix full reads, stratified samples and head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OBS: 66 of 106 sources completed; 40 blocked or missing.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NAS: 16 of 16 registered roots enumerated; content qualification is separate.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Method counts and failure flags need reconciliation before statistical certification.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RELATIONAL READINESS IS UNEVEN AND IS NOT AN AUDIO-QUALITY ASSESSMENT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readiness grades prioritise remediation; they do not certify a training dataset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grades describe relational stewardship only; they do not classify speech quality, transcript accuracy or legal eligibility.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R01: RMS estate census, eij-1b359b3cbd2e; measured 29 September 2026. Exact source hashes in the Word appendix.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QUALITY AND PRIVACY SIGNALS ARE MATERIAL, BUT THEIR DENOMINATORS DIFFER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measured warning signals justify targeted inspection, not blanket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Null-bearing is not the same as missing a mandatory field.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PII markers are a risk-screening signal, not a legal determination.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Degradation and stale-byte measures overlap; do not sum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 and transcript quality need their own independent measurements.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DUPLICATION HAS SEVERAL MEANINGS AND SEVERAL CONFIDENCE LEVELS · R01/R04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Duplicate candidates are an investigation queue, not a deletion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Exact, normalised, sketch-near and semantic overlap are not interchangeable.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candidates and transcript-cleaning counts are different populations.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 a canonical asset and lineage before retiring any copy.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identity controls to protect evaluation independence as well as storage.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OBJECT-STORE OVERLAP AND ARCHIVE CANDIDATES OFFER LEVERAGE WITH QUALIFICATIONS ·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Archive and duplicate candidates are substantial, but net savings are not yet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1.14 million object candidates are flagged by ETag and size, not universal hashes.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46.054 TB of old-write storage is an archive candidate, not proven unused.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Read demand, restore time, retrieval fees and retention must be checked.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Identity validation and reversible pilots precede reclamation.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FRESHNESS AND GROWTH NEED FIELD-LEVEL INTERPRETATION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Freshness is a product-specific property, not a universal timestamp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Selected timestamps can represent events rather than writes.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Future dates and sentinel values need explicit treatment.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deltas are not automatically business growth rates.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Freshness must be defined for each intended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STORAGE ECONOMICS SHOULD BE QUOTED AS CONDITIONAL BOUNDS · R01/R02/R07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economics are useful bounds, not an invoice-backed savings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the owner’s effective tariff and actual billing units.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Gross standard-tier cost is not net archive savings.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add overlapping reclamation and tiering opportunities.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Model restore, egress, retention and migration costs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STEWARDSHIP PRIORITIES SHOULD PROTECT VALUE BEFORE REMOVING COST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Stewardship and corpus qualification can proceed together without conflating their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ownership and canonical identity first.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read workloads and restore obligations before tiering.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Review index candidates against real queries, not schema shape alone.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Run corpus qualification alongside—not behind—the entire cleanup programme.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Non-English, non-music audio and text: a defensible accounting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 · THE PRECISE ANSWER IS A BOUNDED CANDIDATE INVENTORY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verified inventory is sizeable; the strictly eligible total remains unknown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529.34 staged audio hours; 36.52 GB; music and language purity unverified.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157,513 natural text units; 27.33 million characters; separate source population.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Estate-wide eligible totals and quality distributions remain unmeasured.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uncertainty is a qualification gap, not evidence that suitable data is absent.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AUDIO-DURATION DISTRIBUTION IS HIGHLY UNEVEN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smallest audio strata need deliberate qualification, not pooled reporting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Folder labels are provisional linguistic metadata; file duration is not isolated speech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CAPTURE PROPERTIES ARE MEASURABLE; QUALITY GRADES ARE NOT YET ESTABLISHED · R03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evidence describes capture formats, not yet the quality of usable speech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Sample rate and readable headers are observed properties, not a measured clean-speech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WAVEFORM MEASUREMENT RECORD IS INCOMPLETE AND STALE ·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stale progress record cannot stand in for a completed quality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retained progress counter is not a completed measurement dataset.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Its stale heartbeat cannot establish current remote process health.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completed quality-band percentages are defensible from that record.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Finish and reconcile the measurement receipt before publishing distributions.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DEFINE NON-ENGLISH AND NON-MUSIC AT THE SEGMENT LEVEL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target corpus is an intersection of verified properties, not a folder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Count segments, not entire programmes, for strict eligibility.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English-only, code-switched and local-language-only speech.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music-only and speech-with-music; keep unresolved content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the recipient’s acceptance definition before producing the final quantity.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TEXT QUANTITY IS REAL, BUT UNITS, CHARACTERS AND TOKENS ARE DIFFERENT · R04/R05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Text units establish a corpus inventory, not a universal token or speech equivalent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text-unit inventory is verified within this build; token mass and alignment require their own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EXISTING PARTITIONS PROVIDE USEFUL STRUCTURE, NOT FINAL INDEPENDENCE PROOF ·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sealed evaluation file is not automatically an untouched final benchmark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Partition integrity, speaker independence and final-evaluation blindness are separate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TRANSCRIPT QUALITY AND ALIGNED SPEECH HOURS ARE STILL OPEN · R03/R04/R07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transcript corpus is promising, but supervised-speech quality is not yet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WER/CER and clean paired hours are not measured in the current record.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Language-ID accuracy does not validate every transcript.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Audio–text joins need timestamps, hashes, provenance and rights.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by intended task rather than inventing a single “good data” grade.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TEXT MODEL PROVES A NARROW CAPABILITY, NOT CORPUS-WIDE QUALITY ·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admitted text classifier validates one task; it does not certify the whole estate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Conditional accuracy must be read with coverage and independent source-quality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R05: Text language-ID run, m9j-74af7cef0a85; measured per-stratum results. Not an ASR or general-language certificate.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COMPUTE ELIGIBLE HOURS WITH AN AUDITABLE SEGMENT LEDGER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An auditable ledger can turn the candidate inventory into a credible lab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Eligible hours are the duration-weighted intersection of explicit gates.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included, excluded and unresolved duration.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Stratify by language, source, time, programme and acoustic condition.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design-aware uncertainty; do not multiply marginal percentages.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SAMPLING ILLUSTRATION IS NOT A SUBSTITUTE FOR THE ACTUAL DESIGN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qualification design should expose uncertainty rather than hide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Illustrative sample formulas assume independence and a defined population.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Correlated recordings and rare strata change the effective sample size.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detected contamination is not proof of zero contamination.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Tolerance, adjudication and release policy must be agreed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A GLOBAL AI LAB SHOULD RECEIVE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lab-ready offer is a reproducible evidence package, not a storage statistic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 data card, manifest and rights matrix must travel with the corpus.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Provide per-stratum quality, uncertainty and failure counts—not one pooled score.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Supply independently reproducible partitions and evaluation evidence.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 controlled qualification before promising unrestricted licensing.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A broader portfolio: commercial services and local-language enablement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III · DATA VALUE DEPENDS ON THE PRODUCT AND THE PERMITTED USE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supports several product hypotheses—not one undifferentiated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Enterprise services, research products and ecosystem investment have different economics.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a narrow qualified slice and a named user problem.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equate an attractive use case with present eligibility.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willingness to pay before treating the portfolio as revenue.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Cited context can support bounded enterprise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Versioned, cited retrieval of authorised local context through a governed interface; language routing, provenance, freshness and correction are part of the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Enterprise assistants, newsrooms, research teams and approved local-language applications.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Subscription, usage or enterprise agreement; validate retention, citation utility, answer coverage and workflow savings.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Source rights for retrieval and excerpting; publication updates; factual review; privacy and content-access boundaries.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LOCAL-LANGUAGE TRANSCRIPTION, CAPTIONS AND MEDIA ACCESSIBILITY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Transcription services require validated speech–text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Task-specific ASR, captions, alignment and searchable timecodes for qualified language/acoustic strata.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Broadcasters, archives, public-service content teams and accessibility programmes.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Per-minute processing, managed service or enterprise contract; quality-linked acceptance and rework costs determine margin.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Clean paired segments, independently checked references, lawful processing and a supported rather than assumed model capability.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INDEPENDENT LOCAL-LANGUAGE BENCHMARK AND EVALUATION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Independent evaluation can turn language coverage into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 controlled, blind benchmark with per-language/dialect scoring, abstention and coverage, leakage checks and human adjudication.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Model developers, global AI labs and local-language application buyers.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Evaluation engagements, secure benchmark access or recurring independent assessments.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Independent labels and partitions; benchmark rights; conflict-of-interest controls. The current language-ID score alone is not a benchmark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RIGHTS-CLEARED RESEARCH CORPUS LICENSING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Corpus licensing is a rights-and-assurance product, not a raw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 corpus slices with a data card, manifest, permissible-use terms, correction/withdrawal process and documented quality.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AI labs and research institutions with a defined training or evaluation objective.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Scoped licence, time-bound access, support or recurring updates, subject to actual rights and demonstrated buyer need.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Onward-use rights, contributor and programme permissions, privacy review, geographic transfer terms and verified quality. Not cleared by internal training authorisation alone.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SECURE RESEARCH ENCLAVE AND COMPUTE-TO-DATA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Compute-to-data access limits raw-data movement, not the underlying obligations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Approved code executes against a controlled dataset slice; reviewed metrics and permitted outputs leave the environment.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Research partners unable to receive unrestricted source copies.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Project access, managed research environment or jointly funded programme.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Approved partner and purpose, adequate controls, contractual liability and a qualified dataset. This is not a loophole around data-protection law.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OPEN-SOURCE LOCAL-LANGUAGE ENABLEMENT AND HERITAGE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Open-source tools can build an ecosystem without premature corpus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Open tools, schemas, evaluation harnesses and documentation; separately approved dataset or model releases where rights allow.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Local researchers, universities, developers and language communities.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Grant or consortium support, sponsorship, hosted/support services and partnership adoption; open-source itself is not a guaranteed revenue stream.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Licence compatibility, release-specific rights, community stewardship, hosting support and an explicit sustainability plan.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WIDER PORTFOLIO EXTENDS BEYOND CORPUS SALES AND CONTEXT APIS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strongest portfolio combines services, assurance and local-language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Private archive search and terminology resources can build on smaller curated slices.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Localisation and adapters need task-specific evidence, not broad model claims.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Annotation and independent evaluation improve the defensibility of later offers.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Voice synthesis and unmarked synthetic augmentation are not shortcuts around rights.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NEEDS A PRODUCT CONTRACT, NOT JUST A VECTOR INDEX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defensible context service sells trustworthy workflow support, not raw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Define domains, languages, freshness, citation and abstention behaviour.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Carry source permissions into retrieval, caches and generated answers.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Evaluate faithful answers separately from retrieval relevance.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Price the full cost of an accepted answer, including curation and escalation.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AN OPEN ECOSYSTEM AND A COMMERCIAL SERVICE CAN COEXIST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Openness is a set of deliberate release decisions, not a single licence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Open code, open data, open weights and a hosted service are different choices.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reproducible tools and clear documentation; clear data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Native-speaker participation and correction channels are part of the product.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Assign funding and ownership for maintenance, not just launch.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RIGHTS, PRIVACY AND COMMUNITY LEGITIMACY CONSTRAIN THE OFFER · R08/R07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Rights and stewardship must be designed into each offer, not appended at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Internal authorisation does not establish onward licensing or open-release rights.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Assess source, performer, transcript, personal-data and derived-output rights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Cross-border processing requires a documented legal and operational review.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Community participation and correction rights strengthen long-term legitimacy.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COMMERCIAL VALIDATION SHOULD PRECEDE A REVENUE FORECAST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paid qualification or workflow pilot is stronger evidence than a speculative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a named buyer problem and acceptance criteria in a scoped pilot.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accepted outputs—not raw gigabytes—as the economic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Include rights, annotation, review, maintenance and support costs.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revenue forecast is justified before yield, demand and delivery costs are measured.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STAGED PROGRAMME TURNS THE INVENTORY INTO A RESPONSIBLE OFFER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investment should buy qualification and a pilot, not a larger unverified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source identity, coverage and rights before a sale claim.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segments and alignments with independent native-speaker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Pilot one bounded commercial workflow and a separately cleared open track.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Scale only after measured quality, demand, correction and unit economics are credible.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DECISIONS FOR THE OWNER AND PROSPECTIVE PARTNER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decision is the first defensible product and its qualification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 the intended use, target strata and release model.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treatment of mixed content and unresolved quality.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Name accountable owners for rights, language validation and delivery.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Approve the qualification programme and a bounded pilot—not unsupported totals.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Retained RMS relational census, OBS/NAS listings, an authorised staged-audio subset, a separately assembled transcript corpus and a narrow language-identification evaluation. Evidence cut: 1 October 2026, 19:12 UTC.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non-English, non-music eligible audio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No joined asset inventory with verified segment-level language, music and rights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Complete the coverage ledger and stratified content qualification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 natural-text tokens or clean aligned speech–text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Database storage is not natural-text volume; text and audio populations are not joined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Versioned exports, tokenizer-specific counts, alignments and independent audits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Studio/telephone quality or transcript error-rate distributions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Header properties do not establish audio quality; no final waveform/annotation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Measured observables plus task-specific human-reference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External licensing, open release or realised savings and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Internal custody and indicative tariffs do not establish onward rights or commercial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Rights review, actual invoices, retrieval charges and paid pilot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estate census, eij-1b359b3cbd2e; measured 29 September 2026. Exact source hashes in the Word appendix.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OBS and NAS retained listings embedded in the census; 29 September 2026. Metadata scope, not language or music analysis.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Staged-audio header inspection, m9j-3e0dcb1bd16e; verified receipt. Folder labels are not content verification.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transcript assembly, m9j-9a46b862f339; sealed 29 September 2026. Natural units exclude added canaries.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Text language-ID run, m9j-74af7cef0a85; measured per-stratum results. Not an ASR or general-language certificate.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434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348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Measurement status, m9j-c47f01c0b945; last retained heartbeat 1 October 2026 at 04:33 UTC. No final quality receipt.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48188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493775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5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Report analysis and explicitly labelled planning calculations, derived from the pinned evidence; not forecasts or new measurements.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32180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44067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44067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Documentation and governance references: Datasheets, Data Cards, NIST AI RMF and Kenya data-protection law; full references in Word.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82472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estate &amp; language intelligence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2026-10-01T19:12:00Z</dcterms:created>
  <dcterms:modified xsi:type="dcterms:W3CDTF">2026-10-01T19:12:00Z</dcterms:modified>
  <cp:category/>
</cp:coreProperties>
</file>