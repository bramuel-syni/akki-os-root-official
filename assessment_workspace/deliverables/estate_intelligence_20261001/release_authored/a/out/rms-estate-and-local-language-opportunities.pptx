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Tables</c:v>
                </c:pt>
              </c:strCache>
            </c:strRef>
          </c:tx>
          <c:spPr>
            <a:solidFill>
              <a:srgbClr val="C8102E"/>
            </a:solidFill>
          </c:spPr>
          <c:cat>
            <c:strRef>
              <c:f>Sheet1!$A$2:$A$6</c:f>
              <c:strCache>
                <c:ptCount val="5"/>
                <c:pt idx="0">
                  <c:v>A</c:v>
                </c:pt>
                <c:pt idx="1">
                  <c:v>B</c:v>
                </c:pt>
                <c:pt idx="2">
                  <c:v>C</c:v>
                </c:pt>
                <c:pt idx="3">
                  <c:v>D</c:v>
                </c:pt>
                <c:pt idx="4">
                  <c:v>E</c:v>
                </c:pt>
              </c:strCache>
            </c:strRef>
          </c:cat>
          <c:val>
            <c:numRef>
              <c:f>Sheet1!$B$2:$B$6</c:f>
              <c:numCache>
                <c:formatCode>General</c:formatCode>
                <c:ptCount val="5"/>
                <c:pt idx="0">
                  <c:v>171</c:v>
                </c:pt>
                <c:pt idx="1">
                  <c:v>62</c:v>
                </c:pt>
                <c:pt idx="2">
                  <c:v>191</c:v>
                </c:pt>
                <c:pt idx="3">
                  <c:v>189</c:v>
                </c:pt>
                <c:pt idx="4">
                  <c:v>25</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Tables</c:v>
                </c:pt>
              </c:strCache>
            </c:strRef>
          </c:tx>
          <c:spPr>
            <a:solidFill>
              <a:srgbClr val="C8102E"/>
            </a:solidFill>
          </c:spPr>
          <c:cat>
            <c:strRef>
              <c:f>Sheet1!$A$2:$A$6</c:f>
              <c:strCache>
                <c:ptCount val="5"/>
                <c:pt idx="0">
                  <c:v>A</c:v>
                </c:pt>
                <c:pt idx="1">
                  <c:v>B</c:v>
                </c:pt>
                <c:pt idx="2">
                  <c:v>C</c:v>
                </c:pt>
                <c:pt idx="3">
                  <c:v>D</c:v>
                </c:pt>
                <c:pt idx="4">
                  <c:v>E</c:v>
                </c:pt>
              </c:strCache>
            </c:strRef>
          </c:cat>
          <c:val>
            <c:numRef>
              <c:f>Sheet1!$B$2:$B$6</c:f>
              <c:numCache>
                <c:formatCode>General</c:formatCode>
                <c:ptCount val="5"/>
                <c:pt idx="0">
                  <c:v>171</c:v>
                </c:pt>
                <c:pt idx="1">
                  <c:v>62</c:v>
                </c:pt>
                <c:pt idx="2">
                  <c:v>191</c:v>
                </c:pt>
                <c:pt idx="3">
                  <c:v>189</c:v>
                </c:pt>
                <c:pt idx="4">
                  <c:v>25</c:v>
                </c:pt>
              </c:numCache>
            </c:numRef>
          </c:val>
        </c:ser>
        <c:ser>
          <c:idx val="1"/>
          <c:order val="1"/>
          <c:tx>
            <c:strRef>
              <c:f>Sheet1!$C$1</c:f>
              <c:strCache>
                <c:ptCount val="1"/>
                <c:pt idx="0">
                  <c:v>Share (%)</c:v>
                </c:pt>
              </c:strCache>
            </c:strRef>
          </c:tx>
          <c:spPr>
            <a:solidFill>
              <a:srgbClr val="8A94A6"/>
            </a:solidFill>
          </c:spPr>
          <c:cat>
            <c:strRef>
              <c:f>Sheet1!$A$2:$A$6</c:f>
              <c:strCache>
                <c:ptCount val="5"/>
                <c:pt idx="0">
                  <c:v>A</c:v>
                </c:pt>
                <c:pt idx="1">
                  <c:v>B</c:v>
                </c:pt>
                <c:pt idx="2">
                  <c:v>C</c:v>
                </c:pt>
                <c:pt idx="3">
                  <c:v>D</c:v>
                </c:pt>
                <c:pt idx="4">
                  <c:v>E</c:v>
                </c:pt>
              </c:strCache>
            </c:strRef>
          </c:cat>
          <c:val>
            <c:numRef>
              <c:f>Sheet1!$C$2:$C$6</c:f>
              <c:numCache>
                <c:formatCode>General</c:formatCode>
                <c:ptCount val="5"/>
                <c:pt idx="0">
                  <c:v>26.8</c:v>
                </c:pt>
                <c:pt idx="1">
                  <c:v>9.72</c:v>
                </c:pt>
                <c:pt idx="2">
                  <c:v>29.94</c:v>
                </c:pt>
                <c:pt idx="3">
                  <c:v>29.62</c:v>
                </c:pt>
                <c:pt idx="4">
                  <c:v>3.92</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legend>
      <c:legendPos val="b"/>
      <c:overlay val="0"/>
    </c:legend>
    <c:dispBlanksAs val="gap"/>
  </c:chart>
  <c:txPr>
    <a:bodyPr/>
    <a:lstStyle/>
    <a:p>
      <a:pPr>
        <a:defRPr sz="1100">
          <a:solidFill>
            <a:srgbClr val="8A94A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Decimal TB</c:v>
                </c:pt>
              </c:strCache>
            </c:strRef>
          </c:tx>
          <c:spPr>
            <a:solidFill>
              <a:srgbClr val="C8102E"/>
            </a:solidFill>
          </c:spPr>
          <c:cat>
            <c:strRef>
              <c:f>Sheet1!$A$2:$A$4</c:f>
              <c:strCache>
                <c:ptCount val="3"/>
                <c:pt idx="0">
                  <c:v>Database catalogue</c:v>
                </c:pt>
                <c:pt idx="1">
                  <c:v>OBS objects</c:v>
                </c:pt>
                <c:pt idx="2">
                  <c:v>NAS files</c:v>
                </c:pt>
              </c:strCache>
            </c:strRef>
          </c:cat>
          <c:val>
            <c:numRef>
              <c:f>Sheet1!$B$2:$B$4</c:f>
              <c:numCache>
                <c:formatCode>General</c:formatCode>
                <c:ptCount val="3"/>
                <c:pt idx="0">
                  <c:v>0.377</c:v>
                </c:pt>
                <c:pt idx="1">
                  <c:v>143.285</c:v>
                </c:pt>
                <c:pt idx="2">
                  <c:v>47.991</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Bukusu (folder label) (bxk)</c:v>
                </c:pt>
                <c:pt idx="1">
                  <c:v>Ekegusii (guz)</c:v>
                </c:pt>
                <c:pt idx="2">
                  <c:v>Kikamba (kam)</c:v>
                </c:pt>
                <c:pt idx="3">
                  <c:v>Kikuyu (kik)</c:v>
                </c:pt>
                <c:pt idx="4">
                  <c:v>Kalenjin (kln)</c:v>
                </c:pt>
                <c:pt idx="5">
                  <c:v>Dholuo (luo)</c:v>
                </c:pt>
                <c:pt idx="6">
                  <c:v>Wanga / Luhya label (lwg)</c:v>
                </c:pt>
                <c:pt idx="7">
                  <c:v>Kiswahili (swa)</c:v>
                </c:pt>
              </c:strCache>
            </c:strRef>
          </c:cat>
          <c:val>
            <c:numRef>
              <c:f>Sheet1!$B$2:$B$9</c:f>
              <c:numCache>
                <c:formatCode>General</c:formatCode>
                <c:ptCount val="8"/>
                <c:pt idx="0">
                  <c:v>1.07</c:v>
                </c:pt>
                <c:pt idx="1">
                  <c:v>92.23</c:v>
                </c:pt>
                <c:pt idx="2">
                  <c:v>85.37</c:v>
                </c:pt>
                <c:pt idx="3">
                  <c:v>82.08</c:v>
                </c:pt>
                <c:pt idx="4">
                  <c:v>89.72</c:v>
                </c:pt>
                <c:pt idx="5">
                  <c:v>81.99</c:v>
                </c:pt>
                <c:pt idx="6">
                  <c:v>9.19</c:v>
                </c:pt>
                <c:pt idx="7">
                  <c:v>87.67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Files</c:v>
                </c:pt>
              </c:strCache>
            </c:strRef>
          </c:tx>
          <c:spPr>
            <a:solidFill>
              <a:srgbClr val="C8102E"/>
            </a:solidFill>
          </c:spPr>
          <c:cat>
            <c:strRef>
              <c:f>Sheet1!$A$2:$A$7</c:f>
              <c:strCache>
                <c:ptCount val="6"/>
                <c:pt idx="0">
                  <c:v>11.025 kHz</c:v>
                </c:pt>
                <c:pt idx="1">
                  <c:v>16 kHz</c:v>
                </c:pt>
                <c:pt idx="2">
                  <c:v>22.05 kHz</c:v>
                </c:pt>
                <c:pt idx="3">
                  <c:v>32 kHz</c:v>
                </c:pt>
                <c:pt idx="4">
                  <c:v>44.1 kHz</c:v>
                </c:pt>
                <c:pt idx="5">
                  <c:v>48 kHz</c:v>
                </c:pt>
              </c:strCache>
            </c:strRef>
          </c:cat>
          <c:val>
            <c:numRef>
              <c:f>Sheet1!$B$2:$B$7</c:f>
              <c:numCache>
                <c:formatCode>General</c:formatCode>
                <c:ptCount val="6"/>
                <c:pt idx="0">
                  <c:v>597</c:v>
                </c:pt>
                <c:pt idx="1">
                  <c:v>22</c:v>
                </c:pt>
                <c:pt idx="2">
                  <c:v>49</c:v>
                </c:pt>
                <c:pt idx="3">
                  <c:v>2</c:v>
                </c:pt>
                <c:pt idx="4">
                  <c:v>3126</c:v>
                </c:pt>
                <c:pt idx="5">
                  <c:v>162</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Audio files</c:v>
                </c:pt>
              </c:strCache>
            </c:strRef>
          </c:tx>
          <c:spPr>
            <a:solidFill>
              <a:srgbClr val="C8102E"/>
            </a:solidFill>
          </c:spPr>
          <c:cat>
            <c:strRef>
              <c:f>Sheet1!$A$2:$A$9</c:f>
              <c:strCache>
                <c:ptCount val="8"/>
                <c:pt idx="0">
                  <c:v>bxk · Bukusu (folder label)</c:v>
                </c:pt>
                <c:pt idx="1">
                  <c:v>guz · Ekegusii</c:v>
                </c:pt>
                <c:pt idx="2">
                  <c:v>kam · Kikamba</c:v>
                </c:pt>
                <c:pt idx="3">
                  <c:v>kik · Kikuyu</c:v>
                </c:pt>
                <c:pt idx="4">
                  <c:v>kln · Kalenjin</c:v>
                </c:pt>
                <c:pt idx="5">
                  <c:v>luo · Dholuo</c:v>
                </c:pt>
                <c:pt idx="6">
                  <c:v>lwg · Wanga / Luhya label</c:v>
                </c:pt>
                <c:pt idx="7">
                  <c:v>swa · Kiswahili</c:v>
                </c:pt>
              </c:strCache>
            </c:strRef>
          </c:cat>
          <c:val>
            <c:numRef>
              <c:f>Sheet1!$B$2:$B$9</c:f>
              <c:numCache>
                <c:formatCode>General</c:formatCode>
                <c:ptCount val="8"/>
                <c:pt idx="0">
                  <c:v>14</c:v>
                </c:pt>
                <c:pt idx="1">
                  <c:v>732</c:v>
                </c:pt>
                <c:pt idx="2">
                  <c:v>1166</c:v>
                </c:pt>
                <c:pt idx="3">
                  <c:v>584</c:v>
                </c:pt>
                <c:pt idx="4">
                  <c:v>295</c:v>
                </c:pt>
                <c:pt idx="5">
                  <c:v>558</c:v>
                </c:pt>
                <c:pt idx="6">
                  <c:v>60</c:v>
                </c:pt>
                <c:pt idx="7">
                  <c:v>549</c:v>
                </c:pt>
              </c:numCache>
            </c:numRef>
          </c:val>
        </c:ser>
        <c:ser>
          <c:idx val="1"/>
          <c:order val="1"/>
          <c:tx>
            <c:strRef>
              <c:f>Sheet1!$C$1</c:f>
              <c:strCache>
                <c:ptCount val="1"/>
                <c:pt idx="0">
                  <c:v>Hours</c:v>
                </c:pt>
              </c:strCache>
            </c:strRef>
          </c:tx>
          <c:spPr>
            <a:solidFill>
              <a:srgbClr val="8A94A6"/>
            </a:solidFill>
          </c:spPr>
          <c:cat>
            <c:strRef>
              <c:f>Sheet1!$A$2:$A$9</c:f>
              <c:strCache>
                <c:ptCount val="8"/>
                <c:pt idx="0">
                  <c:v>bxk · Bukusu (folder label)</c:v>
                </c:pt>
                <c:pt idx="1">
                  <c:v>guz · Ekegusii</c:v>
                </c:pt>
                <c:pt idx="2">
                  <c:v>kam · Kikamba</c:v>
                </c:pt>
                <c:pt idx="3">
                  <c:v>kik · Kikuyu</c:v>
                </c:pt>
                <c:pt idx="4">
                  <c:v>kln · Kalenjin</c:v>
                </c:pt>
                <c:pt idx="5">
                  <c:v>luo · Dholuo</c:v>
                </c:pt>
                <c:pt idx="6">
                  <c:v>lwg · Wanga / Luhya label</c:v>
                </c:pt>
                <c:pt idx="7">
                  <c:v>swa · Kiswahili</c:v>
                </c:pt>
              </c:strCache>
            </c:strRef>
          </c:cat>
          <c:val>
            <c:numRef>
              <c:f>Sheet1!$C$2:$C$9</c:f>
              <c:numCache>
                <c:formatCode>General</c:formatCode>
                <c:ptCount val="8"/>
                <c:pt idx="0">
                  <c:v>1.07</c:v>
                </c:pt>
                <c:pt idx="1">
                  <c:v>92.23</c:v>
                </c:pt>
                <c:pt idx="2">
                  <c:v>85.37</c:v>
                </c:pt>
                <c:pt idx="3">
                  <c:v>82.08</c:v>
                </c:pt>
                <c:pt idx="4">
                  <c:v>89.72</c:v>
                </c:pt>
                <c:pt idx="5">
                  <c:v>81.99</c:v>
                </c:pt>
                <c:pt idx="6">
                  <c:v>9.19</c:v>
                </c:pt>
                <c:pt idx="7">
                  <c:v>87.67</c:v>
                </c:pt>
              </c:numCache>
            </c:numRef>
          </c:val>
        </c:ser>
        <c:ser>
          <c:idx val="2"/>
          <c:order val="2"/>
          <c:tx>
            <c:strRef>
              <c:f>Sheet1!$D$1</c:f>
              <c:strCache>
                <c:ptCount val="1"/>
                <c:pt idx="0">
                  <c:v>Audio GB</c:v>
                </c:pt>
              </c:strCache>
            </c:strRef>
          </c:tx>
          <c:spPr>
            <a:solidFill>
              <a:srgbClr val="8A94A6"/>
            </a:solidFill>
          </c:spPr>
          <c:cat>
            <c:strRef>
              <c:f>Sheet1!$A$2:$A$9</c:f>
              <c:strCache>
                <c:ptCount val="8"/>
                <c:pt idx="0">
                  <c:v>bxk · Bukusu (folder label)</c:v>
                </c:pt>
                <c:pt idx="1">
                  <c:v>guz · Ekegusii</c:v>
                </c:pt>
                <c:pt idx="2">
                  <c:v>kam · Kikamba</c:v>
                </c:pt>
                <c:pt idx="3">
                  <c:v>kik · Kikuyu</c:v>
                </c:pt>
                <c:pt idx="4">
                  <c:v>kln · Kalenjin</c:v>
                </c:pt>
                <c:pt idx="5">
                  <c:v>luo · Dholuo</c:v>
                </c:pt>
                <c:pt idx="6">
                  <c:v>lwg · Wanga / Luhya label</c:v>
                </c:pt>
                <c:pt idx="7">
                  <c:v>swa · Kiswahili</c:v>
                </c:pt>
              </c:strCache>
            </c:strRef>
          </c:cat>
          <c:val>
            <c:numRef>
              <c:f>Sheet1!$D$2:$D$9</c:f>
              <c:numCache>
                <c:formatCode>General</c:formatCode>
                <c:ptCount val="8"/>
                <c:pt idx="0">
                  <c:v>0.07</c:v>
                </c:pt>
                <c:pt idx="1">
                  <c:v>7.701</c:v>
                </c:pt>
                <c:pt idx="2">
                  <c:v>4.835</c:v>
                </c:pt>
                <c:pt idx="3">
                  <c:v>5.502</c:v>
                </c:pt>
                <c:pt idx="4">
                  <c:v>6.359</c:v>
                </c:pt>
                <c:pt idx="5">
                  <c:v>3.787</c:v>
                </c:pt>
                <c:pt idx="6">
                  <c:v>0.771</c:v>
                </c:pt>
                <c:pt idx="7">
                  <c:v>7.49</c:v>
                </c:pt>
              </c:numCache>
            </c:numRef>
          </c:val>
        </c:ser>
        <c:ser>
          <c:idx val="3"/>
          <c:order val="3"/>
          <c:tx>
            <c:strRef>
              <c:f>Sheet1!$E$1</c:f>
              <c:strCache>
                <c:ptCount val="1"/>
                <c:pt idx="0">
                  <c:v>Text files</c:v>
                </c:pt>
              </c:strCache>
            </c:strRef>
          </c:tx>
          <c:spPr>
            <a:solidFill>
              <a:srgbClr val="8A94A6"/>
            </a:solidFill>
          </c:spPr>
          <c:cat>
            <c:strRef>
              <c:f>Sheet1!$A$2:$A$9</c:f>
              <c:strCache>
                <c:ptCount val="8"/>
                <c:pt idx="0">
                  <c:v>bxk · Bukusu (folder label)</c:v>
                </c:pt>
                <c:pt idx="1">
                  <c:v>guz · Ekegusii</c:v>
                </c:pt>
                <c:pt idx="2">
                  <c:v>kam · Kikamba</c:v>
                </c:pt>
                <c:pt idx="3">
                  <c:v>kik · Kikuyu</c:v>
                </c:pt>
                <c:pt idx="4">
                  <c:v>kln · Kalenjin</c:v>
                </c:pt>
                <c:pt idx="5">
                  <c:v>luo · Dholuo</c:v>
                </c:pt>
                <c:pt idx="6">
                  <c:v>lwg · Wanga / Luhya label</c:v>
                </c:pt>
                <c:pt idx="7">
                  <c:v>swa · Kiswahili</c:v>
                </c:pt>
              </c:strCache>
            </c:strRef>
          </c:cat>
          <c:val>
            <c:numRef>
              <c:f>Sheet1!$E$2:$E$9</c:f>
              <c:numCache>
                <c:formatCode>General</c:formatCode>
                <c:ptCount val="8"/>
                <c:pt idx="0">
                  <c:v>0</c:v>
                </c:pt>
                <c:pt idx="1">
                  <c:v>730</c:v>
                </c:pt>
                <c:pt idx="2">
                  <c:v>1165</c:v>
                </c:pt>
                <c:pt idx="3">
                  <c:v>583</c:v>
                </c:pt>
                <c:pt idx="4">
                  <c:v>295</c:v>
                </c:pt>
                <c:pt idx="5">
                  <c:v>557</c:v>
                </c:pt>
                <c:pt idx="6">
                  <c:v>60</c:v>
                </c:pt>
                <c:pt idx="7">
                  <c:v>549</c:v>
                </c:pt>
              </c:numCache>
            </c:numRef>
          </c:val>
        </c:ser>
        <c:ser>
          <c:idx val="4"/>
          <c:order val="4"/>
          <c:tx>
            <c:strRef>
              <c:f>Sheet1!$F$1</c:f>
              <c:strCache>
                <c:ptCount val="1"/>
                <c:pt idx="0">
                  <c:v>Text MB</c:v>
                </c:pt>
              </c:strCache>
            </c:strRef>
          </c:tx>
          <c:spPr>
            <a:solidFill>
              <a:srgbClr val="8A94A6"/>
            </a:solidFill>
          </c:spPr>
          <c:cat>
            <c:strRef>
              <c:f>Sheet1!$A$2:$A$9</c:f>
              <c:strCache>
                <c:ptCount val="8"/>
                <c:pt idx="0">
                  <c:v>bxk · Bukusu (folder label)</c:v>
                </c:pt>
                <c:pt idx="1">
                  <c:v>guz · Ekegusii</c:v>
                </c:pt>
                <c:pt idx="2">
                  <c:v>kam · Kikamba</c:v>
                </c:pt>
                <c:pt idx="3">
                  <c:v>kik · Kikuyu</c:v>
                </c:pt>
                <c:pt idx="4">
                  <c:v>kln · Kalenjin</c:v>
                </c:pt>
                <c:pt idx="5">
                  <c:v>luo · Dholuo</c:v>
                </c:pt>
                <c:pt idx="6">
                  <c:v>lwg · Wanga / Luhya label</c:v>
                </c:pt>
                <c:pt idx="7">
                  <c:v>swa · Kiswahili</c:v>
                </c:pt>
              </c:strCache>
            </c:strRef>
          </c:cat>
          <c:val>
            <c:numRef>
              <c:f>Sheet1!$F$2:$F$9</c:f>
              <c:numCache>
                <c:formatCode>General</c:formatCode>
                <c:ptCount val="8"/>
                <c:pt idx="0">
                  <c:v>0.0</c:v>
                </c:pt>
                <c:pt idx="1">
                  <c:v>6.272</c:v>
                </c:pt>
                <c:pt idx="2">
                  <c:v>5.109</c:v>
                </c:pt>
                <c:pt idx="3">
                  <c:v>5.464</c:v>
                </c:pt>
                <c:pt idx="4">
                  <c:v>7.584</c:v>
                </c:pt>
                <c:pt idx="5">
                  <c:v>6.026</c:v>
                </c:pt>
                <c:pt idx="6">
                  <c:v>0.739</c:v>
                </c:pt>
                <c:pt idx="7">
                  <c:v>6.0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legend>
      <c:legendPos val="b"/>
      <c:overlay val="0"/>
    </c:legend>
    <c:dispBlanksAs val="gap"/>
  </c:chart>
  <c:txPr>
    <a:bodyPr/>
    <a:lstStyle/>
    <a:p>
      <a:pPr>
        <a:defRPr sz="1100">
          <a:solidFill>
            <a:srgbClr val="8A94A6"/>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Natural units</c:v>
                </c:pt>
              </c:strCache>
            </c:strRef>
          </c:tx>
          <c:spPr>
            <a:solidFill>
              <a:srgbClr val="C8102E"/>
            </a:solidFill>
          </c:spPr>
          <c:cat>
            <c:strRef>
              <c:f>Sheet1!$A$2:$A$8</c:f>
              <c:strCache>
                <c:ptCount val="7"/>
                <c:pt idx="0">
                  <c:v>Ekegusii (guz)</c:v>
                </c:pt>
                <c:pt idx="1">
                  <c:v>Kikamba (kam)</c:v>
                </c:pt>
                <c:pt idx="2">
                  <c:v>Kikuyu (kik)</c:v>
                </c:pt>
                <c:pt idx="3">
                  <c:v>Kalenjin (kln)</c:v>
                </c:pt>
                <c:pt idx="4">
                  <c:v>Dholuo (luo)</c:v>
                </c:pt>
                <c:pt idx="5">
                  <c:v>Wanga / Luhya label (lwg)</c:v>
                </c:pt>
                <c:pt idx="6">
                  <c:v>Kiswahili (swa)</c:v>
                </c:pt>
              </c:strCache>
            </c:strRef>
          </c:cat>
          <c:val>
            <c:numRef>
              <c:f>Sheet1!$B$2:$B$8</c:f>
              <c:numCache>
                <c:formatCode>General</c:formatCode>
                <c:ptCount val="7"/>
                <c:pt idx="0">
                  <c:v>21856</c:v>
                </c:pt>
                <c:pt idx="1">
                  <c:v>12220</c:v>
                </c:pt>
                <c:pt idx="2">
                  <c:v>18344</c:v>
                </c:pt>
                <c:pt idx="3">
                  <c:v>32441</c:v>
                </c:pt>
                <c:pt idx="4">
                  <c:v>22274</c:v>
                </c:pt>
                <c:pt idx="5">
                  <c:v>29852</c:v>
                </c:pt>
                <c:pt idx="6">
                  <c:v>20526</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Natural units</c:v>
                </c:pt>
              </c:strCache>
            </c:strRef>
          </c:tx>
          <c:spPr>
            <a:solidFill>
              <a:srgbClr val="C8102E"/>
            </a:solidFill>
          </c:spPr>
          <c:cat>
            <c:strRef>
              <c:f>Sheet1!$A$2:$A$5</c:f>
              <c:strCache>
                <c:ptCount val="4"/>
                <c:pt idx="0">
                  <c:v>Train</c:v>
                </c:pt>
                <c:pt idx="1">
                  <c:v>Development</c:v>
                </c:pt>
                <c:pt idx="2">
                  <c:v>Held-out</c:v>
                </c:pt>
                <c:pt idx="3">
                  <c:v>Archive test</c:v>
                </c:pt>
              </c:strCache>
            </c:strRef>
          </c:cat>
          <c:val>
            <c:numRef>
              <c:f>Sheet1!$B$2:$B$5</c:f>
              <c:numCache>
                <c:formatCode>General</c:formatCode>
                <c:ptCount val="4"/>
                <c:pt idx="0">
                  <c:v>129984</c:v>
                </c:pt>
                <c:pt idx="1">
                  <c:v>8280</c:v>
                </c:pt>
                <c:pt idx="2">
                  <c:v>18980</c:v>
                </c:pt>
                <c:pt idx="3">
                  <c:v>269</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Train</c:v>
                </c:pt>
              </c:strCache>
            </c:strRef>
          </c:tx>
          <c:spPr>
            <a:solidFill>
              <a:srgbClr val="C8102E"/>
            </a:solidFill>
          </c:spPr>
          <c:cat>
            <c:strRef>
              <c:f>Sheet1!$A$2:$A$8</c:f>
              <c:strCache>
                <c:ptCount val="7"/>
                <c:pt idx="0">
                  <c:v>guz · Ekegusii</c:v>
                </c:pt>
                <c:pt idx="1">
                  <c:v>kam · Kikamba</c:v>
                </c:pt>
                <c:pt idx="2">
                  <c:v>kik · Kikuyu</c:v>
                </c:pt>
                <c:pt idx="3">
                  <c:v>kln · Kalenjin</c:v>
                </c:pt>
                <c:pt idx="4">
                  <c:v>luo · Dholuo</c:v>
                </c:pt>
                <c:pt idx="5">
                  <c:v>lwg · Wanga / Luhya label</c:v>
                </c:pt>
                <c:pt idx="6">
                  <c:v>swa · Kiswahili</c:v>
                </c:pt>
              </c:strCache>
            </c:strRef>
          </c:cat>
          <c:val>
            <c:numRef>
              <c:f>Sheet1!$B$2:$B$8</c:f>
              <c:numCache>
                <c:formatCode>General</c:formatCode>
                <c:ptCount val="7"/>
                <c:pt idx="0">
                  <c:v>18443</c:v>
                </c:pt>
                <c:pt idx="1">
                  <c:v>8746</c:v>
                </c:pt>
                <c:pt idx="2">
                  <c:v>13846</c:v>
                </c:pt>
                <c:pt idx="3">
                  <c:v>27483</c:v>
                </c:pt>
                <c:pt idx="4">
                  <c:v>18681</c:v>
                </c:pt>
                <c:pt idx="5">
                  <c:v>25350</c:v>
                </c:pt>
                <c:pt idx="6">
                  <c:v>17435</c:v>
                </c:pt>
              </c:numCache>
            </c:numRef>
          </c:val>
        </c:ser>
        <c:ser>
          <c:idx val="1"/>
          <c:order val="1"/>
          <c:tx>
            <c:strRef>
              <c:f>Sheet1!$C$1</c:f>
              <c:strCache>
                <c:ptCount val="1"/>
                <c:pt idx="0">
                  <c:v>Dev</c:v>
                </c:pt>
              </c:strCache>
            </c:strRef>
          </c:tx>
          <c:spPr>
            <a:solidFill>
              <a:srgbClr val="8A94A6"/>
            </a:solidFill>
          </c:spPr>
          <c:cat>
            <c:strRef>
              <c:f>Sheet1!$A$2:$A$8</c:f>
              <c:strCache>
                <c:ptCount val="7"/>
                <c:pt idx="0">
                  <c:v>guz · Ekegusii</c:v>
                </c:pt>
                <c:pt idx="1">
                  <c:v>kam · Kikamba</c:v>
                </c:pt>
                <c:pt idx="2">
                  <c:v>kik · Kikuyu</c:v>
                </c:pt>
                <c:pt idx="3">
                  <c:v>kln · Kalenjin</c:v>
                </c:pt>
                <c:pt idx="4">
                  <c:v>luo · Dholuo</c:v>
                </c:pt>
                <c:pt idx="5">
                  <c:v>lwg · Wanga / Luhya label</c:v>
                </c:pt>
                <c:pt idx="6">
                  <c:v>swa · Kiswahili</c:v>
                </c:pt>
              </c:strCache>
            </c:strRef>
          </c:cat>
          <c:val>
            <c:numRef>
              <c:f>Sheet1!$C$2:$C$8</c:f>
              <c:numCache>
                <c:formatCode>General</c:formatCode>
                <c:ptCount val="7"/>
                <c:pt idx="0">
                  <c:v>1094</c:v>
                </c:pt>
                <c:pt idx="1">
                  <c:v>931</c:v>
                </c:pt>
                <c:pt idx="2">
                  <c:v>924</c:v>
                </c:pt>
                <c:pt idx="3">
                  <c:v>1667</c:v>
                </c:pt>
                <c:pt idx="4">
                  <c:v>1131</c:v>
                </c:pt>
                <c:pt idx="5">
                  <c:v>1496</c:v>
                </c:pt>
                <c:pt idx="6">
                  <c:v>1037</c:v>
                </c:pt>
              </c:numCache>
            </c:numRef>
          </c:val>
        </c:ser>
        <c:ser>
          <c:idx val="2"/>
          <c:order val="2"/>
          <c:tx>
            <c:strRef>
              <c:f>Sheet1!$D$1</c:f>
              <c:strCache>
                <c:ptCount val="1"/>
                <c:pt idx="0">
                  <c:v>Held</c:v>
                </c:pt>
              </c:strCache>
            </c:strRef>
          </c:tx>
          <c:spPr>
            <a:solidFill>
              <a:srgbClr val="8A94A6"/>
            </a:solidFill>
          </c:spPr>
          <c:cat>
            <c:strRef>
              <c:f>Sheet1!$A$2:$A$8</c:f>
              <c:strCache>
                <c:ptCount val="7"/>
                <c:pt idx="0">
                  <c:v>guz · Ekegusii</c:v>
                </c:pt>
                <c:pt idx="1">
                  <c:v>kam · Kikamba</c:v>
                </c:pt>
                <c:pt idx="2">
                  <c:v>kik · Kikuyu</c:v>
                </c:pt>
                <c:pt idx="3">
                  <c:v>kln · Kalenjin</c:v>
                </c:pt>
                <c:pt idx="4">
                  <c:v>luo · Dholuo</c:v>
                </c:pt>
                <c:pt idx="5">
                  <c:v>lwg · Wanga / Luhya label</c:v>
                </c:pt>
                <c:pt idx="6">
                  <c:v>swa · Kiswahili</c:v>
                </c:pt>
              </c:strCache>
            </c:strRef>
          </c:cat>
          <c:val>
            <c:numRef>
              <c:f>Sheet1!$D$2:$D$8</c:f>
              <c:numCache>
                <c:formatCode>General</c:formatCode>
                <c:ptCount val="7"/>
                <c:pt idx="0">
                  <c:v>2217</c:v>
                </c:pt>
                <c:pt idx="1">
                  <c:v>2422</c:v>
                </c:pt>
                <c:pt idx="2">
                  <c:v>3573</c:v>
                </c:pt>
                <c:pt idx="3">
                  <c:v>3253</c:v>
                </c:pt>
                <c:pt idx="4">
                  <c:v>2455</c:v>
                </c:pt>
                <c:pt idx="5">
                  <c:v>3006</c:v>
                </c:pt>
                <c:pt idx="6">
                  <c:v>2054</c:v>
                </c:pt>
              </c:numCache>
            </c:numRef>
          </c:val>
        </c:ser>
        <c:ser>
          <c:idx val="3"/>
          <c:order val="3"/>
          <c:tx>
            <c:strRef>
              <c:f>Sheet1!$E$1</c:f>
              <c:strCache>
                <c:ptCount val="1"/>
                <c:pt idx="0">
                  <c:v>Archive</c:v>
                </c:pt>
              </c:strCache>
            </c:strRef>
          </c:tx>
          <c:spPr>
            <a:solidFill>
              <a:srgbClr val="8A94A6"/>
            </a:solidFill>
          </c:spPr>
          <c:cat>
            <c:strRef>
              <c:f>Sheet1!$A$2:$A$8</c:f>
              <c:strCache>
                <c:ptCount val="7"/>
                <c:pt idx="0">
                  <c:v>guz · Ekegusii</c:v>
                </c:pt>
                <c:pt idx="1">
                  <c:v>kam · Kikamba</c:v>
                </c:pt>
                <c:pt idx="2">
                  <c:v>kik · Kikuyu</c:v>
                </c:pt>
                <c:pt idx="3">
                  <c:v>kln · Kalenjin</c:v>
                </c:pt>
                <c:pt idx="4">
                  <c:v>luo · Dholuo</c:v>
                </c:pt>
                <c:pt idx="5">
                  <c:v>lwg · Wanga / Luhya label</c:v>
                </c:pt>
                <c:pt idx="6">
                  <c:v>swa · Kiswahili</c:v>
                </c:pt>
              </c:strCache>
            </c:strRef>
          </c:cat>
          <c:val>
            <c:numRef>
              <c:f>Sheet1!$E$2:$E$8</c:f>
              <c:numCache>
                <c:formatCode>General</c:formatCode>
                <c:ptCount val="7"/>
                <c:pt idx="0">
                  <c:v>102</c:v>
                </c:pt>
                <c:pt idx="1">
                  <c:v>121</c:v>
                </c:pt>
                <c:pt idx="2">
                  <c:v>1</c:v>
                </c:pt>
                <c:pt idx="3">
                  <c:v>38</c:v>
                </c:pt>
                <c:pt idx="4">
                  <c:v>7</c:v>
                </c:pt>
                <c:pt idx="5">
                  <c:v>0</c:v>
                </c:pt>
                <c:pt idx="6">
                  <c:v>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legend>
      <c:legendPos val="b"/>
      <c:overlay val="0"/>
    </c:legend>
    <c:dispBlanksAs val="gap"/>
  </c:chart>
  <c:txPr>
    <a:bodyPr/>
    <a:lstStyle/>
    <a:p>
      <a:pPr>
        <a:defRPr sz="1100">
          <a:solidFill>
            <a:srgbClr val="8A94A6"/>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Accuracy among judged (%)</c:v>
                </c:pt>
              </c:strCache>
            </c:strRef>
          </c:tx>
          <c:spPr>
            <a:solidFill>
              <a:srgbClr val="C8102E"/>
            </a:solidFill>
          </c:spPr>
          <c:cat>
            <c:strRef>
              <c:f>Sheet1!$A$2:$A$8</c:f>
              <c:strCache>
                <c:ptCount val="7"/>
                <c:pt idx="0">
                  <c:v>Ekegusii</c:v>
                </c:pt>
                <c:pt idx="1">
                  <c:v>Kikamba</c:v>
                </c:pt>
                <c:pt idx="2">
                  <c:v>Kikuyu</c:v>
                </c:pt>
                <c:pt idx="3">
                  <c:v>Kalenjin</c:v>
                </c:pt>
                <c:pt idx="4">
                  <c:v>Dholuo</c:v>
                </c:pt>
                <c:pt idx="5">
                  <c:v>Wanga / Luhya label</c:v>
                </c:pt>
                <c:pt idx="6">
                  <c:v>Kiswahili</c:v>
                </c:pt>
              </c:strCache>
            </c:strRef>
          </c:cat>
          <c:val>
            <c:numRef>
              <c:f>Sheet1!$B$2:$B$8</c:f>
              <c:numCache>
                <c:formatCode>General</c:formatCode>
                <c:ptCount val="7"/>
                <c:pt idx="0">
                  <c:v>98.24</c:v>
                </c:pt>
                <c:pt idx="1">
                  <c:v>91.35</c:v>
                </c:pt>
                <c:pt idx="2">
                  <c:v>99.25</c:v>
                </c:pt>
                <c:pt idx="3">
                  <c:v>99.75</c:v>
                </c:pt>
                <c:pt idx="4">
                  <c:v>99.49</c:v>
                </c:pt>
                <c:pt idx="5">
                  <c:v>93.47</c:v>
                </c:pt>
                <c:pt idx="6">
                  <c:v>98.95</c:v>
                </c:pt>
              </c:numCache>
            </c:numRef>
          </c:val>
        </c:ser>
        <c:ser>
          <c:idx val="1"/>
          <c:order val="1"/>
          <c:tx>
            <c:strRef>
              <c:f>Sheet1!$C$1</c:f>
              <c:strCache>
                <c:ptCount val="1"/>
                <c:pt idx="0">
                  <c:v>Coverage (%)</c:v>
                </c:pt>
              </c:strCache>
            </c:strRef>
          </c:tx>
          <c:spPr>
            <a:solidFill>
              <a:srgbClr val="8A94A6"/>
            </a:solidFill>
          </c:spPr>
          <c:cat>
            <c:strRef>
              <c:f>Sheet1!$A$2:$A$8</c:f>
              <c:strCache>
                <c:ptCount val="7"/>
                <c:pt idx="0">
                  <c:v>Ekegusii</c:v>
                </c:pt>
                <c:pt idx="1">
                  <c:v>Kikamba</c:v>
                </c:pt>
                <c:pt idx="2">
                  <c:v>Kikuyu</c:v>
                </c:pt>
                <c:pt idx="3">
                  <c:v>Kalenjin</c:v>
                </c:pt>
                <c:pt idx="4">
                  <c:v>Dholuo</c:v>
                </c:pt>
                <c:pt idx="5">
                  <c:v>Wanga / Luhya label</c:v>
                </c:pt>
                <c:pt idx="6">
                  <c:v>Kiswahili</c:v>
                </c:pt>
              </c:strCache>
            </c:strRef>
          </c:cat>
          <c:val>
            <c:numRef>
              <c:f>Sheet1!$C$2:$C$8</c:f>
              <c:numCache>
                <c:formatCode>General</c:formatCode>
                <c:ptCount val="7"/>
                <c:pt idx="0">
                  <c:v>99.25</c:v>
                </c:pt>
                <c:pt idx="1">
                  <c:v>98.25</c:v>
                </c:pt>
                <c:pt idx="2">
                  <c:v>99.5</c:v>
                </c:pt>
                <c:pt idx="3">
                  <c:v>99.5</c:v>
                </c:pt>
                <c:pt idx="4">
                  <c:v>98.0</c:v>
                </c:pt>
                <c:pt idx="5">
                  <c:v>95.75</c:v>
                </c:pt>
                <c:pt idx="6">
                  <c:v>95.25</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legend>
      <c:legendPos val="b"/>
      <c:overlay val="0"/>
    </c:legend>
    <c:dispBlanksAs val="gap"/>
  </c:chart>
  <c:txPr>
    <a:bodyPr/>
    <a:lstStyle/>
    <a:p>
      <a:pPr>
        <a:defRPr sz="1100">
          <a:solidFill>
            <a:srgbClr val="8A94A6"/>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Conditional accuracy (%)</c:v>
                </c:pt>
              </c:strCache>
            </c:strRef>
          </c:tx>
          <c:spPr>
            <a:solidFill>
              <a:srgbClr val="C8102E"/>
            </a:solidFill>
          </c:spPr>
          <c:cat>
            <c:strRef>
              <c:f>Sheet1!$A$2:$A$8</c:f>
              <c:strCache>
                <c:ptCount val="7"/>
                <c:pt idx="0">
                  <c:v>Ekegusii</c:v>
                </c:pt>
                <c:pt idx="1">
                  <c:v>Kikamba</c:v>
                </c:pt>
                <c:pt idx="2">
                  <c:v>Kikuyu</c:v>
                </c:pt>
                <c:pt idx="3">
                  <c:v>Kalenjin</c:v>
                </c:pt>
                <c:pt idx="4">
                  <c:v>Dholuo</c:v>
                </c:pt>
                <c:pt idx="5">
                  <c:v>Wanga / Luhya label</c:v>
                </c:pt>
                <c:pt idx="6">
                  <c:v>Kiswahili</c:v>
                </c:pt>
              </c:strCache>
            </c:strRef>
          </c:cat>
          <c:val>
            <c:numRef>
              <c:f>Sheet1!$B$2:$B$8</c:f>
              <c:numCache>
                <c:formatCode>General</c:formatCode>
                <c:ptCount val="7"/>
                <c:pt idx="0">
                  <c:v>98.24</c:v>
                </c:pt>
                <c:pt idx="1">
                  <c:v>91.35</c:v>
                </c:pt>
                <c:pt idx="2">
                  <c:v>99.25</c:v>
                </c:pt>
                <c:pt idx="3">
                  <c:v>99.75</c:v>
                </c:pt>
                <c:pt idx="4">
                  <c:v>99.49</c:v>
                </c:pt>
                <c:pt idx="5">
                  <c:v>93.47</c:v>
                </c:pt>
                <c:pt idx="6">
                  <c:v>98.95</c:v>
                </c:pt>
              </c:numCache>
            </c:numRef>
          </c:val>
        </c:ser>
        <c:ser>
          <c:idx val="1"/>
          <c:order val="1"/>
          <c:tx>
            <c:strRef>
              <c:f>Sheet1!$C$1</c:f>
              <c:strCache>
                <c:ptCount val="1"/>
                <c:pt idx="0">
                  <c:v>Coverage (%)</c:v>
                </c:pt>
              </c:strCache>
            </c:strRef>
          </c:tx>
          <c:spPr>
            <a:solidFill>
              <a:srgbClr val="8A94A6"/>
            </a:solidFill>
          </c:spPr>
          <c:cat>
            <c:strRef>
              <c:f>Sheet1!$A$2:$A$8</c:f>
              <c:strCache>
                <c:ptCount val="7"/>
                <c:pt idx="0">
                  <c:v>Ekegusii</c:v>
                </c:pt>
                <c:pt idx="1">
                  <c:v>Kikamba</c:v>
                </c:pt>
                <c:pt idx="2">
                  <c:v>Kikuyu</c:v>
                </c:pt>
                <c:pt idx="3">
                  <c:v>Kalenjin</c:v>
                </c:pt>
                <c:pt idx="4">
                  <c:v>Dholuo</c:v>
                </c:pt>
                <c:pt idx="5">
                  <c:v>Wanga / Luhya label</c:v>
                </c:pt>
                <c:pt idx="6">
                  <c:v>Kiswahili</c:v>
                </c:pt>
              </c:strCache>
            </c:strRef>
          </c:cat>
          <c:val>
            <c:numRef>
              <c:f>Sheet1!$C$2:$C$8</c:f>
              <c:numCache>
                <c:formatCode>General</c:formatCode>
                <c:ptCount val="7"/>
                <c:pt idx="0">
                  <c:v>99.25</c:v>
                </c:pt>
                <c:pt idx="1">
                  <c:v>98.25</c:v>
                </c:pt>
                <c:pt idx="2">
                  <c:v>99.5</c:v>
                </c:pt>
                <c:pt idx="3">
                  <c:v>99.5</c:v>
                </c:pt>
                <c:pt idx="4">
                  <c:v>98.0</c:v>
                </c:pt>
                <c:pt idx="5">
                  <c:v>95.75</c:v>
                </c:pt>
                <c:pt idx="6">
                  <c:v>95.25</c:v>
                </c:pt>
              </c:numCache>
            </c:numRef>
          </c:val>
        </c:ser>
        <c:ser>
          <c:idx val="2"/>
          <c:order val="2"/>
          <c:tx>
            <c:strRef>
              <c:f>Sheet1!$D$1</c:f>
              <c:strCache>
                <c:ptCount val="1"/>
                <c:pt idx="0">
                  <c:v>Correct of all (%)</c:v>
                </c:pt>
              </c:strCache>
            </c:strRef>
          </c:tx>
          <c:spPr>
            <a:solidFill>
              <a:srgbClr val="8A94A6"/>
            </a:solidFill>
          </c:spPr>
          <c:cat>
            <c:strRef>
              <c:f>Sheet1!$A$2:$A$8</c:f>
              <c:strCache>
                <c:ptCount val="7"/>
                <c:pt idx="0">
                  <c:v>Ekegusii</c:v>
                </c:pt>
                <c:pt idx="1">
                  <c:v>Kikamba</c:v>
                </c:pt>
                <c:pt idx="2">
                  <c:v>Kikuyu</c:v>
                </c:pt>
                <c:pt idx="3">
                  <c:v>Kalenjin</c:v>
                </c:pt>
                <c:pt idx="4">
                  <c:v>Dholuo</c:v>
                </c:pt>
                <c:pt idx="5">
                  <c:v>Wanga / Luhya label</c:v>
                </c:pt>
                <c:pt idx="6">
                  <c:v>Kiswahili</c:v>
                </c:pt>
              </c:strCache>
            </c:strRef>
          </c:cat>
          <c:val>
            <c:numRef>
              <c:f>Sheet1!$D$2:$D$8</c:f>
              <c:numCache>
                <c:formatCode>General</c:formatCode>
                <c:ptCount val="7"/>
                <c:pt idx="0">
                  <c:v>97.5</c:v>
                </c:pt>
                <c:pt idx="1">
                  <c:v>89.75</c:v>
                </c:pt>
                <c:pt idx="2">
                  <c:v>98.75</c:v>
                </c:pt>
                <c:pt idx="3">
                  <c:v>99.25</c:v>
                </c:pt>
                <c:pt idx="4">
                  <c:v>97.5</c:v>
                </c:pt>
                <c:pt idx="5">
                  <c:v>89.5</c:v>
                </c:pt>
                <c:pt idx="6">
                  <c:v>94.25</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legend>
      <c:legendPos val="b"/>
      <c:overlay val="0"/>
    </c:legend>
    <c:dispBlanksAs val="gap"/>
  </c:chart>
  <c:txPr>
    <a:bodyPr/>
    <a:lstStyle/>
    <a:p>
      <a:pPr>
        <a:defRPr sz="1100">
          <a:solidFill>
            <a:srgbClr val="8A94A6"/>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F2A44"/>
                </a:solidFill>
                <a:latin typeface="Cambria"/>
              </a:rPr>
              <a:t>RMS estate and language corpus: what is defensible</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8A94A6"/>
                </a:solidFill>
                <a:latin typeface="Calibri"/>
              </a:rPr>
              <a:t>Owner briefing on estate condition, the corpus claim and responsible options</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8A94A6"/>
                </a:solidFill>
                <a:latin typeface="Calibri"/>
              </a:rPr>
              <a:t>Royal Media Services · Owner briefing  ·  Owner confidential · controlled circulation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is large but only partly measured; a narrow language claim is defensible now</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8A94A6"/>
                </a:solidFill>
                <a:latin typeface="Calibri"/>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F2A44"/>
                </a:solidFill>
                <a:latin typeface="Calibri"/>
              </a:rPr>
              <a:t>The retained database catalogue holds 377199771648 bytes across 1006 tables, with an estimated 259273874 rows. Separate inventories list 143284816848890 bytes in 22975591 objects at OBS, and 47990537059397 bytes in 1456787 files at NAS. A staged audio subset and a separately assembled text corpus have also been measured.</a:t>
            </a:r>
          </a:p>
        </p:txBody>
      </p:sp>
      <p:cxnSp>
        <p:nvCxnSpPr>
          <p:cNvPr id="6" name="Connector 5"/>
          <p:cNvCxnSpPr/>
          <p:nvPr/>
        </p:nvCxnSpPr>
        <p:spPr>
          <a:xfrm>
            <a:off x="594360" y="279006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8A94A6"/>
                </a:solidFill>
                <a:latin typeface="Calibri"/>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F2A44"/>
                </a:solidFill>
                <a:latin typeface="Calibri"/>
              </a:rPr>
              <a:t>Only 638 table entries were measured, and the census observed 5881277 rows against an estimate of 259273874. The file inventories record custody, not language, music or rights, and they cannot be added together. No final quality receipt exists, so no estate-wide hours or token claim is yet possible.</a:t>
            </a:r>
          </a:p>
        </p:txBody>
      </p:sp>
      <p:cxnSp>
        <p:nvCxnSpPr>
          <p:cNvPr id="9" name="Connector 8"/>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8A94A6"/>
                </a:solidFill>
                <a:latin typeface="Calibri"/>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F2A44"/>
                </a:solidFill>
                <a:latin typeface="Calibri"/>
              </a:rPr>
              <a:t>What can the owner responsibly claim and commercialise today, and what must be done first to widen that claim?</a:t>
            </a:r>
          </a:p>
        </p:txBody>
      </p:sp>
      <p:cxnSp>
        <p:nvCxnSpPr>
          <p:cNvPr id="12" name="Connector 11"/>
          <p:cNvCxnSpPr/>
          <p:nvPr/>
        </p:nvCxnSpPr>
        <p:spPr>
          <a:xfrm>
            <a:off x="594360" y="467601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C8102E"/>
                </a:solidFill>
                <a:latin typeface="Calibri"/>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F2A44"/>
                </a:solidFill>
                <a:latin typeface="Calibri"/>
              </a:rPr>
              <a:t>Claim only what is measured: 529.3 hours of staged audio across 3958 files, and 157513 natural text units from 4521 source files. Language identification reached 97.2% conditional macro accuracy on 2800 units, but it is weaker for Kikamba and the Wanga / Luhya label. Complete the coverage ledger and rights review before any licensing, release or revenue statement.</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Database estate condition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DATABASE READINESS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Grades C and D hold most measured tables; only a minority reach grade A or B</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Readiness is uneven, so any data product should start from grade A and B tables and treat the rest as remediation work.</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RMS estate census, eij-1b359b3cbd2e; measured 29 September 2026. Exact source hashes in the Word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DATABASE READINESS SHARES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Grade C and D tables make up about three in five measured entries; grade E is smallest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These grades describe database readiness only; they say nothing about speech or text quality and must not be quoted as corpus quality.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RMS estate census, eij-1b359b3cbd2e; measured 29 September 2026. Exact source hashes in the Word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CENSUS FINDINGS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Only part of the catalogue is measured, and observed rows are a small slice of the estimate</a:t>
            </a:r>
          </a:p>
        </p:txBody>
      </p:sp>
      <p:sp>
        <p:nvSpPr>
          <p:cNvPr id="4" name="TextBox 3"/>
          <p:cNvSpPr txBox="1"/>
          <p:nvPr/>
        </p:nvSpPr>
        <p:spPr>
          <a:xfrm>
            <a:off x="594360" y="1920240"/>
            <a:ext cx="640080" cy="118872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1097280"/>
          </a:xfrm>
          <a:prstGeom prst="rect">
            <a:avLst/>
          </a:prstGeom>
          <a:noFill/>
        </p:spPr>
        <p:txBody>
          <a:bodyPr wrap="square" lIns="0" rIns="0" tIns="0" bIns="0" anchor="t">
            <a:spAutoFit/>
          </a:bodyPr>
          <a:lstStyle/>
          <a:p>
            <a:pPr algn="l"/>
            <a:r>
              <a:rPr sz="1400" b="0" i="0">
                <a:solidFill>
                  <a:srgbClr val="1F2A44"/>
                </a:solidFill>
                <a:latin typeface="Calibri"/>
              </a:rPr>
              <a:t>The catalogue records 377199771648 bytes across 1006 tables, but only 638 table entries were measured and graded.</a:t>
            </a:r>
          </a:p>
        </p:txBody>
      </p:sp>
      <p:cxnSp>
        <p:nvCxnSpPr>
          <p:cNvPr id="6" name="Connector 5"/>
          <p:cNvCxnSpPr/>
          <p:nvPr/>
        </p:nvCxnSpPr>
        <p:spPr>
          <a:xfrm>
            <a:off x="594360" y="299923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108960"/>
            <a:ext cx="640080" cy="118872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3182112"/>
            <a:ext cx="10180015" cy="1097280"/>
          </a:xfrm>
          <a:prstGeom prst="rect">
            <a:avLst/>
          </a:prstGeom>
          <a:noFill/>
        </p:spPr>
        <p:txBody>
          <a:bodyPr wrap="square" lIns="0" rIns="0" tIns="0" bIns="0" anchor="t">
            <a:spAutoFit/>
          </a:bodyPr>
          <a:lstStyle/>
          <a:p>
            <a:pPr algn="l"/>
            <a:r>
              <a:rPr sz="1400" b="0" i="0">
                <a:solidFill>
                  <a:srgbClr val="1F2A44"/>
                </a:solidFill>
                <a:latin typeface="Calibri"/>
              </a:rPr>
              <a:t>Estimated rows stand at 259273874; the census observed 5881277, so row-level conclusions rest on a small observed share.</a:t>
            </a:r>
          </a:p>
        </p:txBody>
      </p:sp>
      <p:cxnSp>
        <p:nvCxnSpPr>
          <p:cNvPr id="9" name="Connector 8"/>
          <p:cNvCxnSpPr/>
          <p:nvPr/>
        </p:nvCxnSpPr>
        <p:spPr>
          <a:xfrm>
            <a:off x="594360" y="41879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297680"/>
            <a:ext cx="640080" cy="118872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4370832"/>
            <a:ext cx="10180015" cy="1097280"/>
          </a:xfrm>
          <a:prstGeom prst="rect">
            <a:avLst/>
          </a:prstGeom>
          <a:noFill/>
        </p:spPr>
        <p:txBody>
          <a:bodyPr wrap="square" lIns="0" rIns="0" tIns="0" bIns="0" anchor="t">
            <a:spAutoFit/>
          </a:bodyPr>
          <a:lstStyle/>
          <a:p>
            <a:pPr algn="l"/>
            <a:r>
              <a:rPr sz="1400" b="0" i="0">
                <a:solidFill>
                  <a:srgbClr val="1F2A44"/>
                </a:solidFill>
                <a:latin typeface="Calibri"/>
              </a:rPr>
              <a:t>The remaining catalogued tables are ungraded, so no estate-wide grade distribution can be stated.</a:t>
            </a:r>
          </a:p>
        </p:txBody>
      </p:sp>
      <p:cxnSp>
        <p:nvCxnSpPr>
          <p:cNvPr id="12" name="Connector 11"/>
          <p:cNvCxnSpPr/>
          <p:nvPr/>
        </p:nvCxnSpPr>
        <p:spPr>
          <a:xfrm>
            <a:off x="594360" y="53766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File inventories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LISTED STORAGE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File stores dwarf the database, yet their listings measure bytes, not usable content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three inventories are separate and cannot be summed into unique content; they show custody scale only.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OBS and NAS retained listings embedded in the census; 29 September 2026. Metadata scope, not language or music analysis.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INVENTORY FINDINGS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two file inventories list large volumes but say nothing yet about language, music or rights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OBS lists 143284816848890 bytes in 22975591 objects: a retained listing, not an analysis of contents.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NAS lists 47990537059397 bytes in 1456787 files, again scope only, with no language or music labelling.</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inventories may overlap, so no combined unique-content figure should be quoted.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Eligible, non-music, rights-cleared audio inside these stores is unknown until segment-level labels are joined.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Staged audio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AUDIO BY FOLDER LABEL</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Six language folders hold similar staged hours; the Wanga and Bukusu labels are thin</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Hours are folder-label durations, not certified speech; the two thin labels cannot support model claims without more collection or verification.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R03: Staged-audio header inspection, m9j-3e0dcb1bd16e; verified receipt. Folder labels are not content verification.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SAMPLE RATES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Most staged files share one sample rate; a sizeable lower-rate group needs screening</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Sample rate is a header property, not a quality grade; it can screen files but cannot certify studio or telephone quality.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R03: Staged-audio header inspection, m9j-3e0dcb1bd16e; verified receipt. Folder labels are not content verification.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AUDIO AND TRANSCRIPT INVENTORY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Transcripts pair with nearly every audio file; the Bukusu folder has none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Pairing by file count is not alignment; transcript accuracy and timing remain unmeasured, and the columns use different units.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R03: Staged-audio header inspection, m9j-3e0dcb1bd16e; verified receipt. Folder labels are not content verification.</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STAGED AUDIO FINDINGS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staged set is a labelled subset of real scale, not a verified corpus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authorised subset holds 3958 audio files lasting 529.3 hours and occupying 36516920948 bytes.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Companion transcripts number 3939 files and 37192774 bytes, so some audio files have no pair.</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Language comes from folder labels, which are not content verification.</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Header inspection does not establish speech content, music exclusion or audio quality.</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04</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Assembled text corpus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TEXT BY LANGUAGE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Kalenjin and the Wanga label lead natural text; Kikamba is the thinnest of the seven</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Volume is uneven across languages, so any balanced training or evaluation claim must be stated per language, not pooled.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RMS transcript assembly, m9j-9a46b862f339; sealed 29 September 2026. Natural units exclude added canaries.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TEXT PARTITIONS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Most natural text sits in training, with a sizeable held-out set and a very small archive test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held-out set is large enough to evaluate against; the archive test is too small to carry conclusions alone. Synthetic canaries are excluded.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RMS transcript assembly, m9j-9a46b862f339; sealed 29 September 2026. Natural units exclude added canaries.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PARTITIONS BY LANGUAGE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Archive test text sits mainly in Ekegusii and Kikamba; the Wanga label and Kiswahili have none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Partition shape differs by language, so cross-language comparisons should use the held-out set, which exists for all seven.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RMS transcript assembly, m9j-9a46b862f339; sealed 29 September 2026. Natural units exclude added canaries.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TEXT FINDINGS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assembled text is a defensible, separately assembled corpus of natural units</a:t>
            </a:r>
          </a:p>
        </p:txBody>
      </p:sp>
      <p:sp>
        <p:nvSpPr>
          <p:cNvPr id="4" name="TextBox 3"/>
          <p:cNvSpPr txBox="1"/>
          <p:nvPr/>
        </p:nvSpPr>
        <p:spPr>
          <a:xfrm>
            <a:off x="594360" y="1920240"/>
            <a:ext cx="640080" cy="118872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1097280"/>
          </a:xfrm>
          <a:prstGeom prst="rect">
            <a:avLst/>
          </a:prstGeom>
          <a:noFill/>
        </p:spPr>
        <p:txBody>
          <a:bodyPr wrap="square" lIns="0" rIns="0" tIns="0" bIns="0" anchor="t">
            <a:spAutoFit/>
          </a:bodyPr>
          <a:lstStyle/>
          <a:p>
            <a:pPr algn="l"/>
            <a:r>
              <a:rPr sz="1400" b="0" i="0">
                <a:solidFill>
                  <a:srgbClr val="1F2A44"/>
                </a:solidFill>
                <a:latin typeface="Calibri"/>
              </a:rPr>
              <a:t>The assembly contains 157513 natural text units; added synthetic canaries are excluded from every count.</a:t>
            </a:r>
          </a:p>
        </p:txBody>
      </p:sp>
      <p:cxnSp>
        <p:nvCxnSpPr>
          <p:cNvPr id="6" name="Connector 5"/>
          <p:cNvCxnSpPr/>
          <p:nvPr/>
        </p:nvCxnSpPr>
        <p:spPr>
          <a:xfrm>
            <a:off x="594360" y="299923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108960"/>
            <a:ext cx="640080" cy="118872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3182112"/>
            <a:ext cx="10180015" cy="1097280"/>
          </a:xfrm>
          <a:prstGeom prst="rect">
            <a:avLst/>
          </a:prstGeom>
          <a:noFill/>
        </p:spPr>
        <p:txBody>
          <a:bodyPr wrap="square" lIns="0" rIns="0" tIns="0" bIns="0" anchor="t">
            <a:spAutoFit/>
          </a:bodyPr>
          <a:lstStyle/>
          <a:p>
            <a:pPr algn="l"/>
            <a:r>
              <a:rPr sz="1400" b="0" i="0">
                <a:solidFill>
                  <a:srgbClr val="1F2A44"/>
                </a:solidFill>
                <a:latin typeface="Calibri"/>
              </a:rPr>
              <a:t>The units run to 27329904 characters from 4521 source files; characters are not tokens, and no tokenizer-specific count exists.</a:t>
            </a:r>
          </a:p>
        </p:txBody>
      </p:sp>
      <p:cxnSp>
        <p:nvCxnSpPr>
          <p:cNvPr id="9" name="Connector 8"/>
          <p:cNvCxnSpPr/>
          <p:nvPr/>
        </p:nvCxnSpPr>
        <p:spPr>
          <a:xfrm>
            <a:off x="594360" y="41879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297680"/>
            <a:ext cx="640080" cy="118872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4370832"/>
            <a:ext cx="10180015" cy="1097280"/>
          </a:xfrm>
          <a:prstGeom prst="rect">
            <a:avLst/>
          </a:prstGeom>
          <a:noFill/>
        </p:spPr>
        <p:txBody>
          <a:bodyPr wrap="square" lIns="0" rIns="0" tIns="0" bIns="0" anchor="t">
            <a:spAutoFit/>
          </a:bodyPr>
          <a:lstStyle/>
          <a:p>
            <a:pPr algn="l"/>
            <a:r>
              <a:rPr sz="1400" b="0" i="0">
                <a:solidFill>
                  <a:srgbClr val="1F2A44"/>
                </a:solidFill>
                <a:latin typeface="Calibri"/>
              </a:rPr>
              <a:t>Text and audio populations are not joined, so these units are not clean aligned speech-text pairs.</a:t>
            </a:r>
          </a:p>
        </p:txBody>
      </p:sp>
      <p:cxnSp>
        <p:nvCxnSpPr>
          <p:cNvPr id="12" name="Connector 11"/>
          <p:cNvCxnSpPr/>
          <p:nvPr/>
        </p:nvCxnSpPr>
        <p:spPr>
          <a:xfrm>
            <a:off x="594360" y="53766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05</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Language identification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LANGUAGE-ID ACCURACY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Language-ID is accurate where it judges, but Kikamba and the Wanga label trail the rest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Conditional accuracy excludes units the tool declined to judge; lower coverage for Kiswahili and the Wanga label means conditional figures flatter real performance.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Text language-ID run, m9j-74af7cef0a85; measured per-stratum results. Not an ASR or general-language certificate.</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CORRECT OF ALL UNITS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Counting every unit, the Wanga label and Kikamba fall furthest, with Kiswahili next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Correct-of-all is the stricter measure and should be quoted beside conditional accuracy, not behind it.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Text language-ID run, m9j-74af7cef0a85; measured per-stratum results. Not an ASR or general-language certificate.</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LANGUAGE-ID FINDINGS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headline accuracy is high but narrow, and it is not a general-language certificate</a:t>
            </a:r>
          </a:p>
        </p:txBody>
      </p:sp>
      <p:sp>
        <p:nvSpPr>
          <p:cNvPr id="4" name="TextBox 3"/>
          <p:cNvSpPr txBox="1"/>
          <p:nvPr/>
        </p:nvSpPr>
        <p:spPr>
          <a:xfrm>
            <a:off x="594360" y="1920240"/>
            <a:ext cx="640080" cy="118872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1097280"/>
          </a:xfrm>
          <a:prstGeom prst="rect">
            <a:avLst/>
          </a:prstGeom>
          <a:noFill/>
        </p:spPr>
        <p:txBody>
          <a:bodyPr wrap="square" lIns="0" rIns="0" tIns="0" bIns="0" anchor="t">
            <a:spAutoFit/>
          </a:bodyPr>
          <a:lstStyle/>
          <a:p>
            <a:pPr algn="l"/>
            <a:r>
              <a:rPr sz="1400" b="0" i="0">
                <a:solidFill>
                  <a:srgbClr val="1F2A44"/>
                </a:solidFill>
                <a:latin typeface="Calibri"/>
              </a:rPr>
              <a:t>The run evaluated 2800 units on equal strata: a per-language sample, not a population estimate.</a:t>
            </a:r>
          </a:p>
        </p:txBody>
      </p:sp>
      <p:cxnSp>
        <p:nvCxnSpPr>
          <p:cNvPr id="6" name="Connector 5"/>
          <p:cNvCxnSpPr/>
          <p:nvPr/>
        </p:nvCxnSpPr>
        <p:spPr>
          <a:xfrm>
            <a:off x="594360" y="299923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108960"/>
            <a:ext cx="640080" cy="118872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3182112"/>
            <a:ext cx="10180015" cy="1097280"/>
          </a:xfrm>
          <a:prstGeom prst="rect">
            <a:avLst/>
          </a:prstGeom>
          <a:noFill/>
        </p:spPr>
        <p:txBody>
          <a:bodyPr wrap="square" lIns="0" rIns="0" tIns="0" bIns="0" anchor="t">
            <a:spAutoFit/>
          </a:bodyPr>
          <a:lstStyle/>
          <a:p>
            <a:pPr algn="l"/>
            <a:r>
              <a:rPr sz="1400" b="0" i="0">
                <a:solidFill>
                  <a:srgbClr val="1F2A44"/>
                </a:solidFill>
                <a:latin typeface="Calibri"/>
              </a:rPr>
              <a:t>Conditional macro accuracy is 97.2%, measured only among units the tool chose to judge.</a:t>
            </a:r>
          </a:p>
        </p:txBody>
      </p:sp>
      <p:cxnSp>
        <p:nvCxnSpPr>
          <p:cNvPr id="9" name="Connector 8"/>
          <p:cNvCxnSpPr/>
          <p:nvPr/>
        </p:nvCxnSpPr>
        <p:spPr>
          <a:xfrm>
            <a:off x="594360" y="41879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4297680"/>
            <a:ext cx="640080" cy="118872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4370832"/>
            <a:ext cx="10180015" cy="1097280"/>
          </a:xfrm>
          <a:prstGeom prst="rect">
            <a:avLst/>
          </a:prstGeom>
          <a:noFill/>
        </p:spPr>
        <p:txBody>
          <a:bodyPr wrap="square" lIns="0" rIns="0" tIns="0" bIns="0" anchor="t">
            <a:spAutoFit/>
          </a:bodyPr>
          <a:lstStyle/>
          <a:p>
            <a:pPr algn="l"/>
            <a:r>
              <a:rPr sz="1400" b="0" i="0">
                <a:solidFill>
                  <a:srgbClr val="1F2A44"/>
                </a:solidFill>
                <a:latin typeface="Calibri"/>
              </a:rPr>
              <a:t>Kikamba and the Wanga label sit clearly below that average, so one headline figure hides the languages needing review.</a:t>
            </a:r>
          </a:p>
        </p:txBody>
      </p:sp>
      <p:cxnSp>
        <p:nvCxnSpPr>
          <p:cNvPr id="12" name="Connector 11"/>
          <p:cNvCxnSpPr/>
          <p:nvPr/>
        </p:nvCxnSpPr>
        <p:spPr>
          <a:xfrm>
            <a:off x="594360" y="53766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RECOMMENDED ACTIONS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Build the coverage ledger and clear rights before any external claim</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First, join the inventories of 143284816848890 and 47990537059397 bytes to language, music and rights labels.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Second, complete the census: 638 of 1006 tables are measured; grade the rest before quoting estate condition.</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Third, run a rights review of the 529.3 staged hours and 157513 text units before any partner access.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Fourth, verify Bukusu and Wanga labels and review Kikamba identification against human references; publish only the measured claim meanwhile.</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RISKS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Four claims cannot yet be made, each with a defined route to closure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Estate-wide non-music eligible audio hours: no joined inventory carries verified labels. The coverage ledger closes this.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Estate-wide text tokens or clean aligned pairs: 377199771648 database bytes are not text volume. Versioned exports and audits close this.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Audio quality and transcript error rates: headers are not quality. Human-reference evaluation closes this.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Licensing, release, savings and revenue: custody is not onward rights. Rights review, invoices and paid pilots close this.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822960"/>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Retained RMS relational census, OBS/NAS listings, an authorised staged-audio subset, a separately assembled transcript corpus and a narrow language-identification evaluation. Evidence cut: 1 October 2026, 19:12 UTC.</a:t>
            </a:r>
          </a:p>
        </p:txBody>
      </p:sp>
      <p:sp>
        <p:nvSpPr>
          <p:cNvPr id="5" name="TextBox 4"/>
          <p:cNvSpPr txBox="1"/>
          <p:nvPr/>
        </p:nvSpPr>
        <p:spPr>
          <a:xfrm>
            <a:off x="594360" y="2834640"/>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834640"/>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834640"/>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127248"/>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246120"/>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319272"/>
            <a:ext cx="3399434" cy="658368"/>
          </a:xfrm>
          <a:prstGeom prst="rect">
            <a:avLst/>
          </a:prstGeom>
          <a:noFill/>
        </p:spPr>
        <p:txBody>
          <a:bodyPr wrap="square" lIns="0" rIns="0" tIns="0" bIns="0" anchor="t">
            <a:spAutoFit/>
          </a:bodyPr>
          <a:lstStyle/>
          <a:p>
            <a:pPr algn="l"/>
            <a:r>
              <a:rPr sz="1300" b="0" i="0">
                <a:solidFill>
                  <a:srgbClr val="1F2A44"/>
                </a:solidFill>
                <a:latin typeface="Calibri"/>
              </a:rPr>
              <a:t>Estate-wide non-English, non-music eligible audio hours</a:t>
            </a:r>
          </a:p>
        </p:txBody>
      </p:sp>
      <p:sp>
        <p:nvSpPr>
          <p:cNvPr id="11" name="TextBox 10"/>
          <p:cNvSpPr txBox="1"/>
          <p:nvPr/>
        </p:nvSpPr>
        <p:spPr>
          <a:xfrm>
            <a:off x="4396130" y="3319272"/>
            <a:ext cx="3399434" cy="658368"/>
          </a:xfrm>
          <a:prstGeom prst="rect">
            <a:avLst/>
          </a:prstGeom>
          <a:noFill/>
        </p:spPr>
        <p:txBody>
          <a:bodyPr wrap="square" lIns="0" rIns="0" tIns="0" bIns="0" anchor="t">
            <a:spAutoFit/>
          </a:bodyPr>
          <a:lstStyle/>
          <a:p>
            <a:pPr algn="l"/>
            <a:r>
              <a:rPr sz="1300" b="0" i="0">
                <a:solidFill>
                  <a:srgbClr val="1F2A44"/>
                </a:solidFill>
                <a:latin typeface="Calibri"/>
              </a:rPr>
              <a:t>No joined asset inventory with verified segment-level language, music and rights labels</a:t>
            </a:r>
          </a:p>
        </p:txBody>
      </p:sp>
      <p:sp>
        <p:nvSpPr>
          <p:cNvPr id="12" name="TextBox 11"/>
          <p:cNvSpPr txBox="1"/>
          <p:nvPr/>
        </p:nvSpPr>
        <p:spPr>
          <a:xfrm>
            <a:off x="8124748" y="3319272"/>
            <a:ext cx="3399434" cy="658368"/>
          </a:xfrm>
          <a:prstGeom prst="rect">
            <a:avLst/>
          </a:prstGeom>
          <a:noFill/>
        </p:spPr>
        <p:txBody>
          <a:bodyPr wrap="square" lIns="0" rIns="0" tIns="0" bIns="0" anchor="t">
            <a:spAutoFit/>
          </a:bodyPr>
          <a:lstStyle/>
          <a:p>
            <a:pPr algn="l"/>
            <a:r>
              <a:rPr sz="1300" b="0" i="0">
                <a:solidFill>
                  <a:srgbClr val="1F2A44"/>
                </a:solidFill>
                <a:latin typeface="Calibri"/>
              </a:rPr>
              <a:t>Complete the coverage ledger and stratified content qualification</a:t>
            </a:r>
          </a:p>
        </p:txBody>
      </p:sp>
      <p:sp>
        <p:nvSpPr>
          <p:cNvPr id="13" name="Rectangle 12"/>
          <p:cNvSpPr/>
          <p:nvPr/>
        </p:nvSpPr>
        <p:spPr>
          <a:xfrm>
            <a:off x="594360" y="4123944"/>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97096"/>
            <a:ext cx="3399434" cy="658368"/>
          </a:xfrm>
          <a:prstGeom prst="rect">
            <a:avLst/>
          </a:prstGeom>
          <a:noFill/>
        </p:spPr>
        <p:txBody>
          <a:bodyPr wrap="square" lIns="0" rIns="0" tIns="0" bIns="0" anchor="t">
            <a:spAutoFit/>
          </a:bodyPr>
          <a:lstStyle/>
          <a:p>
            <a:pPr algn="l"/>
            <a:r>
              <a:rPr sz="1300" b="0" i="0">
                <a:solidFill>
                  <a:srgbClr val="1F2A44"/>
                </a:solidFill>
                <a:latin typeface="Calibri"/>
              </a:rPr>
              <a:t>Estate-wide non-English natural-text tokens or clean aligned speech–text hours</a:t>
            </a:r>
          </a:p>
        </p:txBody>
      </p:sp>
      <p:sp>
        <p:nvSpPr>
          <p:cNvPr id="15" name="TextBox 14"/>
          <p:cNvSpPr txBox="1"/>
          <p:nvPr/>
        </p:nvSpPr>
        <p:spPr>
          <a:xfrm>
            <a:off x="4396130" y="4197096"/>
            <a:ext cx="3399434" cy="658368"/>
          </a:xfrm>
          <a:prstGeom prst="rect">
            <a:avLst/>
          </a:prstGeom>
          <a:noFill/>
        </p:spPr>
        <p:txBody>
          <a:bodyPr wrap="square" lIns="0" rIns="0" tIns="0" bIns="0" anchor="t">
            <a:spAutoFit/>
          </a:bodyPr>
          <a:lstStyle/>
          <a:p>
            <a:pPr algn="l"/>
            <a:r>
              <a:rPr sz="1300" b="0" i="0">
                <a:solidFill>
                  <a:srgbClr val="1F2A44"/>
                </a:solidFill>
                <a:latin typeface="Calibri"/>
              </a:rPr>
              <a:t>Database storage is not natural-text volume; text and audio populations are not joined</a:t>
            </a:r>
          </a:p>
        </p:txBody>
      </p:sp>
      <p:sp>
        <p:nvSpPr>
          <p:cNvPr id="16" name="TextBox 15"/>
          <p:cNvSpPr txBox="1"/>
          <p:nvPr/>
        </p:nvSpPr>
        <p:spPr>
          <a:xfrm>
            <a:off x="8124748" y="4197096"/>
            <a:ext cx="3399434" cy="658368"/>
          </a:xfrm>
          <a:prstGeom prst="rect">
            <a:avLst/>
          </a:prstGeom>
          <a:noFill/>
        </p:spPr>
        <p:txBody>
          <a:bodyPr wrap="square" lIns="0" rIns="0" tIns="0" bIns="0" anchor="t">
            <a:spAutoFit/>
          </a:bodyPr>
          <a:lstStyle/>
          <a:p>
            <a:pPr algn="l"/>
            <a:r>
              <a:rPr sz="1300" b="0" i="0">
                <a:solidFill>
                  <a:srgbClr val="1F2A44"/>
                </a:solidFill>
                <a:latin typeface="Calibri"/>
              </a:rPr>
              <a:t>Versioned exports, tokenizer-specific counts, alignments and independent audits</a:t>
            </a:r>
          </a:p>
        </p:txBody>
      </p:sp>
      <p:sp>
        <p:nvSpPr>
          <p:cNvPr id="17" name="Rectangle 16"/>
          <p:cNvSpPr/>
          <p:nvPr/>
        </p:nvSpPr>
        <p:spPr>
          <a:xfrm>
            <a:off x="594360" y="5001768"/>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074920"/>
            <a:ext cx="3399434" cy="658368"/>
          </a:xfrm>
          <a:prstGeom prst="rect">
            <a:avLst/>
          </a:prstGeom>
          <a:noFill/>
        </p:spPr>
        <p:txBody>
          <a:bodyPr wrap="square" lIns="0" rIns="0" tIns="0" bIns="0" anchor="t">
            <a:spAutoFit/>
          </a:bodyPr>
          <a:lstStyle/>
          <a:p>
            <a:pPr algn="l"/>
            <a:r>
              <a:rPr sz="1300" b="0" i="0">
                <a:solidFill>
                  <a:srgbClr val="1F2A44"/>
                </a:solidFill>
                <a:latin typeface="Calibri"/>
              </a:rPr>
              <a:t>Studio/telephone quality or transcript error-rate distributions</a:t>
            </a:r>
          </a:p>
        </p:txBody>
      </p:sp>
      <p:sp>
        <p:nvSpPr>
          <p:cNvPr id="19" name="TextBox 18"/>
          <p:cNvSpPr txBox="1"/>
          <p:nvPr/>
        </p:nvSpPr>
        <p:spPr>
          <a:xfrm>
            <a:off x="4396130" y="5074920"/>
            <a:ext cx="3399434" cy="658368"/>
          </a:xfrm>
          <a:prstGeom prst="rect">
            <a:avLst/>
          </a:prstGeom>
          <a:noFill/>
        </p:spPr>
        <p:txBody>
          <a:bodyPr wrap="square" lIns="0" rIns="0" tIns="0" bIns="0" anchor="t">
            <a:spAutoFit/>
          </a:bodyPr>
          <a:lstStyle/>
          <a:p>
            <a:pPr algn="l"/>
            <a:r>
              <a:rPr sz="1300" b="0" i="0">
                <a:solidFill>
                  <a:srgbClr val="1F2A44"/>
                </a:solidFill>
                <a:latin typeface="Calibri"/>
              </a:rPr>
              <a:t>Header properties do not establish audio quality; no final waveform/annotation certificate</a:t>
            </a:r>
          </a:p>
        </p:txBody>
      </p:sp>
      <p:sp>
        <p:nvSpPr>
          <p:cNvPr id="20" name="TextBox 19"/>
          <p:cNvSpPr txBox="1"/>
          <p:nvPr/>
        </p:nvSpPr>
        <p:spPr>
          <a:xfrm>
            <a:off x="8124748" y="5074920"/>
            <a:ext cx="3399434" cy="658368"/>
          </a:xfrm>
          <a:prstGeom prst="rect">
            <a:avLst/>
          </a:prstGeom>
          <a:noFill/>
        </p:spPr>
        <p:txBody>
          <a:bodyPr wrap="square" lIns="0" rIns="0" tIns="0" bIns="0" anchor="t">
            <a:spAutoFit/>
          </a:bodyPr>
          <a:lstStyle/>
          <a:p>
            <a:pPr algn="l"/>
            <a:r>
              <a:rPr sz="1300" b="0" i="0">
                <a:solidFill>
                  <a:srgbClr val="1F2A44"/>
                </a:solidFill>
                <a:latin typeface="Calibri"/>
              </a:rPr>
              <a:t>Measured observables plus task-specific human-reference evaluation</a:t>
            </a:r>
          </a:p>
        </p:txBody>
      </p:sp>
      <p:sp>
        <p:nvSpPr>
          <p:cNvPr id="21" name="Rectangle 20"/>
          <p:cNvSpPr/>
          <p:nvPr/>
        </p:nvSpPr>
        <p:spPr>
          <a:xfrm>
            <a:off x="594360" y="587959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952744"/>
            <a:ext cx="3399434" cy="658368"/>
          </a:xfrm>
          <a:prstGeom prst="rect">
            <a:avLst/>
          </a:prstGeom>
          <a:noFill/>
        </p:spPr>
        <p:txBody>
          <a:bodyPr wrap="square" lIns="0" rIns="0" tIns="0" bIns="0" anchor="t">
            <a:spAutoFit/>
          </a:bodyPr>
          <a:lstStyle/>
          <a:p>
            <a:pPr algn="l"/>
            <a:r>
              <a:rPr sz="1300" b="0" i="0">
                <a:solidFill>
                  <a:srgbClr val="1F2A44"/>
                </a:solidFill>
                <a:latin typeface="Calibri"/>
              </a:rPr>
              <a:t>External licensing, open release or realised savings and revenue</a:t>
            </a:r>
          </a:p>
        </p:txBody>
      </p:sp>
      <p:sp>
        <p:nvSpPr>
          <p:cNvPr id="23" name="TextBox 22"/>
          <p:cNvSpPr txBox="1"/>
          <p:nvPr/>
        </p:nvSpPr>
        <p:spPr>
          <a:xfrm>
            <a:off x="4396130" y="5952744"/>
            <a:ext cx="3399434" cy="658368"/>
          </a:xfrm>
          <a:prstGeom prst="rect">
            <a:avLst/>
          </a:prstGeom>
          <a:noFill/>
        </p:spPr>
        <p:txBody>
          <a:bodyPr wrap="square" lIns="0" rIns="0" tIns="0" bIns="0" anchor="t">
            <a:spAutoFit/>
          </a:bodyPr>
          <a:lstStyle/>
          <a:p>
            <a:pPr algn="l"/>
            <a:r>
              <a:rPr sz="1300" b="0" i="0">
                <a:solidFill>
                  <a:srgbClr val="1F2A44"/>
                </a:solidFill>
                <a:latin typeface="Calibri"/>
              </a:rPr>
              <a:t>Internal custody and indicative tariffs do not establish onward rights or commercial demand</a:t>
            </a:r>
          </a:p>
        </p:txBody>
      </p:sp>
      <p:sp>
        <p:nvSpPr>
          <p:cNvPr id="24" name="TextBox 23"/>
          <p:cNvSpPr txBox="1"/>
          <p:nvPr/>
        </p:nvSpPr>
        <p:spPr>
          <a:xfrm>
            <a:off x="8124748" y="5952744"/>
            <a:ext cx="3399434" cy="658368"/>
          </a:xfrm>
          <a:prstGeom prst="rect">
            <a:avLst/>
          </a:prstGeom>
          <a:noFill/>
        </p:spPr>
        <p:txBody>
          <a:bodyPr wrap="square" lIns="0" rIns="0" tIns="0" bIns="0" anchor="t">
            <a:spAutoFit/>
          </a:bodyPr>
          <a:lstStyle/>
          <a:p>
            <a:pPr algn="l"/>
            <a:r>
              <a:rPr sz="1300" b="0" i="0">
                <a:solidFill>
                  <a:srgbClr val="1F2A44"/>
                </a:solidFill>
                <a:latin typeface="Calibri"/>
              </a:rPr>
              <a:t>Rights review, actual invoices, retrieval charges and paid pilot validation</a:t>
            </a:r>
          </a:p>
        </p:txBody>
      </p:sp>
      <p:sp>
        <p:nvSpPr>
          <p:cNvPr id="25" name="TextBox 2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26" name="TextBox 2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27" name="TextBox 2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R01</a:t>
            </a:r>
          </a:p>
        </p:txBody>
      </p:sp>
      <p:sp>
        <p:nvSpPr>
          <p:cNvPr id="5" name="TextBox 4"/>
          <p:cNvSpPr txBox="1"/>
          <p:nvPr/>
        </p:nvSpPr>
        <p:spPr>
          <a:xfrm>
            <a:off x="1508760" y="1920240"/>
            <a:ext cx="10088575" cy="365760"/>
          </a:xfrm>
          <a:prstGeom prst="rect">
            <a:avLst/>
          </a:prstGeom>
          <a:noFill/>
        </p:spPr>
        <p:txBody>
          <a:bodyPr wrap="square" lIns="0" rIns="0" tIns="0" bIns="0" anchor="t">
            <a:spAutoFit/>
          </a:bodyPr>
          <a:lstStyle/>
          <a:p>
            <a:pPr algn="l"/>
            <a:r>
              <a:rPr sz="1300" b="0" i="0">
                <a:solidFill>
                  <a:srgbClr val="1F2A44"/>
                </a:solidFill>
                <a:latin typeface="Calibri"/>
              </a:rPr>
              <a:t>RMS estate census, eij-1b359b3cbd2e; measured 29 September 2026. Exact source hashes in the Word appendix.</a:t>
            </a:r>
          </a:p>
        </p:txBody>
      </p:sp>
      <p:cxnSp>
        <p:nvCxnSpPr>
          <p:cNvPr id="6" name="Connector 5"/>
          <p:cNvCxnSpPr/>
          <p:nvPr/>
        </p:nvCxnSpPr>
        <p:spPr>
          <a:xfrm>
            <a:off x="594360" y="23042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42316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R02</a:t>
            </a:r>
          </a:p>
        </p:txBody>
      </p:sp>
      <p:sp>
        <p:nvSpPr>
          <p:cNvPr id="8" name="TextBox 7"/>
          <p:cNvSpPr txBox="1"/>
          <p:nvPr/>
        </p:nvSpPr>
        <p:spPr>
          <a:xfrm>
            <a:off x="1508760" y="2423160"/>
            <a:ext cx="10088575" cy="365760"/>
          </a:xfrm>
          <a:prstGeom prst="rect">
            <a:avLst/>
          </a:prstGeom>
          <a:noFill/>
        </p:spPr>
        <p:txBody>
          <a:bodyPr wrap="square" lIns="0" rIns="0" tIns="0" bIns="0" anchor="t">
            <a:spAutoFit/>
          </a:bodyPr>
          <a:lstStyle/>
          <a:p>
            <a:pPr algn="l"/>
            <a:r>
              <a:rPr sz="1300" b="0" i="0">
                <a:solidFill>
                  <a:srgbClr val="1F2A44"/>
                </a:solidFill>
                <a:latin typeface="Calibri"/>
              </a:rPr>
              <a:t>OBS and NAS retained listings embedded in the census; 29 September 2026. Metadata scope, not language or music analysis.</a:t>
            </a:r>
          </a:p>
        </p:txBody>
      </p:sp>
      <p:cxnSp>
        <p:nvCxnSpPr>
          <p:cNvPr id="9" name="Connector 8"/>
          <p:cNvCxnSpPr/>
          <p:nvPr/>
        </p:nvCxnSpPr>
        <p:spPr>
          <a:xfrm>
            <a:off x="594360" y="280720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292608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R03</a:t>
            </a:r>
          </a:p>
        </p:txBody>
      </p:sp>
      <p:sp>
        <p:nvSpPr>
          <p:cNvPr id="11" name="TextBox 10"/>
          <p:cNvSpPr txBox="1"/>
          <p:nvPr/>
        </p:nvSpPr>
        <p:spPr>
          <a:xfrm>
            <a:off x="1508760" y="2926080"/>
            <a:ext cx="10088575" cy="365760"/>
          </a:xfrm>
          <a:prstGeom prst="rect">
            <a:avLst/>
          </a:prstGeom>
          <a:noFill/>
        </p:spPr>
        <p:txBody>
          <a:bodyPr wrap="square" lIns="0" rIns="0" tIns="0" bIns="0" anchor="t">
            <a:spAutoFit/>
          </a:bodyPr>
          <a:lstStyle/>
          <a:p>
            <a:pPr algn="l"/>
            <a:r>
              <a:rPr sz="1300" b="0" i="0">
                <a:solidFill>
                  <a:srgbClr val="1F2A44"/>
                </a:solidFill>
                <a:latin typeface="Calibri"/>
              </a:rPr>
              <a:t>Staged-audio header inspection, m9j-3e0dcb1bd16e; verified receipt. Folder labels are not content verification.</a:t>
            </a:r>
          </a:p>
        </p:txBody>
      </p:sp>
      <p:cxnSp>
        <p:nvCxnSpPr>
          <p:cNvPr id="12" name="Connector 11"/>
          <p:cNvCxnSpPr/>
          <p:nvPr/>
        </p:nvCxnSpPr>
        <p:spPr>
          <a:xfrm>
            <a:off x="594360" y="331012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42900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R04</a:t>
            </a:r>
          </a:p>
        </p:txBody>
      </p:sp>
      <p:sp>
        <p:nvSpPr>
          <p:cNvPr id="14" name="TextBox 13"/>
          <p:cNvSpPr txBox="1"/>
          <p:nvPr/>
        </p:nvSpPr>
        <p:spPr>
          <a:xfrm>
            <a:off x="1508760" y="3429000"/>
            <a:ext cx="10088575" cy="365760"/>
          </a:xfrm>
          <a:prstGeom prst="rect">
            <a:avLst/>
          </a:prstGeom>
          <a:noFill/>
        </p:spPr>
        <p:txBody>
          <a:bodyPr wrap="square" lIns="0" rIns="0" tIns="0" bIns="0" anchor="t">
            <a:spAutoFit/>
          </a:bodyPr>
          <a:lstStyle/>
          <a:p>
            <a:pPr algn="l"/>
            <a:r>
              <a:rPr sz="1300" b="0" i="0">
                <a:solidFill>
                  <a:srgbClr val="1F2A44"/>
                </a:solidFill>
                <a:latin typeface="Calibri"/>
              </a:rPr>
              <a:t>RMS transcript assembly, m9j-9a46b862f339; sealed 29 September 2026. Natural units exclude added canaries.</a:t>
            </a:r>
          </a:p>
        </p:txBody>
      </p:sp>
      <p:cxnSp>
        <p:nvCxnSpPr>
          <p:cNvPr id="15" name="Connector 14"/>
          <p:cNvCxnSpPr/>
          <p:nvPr/>
        </p:nvCxnSpPr>
        <p:spPr>
          <a:xfrm>
            <a:off x="594360" y="381304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393192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R05</a:t>
            </a:r>
          </a:p>
        </p:txBody>
      </p:sp>
      <p:sp>
        <p:nvSpPr>
          <p:cNvPr id="17" name="TextBox 16"/>
          <p:cNvSpPr txBox="1"/>
          <p:nvPr/>
        </p:nvSpPr>
        <p:spPr>
          <a:xfrm>
            <a:off x="1508760" y="3931920"/>
            <a:ext cx="10088575" cy="365760"/>
          </a:xfrm>
          <a:prstGeom prst="rect">
            <a:avLst/>
          </a:prstGeom>
          <a:noFill/>
        </p:spPr>
        <p:txBody>
          <a:bodyPr wrap="square" lIns="0" rIns="0" tIns="0" bIns="0" anchor="t">
            <a:spAutoFit/>
          </a:bodyPr>
          <a:lstStyle/>
          <a:p>
            <a:pPr algn="l"/>
            <a:r>
              <a:rPr sz="1300" b="0" i="0">
                <a:solidFill>
                  <a:srgbClr val="1F2A44"/>
                </a:solidFill>
                <a:latin typeface="Calibri"/>
              </a:rPr>
              <a:t>Text language-ID run, m9j-74af7cef0a85; measured per-stratum results. Not an ASR or general-language certificate.</a:t>
            </a:r>
          </a:p>
        </p:txBody>
      </p:sp>
      <p:cxnSp>
        <p:nvCxnSpPr>
          <p:cNvPr id="18" name="Connector 17"/>
          <p:cNvCxnSpPr/>
          <p:nvPr/>
        </p:nvCxnSpPr>
        <p:spPr>
          <a:xfrm>
            <a:off x="594360" y="431596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43484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R06</a:t>
            </a:r>
          </a:p>
        </p:txBody>
      </p:sp>
      <p:sp>
        <p:nvSpPr>
          <p:cNvPr id="20" name="TextBox 19"/>
          <p:cNvSpPr txBox="1"/>
          <p:nvPr/>
        </p:nvSpPr>
        <p:spPr>
          <a:xfrm>
            <a:off x="1508760" y="4434840"/>
            <a:ext cx="10088575" cy="365760"/>
          </a:xfrm>
          <a:prstGeom prst="rect">
            <a:avLst/>
          </a:prstGeom>
          <a:noFill/>
        </p:spPr>
        <p:txBody>
          <a:bodyPr wrap="square" lIns="0" rIns="0" tIns="0" bIns="0" anchor="t">
            <a:spAutoFit/>
          </a:bodyPr>
          <a:lstStyle/>
          <a:p>
            <a:pPr algn="l"/>
            <a:r>
              <a:rPr sz="1300" b="0" i="0">
                <a:solidFill>
                  <a:srgbClr val="1F2A44"/>
                </a:solidFill>
                <a:latin typeface="Calibri"/>
              </a:rPr>
              <a:t>Measurement status, m9j-c47f01c0b945; last retained heartbeat 1 October 2026 at 04:33 UTC. No final quality receipt.</a:t>
            </a:r>
          </a:p>
        </p:txBody>
      </p:sp>
      <p:cxnSp>
        <p:nvCxnSpPr>
          <p:cNvPr id="21" name="Connector 20"/>
          <p:cNvCxnSpPr/>
          <p:nvPr/>
        </p:nvCxnSpPr>
        <p:spPr>
          <a:xfrm>
            <a:off x="594360" y="48188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937759"/>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R07</a:t>
            </a:r>
          </a:p>
        </p:txBody>
      </p:sp>
      <p:sp>
        <p:nvSpPr>
          <p:cNvPr id="23" name="TextBox 22"/>
          <p:cNvSpPr txBox="1"/>
          <p:nvPr/>
        </p:nvSpPr>
        <p:spPr>
          <a:xfrm>
            <a:off x="1508760" y="4937759"/>
            <a:ext cx="10088575" cy="365760"/>
          </a:xfrm>
          <a:prstGeom prst="rect">
            <a:avLst/>
          </a:prstGeom>
          <a:noFill/>
        </p:spPr>
        <p:txBody>
          <a:bodyPr wrap="square" lIns="0" rIns="0" tIns="0" bIns="0" anchor="t">
            <a:spAutoFit/>
          </a:bodyPr>
          <a:lstStyle/>
          <a:p>
            <a:pPr algn="l"/>
            <a:r>
              <a:rPr sz="1300" b="0" i="0">
                <a:solidFill>
                  <a:srgbClr val="1F2A44"/>
                </a:solidFill>
                <a:latin typeface="Calibri"/>
              </a:rPr>
              <a:t>Report analysis and explicitly labelled planning calculations, derived from the pinned evidence; not forecasts or new measurements.</a:t>
            </a:r>
          </a:p>
        </p:txBody>
      </p:sp>
      <p:cxnSp>
        <p:nvCxnSpPr>
          <p:cNvPr id="24" name="Connector 23"/>
          <p:cNvCxnSpPr/>
          <p:nvPr/>
        </p:nvCxnSpPr>
        <p:spPr>
          <a:xfrm>
            <a:off x="594360" y="532180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5440679"/>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R08</a:t>
            </a:r>
          </a:p>
        </p:txBody>
      </p:sp>
      <p:sp>
        <p:nvSpPr>
          <p:cNvPr id="26" name="TextBox 25"/>
          <p:cNvSpPr txBox="1"/>
          <p:nvPr/>
        </p:nvSpPr>
        <p:spPr>
          <a:xfrm>
            <a:off x="1508760" y="5440679"/>
            <a:ext cx="10088575" cy="365760"/>
          </a:xfrm>
          <a:prstGeom prst="rect">
            <a:avLst/>
          </a:prstGeom>
          <a:noFill/>
        </p:spPr>
        <p:txBody>
          <a:bodyPr wrap="square" lIns="0" rIns="0" tIns="0" bIns="0" anchor="t">
            <a:spAutoFit/>
          </a:bodyPr>
          <a:lstStyle/>
          <a:p>
            <a:pPr algn="l"/>
            <a:r>
              <a:rPr sz="1300" b="0" i="0">
                <a:solidFill>
                  <a:srgbClr val="1F2A44"/>
                </a:solidFill>
                <a:latin typeface="Calibri"/>
              </a:rPr>
              <a:t>Documentation and governance references: Datasheets, Data Cards, NIST AI RMF and Kenya data-protection law; full references in Word.</a:t>
            </a:r>
          </a:p>
        </p:txBody>
      </p:sp>
      <p:cxnSp>
        <p:nvCxnSpPr>
          <p:cNvPr id="27" name="Connector 26"/>
          <p:cNvCxnSpPr/>
          <p:nvPr/>
        </p:nvCxnSpPr>
        <p:spPr>
          <a:xfrm>
            <a:off x="594360" y="582472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deck</a:t>
            </a:r>
          </a:p>
        </p:txBody>
      </p:sp>
      <p:sp>
        <p:nvSpPr>
          <p:cNvPr id="29" name="TextBox 28"/>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Owner confidential · controlled circulation</a:t>
            </a:r>
          </a:p>
        </p:txBody>
      </p:sp>
      <p:sp>
        <p:nvSpPr>
          <p:cNvPr id="30" name="TextBox 29"/>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RMS estate and language corpus: what is defensible</dc:title>
  <dc:subject/>
  <dc:creator>doc-studio</dc:creator>
  <cp:keywords/>
  <dc:description>generated using python-pptx</dc:description>
  <cp:lastModifiedBy>doc-studio</cp:lastModifiedBy>
  <cp:revision>1</cp:revision>
  <dcterms:created xsi:type="dcterms:W3CDTF">2026-10-01T19:12:00Z</dcterms:created>
  <dcterms:modified xsi:type="dcterms:W3CDTF">2026-10-01T19:12:00Z</dcterms:modified>
  <cp:category/>
</cp:coreProperties>
</file>